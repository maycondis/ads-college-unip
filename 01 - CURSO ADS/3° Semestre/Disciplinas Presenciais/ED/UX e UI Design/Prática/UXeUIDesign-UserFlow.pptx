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8"/>
  </p:notesMasterIdLst>
  <p:handoutMasterIdLst>
    <p:handoutMasterId r:id="rId29"/>
  </p:handoutMasterIdLst>
  <p:sldIdLst>
    <p:sldId id="268" r:id="rId5"/>
    <p:sldId id="367" r:id="rId6"/>
    <p:sldId id="421" r:id="rId7"/>
    <p:sldId id="396" r:id="rId8"/>
    <p:sldId id="397" r:id="rId9"/>
    <p:sldId id="398" r:id="rId10"/>
    <p:sldId id="399" r:id="rId11"/>
    <p:sldId id="400" r:id="rId12"/>
    <p:sldId id="401" r:id="rId13"/>
    <p:sldId id="402" r:id="rId14"/>
    <p:sldId id="403" r:id="rId15"/>
    <p:sldId id="406" r:id="rId16"/>
    <p:sldId id="408" r:id="rId17"/>
    <p:sldId id="407" r:id="rId18"/>
    <p:sldId id="409" r:id="rId19"/>
    <p:sldId id="410" r:id="rId20"/>
    <p:sldId id="411" r:id="rId21"/>
    <p:sldId id="413" r:id="rId22"/>
    <p:sldId id="420" r:id="rId23"/>
    <p:sldId id="412" r:id="rId24"/>
    <p:sldId id="416" r:id="rId25"/>
    <p:sldId id="417" r:id="rId26"/>
    <p:sldId id="419" r:id="rId27"/>
  </p:sldIdLst>
  <p:sldSz cx="12192000" cy="6858000"/>
  <p:notesSz cx="6858000" cy="9144000"/>
  <p:defaultTextStyle>
    <a:defPPr rtl="0">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9" autoAdjust="0"/>
  </p:normalViewPr>
  <p:slideViewPr>
    <p:cSldViewPr snapToGrid="0">
      <p:cViewPr varScale="1">
        <p:scale>
          <a:sx n="102" d="100"/>
          <a:sy n="102" d="100"/>
        </p:scale>
        <p:origin x="894" y="318"/>
      </p:cViewPr>
      <p:guideLst/>
    </p:cSldViewPr>
  </p:slideViewPr>
  <p:notesTextViewPr>
    <p:cViewPr>
      <p:scale>
        <a:sx n="1" d="1"/>
        <a:sy n="1" d="1"/>
      </p:scale>
      <p:origin x="0" y="0"/>
    </p:cViewPr>
  </p:notesTextViewPr>
  <p:notesViewPr>
    <p:cSldViewPr snapToGrid="0">
      <p:cViewPr varScale="1">
        <p:scale>
          <a:sx n="78" d="100"/>
          <a:sy n="78" d="100"/>
        </p:scale>
        <p:origin x="3494" y="8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9935E2-E7C1-4ED2-91A8-3D2EF90039F0}" type="datetimeFigureOut">
              <a:rPr lang="pt-BR" smtClean="0"/>
              <a:t>02/03/2026</a:t>
            </a:fld>
            <a:endParaRPr lang="pt-BR" dirty="0"/>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5" name="Espaço Reservado para Número de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927CB4-B6D2-4E90-9CC1-824CE88DA95E}" type="slidenum">
              <a:rPr lang="pt-BR" smtClean="0"/>
              <a:t>‹nº›</a:t>
            </a:fld>
            <a:endParaRPr lang="pt-BR" dirty="0"/>
          </a:p>
        </p:txBody>
      </p:sp>
    </p:spTree>
    <p:extLst>
      <p:ext uri="{BB962C8B-B14F-4D97-AF65-F5344CB8AC3E}">
        <p14:creationId xmlns:p14="http://schemas.microsoft.com/office/powerpoint/2010/main" val="30937642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noProof="0" dirty="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66FA47-21D5-4047-9471-F01A728B28BE}" type="datetimeFigureOut">
              <a:rPr lang="pt-BR" noProof="0" smtClean="0"/>
              <a:t>02/03/2026</a:t>
            </a:fld>
            <a:endParaRPr lang="pt-BR" noProof="0" dirty="0"/>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noProof="0" dirty="0"/>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t-BR" noProof="0" dirty="0"/>
              <a:t>Clique para editar o texto Mestre</a:t>
            </a:r>
          </a:p>
          <a:p>
            <a:pPr lvl="1"/>
            <a:r>
              <a:rPr lang="pt-BR" noProof="0" dirty="0"/>
              <a:t>Segundo nível</a:t>
            </a:r>
          </a:p>
          <a:p>
            <a:pPr lvl="2"/>
            <a:r>
              <a:rPr lang="pt-BR" noProof="0" dirty="0"/>
              <a:t>Terceiro nível</a:t>
            </a:r>
          </a:p>
          <a:p>
            <a:pPr lvl="3"/>
            <a:r>
              <a:rPr lang="pt-BR" noProof="0" dirty="0"/>
              <a:t>Quarto nível</a:t>
            </a:r>
          </a:p>
          <a:p>
            <a:pPr lvl="4"/>
            <a:r>
              <a:rPr lang="pt-BR" noProof="0" dirty="0"/>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noProof="0" dirty="0"/>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3501BF-1D2B-4868-94EC-1ACE4360F5AC}" type="slidenum">
              <a:rPr lang="pt-BR" noProof="0" smtClean="0"/>
              <a:t>‹nº›</a:t>
            </a:fld>
            <a:endParaRPr lang="pt-BR" noProof="0" dirty="0"/>
          </a:p>
        </p:txBody>
      </p:sp>
    </p:spTree>
    <p:extLst>
      <p:ext uri="{BB962C8B-B14F-4D97-AF65-F5344CB8AC3E}">
        <p14:creationId xmlns:p14="http://schemas.microsoft.com/office/powerpoint/2010/main" val="1587417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F3501BF-1D2B-4868-94EC-1ACE4360F5AC}" type="slidenum">
              <a:rPr lang="pt-BR" smtClean="0"/>
              <a:t>1</a:t>
            </a:fld>
            <a:endParaRPr lang="pt-BR" dirty="0"/>
          </a:p>
        </p:txBody>
      </p:sp>
    </p:spTree>
    <p:extLst>
      <p:ext uri="{BB962C8B-B14F-4D97-AF65-F5344CB8AC3E}">
        <p14:creationId xmlns:p14="http://schemas.microsoft.com/office/powerpoint/2010/main" val="1233748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
        <p:nvSpPr>
          <p:cNvPr id="2" name="Título 1"/>
          <p:cNvSpPr>
            <a:spLocks noGrp="1"/>
          </p:cNvSpPr>
          <p:nvPr>
            <p:ph type="ctrTitle"/>
          </p:nvPr>
        </p:nvSpPr>
        <p:spPr>
          <a:xfrm>
            <a:off x="1097280" y="758952"/>
            <a:ext cx="10058400" cy="3566160"/>
          </a:xfrm>
        </p:spPr>
        <p:txBody>
          <a:bodyPr rtlCol="0" anchor="b">
            <a:normAutofit/>
          </a:bodyPr>
          <a:lstStyle>
            <a:lvl1pPr algn="l">
              <a:lnSpc>
                <a:spcPct val="90000"/>
              </a:lnSpc>
              <a:defRPr sz="8000" spc="-50" baseline="0">
                <a:solidFill>
                  <a:schemeClr val="tx1">
                    <a:lumMod val="85000"/>
                    <a:lumOff val="15000"/>
                  </a:schemeClr>
                </a:solidFill>
              </a:defRPr>
            </a:lvl1pPr>
          </a:lstStyle>
          <a:p>
            <a:pPr rtl="0"/>
            <a:r>
              <a:rPr lang="pt-BR" noProof="0"/>
              <a:t>Clique para editar o título Mestre</a:t>
            </a:r>
            <a:endParaRPr lang="pt-BR" noProof="0" dirty="0"/>
          </a:p>
        </p:txBody>
      </p:sp>
      <p:sp>
        <p:nvSpPr>
          <p:cNvPr id="3" name="Subtítulo 2"/>
          <p:cNvSpPr>
            <a:spLocks noGrp="1"/>
          </p:cNvSpPr>
          <p:nvPr>
            <p:ph type="subTitle" idx="1"/>
          </p:nvPr>
        </p:nvSpPr>
        <p:spPr>
          <a:xfrm>
            <a:off x="1100051" y="4645152"/>
            <a:ext cx="10058400" cy="1143000"/>
          </a:xfrm>
        </p:spPr>
        <p:txBody>
          <a:bodyPr lIns="91440" rIns="91440" rtlCol="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pt-BR" noProof="0"/>
              <a:t>Clique para editar o estilo do subtítulo Mestre</a:t>
            </a:r>
            <a:endParaRPr lang="pt-BR" noProof="0" dirty="0"/>
          </a:p>
        </p:txBody>
      </p:sp>
      <p:cxnSp>
        <p:nvCxnSpPr>
          <p:cNvPr id="9" name="Conector Reto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Espaço Reservado para Data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p>
            <a:pPr rtl="0"/>
            <a:fld id="{6A058210-3CDA-4DDA-8356-4FED81F3EC11}" type="datetime1">
              <a:rPr lang="pt-BR" noProof="0" smtClean="0"/>
              <a:t>02/03/2026</a:t>
            </a:fld>
            <a:endParaRPr lang="pt-BR" noProof="0" dirty="0"/>
          </a:p>
        </p:txBody>
      </p:sp>
      <p:sp>
        <p:nvSpPr>
          <p:cNvPr id="5" name="Espaço Reservado para Rodapé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p>
            <a:pPr rtl="0"/>
            <a:endParaRPr lang="pt-BR" noProof="0" dirty="0"/>
          </a:p>
        </p:txBody>
      </p:sp>
      <p:sp>
        <p:nvSpPr>
          <p:cNvPr id="6" name="Espaço Reservado para o Número do Slide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p>
            <a:pPr rtl="0"/>
            <a:fld id="{3A98EE3D-8CD1-4C3F-BD1C-C98C9596463C}" type="slidenum">
              <a:rPr lang="pt-BR" noProof="0" smtClean="0"/>
              <a:t>‹nº›</a:t>
            </a:fld>
            <a:endParaRPr lang="pt-BR" noProof="0"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endParaRPr lang="pt-BR" noProof="0" dirty="0"/>
          </a:p>
        </p:txBody>
      </p:sp>
      <p:sp>
        <p:nvSpPr>
          <p:cNvPr id="3" name="Espaço reservado para conteúdo 2"/>
          <p:cNvSpPr>
            <a:spLocks noGrp="1"/>
          </p:cNvSpPr>
          <p:nvPr>
            <p:ph idx="1"/>
          </p:nvPr>
        </p:nvSpPr>
        <p:spPr/>
        <p:txBody>
          <a:bodyPr rtlCol="0"/>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endParaRPr lang="pt-BR" noProof="0" dirty="0"/>
          </a:p>
        </p:txBody>
      </p:sp>
      <p:sp>
        <p:nvSpPr>
          <p:cNvPr id="7" name="Espaço Reservado para Data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C10A45F5-F797-498C-8B7A-1AAECBDA6E61}" type="datetime1">
              <a:rPr lang="pt-BR" noProof="0" smtClean="0"/>
              <a:t>02/03/2026</a:t>
            </a:fld>
            <a:endParaRPr lang="pt-BR" noProof="0" dirty="0"/>
          </a:p>
        </p:txBody>
      </p:sp>
      <p:sp>
        <p:nvSpPr>
          <p:cNvPr id="8" name="Espaço Reservado para Rodapé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pt-BR" noProof="0" dirty="0"/>
          </a:p>
        </p:txBody>
      </p:sp>
      <p:sp>
        <p:nvSpPr>
          <p:cNvPr id="9" name="Espaço Reservado para o Número do Slide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pt-BR" noProof="0" smtClean="0"/>
              <a:t>‹nº›</a:t>
            </a:fld>
            <a:endParaRPr lang="pt-BR" noProof="0"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Pr>
        <a:solidFill>
          <a:schemeClr val="bg1"/>
        </a:solidFill>
        <a:effectLst/>
      </p:bgPr>
    </p:bg>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1097280" y="758952"/>
            <a:ext cx="10058400" cy="3566160"/>
          </a:xfrm>
        </p:spPr>
        <p:txBody>
          <a:bodyPr rtlCol="0" anchor="b" anchorCtr="0">
            <a:normAutofit/>
          </a:bodyPr>
          <a:lstStyle>
            <a:lvl1pPr>
              <a:lnSpc>
                <a:spcPct val="90000"/>
              </a:lnSpc>
              <a:defRPr sz="8000" b="0">
                <a:solidFill>
                  <a:schemeClr val="tx1">
                    <a:lumMod val="85000"/>
                    <a:lumOff val="15000"/>
                  </a:schemeClr>
                </a:solidFill>
              </a:defRPr>
            </a:lvl1pPr>
          </a:lstStyle>
          <a:p>
            <a:pPr rtl="0"/>
            <a:r>
              <a:rPr lang="pt-BR" noProof="0"/>
              <a:t>Clique para editar o título Mestre</a:t>
            </a:r>
            <a:endParaRPr lang="pt-BR" noProof="0" dirty="0"/>
          </a:p>
        </p:txBody>
      </p:sp>
      <p:sp>
        <p:nvSpPr>
          <p:cNvPr id="3" name="Espaço Reservado para Texto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noProof="0"/>
              <a:t>Clique para editar os estilos de texto Mestres</a:t>
            </a:r>
          </a:p>
        </p:txBody>
      </p:sp>
      <p:cxnSp>
        <p:nvCxnSpPr>
          <p:cNvPr id="9" name="Conector Reto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Espaço Reservado para Data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p>
            <a:pPr rtl="0"/>
            <a:fld id="{E829AE4E-7FCD-4AA8-8737-FC932D28D25C}" type="datetime1">
              <a:rPr lang="pt-BR" noProof="0" smtClean="0"/>
              <a:t>02/03/2026</a:t>
            </a:fld>
            <a:endParaRPr lang="pt-BR" noProof="0" dirty="0"/>
          </a:p>
        </p:txBody>
      </p:sp>
      <p:sp>
        <p:nvSpPr>
          <p:cNvPr id="8" name="Espaço Reservado para Rodapé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p>
            <a:pPr rtl="0"/>
            <a:endParaRPr lang="pt-BR" noProof="0" dirty="0"/>
          </a:p>
        </p:txBody>
      </p:sp>
      <p:sp>
        <p:nvSpPr>
          <p:cNvPr id="11" name="Espaço Reservado para o Número do Slide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p>
            <a:pPr rtl="0"/>
            <a:fld id="{3A98EE3D-8CD1-4C3F-BD1C-C98C9596463C}" type="slidenum">
              <a:rPr lang="pt-BR" noProof="0" smtClean="0"/>
              <a:t>‹nº›</a:t>
            </a:fld>
            <a:endParaRPr lang="pt-BR" noProof="0"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is conteúdos">
    <p:spTree>
      <p:nvGrpSpPr>
        <p:cNvPr id="1" name=""/>
        <p:cNvGrpSpPr/>
        <p:nvPr/>
      </p:nvGrpSpPr>
      <p:grpSpPr>
        <a:xfrm>
          <a:off x="0" y="0"/>
          <a:ext cx="0" cy="0"/>
          <a:chOff x="0" y="0"/>
          <a:chExt cx="0" cy="0"/>
        </a:xfrm>
      </p:grpSpPr>
      <p:sp>
        <p:nvSpPr>
          <p:cNvPr id="8" name="Título 7"/>
          <p:cNvSpPr>
            <a:spLocks noGrp="1"/>
          </p:cNvSpPr>
          <p:nvPr>
            <p:ph type="title"/>
          </p:nvPr>
        </p:nvSpPr>
        <p:spPr>
          <a:xfrm>
            <a:off x="1097280" y="286603"/>
            <a:ext cx="10058400" cy="1450757"/>
          </a:xfrm>
        </p:spPr>
        <p:txBody>
          <a:bodyPr rtlCol="0"/>
          <a:lstStyle/>
          <a:p>
            <a:pPr rtl="0"/>
            <a:r>
              <a:rPr lang="pt-BR" noProof="0"/>
              <a:t>Clique para editar o título Mestre</a:t>
            </a:r>
            <a:endParaRPr lang="pt-BR" noProof="0" dirty="0"/>
          </a:p>
        </p:txBody>
      </p:sp>
      <p:sp>
        <p:nvSpPr>
          <p:cNvPr id="3" name="Espaço reservado para conteúdo 2"/>
          <p:cNvSpPr>
            <a:spLocks noGrp="1"/>
          </p:cNvSpPr>
          <p:nvPr>
            <p:ph sz="half" idx="1"/>
          </p:nvPr>
        </p:nvSpPr>
        <p:spPr>
          <a:xfrm>
            <a:off x="1097280" y="2120900"/>
            <a:ext cx="4639736" cy="3748193"/>
          </a:xfrm>
        </p:spPr>
        <p:txBody>
          <a:bodyPr rtlCol="0"/>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endParaRPr lang="pt-BR" noProof="0" dirty="0"/>
          </a:p>
        </p:txBody>
      </p:sp>
      <p:sp>
        <p:nvSpPr>
          <p:cNvPr id="4" name="Espaço reservado para conteúdo 3"/>
          <p:cNvSpPr>
            <a:spLocks noGrp="1"/>
          </p:cNvSpPr>
          <p:nvPr>
            <p:ph sz="half" idx="2"/>
          </p:nvPr>
        </p:nvSpPr>
        <p:spPr>
          <a:xfrm>
            <a:off x="6515944" y="2120900"/>
            <a:ext cx="4639736" cy="3748194"/>
          </a:xfrm>
        </p:spPr>
        <p:txBody>
          <a:bodyPr rtlCol="0"/>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endParaRPr lang="pt-BR" noProof="0" dirty="0"/>
          </a:p>
        </p:txBody>
      </p:sp>
      <p:sp>
        <p:nvSpPr>
          <p:cNvPr id="2" name="Espaço Reservado para Data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p>
            <a:pPr rtl="0"/>
            <a:fld id="{C6469966-2CA8-44E6-8B22-84BCFB10A849}" type="datetime1">
              <a:rPr lang="pt-BR" noProof="0" smtClean="0"/>
              <a:t>02/03/2026</a:t>
            </a:fld>
            <a:endParaRPr lang="pt-BR" noProof="0" dirty="0"/>
          </a:p>
        </p:txBody>
      </p:sp>
      <p:sp>
        <p:nvSpPr>
          <p:cNvPr id="9" name="Espaço Reservado para Rodapé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p>
            <a:pPr rtl="0"/>
            <a:endParaRPr lang="pt-BR" noProof="0" dirty="0"/>
          </a:p>
        </p:txBody>
      </p:sp>
      <p:sp>
        <p:nvSpPr>
          <p:cNvPr id="10" name="Espaço reservado para o número do slide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p>
            <a:pPr rtl="0"/>
            <a:fld id="{3A98EE3D-8CD1-4C3F-BD1C-C98C9596463C}" type="slidenum">
              <a:rPr lang="pt-BR" noProof="0" smtClean="0"/>
              <a:t>‹nº›</a:t>
            </a:fld>
            <a:endParaRPr lang="pt-BR" noProof="0"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ítulo 9"/>
          <p:cNvSpPr>
            <a:spLocks noGrp="1"/>
          </p:cNvSpPr>
          <p:nvPr>
            <p:ph type="title"/>
          </p:nvPr>
        </p:nvSpPr>
        <p:spPr>
          <a:xfrm>
            <a:off x="1097280" y="286603"/>
            <a:ext cx="10058400" cy="1450757"/>
          </a:xfrm>
        </p:spPr>
        <p:txBody>
          <a:bodyPr rtlCol="0"/>
          <a:lstStyle/>
          <a:p>
            <a:pPr rtl="0"/>
            <a:r>
              <a:rPr lang="pt-BR" noProof="0"/>
              <a:t>Clique para editar o título Mestre</a:t>
            </a:r>
            <a:endParaRPr lang="pt-BR" noProof="0" dirty="0"/>
          </a:p>
        </p:txBody>
      </p:sp>
      <p:sp>
        <p:nvSpPr>
          <p:cNvPr id="3" name="Espaço Reservado para Texto 2"/>
          <p:cNvSpPr>
            <a:spLocks noGrp="1"/>
          </p:cNvSpPr>
          <p:nvPr>
            <p:ph type="body" idx="1"/>
          </p:nvPr>
        </p:nvSpPr>
        <p:spPr>
          <a:xfrm>
            <a:off x="1097280"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Clique para editar os estilos de texto Mestres</a:t>
            </a:r>
          </a:p>
        </p:txBody>
      </p:sp>
      <p:sp>
        <p:nvSpPr>
          <p:cNvPr id="4" name="Espaço reservado para conteúdo 3"/>
          <p:cNvSpPr>
            <a:spLocks noGrp="1"/>
          </p:cNvSpPr>
          <p:nvPr>
            <p:ph sz="half" idx="2"/>
          </p:nvPr>
        </p:nvSpPr>
        <p:spPr>
          <a:xfrm>
            <a:off x="1097280" y="2958274"/>
            <a:ext cx="4639736" cy="2910821"/>
          </a:xfrm>
        </p:spPr>
        <p:txBody>
          <a:bodyPr rtlCol="0"/>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endParaRPr lang="pt-BR" noProof="0" dirty="0"/>
          </a:p>
        </p:txBody>
      </p:sp>
      <p:sp>
        <p:nvSpPr>
          <p:cNvPr id="5" name="Espaço reservado para texto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Clique para editar os estilos de texto Mestres</a:t>
            </a:r>
          </a:p>
        </p:txBody>
      </p:sp>
      <p:sp>
        <p:nvSpPr>
          <p:cNvPr id="6" name="Espaço reservado para conteúdo 5"/>
          <p:cNvSpPr>
            <a:spLocks noGrp="1"/>
          </p:cNvSpPr>
          <p:nvPr>
            <p:ph sz="quarter" idx="4"/>
          </p:nvPr>
        </p:nvSpPr>
        <p:spPr>
          <a:xfrm>
            <a:off x="6515944" y="2958273"/>
            <a:ext cx="4639736" cy="2910821"/>
          </a:xfrm>
        </p:spPr>
        <p:txBody>
          <a:bodyPr rtlCol="0"/>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endParaRPr lang="pt-BR" noProof="0" dirty="0"/>
          </a:p>
        </p:txBody>
      </p:sp>
      <p:sp>
        <p:nvSpPr>
          <p:cNvPr id="2" name="Espaço Reservado para Data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p>
            <a:pPr rtl="0"/>
            <a:fld id="{DFBCC592-1277-433B-ABE2-7821BB8F5F47}" type="datetime1">
              <a:rPr lang="pt-BR" noProof="0" smtClean="0"/>
              <a:t>02/03/2026</a:t>
            </a:fld>
            <a:endParaRPr lang="pt-BR" noProof="0" dirty="0"/>
          </a:p>
        </p:txBody>
      </p:sp>
      <p:sp>
        <p:nvSpPr>
          <p:cNvPr id="11" name="Espaço Reservado para Rodapé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p>
            <a:pPr rtl="0"/>
            <a:endParaRPr lang="pt-BR" noProof="0" dirty="0"/>
          </a:p>
        </p:txBody>
      </p:sp>
      <p:sp>
        <p:nvSpPr>
          <p:cNvPr id="12" name="Espaço Reservado para Número de Slide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p>
            <a:pPr rtl="0"/>
            <a:fld id="{3A98EE3D-8CD1-4C3F-BD1C-C98C9596463C}" type="slidenum">
              <a:rPr lang="pt-BR" noProof="0" smtClean="0"/>
              <a:t>‹nº›</a:t>
            </a:fld>
            <a:endParaRPr lang="pt-BR" noProof="0"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pt-BR" noProof="0"/>
              <a:t>Clique para editar o título Mestre</a:t>
            </a:r>
            <a:endParaRPr lang="pt-BR" noProof="0" dirty="0"/>
          </a:p>
        </p:txBody>
      </p:sp>
      <p:sp>
        <p:nvSpPr>
          <p:cNvPr id="6" name="Espaço Reservado para Data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p>
            <a:pPr rtl="0"/>
            <a:fld id="{7AD34C60-AB26-43CA-BC61-01B53B651217}" type="datetime1">
              <a:rPr lang="pt-BR" noProof="0" smtClean="0"/>
              <a:t>02/03/2026</a:t>
            </a:fld>
            <a:endParaRPr lang="pt-BR" noProof="0" dirty="0"/>
          </a:p>
        </p:txBody>
      </p:sp>
      <p:sp>
        <p:nvSpPr>
          <p:cNvPr id="7" name="Espaço Reservado para Rodapé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p>
            <a:pPr rtl="0"/>
            <a:endParaRPr lang="pt-BR" noProof="0" dirty="0"/>
          </a:p>
        </p:txBody>
      </p:sp>
      <p:sp>
        <p:nvSpPr>
          <p:cNvPr id="8" name="Espaço reservado para o número do slide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p>
            <a:pPr rtl="0"/>
            <a:fld id="{3A98EE3D-8CD1-4C3F-BD1C-C98C9596463C}" type="slidenum">
              <a:rPr lang="pt-BR" noProof="0" smtClean="0"/>
              <a:t>‹nº›</a:t>
            </a:fld>
            <a:endParaRPr lang="pt-BR" noProof="0"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Espaço Reservado para Dat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2629BC98-DC8A-4339-9F6E-A49DA685FCB7}" type="datetime1">
              <a:rPr lang="pt-BR" noProof="0" smtClean="0"/>
              <a:t>02/03/2026</a:t>
            </a:fld>
            <a:endParaRPr lang="pt-BR" noProof="0" dirty="0"/>
          </a:p>
        </p:txBody>
      </p:sp>
      <p:sp>
        <p:nvSpPr>
          <p:cNvPr id="3" name="Espaço Reservado para Rodapé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pt-BR" noProof="0" dirty="0"/>
          </a:p>
        </p:txBody>
      </p:sp>
      <p:sp>
        <p:nvSpPr>
          <p:cNvPr id="4" name="Espaço reservado para o número do slide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pt-BR" noProof="0" smtClean="0"/>
              <a:t>‹nº›</a:t>
            </a:fld>
            <a:endParaRPr lang="pt-BR" noProof="0"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43466" y="786383"/>
            <a:ext cx="3517567" cy="2093975"/>
          </a:xfrm>
        </p:spPr>
        <p:txBody>
          <a:bodyPr rtlCol="0" anchor="b">
            <a:normAutofit/>
          </a:bodyPr>
          <a:lstStyle>
            <a:lvl1pPr>
              <a:lnSpc>
                <a:spcPct val="90000"/>
              </a:lnSpc>
              <a:defRPr sz="3600" b="0">
                <a:solidFill>
                  <a:srgbClr val="FFFFFF"/>
                </a:solidFill>
              </a:defRPr>
            </a:lvl1pPr>
          </a:lstStyle>
          <a:p>
            <a:pPr rtl="0"/>
            <a:r>
              <a:rPr lang="pt-BR" noProof="0"/>
              <a:t>Clique para editar o título Mestre</a:t>
            </a:r>
            <a:endParaRPr lang="pt-BR" noProof="0" dirty="0"/>
          </a:p>
        </p:txBody>
      </p:sp>
      <p:sp>
        <p:nvSpPr>
          <p:cNvPr id="3" name="Espaço reservado para conteúdo 2"/>
          <p:cNvSpPr>
            <a:spLocks noGrp="1"/>
          </p:cNvSpPr>
          <p:nvPr>
            <p:ph idx="1"/>
          </p:nvPr>
        </p:nvSpPr>
        <p:spPr>
          <a:xfrm>
            <a:off x="5458984" y="812799"/>
            <a:ext cx="5928344" cy="5294757"/>
          </a:xfrm>
        </p:spPr>
        <p:txBody>
          <a:bodyPr rtlCol="0"/>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endParaRPr lang="pt-BR" noProof="0" dirty="0"/>
          </a:p>
        </p:txBody>
      </p:sp>
      <p:sp>
        <p:nvSpPr>
          <p:cNvPr id="4" name="Espaço reservado para texto 3"/>
          <p:cNvSpPr>
            <a:spLocks noGrp="1"/>
          </p:cNvSpPr>
          <p:nvPr>
            <p:ph type="body" sz="half" idx="2" hasCustomPrompt="1"/>
          </p:nvPr>
        </p:nvSpPr>
        <p:spPr>
          <a:xfrm>
            <a:off x="643465" y="3043050"/>
            <a:ext cx="3517567" cy="3064505"/>
          </a:xfrm>
        </p:spPr>
        <p:txBody>
          <a:bodyPr lIns="91440" rIns="91440" rtlCol="0">
            <a:normAutofit/>
          </a:bodyPr>
          <a:lstStyle>
            <a:lvl1pPr marL="0" indent="0" rtl="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dirty="0"/>
              <a:t>Clique para editar o texto Mestre</a:t>
            </a:r>
          </a:p>
        </p:txBody>
      </p:sp>
      <p:sp>
        <p:nvSpPr>
          <p:cNvPr id="5" name="Espaço Reservado para Data 4"/>
          <p:cNvSpPr>
            <a:spLocks noGrp="1"/>
          </p:cNvSpPr>
          <p:nvPr>
            <p:ph type="dt" sz="half" idx="10"/>
          </p:nvPr>
        </p:nvSpPr>
        <p:spPr>
          <a:xfrm>
            <a:off x="643464" y="6446520"/>
            <a:ext cx="3517568" cy="365125"/>
          </a:xfrm>
        </p:spPr>
        <p:txBody>
          <a:bodyPr rtlCol="0"/>
          <a:lstStyle>
            <a:lvl1pPr algn="l">
              <a:defRPr/>
            </a:lvl1pPr>
          </a:lstStyle>
          <a:p>
            <a:pPr rtl="0"/>
            <a:fld id="{BA6BBE74-918B-43BF-B29E-5C4A628D9277}" type="datetime1">
              <a:rPr lang="pt-BR" noProof="0" smtClean="0"/>
              <a:t>02/03/2026</a:t>
            </a:fld>
            <a:endParaRPr lang="pt-BR" noProof="0" dirty="0"/>
          </a:p>
        </p:txBody>
      </p:sp>
      <p:sp>
        <p:nvSpPr>
          <p:cNvPr id="6" name="Espaço Reservado para Rodapé 5"/>
          <p:cNvSpPr>
            <a:spLocks noGrp="1"/>
          </p:cNvSpPr>
          <p:nvPr>
            <p:ph type="ftr" sz="quarter" idx="11"/>
          </p:nvPr>
        </p:nvSpPr>
        <p:spPr>
          <a:xfrm>
            <a:off x="5458983" y="6446520"/>
            <a:ext cx="5334019" cy="365125"/>
          </a:xfrm>
        </p:spPr>
        <p:txBody>
          <a:bodyPr rtlCol="0"/>
          <a:lstStyle>
            <a:lvl1pPr algn="l">
              <a:defRPr>
                <a:solidFill>
                  <a:schemeClr val="tx2"/>
                </a:solidFill>
              </a:defRPr>
            </a:lvl1pPr>
          </a:lstStyle>
          <a:p>
            <a:pPr rtl="0"/>
            <a:endParaRPr lang="pt-BR" noProof="0" dirty="0"/>
          </a:p>
        </p:txBody>
      </p:sp>
      <p:sp>
        <p:nvSpPr>
          <p:cNvPr id="7" name="Espaço reservado para o número do slide 6"/>
          <p:cNvSpPr>
            <a:spLocks noGrp="1"/>
          </p:cNvSpPr>
          <p:nvPr>
            <p:ph type="sldNum" sz="quarter" idx="12"/>
          </p:nvPr>
        </p:nvSpPr>
        <p:spPr/>
        <p:txBody>
          <a:bodyPr rtlCol="0"/>
          <a:lstStyle>
            <a:lvl1pPr>
              <a:defRPr>
                <a:solidFill>
                  <a:schemeClr val="tx2"/>
                </a:solidFill>
              </a:defRPr>
            </a:lvl1pPr>
          </a:lstStyle>
          <a:p>
            <a:pPr rtl="0"/>
            <a:fld id="{3A98EE3D-8CD1-4C3F-BD1C-C98C9596463C}" type="slidenum">
              <a:rPr lang="pt-BR" noProof="0" smtClean="0"/>
              <a:pPr rtl="0"/>
              <a:t>‹nº›</a:t>
            </a:fld>
            <a:endParaRPr lang="pt-BR" noProof="0"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Espaço Reservado para Imagem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pt-BR" noProof="0"/>
              <a:t>Clique no ícone para adicionar uma imagem</a:t>
            </a:r>
            <a:endParaRPr lang="pt-BR" noProof="0" dirty="0"/>
          </a:p>
        </p:txBody>
      </p:sp>
      <p:sp>
        <p:nvSpPr>
          <p:cNvPr id="2" name="Título 1"/>
          <p:cNvSpPr>
            <a:spLocks noGrp="1"/>
          </p:cNvSpPr>
          <p:nvPr>
            <p:ph type="title"/>
          </p:nvPr>
        </p:nvSpPr>
        <p:spPr>
          <a:xfrm>
            <a:off x="1097279" y="4799362"/>
            <a:ext cx="10113645" cy="743682"/>
          </a:xfrm>
        </p:spPr>
        <p:txBody>
          <a:bodyPr tIns="0" bIns="0" rtlCol="0" anchor="b">
            <a:noAutofit/>
          </a:bodyPr>
          <a:lstStyle>
            <a:lvl1pPr>
              <a:defRPr sz="3600" b="0">
                <a:solidFill>
                  <a:srgbClr val="FFFFFF"/>
                </a:solidFill>
              </a:defRPr>
            </a:lvl1pPr>
          </a:lstStyle>
          <a:p>
            <a:pPr rtl="0"/>
            <a:r>
              <a:rPr lang="pt-BR" noProof="0"/>
              <a:t>Clique para editar o título Mestre</a:t>
            </a:r>
            <a:endParaRPr lang="pt-BR" noProof="0" dirty="0"/>
          </a:p>
        </p:txBody>
      </p:sp>
      <p:sp>
        <p:nvSpPr>
          <p:cNvPr id="4" name="Espaço reservado para texto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Clique para editar os estilos de texto Mestres</a:t>
            </a:r>
          </a:p>
        </p:txBody>
      </p:sp>
      <p:sp>
        <p:nvSpPr>
          <p:cNvPr id="5" name="Espaço Reservado para Data 4"/>
          <p:cNvSpPr>
            <a:spLocks noGrp="1"/>
          </p:cNvSpPr>
          <p:nvPr>
            <p:ph type="dt" sz="half" idx="10"/>
          </p:nvPr>
        </p:nvSpPr>
        <p:spPr/>
        <p:txBody>
          <a:bodyPr rtlCol="0"/>
          <a:lstStyle>
            <a:lvl1pPr>
              <a:defRPr/>
            </a:lvl1pPr>
          </a:lstStyle>
          <a:p>
            <a:pPr rtl="0"/>
            <a:fld id="{0A1C5B49-891F-4320-82CB-3E8E2B9DD127}" type="datetime1">
              <a:rPr lang="pt-BR" noProof="0" smtClean="0"/>
              <a:t>02/03/2026</a:t>
            </a:fld>
            <a:endParaRPr lang="pt-BR" noProof="0" dirty="0"/>
          </a:p>
        </p:txBody>
      </p:sp>
      <p:sp>
        <p:nvSpPr>
          <p:cNvPr id="6" name="Espaço reservado para rodapé 5"/>
          <p:cNvSpPr>
            <a:spLocks noGrp="1"/>
          </p:cNvSpPr>
          <p:nvPr>
            <p:ph type="ftr" sz="quarter" idx="11"/>
          </p:nvPr>
        </p:nvSpPr>
        <p:spPr>
          <a:xfrm>
            <a:off x="1097279" y="6446838"/>
            <a:ext cx="6818262" cy="365125"/>
          </a:xfrm>
        </p:spPr>
        <p:txBody>
          <a:bodyPr rtlCol="0"/>
          <a:lstStyle/>
          <a:p>
            <a:pPr algn="l" rtl="0"/>
            <a:endParaRPr lang="pt-BR" noProof="0" dirty="0"/>
          </a:p>
        </p:txBody>
      </p:sp>
      <p:sp>
        <p:nvSpPr>
          <p:cNvPr id="7" name="Espaço Reservado para o Número do Slide 6"/>
          <p:cNvSpPr>
            <a:spLocks noGrp="1"/>
          </p:cNvSpPr>
          <p:nvPr>
            <p:ph type="sldNum" sz="quarter" idx="12"/>
          </p:nvPr>
        </p:nvSpPr>
        <p:spPr/>
        <p:txBody>
          <a:bodyPr rtlCol="0"/>
          <a:lstStyle/>
          <a:p>
            <a:pPr rtl="0"/>
            <a:fld id="{3A98EE3D-8CD1-4C3F-BD1C-C98C9596463C}" type="slidenum">
              <a:rPr lang="pt-BR" noProof="0" smtClean="0"/>
              <a:t>‹nº›</a:t>
            </a:fld>
            <a:endParaRPr lang="pt-BR" noProof="0"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t-BR"/>
          </a:p>
        </p:txBody>
      </p:sp>
      <p:sp>
        <p:nvSpPr>
          <p:cNvPr id="2" name="Espaço Reservado para Título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pt-BR" noProof="0" dirty="0"/>
              <a:t>Clique para editar o estilo de título Mestre</a:t>
            </a:r>
          </a:p>
        </p:txBody>
      </p:sp>
      <p:sp>
        <p:nvSpPr>
          <p:cNvPr id="3" name="Espaço Reservado para Texto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pt-BR" noProof="0" dirty="0"/>
              <a:t>Clique para editar o texto Mestre</a:t>
            </a:r>
          </a:p>
          <a:p>
            <a:pPr lvl="1" rtl="0"/>
            <a:r>
              <a:rPr lang="pt-BR" noProof="0" dirty="0"/>
              <a:t>Segundo nível</a:t>
            </a:r>
          </a:p>
          <a:p>
            <a:pPr lvl="2" rtl="0"/>
            <a:r>
              <a:rPr lang="pt-BR" noProof="0" dirty="0"/>
              <a:t>Terceiro nível</a:t>
            </a:r>
          </a:p>
          <a:p>
            <a:pPr lvl="3" rtl="0"/>
            <a:r>
              <a:rPr lang="pt-BR" noProof="0" dirty="0"/>
              <a:t>Quarto nível</a:t>
            </a:r>
          </a:p>
          <a:p>
            <a:pPr lvl="4" rtl="0"/>
            <a:r>
              <a:rPr lang="pt-BR" noProof="0" dirty="0"/>
              <a:t>Quinto nível</a:t>
            </a:r>
          </a:p>
        </p:txBody>
      </p:sp>
      <p:sp>
        <p:nvSpPr>
          <p:cNvPr id="4" name="Espaço Reservado para Data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pPr rtl="0"/>
            <a:fld id="{BA7412EA-3900-4FDB-8760-09BB6255EE2A}" type="datetime1">
              <a:rPr lang="pt-BR" noProof="0" smtClean="0"/>
              <a:t>02/03/2026</a:t>
            </a:fld>
            <a:endParaRPr lang="pt-BR" noProof="0" dirty="0"/>
          </a:p>
        </p:txBody>
      </p:sp>
      <p:sp>
        <p:nvSpPr>
          <p:cNvPr id="5" name="Espaço Reservado para Rodapé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pPr rtl="0"/>
            <a:endParaRPr lang="pt-BR" noProof="0" dirty="0"/>
          </a:p>
        </p:txBody>
      </p:sp>
      <p:sp>
        <p:nvSpPr>
          <p:cNvPr id="6" name="Espaço Reservado para o Número do Slide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pPr rtl="0"/>
            <a:fld id="{3A98EE3D-8CD1-4C3F-BD1C-C98C9596463C}" type="slidenum">
              <a:rPr lang="pt-BR" noProof="0" smtClean="0"/>
              <a:t>‹nº›</a:t>
            </a:fld>
            <a:endParaRPr lang="pt-BR" noProof="0" dirty="0"/>
          </a:p>
        </p:txBody>
      </p:sp>
      <p:cxnSp>
        <p:nvCxnSpPr>
          <p:cNvPr id="10" name="Conector Reto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2.jpg"/><Relationship Id="rId5" Type="http://schemas.microsoft.com/office/2007/relationships/hdphoto" Target="../media/hdphoto1.wdp"/><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figma.com/pt-b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www.netguru.com/design-proces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27" name="Retângulo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800" b="0" i="0" u="none" strike="noStrike" kern="1200" cap="none" spc="0" normalizeH="0" baseline="0" dirty="0">
              <a:ln>
                <a:noFill/>
              </a:ln>
              <a:solidFill>
                <a:prstClr val="white"/>
              </a:solidFill>
              <a:effectLst/>
              <a:uLnTx/>
              <a:uFillTx/>
              <a:latin typeface="Franklin Gothic Book" panose="020F0502020204030204"/>
              <a:ea typeface="+mn-ea"/>
              <a:cs typeface="+mn-cs"/>
            </a:endParaRPr>
          </a:p>
        </p:txBody>
      </p:sp>
      <p:sp>
        <p:nvSpPr>
          <p:cNvPr id="2" name="Título 1">
            <a:extLst>
              <a:ext uri="{FF2B5EF4-FFF2-40B4-BE49-F238E27FC236}">
                <a16:creationId xmlns:a16="http://schemas.microsoft.com/office/drawing/2014/main" id="{4010AF38-26DF-48B3-952C-4A9091D6863C}"/>
              </a:ext>
            </a:extLst>
          </p:cNvPr>
          <p:cNvSpPr>
            <a:spLocks noGrp="1"/>
          </p:cNvSpPr>
          <p:nvPr>
            <p:ph type="ctrTitle"/>
          </p:nvPr>
        </p:nvSpPr>
        <p:spPr>
          <a:xfrm>
            <a:off x="648929" y="639097"/>
            <a:ext cx="6253317" cy="3686015"/>
          </a:xfrm>
        </p:spPr>
        <p:txBody>
          <a:bodyPr rtlCol="0">
            <a:normAutofit/>
          </a:bodyPr>
          <a:lstStyle/>
          <a:p>
            <a:r>
              <a:rPr lang="pt-BR" dirty="0"/>
              <a:t>UX e UI Design</a:t>
            </a:r>
            <a:endParaRPr lang="pt-BR" sz="8000" dirty="0"/>
          </a:p>
        </p:txBody>
      </p:sp>
      <p:sp>
        <p:nvSpPr>
          <p:cNvPr id="3" name="Subtítulo 2">
            <a:extLst>
              <a:ext uri="{FF2B5EF4-FFF2-40B4-BE49-F238E27FC236}">
                <a16:creationId xmlns:a16="http://schemas.microsoft.com/office/drawing/2014/main" id="{37FC2D8F-56D2-4ADF-B439-0E09E7C37894}"/>
              </a:ext>
            </a:extLst>
          </p:cNvPr>
          <p:cNvSpPr>
            <a:spLocks noGrp="1"/>
          </p:cNvSpPr>
          <p:nvPr>
            <p:ph type="subTitle" idx="1"/>
          </p:nvPr>
        </p:nvSpPr>
        <p:spPr>
          <a:xfrm>
            <a:off x="632899" y="4672739"/>
            <a:ext cx="6269347" cy="1021498"/>
          </a:xfrm>
        </p:spPr>
        <p:txBody>
          <a:bodyPr rtlCol="0">
            <a:normAutofit/>
          </a:bodyPr>
          <a:lstStyle/>
          <a:p>
            <a:pPr rtl="0"/>
            <a:r>
              <a:rPr lang="pt-BR" sz="2400" dirty="0">
                <a:solidFill>
                  <a:schemeClr val="tx1">
                    <a:lumMod val="85000"/>
                    <a:lumOff val="15000"/>
                  </a:schemeClr>
                </a:solidFill>
              </a:rPr>
              <a:t>Prof. Flávio Waltz</a:t>
            </a:r>
          </a:p>
        </p:txBody>
      </p:sp>
      <p:cxnSp>
        <p:nvCxnSpPr>
          <p:cNvPr id="29" name="Conector Reto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Imagem 6" descr="Logotipo&#10;&#10;Descrição gerada automaticamente">
            <a:extLst>
              <a:ext uri="{FF2B5EF4-FFF2-40B4-BE49-F238E27FC236}">
                <a16:creationId xmlns:a16="http://schemas.microsoft.com/office/drawing/2014/main" id="{46E5C18B-904F-4EC6-8B1C-58B055730CB5}"/>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632899" y="5332217"/>
            <a:ext cx="1773372" cy="1773372"/>
          </a:xfrm>
          <a:prstGeom prst="rect">
            <a:avLst/>
          </a:prstGeom>
        </p:spPr>
      </p:pic>
      <p:pic>
        <p:nvPicPr>
          <p:cNvPr id="4" name="Imagem 3" descr="Interface gráfica do usuário, Aplicativo, Teams&#10;&#10;Descrição gerada automaticamente">
            <a:extLst>
              <a:ext uri="{FF2B5EF4-FFF2-40B4-BE49-F238E27FC236}">
                <a16:creationId xmlns:a16="http://schemas.microsoft.com/office/drawing/2014/main" id="{980785E1-5FA2-4337-1A6F-BC41D4B2E4F8}"/>
              </a:ext>
            </a:extLst>
          </p:cNvPr>
          <p:cNvPicPr>
            <a:picLocks noChangeAspect="1"/>
          </p:cNvPicPr>
          <p:nvPr/>
        </p:nvPicPr>
        <p:blipFill rotWithShape="1">
          <a:blip r:embed="rId6">
            <a:alphaModFix/>
          </a:blip>
          <a:srcRect l="40429" t="11829" r="26394" b="14631"/>
          <a:stretch/>
        </p:blipFill>
        <p:spPr>
          <a:xfrm>
            <a:off x="7551175" y="0"/>
            <a:ext cx="4640825" cy="6858000"/>
          </a:xfrm>
          <a:prstGeom prst="rect">
            <a:avLst/>
          </a:prstGeom>
        </p:spPr>
      </p:pic>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630E8-4864-4D96-981C-2DBEE33B4D81}"/>
              </a:ext>
            </a:extLst>
          </p:cNvPr>
          <p:cNvSpPr>
            <a:spLocks noGrp="1"/>
          </p:cNvSpPr>
          <p:nvPr>
            <p:ph type="title"/>
          </p:nvPr>
        </p:nvSpPr>
        <p:spPr/>
        <p:txBody>
          <a:bodyPr/>
          <a:lstStyle/>
          <a:p>
            <a:r>
              <a:rPr lang="pt-BR" dirty="0"/>
              <a:t>Atividade – </a:t>
            </a:r>
            <a:r>
              <a:rPr lang="pt-BR" i="1" dirty="0" err="1"/>
              <a:t>User</a:t>
            </a:r>
            <a:r>
              <a:rPr lang="pt-BR" i="1" dirty="0"/>
              <a:t> </a:t>
            </a:r>
            <a:r>
              <a:rPr lang="pt-BR" i="1" dirty="0" err="1"/>
              <a:t>Flow</a:t>
            </a:r>
            <a:endParaRPr lang="pt-BR" i="1" dirty="0"/>
          </a:p>
        </p:txBody>
      </p:sp>
      <p:sp>
        <p:nvSpPr>
          <p:cNvPr id="3" name="Espaço Reservado para Conteúdo 2">
            <a:extLst>
              <a:ext uri="{FF2B5EF4-FFF2-40B4-BE49-F238E27FC236}">
                <a16:creationId xmlns:a16="http://schemas.microsoft.com/office/drawing/2014/main" id="{78E01CD4-E767-4359-8BA4-8DD269EFE0D6}"/>
              </a:ext>
            </a:extLst>
          </p:cNvPr>
          <p:cNvSpPr>
            <a:spLocks noGrp="1"/>
          </p:cNvSpPr>
          <p:nvPr>
            <p:ph idx="1"/>
          </p:nvPr>
        </p:nvSpPr>
        <p:spPr/>
        <p:txBody>
          <a:bodyPr>
            <a:normAutofit/>
          </a:bodyPr>
          <a:lstStyle/>
          <a:p>
            <a:pPr>
              <a:lnSpc>
                <a:spcPct val="120000"/>
              </a:lnSpc>
            </a:pPr>
            <a:endParaRPr lang="pt-BR" sz="3200" dirty="0"/>
          </a:p>
          <a:p>
            <a:pPr marL="0" indent="0">
              <a:lnSpc>
                <a:spcPct val="120000"/>
              </a:lnSpc>
              <a:buNone/>
            </a:pPr>
            <a:r>
              <a:rPr lang="pt-BR" sz="3600" dirty="0"/>
              <a:t>Vamos desenvolver nosso primeiro </a:t>
            </a:r>
            <a:r>
              <a:rPr lang="pt-BR" sz="3600" i="1" dirty="0"/>
              <a:t>User Flow:</a:t>
            </a:r>
          </a:p>
          <a:p>
            <a:pPr marL="0" indent="0">
              <a:lnSpc>
                <a:spcPct val="120000"/>
              </a:lnSpc>
              <a:buNone/>
            </a:pPr>
            <a:r>
              <a:rPr lang="pt-BR" sz="3600" b="1" dirty="0"/>
              <a:t>Uma série de ações tomadas por um usuário para atingir determinado objetivo</a:t>
            </a:r>
            <a:endParaRPr lang="pt-BR" sz="3600" b="1" i="1" dirty="0"/>
          </a:p>
          <a:p>
            <a:pPr>
              <a:lnSpc>
                <a:spcPct val="120000"/>
              </a:lnSpc>
            </a:pPr>
            <a:endParaRPr lang="pt-BR" sz="3200" i="1" dirty="0"/>
          </a:p>
          <a:p>
            <a:pPr>
              <a:lnSpc>
                <a:spcPct val="120000"/>
              </a:lnSpc>
            </a:pPr>
            <a:endParaRPr lang="pt-BR" sz="3200" dirty="0"/>
          </a:p>
        </p:txBody>
      </p:sp>
    </p:spTree>
    <p:extLst>
      <p:ext uri="{BB962C8B-B14F-4D97-AF65-F5344CB8AC3E}">
        <p14:creationId xmlns:p14="http://schemas.microsoft.com/office/powerpoint/2010/main" val="689524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0B285-BCD0-74CA-794D-274AFC95DE5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8DEBD0-C357-041F-485E-6EF47AA271B0}"/>
              </a:ext>
            </a:extLst>
          </p:cNvPr>
          <p:cNvSpPr>
            <a:spLocks noGrp="1"/>
          </p:cNvSpPr>
          <p:nvPr>
            <p:ph type="title"/>
          </p:nvPr>
        </p:nvSpPr>
        <p:spPr/>
        <p:txBody>
          <a:bodyPr/>
          <a:lstStyle/>
          <a:p>
            <a:r>
              <a:rPr lang="pt-BR" dirty="0"/>
              <a:t>Atividade – </a:t>
            </a:r>
            <a:r>
              <a:rPr lang="pt-BR" i="1" dirty="0" err="1"/>
              <a:t>User</a:t>
            </a:r>
            <a:r>
              <a:rPr lang="pt-BR" i="1" dirty="0"/>
              <a:t> </a:t>
            </a:r>
            <a:r>
              <a:rPr lang="pt-BR" i="1" dirty="0" err="1"/>
              <a:t>Flow</a:t>
            </a:r>
            <a:endParaRPr lang="pt-BR" i="1" dirty="0"/>
          </a:p>
        </p:txBody>
      </p:sp>
      <p:sp>
        <p:nvSpPr>
          <p:cNvPr id="3" name="Espaço Reservado para Conteúdo 2">
            <a:extLst>
              <a:ext uri="{FF2B5EF4-FFF2-40B4-BE49-F238E27FC236}">
                <a16:creationId xmlns:a16="http://schemas.microsoft.com/office/drawing/2014/main" id="{791FDE14-CC9A-6221-AD9B-7D7EF39D413A}"/>
              </a:ext>
            </a:extLst>
          </p:cNvPr>
          <p:cNvSpPr>
            <a:spLocks noGrp="1"/>
          </p:cNvSpPr>
          <p:nvPr>
            <p:ph idx="1"/>
          </p:nvPr>
        </p:nvSpPr>
        <p:spPr>
          <a:xfrm>
            <a:off x="1097280" y="2108202"/>
            <a:ext cx="10058400" cy="1681374"/>
          </a:xfrm>
        </p:spPr>
        <p:txBody>
          <a:bodyPr>
            <a:normAutofit/>
          </a:bodyPr>
          <a:lstStyle/>
          <a:p>
            <a:pPr marL="0" indent="0">
              <a:lnSpc>
                <a:spcPct val="120000"/>
              </a:lnSpc>
              <a:buNone/>
            </a:pPr>
            <a:r>
              <a:rPr lang="pt-BR" sz="3600" dirty="0"/>
              <a:t>Utilizaremos o </a:t>
            </a:r>
            <a:r>
              <a:rPr lang="pt-BR" sz="3600" dirty="0" err="1"/>
              <a:t>Figma</a:t>
            </a:r>
            <a:r>
              <a:rPr lang="pt-BR" sz="3600" dirty="0"/>
              <a:t> para isso</a:t>
            </a:r>
          </a:p>
          <a:p>
            <a:pPr marL="0" indent="0">
              <a:lnSpc>
                <a:spcPct val="120000"/>
              </a:lnSpc>
              <a:buNone/>
            </a:pPr>
            <a:r>
              <a:rPr lang="pt-BR" sz="3600" b="1" i="1" dirty="0">
                <a:hlinkClick r:id="rId2"/>
              </a:rPr>
              <a:t>https://www.figma.com/pt-br/</a:t>
            </a:r>
            <a:endParaRPr lang="pt-BR" sz="3600" b="1" i="1" dirty="0"/>
          </a:p>
        </p:txBody>
      </p:sp>
      <p:pic>
        <p:nvPicPr>
          <p:cNvPr id="7" name="Imagem 6">
            <a:extLst>
              <a:ext uri="{FF2B5EF4-FFF2-40B4-BE49-F238E27FC236}">
                <a16:creationId xmlns:a16="http://schemas.microsoft.com/office/drawing/2014/main" id="{7A3FD67A-3574-F625-3920-A7631303D778}"/>
              </a:ext>
            </a:extLst>
          </p:cNvPr>
          <p:cNvPicPr>
            <a:picLocks noChangeAspect="1"/>
          </p:cNvPicPr>
          <p:nvPr/>
        </p:nvPicPr>
        <p:blipFill>
          <a:blip r:embed="rId3"/>
          <a:stretch>
            <a:fillRect/>
          </a:stretch>
        </p:blipFill>
        <p:spPr>
          <a:xfrm>
            <a:off x="648098" y="3988646"/>
            <a:ext cx="10895803" cy="527784"/>
          </a:xfrm>
          <a:prstGeom prst="rect">
            <a:avLst/>
          </a:prstGeom>
        </p:spPr>
      </p:pic>
      <p:cxnSp>
        <p:nvCxnSpPr>
          <p:cNvPr id="9" name="Conector de Seta Reta 8">
            <a:extLst>
              <a:ext uri="{FF2B5EF4-FFF2-40B4-BE49-F238E27FC236}">
                <a16:creationId xmlns:a16="http://schemas.microsoft.com/office/drawing/2014/main" id="{C10724C5-BB13-B888-CF30-30E0E5FB7018}"/>
              </a:ext>
            </a:extLst>
          </p:cNvPr>
          <p:cNvCxnSpPr/>
          <p:nvPr/>
        </p:nvCxnSpPr>
        <p:spPr>
          <a:xfrm flipV="1">
            <a:off x="4053526" y="4392891"/>
            <a:ext cx="772998" cy="61274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a16="http://schemas.microsoft.com/office/drawing/2014/main" id="{2CA233B9-683A-D6FF-CA82-663851C8C8DE}"/>
              </a:ext>
            </a:extLst>
          </p:cNvPr>
          <p:cNvCxnSpPr>
            <a:cxnSpLocks/>
          </p:cNvCxnSpPr>
          <p:nvPr/>
        </p:nvCxnSpPr>
        <p:spPr>
          <a:xfrm flipH="1" flipV="1">
            <a:off x="6622332" y="4392891"/>
            <a:ext cx="743146" cy="59650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CaixaDeTexto 11">
            <a:extLst>
              <a:ext uri="{FF2B5EF4-FFF2-40B4-BE49-F238E27FC236}">
                <a16:creationId xmlns:a16="http://schemas.microsoft.com/office/drawing/2014/main" id="{8A23F128-5028-7B78-4040-1BC957C62D9B}"/>
              </a:ext>
            </a:extLst>
          </p:cNvPr>
          <p:cNvSpPr txBox="1"/>
          <p:nvPr/>
        </p:nvSpPr>
        <p:spPr>
          <a:xfrm>
            <a:off x="961893" y="5040546"/>
            <a:ext cx="3478132" cy="369332"/>
          </a:xfrm>
          <a:prstGeom prst="rect">
            <a:avLst/>
          </a:prstGeom>
          <a:noFill/>
        </p:spPr>
        <p:txBody>
          <a:bodyPr wrap="none" rtlCol="0">
            <a:spAutoFit/>
          </a:bodyPr>
          <a:lstStyle/>
          <a:p>
            <a:r>
              <a:rPr lang="pt-BR" dirty="0"/>
              <a:t>Para criar </a:t>
            </a:r>
            <a:r>
              <a:rPr lang="pt-BR" dirty="0" err="1"/>
              <a:t>wireframes</a:t>
            </a:r>
            <a:r>
              <a:rPr lang="pt-BR" dirty="0"/>
              <a:t> e protótipos</a:t>
            </a:r>
          </a:p>
        </p:txBody>
      </p:sp>
      <p:sp>
        <p:nvSpPr>
          <p:cNvPr id="13" name="CaixaDeTexto 12">
            <a:extLst>
              <a:ext uri="{FF2B5EF4-FFF2-40B4-BE49-F238E27FC236}">
                <a16:creationId xmlns:a16="http://schemas.microsoft.com/office/drawing/2014/main" id="{EE9875CF-6492-55D1-9025-BA2FEB999A0E}"/>
              </a:ext>
            </a:extLst>
          </p:cNvPr>
          <p:cNvSpPr txBox="1"/>
          <p:nvPr/>
        </p:nvSpPr>
        <p:spPr>
          <a:xfrm>
            <a:off x="6993905" y="5040546"/>
            <a:ext cx="3740063" cy="369332"/>
          </a:xfrm>
          <a:prstGeom prst="rect">
            <a:avLst/>
          </a:prstGeom>
          <a:noFill/>
        </p:spPr>
        <p:txBody>
          <a:bodyPr wrap="none" rtlCol="0">
            <a:spAutoFit/>
          </a:bodyPr>
          <a:lstStyle/>
          <a:p>
            <a:r>
              <a:rPr lang="pt-BR" dirty="0"/>
              <a:t>Para criar fluxogramas e diagramas</a:t>
            </a:r>
          </a:p>
        </p:txBody>
      </p:sp>
    </p:spTree>
    <p:extLst>
      <p:ext uri="{BB962C8B-B14F-4D97-AF65-F5344CB8AC3E}">
        <p14:creationId xmlns:p14="http://schemas.microsoft.com/office/powerpoint/2010/main" val="3120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4DE8C-0114-4682-A443-E5E6E49CFBEC}"/>
              </a:ext>
            </a:extLst>
          </p:cNvPr>
          <p:cNvSpPr>
            <a:spLocks noGrp="1"/>
          </p:cNvSpPr>
          <p:nvPr>
            <p:ph type="title"/>
          </p:nvPr>
        </p:nvSpPr>
        <p:spPr/>
        <p:txBody>
          <a:bodyPr/>
          <a:lstStyle/>
          <a:p>
            <a:r>
              <a:rPr lang="pt-BR" dirty="0"/>
              <a:t>Atividade – </a:t>
            </a:r>
            <a:r>
              <a:rPr lang="pt-BR" i="1" dirty="0" err="1"/>
              <a:t>User</a:t>
            </a:r>
            <a:r>
              <a:rPr lang="pt-BR" i="1" dirty="0"/>
              <a:t> </a:t>
            </a:r>
            <a:r>
              <a:rPr lang="pt-BR" i="1" dirty="0" err="1"/>
              <a:t>Flow</a:t>
            </a:r>
            <a:endParaRPr lang="pt-BR" i="1" dirty="0"/>
          </a:p>
        </p:txBody>
      </p:sp>
      <p:sp>
        <p:nvSpPr>
          <p:cNvPr id="3" name="Espaço Reservado para Conteúdo 2">
            <a:extLst>
              <a:ext uri="{FF2B5EF4-FFF2-40B4-BE49-F238E27FC236}">
                <a16:creationId xmlns:a16="http://schemas.microsoft.com/office/drawing/2014/main" id="{DDB0480E-BB17-4B42-94E4-F94F975F0119}"/>
              </a:ext>
            </a:extLst>
          </p:cNvPr>
          <p:cNvSpPr>
            <a:spLocks noGrp="1"/>
          </p:cNvSpPr>
          <p:nvPr>
            <p:ph idx="1"/>
          </p:nvPr>
        </p:nvSpPr>
        <p:spPr/>
        <p:txBody>
          <a:bodyPr>
            <a:normAutofit/>
          </a:bodyPr>
          <a:lstStyle/>
          <a:p>
            <a:pPr lvl="1"/>
            <a:r>
              <a:rPr lang="pt-BR" sz="3200" dirty="0"/>
              <a:t>Descrevam: qual é o objetivo do serviço oferecido?</a:t>
            </a:r>
          </a:p>
          <a:p>
            <a:pPr lvl="2"/>
            <a:r>
              <a:rPr lang="pt-BR" sz="2600" dirty="0">
                <a:solidFill>
                  <a:schemeClr val="tx1">
                    <a:lumMod val="50000"/>
                    <a:lumOff val="50000"/>
                  </a:schemeClr>
                </a:solidFill>
              </a:rPr>
              <a:t>Ex.: “O objetivo do app é permitir que o usuário realize a locação ou a compra de um imóvel, a partir das opções apresentadas no App, sem a necessidade de se deslocar até uma imobiliária ou mesmo até o imóvel”</a:t>
            </a:r>
          </a:p>
        </p:txBody>
      </p:sp>
    </p:spTree>
    <p:extLst>
      <p:ext uri="{BB962C8B-B14F-4D97-AF65-F5344CB8AC3E}">
        <p14:creationId xmlns:p14="http://schemas.microsoft.com/office/powerpoint/2010/main" val="3624889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4DE8C-0114-4682-A443-E5E6E49CFBEC}"/>
              </a:ext>
            </a:extLst>
          </p:cNvPr>
          <p:cNvSpPr>
            <a:spLocks noGrp="1"/>
          </p:cNvSpPr>
          <p:nvPr>
            <p:ph type="title"/>
          </p:nvPr>
        </p:nvSpPr>
        <p:spPr/>
        <p:txBody>
          <a:bodyPr/>
          <a:lstStyle/>
          <a:p>
            <a:r>
              <a:rPr lang="pt-BR" dirty="0"/>
              <a:t>Atividade – </a:t>
            </a:r>
            <a:r>
              <a:rPr lang="pt-BR" i="1" dirty="0" err="1"/>
              <a:t>User</a:t>
            </a:r>
            <a:r>
              <a:rPr lang="pt-BR" i="1" dirty="0"/>
              <a:t> </a:t>
            </a:r>
            <a:r>
              <a:rPr lang="pt-BR" i="1" dirty="0" err="1"/>
              <a:t>Flow</a:t>
            </a:r>
            <a:endParaRPr lang="pt-BR" i="1" dirty="0"/>
          </a:p>
        </p:txBody>
      </p:sp>
      <p:sp>
        <p:nvSpPr>
          <p:cNvPr id="3" name="Espaço Reservado para Conteúdo 2">
            <a:extLst>
              <a:ext uri="{FF2B5EF4-FFF2-40B4-BE49-F238E27FC236}">
                <a16:creationId xmlns:a16="http://schemas.microsoft.com/office/drawing/2014/main" id="{DDB0480E-BB17-4B42-94E4-F94F975F0119}"/>
              </a:ext>
            </a:extLst>
          </p:cNvPr>
          <p:cNvSpPr>
            <a:spLocks noGrp="1"/>
          </p:cNvSpPr>
          <p:nvPr>
            <p:ph idx="1"/>
          </p:nvPr>
        </p:nvSpPr>
        <p:spPr/>
        <p:txBody>
          <a:bodyPr>
            <a:normAutofit/>
          </a:bodyPr>
          <a:lstStyle/>
          <a:p>
            <a:pPr lvl="1"/>
            <a:r>
              <a:rPr lang="pt-BR" sz="3200" dirty="0"/>
              <a:t>Definam: quem são os usuários?</a:t>
            </a:r>
          </a:p>
          <a:p>
            <a:pPr lvl="2"/>
            <a:r>
              <a:rPr lang="pt-BR" sz="2600" dirty="0">
                <a:solidFill>
                  <a:schemeClr val="tx1">
                    <a:lumMod val="50000"/>
                    <a:lumOff val="50000"/>
                  </a:schemeClr>
                </a:solidFill>
              </a:rPr>
              <a:t>Faixa etária</a:t>
            </a:r>
          </a:p>
          <a:p>
            <a:pPr lvl="2"/>
            <a:r>
              <a:rPr lang="pt-BR" sz="2600" dirty="0">
                <a:solidFill>
                  <a:schemeClr val="tx1">
                    <a:lumMod val="50000"/>
                    <a:lumOff val="50000"/>
                  </a:schemeClr>
                </a:solidFill>
              </a:rPr>
              <a:t>Nível de escolaridade</a:t>
            </a:r>
          </a:p>
          <a:p>
            <a:pPr lvl="2"/>
            <a:r>
              <a:rPr lang="pt-BR" sz="2600" dirty="0">
                <a:solidFill>
                  <a:schemeClr val="tx1">
                    <a:lumMod val="50000"/>
                    <a:lumOff val="50000"/>
                  </a:schemeClr>
                </a:solidFill>
              </a:rPr>
              <a:t>Poder aquisitivo</a:t>
            </a:r>
          </a:p>
        </p:txBody>
      </p:sp>
    </p:spTree>
    <p:extLst>
      <p:ext uri="{BB962C8B-B14F-4D97-AF65-F5344CB8AC3E}">
        <p14:creationId xmlns:p14="http://schemas.microsoft.com/office/powerpoint/2010/main" val="132413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4DE8C-0114-4682-A443-E5E6E49CFBEC}"/>
              </a:ext>
            </a:extLst>
          </p:cNvPr>
          <p:cNvSpPr>
            <a:spLocks noGrp="1"/>
          </p:cNvSpPr>
          <p:nvPr>
            <p:ph type="title"/>
          </p:nvPr>
        </p:nvSpPr>
        <p:spPr/>
        <p:txBody>
          <a:bodyPr/>
          <a:lstStyle/>
          <a:p>
            <a:r>
              <a:rPr lang="pt-BR" dirty="0"/>
              <a:t>Atividade – </a:t>
            </a:r>
            <a:r>
              <a:rPr lang="pt-BR" i="1" dirty="0" err="1"/>
              <a:t>User</a:t>
            </a:r>
            <a:r>
              <a:rPr lang="pt-BR" i="1" dirty="0"/>
              <a:t> </a:t>
            </a:r>
            <a:r>
              <a:rPr lang="pt-BR" i="1" dirty="0" err="1"/>
              <a:t>Flow</a:t>
            </a:r>
            <a:endParaRPr lang="pt-BR" i="1" dirty="0"/>
          </a:p>
        </p:txBody>
      </p:sp>
      <p:sp>
        <p:nvSpPr>
          <p:cNvPr id="3" name="Espaço Reservado para Conteúdo 2">
            <a:extLst>
              <a:ext uri="{FF2B5EF4-FFF2-40B4-BE49-F238E27FC236}">
                <a16:creationId xmlns:a16="http://schemas.microsoft.com/office/drawing/2014/main" id="{DDB0480E-BB17-4B42-94E4-F94F975F0119}"/>
              </a:ext>
            </a:extLst>
          </p:cNvPr>
          <p:cNvSpPr>
            <a:spLocks noGrp="1"/>
          </p:cNvSpPr>
          <p:nvPr>
            <p:ph idx="1"/>
          </p:nvPr>
        </p:nvSpPr>
        <p:spPr>
          <a:xfrm>
            <a:off x="1097280" y="2108201"/>
            <a:ext cx="10398034" cy="3760891"/>
          </a:xfrm>
        </p:spPr>
        <p:txBody>
          <a:bodyPr>
            <a:normAutofit/>
          </a:bodyPr>
          <a:lstStyle/>
          <a:p>
            <a:pPr lvl="1"/>
            <a:r>
              <a:rPr lang="pt-BR" sz="3200" dirty="0"/>
              <a:t>Definam: quem são os usuários?</a:t>
            </a:r>
          </a:p>
          <a:p>
            <a:pPr lvl="2"/>
            <a:r>
              <a:rPr lang="pt-BR" sz="2600" dirty="0">
                <a:solidFill>
                  <a:schemeClr val="tx1">
                    <a:lumMod val="50000"/>
                    <a:lumOff val="50000"/>
                  </a:schemeClr>
                </a:solidFill>
              </a:rPr>
              <a:t>Ex.: “Homens e mulheres, entre 20 e 55 anos, residentes no Brasil, com qualquer nível de escolaridade, pertencentes às classes A, B ou C, com renda a partir de R$1200,00 e com interesse em comprar ou alugar um imóvel”</a:t>
            </a:r>
          </a:p>
          <a:p>
            <a:pPr lvl="3"/>
            <a:endParaRPr lang="pt-BR" sz="3000" dirty="0"/>
          </a:p>
        </p:txBody>
      </p:sp>
    </p:spTree>
    <p:extLst>
      <p:ext uri="{BB962C8B-B14F-4D97-AF65-F5344CB8AC3E}">
        <p14:creationId xmlns:p14="http://schemas.microsoft.com/office/powerpoint/2010/main" val="3729725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4DE8C-0114-4682-A443-E5E6E49CFBEC}"/>
              </a:ext>
            </a:extLst>
          </p:cNvPr>
          <p:cNvSpPr>
            <a:spLocks noGrp="1"/>
          </p:cNvSpPr>
          <p:nvPr>
            <p:ph type="title"/>
          </p:nvPr>
        </p:nvSpPr>
        <p:spPr/>
        <p:txBody>
          <a:bodyPr/>
          <a:lstStyle/>
          <a:p>
            <a:r>
              <a:rPr lang="pt-BR" dirty="0"/>
              <a:t>Atividade – </a:t>
            </a:r>
            <a:r>
              <a:rPr lang="pt-BR" i="1" dirty="0" err="1"/>
              <a:t>User</a:t>
            </a:r>
            <a:r>
              <a:rPr lang="pt-BR" i="1" dirty="0"/>
              <a:t> </a:t>
            </a:r>
            <a:r>
              <a:rPr lang="pt-BR" i="1" dirty="0" err="1"/>
              <a:t>Flow</a:t>
            </a:r>
            <a:endParaRPr lang="pt-BR" i="1" dirty="0"/>
          </a:p>
        </p:txBody>
      </p:sp>
      <p:sp>
        <p:nvSpPr>
          <p:cNvPr id="3" name="Espaço Reservado para Conteúdo 2">
            <a:extLst>
              <a:ext uri="{FF2B5EF4-FFF2-40B4-BE49-F238E27FC236}">
                <a16:creationId xmlns:a16="http://schemas.microsoft.com/office/drawing/2014/main" id="{DDB0480E-BB17-4B42-94E4-F94F975F0119}"/>
              </a:ext>
            </a:extLst>
          </p:cNvPr>
          <p:cNvSpPr>
            <a:spLocks noGrp="1"/>
          </p:cNvSpPr>
          <p:nvPr>
            <p:ph idx="1"/>
          </p:nvPr>
        </p:nvSpPr>
        <p:spPr/>
        <p:txBody>
          <a:bodyPr>
            <a:normAutofit/>
          </a:bodyPr>
          <a:lstStyle/>
          <a:p>
            <a:pPr lvl="1"/>
            <a:r>
              <a:rPr lang="pt-BR" sz="3200" dirty="0"/>
              <a:t>Definam: qual é o objetivo dos usuários?</a:t>
            </a:r>
          </a:p>
          <a:p>
            <a:pPr lvl="2"/>
            <a:r>
              <a:rPr lang="pt-BR" sz="2600" dirty="0">
                <a:solidFill>
                  <a:schemeClr val="tx1">
                    <a:lumMod val="50000"/>
                    <a:lumOff val="50000"/>
                  </a:schemeClr>
                </a:solidFill>
              </a:rPr>
              <a:t>Ex.: “Comprar ou alugar um imóvel em qualquer Estado brasileiro através do App disponibilizado, de maneira simples e pouco burocrática”</a:t>
            </a:r>
          </a:p>
        </p:txBody>
      </p:sp>
    </p:spTree>
    <p:extLst>
      <p:ext uri="{BB962C8B-B14F-4D97-AF65-F5344CB8AC3E}">
        <p14:creationId xmlns:p14="http://schemas.microsoft.com/office/powerpoint/2010/main" val="3530753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4DE8C-0114-4682-A443-E5E6E49CFBEC}"/>
              </a:ext>
            </a:extLst>
          </p:cNvPr>
          <p:cNvSpPr>
            <a:spLocks noGrp="1"/>
          </p:cNvSpPr>
          <p:nvPr>
            <p:ph type="title"/>
          </p:nvPr>
        </p:nvSpPr>
        <p:spPr/>
        <p:txBody>
          <a:bodyPr/>
          <a:lstStyle/>
          <a:p>
            <a:r>
              <a:rPr lang="pt-BR" dirty="0"/>
              <a:t>Atividade – </a:t>
            </a:r>
            <a:r>
              <a:rPr lang="pt-BR" i="1" dirty="0" err="1"/>
              <a:t>User</a:t>
            </a:r>
            <a:r>
              <a:rPr lang="pt-BR" i="1" dirty="0"/>
              <a:t> </a:t>
            </a:r>
            <a:r>
              <a:rPr lang="pt-BR" i="1" dirty="0" err="1"/>
              <a:t>Flow</a:t>
            </a:r>
            <a:endParaRPr lang="pt-BR" i="1" dirty="0"/>
          </a:p>
        </p:txBody>
      </p:sp>
      <p:sp>
        <p:nvSpPr>
          <p:cNvPr id="3" name="Espaço Reservado para Conteúdo 2">
            <a:extLst>
              <a:ext uri="{FF2B5EF4-FFF2-40B4-BE49-F238E27FC236}">
                <a16:creationId xmlns:a16="http://schemas.microsoft.com/office/drawing/2014/main" id="{DDB0480E-BB17-4B42-94E4-F94F975F0119}"/>
              </a:ext>
            </a:extLst>
          </p:cNvPr>
          <p:cNvSpPr>
            <a:spLocks noGrp="1"/>
          </p:cNvSpPr>
          <p:nvPr>
            <p:ph idx="1"/>
          </p:nvPr>
        </p:nvSpPr>
        <p:spPr/>
        <p:txBody>
          <a:bodyPr>
            <a:normAutofit/>
          </a:bodyPr>
          <a:lstStyle/>
          <a:p>
            <a:pPr lvl="1"/>
            <a:r>
              <a:rPr lang="pt-BR" sz="3200" dirty="0"/>
              <a:t>Definam: quais passos o usuário deve executar para atingir seu objetivo?</a:t>
            </a:r>
          </a:p>
          <a:p>
            <a:pPr lvl="2"/>
            <a:r>
              <a:rPr lang="pt-BR" sz="2600" dirty="0">
                <a:solidFill>
                  <a:schemeClr val="tx1">
                    <a:lumMod val="50000"/>
                    <a:lumOff val="50000"/>
                  </a:schemeClr>
                </a:solidFill>
              </a:rPr>
              <a:t>Ex.: “Acessar o sistema, buscar por imóveis que atendam suas necessidades, selecionar um imóvel, inspecionar as características do imóvel selecionado, solicitar informações sobre compra ou aluguel do imóvel, executar login ou criar uma conta, entrar em contato com o proprietário do imóvel, enviar documentação.”</a:t>
            </a:r>
          </a:p>
        </p:txBody>
      </p:sp>
    </p:spTree>
    <p:extLst>
      <p:ext uri="{BB962C8B-B14F-4D97-AF65-F5344CB8AC3E}">
        <p14:creationId xmlns:p14="http://schemas.microsoft.com/office/powerpoint/2010/main" val="239025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4DE8C-0114-4682-A443-E5E6E49CFBEC}"/>
              </a:ext>
            </a:extLst>
          </p:cNvPr>
          <p:cNvSpPr>
            <a:spLocks noGrp="1"/>
          </p:cNvSpPr>
          <p:nvPr>
            <p:ph type="title"/>
          </p:nvPr>
        </p:nvSpPr>
        <p:spPr/>
        <p:txBody>
          <a:bodyPr/>
          <a:lstStyle/>
          <a:p>
            <a:r>
              <a:rPr lang="pt-BR" dirty="0"/>
              <a:t>Atividade – </a:t>
            </a:r>
            <a:r>
              <a:rPr lang="pt-BR" i="1" dirty="0" err="1"/>
              <a:t>User</a:t>
            </a:r>
            <a:r>
              <a:rPr lang="pt-BR" i="1" dirty="0"/>
              <a:t> </a:t>
            </a:r>
            <a:r>
              <a:rPr lang="pt-BR" i="1" dirty="0" err="1"/>
              <a:t>Flow</a:t>
            </a:r>
            <a:endParaRPr lang="pt-BR" i="1" dirty="0"/>
          </a:p>
        </p:txBody>
      </p:sp>
      <p:sp>
        <p:nvSpPr>
          <p:cNvPr id="3" name="Espaço Reservado para Conteúdo 2">
            <a:extLst>
              <a:ext uri="{FF2B5EF4-FFF2-40B4-BE49-F238E27FC236}">
                <a16:creationId xmlns:a16="http://schemas.microsoft.com/office/drawing/2014/main" id="{DDB0480E-BB17-4B42-94E4-F94F975F0119}"/>
              </a:ext>
            </a:extLst>
          </p:cNvPr>
          <p:cNvSpPr>
            <a:spLocks noGrp="1"/>
          </p:cNvSpPr>
          <p:nvPr>
            <p:ph idx="1"/>
          </p:nvPr>
        </p:nvSpPr>
        <p:spPr/>
        <p:txBody>
          <a:bodyPr>
            <a:normAutofit/>
          </a:bodyPr>
          <a:lstStyle/>
          <a:p>
            <a:pPr lvl="1">
              <a:lnSpc>
                <a:spcPct val="120000"/>
              </a:lnSpc>
            </a:pPr>
            <a:r>
              <a:rPr lang="pt-BR" sz="3000" dirty="0"/>
              <a:t>Se possível, </a:t>
            </a:r>
            <a:r>
              <a:rPr lang="pt-BR" sz="3000" b="1" dirty="0"/>
              <a:t>analisem sistemas concorrentes </a:t>
            </a:r>
            <a:r>
              <a:rPr lang="pt-BR" sz="3000" dirty="0"/>
              <a:t>(que oferecem serviços semelhantes) e vejam como eles resolvem problemas similares</a:t>
            </a:r>
          </a:p>
        </p:txBody>
      </p:sp>
    </p:spTree>
    <p:extLst>
      <p:ext uri="{BB962C8B-B14F-4D97-AF65-F5344CB8AC3E}">
        <p14:creationId xmlns:p14="http://schemas.microsoft.com/office/powerpoint/2010/main" val="3654823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A4DE8C-0114-4682-A443-E5E6E49CFBEC}"/>
              </a:ext>
            </a:extLst>
          </p:cNvPr>
          <p:cNvSpPr>
            <a:spLocks noGrp="1"/>
          </p:cNvSpPr>
          <p:nvPr>
            <p:ph type="title"/>
          </p:nvPr>
        </p:nvSpPr>
        <p:spPr/>
        <p:txBody>
          <a:bodyPr/>
          <a:lstStyle/>
          <a:p>
            <a:r>
              <a:rPr lang="pt-BR" dirty="0"/>
              <a:t>Atividade – </a:t>
            </a:r>
            <a:r>
              <a:rPr lang="pt-BR" i="1" dirty="0" err="1"/>
              <a:t>User</a:t>
            </a:r>
            <a:r>
              <a:rPr lang="pt-BR" i="1" dirty="0"/>
              <a:t> </a:t>
            </a:r>
            <a:r>
              <a:rPr lang="pt-BR" i="1" dirty="0" err="1"/>
              <a:t>Flow</a:t>
            </a:r>
            <a:endParaRPr lang="pt-BR" i="1" dirty="0"/>
          </a:p>
        </p:txBody>
      </p:sp>
      <p:sp>
        <p:nvSpPr>
          <p:cNvPr id="3" name="Espaço Reservado para Conteúdo 2">
            <a:extLst>
              <a:ext uri="{FF2B5EF4-FFF2-40B4-BE49-F238E27FC236}">
                <a16:creationId xmlns:a16="http://schemas.microsoft.com/office/drawing/2014/main" id="{DDB0480E-BB17-4B42-94E4-F94F975F0119}"/>
              </a:ext>
            </a:extLst>
          </p:cNvPr>
          <p:cNvSpPr>
            <a:spLocks noGrp="1"/>
          </p:cNvSpPr>
          <p:nvPr>
            <p:ph idx="1"/>
          </p:nvPr>
        </p:nvSpPr>
        <p:spPr/>
        <p:txBody>
          <a:bodyPr>
            <a:normAutofit/>
          </a:bodyPr>
          <a:lstStyle/>
          <a:p>
            <a:pPr lvl="1"/>
            <a:endParaRPr lang="pt-BR" sz="3400" dirty="0"/>
          </a:p>
          <a:p>
            <a:pPr lvl="1"/>
            <a:r>
              <a:rPr lang="pt-BR" sz="3400" dirty="0"/>
              <a:t>Finalmente, desenhem o </a:t>
            </a:r>
            <a:r>
              <a:rPr lang="pt-BR" sz="3400" b="1" dirty="0"/>
              <a:t>Fluxo do Usuário.</a:t>
            </a:r>
          </a:p>
          <a:p>
            <a:pPr lvl="2"/>
            <a:r>
              <a:rPr lang="pt-BR" sz="2600" dirty="0">
                <a:solidFill>
                  <a:schemeClr val="tx1">
                    <a:lumMod val="50000"/>
                    <a:lumOff val="50000"/>
                  </a:schemeClr>
                </a:solidFill>
              </a:rPr>
              <a:t>O exemplo dado a seguir é bastante simplificado e tecnicamente inadequado, mas é um bom ponto de partida:</a:t>
            </a:r>
          </a:p>
          <a:p>
            <a:pPr lvl="1"/>
            <a:endParaRPr lang="pt-BR" sz="3400" dirty="0"/>
          </a:p>
        </p:txBody>
      </p:sp>
    </p:spTree>
    <p:extLst>
      <p:ext uri="{BB962C8B-B14F-4D97-AF65-F5344CB8AC3E}">
        <p14:creationId xmlns:p14="http://schemas.microsoft.com/office/powerpoint/2010/main" val="619973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DB4EF71D-3F72-44B5-AFDD-10101CEF87FD}"/>
              </a:ext>
            </a:extLst>
          </p:cNvPr>
          <p:cNvPicPr>
            <a:picLocks noChangeAspect="1"/>
          </p:cNvPicPr>
          <p:nvPr/>
        </p:nvPicPr>
        <p:blipFill>
          <a:blip r:embed="rId2"/>
          <a:stretch>
            <a:fillRect/>
          </a:stretch>
        </p:blipFill>
        <p:spPr>
          <a:xfrm>
            <a:off x="361950" y="1"/>
            <a:ext cx="11468100" cy="6393884"/>
          </a:xfrm>
          <a:prstGeom prst="rect">
            <a:avLst/>
          </a:prstGeom>
        </p:spPr>
      </p:pic>
    </p:spTree>
    <p:extLst>
      <p:ext uri="{BB962C8B-B14F-4D97-AF65-F5344CB8AC3E}">
        <p14:creationId xmlns:p14="http://schemas.microsoft.com/office/powerpoint/2010/main" val="4231224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630E8-4864-4D96-981C-2DBEE33B4D81}"/>
              </a:ext>
            </a:extLst>
          </p:cNvPr>
          <p:cNvSpPr>
            <a:spLocks noGrp="1"/>
          </p:cNvSpPr>
          <p:nvPr>
            <p:ph type="title"/>
          </p:nvPr>
        </p:nvSpPr>
        <p:spPr/>
        <p:txBody>
          <a:bodyPr/>
          <a:lstStyle/>
          <a:p>
            <a:r>
              <a:rPr lang="pt-BR" dirty="0"/>
              <a:t>Dica de estudo</a:t>
            </a:r>
          </a:p>
        </p:txBody>
      </p:sp>
      <p:sp>
        <p:nvSpPr>
          <p:cNvPr id="3" name="Espaço Reservado para Conteúdo 2">
            <a:extLst>
              <a:ext uri="{FF2B5EF4-FFF2-40B4-BE49-F238E27FC236}">
                <a16:creationId xmlns:a16="http://schemas.microsoft.com/office/drawing/2014/main" id="{78E01CD4-E767-4359-8BA4-8DD269EFE0D6}"/>
              </a:ext>
            </a:extLst>
          </p:cNvPr>
          <p:cNvSpPr>
            <a:spLocks noGrp="1"/>
          </p:cNvSpPr>
          <p:nvPr>
            <p:ph idx="1"/>
          </p:nvPr>
        </p:nvSpPr>
        <p:spPr/>
        <p:txBody>
          <a:bodyPr>
            <a:normAutofit/>
          </a:bodyPr>
          <a:lstStyle/>
          <a:p>
            <a:pPr>
              <a:lnSpc>
                <a:spcPct val="120000"/>
              </a:lnSpc>
            </a:pPr>
            <a:endParaRPr lang="pt-BR" sz="3200" dirty="0"/>
          </a:p>
          <a:p>
            <a:pPr>
              <a:lnSpc>
                <a:spcPct val="120000"/>
              </a:lnSpc>
            </a:pPr>
            <a:r>
              <a:rPr lang="pt-BR" sz="3200" dirty="0"/>
              <a:t>“</a:t>
            </a:r>
            <a:r>
              <a:rPr lang="pt-BR" sz="3200" b="1" dirty="0"/>
              <a:t>Design Process for Pros. A complete </a:t>
            </a:r>
            <a:r>
              <a:rPr lang="pt-BR" sz="3200" b="1" dirty="0" err="1"/>
              <a:t>picture</a:t>
            </a:r>
            <a:r>
              <a:rPr lang="pt-BR" sz="3200" b="1" dirty="0"/>
              <a:t> </a:t>
            </a:r>
            <a:r>
              <a:rPr lang="pt-BR" sz="3200" b="1" dirty="0" err="1"/>
              <a:t>of</a:t>
            </a:r>
            <a:r>
              <a:rPr lang="pt-BR" sz="3200" b="1" dirty="0"/>
              <a:t> </a:t>
            </a:r>
            <a:r>
              <a:rPr lang="pt-BR" sz="3200" b="1" dirty="0" err="1"/>
              <a:t>product</a:t>
            </a:r>
            <a:r>
              <a:rPr lang="pt-BR" sz="3200" b="1" dirty="0"/>
              <a:t> design workflow</a:t>
            </a:r>
            <a:r>
              <a:rPr lang="pt-BR" sz="3200" dirty="0"/>
              <a:t>”</a:t>
            </a:r>
          </a:p>
          <a:p>
            <a:pPr>
              <a:lnSpc>
                <a:spcPct val="120000"/>
              </a:lnSpc>
            </a:pPr>
            <a:endParaRPr lang="pt-BR" sz="3200" dirty="0"/>
          </a:p>
          <a:p>
            <a:pPr>
              <a:lnSpc>
                <a:spcPct val="120000"/>
              </a:lnSpc>
            </a:pPr>
            <a:r>
              <a:rPr lang="pt-BR" sz="3200" dirty="0"/>
              <a:t>Link: </a:t>
            </a:r>
            <a:r>
              <a:rPr lang="pt-BR" sz="3200" dirty="0">
                <a:hlinkClick r:id="rId2"/>
              </a:rPr>
              <a:t>https://www.netguru.com/design-process</a:t>
            </a:r>
            <a:endParaRPr lang="pt-BR" sz="3200" dirty="0"/>
          </a:p>
        </p:txBody>
      </p:sp>
    </p:spTree>
    <p:extLst>
      <p:ext uri="{BB962C8B-B14F-4D97-AF65-F5344CB8AC3E}">
        <p14:creationId xmlns:p14="http://schemas.microsoft.com/office/powerpoint/2010/main" val="538371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descr="Diagrama&#10;&#10;Descrição gerada automaticamente">
            <a:extLst>
              <a:ext uri="{FF2B5EF4-FFF2-40B4-BE49-F238E27FC236}">
                <a16:creationId xmlns:a16="http://schemas.microsoft.com/office/drawing/2014/main" id="{73D9A7F3-634F-4156-8079-91E148A3814C}"/>
              </a:ext>
            </a:extLst>
          </p:cNvPr>
          <p:cNvPicPr>
            <a:picLocks noChangeAspect="1"/>
          </p:cNvPicPr>
          <p:nvPr/>
        </p:nvPicPr>
        <p:blipFill>
          <a:blip r:embed="rId2"/>
          <a:stretch>
            <a:fillRect/>
          </a:stretch>
        </p:blipFill>
        <p:spPr>
          <a:xfrm>
            <a:off x="2149154" y="0"/>
            <a:ext cx="7893706" cy="4578350"/>
          </a:xfrm>
          <a:prstGeom prst="rect">
            <a:avLst/>
          </a:prstGeom>
          <a:noFill/>
        </p:spPr>
      </p:pic>
      <p:sp>
        <p:nvSpPr>
          <p:cNvPr id="8" name="Title 2">
            <a:extLst>
              <a:ext uri="{FF2B5EF4-FFF2-40B4-BE49-F238E27FC236}">
                <a16:creationId xmlns:a16="http://schemas.microsoft.com/office/drawing/2014/main" id="{03B7F316-3CF7-109A-E62A-DB841B613920}"/>
              </a:ext>
            </a:extLst>
          </p:cNvPr>
          <p:cNvSpPr>
            <a:spLocks noGrp="1"/>
          </p:cNvSpPr>
          <p:nvPr>
            <p:ph type="title"/>
          </p:nvPr>
        </p:nvSpPr>
        <p:spPr>
          <a:xfrm>
            <a:off x="1097279" y="4799362"/>
            <a:ext cx="10113645" cy="743682"/>
          </a:xfrm>
        </p:spPr>
        <p:txBody>
          <a:bodyPr/>
          <a:lstStyle/>
          <a:p>
            <a:r>
              <a:rPr lang="en-US" dirty="0"/>
              <a:t>Wireframing</a:t>
            </a:r>
          </a:p>
        </p:txBody>
      </p:sp>
      <p:sp>
        <p:nvSpPr>
          <p:cNvPr id="10" name="Text Placeholder 3">
            <a:extLst>
              <a:ext uri="{FF2B5EF4-FFF2-40B4-BE49-F238E27FC236}">
                <a16:creationId xmlns:a16="http://schemas.microsoft.com/office/drawing/2014/main" id="{09B05B8B-170D-9F79-63B7-6CA7977F3356}"/>
              </a:ext>
            </a:extLst>
          </p:cNvPr>
          <p:cNvSpPr>
            <a:spLocks noGrp="1"/>
          </p:cNvSpPr>
          <p:nvPr>
            <p:ph type="body" sz="half" idx="2"/>
          </p:nvPr>
        </p:nvSpPr>
        <p:spPr>
          <a:xfrm>
            <a:off x="1097279" y="5715000"/>
            <a:ext cx="10113264" cy="609600"/>
          </a:xfrm>
        </p:spPr>
        <p:txBody>
          <a:bodyPr>
            <a:normAutofit fontScale="85000" lnSpcReduction="10000"/>
          </a:bodyPr>
          <a:lstStyle/>
          <a:p>
            <a:r>
              <a:rPr lang="en-US" dirty="0"/>
              <a:t>Fonte: Wireframe Examples for Websites and Mobile Apps</a:t>
            </a:r>
          </a:p>
          <a:p>
            <a:r>
              <a:rPr lang="en-US" dirty="0" err="1"/>
              <a:t>Disponível</a:t>
            </a:r>
            <a:r>
              <a:rPr lang="en-US" dirty="0"/>
              <a:t> </a:t>
            </a:r>
            <a:r>
              <a:rPr lang="en-US" dirty="0" err="1"/>
              <a:t>em</a:t>
            </a:r>
            <a:r>
              <a:rPr lang="en-US" dirty="0"/>
              <a:t>: https://xd.adobe.com/ideas/process/wireframing/wireframe-examples-websites-mobile-apps/</a:t>
            </a:r>
          </a:p>
          <a:p>
            <a:endParaRPr lang="en-US" dirty="0"/>
          </a:p>
        </p:txBody>
      </p:sp>
    </p:spTree>
    <p:extLst>
      <p:ext uri="{BB962C8B-B14F-4D97-AF65-F5344CB8AC3E}">
        <p14:creationId xmlns:p14="http://schemas.microsoft.com/office/powerpoint/2010/main" val="847595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630E8-4864-4D96-981C-2DBEE33B4D81}"/>
              </a:ext>
            </a:extLst>
          </p:cNvPr>
          <p:cNvSpPr>
            <a:spLocks noGrp="1"/>
          </p:cNvSpPr>
          <p:nvPr>
            <p:ph type="title"/>
          </p:nvPr>
        </p:nvSpPr>
        <p:spPr/>
        <p:txBody>
          <a:bodyPr/>
          <a:lstStyle/>
          <a:p>
            <a:r>
              <a:rPr lang="pt-BR" dirty="0" err="1"/>
              <a:t>Wireframe</a:t>
            </a:r>
            <a:endParaRPr lang="pt-BR" dirty="0"/>
          </a:p>
        </p:txBody>
      </p:sp>
      <p:sp>
        <p:nvSpPr>
          <p:cNvPr id="3" name="Espaço Reservado para Conteúdo 2">
            <a:extLst>
              <a:ext uri="{FF2B5EF4-FFF2-40B4-BE49-F238E27FC236}">
                <a16:creationId xmlns:a16="http://schemas.microsoft.com/office/drawing/2014/main" id="{78E01CD4-E767-4359-8BA4-8DD269EFE0D6}"/>
              </a:ext>
            </a:extLst>
          </p:cNvPr>
          <p:cNvSpPr>
            <a:spLocks noGrp="1"/>
          </p:cNvSpPr>
          <p:nvPr>
            <p:ph idx="1"/>
          </p:nvPr>
        </p:nvSpPr>
        <p:spPr>
          <a:xfrm>
            <a:off x="1097280" y="2108201"/>
            <a:ext cx="9281631" cy="3760891"/>
          </a:xfrm>
        </p:spPr>
        <p:txBody>
          <a:bodyPr>
            <a:normAutofit/>
          </a:bodyPr>
          <a:lstStyle/>
          <a:p>
            <a:pPr>
              <a:lnSpc>
                <a:spcPct val="120000"/>
              </a:lnSpc>
            </a:pPr>
            <a:r>
              <a:rPr lang="pt-BR" sz="3200" dirty="0"/>
              <a:t>Um </a:t>
            </a:r>
            <a:r>
              <a:rPr lang="pt-BR" sz="3200" dirty="0" err="1"/>
              <a:t>wireframe</a:t>
            </a:r>
            <a:r>
              <a:rPr lang="pt-BR" sz="3200" dirty="0"/>
              <a:t> é um guia básico de interface visual que descreve a estrutura de uma interface e os relacionamentos entre suas páginas.</a:t>
            </a:r>
          </a:p>
        </p:txBody>
      </p:sp>
    </p:spTree>
    <p:extLst>
      <p:ext uri="{BB962C8B-B14F-4D97-AF65-F5344CB8AC3E}">
        <p14:creationId xmlns:p14="http://schemas.microsoft.com/office/powerpoint/2010/main" val="24944900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630E8-4864-4D96-981C-2DBEE33B4D81}"/>
              </a:ext>
            </a:extLst>
          </p:cNvPr>
          <p:cNvSpPr>
            <a:spLocks noGrp="1"/>
          </p:cNvSpPr>
          <p:nvPr>
            <p:ph type="title"/>
          </p:nvPr>
        </p:nvSpPr>
        <p:spPr/>
        <p:txBody>
          <a:bodyPr/>
          <a:lstStyle/>
          <a:p>
            <a:r>
              <a:rPr lang="pt-BR" dirty="0" err="1"/>
              <a:t>Wireframe</a:t>
            </a:r>
            <a:endParaRPr lang="pt-BR" dirty="0"/>
          </a:p>
        </p:txBody>
      </p:sp>
      <p:sp>
        <p:nvSpPr>
          <p:cNvPr id="3" name="Espaço Reservado para Conteúdo 2">
            <a:extLst>
              <a:ext uri="{FF2B5EF4-FFF2-40B4-BE49-F238E27FC236}">
                <a16:creationId xmlns:a16="http://schemas.microsoft.com/office/drawing/2014/main" id="{78E01CD4-E767-4359-8BA4-8DD269EFE0D6}"/>
              </a:ext>
            </a:extLst>
          </p:cNvPr>
          <p:cNvSpPr>
            <a:spLocks noGrp="1"/>
          </p:cNvSpPr>
          <p:nvPr>
            <p:ph idx="1"/>
          </p:nvPr>
        </p:nvSpPr>
        <p:spPr/>
        <p:txBody>
          <a:bodyPr>
            <a:normAutofit/>
          </a:bodyPr>
          <a:lstStyle/>
          <a:p>
            <a:pPr>
              <a:lnSpc>
                <a:spcPct val="120000"/>
              </a:lnSpc>
            </a:pPr>
            <a:r>
              <a:rPr lang="pt-BR" sz="3200" dirty="0"/>
              <a:t>Um </a:t>
            </a:r>
            <a:r>
              <a:rPr lang="pt-BR" sz="3200" dirty="0" err="1"/>
              <a:t>wireframe</a:t>
            </a:r>
            <a:r>
              <a:rPr lang="pt-BR" sz="3200" dirty="0"/>
              <a:t> serve como um modelo que define a estrutura, o conteúdo e a funcionalidade de um projeto.</a:t>
            </a:r>
          </a:p>
        </p:txBody>
      </p:sp>
    </p:spTree>
    <p:extLst>
      <p:ext uri="{BB962C8B-B14F-4D97-AF65-F5344CB8AC3E}">
        <p14:creationId xmlns:p14="http://schemas.microsoft.com/office/powerpoint/2010/main" val="3532540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630E8-4864-4D96-981C-2DBEE33B4D81}"/>
              </a:ext>
            </a:extLst>
          </p:cNvPr>
          <p:cNvSpPr>
            <a:spLocks noGrp="1"/>
          </p:cNvSpPr>
          <p:nvPr>
            <p:ph type="title"/>
          </p:nvPr>
        </p:nvSpPr>
        <p:spPr/>
        <p:txBody>
          <a:bodyPr/>
          <a:lstStyle/>
          <a:p>
            <a:r>
              <a:rPr lang="pt-BR" dirty="0" err="1"/>
              <a:t>Wireframe</a:t>
            </a:r>
            <a:endParaRPr lang="pt-BR" dirty="0"/>
          </a:p>
        </p:txBody>
      </p:sp>
      <p:sp>
        <p:nvSpPr>
          <p:cNvPr id="3" name="Espaço Reservado para Conteúdo 2">
            <a:extLst>
              <a:ext uri="{FF2B5EF4-FFF2-40B4-BE49-F238E27FC236}">
                <a16:creationId xmlns:a16="http://schemas.microsoft.com/office/drawing/2014/main" id="{78E01CD4-E767-4359-8BA4-8DD269EFE0D6}"/>
              </a:ext>
            </a:extLst>
          </p:cNvPr>
          <p:cNvSpPr>
            <a:spLocks noGrp="1"/>
          </p:cNvSpPr>
          <p:nvPr>
            <p:ph idx="1"/>
          </p:nvPr>
        </p:nvSpPr>
        <p:spPr/>
        <p:txBody>
          <a:bodyPr>
            <a:normAutofit/>
          </a:bodyPr>
          <a:lstStyle/>
          <a:p>
            <a:pPr>
              <a:lnSpc>
                <a:spcPct val="120000"/>
              </a:lnSpc>
            </a:pPr>
            <a:r>
              <a:rPr lang="pt-BR" sz="3200" dirty="0"/>
              <a:t>Os </a:t>
            </a:r>
            <a:r>
              <a:rPr lang="pt-BR" sz="3200" dirty="0" err="1"/>
              <a:t>wireframes</a:t>
            </a:r>
            <a:r>
              <a:rPr lang="pt-BR" sz="3200" dirty="0"/>
              <a:t> são criados </a:t>
            </a:r>
            <a:r>
              <a:rPr lang="pt-BR" sz="3200" b="1" dirty="0"/>
              <a:t>antes</a:t>
            </a:r>
            <a:r>
              <a:rPr lang="pt-BR" sz="3200" dirty="0"/>
              <a:t> do início de qualquer trabalho de design visual, para que o foco esteja na </a:t>
            </a:r>
            <a:r>
              <a:rPr lang="pt-BR" sz="3200" b="1" dirty="0"/>
              <a:t>arquitetura da informação sem a distração de cores ou elementos visuais.</a:t>
            </a:r>
          </a:p>
        </p:txBody>
      </p:sp>
    </p:spTree>
    <p:extLst>
      <p:ext uri="{BB962C8B-B14F-4D97-AF65-F5344CB8AC3E}">
        <p14:creationId xmlns:p14="http://schemas.microsoft.com/office/powerpoint/2010/main" val="2662394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3B7F316-3CF7-109A-E62A-DB841B613920}"/>
              </a:ext>
            </a:extLst>
          </p:cNvPr>
          <p:cNvSpPr>
            <a:spLocks noGrp="1"/>
          </p:cNvSpPr>
          <p:nvPr>
            <p:ph type="title"/>
          </p:nvPr>
        </p:nvSpPr>
        <p:spPr>
          <a:xfrm>
            <a:off x="643466" y="786383"/>
            <a:ext cx="3517567" cy="2093975"/>
          </a:xfrm>
        </p:spPr>
        <p:txBody>
          <a:bodyPr anchor="b">
            <a:normAutofit/>
          </a:bodyPr>
          <a:lstStyle/>
          <a:p>
            <a:r>
              <a:rPr lang="en-US" sz="3400" dirty="0"/>
              <a:t>Wireframe</a:t>
            </a:r>
          </a:p>
        </p:txBody>
      </p:sp>
      <p:sp>
        <p:nvSpPr>
          <p:cNvPr id="10" name="Text Placeholder 3">
            <a:extLst>
              <a:ext uri="{FF2B5EF4-FFF2-40B4-BE49-F238E27FC236}">
                <a16:creationId xmlns:a16="http://schemas.microsoft.com/office/drawing/2014/main" id="{09B05B8B-170D-9F79-63B7-6CA7977F3356}"/>
              </a:ext>
            </a:extLst>
          </p:cNvPr>
          <p:cNvSpPr>
            <a:spLocks noGrp="1"/>
          </p:cNvSpPr>
          <p:nvPr>
            <p:ph type="body" sz="half" idx="2"/>
          </p:nvPr>
        </p:nvSpPr>
        <p:spPr>
          <a:xfrm>
            <a:off x="643465" y="3043050"/>
            <a:ext cx="3517567" cy="3064505"/>
          </a:xfrm>
        </p:spPr>
        <p:txBody>
          <a:bodyPr>
            <a:normAutofit/>
          </a:bodyPr>
          <a:lstStyle/>
          <a:p>
            <a:r>
              <a:rPr lang="en-US" dirty="0"/>
              <a:t>Autor: </a:t>
            </a:r>
            <a:r>
              <a:rPr lang="en-US" dirty="0" err="1"/>
              <a:t>lucidchart</a:t>
            </a:r>
            <a:endParaRPr lang="en-US" dirty="0"/>
          </a:p>
          <a:p>
            <a:r>
              <a:rPr lang="en-US" dirty="0"/>
              <a:t>Plataforma: Web</a:t>
            </a:r>
          </a:p>
          <a:p>
            <a:r>
              <a:rPr lang="en-US" dirty="0" err="1"/>
              <a:t>Fidelidade</a:t>
            </a:r>
            <a:r>
              <a:rPr lang="en-US" dirty="0"/>
              <a:t>: </a:t>
            </a:r>
            <a:r>
              <a:rPr lang="en-US" dirty="0" err="1"/>
              <a:t>baixa</a:t>
            </a:r>
            <a:endParaRPr lang="en-US" dirty="0"/>
          </a:p>
          <a:p>
            <a:r>
              <a:rPr lang="en-US" dirty="0" err="1"/>
              <a:t>Disponível</a:t>
            </a:r>
            <a:r>
              <a:rPr lang="en-US" dirty="0"/>
              <a:t> </a:t>
            </a:r>
            <a:r>
              <a:rPr lang="en-US" dirty="0" err="1"/>
              <a:t>em</a:t>
            </a:r>
            <a:r>
              <a:rPr lang="en-US" dirty="0"/>
              <a:t>:</a:t>
            </a:r>
          </a:p>
          <a:p>
            <a:r>
              <a:rPr lang="en-US" dirty="0"/>
              <a:t>https://xd.adobe.com/ideas/process/wireframing/wireframing-for-responsive-design/</a:t>
            </a:r>
          </a:p>
        </p:txBody>
      </p:sp>
      <p:pic>
        <p:nvPicPr>
          <p:cNvPr id="9" name="Imagem 8" descr="Uma imagem contendo Gráfico&#10;&#10;Descrição gerada automaticamente">
            <a:extLst>
              <a:ext uri="{FF2B5EF4-FFF2-40B4-BE49-F238E27FC236}">
                <a16:creationId xmlns:a16="http://schemas.microsoft.com/office/drawing/2014/main" id="{F54AF070-ED51-43E8-926F-07C0CC2432E0}"/>
              </a:ext>
            </a:extLst>
          </p:cNvPr>
          <p:cNvPicPr>
            <a:picLocks noChangeAspect="1"/>
          </p:cNvPicPr>
          <p:nvPr/>
        </p:nvPicPr>
        <p:blipFill>
          <a:blip r:embed="rId2"/>
          <a:stretch>
            <a:fillRect/>
          </a:stretch>
        </p:blipFill>
        <p:spPr>
          <a:xfrm>
            <a:off x="4851888" y="0"/>
            <a:ext cx="7174523" cy="6858000"/>
          </a:xfrm>
          <a:prstGeom prst="rect">
            <a:avLst/>
          </a:prstGeom>
        </p:spPr>
      </p:pic>
    </p:spTree>
    <p:extLst>
      <p:ext uri="{BB962C8B-B14F-4D97-AF65-F5344CB8AC3E}">
        <p14:creationId xmlns:p14="http://schemas.microsoft.com/office/powerpoint/2010/main" val="1830758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3B7F316-3CF7-109A-E62A-DB841B613920}"/>
              </a:ext>
            </a:extLst>
          </p:cNvPr>
          <p:cNvSpPr>
            <a:spLocks noGrp="1"/>
          </p:cNvSpPr>
          <p:nvPr>
            <p:ph type="title"/>
          </p:nvPr>
        </p:nvSpPr>
        <p:spPr>
          <a:xfrm>
            <a:off x="643466" y="786383"/>
            <a:ext cx="3517567" cy="2093975"/>
          </a:xfrm>
        </p:spPr>
        <p:txBody>
          <a:bodyPr anchor="b">
            <a:normAutofit/>
          </a:bodyPr>
          <a:lstStyle/>
          <a:p>
            <a:r>
              <a:rPr lang="en-US" sz="3400" dirty="0"/>
              <a:t>Wireframe</a:t>
            </a:r>
          </a:p>
        </p:txBody>
      </p:sp>
      <p:pic>
        <p:nvPicPr>
          <p:cNvPr id="4" name="Imagem 3" descr="Uma imagem contendo Diagrama&#10;&#10;Descrição gerada automaticamente">
            <a:extLst>
              <a:ext uri="{FF2B5EF4-FFF2-40B4-BE49-F238E27FC236}">
                <a16:creationId xmlns:a16="http://schemas.microsoft.com/office/drawing/2014/main" id="{41D0D9D9-3510-4846-AD37-7533F8FE3EBC}"/>
              </a:ext>
            </a:extLst>
          </p:cNvPr>
          <p:cNvPicPr>
            <a:picLocks noChangeAspect="1"/>
          </p:cNvPicPr>
          <p:nvPr/>
        </p:nvPicPr>
        <p:blipFill>
          <a:blip r:embed="rId2"/>
          <a:stretch>
            <a:fillRect/>
          </a:stretch>
        </p:blipFill>
        <p:spPr>
          <a:xfrm>
            <a:off x="5458984" y="1237048"/>
            <a:ext cx="5928344" cy="4446258"/>
          </a:xfrm>
          <a:prstGeom prst="rect">
            <a:avLst/>
          </a:prstGeom>
          <a:noFill/>
        </p:spPr>
      </p:pic>
      <p:sp>
        <p:nvSpPr>
          <p:cNvPr id="10" name="Text Placeholder 3">
            <a:extLst>
              <a:ext uri="{FF2B5EF4-FFF2-40B4-BE49-F238E27FC236}">
                <a16:creationId xmlns:a16="http://schemas.microsoft.com/office/drawing/2014/main" id="{09B05B8B-170D-9F79-63B7-6CA7977F3356}"/>
              </a:ext>
            </a:extLst>
          </p:cNvPr>
          <p:cNvSpPr>
            <a:spLocks noGrp="1"/>
          </p:cNvSpPr>
          <p:nvPr>
            <p:ph type="body" sz="half" idx="2"/>
          </p:nvPr>
        </p:nvSpPr>
        <p:spPr>
          <a:xfrm>
            <a:off x="643465" y="3043050"/>
            <a:ext cx="3517567" cy="3064505"/>
          </a:xfrm>
        </p:spPr>
        <p:txBody>
          <a:bodyPr>
            <a:normAutofit/>
          </a:bodyPr>
          <a:lstStyle/>
          <a:p>
            <a:r>
              <a:rPr lang="en-US" dirty="0"/>
              <a:t>Autor: Fernando Aleta</a:t>
            </a:r>
          </a:p>
          <a:p>
            <a:r>
              <a:rPr lang="en-US" dirty="0"/>
              <a:t>Plataforma: Mobile (iOS/Android)</a:t>
            </a:r>
          </a:p>
          <a:p>
            <a:r>
              <a:rPr lang="en-US" dirty="0" err="1"/>
              <a:t>Fidelidade</a:t>
            </a:r>
            <a:r>
              <a:rPr lang="en-US" dirty="0"/>
              <a:t>: </a:t>
            </a:r>
            <a:r>
              <a:rPr lang="en-US" dirty="0" err="1"/>
              <a:t>baixa</a:t>
            </a:r>
            <a:endParaRPr lang="en-US" dirty="0"/>
          </a:p>
          <a:p>
            <a:r>
              <a:rPr lang="en-US" dirty="0" err="1"/>
              <a:t>Disponível</a:t>
            </a:r>
            <a:r>
              <a:rPr lang="en-US" dirty="0"/>
              <a:t> </a:t>
            </a:r>
            <a:r>
              <a:rPr lang="en-US" dirty="0" err="1"/>
              <a:t>em</a:t>
            </a:r>
            <a:r>
              <a:rPr lang="en-US" dirty="0"/>
              <a:t>:</a:t>
            </a:r>
          </a:p>
          <a:p>
            <a:r>
              <a:rPr lang="en-US" dirty="0"/>
              <a:t>https://xd.adobe.com/ideas/process/wireframing/wireframe-examples-websites-mobile-apps/</a:t>
            </a:r>
          </a:p>
        </p:txBody>
      </p:sp>
    </p:spTree>
    <p:extLst>
      <p:ext uri="{BB962C8B-B14F-4D97-AF65-F5344CB8AC3E}">
        <p14:creationId xmlns:p14="http://schemas.microsoft.com/office/powerpoint/2010/main" val="1988348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64386-D983-7DA2-B871-EF237D79BD3C}"/>
            </a:ext>
          </a:extLst>
        </p:cNvPr>
        <p:cNvGrpSpPr/>
        <p:nvPr/>
      </p:nvGrpSpPr>
      <p:grpSpPr>
        <a:xfrm>
          <a:off x="0" y="0"/>
          <a:ext cx="0" cy="0"/>
          <a:chOff x="0" y="0"/>
          <a:chExt cx="0" cy="0"/>
        </a:xfrm>
      </p:grpSpPr>
      <p:sp>
        <p:nvSpPr>
          <p:cNvPr id="8" name="Title 2">
            <a:extLst>
              <a:ext uri="{FF2B5EF4-FFF2-40B4-BE49-F238E27FC236}">
                <a16:creationId xmlns:a16="http://schemas.microsoft.com/office/drawing/2014/main" id="{C058DA7E-07AD-996D-AC2D-72E9352A43C0}"/>
              </a:ext>
            </a:extLst>
          </p:cNvPr>
          <p:cNvSpPr>
            <a:spLocks noGrp="1"/>
          </p:cNvSpPr>
          <p:nvPr>
            <p:ph type="title"/>
          </p:nvPr>
        </p:nvSpPr>
        <p:spPr>
          <a:xfrm>
            <a:off x="643466" y="786383"/>
            <a:ext cx="3517567" cy="2093975"/>
          </a:xfrm>
        </p:spPr>
        <p:txBody>
          <a:bodyPr anchor="b">
            <a:normAutofit/>
          </a:bodyPr>
          <a:lstStyle/>
          <a:p>
            <a:r>
              <a:rPr lang="en-US" sz="3400" dirty="0"/>
              <a:t>Wireframe</a:t>
            </a:r>
          </a:p>
        </p:txBody>
      </p:sp>
      <p:sp>
        <p:nvSpPr>
          <p:cNvPr id="10" name="Text Placeholder 3">
            <a:extLst>
              <a:ext uri="{FF2B5EF4-FFF2-40B4-BE49-F238E27FC236}">
                <a16:creationId xmlns:a16="http://schemas.microsoft.com/office/drawing/2014/main" id="{2C8E41DA-E7AC-FECD-326E-27312F849842}"/>
              </a:ext>
            </a:extLst>
          </p:cNvPr>
          <p:cNvSpPr>
            <a:spLocks noGrp="1"/>
          </p:cNvSpPr>
          <p:nvPr>
            <p:ph type="body" sz="half" idx="2"/>
          </p:nvPr>
        </p:nvSpPr>
        <p:spPr>
          <a:xfrm>
            <a:off x="643465" y="3043050"/>
            <a:ext cx="3517567" cy="3064505"/>
          </a:xfrm>
        </p:spPr>
        <p:txBody>
          <a:bodyPr>
            <a:normAutofit/>
          </a:bodyPr>
          <a:lstStyle/>
          <a:p>
            <a:r>
              <a:rPr lang="en-US" dirty="0"/>
              <a:t>Autor: Inna </a:t>
            </a:r>
            <a:r>
              <a:rPr lang="en-US" dirty="0" err="1"/>
              <a:t>Havryk</a:t>
            </a:r>
            <a:endParaRPr lang="en-US" dirty="0"/>
          </a:p>
          <a:p>
            <a:r>
              <a:rPr lang="en-US" dirty="0"/>
              <a:t>Plataforma: Mobile (iOS)</a:t>
            </a:r>
          </a:p>
          <a:p>
            <a:r>
              <a:rPr lang="en-US" dirty="0" err="1"/>
              <a:t>Fidelidade</a:t>
            </a:r>
            <a:r>
              <a:rPr lang="en-US" dirty="0"/>
              <a:t>: </a:t>
            </a:r>
            <a:r>
              <a:rPr lang="en-US" dirty="0" err="1"/>
              <a:t>média</a:t>
            </a:r>
            <a:endParaRPr lang="en-US" dirty="0"/>
          </a:p>
          <a:p>
            <a:r>
              <a:rPr lang="en-US" dirty="0" err="1"/>
              <a:t>Disponível</a:t>
            </a:r>
            <a:r>
              <a:rPr lang="en-US" dirty="0"/>
              <a:t> </a:t>
            </a:r>
            <a:r>
              <a:rPr lang="en-US" dirty="0" err="1"/>
              <a:t>em</a:t>
            </a:r>
            <a:r>
              <a:rPr lang="en-US" dirty="0"/>
              <a:t>:</a:t>
            </a:r>
          </a:p>
          <a:p>
            <a:r>
              <a:rPr lang="en-US" dirty="0"/>
              <a:t>https://www.behance.net/gallery/89982739/Yes-or-not-app-product-design#</a:t>
            </a:r>
          </a:p>
        </p:txBody>
      </p:sp>
      <p:pic>
        <p:nvPicPr>
          <p:cNvPr id="1026" name="Picture 2">
            <a:extLst>
              <a:ext uri="{FF2B5EF4-FFF2-40B4-BE49-F238E27FC236}">
                <a16:creationId xmlns:a16="http://schemas.microsoft.com/office/drawing/2014/main" id="{8A348230-7A70-87FF-67A1-2C3674E46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6232" y="282804"/>
            <a:ext cx="7419779" cy="629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8442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630E8-4864-4D96-981C-2DBEE33B4D81}"/>
              </a:ext>
            </a:extLst>
          </p:cNvPr>
          <p:cNvSpPr>
            <a:spLocks noGrp="1"/>
          </p:cNvSpPr>
          <p:nvPr>
            <p:ph type="title"/>
          </p:nvPr>
        </p:nvSpPr>
        <p:spPr/>
        <p:txBody>
          <a:bodyPr/>
          <a:lstStyle/>
          <a:p>
            <a:r>
              <a:rPr lang="pt-BR" dirty="0" err="1"/>
              <a:t>Wireframe</a:t>
            </a:r>
            <a:endParaRPr lang="pt-BR" dirty="0"/>
          </a:p>
        </p:txBody>
      </p:sp>
      <p:sp>
        <p:nvSpPr>
          <p:cNvPr id="3" name="Espaço Reservado para Conteúdo 2">
            <a:extLst>
              <a:ext uri="{FF2B5EF4-FFF2-40B4-BE49-F238E27FC236}">
                <a16:creationId xmlns:a16="http://schemas.microsoft.com/office/drawing/2014/main" id="{78E01CD4-E767-4359-8BA4-8DD269EFE0D6}"/>
              </a:ext>
            </a:extLst>
          </p:cNvPr>
          <p:cNvSpPr>
            <a:spLocks noGrp="1"/>
          </p:cNvSpPr>
          <p:nvPr>
            <p:ph sz="half" idx="1"/>
          </p:nvPr>
        </p:nvSpPr>
        <p:spPr>
          <a:xfrm>
            <a:off x="1097279" y="2120900"/>
            <a:ext cx="4578777" cy="3748193"/>
          </a:xfrm>
        </p:spPr>
        <p:txBody>
          <a:bodyPr>
            <a:normAutofit/>
          </a:bodyPr>
          <a:lstStyle/>
          <a:p>
            <a:pPr>
              <a:lnSpc>
                <a:spcPct val="120000"/>
              </a:lnSpc>
            </a:pPr>
            <a:r>
              <a:rPr lang="pt-BR" sz="1800" b="1" dirty="0"/>
              <a:t>As cores podem distrair. Garanta que seu design permaneça focado na experiência que você está criando e não nas soluções de design visual que estão por vir.</a:t>
            </a:r>
          </a:p>
        </p:txBody>
      </p:sp>
      <p:sp>
        <p:nvSpPr>
          <p:cNvPr id="4" name="Espaço Reservado para Conteúdo 3">
            <a:extLst>
              <a:ext uri="{FF2B5EF4-FFF2-40B4-BE49-F238E27FC236}">
                <a16:creationId xmlns:a16="http://schemas.microsoft.com/office/drawing/2014/main" id="{7ACEB8B7-13B5-4293-9070-E3876D18E950}"/>
              </a:ext>
            </a:extLst>
          </p:cNvPr>
          <p:cNvSpPr>
            <a:spLocks noGrp="1"/>
          </p:cNvSpPr>
          <p:nvPr>
            <p:ph sz="half" idx="2"/>
          </p:nvPr>
        </p:nvSpPr>
        <p:spPr/>
        <p:txBody>
          <a:bodyPr>
            <a:noAutofit/>
          </a:bodyPr>
          <a:lstStyle/>
          <a:p>
            <a:pPr lvl="1"/>
            <a:r>
              <a:rPr lang="pt-BR" sz="2000" dirty="0"/>
              <a:t>Crie seus </a:t>
            </a:r>
            <a:r>
              <a:rPr lang="pt-BR" sz="2000" dirty="0" err="1"/>
              <a:t>wireframes</a:t>
            </a:r>
            <a:r>
              <a:rPr lang="pt-BR" sz="2000" dirty="0"/>
              <a:t> com base em uma paleta de cores suaves.</a:t>
            </a:r>
          </a:p>
          <a:p>
            <a:pPr lvl="1"/>
            <a:r>
              <a:rPr lang="pt-BR" sz="2000" dirty="0"/>
              <a:t>Use cores apenas se isso ajudar a definir a ideia por trás do design; mesmo assim, limite-se ao menor número de cores possível.</a:t>
            </a:r>
          </a:p>
        </p:txBody>
      </p:sp>
    </p:spTree>
    <p:extLst>
      <p:ext uri="{BB962C8B-B14F-4D97-AF65-F5344CB8AC3E}">
        <p14:creationId xmlns:p14="http://schemas.microsoft.com/office/powerpoint/2010/main" val="567723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630E8-4864-4D96-981C-2DBEE33B4D81}"/>
              </a:ext>
            </a:extLst>
          </p:cNvPr>
          <p:cNvSpPr>
            <a:spLocks noGrp="1"/>
          </p:cNvSpPr>
          <p:nvPr>
            <p:ph type="title"/>
          </p:nvPr>
        </p:nvSpPr>
        <p:spPr/>
        <p:txBody>
          <a:bodyPr/>
          <a:lstStyle/>
          <a:p>
            <a:r>
              <a:rPr lang="pt-BR" dirty="0" err="1"/>
              <a:t>Wireframe</a:t>
            </a:r>
            <a:endParaRPr lang="pt-BR" dirty="0"/>
          </a:p>
        </p:txBody>
      </p:sp>
      <p:sp>
        <p:nvSpPr>
          <p:cNvPr id="3" name="Espaço Reservado para Conteúdo 2">
            <a:extLst>
              <a:ext uri="{FF2B5EF4-FFF2-40B4-BE49-F238E27FC236}">
                <a16:creationId xmlns:a16="http://schemas.microsoft.com/office/drawing/2014/main" id="{78E01CD4-E767-4359-8BA4-8DD269EFE0D6}"/>
              </a:ext>
            </a:extLst>
          </p:cNvPr>
          <p:cNvSpPr>
            <a:spLocks noGrp="1"/>
          </p:cNvSpPr>
          <p:nvPr>
            <p:ph sz="half" idx="1"/>
          </p:nvPr>
        </p:nvSpPr>
        <p:spPr>
          <a:xfrm>
            <a:off x="1097280" y="2120900"/>
            <a:ext cx="4008120" cy="3748193"/>
          </a:xfrm>
        </p:spPr>
        <p:txBody>
          <a:bodyPr>
            <a:normAutofit/>
          </a:bodyPr>
          <a:lstStyle/>
          <a:p>
            <a:pPr>
              <a:lnSpc>
                <a:spcPct val="120000"/>
              </a:lnSpc>
            </a:pPr>
            <a:r>
              <a:rPr lang="pt-BR" sz="1800" b="1" dirty="0"/>
              <a:t>Seja consistente: a melhor maneira de ajudar as soluções apresentadas é ser consistente em seus designs de </a:t>
            </a:r>
            <a:r>
              <a:rPr lang="pt-BR" sz="1800" b="1" dirty="0" err="1"/>
              <a:t>wireframe</a:t>
            </a:r>
            <a:r>
              <a:rPr lang="pt-BR" sz="1800" b="1" dirty="0"/>
              <a:t>.</a:t>
            </a:r>
          </a:p>
        </p:txBody>
      </p:sp>
      <p:sp>
        <p:nvSpPr>
          <p:cNvPr id="4" name="Espaço Reservado para Conteúdo 3">
            <a:extLst>
              <a:ext uri="{FF2B5EF4-FFF2-40B4-BE49-F238E27FC236}">
                <a16:creationId xmlns:a16="http://schemas.microsoft.com/office/drawing/2014/main" id="{7ACEB8B7-13B5-4293-9070-E3876D18E950}"/>
              </a:ext>
            </a:extLst>
          </p:cNvPr>
          <p:cNvSpPr>
            <a:spLocks noGrp="1"/>
          </p:cNvSpPr>
          <p:nvPr>
            <p:ph sz="half" idx="2"/>
          </p:nvPr>
        </p:nvSpPr>
        <p:spPr/>
        <p:txBody>
          <a:bodyPr>
            <a:noAutofit/>
          </a:bodyPr>
          <a:lstStyle/>
          <a:p>
            <a:pPr lvl="1"/>
            <a:r>
              <a:rPr lang="pt-BR" sz="2000" dirty="0"/>
              <a:t>Seja consistente na representação visual dos elementos da interface do usuário. Idealmente, apresente-os usando elementos reutilizáveis, como Símbolos no Sketch.</a:t>
            </a:r>
          </a:p>
          <a:p>
            <a:pPr lvl="1"/>
            <a:r>
              <a:rPr lang="pt-BR" sz="2000" dirty="0"/>
              <a:t>Esteja ciente dos tamanhos de fonte e espaçamento.</a:t>
            </a:r>
          </a:p>
        </p:txBody>
      </p:sp>
    </p:spTree>
    <p:extLst>
      <p:ext uri="{BB962C8B-B14F-4D97-AF65-F5344CB8AC3E}">
        <p14:creationId xmlns:p14="http://schemas.microsoft.com/office/powerpoint/2010/main" val="3780484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630E8-4864-4D96-981C-2DBEE33B4D81}"/>
              </a:ext>
            </a:extLst>
          </p:cNvPr>
          <p:cNvSpPr>
            <a:spLocks noGrp="1"/>
          </p:cNvSpPr>
          <p:nvPr>
            <p:ph type="title"/>
          </p:nvPr>
        </p:nvSpPr>
        <p:spPr/>
        <p:txBody>
          <a:bodyPr/>
          <a:lstStyle/>
          <a:p>
            <a:r>
              <a:rPr lang="pt-BR" dirty="0" err="1"/>
              <a:t>Wireframe</a:t>
            </a:r>
            <a:endParaRPr lang="pt-BR" dirty="0"/>
          </a:p>
        </p:txBody>
      </p:sp>
      <p:sp>
        <p:nvSpPr>
          <p:cNvPr id="3" name="Espaço Reservado para Conteúdo 2">
            <a:extLst>
              <a:ext uri="{FF2B5EF4-FFF2-40B4-BE49-F238E27FC236}">
                <a16:creationId xmlns:a16="http://schemas.microsoft.com/office/drawing/2014/main" id="{78E01CD4-E767-4359-8BA4-8DD269EFE0D6}"/>
              </a:ext>
            </a:extLst>
          </p:cNvPr>
          <p:cNvSpPr>
            <a:spLocks noGrp="1"/>
          </p:cNvSpPr>
          <p:nvPr>
            <p:ph sz="half" idx="1"/>
          </p:nvPr>
        </p:nvSpPr>
        <p:spPr>
          <a:xfrm>
            <a:off x="1097280" y="2120900"/>
            <a:ext cx="4008120" cy="3748193"/>
          </a:xfrm>
        </p:spPr>
        <p:txBody>
          <a:bodyPr>
            <a:normAutofit/>
          </a:bodyPr>
          <a:lstStyle/>
          <a:p>
            <a:pPr>
              <a:lnSpc>
                <a:spcPct val="120000"/>
              </a:lnSpc>
            </a:pPr>
            <a:r>
              <a:rPr lang="pt-BR" sz="1800" b="1" dirty="0"/>
              <a:t>Use conteúdo real: escrever é uma habilidade de design e ajudará você a entender melhor o cliente e a história.</a:t>
            </a:r>
          </a:p>
        </p:txBody>
      </p:sp>
      <p:sp>
        <p:nvSpPr>
          <p:cNvPr id="4" name="Espaço Reservado para Conteúdo 3">
            <a:extLst>
              <a:ext uri="{FF2B5EF4-FFF2-40B4-BE49-F238E27FC236}">
                <a16:creationId xmlns:a16="http://schemas.microsoft.com/office/drawing/2014/main" id="{7ACEB8B7-13B5-4293-9070-E3876D18E950}"/>
              </a:ext>
            </a:extLst>
          </p:cNvPr>
          <p:cNvSpPr>
            <a:spLocks noGrp="1"/>
          </p:cNvSpPr>
          <p:nvPr>
            <p:ph sz="half" idx="2"/>
          </p:nvPr>
        </p:nvSpPr>
        <p:spPr/>
        <p:txBody>
          <a:bodyPr>
            <a:noAutofit/>
          </a:bodyPr>
          <a:lstStyle/>
          <a:p>
            <a:pPr lvl="1"/>
            <a:r>
              <a:rPr lang="pt-PT" sz="2000" dirty="0"/>
              <a:t>Se você não tiver conteúdo real: escreva você mesmo com base no que a concorrência faz e em sua própria pesquisa.</a:t>
            </a:r>
          </a:p>
          <a:p>
            <a:pPr lvl="1"/>
            <a:r>
              <a:rPr lang="pt-PT" sz="2000" dirty="0"/>
              <a:t>Use elementos cinza sólido para representar espaços reservados para fotos, vídeos e mapas.</a:t>
            </a:r>
          </a:p>
        </p:txBody>
      </p:sp>
    </p:spTree>
    <p:extLst>
      <p:ext uri="{BB962C8B-B14F-4D97-AF65-F5344CB8AC3E}">
        <p14:creationId xmlns:p14="http://schemas.microsoft.com/office/powerpoint/2010/main" val="1972672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0630E8-4864-4D96-981C-2DBEE33B4D81}"/>
              </a:ext>
            </a:extLst>
          </p:cNvPr>
          <p:cNvSpPr>
            <a:spLocks noGrp="1"/>
          </p:cNvSpPr>
          <p:nvPr>
            <p:ph type="title"/>
          </p:nvPr>
        </p:nvSpPr>
        <p:spPr/>
        <p:txBody>
          <a:bodyPr/>
          <a:lstStyle/>
          <a:p>
            <a:r>
              <a:rPr lang="pt-BR" dirty="0" err="1"/>
              <a:t>Wireframe</a:t>
            </a:r>
            <a:endParaRPr lang="pt-BR" dirty="0"/>
          </a:p>
        </p:txBody>
      </p:sp>
      <p:sp>
        <p:nvSpPr>
          <p:cNvPr id="3" name="Espaço Reservado para Conteúdo 2">
            <a:extLst>
              <a:ext uri="{FF2B5EF4-FFF2-40B4-BE49-F238E27FC236}">
                <a16:creationId xmlns:a16="http://schemas.microsoft.com/office/drawing/2014/main" id="{78E01CD4-E767-4359-8BA4-8DD269EFE0D6}"/>
              </a:ext>
            </a:extLst>
          </p:cNvPr>
          <p:cNvSpPr>
            <a:spLocks noGrp="1"/>
          </p:cNvSpPr>
          <p:nvPr>
            <p:ph sz="half" idx="1"/>
          </p:nvPr>
        </p:nvSpPr>
        <p:spPr>
          <a:xfrm>
            <a:off x="1097280" y="2120900"/>
            <a:ext cx="4008120" cy="3748193"/>
          </a:xfrm>
        </p:spPr>
        <p:txBody>
          <a:bodyPr>
            <a:normAutofit/>
          </a:bodyPr>
          <a:lstStyle/>
          <a:p>
            <a:pPr>
              <a:lnSpc>
                <a:spcPct val="140000"/>
              </a:lnSpc>
            </a:pPr>
            <a:r>
              <a:rPr lang="pt-BR" sz="1800" b="1" dirty="0"/>
              <a:t>Nunca faça </a:t>
            </a:r>
            <a:r>
              <a:rPr lang="pt-BR" sz="1800" b="1" dirty="0" err="1"/>
              <a:t>wireframes</a:t>
            </a:r>
            <a:r>
              <a:rPr lang="pt-BR" sz="1800" b="1" dirty="0"/>
              <a:t> sozinho(a). O principal objetivo de ter esse processo é o potencial conversacional e uma chance maior de descobrir soluções melhores do que se você estivesse trabalhando por conta própria.</a:t>
            </a:r>
          </a:p>
        </p:txBody>
      </p:sp>
      <p:sp>
        <p:nvSpPr>
          <p:cNvPr id="4" name="Espaço Reservado para Conteúdo 3">
            <a:extLst>
              <a:ext uri="{FF2B5EF4-FFF2-40B4-BE49-F238E27FC236}">
                <a16:creationId xmlns:a16="http://schemas.microsoft.com/office/drawing/2014/main" id="{7ACEB8B7-13B5-4293-9070-E3876D18E950}"/>
              </a:ext>
            </a:extLst>
          </p:cNvPr>
          <p:cNvSpPr>
            <a:spLocks noGrp="1"/>
          </p:cNvSpPr>
          <p:nvPr>
            <p:ph sz="half" idx="2"/>
          </p:nvPr>
        </p:nvSpPr>
        <p:spPr/>
        <p:txBody>
          <a:bodyPr>
            <a:noAutofit/>
          </a:bodyPr>
          <a:lstStyle/>
          <a:p>
            <a:pPr lvl="1"/>
            <a:r>
              <a:rPr lang="pt-PT" sz="2000" dirty="0"/>
              <a:t>Esteja aberto a novas ideias. </a:t>
            </a:r>
          </a:p>
          <a:p>
            <a:pPr lvl="1"/>
            <a:r>
              <a:rPr lang="pt-PT" sz="2000" dirty="0"/>
              <a:t>Antes de apresentar seus wireframes ao cliente, obtenha algumas opiniões de sua equipe de projeto – eles entendem o produto e conhecem o cliente. </a:t>
            </a:r>
          </a:p>
          <a:p>
            <a:pPr lvl="1"/>
            <a:r>
              <a:rPr lang="pt-PT" sz="2000" dirty="0"/>
              <a:t>Sempre obtenha uma segunda opinião sobre suas soluções</a:t>
            </a:r>
          </a:p>
        </p:txBody>
      </p:sp>
    </p:spTree>
    <p:extLst>
      <p:ext uri="{BB962C8B-B14F-4D97-AF65-F5344CB8AC3E}">
        <p14:creationId xmlns:p14="http://schemas.microsoft.com/office/powerpoint/2010/main" val="2777039"/>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_44285715_TF33845126.potx" id="{07B33CC6-269C-4DD5-9017-A83AF51479F7}" vid="{03982E99-A52E-4A57-A229-288B02283419}"/>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8A6CD9086B7A0143806617CD13B66A8F" ma:contentTypeVersion="3" ma:contentTypeDescription="Crie um novo documento." ma:contentTypeScope="" ma:versionID="f67abba2a757b4e9f9ef05b483d644cd">
  <xsd:schema xmlns:xsd="http://www.w3.org/2001/XMLSchema" xmlns:xs="http://www.w3.org/2001/XMLSchema" xmlns:p="http://schemas.microsoft.com/office/2006/metadata/properties" xmlns:ns2="dd357385-7d55-4120-8587-028bbaf63831" targetNamespace="http://schemas.microsoft.com/office/2006/metadata/properties" ma:root="true" ma:fieldsID="4949aea425c52062a86f7981ec51afe7" ns2:_="">
    <xsd:import namespace="dd357385-7d55-4120-8587-028bbaf6383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357385-7d55-4120-8587-028bbaf638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2.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FE91F06-D92A-43F7-92AF-77FEABF20AA7}"/>
</file>

<file path=docProps/app.xml><?xml version="1.0" encoding="utf-8"?>
<Properties xmlns="http://schemas.openxmlformats.org/officeDocument/2006/extended-properties" xmlns:vt="http://schemas.openxmlformats.org/officeDocument/2006/docPropsVTypes">
  <Template>{D129E361-7900-47DF-B65A-C5D6D83378F0}tf33845126_win32</Template>
  <TotalTime>639</TotalTime>
  <Words>852</Words>
  <Application>Microsoft Office PowerPoint</Application>
  <PresentationFormat>Widescreen</PresentationFormat>
  <Paragraphs>84</Paragraphs>
  <Slides>23</Slides>
  <Notes>1</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23</vt:i4>
      </vt:variant>
    </vt:vector>
  </HeadingPairs>
  <TitlesOfParts>
    <vt:vector size="27" baseType="lpstr">
      <vt:lpstr>Bookman Old Style</vt:lpstr>
      <vt:lpstr>Calibri</vt:lpstr>
      <vt:lpstr>Franklin Gothic Book</vt:lpstr>
      <vt:lpstr>1_RetrospectVTI</vt:lpstr>
      <vt:lpstr>UX e UI Design</vt:lpstr>
      <vt:lpstr>Atividade – User Flow</vt:lpstr>
      <vt:lpstr>Atividade – User Flow</vt:lpstr>
      <vt:lpstr>Atividade – User Flow</vt:lpstr>
      <vt:lpstr>Atividade – User Flow</vt:lpstr>
      <vt:lpstr>Atividade – User Flow</vt:lpstr>
      <vt:lpstr>Atividade – User Flow</vt:lpstr>
      <vt:lpstr>Atividade – User Flow</vt:lpstr>
      <vt:lpstr>Atividade – User Flow</vt:lpstr>
      <vt:lpstr>Atividade – User Flow</vt:lpstr>
      <vt:lpstr>Apresentação do PowerPoint</vt:lpstr>
      <vt:lpstr>Dica de estudo</vt:lpstr>
      <vt:lpstr>Wireframing</vt:lpstr>
      <vt:lpstr>Wireframe</vt:lpstr>
      <vt:lpstr>Wireframe</vt:lpstr>
      <vt:lpstr>Wireframe</vt:lpstr>
      <vt:lpstr>Wireframe</vt:lpstr>
      <vt:lpstr>Wireframe</vt:lpstr>
      <vt:lpstr>Wireframe</vt:lpstr>
      <vt:lpstr>Wireframe</vt:lpstr>
      <vt:lpstr>Wireframe</vt:lpstr>
      <vt:lpstr>Wireframe</vt:lpstr>
      <vt:lpstr>Wireframe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Audiovisual para Web</dc:title>
  <dc:creator>Flávio Waltz</dc:creator>
  <cp:lastModifiedBy>Flávio Waltz</cp:lastModifiedBy>
  <cp:revision>35</cp:revision>
  <dcterms:created xsi:type="dcterms:W3CDTF">2022-08-12T18:19:56Z</dcterms:created>
  <dcterms:modified xsi:type="dcterms:W3CDTF">2026-03-02T20:15:18Z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0x0101008A6CD9086B7A0143806617CD13B66A8F</vt:lpwstr>
  </property>
</Properties>
</file>