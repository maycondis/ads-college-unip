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44" d="100"/>
          <a:sy n="44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4CDB8-4FA2-7007-0A12-FCF6E996B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2C08BF-D02F-FE10-798A-120D82D32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C105E9-DBB5-D83C-4F99-ECC3886E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9205E-F96E-B76E-751A-3F06775B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4AD696-412F-3687-9B48-ACD917A2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61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596B2-383C-324E-875A-7490C184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D6B073-A8BF-5A09-68D2-A88FAB83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9D3AF0-7BDE-4269-96F5-3E44C490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F7740A-D6B4-A9AC-BCCE-7A96037A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9136D4-CD08-4059-C1B7-4038279C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2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7A797-E735-1AC8-E3F9-87A27D27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B6A046-DDEB-E91F-01DF-B9A741F39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B7410A-701C-7250-6559-742353E1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A2C621-B481-2D52-26EB-D54F8E82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C126FF-08FE-92FA-F92F-C2923D07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49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0F1EC-1F9F-951D-1C16-67DD178D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8A4800-2195-EF84-FDC3-45479E21A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B18D3D-1C14-F65C-A6FA-6A177EAD1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96540E-98E8-19FC-081C-634F68E9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67AE-7682-93DA-E9A5-20F73C96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88FBB3-0A02-CEFE-33E2-23447215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87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74FD-9DD2-4C92-6B6A-BA3F20F1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A7739F-F064-B145-8F09-FA7CCEC4C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5DFD31-86A9-E337-EBA2-483E0954E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44AD82-3AB7-1A66-9E34-7713E27BD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8E97F0-1CBC-36B8-6CB4-977142FCE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522C35-C869-C26D-FE02-AB79DB37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713020-55B7-BE07-52DC-04CC1B65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6065B8-A227-25A7-9CE6-886A77D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668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41FB0-CCAE-0264-99B2-63F5775C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2DECDDD-1316-5275-1852-4531915C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116095-10C4-F461-1DED-61BC04A5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D90936-2E14-4E86-E684-C7BD2FD2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85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200971-DF09-5A84-A6D2-69F66B5A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16D5FF-7B4A-66B5-56CA-3F5F71D8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98C08D-67C1-79CB-7169-94FB084F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853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65260-2349-7C2F-C6F0-FBB6B61E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ECA97D-B54E-8E2D-C632-11E2E72C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448B68-93BC-B7A9-2468-20FD0AA4A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06438B-FE7A-A0FA-C4F8-1005A52E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8905AC-D924-5D23-2C9D-BA962A79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CB7586-6C14-C451-6246-184B8155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94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BDA72-019D-59CF-EDF4-146DA51E5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759758-DA32-7A14-8BA6-2FA60FE09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F8B747-EB2E-CF22-0F55-3B5622428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C32081-0250-B68A-0793-8ADC4140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00F3EA-4B37-5250-4291-05C7526D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E220FA-6D08-F521-2ABE-4100936B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832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C6170-165C-475D-B386-1799B75BF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26F577-4834-1F3C-E73A-86FA32F12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05797-93E0-39D9-74AE-47B148D2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C020DE-491C-1973-BDA9-9B27C6F3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25B792-B081-16F8-4021-A3799F57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50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2A1FEC-0936-7636-6AEC-B82B8DB40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9ED73F-6B08-A5CA-377D-CC90CE835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8B21E6-CA34-3B5C-69BD-30D4A99E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8925C-5B82-6B45-630E-E2FECF95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2C4126-1E0A-F1B4-DEEA-0814E299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54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1E7B2E8-06C4-58EC-90CF-72B8F5992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E60245-A7C1-212F-B980-004C7EC4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C8EC40-0E29-5FE2-F128-058078681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009C5-032D-40D5-B383-6D00E11086CC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099D4-2FF1-0DCD-319B-FD88B3B8F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5A5B4D-6592-75A3-1CDF-DD4D433D8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04195-A245-4980-8573-C12A488649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91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Open+Web+Application+Security+Project+%28OWASP%29&amp;sca_esv=846ebd86ebd88482&amp;ei=HOGdaYCnEM3f5OUPyvOogQQ&amp;biw=1034&amp;bih=613&amp;oq=OWASP+O+QU&amp;gs_lp=Egxnd3Mtd2l6LXNlcnAiCk9XQVNQIE8gUVUqAggBMgUQABiABDIFEAAYgAQyBhAAGBYYHjIGEAAYFhgeMgYQABgWGB4yBhAAGBYYHjIGEAAYFhgeMgYQABgWGB4yBhAAGBYYHjIGEAAYFhgeSNQwUI8LWIgccAF4AZABAJgBfaABvASqAQMwLjW4AQHIAQD4AQGYAgagAs4FwgIKEAAYsAMY1gQYR8ICExAuGIAEGLADGNEDGEMYxwEYigXCAg0QABiABBiwAxhDGIoFwgIQEAAYgAQYsQMYQxiDARiKBcICCxAAGIAEGLEDGIMBwgIKEAAYgAQYQxiKBcICCBAAGBYYChgemAMAiAYBkAYKkgcDMS41oAfPHrIHAzAuNbgHxAXCBwUzLTEuNcgHeYAIAA&amp;sclient=gws-wiz-serp&amp;ved=2ahUKEwipsfnn1PKSAxXILLkGHUAWOswQgK4QegYIAQgAEA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70ABA-85D3-52B2-D52E-6E314A439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Engenharia de Segurança do Software</a:t>
            </a:r>
            <a:b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Gerenciamento, Ciclo de Vida e Abordagens Ágeis</a:t>
            </a:r>
            <a:br>
              <a:rPr lang="pt-BR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48E7D8-39C3-826F-15B4-DD85BBAA3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72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F59B0-FDC5-8DE2-9697-D9835263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– Objetivos da Aula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E69ED-88CE-0700-489E-29D5E62FD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 conceito de Engenharia de Segurança do Software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Entender a segurança no ciclo de vida do software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Explorar abordagens ágeis aplicadas à segurança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Identificar práticas de segurança em ambientes ágeis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Aplicar métodos e ferramentas para mapeamento de </a:t>
            </a:r>
            <a:r>
              <a:rPr lang="pt-B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054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048B8-660A-3B53-7E4F-1BB3407A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– O que é Engenharia de Segurança do Software?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28DD78-9312-32E8-E90F-807DBFC8F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Área da Engenharia de Software focada na proteção de sistemas</a:t>
            </a: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 segurança desde a fase de requisitos</a:t>
            </a: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Busca prevenir vulnerabilidades</a:t>
            </a: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Envolve pessoas, processos e tecnologia</a:t>
            </a:r>
            <a:endParaRPr lang="pt-B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 principal: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Garantir confidencialidade, integridade e disponibilidade (CIA).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049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77677-62E8-21AB-E733-712545FB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 – Princípios da Segurança da Informação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EB79B0-D05D-D72A-51D6-DBAECAF6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/>
              <a:t>Confidencialidade</a:t>
            </a:r>
          </a:p>
          <a:p>
            <a:r>
              <a:rPr lang="pt-BR" sz="3600" dirty="0"/>
              <a:t>	Integridade</a:t>
            </a:r>
          </a:p>
          <a:p>
            <a:r>
              <a:rPr lang="pt-BR" sz="3600" dirty="0"/>
              <a:t>	Disponibilidade</a:t>
            </a:r>
          </a:p>
          <a:p>
            <a:r>
              <a:rPr lang="pt-BR" sz="3600" dirty="0"/>
              <a:t>	Autenticidade</a:t>
            </a:r>
          </a:p>
          <a:p>
            <a:r>
              <a:rPr lang="pt-BR" sz="3600" dirty="0"/>
              <a:t>	Não repúdio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181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54DF9-CE6B-8A40-DC4E-964D226B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 – Segurança no Ciclo de Vida do Software (SDLC)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3238D2-4600-CC6C-463F-B34EA33C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 tradicional: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Levantamento de requisitos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Implementação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Implantação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Manutenção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deve estar presente em todas as fases.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23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70261-6314-8A46-38A9-6015C102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 – </a:t>
            </a:r>
            <a:r>
              <a:rPr lang="pt-BR" sz="36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</a:t>
            </a:r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SDLC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DE0FD2-93DE-7BC5-FA8C-11F6F50A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 práticas de segurança no desenvolvimento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Reduz custo de correção de falhas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Antecipação de riscos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Exemplos de modelos: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OWASP (</a:t>
            </a:r>
            <a:r>
              <a:rPr lang="en-US" sz="2000" dirty="0"/>
              <a:t> </a:t>
            </a: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  <a:hlinkClick r:id="rId2"/>
              </a:rPr>
              <a:t>Open Web Application Security Project</a:t>
            </a:r>
            <a:r>
              <a:rPr lang="en-US" sz="2000" b="1" dirty="0">
                <a:solidFill>
                  <a:srgbClr val="0A0A0A"/>
                </a:solidFill>
                <a:latin typeface="Google Sans"/>
              </a:rPr>
              <a:t>  </a:t>
            </a:r>
            <a:r>
              <a:rPr lang="en-US" sz="3200" b="1" dirty="0">
                <a:solidFill>
                  <a:srgbClr val="0A0A0A"/>
                </a:solidFill>
                <a:latin typeface="Google Sans"/>
              </a:rPr>
              <a:t>)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SDL (Security </a:t>
            </a:r>
            <a:r>
              <a:rPr lang="pt-B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Lifecycle</a:t>
            </a:r>
            <a:r>
              <a:rPr lang="pt-BR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96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8ABB2-2840-3793-13F7-41E8A8C9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/>
              <a:t>7 – Gerenciamento de Segurança no 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E3DD92-89B4-3996-A33A-D3F8E04B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Inclui:</a:t>
            </a:r>
          </a:p>
          <a:p>
            <a:r>
              <a:rPr lang="pt-BR" b="1" dirty="0"/>
              <a:t>Análise de riscos</a:t>
            </a:r>
          </a:p>
          <a:p>
            <a:r>
              <a:rPr lang="pt-BR" b="1" dirty="0"/>
              <a:t>	Definição de políticas de segurança</a:t>
            </a:r>
          </a:p>
          <a:p>
            <a:r>
              <a:rPr lang="pt-BR" b="1" dirty="0"/>
              <a:t>	Controle de acesso</a:t>
            </a:r>
          </a:p>
          <a:p>
            <a:r>
              <a:rPr lang="pt-BR" b="1" dirty="0"/>
              <a:t>	Testes de segurança</a:t>
            </a:r>
          </a:p>
          <a:p>
            <a:r>
              <a:rPr lang="pt-BR" b="1" dirty="0"/>
              <a:t>	Monitoramento contínuo</a:t>
            </a:r>
          </a:p>
          <a:p>
            <a:r>
              <a:rPr lang="pt-BR" b="1" dirty="0"/>
              <a:t>Ferramentas comuns:</a:t>
            </a:r>
          </a:p>
          <a:p>
            <a:r>
              <a:rPr lang="pt-BR" b="1" dirty="0"/>
              <a:t>	SAST (</a:t>
            </a:r>
            <a:r>
              <a:rPr lang="pt-BR" b="1" dirty="0" err="1"/>
              <a:t>Static</a:t>
            </a:r>
            <a:r>
              <a:rPr lang="pt-BR" b="1" dirty="0"/>
              <a:t> </a:t>
            </a:r>
            <a:r>
              <a:rPr lang="pt-BR" b="1" dirty="0" err="1"/>
              <a:t>Application</a:t>
            </a:r>
            <a:r>
              <a:rPr lang="pt-BR" b="1" dirty="0"/>
              <a:t> Security </a:t>
            </a:r>
            <a:r>
              <a:rPr lang="pt-BR" b="1" dirty="0" err="1"/>
              <a:t>Testing</a:t>
            </a:r>
            <a:r>
              <a:rPr lang="pt-BR" b="1" dirty="0"/>
              <a:t>)</a:t>
            </a:r>
          </a:p>
          <a:p>
            <a:r>
              <a:rPr lang="pt-BR" b="1" dirty="0"/>
              <a:t>	DAST (</a:t>
            </a:r>
            <a:r>
              <a:rPr lang="pt-BR" b="1" dirty="0" err="1"/>
              <a:t>Dynamic</a:t>
            </a:r>
            <a:r>
              <a:rPr lang="pt-BR" b="1" dirty="0"/>
              <a:t> </a:t>
            </a:r>
            <a:r>
              <a:rPr lang="pt-BR" b="1" dirty="0" err="1"/>
              <a:t>Application</a:t>
            </a:r>
            <a:r>
              <a:rPr lang="pt-BR" b="1" dirty="0"/>
              <a:t> Security </a:t>
            </a:r>
            <a:r>
              <a:rPr lang="pt-BR" b="1" dirty="0" err="1"/>
              <a:t>Testing</a:t>
            </a:r>
            <a:r>
              <a:rPr lang="pt-BR" b="1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77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68D12-3218-BE2A-0521-887E4FE4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 – Abordagens Ágeis e Segurança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BF8C72-FB1F-0BF5-E052-6559CB536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Metodologias Ágeis: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Extreme </a:t>
            </a:r>
            <a:r>
              <a:rPr lang="pt-BR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Características: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Iterações curtas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Entregas incrementais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Feedback contínuo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Desafio: integrar segurança sem comprometer velocidade.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75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7F1CE-BACD-C937-DFF1-5AEB775A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 – </a:t>
            </a:r>
            <a:r>
              <a:rPr lang="pt-BR" sz="36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DevSecOps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148EEC-10B6-5AA9-2A52-B4E678A9A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Evolução do </a:t>
            </a:r>
            <a:r>
              <a:rPr lang="pt-BR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Integra desenvolvimento e operações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Segurança integrada ao pipeline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Princípios: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Automação de testes de segurança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Monitoramento contínuo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Cultura colaborativa</a:t>
            </a:r>
            <a:endParaRPr lang="pt-B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84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7DD46-1109-BFB6-5F12-28303000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 – Práticas de Segurança em Ambientes Ágeis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B8A3C-F212-6618-3A63-2398687DE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Stories de Segurança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 Backlog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 critérios de segurança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Revisão de código (</a:t>
            </a:r>
            <a:r>
              <a:rPr lang="pt-BR" sz="3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Review)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 automatizados de segurança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contínua com análise de vulnerabilidades</a:t>
            </a:r>
            <a:endParaRPr lang="pt-BR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2397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22ABF-C0AC-E5CD-BAED-0FF91C61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 – </a:t>
            </a:r>
            <a:r>
              <a:rPr lang="pt-BR" sz="36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36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</a:t>
            </a:r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(Modelagem de Ameaças)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5C0CA9-549C-CCDC-75C2-0610C2DA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Identificação de ameaças antes da implementação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Análise de vetores de ataque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Avaliação de impacto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 comum: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STRIDE (Microsoft)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1195355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F30C5-5224-60F3-AE79-EB10B9B4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 – Requisitos Não Funcionais (RNF)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B91094-8155-2D6D-A8ED-2A0BE8C7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relacionados à segurança: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Autenticação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Autorização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Criptografia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Auditoria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Conformidade (LGPD, ISO 27001)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10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7908A-D509-0CC8-256C-CAAECC93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 – Mapeamento de </a:t>
            </a:r>
            <a:r>
              <a:rPr lang="pt-BR" sz="3600" b="1" kern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C346B-0800-345F-06E6-EC3566A3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Técnicas: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Checklists de segurança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Catálogos de </a:t>
            </a:r>
            <a:r>
              <a:rPr lang="pt-BR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Entrevistas com stakeholders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Análise de riscos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Ferramentas de apoio: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OWASP ASVS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ISO/IEC 27001</a:t>
            </a:r>
            <a:endParaRPr lang="pt-BR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620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C97B2-C62C-9A7A-27D6-2C911CA7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 – Exemplo Prático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0241EE-D0B9-E699-24A6-04D0200C7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Sistema: E-commerce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Segurança: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Login com autenticação </a:t>
            </a:r>
            <a:r>
              <a:rPr lang="pt-BR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multifator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Criptografia de dados sensíveis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Registro de logs de auditoria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Proteção contra SQL </a:t>
            </a:r>
            <a:r>
              <a:rPr lang="pt-BR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endParaRPr lang="pt-BR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627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008D-2F58-A367-1ABB-55EDDEE2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 – Ferramentas de Apoio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E4230-868C-F885-B034-7A2B95175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SonarQube</a:t>
            </a: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(análise estática)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Burp</a:t>
            </a: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(teste de intrusão)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 Security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OWASP ZAP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226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38569-1E0F-0296-C0F2-F576E343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 – Desafios Atuais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B5D133-A658-5C1E-A822-3893F8F0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Cultura organizacional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Pressão por entregas rápidas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Falta de especialistas em segurança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Atualizações constantes de ameaças</a:t>
            </a:r>
            <a:endParaRPr lang="pt-BR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0414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D647C-20AD-7BD1-9249-31C17BD4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17 – Boas Práticas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118090-46EE-4894-EA6E-FED3F778C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54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Segurança desde o início (Shift </a:t>
            </a:r>
            <a:r>
              <a:rPr lang="pt-BR" sz="5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4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Automação</a:t>
            </a:r>
            <a:b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4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Capacitação contínua</a:t>
            </a:r>
            <a:b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4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Monitoramento constante</a:t>
            </a:r>
            <a:b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400" b="1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pt-BR" sz="5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Cultura </a:t>
            </a:r>
            <a:r>
              <a:rPr lang="pt-BR" sz="5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endParaRPr lang="pt-BR" sz="5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998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52C0E-066E-808E-ABD8-85915BE0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18 – Conclusão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E9FEC1-3BD6-D4D0-6F5C-5BECABE57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Segurança é responsabilidade de todos</a:t>
            </a:r>
            <a:endParaRPr lang="pt-BR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 estar integrada ao ciclo de vida</a:t>
            </a:r>
            <a:endParaRPr lang="pt-BR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Abordagens ágeis exigem automação e cultura</a:t>
            </a:r>
            <a:endParaRPr lang="pt-BR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RNFs</a:t>
            </a:r>
            <a:r>
              <a:rPr lang="pt-BR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são fundamentais para garantir proteção adequada</a:t>
            </a:r>
            <a:endParaRPr lang="pt-BR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1866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BC058-3E47-0ED1-67D3-F3AB7149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 – Perguntas</a:t>
            </a:r>
            <a:endParaRPr lang="pt-BR" sz="36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78F16-D171-0C39-2104-DAC082876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6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Dúvidas? Discussões?</a:t>
            </a:r>
            <a:endParaRPr lang="pt-BR" sz="6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84570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594C4721B98C4E904B83122545EE6E" ma:contentTypeVersion="0" ma:contentTypeDescription="Create a new document." ma:contentTypeScope="" ma:versionID="36977ef9cf3e37dba916e41d93353b5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4369C1-C6C5-4782-AAB6-7C80AED9D8ED}"/>
</file>

<file path=customXml/itemProps2.xml><?xml version="1.0" encoding="utf-8"?>
<ds:datastoreItem xmlns:ds="http://schemas.openxmlformats.org/officeDocument/2006/customXml" ds:itemID="{B9719D50-C930-460F-9A4C-F3F6E4EA30BD}"/>
</file>

<file path=customXml/itemProps3.xml><?xml version="1.0" encoding="utf-8"?>
<ds:datastoreItem xmlns:ds="http://schemas.openxmlformats.org/officeDocument/2006/customXml" ds:itemID="{E4996C17-F0E3-406E-9E7D-3EF343963935}"/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559</Words>
  <Application>Microsoft Office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Segoe UI Symbol</vt:lpstr>
      <vt:lpstr>Symbol</vt:lpstr>
      <vt:lpstr>Times New Roman</vt:lpstr>
      <vt:lpstr>Tema do Office</vt:lpstr>
      <vt:lpstr>Engenharia de Segurança do Software Gerenciamento, Ciclo de Vida e Abordagens Ágeis </vt:lpstr>
      <vt:lpstr>2 – Objetivos da Aula </vt:lpstr>
      <vt:lpstr>3 – O que é Engenharia de Segurança do Software?</vt:lpstr>
      <vt:lpstr>4 – Princípios da Segurança da Informação</vt:lpstr>
      <vt:lpstr>5 – Segurança no Ciclo de Vida do Software (SDLC)</vt:lpstr>
      <vt:lpstr>6 – Secure SDLC</vt:lpstr>
      <vt:lpstr>7 – Gerenciamento de Segurança no Ciclo de Vida</vt:lpstr>
      <vt:lpstr>8 – Abordagens Ágeis e Segurança </vt:lpstr>
      <vt:lpstr>9 – DevSecOps</vt:lpstr>
      <vt:lpstr>10 – Práticas de Segurança em Ambientes Ágeis</vt:lpstr>
      <vt:lpstr>11 – Threat Modeling (Modelagem de Ameaças)</vt:lpstr>
      <vt:lpstr>12 – Requisitos Não Funcionais (RNF) </vt:lpstr>
      <vt:lpstr>13 – Mapeamento de RNFs </vt:lpstr>
      <vt:lpstr>14 – Exemplo Prático</vt:lpstr>
      <vt:lpstr>15 – Ferramentas de Apoio</vt:lpstr>
      <vt:lpstr>16 – Desafios Atuais</vt:lpstr>
      <vt:lpstr>17 – Boas Práticas</vt:lpstr>
      <vt:lpstr>18 – Conclusão</vt:lpstr>
      <vt:lpstr>19 – Perguntas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Segurança do Software Gerenciamento, Ciclo de Vida e Abordagens Ágeis </dc:title>
  <dc:creator>User</dc:creator>
  <cp:lastModifiedBy>User</cp:lastModifiedBy>
  <cp:revision>10</cp:revision>
  <dcterms:created xsi:type="dcterms:W3CDTF">2026-02-24T17:30:06Z</dcterms:created>
  <dcterms:modified xsi:type="dcterms:W3CDTF">2026-02-24T18:02:25Z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