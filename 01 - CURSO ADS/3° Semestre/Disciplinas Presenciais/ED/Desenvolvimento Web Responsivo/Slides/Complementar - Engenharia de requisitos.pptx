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49"/>
  </p:notesMasterIdLst>
  <p:handoutMasterIdLst>
    <p:handoutMasterId r:id="rId50"/>
  </p:handoutMasterIdLst>
  <p:sldIdLst>
    <p:sldId id="268" r:id="rId5"/>
    <p:sldId id="385" r:id="rId6"/>
    <p:sldId id="391" r:id="rId7"/>
    <p:sldId id="386" r:id="rId8"/>
    <p:sldId id="387" r:id="rId9"/>
    <p:sldId id="389" r:id="rId10"/>
    <p:sldId id="390" r:id="rId11"/>
    <p:sldId id="392" r:id="rId12"/>
    <p:sldId id="393" r:id="rId13"/>
    <p:sldId id="394" r:id="rId14"/>
    <p:sldId id="395" r:id="rId15"/>
    <p:sldId id="396" r:id="rId16"/>
    <p:sldId id="397" r:id="rId17"/>
    <p:sldId id="398" r:id="rId18"/>
    <p:sldId id="399" r:id="rId19"/>
    <p:sldId id="400" r:id="rId20"/>
    <p:sldId id="401" r:id="rId21"/>
    <p:sldId id="402" r:id="rId22"/>
    <p:sldId id="403" r:id="rId23"/>
    <p:sldId id="404" r:id="rId24"/>
    <p:sldId id="405" r:id="rId25"/>
    <p:sldId id="406" r:id="rId26"/>
    <p:sldId id="407" r:id="rId27"/>
    <p:sldId id="409" r:id="rId28"/>
    <p:sldId id="410" r:id="rId29"/>
    <p:sldId id="411" r:id="rId30"/>
    <p:sldId id="412" r:id="rId31"/>
    <p:sldId id="413" r:id="rId32"/>
    <p:sldId id="414" r:id="rId33"/>
    <p:sldId id="415" r:id="rId34"/>
    <p:sldId id="416" r:id="rId35"/>
    <p:sldId id="417" r:id="rId36"/>
    <p:sldId id="418" r:id="rId37"/>
    <p:sldId id="421" r:id="rId38"/>
    <p:sldId id="425" r:id="rId39"/>
    <p:sldId id="422" r:id="rId40"/>
    <p:sldId id="423" r:id="rId41"/>
    <p:sldId id="424" r:id="rId42"/>
    <p:sldId id="426" r:id="rId43"/>
    <p:sldId id="427" r:id="rId44"/>
    <p:sldId id="428" r:id="rId45"/>
    <p:sldId id="429" r:id="rId46"/>
    <p:sldId id="430" r:id="rId47"/>
    <p:sldId id="431" r:id="rId48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7C00"/>
    <a:srgbClr val="EFD7FD"/>
    <a:srgbClr val="DBA8FA"/>
    <a:srgbClr val="F6E8FE"/>
    <a:srgbClr val="CE87F9"/>
    <a:srgbClr val="C26DF7"/>
    <a:srgbClr val="E8C8FC"/>
    <a:srgbClr val="0000FF"/>
    <a:srgbClr val="00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19" autoAdjust="0"/>
  </p:normalViewPr>
  <p:slideViewPr>
    <p:cSldViewPr snapToGrid="0">
      <p:cViewPr varScale="1">
        <p:scale>
          <a:sx n="102" d="100"/>
          <a:sy n="102" d="100"/>
        </p:scale>
        <p:origin x="111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94" y="8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9935E2-E7C1-4ED2-91A8-3D2EF90039F0}" type="datetimeFigureOut">
              <a:rPr lang="pt-BR" smtClean="0"/>
              <a:t>10/03/2026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927CB4-B6D2-4E90-9CC1-824CE88DA95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37642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6FA47-21D5-4047-9471-F01A728B28BE}" type="datetimeFigureOut">
              <a:rPr lang="pt-BR" noProof="0" smtClean="0"/>
              <a:t>10/03/2026</a:t>
            </a:fld>
            <a:endParaRPr lang="pt-BR" noProof="0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/>
            <a:r>
              <a:rPr lang="pt-BR" noProof="0" dirty="0"/>
              <a:t>Segundo nível</a:t>
            </a:r>
          </a:p>
          <a:p>
            <a:pPr lvl="2"/>
            <a:r>
              <a:rPr lang="pt-BR" noProof="0" dirty="0"/>
              <a:t>Terceiro nível</a:t>
            </a:r>
          </a:p>
          <a:p>
            <a:pPr lvl="3"/>
            <a:r>
              <a:rPr lang="pt-BR" noProof="0" dirty="0"/>
              <a:t>Quarto nível</a:t>
            </a:r>
          </a:p>
          <a:p>
            <a:pPr lvl="4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noProof="0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3501BF-1D2B-4868-94EC-1ACE4360F5A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587417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3501BF-1D2B-4868-94EC-1ACE4360F5AC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374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A058210-3CDA-4DDA-8356-4FED81F3EC11}" type="datetime1">
              <a:rPr lang="pt-BR" noProof="0" smtClean="0"/>
              <a:t>10/03/2026</a:t>
            </a:fld>
            <a:endParaRPr lang="pt-BR" noProof="0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10A45F5-F797-498C-8B7A-1AAECBDA6E61}" type="datetime1">
              <a:rPr lang="pt-BR" noProof="0" smtClean="0"/>
              <a:t>10/03/2026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9AE4E-7FCD-4AA8-8737-FC932D28D25C}" type="datetime1">
              <a:rPr lang="pt-BR" noProof="0" smtClean="0"/>
              <a:t>10/03/2026</a:t>
            </a:fld>
            <a:endParaRPr lang="pt-BR" noProof="0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6469966-2CA8-44E6-8B22-84BCFB10A849}" type="datetime1">
              <a:rPr lang="pt-BR" noProof="0" smtClean="0"/>
              <a:t>10/03/2026</a:t>
            </a:fld>
            <a:endParaRPr lang="pt-BR" noProof="0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CC592-1277-433B-ABE2-7821BB8F5F47}" type="datetime1">
              <a:rPr lang="pt-BR" noProof="0" smtClean="0"/>
              <a:t>10/03/2026</a:t>
            </a:fld>
            <a:endParaRPr lang="pt-BR" noProof="0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34C60-AB26-43CA-BC61-01B53B651217}" type="datetime1">
              <a:rPr lang="pt-BR" noProof="0" smtClean="0"/>
              <a:t>10/03/2026</a:t>
            </a:fld>
            <a:endParaRPr lang="pt-BR" noProof="0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629BC98-DC8A-4339-9F6E-A49DA685FCB7}" type="datetime1">
              <a:rPr lang="pt-BR" noProof="0" smtClean="0"/>
              <a:t>10/03/2026</a:t>
            </a:fld>
            <a:endParaRPr lang="pt-BR" noProof="0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 rtl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 dirty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BA6BBE74-918B-43BF-B29E-5C4A628D9277}" type="datetime1">
              <a:rPr lang="pt-BR" noProof="0" smtClean="0"/>
              <a:t>10/03/2026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0A1C5B49-891F-4320-82CB-3E8E2B9DD127}" type="datetime1">
              <a:rPr lang="pt-BR" noProof="0" smtClean="0"/>
              <a:t>10/03/2026</a:t>
            </a:fld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BA7412EA-3900-4FDB-8760-09BB6255EE2A}" type="datetime1">
              <a:rPr lang="pt-BR" noProof="0" smtClean="0"/>
              <a:t>10/03/2026</a:t>
            </a:fld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pt-BR" noProof="0" smtClean="0"/>
              <a:t>‹nº›</a:t>
            </a:fld>
            <a:endParaRPr lang="pt-BR" noProof="0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hyperlink" Target="https://unsplash.com/pt-br/@macphoto?utm_content=creditCopyText&amp;utm_medium=referral&amp;utm_source=unsplash" TargetMode="Externa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tângulo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10AF38-26DF-48B3-952C-4A9091D68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929" y="639097"/>
            <a:ext cx="6253317" cy="3686015"/>
          </a:xfrm>
        </p:spPr>
        <p:txBody>
          <a:bodyPr rtlCol="0">
            <a:normAutofit/>
          </a:bodyPr>
          <a:lstStyle/>
          <a:p>
            <a:r>
              <a:rPr lang="pt-BR" sz="7200" dirty="0"/>
              <a:t>Engenharia de software 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FC2D8F-56D2-4ADF-B439-0E09E7C37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9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</a:t>
            </a:r>
            <a:r>
              <a:rPr lang="pt-BR" sz="2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rof</a:t>
            </a:r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  <a:r>
              <a:rPr lang="pt-BR" sz="2400" cap="none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Flávio Waltz</a:t>
            </a:r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F0637C58-910B-422A-A403-5959784600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2899" y="5084627"/>
            <a:ext cx="1773372" cy="1773372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98A1E69E-30F4-436B-6FD8-42ED9C32C3AE}"/>
              </a:ext>
            </a:extLst>
          </p:cNvPr>
          <p:cNvSpPr txBox="1"/>
          <p:nvPr/>
        </p:nvSpPr>
        <p:spPr>
          <a:xfrm>
            <a:off x="10506077" y="6465586"/>
            <a:ext cx="16859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</a:rPr>
              <a:t>Foto de </a:t>
            </a:r>
            <a:r>
              <a:rPr lang="pt-BR" sz="11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Mauricio </a:t>
            </a:r>
            <a:r>
              <a:rPr lang="pt-BR" sz="1100" dirty="0" err="1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Artieda</a:t>
            </a:r>
            <a:endParaRPr lang="pt-BR" sz="1100" dirty="0">
              <a:solidFill>
                <a:schemeClr val="bg1"/>
              </a:solidFill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2FE4CFB-8913-5C30-40CA-C42BA1F96C4E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4753"/>
          <a:stretch/>
        </p:blipFill>
        <p:spPr>
          <a:xfrm>
            <a:off x="7776594" y="0"/>
            <a:ext cx="44154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07000"/>
              </a:lnSpc>
              <a:buNone/>
            </a:pPr>
            <a:endParaRPr lang="pt-BR" sz="3600" dirty="0"/>
          </a:p>
          <a:p>
            <a:pPr marL="0" indent="0" algn="ctr">
              <a:lnSpc>
                <a:spcPct val="107000"/>
              </a:lnSpc>
              <a:buNone/>
            </a:pPr>
            <a:r>
              <a:rPr lang="pt-BR" sz="3600" dirty="0"/>
              <a:t>“A parte mais difícil da construção de um sistema de software é decidir exatamente o que construir.”</a:t>
            </a:r>
          </a:p>
          <a:p>
            <a:pPr marL="0" indent="0" algn="ctr">
              <a:lnSpc>
                <a:spcPct val="107000"/>
              </a:lnSpc>
              <a:buNone/>
            </a:pPr>
            <a:endParaRPr lang="pt-BR" sz="3600" dirty="0"/>
          </a:p>
          <a:p>
            <a:pPr marL="0" indent="0" algn="r">
              <a:lnSpc>
                <a:spcPct val="107000"/>
              </a:lnSpc>
              <a:buNone/>
            </a:pPr>
            <a:r>
              <a:rPr lang="pt-BR" sz="3600" dirty="0"/>
              <a:t>Frederick Brooks</a:t>
            </a:r>
          </a:p>
        </p:txBody>
      </p:sp>
    </p:spTree>
    <p:extLst>
      <p:ext uri="{BB962C8B-B14F-4D97-AF65-F5344CB8AC3E}">
        <p14:creationId xmlns:p14="http://schemas.microsoft.com/office/powerpoint/2010/main" val="2881055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dirty="0"/>
          </a:p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Requisitos definem o que um sistema deve fazer e sob quais restrições.</a:t>
            </a:r>
          </a:p>
        </p:txBody>
      </p:sp>
    </p:spTree>
    <p:extLst>
      <p:ext uri="{BB962C8B-B14F-4D97-AF65-F5344CB8AC3E}">
        <p14:creationId xmlns:p14="http://schemas.microsoft.com/office/powerpoint/2010/main" val="280418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Requisitos podem ser definidos como “</a:t>
            </a:r>
            <a:r>
              <a:rPr lang="pt-BR" sz="3600" b="1" dirty="0"/>
              <a:t>o que um sistema deve fazer</a:t>
            </a:r>
            <a:r>
              <a:rPr lang="pt-BR" sz="3600" dirty="0"/>
              <a:t>”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Ou seja, suas funcionalidades. São os </a:t>
            </a:r>
            <a:r>
              <a:rPr lang="pt-BR" sz="3600" b="1" dirty="0"/>
              <a:t>requisitos funcionais</a:t>
            </a:r>
          </a:p>
        </p:txBody>
      </p:sp>
    </p:spTree>
    <p:extLst>
      <p:ext uri="{BB962C8B-B14F-4D97-AF65-F5344CB8AC3E}">
        <p14:creationId xmlns:p14="http://schemas.microsoft.com/office/powerpoint/2010/main" val="4220435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dirty="0"/>
          </a:p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Enquanto os </a:t>
            </a:r>
            <a:r>
              <a:rPr lang="pt-BR" sz="3600" b="1" dirty="0"/>
              <a:t>requisitos não-funcionais </a:t>
            </a:r>
            <a:r>
              <a:rPr lang="pt-BR" sz="3600" dirty="0"/>
              <a:t>estão relacionados às </a:t>
            </a:r>
            <a:r>
              <a:rPr lang="pt-BR" sz="3600" b="1" dirty="0"/>
              <a:t>restrições</a:t>
            </a:r>
            <a:r>
              <a:rPr lang="pt-BR" sz="3600" dirty="0"/>
              <a:t>.</a:t>
            </a:r>
            <a:endParaRPr lang="pt-BR" sz="3600" b="1" dirty="0"/>
          </a:p>
        </p:txBody>
      </p:sp>
    </p:spTree>
    <p:extLst>
      <p:ext uri="{BB962C8B-B14F-4D97-AF65-F5344CB8AC3E}">
        <p14:creationId xmlns:p14="http://schemas.microsoft.com/office/powerpoint/2010/main" val="25750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Em um “</a:t>
            </a:r>
            <a:r>
              <a:rPr lang="pt-BR" sz="3600" i="1" dirty="0" err="1"/>
              <a:t>home-banking</a:t>
            </a:r>
            <a:r>
              <a:rPr lang="pt-BR" sz="3600" dirty="0"/>
              <a:t>” (bancos digitais ou eletrônicos), por exemplo, os </a:t>
            </a:r>
            <a:r>
              <a:rPr lang="pt-BR" sz="3600" b="1" dirty="0"/>
              <a:t>requisitos funcionais</a:t>
            </a:r>
            <a:r>
              <a:rPr lang="pt-BR" sz="3600" dirty="0"/>
              <a:t> podem incluir:</a:t>
            </a:r>
          </a:p>
          <a:p>
            <a:pPr lvl="1">
              <a:lnSpc>
                <a:spcPct val="107000"/>
              </a:lnSpc>
            </a:pPr>
            <a:r>
              <a:rPr lang="pt-BR" sz="3400" dirty="0"/>
              <a:t>Informações de saldo e extrato da conta</a:t>
            </a:r>
          </a:p>
          <a:p>
            <a:pPr lvl="1">
              <a:lnSpc>
                <a:spcPct val="107000"/>
              </a:lnSpc>
            </a:pPr>
            <a:r>
              <a:rPr lang="pt-BR" sz="3400" dirty="0"/>
              <a:t>Realizar transferências entre contas</a:t>
            </a:r>
          </a:p>
          <a:p>
            <a:pPr lvl="1">
              <a:lnSpc>
                <a:spcPct val="107000"/>
              </a:lnSpc>
            </a:pPr>
            <a:r>
              <a:rPr lang="pt-BR" sz="3400" dirty="0"/>
              <a:t>Pagar um boleto bancário</a:t>
            </a:r>
          </a:p>
          <a:p>
            <a:pPr lvl="1">
              <a:lnSpc>
                <a:spcPct val="107000"/>
              </a:lnSpc>
            </a:pPr>
            <a:r>
              <a:rPr lang="pt-BR" sz="3400" dirty="0"/>
              <a:t>Parcelar um cartão de débito etc.</a:t>
            </a:r>
          </a:p>
        </p:txBody>
      </p:sp>
    </p:spTree>
    <p:extLst>
      <p:ext uri="{BB962C8B-B14F-4D97-AF65-F5344CB8AC3E}">
        <p14:creationId xmlns:p14="http://schemas.microsoft.com/office/powerpoint/2010/main" val="23465461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Enquanto os </a:t>
            </a:r>
            <a:r>
              <a:rPr lang="pt-BR" sz="3600" b="1" dirty="0"/>
              <a:t>requisitos não-funcionais</a:t>
            </a:r>
            <a:r>
              <a:rPr lang="pt-BR" sz="3600" dirty="0"/>
              <a:t> estão relacionados à qualidade do serviço prestado pelo sistema e podem incluir:</a:t>
            </a:r>
          </a:p>
          <a:p>
            <a:pPr lvl="1">
              <a:lnSpc>
                <a:spcPct val="107000"/>
              </a:lnSpc>
            </a:pPr>
            <a:r>
              <a:rPr lang="pt-BR" sz="3400" dirty="0"/>
              <a:t>Desempenho, disponibilidade, níveis de segurança, portabilidade, privacidade, consumo de memória e disco etc.</a:t>
            </a:r>
          </a:p>
        </p:txBody>
      </p:sp>
    </p:spTree>
    <p:extLst>
      <p:ext uri="{BB962C8B-B14F-4D97-AF65-F5344CB8AC3E}">
        <p14:creationId xmlns:p14="http://schemas.microsoft.com/office/powerpoint/2010/main" val="3511617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“De nada adianta ter um sistema com o melhor design, implementado na mais moderna linguagem, usando o melhor processo de desenvolvimento, com alta cobertura de testes e ele não atender às necessidades de seus usuários”</a:t>
            </a:r>
            <a:endParaRPr lang="pt-BR" sz="3400" dirty="0"/>
          </a:p>
        </p:txBody>
      </p:sp>
    </p:spTree>
    <p:extLst>
      <p:ext uri="{BB962C8B-B14F-4D97-AF65-F5344CB8AC3E}">
        <p14:creationId xmlns:p14="http://schemas.microsoft.com/office/powerpoint/2010/main" val="3223294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Problemas na especificação de requisitos também têm um custo alto. Eles podem requerer trabalho extra, quando se descobre — após o sistema ficar pronto — que os requisitos foram especificados de forma incorreta ou que requisitos importantes não foram especificados.</a:t>
            </a:r>
            <a:endParaRPr lang="pt-BR" sz="3400" dirty="0"/>
          </a:p>
        </p:txBody>
      </p:sp>
    </p:spTree>
    <p:extLst>
      <p:ext uri="{BB962C8B-B14F-4D97-AF65-F5344CB8AC3E}">
        <p14:creationId xmlns:p14="http://schemas.microsoft.com/office/powerpoint/2010/main" val="4150699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Requisitos funcionais, na maioria das vezes, são especificados em linguagem natural (</a:t>
            </a:r>
            <a:r>
              <a:rPr lang="pt-BR" sz="3600" dirty="0" err="1"/>
              <a:t>pt-br</a:t>
            </a:r>
            <a:r>
              <a:rPr lang="pt-BR" sz="3600" dirty="0"/>
              <a:t>, inglês etc.)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Por outro lado, requisitos não-funcionais são especificados de forma </a:t>
            </a:r>
            <a:r>
              <a:rPr lang="pt-BR" sz="3600" b="1" dirty="0"/>
              <a:t>quantitativa usando-se métricas.</a:t>
            </a:r>
            <a:endParaRPr lang="pt-BR" sz="3400" b="1" dirty="0"/>
          </a:p>
        </p:txBody>
      </p:sp>
    </p:spTree>
    <p:extLst>
      <p:ext uri="{BB962C8B-B14F-4D97-AF65-F5344CB8AC3E}">
        <p14:creationId xmlns:p14="http://schemas.microsoft.com/office/powerpoint/2010/main" val="1278198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18A3261E-7555-58FB-BE7D-4AF2D16DE7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302946"/>
              </p:ext>
            </p:extLst>
          </p:nvPr>
        </p:nvGraphicFramePr>
        <p:xfrm>
          <a:off x="1096963" y="2108200"/>
          <a:ext cx="100584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317564516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8589634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800" b="1" dirty="0"/>
                        <a:t>Requisito Não-Funcional</a:t>
                      </a:r>
                      <a:endParaRPr lang="pt-BR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 b="1" dirty="0"/>
                        <a:t>Métrica</a:t>
                      </a:r>
                      <a:endParaRPr lang="pt-BR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575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/>
                        <a:t>Desempenho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/>
                        <a:t>Transações por segundo, tempo de resposta, latência, vazão (throughput)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4010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/>
                        <a:t>Espaço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/>
                        <a:t>Uso de disco, RAM, cache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936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dirty="0"/>
                        <a:t>Confiabilidade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% de disponibilidade, tempo médio entre falhas (MTBF)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482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742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18A3261E-7555-58FB-BE7D-4AF2D16DE7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8333290"/>
              </p:ext>
            </p:extLst>
          </p:nvPr>
        </p:nvGraphicFramePr>
        <p:xfrm>
          <a:off x="1096963" y="2108200"/>
          <a:ext cx="10058400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317564516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8589634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800" b="1" dirty="0"/>
                        <a:t>Requisito Não-Funcional</a:t>
                      </a:r>
                      <a:endParaRPr lang="pt-BR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 b="1" dirty="0"/>
                        <a:t>Métrica</a:t>
                      </a:r>
                      <a:endParaRPr lang="pt-BR" sz="2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4575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dirty="0"/>
                        <a:t>Robustez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Tempo para recuperar o sistema após uma falha (MTTR); probabilidade de perda de dados após uma falha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4010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dirty="0"/>
                        <a:t>Usabilidade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/>
                        <a:t>Tempo de treinamento de usuários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29360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800" dirty="0"/>
                        <a:t>Portabilidade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800" dirty="0"/>
                        <a:t>% de linhas de código portáveis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482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3800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dirty="0"/>
          </a:p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O uso de métricas evita especificações genéricas, como “o sistema deve ser rápido e ter alta disponibilidade”.</a:t>
            </a:r>
          </a:p>
        </p:txBody>
      </p:sp>
    </p:spTree>
    <p:extLst>
      <p:ext uri="{BB962C8B-B14F-4D97-AF65-F5344CB8AC3E}">
        <p14:creationId xmlns:p14="http://schemas.microsoft.com/office/powerpoint/2010/main" val="2564668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dirty="0"/>
          </a:p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Alguns autores, como Ian </a:t>
            </a:r>
            <a:r>
              <a:rPr lang="pt-BR" sz="3600" dirty="0" err="1"/>
              <a:t>Sommerville</a:t>
            </a:r>
            <a:r>
              <a:rPr lang="pt-BR" sz="3600" dirty="0"/>
              <a:t>, também classificam requisitos em </a:t>
            </a:r>
            <a:r>
              <a:rPr lang="pt-BR" sz="3600" b="1" dirty="0"/>
              <a:t>requisitos de usuário </a:t>
            </a:r>
            <a:r>
              <a:rPr lang="pt-BR" sz="3600" dirty="0"/>
              <a:t>e </a:t>
            </a:r>
            <a:r>
              <a:rPr lang="pt-BR" sz="3600" b="1" dirty="0"/>
              <a:t>requisitos de sistema</a:t>
            </a:r>
            <a:r>
              <a:rPr lang="pt-BR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9579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b="1" dirty="0"/>
          </a:p>
          <a:p>
            <a:pPr marL="0" indent="0">
              <a:lnSpc>
                <a:spcPct val="107000"/>
              </a:lnSpc>
              <a:buNone/>
            </a:pPr>
            <a:r>
              <a:rPr lang="pt-BR" sz="3600" b="1" dirty="0"/>
              <a:t>Requisitos de usuários </a:t>
            </a:r>
            <a:r>
              <a:rPr lang="pt-BR" sz="3600" dirty="0"/>
              <a:t>são requisitos de mais alto nível, </a:t>
            </a:r>
            <a:r>
              <a:rPr lang="pt-BR" sz="3600" b="1" dirty="0"/>
              <a:t>escritos por usuários</a:t>
            </a:r>
            <a:r>
              <a:rPr lang="pt-BR" sz="3600" dirty="0"/>
              <a:t>, normalmente em linguagem natural e sem entrar em detalhes técnicos.</a:t>
            </a:r>
          </a:p>
        </p:txBody>
      </p:sp>
    </p:spTree>
    <p:extLst>
      <p:ext uri="{BB962C8B-B14F-4D97-AF65-F5344CB8AC3E}">
        <p14:creationId xmlns:p14="http://schemas.microsoft.com/office/powerpoint/2010/main" val="2334003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b="1" dirty="0"/>
          </a:p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Já </a:t>
            </a:r>
            <a:r>
              <a:rPr lang="pt-BR" sz="3600" b="1" dirty="0"/>
              <a:t>requisitos de sistema </a:t>
            </a:r>
            <a:r>
              <a:rPr lang="pt-BR" sz="3600" dirty="0"/>
              <a:t>são técnicos, precisos e </a:t>
            </a:r>
            <a:r>
              <a:rPr lang="pt-BR" sz="3600" b="1" dirty="0"/>
              <a:t>escritos pelos próprios desenvolvedores</a:t>
            </a:r>
            <a:r>
              <a:rPr lang="pt-BR" sz="3600" dirty="0"/>
              <a:t>.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Normalmente, um requisito de usuário é expandido em um conjunto de requisitos de sistema</a:t>
            </a:r>
          </a:p>
        </p:txBody>
      </p:sp>
    </p:spTree>
    <p:extLst>
      <p:ext uri="{BB962C8B-B14F-4D97-AF65-F5344CB8AC3E}">
        <p14:creationId xmlns:p14="http://schemas.microsoft.com/office/powerpoint/2010/main" val="1183357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b="1" dirty="0"/>
          </a:p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Suponha, por exemplo, um sistema bancário. Um requisito de usuário — especificado pelos funcionários do banco – pode ser o seguinte: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925732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b="1" dirty="0"/>
          </a:p>
          <a:p>
            <a:pPr marL="0" indent="0">
              <a:lnSpc>
                <a:spcPct val="107000"/>
              </a:lnSpc>
              <a:buNone/>
            </a:pPr>
            <a:r>
              <a:rPr lang="pt-BR" sz="3600" i="1" dirty="0"/>
              <a:t>“O sistema deve permitir transferências de valores para uma conta corrente de outro banco, por meio de TEDs.”</a:t>
            </a:r>
            <a:endParaRPr lang="pt-BR" sz="4000" i="1" dirty="0"/>
          </a:p>
        </p:txBody>
      </p:sp>
    </p:spTree>
    <p:extLst>
      <p:ext uri="{BB962C8B-B14F-4D97-AF65-F5344CB8AC3E}">
        <p14:creationId xmlns:p14="http://schemas.microsoft.com/office/powerpoint/2010/main" val="522377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600" dirty="0"/>
          </a:p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Esse requisito dá origem a um conjunto de requisitos de sistema, os quais vão detalhar e especificar o protocolo a ser usado para realização de tais transferências entre bancos. 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8309635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200" dirty="0"/>
              <a:t>Técnicas para elicitação de requisitos:</a:t>
            </a:r>
          </a:p>
          <a:p>
            <a:pPr lvl="1">
              <a:lnSpc>
                <a:spcPct val="107000"/>
              </a:lnSpc>
            </a:pPr>
            <a:r>
              <a:rPr lang="pt-BR" sz="3000" dirty="0"/>
              <a:t>Entrevistas com stakeholders</a:t>
            </a:r>
          </a:p>
          <a:p>
            <a:pPr lvl="1">
              <a:lnSpc>
                <a:spcPct val="107000"/>
              </a:lnSpc>
            </a:pPr>
            <a:r>
              <a:rPr lang="pt-BR" sz="3000" dirty="0"/>
              <a:t>Aplicação de questionários</a:t>
            </a:r>
          </a:p>
          <a:p>
            <a:pPr lvl="1">
              <a:lnSpc>
                <a:spcPct val="107000"/>
              </a:lnSpc>
            </a:pPr>
            <a:r>
              <a:rPr lang="pt-BR" sz="3000" dirty="0"/>
              <a:t>Leitura de documentos e formulários da organização que está contratando o sistema</a:t>
            </a:r>
          </a:p>
          <a:p>
            <a:pPr lvl="1">
              <a:lnSpc>
                <a:spcPct val="107000"/>
              </a:lnSpc>
            </a:pPr>
            <a:r>
              <a:rPr lang="pt-BR" sz="3000" dirty="0"/>
              <a:t>Realização de workshops com os usuários</a:t>
            </a:r>
          </a:p>
          <a:p>
            <a:pPr lvl="1">
              <a:lnSpc>
                <a:spcPct val="107000"/>
              </a:lnSpc>
            </a:pPr>
            <a:r>
              <a:rPr lang="pt-BR" sz="3000" dirty="0"/>
              <a:t>Implementação de protótipos e análise de cenários de uso</a:t>
            </a:r>
            <a:endParaRPr lang="pt-BR" sz="3800" dirty="0"/>
          </a:p>
        </p:txBody>
      </p:sp>
    </p:spTree>
    <p:extLst>
      <p:ext uri="{BB962C8B-B14F-4D97-AF65-F5344CB8AC3E}">
        <p14:creationId xmlns:p14="http://schemas.microsoft.com/office/powerpoint/2010/main" val="404761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2800" dirty="0"/>
          </a:p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Existem ainda técnicas de elicitação de requisitos baseadas em estudos etnográficos. O termo tem sua origem na Antropologia, onde designa o estudo de uma cultura em seu ambiente natural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821876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Após elicitados, os requisitos devem ser:</a:t>
            </a:r>
          </a:p>
          <a:p>
            <a:pPr marL="742950" indent="-742950">
              <a:lnSpc>
                <a:spcPct val="107000"/>
              </a:lnSpc>
              <a:buFont typeface="+mj-lt"/>
              <a:buAutoNum type="arabicPeriod"/>
            </a:pPr>
            <a:r>
              <a:rPr lang="pt-BR" sz="3600" dirty="0"/>
              <a:t>Documentados</a:t>
            </a:r>
          </a:p>
          <a:p>
            <a:pPr marL="742950" indent="-742950">
              <a:lnSpc>
                <a:spcPct val="107000"/>
              </a:lnSpc>
              <a:buFont typeface="+mj-lt"/>
              <a:buAutoNum type="arabicPeriod"/>
            </a:pPr>
            <a:r>
              <a:rPr lang="pt-BR" sz="3600" dirty="0"/>
              <a:t>Verificados e validados</a:t>
            </a:r>
          </a:p>
          <a:p>
            <a:pPr marL="742950" indent="-742950">
              <a:lnSpc>
                <a:spcPct val="107000"/>
              </a:lnSpc>
              <a:buFont typeface="+mj-lt"/>
              <a:buAutoNum type="arabicPeriod"/>
            </a:pPr>
            <a:r>
              <a:rPr lang="pt-BR" sz="3600" dirty="0"/>
              <a:t>Priorizados.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1452430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7000"/>
              </a:lnSpc>
              <a:buFont typeface="+mj-lt"/>
              <a:buAutoNum type="arabicPeriod"/>
            </a:pPr>
            <a:r>
              <a:rPr lang="pt-BR" sz="3600" b="1" dirty="0"/>
              <a:t>Documentação</a:t>
            </a:r>
            <a:r>
              <a:rPr lang="pt-BR" sz="3600" dirty="0"/>
              <a:t>:</a:t>
            </a:r>
          </a:p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No caso de desenvolvimento ágil, a documentação de requisitos é feita de forma simplificada, por meio de </a:t>
            </a:r>
            <a:r>
              <a:rPr lang="pt-BR" sz="3600" b="1" dirty="0"/>
              <a:t>histórias do usuário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3040481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7000"/>
              </a:lnSpc>
              <a:buFont typeface="+mj-lt"/>
              <a:buAutoNum type="arabicPeriod" startAt="2"/>
            </a:pPr>
            <a:r>
              <a:rPr lang="pt-BR" sz="3600" b="1" dirty="0"/>
              <a:t>Após sua especificação, os requisitos devem ser verificados e validados.</a:t>
            </a:r>
          </a:p>
          <a:p>
            <a:pPr marL="539750" indent="0">
              <a:lnSpc>
                <a:spcPct val="107000"/>
              </a:lnSpc>
              <a:buNone/>
            </a:pPr>
            <a:r>
              <a:rPr lang="pt-BR" sz="3200" dirty="0"/>
              <a:t>O objetivo é garantir que eles estejam corretos, precisos, completos, consistentes e verificáveis.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1977696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lnSpc>
                <a:spcPct val="107000"/>
              </a:lnSpc>
              <a:buFont typeface="+mj-lt"/>
              <a:buAutoNum type="arabicPeriod" startAt="2"/>
            </a:pPr>
            <a:r>
              <a:rPr lang="pt-BR" sz="4600" dirty="0"/>
              <a:t>Corretos. Ex.:</a:t>
            </a:r>
          </a:p>
          <a:p>
            <a:pPr marL="0" indent="0">
              <a:lnSpc>
                <a:spcPct val="107000"/>
              </a:lnSpc>
              <a:buNone/>
            </a:pPr>
            <a:endParaRPr lang="pt-BR" sz="6500" dirty="0"/>
          </a:p>
          <a:p>
            <a:pPr marL="539750" lvl="1" indent="0">
              <a:lnSpc>
                <a:spcPct val="107000"/>
              </a:lnSpc>
              <a:buNone/>
            </a:pPr>
            <a:r>
              <a:rPr lang="pt-BR" sz="3600" dirty="0"/>
              <a:t>“A especificação de forma incorreta da fórmula para remuneração das cadernetas de poupança em um sistema bancário. Evidentemente, uma imprecisão na descrição dessa fórmula irá resultar em prejuízos para o banco ou para seus clientes.”</a:t>
            </a:r>
            <a:endParaRPr lang="pt-BR" sz="5100" dirty="0"/>
          </a:p>
        </p:txBody>
      </p:sp>
    </p:spTree>
    <p:extLst>
      <p:ext uri="{BB962C8B-B14F-4D97-AF65-F5344CB8AC3E}">
        <p14:creationId xmlns:p14="http://schemas.microsoft.com/office/powerpoint/2010/main" val="2717625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7000"/>
              </a:lnSpc>
              <a:buFont typeface="+mj-lt"/>
              <a:buAutoNum type="arabicPeriod" startAt="2"/>
            </a:pPr>
            <a:r>
              <a:rPr lang="pt-BR" sz="3600" dirty="0"/>
              <a:t>Precisos. Ex.:</a:t>
            </a:r>
          </a:p>
          <a:p>
            <a:pPr marL="0" indent="0">
              <a:lnSpc>
                <a:spcPct val="107000"/>
              </a:lnSpc>
              <a:buNone/>
            </a:pPr>
            <a:endParaRPr lang="pt-BR" sz="3600" dirty="0"/>
          </a:p>
          <a:p>
            <a:pPr marL="539750" lvl="1" indent="0">
              <a:lnSpc>
                <a:spcPct val="107000"/>
              </a:lnSpc>
              <a:buNone/>
            </a:pPr>
            <a:r>
              <a:rPr lang="pt-BR" sz="3200" dirty="0"/>
              <a:t>“Para </a:t>
            </a:r>
            <a:r>
              <a:rPr lang="pt-BR" sz="3200"/>
              <a:t>ser aprovado, </a:t>
            </a:r>
            <a:r>
              <a:rPr lang="pt-BR" sz="3200" dirty="0"/>
              <a:t>um aluno precisa obter 60 pontos no semestre ou 60 pontos no Exame Especial e ser frequente.”</a:t>
            </a:r>
          </a:p>
        </p:txBody>
      </p:sp>
    </p:spTree>
    <p:extLst>
      <p:ext uri="{BB962C8B-B14F-4D97-AF65-F5344CB8AC3E}">
        <p14:creationId xmlns:p14="http://schemas.microsoft.com/office/powerpoint/2010/main" val="9410082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7000"/>
              </a:lnSpc>
              <a:buFont typeface="+mj-lt"/>
              <a:buAutoNum type="arabicPeriod" startAt="2"/>
            </a:pPr>
            <a:r>
              <a:rPr lang="pt-BR" sz="3600" dirty="0"/>
              <a:t>Consistentes. Ex.:</a:t>
            </a:r>
          </a:p>
          <a:p>
            <a:pPr marL="0" indent="0">
              <a:lnSpc>
                <a:spcPct val="107000"/>
              </a:lnSpc>
              <a:buNone/>
            </a:pPr>
            <a:endParaRPr lang="pt-BR" sz="3600" dirty="0"/>
          </a:p>
          <a:p>
            <a:pPr marL="539750" lvl="1" indent="0">
              <a:lnSpc>
                <a:spcPct val="107000"/>
              </a:lnSpc>
              <a:buNone/>
            </a:pPr>
            <a:r>
              <a:rPr lang="pt-BR" sz="3200" dirty="0"/>
              <a:t>“Um stakeholder afirma que a disponibilidade do sistema deve ser 99,9% e outro considera que 90% já é suficiente.”</a:t>
            </a:r>
          </a:p>
        </p:txBody>
      </p:sp>
    </p:spTree>
    <p:extLst>
      <p:ext uri="{BB962C8B-B14F-4D97-AF65-F5344CB8AC3E}">
        <p14:creationId xmlns:p14="http://schemas.microsoft.com/office/powerpoint/2010/main" val="3715022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7000"/>
              </a:lnSpc>
              <a:buFont typeface="+mj-lt"/>
              <a:buAutoNum type="arabicPeriod" startAt="2"/>
            </a:pPr>
            <a:r>
              <a:rPr lang="pt-BR" sz="3600" dirty="0"/>
              <a:t>Verificáveis. Ex.:</a:t>
            </a:r>
          </a:p>
          <a:p>
            <a:pPr marL="0" indent="0">
              <a:lnSpc>
                <a:spcPct val="107000"/>
              </a:lnSpc>
              <a:buNone/>
            </a:pPr>
            <a:endParaRPr lang="pt-BR" sz="3600" dirty="0"/>
          </a:p>
          <a:p>
            <a:pPr marL="539750" lvl="1" indent="0">
              <a:lnSpc>
                <a:spcPct val="107000"/>
              </a:lnSpc>
              <a:buNone/>
            </a:pPr>
            <a:r>
              <a:rPr lang="pt-BR" sz="3200" dirty="0"/>
              <a:t>“Um requisito que apenas requer que o sistema seja amigável. Como os desenvolvedores vão saber se estão atendendo a essa expectativa dos clientes?”</a:t>
            </a:r>
          </a:p>
        </p:txBody>
      </p:sp>
    </p:spTree>
    <p:extLst>
      <p:ext uri="{BB962C8B-B14F-4D97-AF65-F5344CB8AC3E}">
        <p14:creationId xmlns:p14="http://schemas.microsoft.com/office/powerpoint/2010/main" val="35570104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lnSpc>
                <a:spcPct val="107000"/>
              </a:lnSpc>
              <a:buFont typeface="+mj-lt"/>
              <a:buAutoNum type="arabicPeriod" startAt="3"/>
            </a:pPr>
            <a:r>
              <a:rPr lang="pt-BR" sz="3600" b="1" dirty="0"/>
              <a:t>Por fim, os requisitos devem ser priorizados</a:t>
            </a:r>
            <a:r>
              <a:rPr lang="pt-BR" sz="3600" dirty="0"/>
              <a:t>:</a:t>
            </a:r>
          </a:p>
          <a:p>
            <a:pPr marL="809625" indent="0">
              <a:lnSpc>
                <a:spcPct val="107000"/>
              </a:lnSpc>
              <a:buNone/>
              <a:tabLst>
                <a:tab pos="809625" algn="l"/>
              </a:tabLst>
            </a:pPr>
            <a:endParaRPr lang="pt-BR" sz="3600" dirty="0"/>
          </a:p>
          <a:p>
            <a:pPr marL="809625" indent="0">
              <a:lnSpc>
                <a:spcPct val="107000"/>
              </a:lnSpc>
              <a:buNone/>
              <a:tabLst>
                <a:tab pos="809625" algn="l"/>
              </a:tabLst>
            </a:pPr>
            <a:r>
              <a:rPr lang="pt-BR" sz="3600" dirty="0"/>
              <a:t>Nem sempre aquilo que é especificado pelos clientes será implementado nas </a:t>
            </a:r>
            <a:r>
              <a:rPr lang="pt-BR" sz="3600" i="1" dirty="0"/>
              <a:t>releases </a:t>
            </a:r>
            <a:r>
              <a:rPr lang="pt-BR" sz="3600" dirty="0"/>
              <a:t>iniciais.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5014871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lnSpc>
                <a:spcPct val="107000"/>
              </a:lnSpc>
              <a:buFont typeface="+mj-lt"/>
              <a:buAutoNum type="arabicPeriod" startAt="3"/>
            </a:pPr>
            <a:r>
              <a:rPr lang="pt-BR" sz="3600" b="1" dirty="0"/>
              <a:t>Por fim, os requisitos devem ser priorizados</a:t>
            </a:r>
            <a:r>
              <a:rPr lang="pt-BR" sz="3600" dirty="0"/>
              <a:t>:</a:t>
            </a:r>
          </a:p>
          <a:p>
            <a:pPr marL="809625" indent="0">
              <a:lnSpc>
                <a:spcPct val="107000"/>
              </a:lnSpc>
              <a:buNone/>
              <a:tabLst>
                <a:tab pos="809625" algn="l"/>
              </a:tabLst>
            </a:pPr>
            <a:endParaRPr lang="pt-BR" sz="3600" dirty="0"/>
          </a:p>
          <a:p>
            <a:pPr marL="809625" indent="0">
              <a:lnSpc>
                <a:spcPct val="107000"/>
              </a:lnSpc>
              <a:buNone/>
              <a:tabLst>
                <a:tab pos="809625" algn="l"/>
              </a:tabLst>
            </a:pPr>
            <a:r>
              <a:rPr lang="pt-BR" sz="3600" dirty="0"/>
              <a:t>Além disso, os requisitos podem mudar. </a:t>
            </a:r>
          </a:p>
          <a:p>
            <a:pPr marL="809625" indent="0">
              <a:lnSpc>
                <a:spcPct val="107000"/>
              </a:lnSpc>
              <a:buNone/>
              <a:tabLst>
                <a:tab pos="809625" algn="l"/>
              </a:tabLst>
            </a:pPr>
            <a:r>
              <a:rPr lang="pt-BR" sz="3600" dirty="0"/>
              <a:t>Um banco, por exemplo, está sujeito a regras definidas por órgãos federais.</a:t>
            </a:r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22436129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lnSpc>
                <a:spcPct val="107000"/>
              </a:lnSpc>
              <a:buFont typeface="+mj-lt"/>
              <a:buAutoNum type="arabicPeriod" startAt="3"/>
            </a:pPr>
            <a:r>
              <a:rPr lang="pt-BR" sz="3600" b="1" dirty="0"/>
              <a:t>Por fim, os requisitos devem ser priorizados</a:t>
            </a:r>
            <a:r>
              <a:rPr lang="pt-BR" sz="3600" dirty="0"/>
              <a:t>:</a:t>
            </a:r>
          </a:p>
          <a:p>
            <a:pPr marL="809625" indent="0">
              <a:lnSpc>
                <a:spcPct val="107000"/>
              </a:lnSpc>
              <a:buNone/>
              <a:tabLst>
                <a:tab pos="809625" algn="l"/>
              </a:tabLst>
            </a:pPr>
            <a:endParaRPr lang="pt-BR" sz="3200" dirty="0"/>
          </a:p>
          <a:p>
            <a:pPr marL="809625" indent="0">
              <a:lnSpc>
                <a:spcPct val="107000"/>
              </a:lnSpc>
              <a:buNone/>
              <a:tabLst>
                <a:tab pos="809625" algn="l"/>
              </a:tabLst>
            </a:pPr>
            <a:r>
              <a:rPr lang="pt-BR" sz="3200" dirty="0"/>
              <a:t>Chama-se de </a:t>
            </a:r>
            <a:r>
              <a:rPr lang="pt-BR" sz="3200" b="1" dirty="0"/>
              <a:t>rastreabilidade</a:t>
            </a:r>
            <a:r>
              <a:rPr lang="pt-BR" sz="3200" dirty="0"/>
              <a:t> (</a:t>
            </a:r>
            <a:r>
              <a:rPr lang="pt-BR" sz="3200" b="1" i="1" dirty="0" err="1"/>
              <a:t>traceability</a:t>
            </a:r>
            <a:r>
              <a:rPr lang="pt-BR" sz="3200" dirty="0"/>
              <a:t>) a capacidade de, dado um requisito, identificar os trechos de código que o implementam.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42257860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899F100E-3343-016F-9C50-F7DC43CD8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400" dirty="0"/>
              <a:t>Levantamento de requisitos com métodos ágeis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61B7CB2-4F02-7F5F-2877-26F54B8E1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 descr="Banco em frente a janela&#10;&#10;Descrição gerada automaticamente com confiança média">
            <a:extLst>
              <a:ext uri="{FF2B5EF4-FFF2-40B4-BE49-F238E27FC236}">
                <a16:creationId xmlns:a16="http://schemas.microsoft.com/office/drawing/2014/main" id="{4CAFF662-57B2-AAA3-8F98-0AAD113855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2094" b="39416"/>
          <a:stretch/>
        </p:blipFill>
        <p:spPr>
          <a:xfrm>
            <a:off x="0" y="-1"/>
            <a:ext cx="12182168" cy="462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8426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em métodos ágeis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7000"/>
              </a:lnSpc>
              <a:buNone/>
            </a:pPr>
            <a:endParaRPr lang="pt-BR" sz="3200" dirty="0"/>
          </a:p>
          <a:p>
            <a:pPr marL="0" indent="0" algn="ctr">
              <a:lnSpc>
                <a:spcPct val="107000"/>
              </a:lnSpc>
              <a:buNone/>
            </a:pPr>
            <a:r>
              <a:rPr lang="pt-BR" sz="3600" dirty="0"/>
              <a:t>“</a:t>
            </a:r>
            <a:r>
              <a:rPr lang="pt-BR" sz="3600" b="1" dirty="0"/>
              <a:t>História de Usuário </a:t>
            </a:r>
            <a:r>
              <a:rPr lang="pt-BR" sz="3600" dirty="0"/>
              <a:t>=</a:t>
            </a:r>
          </a:p>
          <a:p>
            <a:pPr marL="0" indent="0" algn="ctr">
              <a:lnSpc>
                <a:spcPct val="107000"/>
              </a:lnSpc>
              <a:buNone/>
            </a:pPr>
            <a:r>
              <a:rPr lang="pt-BR" sz="3600" b="1" dirty="0"/>
              <a:t>Cartão </a:t>
            </a:r>
            <a:r>
              <a:rPr lang="pt-BR" sz="3600" dirty="0"/>
              <a:t>+ </a:t>
            </a:r>
            <a:r>
              <a:rPr lang="pt-BR" sz="3600" b="1" dirty="0"/>
              <a:t>Conversas </a:t>
            </a:r>
            <a:r>
              <a:rPr lang="pt-BR" sz="3600" dirty="0"/>
              <a:t>+ </a:t>
            </a:r>
            <a:r>
              <a:rPr lang="pt-BR" sz="3600" b="1" dirty="0"/>
              <a:t>Confirmação</a:t>
            </a:r>
            <a:r>
              <a:rPr lang="pt-BR" sz="3600" dirty="0"/>
              <a:t>”</a:t>
            </a:r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9975821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em métodos ágeis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Antes de começar a escrever histórias, recomenda-se listar os principais usuários que vão interagir com o sistema. </a:t>
            </a:r>
          </a:p>
          <a:p>
            <a:pPr marL="0" indent="0" algn="ctr">
              <a:lnSpc>
                <a:spcPct val="107000"/>
              </a:lnSpc>
              <a:buNone/>
            </a:pPr>
            <a:r>
              <a:rPr lang="pt-BR" sz="3600" dirty="0"/>
              <a:t>“Como um [</a:t>
            </a:r>
            <a:r>
              <a:rPr lang="pt-BR" sz="3600" dirty="0">
                <a:solidFill>
                  <a:srgbClr val="FF0000"/>
                </a:solidFill>
              </a:rPr>
              <a:t>papel de usuário</a:t>
            </a:r>
            <a:r>
              <a:rPr lang="pt-BR" sz="3600" dirty="0"/>
              <a:t>], eu gostaria de [</a:t>
            </a:r>
            <a:r>
              <a:rPr lang="pt-BR" sz="3600" dirty="0">
                <a:solidFill>
                  <a:srgbClr val="FF0000"/>
                </a:solidFill>
              </a:rPr>
              <a:t>realizar algo com o sistema</a:t>
            </a:r>
            <a:r>
              <a:rPr lang="pt-BR" sz="3600" dirty="0"/>
              <a:t>]”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426363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em métodos ágeis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pt-BR" sz="3600" dirty="0"/>
              <a:t>Em um Sistema de Controle de Bibliotecas:</a:t>
            </a:r>
          </a:p>
          <a:p>
            <a:pPr marL="0" indent="0">
              <a:lnSpc>
                <a:spcPct val="107000"/>
              </a:lnSpc>
              <a:buNone/>
            </a:pPr>
            <a:endParaRPr lang="pt-BR" sz="3600" dirty="0"/>
          </a:p>
          <a:p>
            <a:pPr marL="0" indent="0" algn="ctr">
              <a:lnSpc>
                <a:spcPct val="107000"/>
              </a:lnSpc>
              <a:buNone/>
            </a:pPr>
            <a:r>
              <a:rPr lang="pt-BR" sz="3600" dirty="0"/>
              <a:t>“Como um [</a:t>
            </a:r>
            <a:r>
              <a:rPr lang="pt-BR" sz="3600" dirty="0">
                <a:solidFill>
                  <a:srgbClr val="FF0000"/>
                </a:solidFill>
              </a:rPr>
              <a:t>papel de usuário</a:t>
            </a:r>
            <a:r>
              <a:rPr lang="pt-BR" sz="3600" dirty="0"/>
              <a:t>], eu gostaria de [</a:t>
            </a:r>
            <a:r>
              <a:rPr lang="pt-BR" sz="3600" dirty="0">
                <a:solidFill>
                  <a:srgbClr val="FF0000"/>
                </a:solidFill>
              </a:rPr>
              <a:t>realizar algo com o sistema</a:t>
            </a:r>
            <a:r>
              <a:rPr lang="pt-BR" sz="3600" dirty="0"/>
              <a:t>]”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404297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em métodos ágeis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“Como usuário típico, eu gostaria de realizar empréstimos de livros”</a:t>
            </a:r>
          </a:p>
          <a:p>
            <a:r>
              <a:rPr lang="pt-BR" sz="3200" dirty="0"/>
              <a:t>“Como usuário típico, eu gostaria de devolver um livro que tomei emprestado”</a:t>
            </a:r>
          </a:p>
          <a:p>
            <a:r>
              <a:rPr lang="pt-BR" sz="3200" dirty="0"/>
              <a:t>“Como usuário típico, eu gostaria de renovar empréstimos de livros”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7692764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em métodos ágeis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“Como usuário típico, eu gostaria de pesquisar por livros”</a:t>
            </a:r>
          </a:p>
          <a:p>
            <a:r>
              <a:rPr lang="pt-BR" sz="3200" dirty="0"/>
              <a:t>“Como usuário típico, eu gostaria de reservar livros que estão emprestados”</a:t>
            </a:r>
          </a:p>
          <a:p>
            <a:r>
              <a:rPr lang="pt-BR" sz="3200" dirty="0"/>
              <a:t>“Como usuário típico, eu gostaria de receber e-mails com novas aquisições”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6434141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em métodos ágeis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“Como professor, eu gostaria de realizar empréstimos de maior duração”</a:t>
            </a:r>
          </a:p>
          <a:p>
            <a:r>
              <a:rPr lang="pt-BR" sz="3200" dirty="0"/>
              <a:t>“Como professor, eu gostaria de sugerir a compra de livros”</a:t>
            </a:r>
          </a:p>
          <a:p>
            <a:pPr marL="0" indent="0">
              <a:buNone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3082282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em métodos ágeis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“Como professor, eu gostaria de doar livros para a biblioteca”</a:t>
            </a:r>
          </a:p>
          <a:p>
            <a:r>
              <a:rPr lang="pt-BR" sz="3200" dirty="0"/>
              <a:t>“Como professor, eu gostaria de devolver livros em outras bibliotecas” (</a:t>
            </a:r>
            <a:r>
              <a:rPr lang="pt-BR" sz="3200" b="1" i="1" dirty="0"/>
              <a:t>épico</a:t>
            </a:r>
            <a:r>
              <a:rPr lang="pt-BR" sz="3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71528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em métodos ágeis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“Como funcionário da biblioteca, eu gostaria de cadastrar novos usuários”</a:t>
            </a:r>
          </a:p>
          <a:p>
            <a:r>
              <a:rPr lang="pt-BR" sz="3200" dirty="0"/>
              <a:t>“Como funcionário da biblioteca, eu gostaria de cadastrar novos livros”</a:t>
            </a:r>
          </a:p>
        </p:txBody>
      </p:sp>
    </p:spTree>
    <p:extLst>
      <p:ext uri="{BB962C8B-B14F-4D97-AF65-F5344CB8AC3E}">
        <p14:creationId xmlns:p14="http://schemas.microsoft.com/office/powerpoint/2010/main" val="3891550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em métodos ágeis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“Como funcionário da biblioteca, eu gostaria de dar baixa em livros estragados”</a:t>
            </a:r>
          </a:p>
          <a:p>
            <a:r>
              <a:rPr lang="pt-BR" sz="3200" dirty="0"/>
              <a:t>“Como funcionário da biblioteca, eu gostaria de obter estatísticas sobre o acervo”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8625879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em métodos ágeis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3200" dirty="0"/>
              <a:t>“Como funcionário da biblioteca, eu gostaria que o sistema envie e-mails de cobrança para alunos com empréstimos atrasados”</a:t>
            </a:r>
          </a:p>
          <a:p>
            <a:r>
              <a:rPr lang="pt-BR" sz="3200" dirty="0"/>
              <a:t>“Como funcionário da biblioteca, eu gostaria que o sistema aplicasse multas quando da devolução de empréstimos atrasados”</a:t>
            </a:r>
            <a:endParaRPr lang="pt-BR" sz="2800" dirty="0"/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4142452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3A369-C091-011B-3DA8-B3F1B4786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de Uso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8B48F-C39D-1879-B916-956F50F4E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3600" dirty="0"/>
              <a:t>Casos de uso (use cases) são documentos textuais de especificação de requisitos</a:t>
            </a:r>
          </a:p>
          <a:p>
            <a:r>
              <a:rPr lang="pt-BR" sz="3600" dirty="0"/>
              <a:t>Um caso de uso enumera os passos que um ator realiza em um sistema com um determinado objetivo.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40752534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632656D0-6AF8-6BCD-C133-7FF3674F01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57C00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73B1E0-752C-0588-ADF6-6892F50E5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517" y="0"/>
            <a:ext cx="7268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558610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715_TF33845126.potx" id="{07B33CC6-269C-4DD5-9017-A83AF51479F7}" vid="{03982E99-A52E-4A57-A229-288B0228341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ED2F52BDCB944C891BB0D3DB5B4689" ma:contentTypeVersion="3" ma:contentTypeDescription="Create a new document." ma:contentTypeScope="" ma:versionID="ffef1dbc39b52dbe3fbb7262bc81aa9d">
  <xsd:schema xmlns:xsd="http://www.w3.org/2001/XMLSchema" xmlns:xs="http://www.w3.org/2001/XMLSchema" xmlns:p="http://schemas.microsoft.com/office/2006/metadata/properties" xmlns:ns2="45266506-7c7c-49c5-a640-a9bbfd1bea9a" targetNamespace="http://schemas.microsoft.com/office/2006/metadata/properties" ma:root="true" ma:fieldsID="6a31eb5fc835b1abe042e2a09ad2ada0" ns2:_="">
    <xsd:import namespace="45266506-7c7c-49c5-a640-a9bbfd1bea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266506-7c7c-49c5-a640-a9bbfd1bea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7E79B5-C0EC-4BA0-8537-17E14ACF859E}"/>
</file>

<file path=docProps/app.xml><?xml version="1.0" encoding="utf-8"?>
<Properties xmlns="http://schemas.openxmlformats.org/officeDocument/2006/extended-properties" xmlns:vt="http://schemas.openxmlformats.org/officeDocument/2006/docPropsVTypes">
  <Template>{D129E361-7900-47DF-B65A-C5D6D83378F0}tf33845126_win32</Template>
  <TotalTime>1150</TotalTime>
  <Words>1287</Words>
  <Application>Microsoft Office PowerPoint</Application>
  <PresentationFormat>Widescreen</PresentationFormat>
  <Paragraphs>162</Paragraphs>
  <Slides>44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48" baseType="lpstr">
      <vt:lpstr>Bookman Old Style</vt:lpstr>
      <vt:lpstr>Calibri</vt:lpstr>
      <vt:lpstr>Franklin Gothic Book</vt:lpstr>
      <vt:lpstr>1_RetrospectVTI</vt:lpstr>
      <vt:lpstr>Engenharia de software I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Requisitos</vt:lpstr>
      <vt:lpstr>Levantamento de requisitos com métodos ágeis</vt:lpstr>
      <vt:lpstr>Requisitos em métodos ágeis</vt:lpstr>
      <vt:lpstr>Requisitos em métodos ágeis</vt:lpstr>
      <vt:lpstr>Requisitos em métodos ágeis</vt:lpstr>
      <vt:lpstr>Requisitos em métodos ágeis</vt:lpstr>
      <vt:lpstr>Requisitos em métodos ágeis</vt:lpstr>
      <vt:lpstr>Requisitos em métodos ágeis</vt:lpstr>
      <vt:lpstr>Requisitos em métodos ágeis</vt:lpstr>
      <vt:lpstr>Requisitos em métodos ágeis</vt:lpstr>
      <vt:lpstr>Requisitos em métodos ágeis</vt:lpstr>
      <vt:lpstr>Requisitos em métodos ágeis</vt:lpstr>
      <vt:lpstr>Casos de Uso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Manuais e Ilustrações Técnico Científicas</dc:title>
  <dc:creator>Flávio Waltz</dc:creator>
  <cp:lastModifiedBy>Flávio Waltz</cp:lastModifiedBy>
  <cp:revision>84</cp:revision>
  <dcterms:created xsi:type="dcterms:W3CDTF">2022-08-10T14:03:41Z</dcterms:created>
  <dcterms:modified xsi:type="dcterms:W3CDTF">2026-03-10T14:35:59Z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0x0101002BED2F52BDCB944C891BB0D3DB5B4689</vt:lpwstr>
  </property>
</Properties>
</file>