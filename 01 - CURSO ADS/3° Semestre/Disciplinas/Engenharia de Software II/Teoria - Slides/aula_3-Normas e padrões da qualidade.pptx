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3E0A1-6DD3-2155-3789-1C9985F05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B58214-06AF-EB69-9197-54D2B47B6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B4ADA8-19F5-CDDB-0439-C2F09CD5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D516F3-1549-5C53-2648-9FBF1769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79B53A-CCBA-6FB8-E705-74851AE5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09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978D1-4A4E-7F45-E932-3A1921B8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5B1143-D082-1C4F-27E1-4E38B7527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B440E7-7CCA-BF8D-AA23-0E8BF3941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B4ECD8-B698-4D81-A8EF-FEB8F7FE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D2860-DEEE-FF34-6D60-279CE968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4396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47484-C521-DBDD-B84D-31EF416A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DD609B-0BCD-DEE5-DFBF-CB8321092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ECEFD-5236-67C6-3ACC-29B1B9D9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2C3F00-F94E-0B0F-60F9-4B5CFEC7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24A62D-CBF0-F5CB-4641-19FD6C8F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75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A6368-5C46-E963-BB6D-2864A497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608FC7-3790-623E-841F-831FD3640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DDA9CC-37CF-FB00-68B6-F800AD1CC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CF777B-8D44-FFDF-1B79-9D19ACE13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99BBE6-3BCD-F1C2-117F-F42EB62D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D470C8-DC2C-D09F-D9DF-39AA2F05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74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6E93F-F835-B809-07A7-C4ACD6CF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605239-DBD3-352B-3DE3-D17D2CF2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54AA80-97D7-FFEE-3F23-E5C6E3B22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E1412F-758C-20A3-9E0F-FB0719A39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86A093-D0CB-732C-CBCE-B2BE9F6F6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A3F609-8797-B483-EF1A-49D49AC6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B03A386-B237-C59B-2E48-F59FFFFC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62A5CF-1CAE-6FEC-6D2B-7229AB89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10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2C668-4B26-BCE1-73E7-B524A4AB1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D22EAD-4FCF-19E6-63C6-BB3F70DE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E5A97B-8121-8391-48BC-04D40D73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F7AD13-3E63-6E80-DABD-CC92A8A5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595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BFC28D-3B34-DBB5-65CF-6B6B35A0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E775DA-DAB4-1440-8648-5C22C057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ADDF83-6834-7DFC-2F78-89FF799A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46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5D6AA-12B7-8D03-40E3-7E4A409E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FCA582-52F5-AEB8-3387-7B600854E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AFBF5F-FDF9-2C44-6790-E622913BD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A67E48-3BE7-9E77-F230-328E00D3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9917C2-8BDC-0E66-7F2D-A3C03B1B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2CCEA8-9EA9-99A4-61B8-206E9DFF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26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64012-70DB-6AC8-E062-97166C00C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06227B-3A6B-4F9E-DDDC-3D41A8522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2869D8-175C-93DC-32F7-54739812D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C48B14-77A7-F3EB-F241-94CA9752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24F467-3F46-FF1F-32CF-7E2216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C907EA-7D0C-6A8E-7325-D4E97D1B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69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C0FAE-4E48-9855-AE36-0EB7BCA6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99B30C-6A9E-4C24-6EBD-ADC363294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0BF8E7-95AC-3EE1-2346-4DA21692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FA661C-8731-4BDA-2C3A-5C1001C5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899AE6-5D5D-5DDE-AD05-00FA20AC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4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4D019C-23DF-E330-832C-B59E577F4D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7D69E6-2B32-A097-B75F-F92546056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8377C4-46BF-DD2D-4825-5AF74F4C3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597205-CD3A-D363-3CBF-A340B2A1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374353-BFE8-4B27-A44D-7D2BFF7F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91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AC760EF-D595-24EC-6108-171F567C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E84583-8598-6F91-C4B7-BA4103427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FE78C9-A580-A38D-93BE-BD30D47E6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EBABB-2305-40A4-AD64-7F9010E8FD7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1E44F6-1469-AEC3-C295-DED17FA77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B6E5D7-CA51-BB98-8B5A-555978571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E81A6-FB6E-4348-8872-6331FD381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152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DDBBB-A919-D0AA-5416-2D8046A0F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506277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 – Capa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Normas e Padrões da Qualidade em Software</a:t>
            </a:r>
            <a:b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NBR ISO/IEC 12207</a:t>
            </a:r>
            <a:b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NBR ISO/IEC 9241-11</a:t>
            </a:r>
            <a:b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Seu nome</a:t>
            </a:r>
            <a:b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Disciplina – Data</a:t>
            </a:r>
            <a:br>
              <a:rPr lang="pt-BR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AB2128-0911-EB8F-6C68-1E5DE6A1F0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412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12BC0-FF40-412D-9579-4D0A0693D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2 – Introdução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3272FE-6EBF-10D4-76BD-81E1881EE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que falar de normas de qualidade?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Garantem padronização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Melhoram a qualidade do software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Aumentam confiabilidade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Facilitam certificações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Reduzem riscos e retrabalho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27602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415B1-0262-BF43-F606-52D2CA7CB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3 – O que são Normas e Padrões?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4D1FA0-76D7-A98C-0CB8-5AE903273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Documentos técnicos com diretrizes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Desenvolvidos por organismos de padronização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 para boas práticas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 de órgão internacional:</a:t>
            </a:r>
            <a:b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International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(ISO)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Brasil: ABNT (Associação Brasileira de Normas Técnicas)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46962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E3CA6-24D2-9C5E-4941-D78765C1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4 – Qualidade de Software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77D13D-4006-889F-9AF0-A409F0D6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 é: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Grau em que um sistema atende aos requisitos especificados e às necessidades dos usuários.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Envolve: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Processos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Produto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Pessoas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Ambiente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247154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98E5E-6B31-9DB5-8199-BB77BBB4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5 – Processos do Ciclo de Vida de Software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7A25A5-34AF-5EC1-6DA7-60F0A0AAC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53331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NBR ISO/IEC 12207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ISO/IEC 12207 define processos para todo o ciclo de vida do software.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Abrange desde: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Concepção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Desenvolvimento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Operação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Manutenção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Descontinuação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75218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E5B9788-C855-C93C-1F73-6976E4F03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Slide 6 – Estrutura da</a:t>
            </a:r>
            <a:br>
              <a:rPr lang="pt-BR" dirty="0"/>
            </a:br>
            <a:r>
              <a:rPr lang="pt-BR" dirty="0"/>
              <a:t> ISO/IEC 12207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3EFE01-CE2F-2435-F61A-0008A77A3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algn="ctr"/>
            <a:r>
              <a:rPr lang="pt-BR" dirty="0"/>
              <a:t>A norma organiza os processos em:</a:t>
            </a:r>
          </a:p>
          <a:p>
            <a:pPr algn="ctr"/>
            <a:endParaRPr lang="pt-BR" dirty="0"/>
          </a:p>
          <a:p>
            <a:r>
              <a:rPr lang="pt-BR" sz="3200" dirty="0"/>
              <a:t>Processos Primários</a:t>
            </a:r>
          </a:p>
          <a:p>
            <a:pPr lvl="0"/>
            <a:r>
              <a:rPr lang="pt-BR" dirty="0"/>
              <a:t>Aquisição</a:t>
            </a:r>
          </a:p>
          <a:p>
            <a:pPr lvl="0"/>
            <a:r>
              <a:rPr lang="pt-BR" dirty="0"/>
              <a:t>Fornecimento</a:t>
            </a:r>
          </a:p>
          <a:p>
            <a:pPr lvl="0"/>
            <a:r>
              <a:rPr lang="pt-BR" dirty="0"/>
              <a:t>Desenvolvimento</a:t>
            </a:r>
          </a:p>
          <a:p>
            <a:pPr lvl="0"/>
            <a:r>
              <a:rPr lang="pt-BR" dirty="0"/>
              <a:t>Operação</a:t>
            </a:r>
          </a:p>
          <a:p>
            <a:pPr lvl="0"/>
            <a:r>
              <a:rPr lang="pt-BR" dirty="0"/>
              <a:t>Manutenção</a:t>
            </a:r>
          </a:p>
          <a:p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8812F1A-835E-9F45-0387-FCA3D9E26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684619"/>
            <a:ext cx="5181600" cy="4351338"/>
          </a:xfrm>
        </p:spPr>
        <p:txBody>
          <a:bodyPr>
            <a:noAutofit/>
          </a:bodyPr>
          <a:lstStyle/>
          <a:p>
            <a:r>
              <a:rPr lang="pt-BR" sz="3600" dirty="0"/>
              <a:t>Processos de Apoio</a:t>
            </a:r>
          </a:p>
          <a:p>
            <a:pPr lvl="0"/>
            <a:r>
              <a:rPr lang="pt-BR" dirty="0"/>
              <a:t>Documentação</a:t>
            </a:r>
          </a:p>
          <a:p>
            <a:pPr lvl="0"/>
            <a:r>
              <a:rPr lang="pt-BR" dirty="0"/>
              <a:t>Verificação</a:t>
            </a:r>
          </a:p>
          <a:p>
            <a:pPr lvl="0"/>
            <a:r>
              <a:rPr lang="pt-BR" dirty="0"/>
              <a:t>Validação</a:t>
            </a:r>
          </a:p>
          <a:p>
            <a:pPr lvl="0"/>
            <a:r>
              <a:rPr lang="pt-BR" dirty="0"/>
              <a:t>Auditoria</a:t>
            </a:r>
          </a:p>
          <a:p>
            <a:pPr lvl="0"/>
            <a:r>
              <a:rPr lang="pt-BR" dirty="0"/>
              <a:t>Garantia da Qualidade</a:t>
            </a:r>
          </a:p>
          <a:p>
            <a:r>
              <a:rPr lang="pt-BR" sz="3600" dirty="0"/>
              <a:t>Processos Organizacionais</a:t>
            </a:r>
          </a:p>
          <a:p>
            <a:pPr lvl="0"/>
            <a:r>
              <a:rPr lang="pt-BR" dirty="0"/>
              <a:t>Gestão</a:t>
            </a:r>
          </a:p>
          <a:p>
            <a:pPr lvl="0"/>
            <a:r>
              <a:rPr lang="pt-BR" dirty="0"/>
              <a:t>Infraestrutura</a:t>
            </a:r>
          </a:p>
          <a:p>
            <a:pPr lvl="0"/>
            <a:r>
              <a:rPr lang="pt-BR" dirty="0"/>
              <a:t>Melhoria de processos</a:t>
            </a:r>
          </a:p>
          <a:p>
            <a:pPr lvl="0"/>
            <a:r>
              <a:rPr lang="pt-BR" dirty="0"/>
              <a:t>Treinamento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80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2B0EDC1-DFE4-2F81-5711-C8E2CF7D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7 – Importância da ISO/IEC 12207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19FB89B-A714-2899-66F2-D522E7872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Padroniza o desenvolvimento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Melhora a gestão de projetos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Facilita auditorias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Apoia certificações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Reduz falhas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387677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5DB38-1023-E363-AC1D-5EB3D4A0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8 – Ergonomia e Qualidade de Uso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1FB924-24DF-F26F-C266-D82F550FC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 não é apenas técnica.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Também envolve: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Usabilidade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Conforto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Eficiência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Segurança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281102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64EFB-C2F8-2ED7-D459-56790D41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9 – NBR ISO/IEC 9241-11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C218D-234A-F08C-DCA3-4136BEF4B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ISO 9241-11 trata dos requisitos ergonômicos para interação humano-computador.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Usabilidade como: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Grau em que um produto pode ser usado por usuários específicos para atingir objetivos específicos com eficácia, eficiência e satisfação em um contexto específico de uso.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21794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E989F-646C-3E0D-D33B-744CAD9F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10 – Componentes da Usabilidade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AB490C-3CDC-54D7-D9B6-E4BD8B56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Segundo a ISO 9241-11: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Eficácia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Capacidade de completar tarefas corretamente.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⚡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Eficiência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Recursos gastos para atingir os objetivos.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🙂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Satisfação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Conforto e aceitação do usuário.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037135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703B6-172E-FCB7-23C4-8805E4F5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11 – Ergonomia no Ambiente de Trabalho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5962CC-308B-EF58-AB85-F035FA70D8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norma também considera: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Postura adequada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Iluminação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Altura da cadeira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Distância do monitor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de esforço repetitivo</a:t>
            </a: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b="1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C65042-09E1-485F-B2D7-AFD69B79B5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Impacto direto na:</a:t>
            </a:r>
            <a:endParaRPr lang="pt-BR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Saúde do trabalhador</a:t>
            </a:r>
            <a:endParaRPr lang="pt-BR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Produtividade</a:t>
            </a:r>
            <a:endParaRPr lang="pt-BR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de afastamentos</a:t>
            </a:r>
            <a:endParaRPr lang="pt-BR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6166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51898-8C22-F33D-C270-23FC6B3D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12 – Relação entre as Normas</a:t>
            </a:r>
            <a:br>
              <a:rPr lang="pt-BR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sz="3200" dirty="0"/>
          </a:p>
        </p:txBody>
      </p:sp>
      <p:graphicFrame>
        <p:nvGraphicFramePr>
          <p:cNvPr id="14" name="Espaço Reservado para Conteúdo 13">
            <a:extLst>
              <a:ext uri="{FF2B5EF4-FFF2-40B4-BE49-F238E27FC236}">
                <a16:creationId xmlns:a16="http://schemas.microsoft.com/office/drawing/2014/main" id="{CBAB79F5-2199-5EBF-6AE1-0479B93BA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965518"/>
              </p:ext>
            </p:extLst>
          </p:nvPr>
        </p:nvGraphicFramePr>
        <p:xfrm>
          <a:off x="1260088" y="2190797"/>
          <a:ext cx="7426712" cy="29237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4078">
                  <a:extLst>
                    <a:ext uri="{9D8B030D-6E8A-4147-A177-3AD203B41FA5}">
                      <a16:colId xmlns:a16="http://schemas.microsoft.com/office/drawing/2014/main" val="1080533723"/>
                    </a:ext>
                  </a:extLst>
                </a:gridCol>
                <a:gridCol w="3512634">
                  <a:extLst>
                    <a:ext uri="{9D8B030D-6E8A-4147-A177-3AD203B41FA5}">
                      <a16:colId xmlns:a16="http://schemas.microsoft.com/office/drawing/2014/main" val="2584689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2800" kern="0">
                          <a:effectLst/>
                        </a:rPr>
                        <a:t>ISO 12207</a:t>
                      </a:r>
                      <a:endParaRPr lang="pt-BR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2800" kern="0">
                          <a:effectLst/>
                        </a:rPr>
                        <a:t>ISO 9241-11</a:t>
                      </a:r>
                      <a:endParaRPr lang="pt-BR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1031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2800" kern="0" dirty="0">
                          <a:effectLst/>
                        </a:rPr>
                        <a:t>Foco no processo</a:t>
                      </a:r>
                      <a:endParaRPr lang="pt-BR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2800" kern="0">
                          <a:effectLst/>
                        </a:rPr>
                        <a:t>Foco no usuário</a:t>
                      </a:r>
                      <a:endParaRPr lang="pt-BR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583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2800" kern="0">
                          <a:effectLst/>
                        </a:rPr>
                        <a:t>Qualidade do desenvolvimento</a:t>
                      </a:r>
                      <a:endParaRPr lang="pt-BR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2800" kern="0">
                          <a:effectLst/>
                        </a:rPr>
                        <a:t>Qualidade de uso</a:t>
                      </a:r>
                      <a:endParaRPr lang="pt-BR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5527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2800" kern="0">
                          <a:effectLst/>
                        </a:rPr>
                        <a:t>Gestão do ciclo de vida</a:t>
                      </a:r>
                      <a:endParaRPr lang="pt-BR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2800" kern="0" dirty="0">
                          <a:effectLst/>
                        </a:rPr>
                        <a:t>Ergonomia e usabilidade</a:t>
                      </a:r>
                      <a:endParaRPr lang="pt-BR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89607206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3FCDB316-1D1B-3041-7FA4-3CB9EA517F1C}"/>
              </a:ext>
            </a:extLst>
          </p:cNvPr>
          <p:cNvSpPr txBox="1"/>
          <p:nvPr/>
        </p:nvSpPr>
        <p:spPr>
          <a:xfrm>
            <a:off x="2143823" y="5258931"/>
            <a:ext cx="6094140" cy="711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Conclusão:</a:t>
            </a:r>
            <a:b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 técnica + Qualidade de uso = Software de excelência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090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B1C66-28BB-0698-3A08-B2788AA51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13 – Estudo de Caso 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8E12F-0225-89F8-6790-E3E518FB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Pergunta para discussão: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 sistema pode estar tecnicamente correto (ISO 12207) e ainda assim ser ruim para o usuário? Por quê?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992214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96AEC-08F5-8C05-CCBD-C76653EA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14 – Conclusão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493B8-0F9C-609E-444E-6C351C4A9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Normas garantem padronização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 12207 organiza o ciclo de vida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 9241-11 garante usabilidade e ergonomia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 vai além do código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152392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DED8-BEDB-810A-15B9-2828409F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15 – Referências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A268BA-CFF7-3E79-F215-2FA9198B0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5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ABNT NBR ISO/IEC 12207</a:t>
            </a:r>
            <a:endParaRPr lang="pt-BR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5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ABNT NBR ISO/IEC 9241-11</a:t>
            </a:r>
            <a:endParaRPr lang="pt-BR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5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Documentações ISO</a:t>
            </a:r>
            <a:endParaRPr lang="pt-BR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362371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0594C4721B98C4E904B83122545EE6E" ma:contentTypeVersion="3" ma:contentTypeDescription="Crie um novo documento." ma:contentTypeScope="" ma:versionID="51bade6d526e840c1663d5e830f9f564">
  <xsd:schema xmlns:xsd="http://www.w3.org/2001/XMLSchema" xmlns:xs="http://www.w3.org/2001/XMLSchema" xmlns:p="http://schemas.microsoft.com/office/2006/metadata/properties" xmlns:ns2="02248a23-298b-4ba7-b3fa-343954aa2819" targetNamespace="http://schemas.microsoft.com/office/2006/metadata/properties" ma:root="true" ma:fieldsID="a34672659533f297124e25b3ad624239" ns2:_="">
    <xsd:import namespace="02248a23-298b-4ba7-b3fa-343954aa28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48a23-298b-4ba7-b3fa-343954aa2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1E24DB-CD3E-4E44-BC07-F6EAD316582C}"/>
</file>

<file path=customXml/itemProps2.xml><?xml version="1.0" encoding="utf-8"?>
<ds:datastoreItem xmlns:ds="http://schemas.openxmlformats.org/officeDocument/2006/customXml" ds:itemID="{43661F3F-F364-464E-B5AD-09F8121B1DA3}"/>
</file>

<file path=customXml/itemProps3.xml><?xml version="1.0" encoding="utf-8"?>
<ds:datastoreItem xmlns:ds="http://schemas.openxmlformats.org/officeDocument/2006/customXml" ds:itemID="{6C5B941F-6BB2-4B33-AD77-F6ADAEC0C8BB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520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Segoe UI Emoji</vt:lpstr>
      <vt:lpstr>Symbol</vt:lpstr>
      <vt:lpstr>Times New Roman</vt:lpstr>
      <vt:lpstr>Tema do Office</vt:lpstr>
      <vt:lpstr>Slide 1 – Capa Normas e Padrões da Qualidade em Software • NBR ISO/IEC 12207 • NBR ISO/IEC 9241-11 Seu nome Disciplina – Data </vt:lpstr>
      <vt:lpstr>Slide 2 – Introdução </vt:lpstr>
      <vt:lpstr>Slide 3 – O que são Normas e Padrões? </vt:lpstr>
      <vt:lpstr>Slide 4 – Qualidade de Software </vt:lpstr>
      <vt:lpstr>Slide 5 – Processos do Ciclo de Vida de Software </vt:lpstr>
      <vt:lpstr>Slide 6 – Estrutura da  ISO/IEC 12207 </vt:lpstr>
      <vt:lpstr>Slide 7 – Importância da ISO/IEC 12207 </vt:lpstr>
      <vt:lpstr>Slide 8 – Ergonomia e Qualidade de Uso </vt:lpstr>
      <vt:lpstr>Slide 9 – NBR ISO/IEC 9241-11 </vt:lpstr>
      <vt:lpstr>Slide 10 – Componentes da Usabilidade </vt:lpstr>
      <vt:lpstr>Slide 11 – Ergonomia no Ambiente de Trabalho </vt:lpstr>
      <vt:lpstr>Slide 12 – Relação entre as Normas </vt:lpstr>
      <vt:lpstr>Slide 13 – Estudo de Caso </vt:lpstr>
      <vt:lpstr>Slide 14 – Conclusão </vt:lpstr>
      <vt:lpstr>Slide 15 – Referências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ADS_DSM</dc:creator>
  <cp:lastModifiedBy>ADS_DSM</cp:lastModifiedBy>
  <cp:revision>6</cp:revision>
  <dcterms:created xsi:type="dcterms:W3CDTF">2026-03-04T13:11:57Z</dcterms:created>
  <dcterms:modified xsi:type="dcterms:W3CDTF">2026-03-04T13:30:21Z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0x01010090594C4721B98C4E904B83122545EE6E</vt:lpwstr>
  </property>
</Properties>
</file>