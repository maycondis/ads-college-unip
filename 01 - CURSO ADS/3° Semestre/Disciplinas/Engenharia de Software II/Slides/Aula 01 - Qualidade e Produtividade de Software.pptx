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F6BD8-6FDF-6936-28B2-53C4671828BD}" v="107" dt="2026-02-11T19:31:16.2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11.02.2026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446D-6ED7-799A-D50C-B54FF4F7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latin typeface="Aptos"/>
              </a:rPr>
              <a:t>Objetivos da Aula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C486C0-A187-84D6-E1DE-CE91B86E4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dirty="0"/>
          </a:p>
          <a:p>
            <a:r>
              <a:rPr lang="pt-BR">
                <a:ea typeface="+mn-lt"/>
                <a:cs typeface="+mn-lt"/>
              </a:rPr>
              <a:t>Compreender o conceito de qualidade de software</a:t>
            </a:r>
            <a:endParaRPr lang="pt-BR"/>
          </a:p>
          <a:p>
            <a:r>
              <a:rPr lang="pt-BR">
                <a:ea typeface="+mn-lt"/>
                <a:cs typeface="+mn-lt"/>
              </a:rPr>
              <a:t>Entender produtividade no desenvolvimento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Relacionar demanda e produtividade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Analisar a importância da qualidade no Ágil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Identificar fatores, atributos e métricas de qualidade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550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ECED0-4E73-8764-DC81-9DBCAC7A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O que é Qualidade de Software?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FE53D-696B-21FC-697F-436B44685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Qualidade é o grau em que o software:</a:t>
            </a:r>
            <a:endParaRPr lang="pt-BR"/>
          </a:p>
          <a:p>
            <a:r>
              <a:rPr lang="pt-BR">
                <a:ea typeface="+mn-lt"/>
                <a:cs typeface="+mn-lt"/>
              </a:rPr>
              <a:t>Atende aos requisitos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Satisfaz as necessidades do cliente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Cumpre padrões estabelecidos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Funciona sem falhas inesperadas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📌 ISO 25010: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Grau em que o produto atende aos requisitos e expectativas dos usuários.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333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3B8CF-76BB-6341-1533-FBA55F771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Dimensões da Qualidade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DCE87C-7107-033C-40B9-6B73DC3A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Qualidade envolve: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✔ Qualidade do Produto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✔ Qualidade do Processo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✔ Qualidade do Projeto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4607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A31C4-07CF-9473-534F-1406B9FB7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O que é Produtividade?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4CE561-ACEC-511E-4779-F73CF02EC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Produtividade é a relação entre:</a:t>
            </a:r>
            <a:endParaRPr lang="pt-BR"/>
          </a:p>
          <a:p>
            <a:r>
              <a:rPr lang="pt-BR" dirty="0" err="1">
                <a:ea typeface="+mn-lt"/>
                <a:cs typeface="+mn-lt"/>
              </a:rPr>
              <a:t>ResultadoEntregue÷RecursosUtilizados</a:t>
            </a:r>
            <a:r>
              <a:rPr lang="pt-BR" dirty="0">
                <a:ea typeface="+mn-lt"/>
                <a:cs typeface="+mn-lt"/>
              </a:rPr>
              <a:t> 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Exemplos: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Story Points entregues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Funcionalidades implementadas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Tempo investido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Tamanho da equipe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480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3F99E-148F-F1FD-6F61-444112DF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Medindo Produtividade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20AF54-23AB-5C92-1436-E4563A9E7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Exemplo:</a:t>
            </a:r>
            <a:endParaRPr lang="pt-BR"/>
          </a:p>
          <a:p>
            <a:r>
              <a:rPr lang="pt-BR">
                <a:ea typeface="+mn-lt"/>
                <a:cs typeface="+mn-lt"/>
              </a:rPr>
              <a:t>40 Story Points</a:t>
            </a:r>
            <a:endParaRPr lang="pt-BR"/>
          </a:p>
          <a:p>
            <a:r>
              <a:rPr lang="pt-BR">
                <a:ea typeface="+mn-lt"/>
                <a:cs typeface="+mn-lt"/>
              </a:rPr>
              <a:t>2 semanas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5 desenvolvedores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📌 Indicadores comuns: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Velocidade do time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Lead time</a:t>
            </a:r>
            <a:endParaRPr lang="pt-BR" dirty="0"/>
          </a:p>
          <a:p>
            <a:r>
              <a:rPr lang="pt-BR" dirty="0" err="1">
                <a:ea typeface="+mn-lt"/>
                <a:cs typeface="+mn-lt"/>
              </a:rPr>
              <a:t>Cycle</a:t>
            </a:r>
            <a:r>
              <a:rPr lang="pt-BR" dirty="0">
                <a:ea typeface="+mn-lt"/>
                <a:cs typeface="+mn-lt"/>
              </a:rPr>
              <a:t> time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595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6A2AA-4246-3251-3289-156F4C0D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O que é Demanda?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3548F-42E0-4C1E-80A1-63547C4E4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O que é Demanda?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Demanda é o volume de trabalho solicitado: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Novas funcionalidades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Correções de bugs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Melhorias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Manutenção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395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95939-AB89-1986-1F20-CF9D7B6E3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Relação: Demanda x Produtividade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CB430-3B8C-D312-7269-81B31B62E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Alta demanda + Baixa qualidade =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Retrabalho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Aumento de bugs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Queda de produtividade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Insatisfação do cliente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3300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F034C-A0C1-CCF1-49CA-21FE1DC5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O Paradoxo da Produtividade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3B1E8C-FD28-F206-CB3E-482312E6B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Ignorar qualidade para entregar mais rápido resulta em: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Dívida técnica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Mais manutenção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Queda na velocidade futura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Custo maior no longo prazo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📌 Qualidade sustenta produtividade.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8162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11F21-548C-9865-CE03-EF49A7B4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Qualidade no Desenvolvimento Ágil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47E910-B91F-3A45-CE0D-F26C4D8AB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No Ágil temos: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Entregas rápidas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Incrementos frequentes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Feedback contínuo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Sem qualidade: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Velocidade diminui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Cresce a dívida técnica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Perde-se previsibilidade</a:t>
            </a:r>
            <a:endParaRPr lang="pt-BR" dirty="0"/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239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62CD7-16D7-B949-D81C-DE488BB3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Práticas Ágeis que Garantem Qualidade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299041-B992-C944-9F9A-D558CF305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Práticas Ágeis que Garantem Qualidade</a:t>
            </a:r>
            <a:endParaRPr lang="pt-BR" dirty="0"/>
          </a:p>
          <a:p>
            <a:r>
              <a:rPr lang="pt-BR" err="1">
                <a:ea typeface="+mn-lt"/>
                <a:cs typeface="+mn-lt"/>
              </a:rPr>
              <a:t>Definition</a:t>
            </a:r>
            <a:r>
              <a:rPr lang="pt-BR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of</a:t>
            </a:r>
            <a:r>
              <a:rPr lang="pt-BR">
                <a:ea typeface="+mn-lt"/>
                <a:cs typeface="+mn-lt"/>
              </a:rPr>
              <a:t> </a:t>
            </a:r>
            <a:r>
              <a:rPr lang="pt-BR" err="1">
                <a:ea typeface="+mn-lt"/>
                <a:cs typeface="+mn-lt"/>
              </a:rPr>
              <a:t>Done</a:t>
            </a:r>
            <a:r>
              <a:rPr lang="pt-BR">
                <a:ea typeface="+mn-lt"/>
                <a:cs typeface="+mn-lt"/>
              </a:rPr>
              <a:t> (DoD)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Testes automatizados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Integração Contínua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Refatoração</a:t>
            </a:r>
            <a:endParaRPr lang="pt-BR" dirty="0"/>
          </a:p>
          <a:p>
            <a:r>
              <a:rPr lang="pt-BR" dirty="0" err="1">
                <a:ea typeface="+mn-lt"/>
                <a:cs typeface="+mn-lt"/>
              </a:rPr>
              <a:t>Code</a:t>
            </a:r>
            <a:r>
              <a:rPr lang="pt-BR" dirty="0">
                <a:ea typeface="+mn-lt"/>
                <a:cs typeface="+mn-lt"/>
              </a:rPr>
              <a:t> Review</a:t>
            </a:r>
            <a:endParaRPr lang="pt-BR" dirty="0"/>
          </a:p>
          <a:p>
            <a:r>
              <a:rPr lang="pt-BR" dirty="0" err="1">
                <a:ea typeface="+mn-lt"/>
                <a:cs typeface="+mn-lt"/>
              </a:rPr>
              <a:t>DevOps</a:t>
            </a:r>
            <a:endParaRPr lang="pt-BR" dirty="0" err="1"/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665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F3502-073A-CD65-95F1-C8E965CD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Fatores de Qualidade (ISO 25010)</a:t>
            </a:r>
            <a:r>
              <a:rPr lang="pt-BR" sz="2600" b="0" i="0">
                <a:latin typeface="Aptos"/>
                <a:ea typeface="Arial"/>
                <a:cs typeface="Arial"/>
              </a:rPr>
              <a:t>​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ABB50A-75A6-416D-FBC9-13A627751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>
                <a:ea typeface="+mn-lt"/>
                <a:cs typeface="+mn-lt"/>
              </a:rPr>
              <a:t>Principais fatores: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Funcionalidade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Confiabilidade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Usabilidade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Desempenho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Segurança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Manutenibilidade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Portabilidade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Compatibilidade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5508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5D12D-C333-A11C-3738-19580334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pt-BR" sz="3600">
                <a:latin typeface="Aptos"/>
              </a:rPr>
              <a:t>Atributos de Qualidade</a:t>
            </a:r>
            <a:endParaRPr lang="pt-BR" sz="3600"/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658125-D9EA-789E-9076-06079D3CC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Exemplos de atributos internos:</a:t>
            </a:r>
            <a:endParaRPr lang="pt-BR"/>
          </a:p>
          <a:p>
            <a:r>
              <a:rPr lang="pt-BR">
                <a:ea typeface="+mn-lt"/>
                <a:cs typeface="+mn-lt"/>
              </a:rPr>
              <a:t>Código limpo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Baixo acoplamento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Alta coesão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Boa arquitetura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Cobertura de testes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Documentação adequada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9743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CC390-595F-4099-8DC5-891CC7D4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latin typeface="Aptos"/>
              </a:rPr>
              <a:t>Métricas de Qualidade (Produto)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97F8F1-14CD-C75B-68FD-7EEA7DCAB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dirty="0"/>
          </a:p>
          <a:p>
            <a:r>
              <a:rPr lang="pt-BR">
                <a:ea typeface="+mn-lt"/>
                <a:cs typeface="+mn-lt"/>
              </a:rPr>
              <a:t>Densidade de defeitos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Taxa de falhas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Cobertura de testes (%)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Complexidade ciclomática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MTBF (Tempo médio entre falhas)</a:t>
            </a:r>
            <a:endParaRPr lang="pt-BR" dirty="0"/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71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F9E67-74CA-7432-23F9-061A4CB6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latin typeface="Aptos"/>
              </a:rPr>
              <a:t>Métricas de Processo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56F14-39BC-1429-BECA-2BA129AC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dirty="0"/>
          </a:p>
          <a:p>
            <a:r>
              <a:rPr lang="pt-BR">
                <a:ea typeface="+mn-lt"/>
                <a:cs typeface="+mn-lt"/>
              </a:rPr>
              <a:t>Lead Time</a:t>
            </a:r>
            <a:endParaRPr lang="pt-BR"/>
          </a:p>
          <a:p>
            <a:r>
              <a:rPr lang="pt-BR" dirty="0" err="1">
                <a:ea typeface="+mn-lt"/>
                <a:cs typeface="+mn-lt"/>
              </a:rPr>
              <a:t>Cycle</a:t>
            </a:r>
            <a:r>
              <a:rPr lang="pt-BR" dirty="0">
                <a:ea typeface="+mn-lt"/>
                <a:cs typeface="+mn-lt"/>
              </a:rPr>
              <a:t> Time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Velocidade da equipe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Taxa de retrabalho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Bugs por sprint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40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DAF10-D324-E72B-A0C3-4878F50D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Métricas </a:t>
            </a:r>
            <a:r>
              <a:rPr lang="pt-BR" sz="2800" err="1">
                <a:latin typeface="Aptos"/>
              </a:rPr>
              <a:t>DevOps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10932C-7E3F-F4BF-F12D-60EDBEEE1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Frequência de </a:t>
            </a:r>
            <a:r>
              <a:rPr lang="pt-BR" err="1">
                <a:ea typeface="+mn-lt"/>
                <a:cs typeface="+mn-lt"/>
              </a:rPr>
              <a:t>deploy</a:t>
            </a:r>
            <a:endParaRPr lang="pt-BR" err="1"/>
          </a:p>
          <a:p>
            <a:r>
              <a:rPr lang="pt-BR" dirty="0">
                <a:ea typeface="+mn-lt"/>
                <a:cs typeface="+mn-lt"/>
              </a:rPr>
              <a:t>MTTR (Tempo médio de recuperação)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Taxa de falhas em produção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Tempo de entrega contínua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1314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175D8-1237-CB3C-F5A5-F72B37B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err="1">
                <a:latin typeface="Aptos"/>
              </a:rPr>
              <a:t>Comparação</a:t>
            </a:r>
            <a:endParaRPr lang="en-US" sz="3600" b="1">
              <a:latin typeface="Aptos"/>
            </a:endParaRPr>
          </a:p>
          <a:p>
            <a:endParaRPr lang="pt-BR" dirty="0"/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862118D2-35A3-A1B6-F843-7493A9B3FA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9" cy="15621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50209">
                  <a:extLst>
                    <a:ext uri="{9D8B030D-6E8A-4147-A177-3AD203B41FA5}">
                      <a16:colId xmlns:a16="http://schemas.microsoft.com/office/drawing/2014/main" val="1474702428"/>
                    </a:ext>
                  </a:extLst>
                </a:gridCol>
                <a:gridCol w="6265390">
                  <a:extLst>
                    <a:ext uri="{9D8B030D-6E8A-4147-A177-3AD203B41FA5}">
                      <a16:colId xmlns:a16="http://schemas.microsoft.com/office/drawing/2014/main" val="4075285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Sem Qualidade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Com Qualidade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13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Retrabalho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Estabilidade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64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Muitos bugs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Menos falhas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65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Código difícil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Manutenção fácil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Produtividade cai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Produtividade sustentável</a:t>
                      </a:r>
                    </a:p>
                  </a:txBody>
                  <a:tcPr marL="19050" marR="190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956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693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F551E-B2C3-8045-F1E9-E3C256C6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400">
                <a:latin typeface="Aptos"/>
              </a:rPr>
              <a:t>Atividade em Grupo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46176F-5B56-5981-8DFF-DDE50FF2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pt-BR">
                <a:ea typeface="+mn-lt"/>
                <a:cs typeface="+mn-lt"/>
              </a:rPr>
              <a:t>Empresa: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Entrega rápido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Não testa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Não documenta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Muitos bugs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Discussão: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A produtividade é realmente alta?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Quais fatores de qualidade estão sendo ignorados?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Quais métricas aplicar?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O que acontece após 1 ano?</a:t>
            </a:r>
            <a:endParaRPr lang="pt-BR" dirty="0"/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229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5E0B4-0E98-4E2A-6950-2C057A46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latin typeface="Aptos"/>
              </a:rPr>
              <a:t>Conclusão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9537A4-A8DA-1DF0-E8C9-3D4BFFEFC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dirty="0"/>
          </a:p>
          <a:p>
            <a:r>
              <a:rPr lang="pt-BR" dirty="0">
                <a:ea typeface="+mn-lt"/>
                <a:cs typeface="+mn-lt"/>
              </a:rPr>
              <a:t>Qualidade não é custo, é investimento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Produtividade sem qualidade é ilusória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No Ágil, qualidade é essencial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Métricas tornam a qualidade mensurável</a:t>
            </a:r>
            <a:endParaRPr lang="pt-BR" dirty="0"/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8610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9C256-4138-63D7-FE90-99312F3E1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pt-BR" sz="2800">
                <a:latin typeface="Aptos"/>
              </a:rPr>
              <a:t>Frase Final</a:t>
            </a:r>
          </a:p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E0821-7581-4256-C514-A839389CD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“Qualidade não aumenta o custo.</a:t>
            </a:r>
            <a:endParaRPr lang="pt-BR"/>
          </a:p>
          <a:p>
            <a:r>
              <a:rPr lang="pt-BR" dirty="0">
                <a:ea typeface="+mn-lt"/>
                <a:cs typeface="+mn-lt"/>
              </a:rPr>
              <a:t> A falta de qualidade aumenta.”</a:t>
            </a:r>
            <a:endParaRPr lang="pt-BR" dirty="0"/>
          </a:p>
          <a:p>
            <a:br>
              <a:rPr lang="en-US" dirty="0"/>
            </a:br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58122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594C4721B98C4E904B83122545EE6E" ma:contentTypeVersion="0" ma:contentTypeDescription="Create a new document." ma:contentTypeScope="" ma:versionID="36977ef9cf3e37dba916e41d93353b5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BDA3D0-B192-4E20-A558-EB37C4DCF32E}"/>
</file>

<file path=customXml/itemProps2.xml><?xml version="1.0" encoding="utf-8"?>
<ds:datastoreItem xmlns:ds="http://schemas.openxmlformats.org/officeDocument/2006/customXml" ds:itemID="{0BE92712-B5E1-4AD2-A101-1DD8ECD99532}"/>
</file>

<file path=customXml/itemProps3.xml><?xml version="1.0" encoding="utf-8"?>
<ds:datastoreItem xmlns:ds="http://schemas.openxmlformats.org/officeDocument/2006/customXml" ds:itemID="{D7DB4CC9-E475-4159-AE02-CC2E20FBCE1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1" baseType="lpstr">
      <vt:lpstr>Tema do Office</vt:lpstr>
      <vt:lpstr>Apresentação do PowerPoint</vt:lpstr>
      <vt:lpstr>Objetivos da Aula</vt:lpstr>
      <vt:lpstr>O que é Qualidade de Software? </vt:lpstr>
      <vt:lpstr>Dimensões da Qualidade </vt:lpstr>
      <vt:lpstr>O que é Produtividade? </vt:lpstr>
      <vt:lpstr>Medindo Produtividade </vt:lpstr>
      <vt:lpstr>O que é Demanda? </vt:lpstr>
      <vt:lpstr>Relação: Demanda x Produtividade </vt:lpstr>
      <vt:lpstr>O Paradoxo da Produtividade </vt:lpstr>
      <vt:lpstr>Qualidade no Desenvolvimento Ágil </vt:lpstr>
      <vt:lpstr>Práticas Ágeis que Garantem Qualidade </vt:lpstr>
      <vt:lpstr>Fatores de Qualidade (ISO 25010)​</vt:lpstr>
      <vt:lpstr>Atributos de Qualidade </vt:lpstr>
      <vt:lpstr>Métricas de Qualidade (Produto)</vt:lpstr>
      <vt:lpstr>Métricas de Processo</vt:lpstr>
      <vt:lpstr>Métricas DevOps </vt:lpstr>
      <vt:lpstr>Comparação </vt:lpstr>
      <vt:lpstr>Atividade em Grupo </vt:lpstr>
      <vt:lpstr>Conclusão</vt:lpstr>
      <vt:lpstr>Frase Final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85</cp:revision>
  <dcterms:created xsi:type="dcterms:W3CDTF">2026-02-11T19:07:12Z</dcterms:created>
  <dcterms:modified xsi:type="dcterms:W3CDTF">2026-02-11T19:31:41Z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0x01010090594C4721B98C4E904B83122545EE6E</vt:lpwstr>
  </property>
</Properties>
</file>