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4" r:id="rId5"/>
    <p:sldId id="273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5B2E4-82DC-84BC-F302-2F6ED72FA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9A08CE-CBE2-D30E-0173-B2F56931D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9393FD-6171-CB76-DF38-2BA414E8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1A6CC2-1C35-2F38-71FF-FE62FBE7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5F997F-9931-7B05-F165-0A33DDE8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27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235CE-08F0-E460-5BB3-D36C46C4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B543C5-CC88-7C88-FB2E-86E47BF3B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B962E-8D9C-FC56-1F65-A3FA3C76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4E4243-92B8-EA54-F383-3511396E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8E63D4-CA96-4F63-EE6B-C70456FD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4300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452DE-50B0-E5D0-B1B1-ABEF633D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ED2E39-6F1F-EDA7-E0E3-54BC52526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D3EE40-CF14-3F5D-8D1E-3F7147AB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7F0D1D-A1D2-2B5D-E2E3-3780CAE2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BFA5F-DBA1-EB02-B4B2-2FDB85C7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450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EC304-8255-0DB3-0A55-62520EB9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CF9DDE-9CB0-8714-2FA9-03B1463D6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BDAFA49-94A8-0178-1608-CF413FE5A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1947C5-07E8-2B4D-E54B-0F58C8D6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248262-9817-90BF-BCDA-1A6A8F6AD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5316DC-67AD-2719-018D-7B218BC6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03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9F7D8-CEC0-9DFF-2D51-CDCDFF2A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46C189-E9C8-AC58-E2A2-303193745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599762-3A6A-D200-1CF2-23BCC0160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87F437-07C3-5D29-6E92-365646849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F64088-99A1-29D2-6165-1EDAEBD3C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59C6FBD-5A43-D51E-B1E8-1BFE8F01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1E81110-3A49-C013-3391-65912290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B34DAEB-C75D-106C-B8DE-F166C1A8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744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51D4D-6DF7-6FCC-125E-721C4D6D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D5E438-37BE-EE16-DB94-A2B14CB7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1CFB23-1E4B-47E3-8AF4-036638D5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B61A14-471B-4EF9-4532-F4AFD112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99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D020A3-AC49-868B-28FA-D1335AC3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90843B7-4556-7739-50E9-4CE1C6B8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40BE08-F9EB-89C7-1DA3-2CCE599A4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729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5C4B2-B87D-D989-857E-6DC0FD2A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4F0CC4-7997-EDD0-CCDC-699EDFFB5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B27AC1-38A8-664D-71BE-C9AC30616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7B3133-3DCF-D8F5-C654-54F454FC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FE7F72-E36A-620B-6919-955A0D9D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976906-576D-BB0E-5241-77C72757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469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E95D0-AC99-5BAE-9A93-BB8CB6D9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9A55E2-A023-CDFE-3BD4-D1707761E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6D29B2-4380-9CB0-E8DE-677A5D0F8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814652C-66C9-0856-EC6C-1953F4EC9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42228A-5328-56F6-641D-CECEF957E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11E1F6-6005-1FEF-6948-E47E4AFF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88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51BD2-0A58-D1E0-5DE6-3E876304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E00B57-4FA3-2C1A-B0F1-BF9EBB6E4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7FC265-D7B3-9F91-63DF-3AD9D0C7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DD3C7-C668-BD8F-A1B7-42525CF8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CF8A54-93C4-0444-4A41-DF65F3EE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11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07C623-0B10-2165-FFB7-295A2D50E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64CFF7-D54F-AC86-1FA7-BD540E164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6D0469-CF80-F28C-4675-23510B91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62C3E8-A786-D325-C8E7-3024E0B7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8F4831-9941-FAF5-F7FE-4484D1F9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492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11F7CA-944F-D49B-7A26-4359ACED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97517E-78FF-7795-6932-BEA1899F5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F16C3D-29E9-F9BE-69B9-3DC1EA16A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3FB61-5776-4162-96C0-BAF9CA644B16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BE098D-2C3D-842C-27CA-D5FF91BFB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6C73C0-30E1-E459-734C-DDB91252E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3D011-E4E6-4E14-853C-6DD3F2A0A6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042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" TargetMode="External"/><Relationship Id="rId2" Type="http://schemas.openxmlformats.org/officeDocument/2006/relationships/hyperlink" Target="https://www.google.com/search?biw=1600&amp;bih=765&amp;sca_esv=129340b3480a109d&amp;q=Project+Management+Body+of+Knowledge&amp;sa=X&amp;sqi=2&amp;ved=2ahUKEwj4vcO4_6mTAxXypZUCHXYKIHUQxccNegUIjgEQAQ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52DAD-93F1-E9D9-5061-F7E1D2E160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Projeto, Construção e Gerenciamento de Software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D7B005-5ABE-054C-D81D-07DB9DDA0A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49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9213C-6E31-9247-1C03-8E82C3B6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8B5E8F-7265-48AB-8671-DE0A1398E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Projeto e Construção de Software</a:t>
            </a:r>
            <a:br>
              <a:rPr lang="pt-BR" sz="4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com PMBOK® e SWEBOK®</a:t>
            </a:r>
            <a:endParaRPr lang="pt-B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02542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CCC4D-6C86-C7C6-C548-6D1DFE30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pt-BR" altLang="pt-BR" sz="44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PMI</a:t>
            </a:r>
            <a:endParaRPr lang="pt-B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5644D8-9339-CE47-2E27-C0F1C01FE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4177" y="1608800"/>
            <a:ext cx="11799396" cy="4616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 PMI (Project Management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Institute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 é a maior associação profissional sem fins lucrativos do mundo voltada para a gestão de projetos, programas e portfólios, fundada em 1969.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Ele define padrões globais, oferece certificações (como a PMP®) e publica o guia PMBOK, sendo referência na disseminação de boas práticas de gerenciamento. 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Principais Aspectos do PMI: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 que faz: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Estabelece padrões, realiza pesquisas, promove educação e oferece certificações reconhecidas internacionalmente para profissionais de projetos.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PMBOK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Guide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 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Project Management Body </a:t>
            </a:r>
            <a:r>
              <a:rPr kumimoji="0" lang="pt-BR" altLang="pt-BR" sz="2000" b="0" i="1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of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kumimoji="0" lang="pt-BR" altLang="pt-BR" sz="2000" b="0" i="1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Knowledge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é a principal publicação do PMI, reunindo práticas recomendadas para a área.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Certificações: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certificação Profissional em Gerenciamento de Projetos (PMP)® é a mais famosa, mas também oferece credenciais em análise de negócios, riscos e métodos ágeis.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Objetivo: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Ajudar profissionais e organizações a trabalharem de forma mais inteligente, maximizando o sucesso dos projetos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272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D43946-B980-770D-C075-0442E37C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0" i="0" dirty="0">
                <a:solidFill>
                  <a:srgbClr val="474747"/>
                </a:solidFill>
                <a:effectLst/>
                <a:latin typeface="Google Sans"/>
              </a:rPr>
              <a:t>PMBOK</a:t>
            </a:r>
            <a:endParaRPr lang="pt-BR" sz="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4DE49-476C-1BC4-2E9B-9CA8C2C2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474747"/>
                </a:solidFill>
                <a:effectLst/>
                <a:latin typeface="Google Sans"/>
              </a:rPr>
              <a:t>A metodologia PMBOK (</a:t>
            </a:r>
            <a:r>
              <a:rPr lang="pt-BR" b="0" i="0" dirty="0">
                <a:solidFill>
                  <a:srgbClr val="474747"/>
                </a:solidFill>
                <a:effectLst/>
                <a:latin typeface="Google Sans"/>
                <a:hlinkClick r:id="rId2"/>
              </a:rPr>
              <a:t>Project Management Body </a:t>
            </a:r>
            <a:r>
              <a:rPr lang="pt-BR" b="0" i="0" dirty="0" err="1">
                <a:solidFill>
                  <a:srgbClr val="474747"/>
                </a:solidFill>
                <a:effectLst/>
                <a:latin typeface="Google Sans"/>
                <a:hlinkClick r:id="rId2"/>
              </a:rPr>
              <a:t>of</a:t>
            </a:r>
            <a:r>
              <a:rPr lang="pt-BR" b="0" i="0" dirty="0">
                <a:solidFill>
                  <a:srgbClr val="474747"/>
                </a:solidFill>
                <a:effectLst/>
                <a:latin typeface="Google Sans"/>
                <a:hlinkClick r:id="rId2"/>
              </a:rPr>
              <a:t> </a:t>
            </a:r>
            <a:r>
              <a:rPr lang="pt-BR" b="0" i="0" dirty="0" err="1">
                <a:solidFill>
                  <a:srgbClr val="474747"/>
                </a:solidFill>
                <a:effectLst/>
                <a:latin typeface="Google Sans"/>
                <a:hlinkClick r:id="rId2"/>
              </a:rPr>
              <a:t>Knowledge</a:t>
            </a:r>
            <a:r>
              <a:rPr lang="pt-BR" b="0" i="0" dirty="0">
                <a:solidFill>
                  <a:srgbClr val="474747"/>
                </a:solidFill>
                <a:effectLst/>
                <a:latin typeface="Google Sans"/>
              </a:rPr>
              <a:t>) é um guia de boas práticas, processos e diretrizes do </a:t>
            </a:r>
            <a:r>
              <a:rPr lang="pt-BR" b="0" i="0" dirty="0">
                <a:solidFill>
                  <a:srgbClr val="0B57D0"/>
                </a:solidFill>
                <a:effectLst/>
                <a:latin typeface="Google Sans"/>
                <a:hlinkClick r:id="rId3"/>
              </a:rPr>
              <a:t>Project Management </a:t>
            </a:r>
            <a:r>
              <a:rPr lang="pt-BR" b="0" i="0" dirty="0" err="1">
                <a:solidFill>
                  <a:srgbClr val="0B57D0"/>
                </a:solidFill>
                <a:effectLst/>
                <a:latin typeface="Google Sans"/>
                <a:hlinkClick r:id="rId3"/>
              </a:rPr>
              <a:t>Institute</a:t>
            </a:r>
            <a:r>
              <a:rPr lang="pt-BR" b="0" i="0" dirty="0">
                <a:solidFill>
                  <a:srgbClr val="0B57D0"/>
                </a:solidFill>
                <a:effectLst/>
                <a:latin typeface="Google Sans"/>
                <a:hlinkClick r:id="rId3"/>
              </a:rPr>
              <a:t> (PMI)</a:t>
            </a:r>
            <a:r>
              <a:rPr lang="pt-BR" b="0" i="0" dirty="0">
                <a:solidFill>
                  <a:srgbClr val="474747"/>
                </a:solidFill>
                <a:effectLst/>
                <a:latin typeface="Google Sans"/>
              </a:rPr>
              <a:t> para gerenciar projetos, não um roteiro fixo, mas um conjunto de conhecimentos adaptáveis, dividido em grupos de processos (iniciação, planejamento, execução, monitoramento/controle, encerramento) e áreas de conhecimento (escopo, tempo, custo, etc.). Sua função é padronizar a linguagem, melhorar a comunicação e a tomada de decisão, sendo fundamental para a certificação PMP e para a aplicação de abordagens preditivas, ágeis ou híbridas.  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605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476D1-0A2D-2F71-BD12-28BB215A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0" i="0" dirty="0">
                <a:solidFill>
                  <a:srgbClr val="474747"/>
                </a:solidFill>
                <a:effectLst/>
                <a:latin typeface="Google Sans"/>
              </a:rPr>
              <a:t>SWEBOK </a:t>
            </a:r>
            <a:r>
              <a:rPr lang="pt-BR" sz="800" b="0" i="0" dirty="0">
                <a:solidFill>
                  <a:srgbClr val="474747"/>
                </a:solidFill>
                <a:effectLst/>
                <a:latin typeface="Google Sans"/>
              </a:rPr>
              <a:t>IEEE</a:t>
            </a:r>
            <a:endParaRPr lang="pt-BR" sz="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9572F8-B35B-11DA-9A9F-4E8C411F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b="0" i="0" dirty="0">
                <a:solidFill>
                  <a:srgbClr val="474747"/>
                </a:solidFill>
                <a:effectLst/>
                <a:latin typeface="Google Sans"/>
              </a:rPr>
              <a:t>SWEBOK é uma sigla que significa </a:t>
            </a:r>
            <a:r>
              <a:rPr lang="pt-BR" sz="4000" b="0" i="0" dirty="0">
                <a:solidFill>
                  <a:srgbClr val="040C28"/>
                </a:solidFill>
                <a:effectLst/>
                <a:latin typeface="Google Sans"/>
              </a:rPr>
              <a:t>Corpo de Conhecimento em Engenharia de Software</a:t>
            </a:r>
            <a:r>
              <a:rPr lang="pt-BR" sz="4000" b="0" i="0" dirty="0">
                <a:solidFill>
                  <a:srgbClr val="474747"/>
                </a:solidFill>
                <a:effectLst/>
                <a:latin typeface="Google Sans"/>
              </a:rPr>
              <a:t> , um termo abrangente que descreve o conjunto de conhecimentos dentro da profissão de engenharia de software.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157723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61052-3C70-0DA6-6A67-6ED97B45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br>
              <a:rPr lang="pt-BR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D99CC-7DA0-7F03-E661-ABC5D04BC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Entender o processo de desenvolvimento de software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Compreender o gerenciamento de projetos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Conhecer os guias PMBOK </a:t>
            </a:r>
            <a:r>
              <a:rPr lang="pt-BR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SWEBOK </a:t>
            </a:r>
            <a:r>
              <a:rPr lang="pt-BR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193438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84A8C-3299-D76C-EFFD-6D3C699C5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Projeto de Software</a:t>
            </a:r>
            <a:br>
              <a:rPr lang="pt-BR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819D43-97A6-58F3-E013-E938E8020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pt-BR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estrutura do sistema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Inclui: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Arquitetura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Componentes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 modelos como UML</a:t>
            </a:r>
            <a:endParaRPr lang="pt-BR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068416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1161D-0BAF-1FF4-CA9F-21A0A82C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Construção de Software</a:t>
            </a:r>
            <a:br>
              <a:rPr lang="pt-BR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35FC8B-E6B8-249E-393E-91396C910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Etapa de </a:t>
            </a: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implementação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Envolve: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Programação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Testes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Resultado: software funcional</a:t>
            </a:r>
            <a:endParaRPr lang="pt-BR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42425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5DA37-847B-9C3B-944B-31251413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Boas Práticas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325450-0CC6-C61F-3ADA-601354FBF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Código limpo (Clean </a:t>
            </a:r>
            <a:r>
              <a:rPr lang="pt-BR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Testes automatizados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Controle de versão (</a:t>
            </a:r>
            <a:r>
              <a:rPr lang="pt-BR" sz="44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contínua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485545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02968-0AF7-D759-FB95-D4A166D2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Gerenciamento de Projetos</a:t>
            </a:r>
            <a:br>
              <a:rPr lang="pt-BR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E5AA88-3A30-9E3E-BF69-3E8A727EE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Garante entrega com: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Prazo </a:t>
            </a:r>
            <a:r>
              <a:rPr lang="pt-BR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⏱️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 </a:t>
            </a:r>
            <a:r>
              <a:rPr lang="pt-BR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💰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 </a:t>
            </a:r>
            <a:r>
              <a:rPr lang="pt-BR" sz="4400" kern="0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Envolve planejamento e controle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655836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6E553-60F5-3B08-1688-55B076FF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Ciclo de Vida do Projeto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4EF746-D1FE-06B2-6BF2-DC81ED052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Iniciação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Planejamento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Execução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Monitoramento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Encerramento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670036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39E6B-13FF-5C4C-CF0B-049099D6D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PMBOK®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5C317B-CF72-9B1C-46B0-06C498EC1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Criado pelo Project Management </a:t>
            </a:r>
            <a:r>
              <a:rPr lang="pt-BR" sz="2400" b="1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Guia de boas práticas em gestão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Áreas: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Escopo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Qualidade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Riscos</a:t>
            </a:r>
            <a:endParaRPr lang="pt-BR" sz="2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409881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A958F-5FE9-B439-EF19-7B1AE5A2B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Aplicação do PMBOK®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BCA19D-1B46-E289-7280-5D353C0AF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Planejar cronogramas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Gerenciar mudanças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Controlar riscos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4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Organizar equipe</a:t>
            </a:r>
            <a:endParaRPr lang="pt-BR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387256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29EC2-1964-2876-4E3D-F85F0CEC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SWEBOK®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2E78E-8616-3DF6-AC73-96D663375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Guia da Engenharia de Software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padrões técnicos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Áreas: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Requisitos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Construção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Testes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Manutenção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264296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4A068-7EEF-3884-2437-85714E7C3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Importância do SWEBOK®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01D43C-14B0-2479-0673-A26825619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Padronização do desenvolvimento</a:t>
            </a:r>
            <a:endParaRPr lang="pt-BR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Melhoria da qualidade</a:t>
            </a:r>
            <a:endParaRPr lang="pt-BR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 para profissionais de TI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72658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5F805-375E-2931-5558-884B73C6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PMBOK® + SWEBOK</a:t>
            </a: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B45663D2-4EC8-ED5F-F72F-7C61984F7B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5243634"/>
              </p:ext>
            </p:extLst>
          </p:nvPr>
        </p:nvGraphicFramePr>
        <p:xfrm>
          <a:off x="838200" y="2174487"/>
          <a:ext cx="10515600" cy="4014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0741343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30101891"/>
                    </a:ext>
                  </a:extLst>
                </a:gridCol>
              </a:tblGrid>
              <a:tr h="10036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>
                          <a:effectLst/>
                        </a:rPr>
                        <a:t>PMBOK®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>
                          <a:effectLst/>
                        </a:rPr>
                        <a:t>SWEBOK®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44734"/>
                  </a:ext>
                </a:extLst>
              </a:tr>
              <a:tr h="1003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>
                          <a:effectLst/>
                        </a:rPr>
                        <a:t>Gestão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>
                          <a:effectLst/>
                        </a:rPr>
                        <a:t>Técnico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8121200"/>
                  </a:ext>
                </a:extLst>
              </a:tr>
              <a:tr h="1003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 dirty="0">
                          <a:effectLst/>
                        </a:rPr>
                        <a:t>Planejamento</a:t>
                      </a:r>
                      <a:endParaRPr lang="pt-B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>
                          <a:effectLst/>
                        </a:rPr>
                        <a:t>Desenvolvimento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3575185"/>
                  </a:ext>
                </a:extLst>
              </a:tr>
              <a:tr h="10036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>
                          <a:effectLst/>
                        </a:rPr>
                        <a:t>Controle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pt-BR" sz="1200" kern="0" dirty="0">
                          <a:effectLst/>
                        </a:rPr>
                        <a:t>Qualidade</a:t>
                      </a:r>
                      <a:endParaRPr lang="pt-B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6708910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4A11DD3-E4EF-1E72-130F-A450BB3EF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2888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®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423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5344C-54FF-076F-EE7C-929C4ECF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Exemplo Prático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DB4376-0E7B-85E1-030B-100E33814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410" y="1253331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de delivery: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SWEBOK®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requisitos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Modela o sistema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Testa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PMBOK®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prazo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Controla custos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Gerencia equipe</a:t>
            </a:r>
            <a:endParaRPr lang="pt-BR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326987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740DA-33FA-F686-341E-400975E8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8C2688-8B54-0F36-E8EE-70F72705F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Projeto → estrutura do software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Construção → desenvolvimento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PMBOK® → gestão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SWEBOK® → técnica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Integração = sucesso do projeto</a:t>
            </a:r>
            <a:endParaRPr lang="pt-BR" sz="36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2944279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1A677-C7D4-C6EF-A7F9-247AE93B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Atividade</a:t>
            </a:r>
            <a:br>
              <a:rPr lang="pt-B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991249-7800-9765-1B58-0A77FC9EB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Diferença entre PMBOK® e SWEBOK®</a:t>
            </a:r>
            <a:endParaRPr lang="pt-BR" sz="4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Cite 3 áreas de cada</a:t>
            </a:r>
            <a:endParaRPr lang="pt-BR" sz="4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pt-BR" sz="4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Aplicação em um projeto real</a:t>
            </a:r>
            <a:endParaRPr lang="pt-BR" sz="4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1605603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0594C4721B98C4E904B83122545EE6E" ma:contentTypeVersion="3" ma:contentTypeDescription="Crie um novo documento." ma:contentTypeScope="" ma:versionID="51bade6d526e840c1663d5e830f9f564">
  <xsd:schema xmlns:xsd="http://www.w3.org/2001/XMLSchema" xmlns:xs="http://www.w3.org/2001/XMLSchema" xmlns:p="http://schemas.microsoft.com/office/2006/metadata/properties" xmlns:ns2="02248a23-298b-4ba7-b3fa-343954aa2819" targetNamespace="http://schemas.microsoft.com/office/2006/metadata/properties" ma:root="true" ma:fieldsID="a34672659533f297124e25b3ad624239" ns2:_="">
    <xsd:import namespace="02248a23-298b-4ba7-b3fa-343954aa28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48a23-298b-4ba7-b3fa-343954aa2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8B70EC-0665-4604-8153-23CF56B440F7}"/>
</file>

<file path=customXml/itemProps2.xml><?xml version="1.0" encoding="utf-8"?>
<ds:datastoreItem xmlns:ds="http://schemas.openxmlformats.org/officeDocument/2006/customXml" ds:itemID="{F6797338-620A-4474-A74B-86B6F8AE67CB}"/>
</file>

<file path=customXml/itemProps3.xml><?xml version="1.0" encoding="utf-8"?>
<ds:datastoreItem xmlns:ds="http://schemas.openxmlformats.org/officeDocument/2006/customXml" ds:itemID="{75334B4E-F721-4063-9C13-137CC63F4BB1}"/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575</Words>
  <Application>Microsoft Office PowerPoint</Application>
  <PresentationFormat>Widescreen</PresentationFormat>
  <Paragraphs>107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Google Sans</vt:lpstr>
      <vt:lpstr>Segoe UI Emoji</vt:lpstr>
      <vt:lpstr>Symbol</vt:lpstr>
      <vt:lpstr>Times New Roman</vt:lpstr>
      <vt:lpstr>Tema do Office</vt:lpstr>
      <vt:lpstr>Projeto, Construção e Gerenciamento de Software</vt:lpstr>
      <vt:lpstr>Apresentação do PowerPoint</vt:lpstr>
      <vt:lpstr>PMI</vt:lpstr>
      <vt:lpstr>PMBOK</vt:lpstr>
      <vt:lpstr>SWEBOK IEEE</vt:lpstr>
      <vt:lpstr>Objetivo </vt:lpstr>
      <vt:lpstr>Projeto de Software </vt:lpstr>
      <vt:lpstr>Construção de Software </vt:lpstr>
      <vt:lpstr>Boas Práticas </vt:lpstr>
      <vt:lpstr>Gerenciamento de Projetos </vt:lpstr>
      <vt:lpstr>Ciclo de Vida do Projeto </vt:lpstr>
      <vt:lpstr>PMBOK® </vt:lpstr>
      <vt:lpstr>Aplicação do PMBOK® </vt:lpstr>
      <vt:lpstr>SWEBOK® </vt:lpstr>
      <vt:lpstr>Importância do SWEBOK® </vt:lpstr>
      <vt:lpstr>Integração PMBOK® + SWEBOK</vt:lpstr>
      <vt:lpstr>Exemplo Prático </vt:lpstr>
      <vt:lpstr>Conclusão </vt:lpstr>
      <vt:lpstr>Atividade 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Egydio</dc:creator>
  <cp:lastModifiedBy>Antonio Egydio</cp:lastModifiedBy>
  <cp:revision>19</cp:revision>
  <dcterms:created xsi:type="dcterms:W3CDTF">2026-03-18T17:26:09Z</dcterms:created>
  <dcterms:modified xsi:type="dcterms:W3CDTF">2026-03-18T17:44:20Z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0x01010090594C4721B98C4E904B83122545EE6E</vt:lpwstr>
  </property>
</Properties>
</file>