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A5756-4E58-5DF5-973C-57007156B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68FC77-6C7A-6DFF-DBC6-09673F2F4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1DD392-0148-E8F9-017C-1C4D0C48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40FB04-DB08-D7EA-2B07-4AE6D47C3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66D95C-AF88-620A-5CE4-8B2A9DBF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22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C21C1-2181-3A45-08CA-E0F71C77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6BE7BD-DEB5-AF6D-E1B6-48071B0F3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447CD-01E1-5C04-57E3-1476BFC3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219ADA-A67A-50C2-4F01-895A48FE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C1F6D-FC00-DED0-8C56-772B32C4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77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50625-2F60-CE2B-64B8-8FBBED54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1E4586-65C4-7435-EE8E-3C9DB1B7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818D6A-D87B-4CBD-EDB8-A6CAD28DC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7A92F1-443F-5F7C-635D-028C03FE6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32EDAD-6853-7BBD-21E2-F39978C3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3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37BD3-0C2D-B08F-8CEF-9115EFA2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07DE17-3E5A-404B-AE15-3A02C6278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B1E1DF-8140-2E03-36A8-4E82EBA47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FBA781-C051-A190-33EA-82D83F48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AA037D-5998-5BB6-956E-B9FF39B4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1A7DF6-0CA6-F736-7AB9-AEBCC57F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092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7EA62-E579-E4B5-5582-D1115AFAD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74B75-DC43-63C7-3018-A6DC5B6F8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05B425-20AB-6037-83B0-C0AAA6842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CC67C1-F0E7-CB3E-11D6-C5B021CCC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00F1E4-0298-04ED-4C40-26F8D2198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89B8B90-4896-4A80-7BA0-A51C0DB4D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407C1D-7C58-A8E9-947E-1A4E3FD1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9A587E1-08B6-0F27-A57B-7F788F46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81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72531-C3AD-95EB-D927-BBA2E789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F26636-EFA0-D004-7C7B-99D17BCB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B17668-9867-241F-C051-DE453744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DCD12C-8D1D-A222-FC9B-B64BDD9D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0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54411A-0814-2EAB-CCFC-C485E2E97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F1CC0B-A9BC-1700-9A43-9E14590D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679FF2-3A24-452F-0868-C4CDB448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42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FD17C-F2AD-0F58-7820-1B973367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C25C2-A0FB-68C7-F5EC-71B98A8EC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E81031-E053-C938-1D38-A9A523B97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D4DF63-E1DD-0F70-3E84-EF6B70DB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FBFE2B-6A8D-F155-1D8A-5AF4E19E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D64811-E470-FAA6-0069-ECFABE28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52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D777E-4D5A-0C48-1355-9624066F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B73EAF-B3D3-3FE9-CE16-CF3F09466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C39A2C8-47BE-FE6A-8B30-83D5EBAD8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48C752-404F-E45A-9217-277FA229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B63BC7-724A-8CA1-F90C-0DF5C41D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52B32A-E5E2-0942-7E0A-B906AA59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86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28A84-1712-7142-2E7C-4A580FF6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9A2CEB-1159-F0F1-1546-8AC38C440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AAB272-0AD9-FFD9-94CF-4DB58153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179F65-F4FB-6103-B738-5B7F1BAD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228C7-22ED-CDE7-CEE1-186C11A0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07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3ABC6E-4851-0CF3-9BC9-859E9DE70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CD1AF5-0F1A-1822-4FA8-0386748A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9EBB1F-3CAF-EE34-63A9-CF7CC818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41EF76-1133-BBFE-F6C5-39854FF0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799D51-7189-3227-20C8-476A99C5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007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68FA43-2DB2-89ED-BD91-BE93F6D4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AB5706-9B99-070A-0FCE-C33B8C1F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B2FC3-902C-B17F-F2AF-566BFC10F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E6974-601E-4296-BB74-7ADE14657044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100C52-47BF-424E-1615-AB4B410B8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05D92-89C4-6608-106D-D56ACF8F8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FA43F-2A21-4FBA-A95C-2F725455D9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84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C1AF2-6BBA-1A96-7C4D-D60535007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Aula: Modelos de Qualidade de Software</a:t>
            </a:r>
            <a:br>
              <a:rPr lang="pt-BR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5704CF-655F-72DD-441D-1062FFAE30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551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47322-D42C-9417-52A9-E1398F4B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 – Objetivo da Aula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30E7FD-7215-D94A-EDF0-85A26C6DC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os principais 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modelos de qualidade de software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Entender como esses modelos auxiliam na 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de processos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Conhecer modelos utilizados no Brasil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Relacionar 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modelos tradicionais de qualidade com metodologias ágeis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6023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02D63-9C7C-CDF7-4E58-9C89ECD0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3 – O que é Qualidade de Software?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D7DA-FBD0-8A5C-5582-06C041C99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de software é o grau em que um sistema: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Atende aos requisitos definidos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Satisfaz as necessidades do usuário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Possui baixo número de falhas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Apresenta manutenibilidade e confiabilidade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Benefícios: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erros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satisfação do cliente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Processos mais eficientes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16280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22C14-9C9D-3F34-80CE-9321BDF8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4 – Modelos de Qualidade de Software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C756A4-FDE4-0005-AA94-BC07A3087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Modelos de qualidade ajudam a: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Avaliar processos de desenvolvimento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Identificar pontos de melhoria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Padronizar práticas de engenharia de software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Principais modelos: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CMMI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SPICE (ISO 15504)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MPS.BR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29478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4D1F4-937D-8BD1-60F8-9B70FC10E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5 – CMMI (</a:t>
            </a:r>
            <a:r>
              <a:rPr lang="pt-BR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Capability</a:t>
            </a:r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Maturity</a:t>
            </a:r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pt-BR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B4B31-78A3-BE1C-0173-AAF960EFD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CMMI é um modelo que: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Avalia a maturidade dos processos de desenvolvimento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boas práticas de engenharia de software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Ajuda organizações a melhorar continuamente seus processos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Desenvolvido pelo: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pt-BR" sz="3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 Carnegie Mellon </a:t>
            </a:r>
            <a:r>
              <a:rPr lang="pt-BR" sz="32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pt-BR" sz="3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3719195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6745A-454C-A093-46B8-B111D5C6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6 – Níveis de Maturidade do CMMI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40FD22-9B4D-F57F-548F-DEA840582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1️-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Inicial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Processos imprevisíveis e pouco controlados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2️-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Gerenciado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Projetos são planejados e monitorados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3️-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Definido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Processos organizacionais padronizados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4️-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Gerenciado Quantitativamente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Uso de métricas e controle estatístico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5️-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Otimizado</a:t>
            </a:r>
            <a:b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contínua e inovação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3931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9F192-8246-A24F-2B20-653A254D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7 – Benefícios do CMMI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A65FB-E9EF-7DDF-37F2-1DA69BCDE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na </a:t>
            </a:r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do produto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de </a:t>
            </a:r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retrabalho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Processos mais </a:t>
            </a:r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previsíveis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Maior </a:t>
            </a:r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controle de projetos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96301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3750B-F616-0F09-A328-E5A08D56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8 – SPICE – ISO 15504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C57B6E-1D0A-EEE3-DEBE-F599519FA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SPICE significa: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Capability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Determination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um padrão internacional criado pela: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</a:t>
            </a: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Objetivos: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Avaliar a capacidade dos processos de software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Melhorar a qualidade do desenvolvimento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1543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38BB6-8F13-F9FB-E569-DC60ACBF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9 – Níveis de Capacidade do SPICE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B0EF65-7DF0-163B-31FE-AD5B3EF19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– Incompleto</a:t>
            </a:r>
            <a:b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– Executado</a:t>
            </a:r>
            <a:b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– Gerenciado</a:t>
            </a:r>
            <a:b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– Estabelecido</a:t>
            </a:r>
            <a:b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– Previsível</a:t>
            </a:r>
            <a:b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– Otimizado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nível representa 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controle e eficiência do processo</a:t>
            </a: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8505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0D39B-785B-936E-D604-E5DCACBA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10 – MPS.BR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6E8FC3-3554-BD3D-EBCC-5AE709FB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MPS.BR significa: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de Processo do Software Brasileiro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Criado pela: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Associação para Promoção da Excelência do Software Brasileiro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Melhorar a qualidade de software </a:t>
            </a:r>
            <a:r>
              <a:rPr lang="pt-BR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especialmente em empresas brasileiras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873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9AB22-A658-A81C-4758-8CB706B5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11 – Níveis de Maturidade do MPS.BR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3C8196-1418-49BC-0BA5-31B17A5FC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Níveis do modelo: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– Em otimização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 – Gerenciado quantitativamente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 – Definido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 – Largamente definido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 – Parcialmente definido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– Gerenciado</a:t>
            </a:r>
            <a:b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– Parcialmente gerenciado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68775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D1806-19DF-DB66-4ED4-91B8EDB7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12 – Benefícios do MPS.BR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8772F0-9BAF-3888-A16B-676EAC04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 </a:t>
            </a:r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adaptado à realidade brasileira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Menor custo de implementação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da competitividade das empresas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Compatibilidade com modelos internacionais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006736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93016-EC52-E99C-24C6-097A2621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13 – Qualidade em Projetos Ágeis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9852D3-EE68-F8EC-6DDD-641B07C7C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Nos métodos ágeis, a qualidade é garantida por: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Entregas frequentes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Feedback contínuo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 constantes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contínua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Principais frameworks ágeis: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4198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DCC8C-F485-E0F4-9BF5-CF75A733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14 – SCRUM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86663E-E20C-45C6-F8DF-07C262091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Scrum é um framework ágil que organiza o trabalho em ciclos chamados </a:t>
            </a: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Sprints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Principais elementos: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Backlog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 Backlog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Daily Meeting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Retrospective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67421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088B7-BC37-8630-7B94-56553858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15 – Gestão de Sprints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0BDEF-D7D1-E1AB-D637-3B965A91D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Ciclo de trabalho de 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a 4 semanas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Durante a Sprint: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 incremental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Resultados: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Produto evoluindo continuamente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8781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ED527-FC0A-C43E-5966-DFAFF9BB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16 – Backlog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5B8D62-FAED-6B85-84BB-2BCC348E3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backlog: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Backlog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Lista priorizada de requisitos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Sprint Backlog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Tarefas selecionadas para a sprint atual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Benefícios: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Organização do trabalho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Prioridade clara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125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36C7E-32FC-DE56-9EB0-873B00EE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17 – Quadros </a:t>
            </a:r>
            <a:r>
              <a:rPr lang="pt-BR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CCA64B-CEB0-81F3-E27A-349176E52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utiliza quadros visuais para controle do fluxo de trabalho.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 de colunas: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fazer (</a:t>
            </a:r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Do)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andamento (</a:t>
            </a:r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Doing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Concluído (</a:t>
            </a:r>
            <a:r>
              <a:rPr lang="pt-BR" sz="20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Vantagens: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Visualização do progresso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Identificação de gargalos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64428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F3E7CF-5705-625F-1825-6977ACB8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18 – Matriz SWOT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7F20D9-3F57-94B5-2698-BF8B60A1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Matriz SWOT</a:t>
            </a: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uma ferramenta de análise estratégica: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(Forças)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(Fraquezas)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(Oportunidades)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(Ameaças)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Aplicação: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Avaliar processos</a:t>
            </a:r>
            <a:endParaRPr lang="pt-B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Identificar melhoria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75965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9093E-D7FE-1059-A144-DA635076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19 – Aplicação da SWOT no MPS.BR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7BCB32-4D00-64ED-E1E7-D71F0BAD6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Exemplo: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Forças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Equipe qualificada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Fraquezas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Falta de documentação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Oportunidades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Automação de testes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Ameaças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Mudanças frequentes de requisitos</a:t>
            </a:r>
            <a:endParaRPr lang="pt-B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77519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1A0AE-6B27-CE1C-499C-ED1AEFB3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20 – Integração: MPS.BR + Métodos Ágeis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B3F65-45DC-F1D0-3ADC-B4357E3A4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 possível integrar: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MPS.BR + SCRUM + </a:t>
            </a:r>
            <a:r>
              <a:rPr lang="pt-BR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Benefícios: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Processos mais organizados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Entregas rápidas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contínua da qualidade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2899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4F734-6403-8066-85F7-69A5564B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21 – Conclusão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36AE92-FF41-FC58-69D6-DB113C1B3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200" b="1" kern="18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Slide 21 – Conclusão</a:t>
            </a:r>
            <a:endParaRPr lang="pt-BR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Modelos de qualidade ajudam a </a:t>
            </a:r>
            <a:r>
              <a:rPr lang="pt-BR" sz="32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melhorar processos de software</a:t>
            </a:r>
            <a:endParaRPr lang="pt-BR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CMMI, SPICE e MPS.BR são referências importantes</a:t>
            </a:r>
            <a:endParaRPr lang="pt-BR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Métodos ágeis complementam esses modelos</a:t>
            </a:r>
            <a:endParaRPr lang="pt-BR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combinação dessas práticas gera </a:t>
            </a:r>
            <a:r>
              <a:rPr lang="pt-BR" sz="3200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qualidade e produtividade</a:t>
            </a:r>
            <a:endParaRPr lang="pt-BR" sz="3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20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594C4721B98C4E904B83122545EE6E" ma:contentTypeVersion="3" ma:contentTypeDescription="Crie um novo documento." ma:contentTypeScope="" ma:versionID="51bade6d526e840c1663d5e830f9f564">
  <xsd:schema xmlns:xsd="http://www.w3.org/2001/XMLSchema" xmlns:xs="http://www.w3.org/2001/XMLSchema" xmlns:p="http://schemas.microsoft.com/office/2006/metadata/properties" xmlns:ns2="02248a23-298b-4ba7-b3fa-343954aa2819" targetNamespace="http://schemas.microsoft.com/office/2006/metadata/properties" ma:root="true" ma:fieldsID="a34672659533f297124e25b3ad624239" ns2:_="">
    <xsd:import namespace="02248a23-298b-4ba7-b3fa-343954aa2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a23-298b-4ba7-b3fa-343954aa2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7702AE-59F6-48C6-87B8-6FF56629D301}"/>
</file>

<file path=customXml/itemProps2.xml><?xml version="1.0" encoding="utf-8"?>
<ds:datastoreItem xmlns:ds="http://schemas.openxmlformats.org/officeDocument/2006/customXml" ds:itemID="{F4089292-A5DF-41FB-B134-15501C3D0A73}"/>
</file>

<file path=customXml/itemProps3.xml><?xml version="1.0" encoding="utf-8"?>
<ds:datastoreItem xmlns:ds="http://schemas.openxmlformats.org/officeDocument/2006/customXml" ds:itemID="{88F47083-5894-487B-AA98-568AB6D34932}"/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772</Words>
  <Application>Microsoft Office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Symbol</vt:lpstr>
      <vt:lpstr>Times New Roman</vt:lpstr>
      <vt:lpstr>Tema do Office</vt:lpstr>
      <vt:lpstr>Aula: Modelos de Qualidade de Software </vt:lpstr>
      <vt:lpstr>Slide 2 – Objetivo da Aula </vt:lpstr>
      <vt:lpstr>Slide 3 – O que é Qualidade de Software? </vt:lpstr>
      <vt:lpstr>Slide 4 – Modelos de Qualidade de Software </vt:lpstr>
      <vt:lpstr>Slide 5 – CMMI (Capability Maturity Model Integration) </vt:lpstr>
      <vt:lpstr>Slide 6 – Níveis de Maturidade do CMMI </vt:lpstr>
      <vt:lpstr>Slide 7 – Benefícios do CMMI </vt:lpstr>
      <vt:lpstr>Slide 8 – SPICE – ISO 15504 </vt:lpstr>
      <vt:lpstr>Slide 9 – Níveis de Capacidade do SPICE </vt:lpstr>
      <vt:lpstr>Slide 10 – MPS.BR </vt:lpstr>
      <vt:lpstr>Slide 11 – Níveis de Maturidade do MPS.BR </vt:lpstr>
      <vt:lpstr>Slide 12 – Benefícios do MPS.BR </vt:lpstr>
      <vt:lpstr>Slide 13 – Qualidade em Projetos Ágeis </vt:lpstr>
      <vt:lpstr>Slide 14 – SCRUM </vt:lpstr>
      <vt:lpstr>Slide 15 – Gestão de Sprints </vt:lpstr>
      <vt:lpstr>Slide 16 – Backlog </vt:lpstr>
      <vt:lpstr>Slide 17 – Quadros Kanban </vt:lpstr>
      <vt:lpstr>Slide 18 – Matriz SWOT </vt:lpstr>
      <vt:lpstr>Slide 19 – Aplicação da SWOT no MPS.BR </vt:lpstr>
      <vt:lpstr>Slide 20 – Integração: MPS.BR + Métodos Ágeis </vt:lpstr>
      <vt:lpstr>Slide 21 – Conclusão 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Egydio</dc:creator>
  <cp:lastModifiedBy>Antonio Egydio</cp:lastModifiedBy>
  <cp:revision>15</cp:revision>
  <dcterms:created xsi:type="dcterms:W3CDTF">2026-03-11T16:49:52Z</dcterms:created>
  <dcterms:modified xsi:type="dcterms:W3CDTF">2026-03-11T17:22:30Z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