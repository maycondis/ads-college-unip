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36"/>
  </p:notesMasterIdLst>
  <p:handoutMasterIdLst>
    <p:handoutMasterId r:id="rId37"/>
  </p:handoutMasterIdLst>
  <p:sldIdLst>
    <p:sldId id="268" r:id="rId5"/>
    <p:sldId id="269" r:id="rId6"/>
    <p:sldId id="270" r:id="rId7"/>
    <p:sldId id="272" r:id="rId8"/>
    <p:sldId id="273" r:id="rId9"/>
    <p:sldId id="296" r:id="rId10"/>
    <p:sldId id="297" r:id="rId11"/>
    <p:sldId id="298" r:id="rId12"/>
    <p:sldId id="299" r:id="rId13"/>
    <p:sldId id="300" r:id="rId14"/>
    <p:sldId id="301" r:id="rId15"/>
    <p:sldId id="304" r:id="rId16"/>
    <p:sldId id="305" r:id="rId17"/>
    <p:sldId id="306" r:id="rId18"/>
    <p:sldId id="307" r:id="rId19"/>
    <p:sldId id="354" r:id="rId20"/>
    <p:sldId id="275" r:id="rId21"/>
    <p:sldId id="308" r:id="rId22"/>
    <p:sldId id="370" r:id="rId23"/>
    <p:sldId id="309" r:id="rId24"/>
    <p:sldId id="310" r:id="rId25"/>
    <p:sldId id="295" r:id="rId26"/>
    <p:sldId id="357" r:id="rId27"/>
    <p:sldId id="358" r:id="rId28"/>
    <p:sldId id="359" r:id="rId29"/>
    <p:sldId id="360" r:id="rId30"/>
    <p:sldId id="364" r:id="rId31"/>
    <p:sldId id="363" r:id="rId32"/>
    <p:sldId id="365" r:id="rId33"/>
    <p:sldId id="366" r:id="rId34"/>
    <p:sldId id="326" r:id="rId35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9" autoAdjust="0"/>
  </p:normalViewPr>
  <p:slideViewPr>
    <p:cSldViewPr snapToGrid="0">
      <p:cViewPr varScale="1">
        <p:scale>
          <a:sx n="102" d="100"/>
          <a:sy n="102" d="100"/>
        </p:scale>
        <p:origin x="89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94" y="8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935E2-E7C1-4ED2-91A8-3D2EF90039F0}" type="datetimeFigureOut">
              <a:rPr lang="pt-BR" smtClean="0"/>
              <a:t>27/03/2026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27CB4-B6D2-4E90-9CC1-824CE88DA95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3764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6FA47-21D5-4047-9471-F01A728B28BE}" type="datetimeFigureOut">
              <a:rPr lang="pt-BR" noProof="0" smtClean="0"/>
              <a:t>27/03/2026</a:t>
            </a:fld>
            <a:endParaRPr lang="pt-BR" noProof="0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501BF-1D2B-4868-94EC-1ACE4360F5A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87417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3501BF-1D2B-4868-94EC-1ACE4360F5AC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374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058210-3CDA-4DDA-8356-4FED81F3EC11}" type="datetime1">
              <a:rPr lang="pt-BR" noProof="0" smtClean="0"/>
              <a:t>27/03/2026</a:t>
            </a:fld>
            <a:endParaRPr lang="pt-BR" noProof="0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0A45F5-F797-498C-8B7A-1AAECBDA6E61}" type="datetime1">
              <a:rPr lang="pt-BR" noProof="0" smtClean="0"/>
              <a:t>27/03/2026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29AE4E-7FCD-4AA8-8737-FC932D28D25C}" type="datetime1">
              <a:rPr lang="pt-BR" noProof="0" smtClean="0"/>
              <a:t>27/03/2026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469966-2CA8-44E6-8B22-84BCFB10A849}" type="datetime1">
              <a:rPr lang="pt-BR" noProof="0" smtClean="0"/>
              <a:t>27/03/2026</a:t>
            </a:fld>
            <a:endParaRPr lang="pt-BR" noProof="0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BCC592-1277-433B-ABE2-7821BB8F5F47}" type="datetime1">
              <a:rPr lang="pt-BR" noProof="0" smtClean="0"/>
              <a:t>27/03/2026</a:t>
            </a:fld>
            <a:endParaRPr lang="pt-BR" noProof="0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34C60-AB26-43CA-BC61-01B53B651217}" type="datetime1">
              <a:rPr lang="pt-BR" noProof="0" smtClean="0"/>
              <a:t>27/03/2026</a:t>
            </a:fld>
            <a:endParaRPr lang="pt-BR" noProof="0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29BC98-DC8A-4339-9F6E-A49DA685FCB7}" type="datetime1">
              <a:rPr lang="pt-BR" noProof="0" smtClean="0"/>
              <a:t>27/03/2026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BA6BBE74-918B-43BF-B29E-5C4A628D9277}" type="datetime1">
              <a:rPr lang="pt-BR" noProof="0" smtClean="0"/>
              <a:t>27/03/2026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0A1C5B49-891F-4320-82CB-3E8E2B9DD127}" type="datetime1">
              <a:rPr lang="pt-BR" noProof="0" smtClean="0"/>
              <a:t>27/03/2026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BA7412EA-3900-4FDB-8760-09BB6255EE2A}" type="datetime1">
              <a:rPr lang="pt-BR" noProof="0" smtClean="0"/>
              <a:t>27/03/2026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microsoft.com/office/2007/relationships/hdphoto" Target="../media/hdphoto1.wdp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tângulo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 rtlCol="0">
            <a:noAutofit/>
          </a:bodyPr>
          <a:lstStyle/>
          <a:p>
            <a:r>
              <a:rPr lang="pt-BR" sz="5400" dirty="0"/>
              <a:t>UX E UI DESIGN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Prof. Flávio Waltz</a:t>
            </a: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308AC96E-AA33-4309-B51D-072F59E6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6686" y="1"/>
            <a:ext cx="4635315" cy="6857999"/>
          </a:xfrm>
          <a:prstGeom prst="rect">
            <a:avLst/>
          </a:prstGeom>
        </p:spPr>
      </p:pic>
      <p:pic>
        <p:nvPicPr>
          <p:cNvPr id="10" name="Imagem 9" descr="Interface gráfica do usuário, Aplicativo, Teams&#10;&#10;Descrição gerada automaticamente">
            <a:extLst>
              <a:ext uri="{FF2B5EF4-FFF2-40B4-BE49-F238E27FC236}">
                <a16:creationId xmlns:a16="http://schemas.microsoft.com/office/drawing/2014/main" id="{7C8F97D7-93B2-4430-A83E-988894948D5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rcRect l="40429" t="11829" r="26394" b="14631"/>
          <a:stretch/>
        </p:blipFill>
        <p:spPr>
          <a:xfrm>
            <a:off x="7551175" y="0"/>
            <a:ext cx="4640825" cy="6858000"/>
          </a:xfrm>
          <a:prstGeom prst="rect">
            <a:avLst/>
          </a:prstGeom>
        </p:spPr>
      </p:pic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00BC911C-ACE2-4EFB-A0CE-485B21E0D3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898" y="4846553"/>
            <a:ext cx="1773372" cy="177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Curso: Tecnologia em Análise e Desenvolvimento de Sistemas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126377"/>
            <a:ext cx="10058400" cy="2376955"/>
          </a:xfrm>
        </p:spPr>
        <p:txBody>
          <a:bodyPr>
            <a:normAutofit/>
          </a:bodyPr>
          <a:lstStyle/>
          <a:p>
            <a:r>
              <a:rPr lang="pt-BR" sz="4300" dirty="0"/>
              <a:t>Foco da disciplina:</a:t>
            </a:r>
          </a:p>
          <a:p>
            <a:pPr lvl="1"/>
            <a:r>
              <a:rPr lang="pt-BR" sz="4100" dirty="0"/>
              <a:t>Design de interfaces</a:t>
            </a:r>
          </a:p>
        </p:txBody>
      </p:sp>
    </p:spTree>
    <p:extLst>
      <p:ext uri="{BB962C8B-B14F-4D97-AF65-F5344CB8AC3E}">
        <p14:creationId xmlns:p14="http://schemas.microsoft.com/office/powerpoint/2010/main" val="769127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Projeto de Interface com o Usuário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3300" dirty="0"/>
              <a:t>Conteúdo Programático</a:t>
            </a:r>
          </a:p>
          <a:p>
            <a:r>
              <a:rPr lang="pt-BR" sz="3300" dirty="0"/>
              <a:t>Conceitos:</a:t>
            </a:r>
          </a:p>
          <a:p>
            <a:pPr lvl="1"/>
            <a:r>
              <a:rPr lang="pt-BR" sz="3200" dirty="0"/>
              <a:t>Experiência do Usuário (UX)</a:t>
            </a:r>
          </a:p>
          <a:p>
            <a:pPr lvl="1"/>
            <a:r>
              <a:rPr lang="pt-BR" sz="3200" dirty="0"/>
              <a:t>Arquitetura da Informação (AI)</a:t>
            </a:r>
          </a:p>
          <a:p>
            <a:pPr lvl="1"/>
            <a:r>
              <a:rPr lang="pt-BR" sz="3200" dirty="0"/>
              <a:t>Interface do Usuário (UI)</a:t>
            </a:r>
          </a:p>
          <a:p>
            <a:pPr lvl="1"/>
            <a:r>
              <a:rPr lang="pt-BR" sz="3200" dirty="0"/>
              <a:t>Design de Interação (</a:t>
            </a:r>
            <a:r>
              <a:rPr lang="pt-BR" sz="3200" dirty="0" err="1"/>
              <a:t>IxD</a:t>
            </a:r>
            <a:r>
              <a:rPr lang="pt-BR" sz="3200" dirty="0"/>
              <a:t>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3816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Projeto de Interface com o Usuário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pt-BR" sz="3600" dirty="0"/>
              <a:t>Conteúdo Programático</a:t>
            </a:r>
          </a:p>
          <a:p>
            <a:pPr>
              <a:lnSpc>
                <a:spcPct val="120000"/>
              </a:lnSpc>
            </a:pPr>
            <a:r>
              <a:rPr lang="pt-BR" sz="3600" dirty="0"/>
              <a:t>Prática:</a:t>
            </a:r>
          </a:p>
          <a:p>
            <a:pPr lvl="1"/>
            <a:r>
              <a:rPr lang="pt-BR" sz="3100" dirty="0"/>
              <a:t>Análise de Briefing de Projeto</a:t>
            </a:r>
          </a:p>
          <a:p>
            <a:pPr lvl="1"/>
            <a:r>
              <a:rPr lang="pt-BR" sz="3100" dirty="0" err="1"/>
              <a:t>User</a:t>
            </a:r>
            <a:r>
              <a:rPr lang="pt-BR" sz="3100" dirty="0"/>
              <a:t> </a:t>
            </a:r>
            <a:r>
              <a:rPr lang="pt-BR" sz="3100" dirty="0" err="1"/>
              <a:t>Flow</a:t>
            </a:r>
            <a:endParaRPr lang="pt-BR" sz="3100" dirty="0"/>
          </a:p>
          <a:p>
            <a:pPr lvl="1"/>
            <a:r>
              <a:rPr lang="pt-BR" sz="3100" dirty="0"/>
              <a:t>Geração de Rascunhos</a:t>
            </a:r>
          </a:p>
        </p:txBody>
      </p:sp>
    </p:spTree>
    <p:extLst>
      <p:ext uri="{BB962C8B-B14F-4D97-AF65-F5344CB8AC3E}">
        <p14:creationId xmlns:p14="http://schemas.microsoft.com/office/powerpoint/2010/main" val="726612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Projeto de Interface com o Usuário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pt-BR" sz="3600" dirty="0"/>
              <a:t>Conteúdo Programático</a:t>
            </a:r>
          </a:p>
          <a:p>
            <a:pPr>
              <a:lnSpc>
                <a:spcPct val="120000"/>
              </a:lnSpc>
            </a:pPr>
            <a:r>
              <a:rPr lang="pt-BR" sz="3600" dirty="0"/>
              <a:t>Prática:</a:t>
            </a:r>
          </a:p>
          <a:p>
            <a:pPr lvl="1"/>
            <a:r>
              <a:rPr lang="pt-BR" sz="3100" dirty="0"/>
              <a:t>Criação de </a:t>
            </a:r>
            <a:r>
              <a:rPr lang="pt-BR" sz="3100" i="1" dirty="0"/>
              <a:t>Wireframes</a:t>
            </a:r>
          </a:p>
          <a:p>
            <a:pPr lvl="1"/>
            <a:r>
              <a:rPr lang="pt-BR" sz="3100" dirty="0"/>
              <a:t>Prototipagem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3516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Experiência do Usuário (UX)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36900" lvl="0" indent="0" rtl="0">
              <a:buNone/>
            </a:pPr>
            <a:r>
              <a:rPr lang="pt-BR" sz="6700" dirty="0"/>
              <a:t>“Eu inventei o termo porque achava que </a:t>
            </a:r>
            <a:r>
              <a:rPr lang="pt-BR" sz="6700" b="1" dirty="0"/>
              <a:t>interface do usuário</a:t>
            </a:r>
            <a:r>
              <a:rPr lang="pt-BR" sz="6700" dirty="0"/>
              <a:t> e </a:t>
            </a:r>
            <a:r>
              <a:rPr lang="pt-BR" sz="6700" b="1" dirty="0"/>
              <a:t>usabilidade</a:t>
            </a:r>
            <a:r>
              <a:rPr lang="pt-BR" sz="6700" dirty="0"/>
              <a:t> eram muito restritos, eu queria cobrir todos os aspectos da experiência de uma pessoa com o sistema, incluindo design industrial, gráficos, a interface, a interação física e o manual.”</a:t>
            </a:r>
          </a:p>
          <a:p>
            <a:pPr marL="36900" lvl="0" indent="0" rtl="0">
              <a:buNone/>
            </a:pPr>
            <a:endParaRPr lang="pt-BR" sz="7600" dirty="0"/>
          </a:p>
          <a:p>
            <a:pPr marL="36900" lvl="0" indent="0" algn="r" rtl="0">
              <a:buNone/>
            </a:pPr>
            <a:r>
              <a:rPr lang="pt-BR" sz="7600" dirty="0"/>
              <a:t>Donald Norman</a:t>
            </a:r>
          </a:p>
        </p:txBody>
      </p:sp>
    </p:spTree>
    <p:extLst>
      <p:ext uri="{BB962C8B-B14F-4D97-AF65-F5344CB8AC3E}">
        <p14:creationId xmlns:p14="http://schemas.microsoft.com/office/powerpoint/2010/main" val="786327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Experiência do Usuário (UX)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67" y="2108201"/>
            <a:ext cx="7261013" cy="3760891"/>
          </a:xfrm>
        </p:spPr>
        <p:txBody>
          <a:bodyPr>
            <a:normAutofit fontScale="92500" lnSpcReduction="10000"/>
          </a:bodyPr>
          <a:lstStyle/>
          <a:p>
            <a:r>
              <a:rPr lang="pt-BR" sz="3500" dirty="0">
                <a:solidFill>
                  <a:schemeClr val="tx2"/>
                </a:solidFill>
              </a:rPr>
              <a:t>"É o modo como você experiencia o mundo, é o modo como você experiencia sua vida, é o modo como você experiencia um serviço." </a:t>
            </a:r>
          </a:p>
          <a:p>
            <a:endParaRPr lang="pt-BR" sz="4000" dirty="0">
              <a:solidFill>
                <a:schemeClr val="tx2"/>
              </a:solidFill>
            </a:endParaRPr>
          </a:p>
          <a:p>
            <a:r>
              <a:rPr lang="pt-BR" sz="3900" dirty="0">
                <a:solidFill>
                  <a:schemeClr val="tx2"/>
                </a:solidFill>
              </a:rPr>
              <a:t>Donald Norman</a:t>
            </a:r>
          </a:p>
        </p:txBody>
      </p:sp>
      <p:pic>
        <p:nvPicPr>
          <p:cNvPr id="4" name="Espaço Reservado para Conteúdo 6" descr="Uma imagem contendo grupo&#10;&#10;Descrição gerada automaticamente">
            <a:extLst>
              <a:ext uri="{FF2B5EF4-FFF2-40B4-BE49-F238E27FC236}">
                <a16:creationId xmlns:a16="http://schemas.microsoft.com/office/drawing/2014/main" id="{D669BE0D-6CC3-4D44-A16A-53D459BB2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997" y="2181224"/>
            <a:ext cx="2434522" cy="332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311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Experiência do Usuário (UX)</a:t>
            </a:r>
            <a:endParaRPr lang="pt-BR" dirty="0"/>
          </a:p>
        </p:txBody>
      </p:sp>
      <p:pic>
        <p:nvPicPr>
          <p:cNvPr id="7" name="Espaço Reservado para Conteúdo 10" descr="Caminho de terra do lado de uma placa&#10;&#10;Descrição gerada automaticamente">
            <a:extLst>
              <a:ext uri="{FF2B5EF4-FFF2-40B4-BE49-F238E27FC236}">
                <a16:creationId xmlns:a16="http://schemas.microsoft.com/office/drawing/2014/main" id="{47F5FA92-0D24-465F-AA8B-7AFE8BFFB9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7323" y="2108200"/>
            <a:ext cx="7197680" cy="3760788"/>
          </a:xfrm>
        </p:spPr>
      </p:pic>
    </p:spTree>
    <p:extLst>
      <p:ext uri="{BB962C8B-B14F-4D97-AF65-F5344CB8AC3E}">
        <p14:creationId xmlns:p14="http://schemas.microsoft.com/office/powerpoint/2010/main" val="3837927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Experiência do Usuário (UX)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lvl="0" indent="0" rtl="0">
              <a:buNone/>
            </a:pPr>
            <a:r>
              <a:rPr lang="pt-BR" sz="3300" dirty="0"/>
              <a:t>“Em UX, não existe um padrão de design ‘tamanho único’ para uma determinada situação.”</a:t>
            </a:r>
          </a:p>
          <a:p>
            <a:pPr marL="36900" lvl="0" indent="0" rtl="0">
              <a:buNone/>
            </a:pPr>
            <a:endParaRPr lang="pt-BR" sz="3300" dirty="0"/>
          </a:p>
          <a:p>
            <a:pPr marL="36900" lvl="0" indent="0" algn="r" rtl="0">
              <a:buNone/>
            </a:pPr>
            <a:r>
              <a:rPr lang="pt-BR" sz="2800" dirty="0"/>
              <a:t>Mike </a:t>
            </a:r>
            <a:r>
              <a:rPr lang="pt-BR" sz="2800" dirty="0" err="1"/>
              <a:t>Atherton</a:t>
            </a:r>
            <a:r>
              <a:rPr lang="pt-BR" sz="2800" dirty="0"/>
              <a:t>.  UX </a:t>
            </a:r>
            <a:r>
              <a:rPr lang="pt-BR" sz="2800" dirty="0" err="1"/>
              <a:t>is</a:t>
            </a:r>
            <a:r>
              <a:rPr lang="pt-BR" sz="2800" dirty="0"/>
              <a:t> UI. 2015</a:t>
            </a:r>
          </a:p>
          <a:p>
            <a:pPr marL="36900" lvl="0" indent="0" algn="r" rtl="0">
              <a:buNone/>
            </a:pPr>
            <a:r>
              <a:rPr lang="pt-BR" sz="1800" dirty="0"/>
              <a:t>Disponível em: https://medium.com/@mikeatherton/ux-is-ui-105460807734</a:t>
            </a:r>
          </a:p>
        </p:txBody>
      </p:sp>
    </p:spTree>
    <p:extLst>
      <p:ext uri="{BB962C8B-B14F-4D97-AF65-F5344CB8AC3E}">
        <p14:creationId xmlns:p14="http://schemas.microsoft.com/office/powerpoint/2010/main" val="145080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Experiência do Usuário (UX)</a:t>
            </a:r>
            <a:endParaRPr lang="pt-BR" dirty="0"/>
          </a:p>
        </p:txBody>
      </p:sp>
      <p:pic>
        <p:nvPicPr>
          <p:cNvPr id="6" name="Espaço Reservado para Conteúdo 6" descr="Gramado com árvores&#10;&#10;Descrição gerada automaticamente com confiança média">
            <a:extLst>
              <a:ext uri="{FF2B5EF4-FFF2-40B4-BE49-F238E27FC236}">
                <a16:creationId xmlns:a16="http://schemas.microsoft.com/office/drawing/2014/main" id="{F1867350-51AA-4FA2-B979-1A40BCBC4D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3663" y="2626519"/>
            <a:ext cx="9525000" cy="2724150"/>
          </a:xfrm>
        </p:spPr>
      </p:pic>
    </p:spTree>
    <p:extLst>
      <p:ext uri="{BB962C8B-B14F-4D97-AF65-F5344CB8AC3E}">
        <p14:creationId xmlns:p14="http://schemas.microsoft.com/office/powerpoint/2010/main" val="2215567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Experiência do Usuário (UX)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lvl="0" indent="0" rtl="0">
              <a:buNone/>
            </a:pPr>
            <a:endParaRPr lang="pt-BR" sz="3800" dirty="0"/>
          </a:p>
          <a:p>
            <a:pPr marL="36900" lvl="0" indent="0" rtl="0">
              <a:buNone/>
            </a:pPr>
            <a:r>
              <a:rPr lang="pt-BR" sz="3800" dirty="0"/>
              <a:t>UX é, então, uma </a:t>
            </a:r>
            <a:r>
              <a:rPr lang="pt-BR" sz="3800" b="1" dirty="0"/>
              <a:t>experiência contínua</a:t>
            </a:r>
            <a:r>
              <a:rPr lang="pt-BR" sz="3800" dirty="0"/>
              <a:t> que permite a criação de uma </a:t>
            </a:r>
            <a:r>
              <a:rPr lang="pt-BR" sz="3800" b="1" dirty="0"/>
              <a:t>relação entre sistema/produto/serviço e usuário</a:t>
            </a:r>
            <a:r>
              <a:rPr lang="pt-BR" sz="3800" dirty="0"/>
              <a:t>.</a:t>
            </a:r>
          </a:p>
          <a:p>
            <a:pPr marL="36900" lvl="0" indent="0" rtl="0">
              <a:buNone/>
            </a:pPr>
            <a:endParaRPr lang="pt-BR" sz="3800" dirty="0"/>
          </a:p>
        </p:txBody>
      </p:sp>
    </p:spTree>
    <p:extLst>
      <p:ext uri="{BB962C8B-B14F-4D97-AF65-F5344CB8AC3E}">
        <p14:creationId xmlns:p14="http://schemas.microsoft.com/office/powerpoint/2010/main" val="1790817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0AF5E16-8F98-4817-B5E0-A07841358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500" y="708500"/>
            <a:ext cx="5441000" cy="5441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0794F18-D516-4CF3-A7DA-B1E6F84826E2}"/>
              </a:ext>
            </a:extLst>
          </p:cNvPr>
          <p:cNvSpPr txBox="1"/>
          <p:nvPr/>
        </p:nvSpPr>
        <p:spPr>
          <a:xfrm>
            <a:off x="8026400" y="549646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UX, </a:t>
            </a:r>
            <a:r>
              <a:rPr lang="en-US" sz="2400" dirty="0" err="1"/>
              <a:t>por</a:t>
            </a:r>
            <a:r>
              <a:rPr lang="en-US" sz="2400" dirty="0"/>
              <a:t> Dan </a:t>
            </a:r>
            <a:r>
              <a:rPr lang="en-US" sz="2400" dirty="0" err="1"/>
              <a:t>Saffer</a:t>
            </a:r>
            <a:r>
              <a:rPr lang="en-US" sz="2400" dirty="0"/>
              <a:t> (2009)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921063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Experiência do Usuário (UX)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4000" dirty="0"/>
              <a:t>Foco no usuário:</a:t>
            </a:r>
          </a:p>
          <a:p>
            <a:pPr lvl="1"/>
            <a:r>
              <a:rPr lang="pt-BR" sz="3600" dirty="0"/>
              <a:t>Quais as características do usuário?</a:t>
            </a:r>
          </a:p>
          <a:p>
            <a:pPr lvl="2"/>
            <a:r>
              <a:rPr lang="pt-BR" sz="3200" dirty="0"/>
              <a:t>Ex.: idade, nível de instrução, classe social...</a:t>
            </a:r>
          </a:p>
          <a:p>
            <a:pPr lvl="1"/>
            <a:r>
              <a:rPr lang="pt-BR" sz="3600" dirty="0"/>
              <a:t>Quais as necessidades do usuário?</a:t>
            </a:r>
          </a:p>
          <a:p>
            <a:pPr lvl="2"/>
            <a:r>
              <a:rPr lang="pt-BR" sz="3200" dirty="0"/>
              <a:t>Contratar um serviço, comprar um produto...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8191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Experiência do Usuário (UX)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Foco no usuário:</a:t>
            </a:r>
          </a:p>
          <a:p>
            <a:pPr lvl="1"/>
            <a:r>
              <a:rPr lang="pt-BR" sz="3600" dirty="0"/>
              <a:t>Quais os desejos do usuário?</a:t>
            </a:r>
          </a:p>
          <a:p>
            <a:pPr lvl="2"/>
            <a:r>
              <a:rPr lang="pt-BR" sz="3200" dirty="0"/>
              <a:t>Ex.: viver em frente ao mar, conhecer o Caribe</a:t>
            </a:r>
          </a:p>
          <a:p>
            <a:pPr lvl="1"/>
            <a:r>
              <a:rPr lang="pt-BR" sz="3600" dirty="0"/>
              <a:t>Quais as dificuldades do usuário?</a:t>
            </a:r>
          </a:p>
          <a:p>
            <a:pPr lvl="2"/>
            <a:r>
              <a:rPr lang="pt-BR" sz="3200" dirty="0"/>
              <a:t>Ex.: limitações motoras, pouca familiaridade com tecnologia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8437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Experiência do Usuário (UX)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Entender necessidades e desejos do usuário/cliente através de testes de usabilidade</a:t>
            </a:r>
          </a:p>
          <a:p>
            <a:pPr lvl="1"/>
            <a:r>
              <a:rPr lang="pt-BR" sz="3100" dirty="0"/>
              <a:t>Questionários (pesquisa quantitativa)</a:t>
            </a:r>
          </a:p>
          <a:p>
            <a:pPr lvl="2"/>
            <a:r>
              <a:rPr lang="pt-BR" sz="2800" dirty="0"/>
              <a:t>Google </a:t>
            </a:r>
            <a:r>
              <a:rPr lang="pt-BR" sz="2800" dirty="0" err="1"/>
              <a:t>Forms</a:t>
            </a:r>
            <a:r>
              <a:rPr lang="pt-BR" sz="2800" dirty="0"/>
              <a:t>, </a:t>
            </a:r>
            <a:r>
              <a:rPr lang="pt-BR" sz="2800" dirty="0" err="1"/>
              <a:t>Survey</a:t>
            </a:r>
            <a:r>
              <a:rPr lang="pt-BR" sz="2800" dirty="0"/>
              <a:t> </a:t>
            </a:r>
            <a:r>
              <a:rPr lang="pt-BR" sz="2800" dirty="0" err="1"/>
              <a:t>Monkey</a:t>
            </a:r>
            <a:r>
              <a:rPr lang="pt-BR" sz="2800" dirty="0"/>
              <a:t> etc.</a:t>
            </a:r>
          </a:p>
          <a:p>
            <a:pPr lvl="1"/>
            <a:r>
              <a:rPr lang="pt-BR" sz="3100" dirty="0"/>
              <a:t>Entrevistas (pesquisa qualitativa)</a:t>
            </a:r>
          </a:p>
          <a:p>
            <a:pPr lvl="2"/>
            <a:r>
              <a:rPr lang="pt-BR" sz="2800" dirty="0"/>
              <a:t>Áudio e vídeo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8424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0630E8-4864-4D96-981C-2DBEE33B4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da informação (AI)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E01CD4-E767-4359-8BA4-8DD269EFE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Utilizar dados coletados (UX) para </a:t>
            </a:r>
            <a:r>
              <a:rPr lang="pt-BR" sz="3200" b="1" dirty="0"/>
              <a:t>rascunhar as primeiras soluções</a:t>
            </a:r>
            <a:r>
              <a:rPr lang="pt-BR" sz="3200" dirty="0"/>
              <a:t>, planejando as primeiras funcionalidades do sistema</a:t>
            </a:r>
          </a:p>
          <a:p>
            <a:r>
              <a:rPr lang="pt-BR" sz="3200" dirty="0"/>
              <a:t>Pensa no </a:t>
            </a:r>
            <a:r>
              <a:rPr lang="pt-BR" sz="3200" b="1" dirty="0"/>
              <a:t>fluxo do usuário e cria </a:t>
            </a:r>
            <a:r>
              <a:rPr lang="pt-BR" sz="3200" b="1" i="1" dirty="0" err="1"/>
              <a:t>wireframes</a:t>
            </a:r>
            <a:r>
              <a:rPr lang="pt-BR" sz="3200" dirty="0"/>
              <a:t>, tornando o sistema eficiente para o fim pretendido</a:t>
            </a:r>
          </a:p>
        </p:txBody>
      </p:sp>
    </p:spTree>
    <p:extLst>
      <p:ext uri="{BB962C8B-B14F-4D97-AF65-F5344CB8AC3E}">
        <p14:creationId xmlns:p14="http://schemas.microsoft.com/office/powerpoint/2010/main" val="3931619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Figma e FigJam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lvl="0" indent="0" rtl="0">
              <a:buNone/>
            </a:pPr>
            <a:endParaRPr lang="pt-BR" sz="3600" dirty="0"/>
          </a:p>
          <a:p>
            <a:pPr marL="36900" lvl="0" indent="0" rtl="0">
              <a:buNone/>
            </a:pPr>
            <a:r>
              <a:rPr lang="pt-BR" sz="3600" dirty="0"/>
              <a:t>Apresentação da ferramenta:</a:t>
            </a:r>
          </a:p>
          <a:p>
            <a:pPr marL="36900" lvl="0" indent="0" rtl="0">
              <a:buNone/>
            </a:pPr>
            <a:r>
              <a:rPr lang="pt-BR" sz="3600" dirty="0"/>
              <a:t>https://www.figma.com/</a:t>
            </a:r>
          </a:p>
        </p:txBody>
      </p:sp>
    </p:spTree>
    <p:extLst>
      <p:ext uri="{BB962C8B-B14F-4D97-AF65-F5344CB8AC3E}">
        <p14:creationId xmlns:p14="http://schemas.microsoft.com/office/powerpoint/2010/main" val="3780311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D0E507B-68C8-47C5-A8F5-053F5EB5E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54" y="0"/>
            <a:ext cx="8663693" cy="639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502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Fluxo do Usuário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lvl="0" indent="0" rtl="0">
              <a:buNone/>
            </a:pPr>
            <a:r>
              <a:rPr lang="pt-BR" sz="3600" dirty="0"/>
              <a:t>Ajuda a definir:</a:t>
            </a:r>
          </a:p>
          <a:p>
            <a:pPr marL="901008" lvl="1" indent="-571500"/>
            <a:r>
              <a:rPr lang="pt-BR" sz="3400" dirty="0"/>
              <a:t>Quantas telas terá o App</a:t>
            </a:r>
          </a:p>
          <a:p>
            <a:pPr marL="901008" lvl="1" indent="-571500"/>
            <a:r>
              <a:rPr lang="pt-BR" sz="3400" dirty="0"/>
              <a:t>Quão grande ou pequeno é o projeto</a:t>
            </a:r>
          </a:p>
          <a:p>
            <a:pPr marL="901008" lvl="1" indent="-571500"/>
            <a:r>
              <a:rPr lang="pt-BR" sz="3400" dirty="0"/>
              <a:t>Bom para apresentar para as partes envolvidas</a:t>
            </a:r>
          </a:p>
        </p:txBody>
      </p:sp>
    </p:spTree>
    <p:extLst>
      <p:ext uri="{BB962C8B-B14F-4D97-AF65-F5344CB8AC3E}">
        <p14:creationId xmlns:p14="http://schemas.microsoft.com/office/powerpoint/2010/main" val="498064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2EB25C25-F559-4489-AA37-82C9614A8463}"/>
              </a:ext>
            </a:extLst>
          </p:cNvPr>
          <p:cNvSpPr txBox="1">
            <a:spLocks/>
          </p:cNvSpPr>
          <p:nvPr/>
        </p:nvSpPr>
        <p:spPr>
          <a:xfrm>
            <a:off x="8560201" y="113211"/>
            <a:ext cx="3587932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500" b="1" i="1" dirty="0">
                <a:solidFill>
                  <a:schemeClr val="tx2"/>
                </a:solidFill>
              </a:rPr>
              <a:t>Wireframe</a:t>
            </a:r>
          </a:p>
          <a:p>
            <a:r>
              <a:rPr lang="pt-BR" sz="3200" dirty="0">
                <a:solidFill>
                  <a:schemeClr val="tx2"/>
                </a:solidFill>
              </a:rPr>
              <a:t>Protótipo de baixa fidelidade</a:t>
            </a:r>
            <a:endParaRPr lang="pt-BR" sz="3600" dirty="0">
              <a:solidFill>
                <a:schemeClr val="tx2"/>
              </a:solidFill>
            </a:endParaRPr>
          </a:p>
        </p:txBody>
      </p:sp>
      <p:pic>
        <p:nvPicPr>
          <p:cNvPr id="7" name="Imagem 6" descr="Calendário&#10;&#10;Descrição gerada automaticamente">
            <a:extLst>
              <a:ext uri="{FF2B5EF4-FFF2-40B4-BE49-F238E27FC236}">
                <a16:creationId xmlns:a16="http://schemas.microsoft.com/office/drawing/2014/main" id="{33677C69-84BD-4806-902C-5F70D053B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8560201" cy="642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555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A5C198E-7ECF-4218-8B35-A7ACCAE43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331397" cy="6399368"/>
          </a:xfrm>
          <a:prstGeom prst="rect">
            <a:avLst/>
          </a:prstGeom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2EB25C25-F559-4489-AA37-82C9614A8463}"/>
              </a:ext>
            </a:extLst>
          </p:cNvPr>
          <p:cNvSpPr txBox="1">
            <a:spLocks/>
          </p:cNvSpPr>
          <p:nvPr/>
        </p:nvSpPr>
        <p:spPr>
          <a:xfrm>
            <a:off x="8331397" y="113211"/>
            <a:ext cx="3587932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500" b="1" i="1" dirty="0" err="1">
                <a:solidFill>
                  <a:schemeClr val="tx2"/>
                </a:solidFill>
              </a:rPr>
              <a:t>Wireframe</a:t>
            </a:r>
            <a:endParaRPr lang="pt-BR" sz="3500" b="1" i="1" dirty="0">
              <a:solidFill>
                <a:schemeClr val="tx2"/>
              </a:solidFill>
            </a:endParaRPr>
          </a:p>
          <a:p>
            <a:r>
              <a:rPr lang="pt-BR" sz="3200" dirty="0">
                <a:solidFill>
                  <a:schemeClr val="tx2"/>
                </a:solidFill>
              </a:rPr>
              <a:t>Protótipo de média fidelidade</a:t>
            </a:r>
            <a:endParaRPr lang="pt-BR" sz="3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3367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Conteúdo 6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94F56A1F-0157-4C06-B276-EB06C4110B4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2"/>
          <a:srcRect l="4436" t="7356" r="5242" b="7645"/>
          <a:stretch/>
        </p:blipFill>
        <p:spPr>
          <a:xfrm>
            <a:off x="1219200" y="966651"/>
            <a:ext cx="9753600" cy="5428343"/>
          </a:xfr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500" b="1" dirty="0">
                <a:solidFill>
                  <a:schemeClr val="tx2"/>
                </a:solidFill>
              </a:rPr>
              <a:t>Protótipo de alta fidelidade</a:t>
            </a:r>
            <a:endParaRPr lang="pt-BR" sz="3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298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0630E8-4864-4D96-981C-2DBEE33B4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Interface do Usuário (UI)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E01CD4-E767-4359-8BA4-8DD269EFE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pt-BR" sz="3200" dirty="0"/>
              <a:t>Associado à criação de </a:t>
            </a:r>
            <a:r>
              <a:rPr lang="pt-BR" sz="3200" b="1" dirty="0"/>
              <a:t>ferramentas que darão controle do sistema ao usuário</a:t>
            </a:r>
          </a:p>
          <a:p>
            <a:pPr>
              <a:lnSpc>
                <a:spcPct val="120000"/>
              </a:lnSpc>
            </a:pPr>
            <a:r>
              <a:rPr lang="pt-BR" sz="3200" dirty="0"/>
              <a:t>Planejamento dos aspectos finais do sistema: botões, ícones, cores, tipografias, imagens etc. Foco no aspecto visual da aplicação</a:t>
            </a:r>
          </a:p>
          <a:p>
            <a:pPr>
              <a:lnSpc>
                <a:spcPct val="120000"/>
              </a:lnSpc>
            </a:pPr>
            <a:r>
              <a:rPr lang="pt-BR" sz="3200" dirty="0"/>
              <a:t>Cria caminhos para efetivar a comunicação entre usuário e sistema</a:t>
            </a:r>
          </a:p>
        </p:txBody>
      </p:sp>
    </p:spTree>
    <p:extLst>
      <p:ext uri="{BB962C8B-B14F-4D97-AF65-F5344CB8AC3E}">
        <p14:creationId xmlns:p14="http://schemas.microsoft.com/office/powerpoint/2010/main" val="18388757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0630E8-4864-4D96-981C-2DBEE33B4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UI -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E01CD4-E767-4359-8BA4-8DD269EFE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9904095" cy="376089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endParaRPr lang="pt-BR" sz="3200" dirty="0"/>
          </a:p>
          <a:p>
            <a:pPr>
              <a:lnSpc>
                <a:spcPct val="120000"/>
              </a:lnSpc>
            </a:pPr>
            <a:r>
              <a:rPr lang="pt-BR" sz="3200" dirty="0"/>
              <a:t>“A capacidade do produto de </a:t>
            </a:r>
            <a:r>
              <a:rPr lang="pt-BR" sz="3200" i="1" dirty="0"/>
              <a:t>software</a:t>
            </a:r>
            <a:r>
              <a:rPr lang="pt-BR" sz="3200" dirty="0"/>
              <a:t> de ser compreendido, aprendido, operado e atraente ao usuário, quando usado sob condições especificadas.” [1] </a:t>
            </a:r>
          </a:p>
        </p:txBody>
      </p:sp>
    </p:spTree>
    <p:extLst>
      <p:ext uri="{BB962C8B-B14F-4D97-AF65-F5344CB8AC3E}">
        <p14:creationId xmlns:p14="http://schemas.microsoft.com/office/powerpoint/2010/main" val="40751273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0630E8-4864-4D96-981C-2DBEE33B4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UI –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E01CD4-E767-4359-8BA4-8DD269EFE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9904095" cy="376089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pt-BR" sz="3200" dirty="0"/>
              <a:t> Inteligibilidade</a:t>
            </a:r>
          </a:p>
          <a:p>
            <a:pPr lvl="1">
              <a:lnSpc>
                <a:spcPct val="120000"/>
              </a:lnSpc>
            </a:pPr>
            <a:r>
              <a:rPr lang="pt-BR" sz="3000" dirty="0"/>
              <a:t>“Capacidade do produto de software de possibilitar ao usuário compreender se o software é apropriado e como ele pode ser usado para tarefas e condições de uso específicas.” [1]</a:t>
            </a:r>
          </a:p>
        </p:txBody>
      </p:sp>
    </p:spTree>
    <p:extLst>
      <p:ext uri="{BB962C8B-B14F-4D97-AF65-F5344CB8AC3E}">
        <p14:creationId xmlns:p14="http://schemas.microsoft.com/office/powerpoint/2010/main" val="6143204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0630E8-4864-4D96-981C-2DBEE33B4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UI –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E01CD4-E767-4359-8BA4-8DD269EFE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9904095" cy="376089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pt-BR" sz="3200" dirty="0"/>
              <a:t> </a:t>
            </a:r>
            <a:r>
              <a:rPr lang="pt-BR" sz="3200" dirty="0" err="1"/>
              <a:t>Apreensibilidade</a:t>
            </a:r>
            <a:endParaRPr lang="pt-BR" sz="3200" dirty="0"/>
          </a:p>
          <a:p>
            <a:pPr lvl="1">
              <a:lnSpc>
                <a:spcPct val="120000"/>
              </a:lnSpc>
            </a:pPr>
            <a:r>
              <a:rPr lang="pt-BR" sz="3000" dirty="0"/>
              <a:t>“Capacidade do produto de software de possibilitar ao usuário aprender sua aplicação.” [1]</a:t>
            </a:r>
          </a:p>
        </p:txBody>
      </p:sp>
    </p:spTree>
    <p:extLst>
      <p:ext uri="{BB962C8B-B14F-4D97-AF65-F5344CB8AC3E}">
        <p14:creationId xmlns:p14="http://schemas.microsoft.com/office/powerpoint/2010/main" val="23472441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0630E8-4864-4D96-981C-2DBEE33B4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UI –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E01CD4-E767-4359-8BA4-8DD269EFE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9904095" cy="376089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pt-BR" sz="3200" dirty="0"/>
              <a:t>Operacionalidade</a:t>
            </a:r>
          </a:p>
          <a:p>
            <a:pPr lvl="1">
              <a:lnSpc>
                <a:spcPct val="120000"/>
              </a:lnSpc>
            </a:pPr>
            <a:r>
              <a:rPr lang="pt-BR" sz="3000" dirty="0"/>
              <a:t>“Capacidade do produto de software de possibilitar ao usuário operá-lo e controlá-lo.” [1]</a:t>
            </a:r>
          </a:p>
        </p:txBody>
      </p:sp>
    </p:spTree>
    <p:extLst>
      <p:ext uri="{BB962C8B-B14F-4D97-AF65-F5344CB8AC3E}">
        <p14:creationId xmlns:p14="http://schemas.microsoft.com/office/powerpoint/2010/main" val="472257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0630E8-4864-4D96-981C-2DBEE33B4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UI –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E01CD4-E767-4359-8BA4-8DD269EFE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9904095" cy="376089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pt-BR" sz="3200" dirty="0"/>
              <a:t>Atratividade</a:t>
            </a:r>
          </a:p>
          <a:p>
            <a:pPr lvl="1">
              <a:lnSpc>
                <a:spcPct val="120000"/>
              </a:lnSpc>
            </a:pPr>
            <a:r>
              <a:rPr lang="pt-BR" sz="3000" dirty="0"/>
              <a:t>“Capacidade do produto de software de ser atraente ao usuário.” [1]</a:t>
            </a:r>
          </a:p>
        </p:txBody>
      </p:sp>
    </p:spTree>
    <p:extLst>
      <p:ext uri="{BB962C8B-B14F-4D97-AF65-F5344CB8AC3E}">
        <p14:creationId xmlns:p14="http://schemas.microsoft.com/office/powerpoint/2010/main" val="35622317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0630E8-4864-4D96-981C-2DBEE33B4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UI –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E01CD4-E767-4359-8BA4-8DD269EFE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9904095" cy="376089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pt-BR" sz="3200" dirty="0"/>
              <a:t>Conformidade relacionada à usabilidade</a:t>
            </a:r>
          </a:p>
          <a:p>
            <a:pPr lvl="1">
              <a:lnSpc>
                <a:spcPct val="120000"/>
              </a:lnSpc>
            </a:pPr>
            <a:r>
              <a:rPr lang="pt-BR" sz="3000" dirty="0"/>
              <a:t>“Capacidade do produto de software de estar de acordo com normas, convenções, guias de estilo ou regulamentações relacionadas à usabilidade.” [1]</a:t>
            </a:r>
          </a:p>
        </p:txBody>
      </p:sp>
    </p:spTree>
    <p:extLst>
      <p:ext uri="{BB962C8B-B14F-4D97-AF65-F5344CB8AC3E}">
        <p14:creationId xmlns:p14="http://schemas.microsoft.com/office/powerpoint/2010/main" val="33737740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0630E8-4864-4D96-981C-2DBEE33B4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Design de Interação (</a:t>
            </a:r>
            <a:r>
              <a:rPr lang="pt-BR" dirty="0" err="1"/>
              <a:t>IxD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E01CD4-E767-4359-8BA4-8DD269EFE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pt-BR" sz="3200" dirty="0"/>
              <a:t>Estudar o comportamento de artefatos interativos</a:t>
            </a:r>
          </a:p>
          <a:p>
            <a:pPr lvl="1">
              <a:lnSpc>
                <a:spcPct val="120000"/>
              </a:lnSpc>
            </a:pPr>
            <a:r>
              <a:rPr lang="pt-BR" sz="3000" dirty="0"/>
              <a:t>Artefatos interativos são produtos, sistemas que geram feedback quando acionados</a:t>
            </a:r>
          </a:p>
          <a:p>
            <a:pPr>
              <a:lnSpc>
                <a:spcPct val="120000"/>
              </a:lnSpc>
            </a:pPr>
            <a:r>
              <a:rPr lang="pt-BR" sz="3200" dirty="0"/>
              <a:t>Criar interações que não exijam esforço</a:t>
            </a:r>
          </a:p>
          <a:p>
            <a:pPr>
              <a:lnSpc>
                <a:spcPct val="120000"/>
              </a:lnSpc>
            </a:pPr>
            <a:r>
              <a:rPr lang="pt-BR" sz="3200" dirty="0"/>
              <a:t>Criar interações significativas</a:t>
            </a:r>
          </a:p>
        </p:txBody>
      </p:sp>
    </p:spTree>
    <p:extLst>
      <p:ext uri="{BB962C8B-B14F-4D97-AF65-F5344CB8AC3E}">
        <p14:creationId xmlns:p14="http://schemas.microsoft.com/office/powerpoint/2010/main" val="42817395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0630E8-4864-4D96-981C-2DBEE33B4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E01CD4-E767-4359-8BA4-8DD269EFE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[1] ISO/IEC 9126. </a:t>
            </a:r>
            <a:r>
              <a:rPr lang="pt-BR" sz="2000" b="1" dirty="0"/>
              <a:t>Engenharia de software - Qualidade do produto.</a:t>
            </a:r>
          </a:p>
        </p:txBody>
      </p:sp>
    </p:spTree>
    <p:extLst>
      <p:ext uri="{BB962C8B-B14F-4D97-AF65-F5344CB8AC3E}">
        <p14:creationId xmlns:p14="http://schemas.microsoft.com/office/powerpoint/2010/main" val="2036558995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15_TF33845126.potx" id="{07B33CC6-269C-4DD5-9017-A83AF51479F7}" vid="{03982E99-A52E-4A57-A229-288B0228341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6CD9086B7A0143806617CD13B66A8F" ma:contentTypeVersion="3" ma:contentTypeDescription="Crie um novo documento." ma:contentTypeScope="" ma:versionID="f67abba2a757b4e9f9ef05b483d644cd">
  <xsd:schema xmlns:xsd="http://www.w3.org/2001/XMLSchema" xmlns:xs="http://www.w3.org/2001/XMLSchema" xmlns:p="http://schemas.microsoft.com/office/2006/metadata/properties" xmlns:ns2="dd357385-7d55-4120-8587-028bbaf63831" targetNamespace="http://schemas.microsoft.com/office/2006/metadata/properties" ma:root="true" ma:fieldsID="4949aea425c52062a86f7981ec51afe7" ns2:_="">
    <xsd:import namespace="dd357385-7d55-4120-8587-028bbaf638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357385-7d55-4120-8587-028bbaf638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933669C-5C52-43D3-BD90-1D49CD10DC65}"/>
</file>

<file path=customXml/itemProps3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16c05727-aa75-4e4a-9b5f-8a80a1165891"/>
    <ds:schemaRef ds:uri="71af3243-3dd4-4a8d-8c0d-dd76da1f02a5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{D129E361-7900-47DF-B65A-C5D6D83378F0}tf33845126_win32</Template>
  <TotalTime>129</TotalTime>
  <Words>764</Words>
  <Application>Microsoft Office PowerPoint</Application>
  <PresentationFormat>Ecrã Panorâmico</PresentationFormat>
  <Paragraphs>107</Paragraphs>
  <Slides>31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31</vt:i4>
      </vt:variant>
    </vt:vector>
  </HeadingPairs>
  <TitlesOfParts>
    <vt:vector size="32" baseType="lpstr">
      <vt:lpstr>1_RetrospectVTI</vt:lpstr>
      <vt:lpstr>UX E UI DESIGN</vt:lpstr>
      <vt:lpstr>Curso: Tecnologia em Análise e Desenvolvimento de Sistemas</vt:lpstr>
      <vt:lpstr>Projeto de Interface com o Usuário</vt:lpstr>
      <vt:lpstr>Projeto de Interface com o Usuário</vt:lpstr>
      <vt:lpstr>Projeto de Interface com o Usuário</vt:lpstr>
      <vt:lpstr>Experiência do Usuário (UX)</vt:lpstr>
      <vt:lpstr>Experiência do Usuário (UX)</vt:lpstr>
      <vt:lpstr>Experiência do Usuário (UX)</vt:lpstr>
      <vt:lpstr>Experiência do Usuário (UX)</vt:lpstr>
      <vt:lpstr>Experiência do Usuário (UX)</vt:lpstr>
      <vt:lpstr>Experiência do Usuário (UX)</vt:lpstr>
      <vt:lpstr>Apresentação do PowerPoint</vt:lpstr>
      <vt:lpstr>Experiência do Usuário (UX)</vt:lpstr>
      <vt:lpstr>Experiência do Usuário (UX)</vt:lpstr>
      <vt:lpstr>Experiência do Usuário (UX)</vt:lpstr>
      <vt:lpstr>Arquitetura da informação (AI) </vt:lpstr>
      <vt:lpstr>Figma e FigJam</vt:lpstr>
      <vt:lpstr>Apresentação do PowerPoint</vt:lpstr>
      <vt:lpstr>Fluxo do Usuário</vt:lpstr>
      <vt:lpstr>Apresentação do PowerPoint</vt:lpstr>
      <vt:lpstr>Apresentação do PowerPoint</vt:lpstr>
      <vt:lpstr>Apresentação do PowerPoint</vt:lpstr>
      <vt:lpstr>Interface do Usuário (UI)</vt:lpstr>
      <vt:lpstr>UI - Usabilidade</vt:lpstr>
      <vt:lpstr>UI – Usabilidade</vt:lpstr>
      <vt:lpstr>UI – Usabilidade</vt:lpstr>
      <vt:lpstr>UI – Usabilidade</vt:lpstr>
      <vt:lpstr>UI – Usabilidade</vt:lpstr>
      <vt:lpstr>UI – Usabilidade</vt:lpstr>
      <vt:lpstr>Design de Interação (IxD)</vt:lpstr>
      <vt:lpstr>Referências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de software para Internet</dc:title>
  <dc:creator>Flávio Waltz</dc:creator>
  <cp:lastModifiedBy>Flávio Waltz</cp:lastModifiedBy>
  <cp:revision>20</cp:revision>
  <dcterms:created xsi:type="dcterms:W3CDTF">2022-08-15T17:51:41Z</dcterms:created>
  <dcterms:modified xsi:type="dcterms:W3CDTF">2026-03-27T23:13:51Z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0x0101008A6CD9086B7A0143806617CD13B66A8F</vt:lpwstr>
  </property>
</Properties>
</file>