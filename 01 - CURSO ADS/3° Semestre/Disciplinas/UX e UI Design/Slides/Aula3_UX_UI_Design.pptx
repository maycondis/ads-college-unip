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52"/>
  </p:notesMasterIdLst>
  <p:handoutMasterIdLst>
    <p:handoutMasterId r:id="rId53"/>
  </p:handoutMasterIdLst>
  <p:sldIdLst>
    <p:sldId id="268" r:id="rId5"/>
    <p:sldId id="269" r:id="rId6"/>
    <p:sldId id="378" r:id="rId7"/>
    <p:sldId id="424" r:id="rId8"/>
    <p:sldId id="421" r:id="rId9"/>
    <p:sldId id="416" r:id="rId10"/>
    <p:sldId id="417" r:id="rId11"/>
    <p:sldId id="447" r:id="rId12"/>
    <p:sldId id="449" r:id="rId13"/>
    <p:sldId id="450" r:id="rId14"/>
    <p:sldId id="448" r:id="rId15"/>
    <p:sldId id="419" r:id="rId16"/>
    <p:sldId id="423" r:id="rId17"/>
    <p:sldId id="422" r:id="rId18"/>
    <p:sldId id="426" r:id="rId19"/>
    <p:sldId id="427" r:id="rId20"/>
    <p:sldId id="425" r:id="rId21"/>
    <p:sldId id="431" r:id="rId22"/>
    <p:sldId id="451" r:id="rId23"/>
    <p:sldId id="452" r:id="rId24"/>
    <p:sldId id="453" r:id="rId25"/>
    <p:sldId id="430" r:id="rId26"/>
    <p:sldId id="429" r:id="rId27"/>
    <p:sldId id="428" r:id="rId28"/>
    <p:sldId id="432" r:id="rId29"/>
    <p:sldId id="433" r:id="rId30"/>
    <p:sldId id="434" r:id="rId31"/>
    <p:sldId id="435" r:id="rId32"/>
    <p:sldId id="436" r:id="rId33"/>
    <p:sldId id="380" r:id="rId34"/>
    <p:sldId id="440" r:id="rId35"/>
    <p:sldId id="442" r:id="rId36"/>
    <p:sldId id="443" r:id="rId37"/>
    <p:sldId id="454" r:id="rId38"/>
    <p:sldId id="444" r:id="rId39"/>
    <p:sldId id="437" r:id="rId40"/>
    <p:sldId id="438" r:id="rId41"/>
    <p:sldId id="445" r:id="rId42"/>
    <p:sldId id="446" r:id="rId43"/>
    <p:sldId id="385" r:id="rId44"/>
    <p:sldId id="387" r:id="rId45"/>
    <p:sldId id="456" r:id="rId46"/>
    <p:sldId id="388" r:id="rId47"/>
    <p:sldId id="457" r:id="rId48"/>
    <p:sldId id="389" r:id="rId49"/>
    <p:sldId id="458" r:id="rId50"/>
    <p:sldId id="390" r:id="rId5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DCD9"/>
    <a:srgbClr val="EC7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E81B3-63F4-71E3-7F65-B22D9B26B81E}" v="3" dt="2026-03-27T12:31:43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19" autoAdjust="0"/>
  </p:normalViewPr>
  <p:slideViewPr>
    <p:cSldViewPr snapToGrid="0">
      <p:cViewPr varScale="1">
        <p:scale>
          <a:sx n="102" d="100"/>
          <a:sy n="102" d="100"/>
        </p:scale>
        <p:origin x="87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MOREIRA" userId="S::gabriel.moreira52@aluno.unip.br::069be17d-376a-4801-b115-1747a634cb96" providerId="AD" clId="Web-{1BBE81B3-63F4-71E3-7F65-B22D9B26B81E}"/>
    <pc:docChg chg="mod modSld addMainMaster delMainMaster">
      <pc:chgData name="GABRIEL MOREIRA" userId="S::gabriel.moreira52@aluno.unip.br::069be17d-376a-4801-b115-1747a634cb96" providerId="AD" clId="Web-{1BBE81B3-63F4-71E3-7F65-B22D9B26B81E}" dt="2026-03-27T12:31:43.626" v="2"/>
      <pc:docMkLst>
        <pc:docMk/>
      </pc:docMkLst>
      <pc:sldChg chg="delSp modSp mod modClrScheme delDesignElem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912747309" sldId="268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912747309" sldId="268"/>
            <ac:spMk id="2" creationId="{4010AF38-26DF-48B3-952C-4A9091D6863C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912747309" sldId="268"/>
            <ac:spMk id="3" creationId="{37FC2D8F-56D2-4ADF-B439-0E09E7C37894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769127758" sldId="269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769127758" sldId="269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769127758" sldId="269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4083399255" sldId="378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4083399255" sldId="378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4083399255" sldId="378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381329081" sldId="380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381329081" sldId="380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381329081" sldId="380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637831763" sldId="385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637831763" sldId="385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637831763" sldId="385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519953309" sldId="387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519953309" sldId="387"/>
            <ac:spMk id="10" creationId="{2BC9D035-68B4-1057-729E-8F03F76D2F35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519953309" sldId="387"/>
            <ac:spMk id="12" creationId="{B48AD86C-815D-024D-BFB2-9E424DD59192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646875032" sldId="388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646875032" sldId="388"/>
            <ac:spMk id="10" creationId="{2BC9D035-68B4-1057-729E-8F03F76D2F35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646875032" sldId="388"/>
            <ac:spMk id="12" creationId="{B48AD86C-815D-024D-BFB2-9E424DD59192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866701644" sldId="389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866701644" sldId="389"/>
            <ac:spMk id="10" creationId="{2BC9D035-68B4-1057-729E-8F03F76D2F35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866701644" sldId="389"/>
            <ac:spMk id="12" creationId="{B48AD86C-815D-024D-BFB2-9E424DD59192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062761820" sldId="390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062761820" sldId="390"/>
            <ac:spMk id="10" creationId="{2BC9D035-68B4-1057-729E-8F03F76D2F35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062761820" sldId="390"/>
            <ac:spMk id="12" creationId="{B48AD86C-815D-024D-BFB2-9E424DD59192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931622655" sldId="416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931622655" sldId="416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931622655" sldId="416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500780765" sldId="417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500780765" sldId="417"/>
            <ac:spMk id="8" creationId="{CBB9229F-61B4-A8DC-F08B-7DE86C5DA7C6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500780765" sldId="417"/>
            <ac:spMk id="10" creationId="{B8F81A44-865E-5CD9-1085-743C572D0849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507386766" sldId="419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507386766" sldId="419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507386766" sldId="419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119311615" sldId="421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119311615" sldId="421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119311615" sldId="421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857142492" sldId="422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857142492" sldId="422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857142492" sldId="422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216769342" sldId="423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216769342" sldId="423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216769342" sldId="423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807305979" sldId="424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807305979" sldId="424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807305979" sldId="424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139385943" sldId="425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139385943" sldId="425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139385943" sldId="425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426598918" sldId="426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426598918" sldId="426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426598918" sldId="426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847846463" sldId="427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847846463" sldId="427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847846463" sldId="427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861540465" sldId="428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861540465" sldId="428"/>
            <ac:spMk id="8" creationId="{CBB9229F-61B4-A8DC-F08B-7DE86C5DA7C6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861540465" sldId="428"/>
            <ac:spMk id="10" creationId="{B8F81A44-865E-5CD9-1085-743C572D0849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147056262" sldId="429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147056262" sldId="429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147056262" sldId="429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858096245" sldId="430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858096245" sldId="430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858096245" sldId="430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4086625990" sldId="431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4086625990" sldId="431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4086625990" sldId="431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994091098" sldId="432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994091098" sldId="432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994091098" sldId="432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62702407" sldId="433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62702407" sldId="433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62702407" sldId="433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396817041" sldId="434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396817041" sldId="434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396817041" sldId="434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533543005" sldId="435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533543005" sldId="435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533543005" sldId="435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725805278" sldId="436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725805278" sldId="436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725805278" sldId="436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815797214" sldId="437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815797214" sldId="437"/>
            <ac:spMk id="8" creationId="{CBB9229F-61B4-A8DC-F08B-7DE86C5DA7C6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815797214" sldId="437"/>
            <ac:spMk id="10" creationId="{B8F81A44-865E-5CD9-1085-743C572D0849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875109543" sldId="438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875109543" sldId="438"/>
            <ac:spMk id="8" creationId="{CBB9229F-61B4-A8DC-F08B-7DE86C5DA7C6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875109543" sldId="438"/>
            <ac:spMk id="10" creationId="{B8F81A44-865E-5CD9-1085-743C572D0849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800017068" sldId="440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800017068" sldId="440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800017068" sldId="440"/>
            <ac:spMk id="3" creationId="{CA077081-560E-4F0E-83D0-63A6F7DCA39A}"/>
          </ac:spMkLst>
        </pc:spChg>
      </pc:sldChg>
      <pc:sldChg chg="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120324661" sldId="442"/>
        </pc:sldMkLst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134511644" sldId="443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134511644" sldId="443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134511644" sldId="443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726768557" sldId="444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726768557" sldId="444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726768557" sldId="444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478256464" sldId="445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478256464" sldId="445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478256464" sldId="445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933035097" sldId="446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933035097" sldId="446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933035097" sldId="446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888429801" sldId="447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888429801" sldId="447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888429801" sldId="447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916852569" sldId="448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916852569" sldId="448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916852569" sldId="448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626731554" sldId="449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626731554" sldId="449"/>
            <ac:spMk id="5" creationId="{A8C952E7-ACB0-D0AC-74D5-B7374ADA0B2B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626731554" sldId="449"/>
            <ac:spMk id="8" creationId="{CBB9229F-61B4-A8DC-F08B-7DE86C5DA7C6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2800982207" sldId="450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800982207" sldId="450"/>
            <ac:spMk id="8" creationId="{CBB9229F-61B4-A8DC-F08B-7DE86C5DA7C6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2800982207" sldId="450"/>
            <ac:spMk id="13" creationId="{4338B966-13B4-6E6E-6F83-8C32F513EF93}"/>
          </ac:spMkLst>
        </pc:spChg>
      </pc:sldChg>
      <pc:sldChg chg="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304029320" sldId="451"/>
        </pc:sldMkLst>
      </pc:sldChg>
      <pc:sldChg chg="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930630001" sldId="452"/>
        </pc:sldMkLst>
      </pc:sldChg>
      <pc:sldChg chg="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949818877" sldId="453"/>
        </pc:sldMkLst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688120288" sldId="454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688120288" sldId="454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688120288" sldId="454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398612254" sldId="456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398612254" sldId="456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398612254" sldId="456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3519000925" sldId="457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519000925" sldId="457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3519000925" sldId="457"/>
            <ac:spMk id="3" creationId="{CA077081-560E-4F0E-83D0-63A6F7DCA39A}"/>
          </ac:spMkLst>
        </pc:spChg>
      </pc:sldChg>
      <pc:sldChg chg="modSp mod modClrScheme chgLayout">
        <pc:chgData name="GABRIEL MOREIRA" userId="S::gabriel.moreira52@aluno.unip.br::069be17d-376a-4801-b115-1747a634cb96" providerId="AD" clId="Web-{1BBE81B3-63F4-71E3-7F65-B22D9B26B81E}" dt="2026-03-27T12:31:43.626" v="2"/>
        <pc:sldMkLst>
          <pc:docMk/>
          <pc:sldMk cId="1680709946" sldId="458"/>
        </pc:sldMkLst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680709946" sldId="458"/>
            <ac:spMk id="2" creationId="{459714DC-4AA3-4CFA-8A1F-82A95D019617}"/>
          </ac:spMkLst>
        </pc:spChg>
        <pc:spChg chg="mod ord">
          <ac:chgData name="GABRIEL MOREIRA" userId="S::gabriel.moreira52@aluno.unip.br::069be17d-376a-4801-b115-1747a634cb96" providerId="AD" clId="Web-{1BBE81B3-63F4-71E3-7F65-B22D9B26B81E}" dt="2026-03-27T12:31:43.626" v="2"/>
          <ac:spMkLst>
            <pc:docMk/>
            <pc:sldMk cId="1680709946" sldId="458"/>
            <ac:spMk id="3" creationId="{CA077081-560E-4F0E-83D0-63A6F7DCA39A}"/>
          </ac:spMkLst>
        </pc:spChg>
      </pc:sldChg>
      <pc:sldMasterChg chg="add addSldLayout modSldLayout">
        <pc:chgData name="GABRIEL MOREIRA" userId="S::gabriel.moreira52@aluno.unip.br::069be17d-376a-4801-b115-1747a634cb96" providerId="AD" clId="Web-{1BBE81B3-63F4-71E3-7F65-B22D9B26B81E}" dt="2026-03-27T12:31:43.626" v="2"/>
        <pc:sldMasterMkLst>
          <pc:docMk/>
          <pc:sldMasterMk cId="1811351532" sldId="2147483694"/>
        </pc:sldMasterMkLst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53623333" sldId="2147483695"/>
          </pc:sldLayoutMkLst>
        </pc:sldLayoutChg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404254466" sldId="2147483696"/>
          </pc:sldLayoutMkLst>
        </pc:sldLayoutChg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1485641825" sldId="2147483697"/>
          </pc:sldLayoutMkLst>
        </pc:sldLayoutChg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1805932374" sldId="2147483698"/>
          </pc:sldLayoutMkLst>
        </pc:sldLayoutChg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3282183483" sldId="2147483699"/>
          </pc:sldLayoutMkLst>
        </pc:sldLayoutChg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2684768232" sldId="2147483700"/>
          </pc:sldLayoutMkLst>
        </pc:sldLayoutChg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231123645" sldId="2147483701"/>
          </pc:sldLayoutMkLst>
        </pc:sldLayoutChg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1367748175" sldId="2147483702"/>
          </pc:sldLayoutMkLst>
        </pc:sldLayoutChg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274014617" sldId="2147483703"/>
          </pc:sldLayoutMkLst>
        </pc:sldLayoutChg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260584625" sldId="2147483704"/>
          </pc:sldLayoutMkLst>
        </pc:sldLayoutChg>
        <pc:sldLayoutChg chg="add mod replId">
          <pc:chgData name="GABRIEL MOREIRA" userId="S::gabriel.moreira52@aluno.unip.br::069be17d-376a-4801-b115-1747a634cb96" providerId="AD" clId="Web-{1BBE81B3-63F4-71E3-7F65-B22D9B26B81E}" dt="2026-03-27T12:31:43.626" v="2"/>
          <pc:sldLayoutMkLst>
            <pc:docMk/>
            <pc:sldMasterMk cId="1811351532" sldId="2147483694"/>
            <pc:sldLayoutMk cId="3693481210" sldId="214748370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29/03/2026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29/03/2026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23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4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64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93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18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68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3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748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8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48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351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Projeto de interface com</a:t>
            </a:r>
            <a:br>
              <a:rPr lang="pt-BR" sz="5400" dirty="0"/>
            </a:br>
            <a:r>
              <a:rPr lang="pt-BR" sz="5400" dirty="0"/>
              <a:t>o usuário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  <p:pic>
        <p:nvPicPr>
          <p:cNvPr id="10" name="Imagem 9" descr="Interface gráfica do usuário, Aplicativo, Teams&#10;&#10;Descrição gerada automaticamente">
            <a:extLst>
              <a:ext uri="{FF2B5EF4-FFF2-40B4-BE49-F238E27FC236}">
                <a16:creationId xmlns:a16="http://schemas.microsoft.com/office/drawing/2014/main" id="{7C8F97D7-93B2-4430-A83E-988894948D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 l="40429" t="11829" r="26394" b="14631"/>
          <a:stretch/>
        </p:blipFill>
        <p:spPr>
          <a:xfrm>
            <a:off x="7551175" y="0"/>
            <a:ext cx="4640825" cy="6858000"/>
          </a:xfrm>
          <a:prstGeom prst="rect">
            <a:avLst/>
          </a:prstGeom>
        </p:spPr>
      </p:pic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Elementos da Experiência do Usuário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3900" i="1" dirty="0"/>
          </a:p>
          <a:p>
            <a:pPr lvl="1"/>
            <a:endParaRPr lang="pt-BR" sz="3900" i="1" dirty="0"/>
          </a:p>
          <a:p>
            <a:pPr marL="201168" lvl="1" indent="0">
              <a:buNone/>
            </a:pPr>
            <a:r>
              <a:rPr lang="pt-BR" sz="3900" i="1" dirty="0"/>
              <a:t>The </a:t>
            </a:r>
            <a:r>
              <a:rPr lang="pt-BR" sz="3900" i="1" dirty="0" err="1"/>
              <a:t>Elements</a:t>
            </a:r>
            <a:r>
              <a:rPr lang="pt-BR" sz="3900" i="1" dirty="0"/>
              <a:t> </a:t>
            </a:r>
            <a:r>
              <a:rPr lang="pt-BR" sz="3900" i="1" dirty="0" err="1"/>
              <a:t>of</a:t>
            </a:r>
            <a:r>
              <a:rPr lang="pt-BR" sz="3900" i="1" dirty="0"/>
              <a:t> </a:t>
            </a:r>
            <a:r>
              <a:rPr lang="pt-BR" sz="3900" i="1" dirty="0" err="1"/>
              <a:t>User</a:t>
            </a:r>
            <a:r>
              <a:rPr lang="pt-BR" sz="3900" i="1" dirty="0"/>
              <a:t> Experience</a:t>
            </a:r>
            <a:r>
              <a:rPr lang="pt-BR" sz="3900" dirty="0"/>
              <a:t>, </a:t>
            </a:r>
            <a:r>
              <a:rPr lang="pt-BR" sz="3900"/>
              <a:t>de Jesse James </a:t>
            </a:r>
            <a:r>
              <a:rPr lang="pt-BR" sz="3900" dirty="0"/>
              <a:t>Garrett (2011)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9127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Elementos da Experiência do Usuário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sz="3900" b="1" dirty="0"/>
              <a:t>Plano Estratégico</a:t>
            </a:r>
          </a:p>
          <a:p>
            <a:pPr lvl="1"/>
            <a:r>
              <a:rPr lang="pt-BR" sz="3900" b="1" dirty="0"/>
              <a:t>Plano de Escopo</a:t>
            </a:r>
          </a:p>
          <a:p>
            <a:pPr lvl="1"/>
            <a:r>
              <a:rPr lang="pt-BR" sz="3900" b="1" dirty="0"/>
              <a:t>Plano de Estrutura</a:t>
            </a:r>
          </a:p>
          <a:p>
            <a:pPr lvl="1"/>
            <a:r>
              <a:rPr lang="pt-BR" sz="3900" dirty="0"/>
              <a:t>Plano de Esqueleto</a:t>
            </a:r>
          </a:p>
          <a:p>
            <a:pPr lvl="1"/>
            <a:r>
              <a:rPr lang="pt-BR" sz="3900" dirty="0"/>
              <a:t>Plano de Superfície</a:t>
            </a:r>
          </a:p>
        </p:txBody>
      </p:sp>
    </p:spTree>
    <p:extLst>
      <p:ext uri="{BB962C8B-B14F-4D97-AF65-F5344CB8AC3E}">
        <p14:creationId xmlns:p14="http://schemas.microsoft.com/office/powerpoint/2010/main" val="4083399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Estratégico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3900" dirty="0"/>
          </a:p>
          <a:p>
            <a:pPr lvl="1"/>
            <a:r>
              <a:rPr lang="pt-BR" sz="3900" dirty="0"/>
              <a:t>Os </a:t>
            </a:r>
            <a:r>
              <a:rPr lang="pt-BR" sz="3900" b="1" dirty="0"/>
              <a:t>objetivos do produto</a:t>
            </a:r>
            <a:r>
              <a:rPr lang="pt-BR" sz="3900" dirty="0"/>
              <a:t> e as </a:t>
            </a:r>
            <a:r>
              <a:rPr lang="pt-BR" sz="3900" b="1" dirty="0"/>
              <a:t>necessidades do usuário</a:t>
            </a:r>
            <a:r>
              <a:rPr lang="pt-BR" sz="3900" dirty="0"/>
              <a:t> formam o Plano Estratégico</a:t>
            </a:r>
          </a:p>
          <a:p>
            <a:pPr lvl="2"/>
            <a:r>
              <a:rPr lang="pt-BR" sz="3500" dirty="0"/>
              <a:t>Obs.: trataremos o “produto” como um “website”</a:t>
            </a:r>
          </a:p>
        </p:txBody>
      </p:sp>
    </p:spTree>
    <p:extLst>
      <p:ext uri="{BB962C8B-B14F-4D97-AF65-F5344CB8AC3E}">
        <p14:creationId xmlns:p14="http://schemas.microsoft.com/office/powerpoint/2010/main" val="807305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Estratégico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3900" dirty="0"/>
          </a:p>
          <a:p>
            <a:pPr lvl="1"/>
            <a:r>
              <a:rPr lang="pt-BR" sz="3900" dirty="0"/>
              <a:t>Quais são os objetivos do produto?</a:t>
            </a:r>
          </a:p>
          <a:p>
            <a:pPr lvl="2"/>
            <a:r>
              <a:rPr lang="pt-BR" sz="3500" dirty="0"/>
              <a:t>Informar/ensinar/vender/oferecer um serviço...</a:t>
            </a:r>
          </a:p>
        </p:txBody>
      </p:sp>
    </p:spTree>
    <p:extLst>
      <p:ext uri="{BB962C8B-B14F-4D97-AF65-F5344CB8AC3E}">
        <p14:creationId xmlns:p14="http://schemas.microsoft.com/office/powerpoint/2010/main" val="111931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Estratégico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3900" dirty="0"/>
          </a:p>
          <a:p>
            <a:pPr lvl="1"/>
            <a:r>
              <a:rPr lang="pt-BR" sz="3900" dirty="0"/>
              <a:t>O público pode ser </a:t>
            </a:r>
            <a:r>
              <a:rPr lang="pt-BR" sz="3900" b="1" dirty="0"/>
              <a:t>extremamente</a:t>
            </a:r>
            <a:r>
              <a:rPr lang="pt-BR" sz="3900" dirty="0"/>
              <a:t> variado</a:t>
            </a:r>
          </a:p>
          <a:p>
            <a:pPr lvl="2"/>
            <a:r>
              <a:rPr lang="pt-BR" sz="3500" dirty="0"/>
              <a:t>Então, pode ser interessante segmentar os usuários por suas características</a:t>
            </a:r>
          </a:p>
        </p:txBody>
      </p:sp>
    </p:spTree>
    <p:extLst>
      <p:ext uri="{BB962C8B-B14F-4D97-AF65-F5344CB8AC3E}">
        <p14:creationId xmlns:p14="http://schemas.microsoft.com/office/powerpoint/2010/main" val="2931622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BB9229F-61B4-A8DC-F08B-7DE86C5D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Segmentação</a:t>
            </a:r>
            <a:r>
              <a:rPr lang="en-US" dirty="0"/>
              <a:t> de </a:t>
            </a:r>
            <a:r>
              <a:rPr lang="en-US" dirty="0" err="1"/>
              <a:t>usuários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81A44-865E-5CD9-1085-743C572D0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“[...] nos ajuda a entender melhor as necessidades do usuário, dividindo todo o público em grupos menores de pessoas com necessidades compartilhadas.”</a:t>
            </a:r>
            <a:endParaRPr lang="en-US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415D7CA-A3C7-80A9-48CB-83E8DDAE8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058" y="120650"/>
            <a:ext cx="5327210" cy="661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78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Estratégico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500" dirty="0"/>
              <a:t>Públicos “semelhantes” podem/devem ser diferenciados:</a:t>
            </a:r>
          </a:p>
          <a:p>
            <a:pPr lvl="2"/>
            <a:r>
              <a:rPr lang="pt-BR" sz="3100" dirty="0"/>
              <a:t>“[...] vender utensílios de cozinha para cozinheiros amadores é diferente de vendê-los para cozinheiros profissionais.”</a:t>
            </a:r>
          </a:p>
          <a:p>
            <a:pPr lvl="3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88429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C5008C1-B1CE-1F1C-1929-94EAE2EB6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058" y="0"/>
            <a:ext cx="10117898" cy="4578350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B9229F-61B4-A8DC-F08B-7DE86C5D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Site de </a:t>
            </a:r>
            <a:r>
              <a:rPr lang="en-US" dirty="0" err="1"/>
              <a:t>vendas</a:t>
            </a:r>
            <a:r>
              <a:rPr lang="en-US" dirty="0"/>
              <a:t> para </a:t>
            </a:r>
            <a:r>
              <a:rPr lang="en-US" dirty="0" err="1"/>
              <a:t>profissionais</a:t>
            </a:r>
            <a:endParaRPr lang="en-US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8C952E7-ACB0-D0AC-74D5-B7374ADA0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731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45ABB85-0BC4-3B49-FC2E-570967D91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7" y="0"/>
            <a:ext cx="10585780" cy="4578350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B9229F-61B4-A8DC-F08B-7DE86C5D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Site de </a:t>
            </a:r>
            <a:r>
              <a:rPr lang="en-US" dirty="0" err="1"/>
              <a:t>vendas</a:t>
            </a:r>
            <a:r>
              <a:rPr lang="en-US" dirty="0"/>
              <a:t> </a:t>
            </a:r>
            <a:r>
              <a:rPr lang="en-US"/>
              <a:t>para amadores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338B966-13B4-6E6E-6F83-8C32F513E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8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Estratégico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500" dirty="0"/>
              <a:t>Públicos “semelhantes” podem/devem ser diferenciados:</a:t>
            </a:r>
          </a:p>
          <a:p>
            <a:pPr lvl="2"/>
            <a:r>
              <a:rPr lang="pt-BR" sz="3100" dirty="0"/>
              <a:t>“[...] um site de investimentos em ações destinado a novos investidores será diferente de um site destinado a investidores experientes.”</a:t>
            </a:r>
          </a:p>
          <a:p>
            <a:pPr lvl="3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916852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Estratégico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Podemos segmentar usuários de acordo com:</a:t>
            </a:r>
          </a:p>
          <a:p>
            <a:pPr lvl="2"/>
            <a:r>
              <a:rPr lang="pt-BR" sz="3500" dirty="0"/>
              <a:t>Dados Demográficos:</a:t>
            </a:r>
          </a:p>
          <a:p>
            <a:pPr lvl="3"/>
            <a:r>
              <a:rPr lang="pt-BR" sz="3500" dirty="0"/>
              <a:t>Idade, raça, sexo etc.</a:t>
            </a:r>
          </a:p>
          <a:p>
            <a:pPr lvl="3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507386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Estratégico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Podemos segmentar usuários de acordo com:</a:t>
            </a:r>
          </a:p>
          <a:p>
            <a:pPr lvl="2"/>
            <a:r>
              <a:rPr lang="pt-BR" sz="3500" dirty="0"/>
              <a:t>Dados Psicográficos:</a:t>
            </a:r>
          </a:p>
          <a:p>
            <a:pPr lvl="3"/>
            <a:r>
              <a:rPr lang="pt-BR" sz="3500" dirty="0"/>
              <a:t>Valores, atitudes e estilo de vida (VALS)</a:t>
            </a:r>
          </a:p>
          <a:p>
            <a:pPr lvl="3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216769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Estratégico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Podemos segmentar usuários de acordo com:</a:t>
            </a:r>
          </a:p>
          <a:p>
            <a:pPr lvl="2"/>
            <a:r>
              <a:rPr lang="pt-BR" sz="3500" dirty="0"/>
              <a:t>Familiaridade com a tecnologia:</a:t>
            </a:r>
          </a:p>
          <a:p>
            <a:pPr lvl="3"/>
            <a:r>
              <a:rPr lang="pt-BR" sz="3500" dirty="0"/>
              <a:t>Tempo e nível de uso, por exemplo</a:t>
            </a:r>
          </a:p>
          <a:p>
            <a:pPr lvl="3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57142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Estratégico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2"/>
            <a:endParaRPr lang="pt-BR" sz="3900" dirty="0"/>
          </a:p>
          <a:p>
            <a:pPr marL="201168" lvl="1" indent="0">
              <a:buNone/>
            </a:pPr>
            <a:r>
              <a:rPr lang="pt-BR" sz="3900" dirty="0"/>
              <a:t>Deve ser o início do processo de design da experiência do usuário...</a:t>
            </a:r>
          </a:p>
        </p:txBody>
      </p:sp>
    </p:spTree>
    <p:extLst>
      <p:ext uri="{BB962C8B-B14F-4D97-AF65-F5344CB8AC3E}">
        <p14:creationId xmlns:p14="http://schemas.microsoft.com/office/powerpoint/2010/main" val="3426598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Estratégico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2"/>
            <a:endParaRPr lang="pt-BR" sz="3900" dirty="0"/>
          </a:p>
          <a:p>
            <a:pPr marL="201168" lvl="1" indent="0">
              <a:buNone/>
            </a:pPr>
            <a:r>
              <a:rPr lang="pt-BR" sz="3900" dirty="0"/>
              <a:t>...mas não deve ser absolutamente imutável ou definitiva.</a:t>
            </a:r>
          </a:p>
          <a:p>
            <a:pPr marL="201168" lvl="1" indent="0">
              <a:buNone/>
            </a:pPr>
            <a:endParaRPr lang="pt-BR" sz="39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6CB23C-8C71-BD2F-BA76-22C9A02A7981}"/>
              </a:ext>
            </a:extLst>
          </p:cNvPr>
          <p:cNvSpPr/>
          <p:nvPr/>
        </p:nvSpPr>
        <p:spPr>
          <a:xfrm>
            <a:off x="0" y="6408057"/>
            <a:ext cx="449943" cy="4499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846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Definição das </a:t>
            </a:r>
            <a:r>
              <a:rPr lang="pt-BR" sz="3900" b="1" i="1" dirty="0" err="1"/>
              <a:t>features</a:t>
            </a:r>
            <a:r>
              <a:rPr lang="pt-BR" sz="3900" b="1" i="1" dirty="0"/>
              <a:t> </a:t>
            </a:r>
            <a:r>
              <a:rPr lang="pt-BR" sz="3900" dirty="0"/>
              <a:t>(funcionalidades ou características) e do </a:t>
            </a:r>
            <a:r>
              <a:rPr lang="pt-BR" sz="3900" b="1" dirty="0"/>
              <a:t>conteúdo</a:t>
            </a:r>
            <a:r>
              <a:rPr lang="pt-BR" sz="3900" dirty="0"/>
              <a:t> do produto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139385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“Um usuário já decidiu que vai comprar um determinado produto, mas ainda não decidiu onde vai comprá-lo.”</a:t>
            </a:r>
          </a:p>
        </p:txBody>
      </p:sp>
    </p:spTree>
    <p:extLst>
      <p:ext uri="{BB962C8B-B14F-4D97-AF65-F5344CB8AC3E}">
        <p14:creationId xmlns:p14="http://schemas.microsoft.com/office/powerpoint/2010/main" val="4086625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882886B-3A6B-3661-4869-10BDF1245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29" y="0"/>
            <a:ext cx="11714343" cy="638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29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28D77E8-878A-4C3A-664A-4CF1D75E0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24" y="145142"/>
            <a:ext cx="10221751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630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11743B6-7CE8-409A-6323-FCD609EB8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7" y="471074"/>
            <a:ext cx="11355385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18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Fazer pesquisas pode ajudar a definir as características do produto</a:t>
            </a:r>
          </a:p>
          <a:p>
            <a:pPr lvl="2"/>
            <a:r>
              <a:rPr lang="pt-BR" sz="3600" dirty="0"/>
              <a:t>Obs.: pesquisas internas e externas</a:t>
            </a:r>
          </a:p>
        </p:txBody>
      </p:sp>
    </p:spTree>
    <p:extLst>
      <p:ext uri="{BB962C8B-B14F-4D97-AF65-F5344CB8AC3E}">
        <p14:creationId xmlns:p14="http://schemas.microsoft.com/office/powerpoint/2010/main" val="3858096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Definir requisitos nos ajuda a saber o que deve e o que não deve ser construído</a:t>
            </a:r>
          </a:p>
          <a:p>
            <a:pPr lvl="2"/>
            <a:r>
              <a:rPr lang="pt-BR" sz="3600" dirty="0"/>
              <a:t>Quais </a:t>
            </a:r>
            <a:r>
              <a:rPr lang="pt-BR" sz="3600" i="1" dirty="0" err="1"/>
              <a:t>features</a:t>
            </a:r>
            <a:r>
              <a:rPr lang="pt-BR" sz="3600" dirty="0"/>
              <a:t> importam </a:t>
            </a:r>
            <a:r>
              <a:rPr lang="pt-BR" sz="3600" b="1" dirty="0"/>
              <a:t>neste momento</a:t>
            </a:r>
            <a:r>
              <a:rPr lang="pt-BR" sz="3600" dirty="0"/>
              <a:t>?</a:t>
            </a:r>
            <a:endParaRPr lang="pt-BR" sz="3600" i="1" dirty="0"/>
          </a:p>
        </p:txBody>
      </p:sp>
    </p:spTree>
    <p:extLst>
      <p:ext uri="{BB962C8B-B14F-4D97-AF65-F5344CB8AC3E}">
        <p14:creationId xmlns:p14="http://schemas.microsoft.com/office/powerpoint/2010/main" val="2147056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253E00C-7C71-CD58-00E9-AB55C4AFB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363" y="0"/>
            <a:ext cx="8139289" cy="4578350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B9229F-61B4-A8DC-F08B-7DE86C5D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 err="1"/>
              <a:t>Planejamento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81A44-865E-5CD9-1085-743C572D0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dirty="0"/>
              <a:t>“Requisitos que não podem ser atendidos no cronograma atual podem formar a base para o próximo marco em seu ciclo de desenvolvimento.”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540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É importante </a:t>
            </a:r>
            <a:r>
              <a:rPr lang="pt-BR" sz="3900" b="1" dirty="0"/>
              <a:t>especificar</a:t>
            </a:r>
            <a:r>
              <a:rPr lang="pt-BR" sz="3900" dirty="0"/>
              <a:t> as funcionalidades:</a:t>
            </a:r>
          </a:p>
          <a:p>
            <a:pPr lvl="2"/>
            <a:r>
              <a:rPr lang="pt-BR" sz="3600" dirty="0"/>
              <a:t>“Os vídeos mais populares serão destacados.”</a:t>
            </a:r>
          </a:p>
          <a:p>
            <a:pPr lvl="3"/>
            <a:endParaRPr lang="pt-BR" sz="3200" dirty="0"/>
          </a:p>
          <a:p>
            <a:pPr lvl="3"/>
            <a:r>
              <a:rPr lang="pt-BR" sz="3200" dirty="0"/>
              <a:t>O que significa ser mais popular?</a:t>
            </a:r>
          </a:p>
          <a:p>
            <a:pPr lvl="3"/>
            <a:r>
              <a:rPr lang="pt-BR" sz="3200" dirty="0"/>
              <a:t>O que significa destacar?</a:t>
            </a:r>
          </a:p>
        </p:txBody>
      </p:sp>
    </p:spTree>
    <p:extLst>
      <p:ext uri="{BB962C8B-B14F-4D97-AF65-F5344CB8AC3E}">
        <p14:creationId xmlns:p14="http://schemas.microsoft.com/office/powerpoint/2010/main" val="3994091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É importante </a:t>
            </a:r>
            <a:r>
              <a:rPr lang="pt-BR" sz="3900" b="1" dirty="0"/>
              <a:t>especificar</a:t>
            </a:r>
            <a:r>
              <a:rPr lang="pt-BR" sz="3900" dirty="0"/>
              <a:t> as funcionalidades:</a:t>
            </a:r>
          </a:p>
          <a:p>
            <a:pPr lvl="2"/>
            <a:r>
              <a:rPr lang="pt-BR" sz="3600" dirty="0"/>
              <a:t>“Os vídeos com maior número de visualizações na última semana aparecerão no topo da lista.”</a:t>
            </a:r>
          </a:p>
        </p:txBody>
      </p:sp>
    </p:spTree>
    <p:extLst>
      <p:ext uri="{BB962C8B-B14F-4D97-AF65-F5344CB8AC3E}">
        <p14:creationId xmlns:p14="http://schemas.microsoft.com/office/powerpoint/2010/main" val="262702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A definição das características depende, também, do hardware disponível:</a:t>
            </a:r>
          </a:p>
          <a:p>
            <a:pPr lvl="2"/>
            <a:r>
              <a:rPr lang="pt-BR" sz="3600" dirty="0"/>
              <a:t>Processador, GPS, sensores (giroscópio) etc.</a:t>
            </a:r>
          </a:p>
        </p:txBody>
      </p:sp>
    </p:spTree>
    <p:extLst>
      <p:ext uri="{BB962C8B-B14F-4D97-AF65-F5344CB8AC3E}">
        <p14:creationId xmlns:p14="http://schemas.microsoft.com/office/powerpoint/2010/main" val="2396817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O conteúdo está associado aos elementos:</a:t>
            </a:r>
          </a:p>
          <a:p>
            <a:pPr lvl="2"/>
            <a:r>
              <a:rPr lang="pt-BR" sz="3600" dirty="0"/>
              <a:t>Texto, imagem, áudio e vídeo</a:t>
            </a:r>
          </a:p>
        </p:txBody>
      </p:sp>
    </p:spTree>
    <p:extLst>
      <p:ext uri="{BB962C8B-B14F-4D97-AF65-F5344CB8AC3E}">
        <p14:creationId xmlns:p14="http://schemas.microsoft.com/office/powerpoint/2010/main" val="3533543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do 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pt-BR" sz="4000" dirty="0"/>
          </a:p>
          <a:p>
            <a:pPr lvl="1"/>
            <a:r>
              <a:rPr lang="pt-BR" sz="3900" dirty="0"/>
              <a:t>É interessante determinar:</a:t>
            </a:r>
          </a:p>
          <a:p>
            <a:pPr lvl="2"/>
            <a:r>
              <a:rPr lang="pt-BR" sz="3600" dirty="0"/>
              <a:t>Tamanho do texto</a:t>
            </a:r>
          </a:p>
          <a:p>
            <a:pPr lvl="2"/>
            <a:r>
              <a:rPr lang="pt-BR" sz="3600" dirty="0"/>
              <a:t>Dimensões, qualidade e peso de imagens</a:t>
            </a:r>
          </a:p>
          <a:p>
            <a:pPr lvl="2"/>
            <a:r>
              <a:rPr lang="pt-BR" sz="3600" dirty="0"/>
              <a:t>Formato de arquivos (.jpeg, .mp4, .</a:t>
            </a:r>
            <a:r>
              <a:rPr lang="pt-BR" sz="3600" dirty="0" err="1"/>
              <a:t>pdf</a:t>
            </a:r>
            <a:r>
              <a:rPr lang="pt-BR" sz="3600" dirty="0"/>
              <a:t> etc.)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2CFD35A-B13A-0CF2-B867-1E9CC5421465}"/>
              </a:ext>
            </a:extLst>
          </p:cNvPr>
          <p:cNvSpPr/>
          <p:nvPr/>
        </p:nvSpPr>
        <p:spPr>
          <a:xfrm>
            <a:off x="0" y="6408057"/>
            <a:ext cx="449943" cy="4499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805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endParaRPr lang="pt-BR" sz="3900" dirty="0"/>
          </a:p>
          <a:p>
            <a:pPr lvl="1"/>
            <a:r>
              <a:rPr lang="pt-BR" sz="3900" dirty="0"/>
              <a:t>Desenvolvimento de uma estrutura conceitual para o produto</a:t>
            </a:r>
          </a:p>
          <a:p>
            <a:pPr lvl="1"/>
            <a:endParaRPr lang="pt-BR" sz="3900" dirty="0"/>
          </a:p>
          <a:p>
            <a:pPr lvl="1"/>
            <a:r>
              <a:rPr lang="pt-BR" sz="3900" dirty="0"/>
              <a:t>Como apresentar de forma conjunta o que foi definido até então?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1329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3900" dirty="0"/>
          </a:p>
          <a:p>
            <a:pPr lvl="1"/>
            <a:r>
              <a:rPr lang="pt-BR" sz="3900" dirty="0"/>
              <a:t>Definição dos padrões e das sequências a serem apresentadas para os usuários</a:t>
            </a:r>
          </a:p>
          <a:p>
            <a:pPr lvl="2"/>
            <a:r>
              <a:rPr lang="pt-BR" sz="3500" dirty="0"/>
              <a:t>Unindo </a:t>
            </a:r>
            <a:r>
              <a:rPr lang="pt-BR" sz="3500" b="1" dirty="0"/>
              <a:t>design de interação</a:t>
            </a:r>
            <a:r>
              <a:rPr lang="pt-BR" sz="3500" dirty="0"/>
              <a:t> e </a:t>
            </a:r>
            <a:r>
              <a:rPr lang="pt-BR" sz="3500" b="1" dirty="0"/>
              <a:t>arquitetura da informação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00170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D0E507B-68C8-47C5-A8F5-053F5EB5E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54" y="0"/>
            <a:ext cx="8663693" cy="639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24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endParaRPr lang="pt-BR" sz="3900" dirty="0"/>
          </a:p>
          <a:p>
            <a:pPr lvl="1"/>
            <a:r>
              <a:rPr lang="pt-BR" sz="3900" dirty="0"/>
              <a:t>É importante utilizar linguagens conhecidas pelo usuário</a:t>
            </a:r>
          </a:p>
          <a:p>
            <a:pPr lvl="1"/>
            <a:endParaRPr lang="pt-BR" sz="3900" dirty="0"/>
          </a:p>
          <a:p>
            <a:pPr lvl="1"/>
            <a:r>
              <a:rPr lang="pt-BR" sz="3900" dirty="0"/>
              <a:t>Chamamos de </a:t>
            </a:r>
            <a:r>
              <a:rPr lang="pt-BR" sz="3900" b="1" dirty="0"/>
              <a:t>modelos conceituais </a:t>
            </a:r>
            <a:r>
              <a:rPr lang="pt-BR" sz="3900" dirty="0"/>
              <a:t>estes recursos facilmente identificados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4511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3900" dirty="0"/>
          </a:p>
          <a:p>
            <a:pPr lvl="1"/>
            <a:r>
              <a:rPr lang="pt-BR" sz="3900" dirty="0"/>
              <a:t>É importante utilizar linguagens conhecidas pelo usuário</a:t>
            </a:r>
          </a:p>
          <a:p>
            <a:pPr lvl="2"/>
            <a:r>
              <a:rPr lang="pt-BR" sz="3500" dirty="0"/>
              <a:t>Carrinhos de compra, por exemplo: 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8BD9B6-8A2C-D976-9858-5A7D49540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662" y="4052146"/>
            <a:ext cx="895475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202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3900" dirty="0"/>
          </a:p>
          <a:p>
            <a:pPr lvl="1"/>
            <a:r>
              <a:rPr lang="pt-BR" sz="3900" dirty="0"/>
              <a:t>É importante utilizar linguagens conhecidas pelo usuário</a:t>
            </a:r>
          </a:p>
          <a:p>
            <a:pPr lvl="2"/>
            <a:r>
              <a:rPr lang="pt-BR" sz="3500" dirty="0"/>
              <a:t>Mas, cuidado com os excessos: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67685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Quadro de comunicações&#10;&#10;Descrição gerada automaticamente">
            <a:extLst>
              <a:ext uri="{FF2B5EF4-FFF2-40B4-BE49-F238E27FC236}">
                <a16:creationId xmlns:a16="http://schemas.microsoft.com/office/drawing/2014/main" id="{FDF2EFBD-52C6-D491-8DE0-0483C8ACA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0" y="0"/>
            <a:ext cx="7296175" cy="4578350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B9229F-61B4-A8DC-F08B-7DE86C5D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Conceituais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81A44-865E-5CD9-1085-743C572D0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de aplicação excessiva e ineficiente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797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BB9229F-61B4-A8DC-F08B-7DE86C5D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Conceituais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81A44-865E-5CD9-1085-743C572D0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de aplicação mais eficiente</a:t>
            </a:r>
            <a:endParaRPr lang="en-US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7EAEF52-F0DD-A562-DEE9-E23D59005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51" y="834315"/>
            <a:ext cx="7537450" cy="602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09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3900" dirty="0"/>
          </a:p>
          <a:p>
            <a:pPr lvl="1"/>
            <a:r>
              <a:rPr lang="pt-BR" sz="3900" dirty="0"/>
              <a:t>Quando possível, deve-se impossibilitar a ocorrência de erros</a:t>
            </a:r>
          </a:p>
        </p:txBody>
      </p:sp>
    </p:spTree>
    <p:extLst>
      <p:ext uri="{BB962C8B-B14F-4D97-AF65-F5344CB8AC3E}">
        <p14:creationId xmlns:p14="http://schemas.microsoft.com/office/powerpoint/2010/main" val="3478256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pt-BR" sz="3900" dirty="0"/>
          </a:p>
          <a:p>
            <a:pPr lvl="1"/>
            <a:r>
              <a:rPr lang="pt-BR" sz="3900" dirty="0"/>
              <a:t>Ainda assim, deve-se definir como erros do sistema serão solucionados ou apresentados</a:t>
            </a:r>
          </a:p>
          <a:p>
            <a:pPr lvl="2"/>
            <a:r>
              <a:rPr lang="pt-BR" sz="3500" dirty="0"/>
              <a:t>Obs.: cuidado com correção automática de erros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30350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pt-BR" sz="4200" dirty="0"/>
              <a:t>Arquitetura da informação pode ter diferentes estruturas:</a:t>
            </a:r>
          </a:p>
          <a:p>
            <a:pPr lvl="1"/>
            <a:endParaRPr lang="pt-BR" sz="3900" dirty="0"/>
          </a:p>
          <a:p>
            <a:pPr lvl="2"/>
            <a:r>
              <a:rPr lang="pt-BR" sz="3900" dirty="0"/>
              <a:t>Hierárquica</a:t>
            </a:r>
          </a:p>
          <a:p>
            <a:pPr lvl="2"/>
            <a:r>
              <a:rPr lang="pt-BR" sz="3900" dirty="0"/>
              <a:t>Matriz</a:t>
            </a:r>
          </a:p>
          <a:p>
            <a:pPr lvl="2"/>
            <a:r>
              <a:rPr lang="pt-BR" sz="3900" dirty="0"/>
              <a:t>Orgânica</a:t>
            </a:r>
          </a:p>
          <a:p>
            <a:pPr lvl="2"/>
            <a:r>
              <a:rPr lang="pt-BR" sz="3900" dirty="0"/>
              <a:t>Sequencial</a:t>
            </a:r>
          </a:p>
          <a:p>
            <a:pPr lvl="1"/>
            <a:endParaRPr lang="pt-BR" sz="3100" dirty="0"/>
          </a:p>
        </p:txBody>
      </p:sp>
    </p:spTree>
    <p:extLst>
      <p:ext uri="{BB962C8B-B14F-4D97-AF65-F5344CB8AC3E}">
        <p14:creationId xmlns:p14="http://schemas.microsoft.com/office/powerpoint/2010/main" val="36378317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3093135-1EC2-E58C-C73E-28835D565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" y="368937"/>
            <a:ext cx="12191985" cy="3840476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 err="1"/>
              <a:t>Hierárquica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48AD86C-815D-024D-BFB2-9E424DD59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comum</a:t>
            </a:r>
            <a:r>
              <a:rPr lang="en-US" dirty="0"/>
              <a:t> das </a:t>
            </a:r>
            <a:r>
              <a:rPr lang="en-US" dirty="0" err="1"/>
              <a:t>estruturas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ACFD9A2-B9CD-655F-63A5-1C2E9155448D}"/>
              </a:ext>
            </a:extLst>
          </p:cNvPr>
          <p:cNvSpPr txBox="1"/>
          <p:nvPr/>
        </p:nvSpPr>
        <p:spPr>
          <a:xfrm>
            <a:off x="4336869" y="647488"/>
            <a:ext cx="155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Nós Pais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9EAFC435-75F1-336A-3A40-811DC1212FC7}"/>
              </a:ext>
            </a:extLst>
          </p:cNvPr>
          <p:cNvSpPr/>
          <p:nvPr/>
        </p:nvSpPr>
        <p:spPr>
          <a:xfrm>
            <a:off x="5329646" y="748938"/>
            <a:ext cx="461554" cy="209006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132786-30FC-DF3D-848E-ED46BEE2FD29}"/>
              </a:ext>
            </a:extLst>
          </p:cNvPr>
          <p:cNvSpPr txBox="1"/>
          <p:nvPr/>
        </p:nvSpPr>
        <p:spPr>
          <a:xfrm>
            <a:off x="1258392" y="2066500"/>
            <a:ext cx="155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Nós Filhos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CD136181-5351-BBF9-C0A4-D8AAAEF0C2E6}"/>
              </a:ext>
            </a:extLst>
          </p:cNvPr>
          <p:cNvSpPr/>
          <p:nvPr/>
        </p:nvSpPr>
        <p:spPr>
          <a:xfrm>
            <a:off x="2434046" y="2164081"/>
            <a:ext cx="461554" cy="209006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9533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sz="4200" dirty="0"/>
              <a:t>Estrutura Hierárquica:</a:t>
            </a:r>
          </a:p>
          <a:p>
            <a:pPr lvl="2"/>
            <a:r>
              <a:rPr lang="pt-BR" sz="3500" dirty="0"/>
              <a:t>No topo (nós pais) da hierarquia estão informações mais amplas</a:t>
            </a:r>
          </a:p>
          <a:p>
            <a:pPr lvl="2"/>
            <a:r>
              <a:rPr lang="pt-BR" sz="3500" dirty="0"/>
              <a:t>Na base da hierarquia (nós filhos) estão informações mais específicas</a:t>
            </a:r>
          </a:p>
          <a:p>
            <a:pPr lvl="2"/>
            <a:endParaRPr lang="pt-BR" sz="3500" dirty="0"/>
          </a:p>
          <a:p>
            <a:pPr lvl="1"/>
            <a:endParaRPr lang="pt-BR" sz="3100" dirty="0"/>
          </a:p>
        </p:txBody>
      </p:sp>
    </p:spTree>
    <p:extLst>
      <p:ext uri="{BB962C8B-B14F-4D97-AF65-F5344CB8AC3E}">
        <p14:creationId xmlns:p14="http://schemas.microsoft.com/office/powerpoint/2010/main" val="33986122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2B16604-88AD-1586-22B7-63B96203D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542" y="0"/>
            <a:ext cx="5758930" cy="4578350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 err="1"/>
              <a:t>Matriz</a:t>
            </a:r>
            <a:r>
              <a:rPr lang="en-US" dirty="0"/>
              <a:t> tridimensional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48AD86C-815D-024D-BFB2-9E424DD59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Utilizada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recursos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oferecidos</a:t>
            </a:r>
            <a:r>
              <a:rPr lang="en-US" dirty="0"/>
              <a:t> para </a:t>
            </a:r>
            <a:r>
              <a:rPr lang="en-US" dirty="0" err="1"/>
              <a:t>usuários</a:t>
            </a:r>
            <a:r>
              <a:rPr lang="en-US" dirty="0"/>
              <a:t> com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necessidades</a:t>
            </a:r>
            <a:endParaRPr lang="en-US" dirty="0"/>
          </a:p>
          <a:p>
            <a:r>
              <a:rPr lang="en-US" dirty="0"/>
              <a:t>Ex.: </a:t>
            </a:r>
            <a:r>
              <a:rPr lang="en-US" dirty="0" err="1"/>
              <a:t>filtros</a:t>
            </a:r>
            <a:r>
              <a:rPr lang="en-US" dirty="0"/>
              <a:t> de </a:t>
            </a:r>
            <a:r>
              <a:rPr lang="en-US" dirty="0" err="1"/>
              <a:t>busca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8750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sz="4200" dirty="0"/>
              <a:t>Estrutura em Matriz tridimensional:</a:t>
            </a:r>
          </a:p>
          <a:p>
            <a:pPr lvl="2"/>
            <a:r>
              <a:rPr lang="pt-BR" sz="3500" dirty="0"/>
              <a:t>Oferece liberdade ao usuário</a:t>
            </a:r>
          </a:p>
          <a:p>
            <a:pPr lvl="2"/>
            <a:r>
              <a:rPr lang="pt-BR" sz="3500" dirty="0"/>
              <a:t>Ex.1: Uso de hipertextos e </a:t>
            </a:r>
            <a:r>
              <a:rPr lang="pt-BR" sz="3500" u="sng" dirty="0">
                <a:solidFill>
                  <a:srgbClr val="00B0F0"/>
                </a:solidFill>
              </a:rPr>
              <a:t>hyperlinks</a:t>
            </a:r>
          </a:p>
          <a:p>
            <a:pPr lvl="2"/>
            <a:r>
              <a:rPr lang="pt-BR" sz="3500" dirty="0"/>
              <a:t>Ex.2: Filtros de navegação</a:t>
            </a:r>
          </a:p>
          <a:p>
            <a:pPr lvl="1"/>
            <a:endParaRPr lang="pt-BR" sz="3100" dirty="0"/>
          </a:p>
        </p:txBody>
      </p:sp>
    </p:spTree>
    <p:extLst>
      <p:ext uri="{BB962C8B-B14F-4D97-AF65-F5344CB8AC3E}">
        <p14:creationId xmlns:p14="http://schemas.microsoft.com/office/powerpoint/2010/main" val="35190009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EFA457C-8263-7F46-C056-FB33E478F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151" y="0"/>
            <a:ext cx="6757713" cy="4578350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 err="1"/>
              <a:t>Orgânica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48AD86C-815D-024D-BFB2-9E424DD59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Não</a:t>
            </a:r>
            <a:r>
              <a:rPr lang="en-US" dirty="0"/>
              <a:t> segue </a:t>
            </a:r>
            <a:r>
              <a:rPr lang="en-US" dirty="0" err="1"/>
              <a:t>padrões</a:t>
            </a:r>
            <a:r>
              <a:rPr lang="en-US" dirty="0"/>
              <a:t> </a:t>
            </a:r>
            <a:r>
              <a:rPr lang="en-US" dirty="0" err="1"/>
              <a:t>consistentes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701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pt-BR" sz="4200" dirty="0"/>
              <a:t>Estrutura Orgânica:</a:t>
            </a:r>
          </a:p>
          <a:p>
            <a:pPr lvl="2"/>
            <a:r>
              <a:rPr lang="en-US" sz="3500" dirty="0" err="1"/>
              <a:t>Utilizadas</a:t>
            </a:r>
            <a:r>
              <a:rPr lang="en-US" sz="3500" dirty="0"/>
              <a:t> </a:t>
            </a:r>
            <a:r>
              <a:rPr lang="en-US" sz="3500" dirty="0" err="1"/>
              <a:t>em</a:t>
            </a:r>
            <a:r>
              <a:rPr lang="en-US" sz="3500" dirty="0"/>
              <a:t> sites </a:t>
            </a:r>
            <a:r>
              <a:rPr lang="en-US" sz="3500" dirty="0" err="1"/>
              <a:t>educativos</a:t>
            </a:r>
            <a:r>
              <a:rPr lang="en-US" sz="3500" dirty="0"/>
              <a:t> </a:t>
            </a:r>
            <a:r>
              <a:rPr lang="en-US" sz="3500" dirty="0" err="1"/>
              <a:t>ou</a:t>
            </a:r>
            <a:r>
              <a:rPr lang="en-US" sz="3500" dirty="0"/>
              <a:t> para </a:t>
            </a:r>
            <a:r>
              <a:rPr lang="en-US" sz="3500" dirty="0" err="1"/>
              <a:t>entretenimento</a:t>
            </a:r>
            <a:endParaRPr lang="en-US" sz="3500" dirty="0"/>
          </a:p>
          <a:p>
            <a:pPr lvl="2"/>
            <a:r>
              <a:rPr lang="en-US" sz="3500" dirty="0" err="1"/>
              <a:t>Dão</a:t>
            </a:r>
            <a:r>
              <a:rPr lang="en-US" sz="3500" dirty="0"/>
              <a:t> </a:t>
            </a:r>
            <a:r>
              <a:rPr lang="en-US" sz="3500" dirty="0" err="1"/>
              <a:t>liberdade</a:t>
            </a:r>
            <a:r>
              <a:rPr lang="en-US" sz="3500" dirty="0"/>
              <a:t> </a:t>
            </a:r>
            <a:r>
              <a:rPr lang="en-US" sz="3500" dirty="0" err="1"/>
              <a:t>ao</a:t>
            </a:r>
            <a:r>
              <a:rPr lang="en-US" sz="3500" dirty="0"/>
              <a:t> </a:t>
            </a:r>
            <a:r>
              <a:rPr lang="en-US" sz="3500" dirty="0" err="1"/>
              <a:t>usuário</a:t>
            </a:r>
            <a:endParaRPr lang="pt-BR" sz="3500" dirty="0"/>
          </a:p>
        </p:txBody>
      </p:sp>
    </p:spTree>
    <p:extLst>
      <p:ext uri="{BB962C8B-B14F-4D97-AF65-F5344CB8AC3E}">
        <p14:creationId xmlns:p14="http://schemas.microsoft.com/office/powerpoint/2010/main" val="16807099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Sequencial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48AD86C-815D-024D-BFB2-9E424DD59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err="1"/>
              <a:t>Característica</a:t>
            </a:r>
            <a:r>
              <a:rPr lang="en-US" sz="2000" dirty="0"/>
              <a:t> de </a:t>
            </a:r>
            <a:r>
              <a:rPr lang="en-US" sz="2000" dirty="0" err="1"/>
              <a:t>mídias</a:t>
            </a:r>
            <a:r>
              <a:rPr lang="en-US" sz="2000" dirty="0"/>
              <a:t> </a:t>
            </a:r>
            <a:r>
              <a:rPr lang="en-US" sz="2000" i="1" dirty="0"/>
              <a:t>offline,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livros</a:t>
            </a:r>
            <a:r>
              <a:rPr lang="en-US" sz="2000" dirty="0"/>
              <a:t>, e de </a:t>
            </a:r>
            <a:r>
              <a:rPr lang="en-US" sz="2000" dirty="0" err="1"/>
              <a:t>áudios</a:t>
            </a:r>
            <a:r>
              <a:rPr lang="en-US" sz="2000" dirty="0"/>
              <a:t>, </a:t>
            </a:r>
            <a:r>
              <a:rPr lang="en-US" sz="2000" dirty="0" err="1"/>
              <a:t>vídeos</a:t>
            </a:r>
            <a:r>
              <a:rPr lang="en-US" sz="2000" dirty="0"/>
              <a:t>, </a:t>
            </a:r>
            <a:r>
              <a:rPr lang="en-US" sz="2000" dirty="0" err="1"/>
              <a:t>apresentações</a:t>
            </a:r>
            <a:r>
              <a:rPr lang="en-US" sz="2000" dirty="0"/>
              <a:t> de slides etc.</a:t>
            </a:r>
            <a:endParaRPr lang="en-US" sz="2000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4AA09A-FEB1-100B-35AF-7A005C9D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3425"/>
            <a:ext cx="12192000" cy="110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6182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6CD9086B7A0143806617CD13B66A8F" ma:contentTypeVersion="3" ma:contentTypeDescription="Create a new document." ma:contentTypeScope="" ma:versionID="2e710e0f583069034d0b9b90b9c2cc93">
  <xsd:schema xmlns:xsd="http://www.w3.org/2001/XMLSchema" xmlns:xs="http://www.w3.org/2001/XMLSchema" xmlns:p="http://schemas.microsoft.com/office/2006/metadata/properties" xmlns:ns2="dd357385-7d55-4120-8587-028bbaf63831" targetNamespace="http://schemas.microsoft.com/office/2006/metadata/properties" ma:root="true" ma:fieldsID="e3843e93016ac1d5692d0c0ccf5af319" ns2:_="">
    <xsd:import namespace="dd357385-7d55-4120-8587-028bbaf638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57385-7d55-4120-8587-028bbaf638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5908065-DA6C-44DE-8E5D-C297699EC9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357385-7d55-4120-8587-028bbaf638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905</TotalTime>
  <Words>829</Words>
  <Application>Microsoft Office PowerPoint</Application>
  <PresentationFormat>Widescreen</PresentationFormat>
  <Paragraphs>163</Paragraphs>
  <Slides>47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48" baseType="lpstr">
      <vt:lpstr>DashVTI</vt:lpstr>
      <vt:lpstr>Projeto de interface com o usuário</vt:lpstr>
      <vt:lpstr>Elementos da Experiência do Usuário</vt:lpstr>
      <vt:lpstr>Elementos da Experiência do Usuário</vt:lpstr>
      <vt:lpstr>Plano Estratégico</vt:lpstr>
      <vt:lpstr>Plano Estratégico</vt:lpstr>
      <vt:lpstr>Plano Estratégico</vt:lpstr>
      <vt:lpstr>Segmentação de usuários</vt:lpstr>
      <vt:lpstr>Plano Estratégico</vt:lpstr>
      <vt:lpstr>Site de vendas para profissionais</vt:lpstr>
      <vt:lpstr>Site de vendas para amadores</vt:lpstr>
      <vt:lpstr>Plano Estratégico</vt:lpstr>
      <vt:lpstr>Plano Estratégico</vt:lpstr>
      <vt:lpstr>Plano Estratégico</vt:lpstr>
      <vt:lpstr>Plano Estratégico</vt:lpstr>
      <vt:lpstr>Plano Estratégico</vt:lpstr>
      <vt:lpstr>Plano Estratégico</vt:lpstr>
      <vt:lpstr>Plano do Escopo</vt:lpstr>
      <vt:lpstr>Plano do Escopo</vt:lpstr>
      <vt:lpstr>Apresentação do PowerPoint</vt:lpstr>
      <vt:lpstr>Apresentação do PowerPoint</vt:lpstr>
      <vt:lpstr>Apresentação do PowerPoint</vt:lpstr>
      <vt:lpstr>Plano do Escopo</vt:lpstr>
      <vt:lpstr>Plano do Escopo</vt:lpstr>
      <vt:lpstr>Planejamento</vt:lpstr>
      <vt:lpstr>Plano do Escopo</vt:lpstr>
      <vt:lpstr>Plano do Escopo</vt:lpstr>
      <vt:lpstr>Plano do Escopo</vt:lpstr>
      <vt:lpstr>Plano do Escopo</vt:lpstr>
      <vt:lpstr>Plano do Escopo</vt:lpstr>
      <vt:lpstr>Plano de Estrutura</vt:lpstr>
      <vt:lpstr>Plano de Estrutura</vt:lpstr>
      <vt:lpstr>Apresentação do PowerPoint</vt:lpstr>
      <vt:lpstr>Plano de Estrutura</vt:lpstr>
      <vt:lpstr>Plano de Estrutura</vt:lpstr>
      <vt:lpstr>Plano de Estrutura</vt:lpstr>
      <vt:lpstr>Modelos Conceituais</vt:lpstr>
      <vt:lpstr>Modelos Conceituais</vt:lpstr>
      <vt:lpstr>Plano de Estrutura</vt:lpstr>
      <vt:lpstr>Plano de Estrutura</vt:lpstr>
      <vt:lpstr>Plano de Estrutura</vt:lpstr>
      <vt:lpstr>Hierárquica</vt:lpstr>
      <vt:lpstr>Plano de Estrutura</vt:lpstr>
      <vt:lpstr>Matriz tridimensional</vt:lpstr>
      <vt:lpstr>Plano de Estrutura</vt:lpstr>
      <vt:lpstr>Orgânica</vt:lpstr>
      <vt:lpstr>Plano de Estrutura</vt:lpstr>
      <vt:lpstr>Sequencial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41</cp:revision>
  <dcterms:created xsi:type="dcterms:W3CDTF">2022-08-15T17:51:41Z</dcterms:created>
  <dcterms:modified xsi:type="dcterms:W3CDTF">2026-03-29T11:43:36Z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0x0101008A6CD9086B7A0143806617CD13B66A8F</vt:lpwstr>
  </property>
</Properties>
</file>