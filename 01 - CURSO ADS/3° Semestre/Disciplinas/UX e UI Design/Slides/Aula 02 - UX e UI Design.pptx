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52"/>
  </p:notesMasterIdLst>
  <p:handoutMasterIdLst>
    <p:handoutMasterId r:id="rId53"/>
  </p:handoutMasterIdLst>
  <p:sldIdLst>
    <p:sldId id="268" r:id="rId5"/>
    <p:sldId id="478" r:id="rId6"/>
    <p:sldId id="439" r:id="rId7"/>
    <p:sldId id="441" r:id="rId8"/>
    <p:sldId id="462" r:id="rId9"/>
    <p:sldId id="461" r:id="rId10"/>
    <p:sldId id="481" r:id="rId11"/>
    <p:sldId id="482" r:id="rId12"/>
    <p:sldId id="483" r:id="rId13"/>
    <p:sldId id="442" r:id="rId14"/>
    <p:sldId id="463" r:id="rId15"/>
    <p:sldId id="488" r:id="rId16"/>
    <p:sldId id="484" r:id="rId17"/>
    <p:sldId id="445" r:id="rId18"/>
    <p:sldId id="446" r:id="rId19"/>
    <p:sldId id="465" r:id="rId20"/>
    <p:sldId id="464" r:id="rId21"/>
    <p:sldId id="447" r:id="rId22"/>
    <p:sldId id="448" r:id="rId23"/>
    <p:sldId id="479" r:id="rId24"/>
    <p:sldId id="468" r:id="rId25"/>
    <p:sldId id="466" r:id="rId26"/>
    <p:sldId id="449" r:id="rId27"/>
    <p:sldId id="450" r:id="rId28"/>
    <p:sldId id="469" r:id="rId29"/>
    <p:sldId id="485" r:id="rId30"/>
    <p:sldId id="451" r:id="rId31"/>
    <p:sldId id="452" r:id="rId32"/>
    <p:sldId id="470" r:id="rId33"/>
    <p:sldId id="487" r:id="rId34"/>
    <p:sldId id="486" r:id="rId35"/>
    <p:sldId id="453" r:id="rId36"/>
    <p:sldId id="454" r:id="rId37"/>
    <p:sldId id="471" r:id="rId38"/>
    <p:sldId id="489" r:id="rId39"/>
    <p:sldId id="472" r:id="rId40"/>
    <p:sldId id="455" r:id="rId41"/>
    <p:sldId id="456" r:id="rId42"/>
    <p:sldId id="473" r:id="rId43"/>
    <p:sldId id="457" r:id="rId44"/>
    <p:sldId id="458" r:id="rId45"/>
    <p:sldId id="474" r:id="rId46"/>
    <p:sldId id="475" r:id="rId47"/>
    <p:sldId id="459" r:id="rId48"/>
    <p:sldId id="460" r:id="rId49"/>
    <p:sldId id="476" r:id="rId50"/>
    <p:sldId id="477" r:id="rId51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EC70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75" autoAdjust="0"/>
    <p:restoredTop sz="94619" autoAdjust="0"/>
  </p:normalViewPr>
  <p:slideViewPr>
    <p:cSldViewPr snapToGrid="0">
      <p:cViewPr varScale="1">
        <p:scale>
          <a:sx n="102" d="100"/>
          <a:sy n="102" d="100"/>
        </p:scale>
        <p:origin x="71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494" y="8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9935E2-E7C1-4ED2-91A8-3D2EF90039F0}" type="datetimeFigureOut">
              <a:rPr lang="pt-BR" smtClean="0"/>
              <a:t>21/02/2026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27CB4-B6D2-4E90-9CC1-824CE88DA95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37642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6FA47-21D5-4047-9471-F01A728B28BE}" type="datetimeFigureOut">
              <a:rPr lang="pt-BR" noProof="0" smtClean="0"/>
              <a:t>21/02/2026</a:t>
            </a:fld>
            <a:endParaRPr lang="pt-BR" noProof="0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/>
            <a:r>
              <a:rPr lang="pt-BR" noProof="0" dirty="0"/>
              <a:t>Segundo nível</a:t>
            </a:r>
          </a:p>
          <a:p>
            <a:pPr lvl="2"/>
            <a:r>
              <a:rPr lang="pt-BR" noProof="0" dirty="0"/>
              <a:t>Terceiro nível</a:t>
            </a:r>
          </a:p>
          <a:p>
            <a:pPr lvl="3"/>
            <a:r>
              <a:rPr lang="pt-BR" noProof="0" dirty="0"/>
              <a:t>Quarto nível</a:t>
            </a:r>
          </a:p>
          <a:p>
            <a:pPr lvl="4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501BF-1D2B-4868-94EC-1ACE4360F5A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587417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3501BF-1D2B-4868-94EC-1ACE4360F5AC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3748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 noProof="0"/>
              <a:t>Clique para editar o estilo do subtítulo Mestre</a:t>
            </a:r>
            <a:endParaRPr lang="pt-BR" noProof="0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058210-3CDA-4DDA-8356-4FED81F3EC11}" type="datetime1">
              <a:rPr lang="pt-BR" noProof="0" smtClean="0"/>
              <a:t>21/02/2026</a:t>
            </a:fld>
            <a:endParaRPr lang="pt-BR" noProof="0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0A45F5-F797-498C-8B7A-1AAECBDA6E61}" type="datetime1">
              <a:rPr lang="pt-BR" noProof="0" smtClean="0"/>
              <a:t>21/02/2026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29AE4E-7FCD-4AA8-8737-FC932D28D25C}" type="datetime1">
              <a:rPr lang="pt-BR" noProof="0" smtClean="0"/>
              <a:t>21/02/2026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469966-2CA8-44E6-8B22-84BCFB10A849}" type="datetime1">
              <a:rPr lang="pt-BR" noProof="0" smtClean="0"/>
              <a:t>21/02/2026</a:t>
            </a:fld>
            <a:endParaRPr lang="pt-BR" noProof="0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BCC592-1277-433B-ABE2-7821BB8F5F47}" type="datetime1">
              <a:rPr lang="pt-BR" noProof="0" smtClean="0"/>
              <a:t>21/02/2026</a:t>
            </a:fld>
            <a:endParaRPr lang="pt-BR" noProof="0" dirty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D34C60-AB26-43CA-BC61-01B53B651217}" type="datetime1">
              <a:rPr lang="pt-BR" noProof="0" smtClean="0"/>
              <a:t>21/02/2026</a:t>
            </a:fld>
            <a:endParaRPr lang="pt-BR" noProof="0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29BC98-DC8A-4339-9F6E-A49DA685FCB7}" type="datetime1">
              <a:rPr lang="pt-BR" noProof="0" smtClean="0"/>
              <a:t>21/02/2026</a:t>
            </a:fld>
            <a:endParaRPr lang="pt-BR" noProof="0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 rtl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 dirty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BA6BBE74-918B-43BF-B29E-5C4A628D9277}" type="datetime1">
              <a:rPr lang="pt-BR" noProof="0" smtClean="0"/>
              <a:t>21/02/2026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0A1C5B49-891F-4320-82CB-3E8E2B9DD127}" type="datetime1">
              <a:rPr lang="pt-BR" noProof="0" smtClean="0"/>
              <a:t>21/02/2026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BA7412EA-3900-4FDB-8760-09BB6255EE2A}" type="datetime1">
              <a:rPr lang="pt-BR" noProof="0" smtClean="0"/>
              <a:t>21/02/2026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microsoft.com/office/2007/relationships/hdphoto" Target="../media/hdphoto1.wdp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3.png"/><Relationship Id="rId5" Type="http://schemas.openxmlformats.org/officeDocument/2006/relationships/image" Target="../media/image2.jp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gif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tângulo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253317" cy="3686015"/>
          </a:xfrm>
        </p:spPr>
        <p:txBody>
          <a:bodyPr rtlCol="0">
            <a:noAutofit/>
          </a:bodyPr>
          <a:lstStyle/>
          <a:p>
            <a:r>
              <a:rPr lang="pt-BR" sz="5400" dirty="0"/>
              <a:t>UX E UI DESIGN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 rtlCol="0">
            <a:normAutofit/>
          </a:bodyPr>
          <a:lstStyle/>
          <a:p>
            <a:pPr rtl="0"/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Prof. Flávio Waltz</a:t>
            </a: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308AC96E-AA33-4309-B51D-072F59E6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56686" y="1"/>
            <a:ext cx="4635315" cy="6857999"/>
          </a:xfrm>
          <a:prstGeom prst="rect">
            <a:avLst/>
          </a:prstGeom>
        </p:spPr>
      </p:pic>
      <p:pic>
        <p:nvPicPr>
          <p:cNvPr id="10" name="Imagem 9" descr="Interface gráfica do usuário, Aplicativo, Teams&#10;&#10;Descrição gerada automaticamente">
            <a:extLst>
              <a:ext uri="{FF2B5EF4-FFF2-40B4-BE49-F238E27FC236}">
                <a16:creationId xmlns:a16="http://schemas.microsoft.com/office/drawing/2014/main" id="{7C8F97D7-93B2-4430-A83E-988894948D5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rcRect l="40429" t="11829" r="26394" b="14631"/>
          <a:stretch/>
        </p:blipFill>
        <p:spPr>
          <a:xfrm>
            <a:off x="7551175" y="0"/>
            <a:ext cx="4640825" cy="6858000"/>
          </a:xfrm>
          <a:prstGeom prst="rect">
            <a:avLst/>
          </a:prstGeom>
        </p:spPr>
      </p:pic>
      <p:pic>
        <p:nvPicPr>
          <p:cNvPr id="13" name="Imagem 12" descr="Logotipo&#10;&#10;Descrição gerada automaticamente">
            <a:extLst>
              <a:ext uri="{FF2B5EF4-FFF2-40B4-BE49-F238E27FC236}">
                <a16:creationId xmlns:a16="http://schemas.microsoft.com/office/drawing/2014/main" id="{00BC911C-ACE2-4EFB-A0CE-485B21E0D3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2898" y="4846553"/>
            <a:ext cx="1773372" cy="1773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 dirty="0"/>
              <a:t>Jakob Nielsen</a:t>
            </a:r>
          </a:p>
        </p:txBody>
      </p:sp>
      <p:pic>
        <p:nvPicPr>
          <p:cNvPr id="5" name="Imagem 4" descr="Homem de terno e gravata sorrindo posando para foto&#10;&#10;Descrição gerada automaticamente">
            <a:extLst>
              <a:ext uri="{FF2B5EF4-FFF2-40B4-BE49-F238E27FC236}">
                <a16:creationId xmlns:a16="http://schemas.microsoft.com/office/drawing/2014/main" id="{1DD76875-548F-5F9E-7C11-18B061B3701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219" r="1" b="3470"/>
          <a:stretch/>
        </p:blipFill>
        <p:spPr>
          <a:xfrm>
            <a:off x="6096000" y="1401915"/>
            <a:ext cx="4539303" cy="4054169"/>
          </a:xfrm>
          <a:prstGeom prst="rect">
            <a:avLst/>
          </a:prstGeom>
          <a:noFill/>
        </p:spPr>
      </p:pic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527AAC7E-B016-1E2F-7DCC-15B8BEF67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/>
              <a:t>Um dos maiores estudiosos da usabilidade</a:t>
            </a:r>
          </a:p>
        </p:txBody>
      </p:sp>
    </p:spTree>
    <p:extLst>
      <p:ext uri="{BB962C8B-B14F-4D97-AF65-F5344CB8AC3E}">
        <p14:creationId xmlns:p14="http://schemas.microsoft.com/office/powerpoint/2010/main" val="2151545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Usabilidade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3500" b="1" dirty="0"/>
              <a:t>As 10 Heurísticas de Usabilidade:</a:t>
            </a:r>
          </a:p>
          <a:p>
            <a:pPr marL="0" indent="0">
              <a:buNone/>
            </a:pPr>
            <a:endParaRPr lang="pt-BR" sz="3500" b="1" dirty="0"/>
          </a:p>
          <a:p>
            <a:pPr marL="0" indent="0">
              <a:buNone/>
            </a:pPr>
            <a:r>
              <a:rPr lang="pt-BR" sz="3500" dirty="0"/>
              <a:t>“as 10 heurísticas em si permaneceram relevantes e inalteradas desde 1994.”</a:t>
            </a:r>
          </a:p>
          <a:p>
            <a:pPr marL="0" indent="0" algn="r">
              <a:buNone/>
            </a:pPr>
            <a:r>
              <a:rPr lang="pt-BR" sz="3500" dirty="0"/>
              <a:t>Jakob Nielsen</a:t>
            </a:r>
          </a:p>
          <a:p>
            <a:pPr marL="0" indent="0">
              <a:buNone/>
            </a:pPr>
            <a:endParaRPr lang="pt-BR" sz="3300" dirty="0"/>
          </a:p>
          <a:p>
            <a:pPr lvl="1"/>
            <a:endParaRPr lang="pt-BR" sz="3300" dirty="0"/>
          </a:p>
        </p:txBody>
      </p:sp>
    </p:spTree>
    <p:extLst>
      <p:ext uri="{BB962C8B-B14F-4D97-AF65-F5344CB8AC3E}">
        <p14:creationId xmlns:p14="http://schemas.microsoft.com/office/powerpoint/2010/main" val="635663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Heurísticas de Nielsen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3500" b="1" dirty="0"/>
              <a:t>1. Visibilidade do status do sistema (feedback):</a:t>
            </a:r>
          </a:p>
          <a:p>
            <a:pPr lvl="2"/>
            <a:r>
              <a:rPr lang="pt-BR" sz="2900" dirty="0"/>
              <a:t>Quando os usuários conhecem o status atual do sistema, eles aprendem o resultado de suas interações anteriores e determinam as próximas etapas. As interações previsíveis criam confiança no produto e na marca.</a:t>
            </a:r>
          </a:p>
        </p:txBody>
      </p:sp>
    </p:spTree>
    <p:extLst>
      <p:ext uri="{BB962C8B-B14F-4D97-AF65-F5344CB8AC3E}">
        <p14:creationId xmlns:p14="http://schemas.microsoft.com/office/powerpoint/2010/main" val="3227616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 dirty="0"/>
              <a:t>Visibilidade do status do sistema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80B5537-AB85-4DE6-ADB5-25D6EB54F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2107" y="812799"/>
            <a:ext cx="5202097" cy="5294757"/>
          </a:xfrm>
          <a:prstGeom prst="rect">
            <a:avLst/>
          </a:prstGeom>
          <a:noFill/>
        </p:spPr>
      </p:pic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771B7523-0C08-4480-941F-E91E7C61C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r>
              <a:rPr lang="pt-BR" dirty="0"/>
              <a:t>A visibilidade do status pode ser apresentada após ação do usuário:</a:t>
            </a:r>
          </a:p>
        </p:txBody>
      </p:sp>
    </p:spTree>
    <p:extLst>
      <p:ext uri="{BB962C8B-B14F-4D97-AF65-F5344CB8AC3E}">
        <p14:creationId xmlns:p14="http://schemas.microsoft.com/office/powerpoint/2010/main" val="2603937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 dirty="0"/>
              <a:t>Visibilidade do status do sistema</a:t>
            </a:r>
          </a:p>
        </p:txBody>
      </p:sp>
      <p:pic>
        <p:nvPicPr>
          <p:cNvPr id="4" name="Imagem 3" descr="Ícone&#10;&#10;Descrição gerada automaticamente">
            <a:extLst>
              <a:ext uri="{FF2B5EF4-FFF2-40B4-BE49-F238E27FC236}">
                <a16:creationId xmlns:a16="http://schemas.microsoft.com/office/drawing/2014/main" id="{8EAE40CC-7F42-C6AA-67CB-3B2D9707E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984" y="1363024"/>
            <a:ext cx="5928344" cy="4194306"/>
          </a:xfrm>
          <a:prstGeom prst="rect">
            <a:avLst/>
          </a:prstGeom>
          <a:noFill/>
        </p:spPr>
      </p:pic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771B7523-0C08-4480-941F-E91E7C61C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r>
              <a:rPr lang="pt-BR"/>
              <a:t>A visibilidade do status pode ser persistente:</a:t>
            </a:r>
          </a:p>
        </p:txBody>
      </p:sp>
    </p:spTree>
    <p:extLst>
      <p:ext uri="{BB962C8B-B14F-4D97-AF65-F5344CB8AC3E}">
        <p14:creationId xmlns:p14="http://schemas.microsoft.com/office/powerpoint/2010/main" val="3542203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68181-D31F-9AA9-622C-0002014C1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8D4C8-0ACB-2F1A-6505-94F9508AC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 dirty="0"/>
              <a:t>Visibilidade do status do sistema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A25FB362-7CE4-08FA-8B8C-A4E9B6A82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endParaRPr lang="pt-BR" dirty="0"/>
          </a:p>
        </p:txBody>
      </p:sp>
      <p:pic>
        <p:nvPicPr>
          <p:cNvPr id="5" name="Imagem 4" descr="Gráfico, Ícone&#10;&#10;O conteúdo gerado por IA pode estar incorreto.">
            <a:extLst>
              <a:ext uri="{FF2B5EF4-FFF2-40B4-BE49-F238E27FC236}">
                <a16:creationId xmlns:a16="http://schemas.microsoft.com/office/drawing/2014/main" id="{E708E487-2A80-DEDF-1986-2499D73BF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3798" y="2043112"/>
            <a:ext cx="4200525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63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75717-67D0-7B16-C830-5BB231A64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C7484B92-99ED-E7FC-79B6-204B4B1356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86" r="10606"/>
          <a:stretch>
            <a:fillRect/>
          </a:stretch>
        </p:blipFill>
        <p:spPr>
          <a:xfrm>
            <a:off x="4656667" y="1"/>
            <a:ext cx="7535334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1FC5054-DF07-75BE-F36E-D852DACC3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 dirty="0"/>
              <a:t>Visibilidade do status do sistema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4B63C194-37CE-AED2-1F31-B8C9D4DA96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5610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7CF07-B907-2C25-5970-AF232F1DB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B035D1-36BE-36CC-B01C-B9E1F43C2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 dirty="0"/>
              <a:t>Visibilidade do status do sistema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A447EE3A-1768-40E9-5A21-1FD9022946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endParaRPr lang="pt-BR" dirty="0"/>
          </a:p>
        </p:txBody>
      </p:sp>
      <p:pic>
        <p:nvPicPr>
          <p:cNvPr id="4" name="Imagem 3" descr="Uma imagem contendo Gráfico&#10;&#10;O conteúdo gerado por IA pode estar incorreto.">
            <a:extLst>
              <a:ext uri="{FF2B5EF4-FFF2-40B4-BE49-F238E27FC236}">
                <a16:creationId xmlns:a16="http://schemas.microsoft.com/office/drawing/2014/main" id="{8D1EDD49-964C-066F-7D37-A91E86AAA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332" y="678941"/>
            <a:ext cx="7333489" cy="550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166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Heurísticas de Nielsen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3500" b="1" dirty="0"/>
              <a:t>2. Correspondência entre o sistema e o mundo real:</a:t>
            </a:r>
          </a:p>
          <a:p>
            <a:pPr lvl="2"/>
            <a:r>
              <a:rPr lang="pt-BR" sz="2900" dirty="0"/>
              <a:t>O design deve falar a linguagem dos usuários. Use palavras, frases e conceitos familiares ao usuário, em vez de jargão interno. Siga as convenções do mundo real, fazendo com que as informações apareçam em uma ordem natural e lógica.</a:t>
            </a:r>
            <a:endParaRPr lang="pt-BR" sz="2500" dirty="0"/>
          </a:p>
        </p:txBody>
      </p:sp>
    </p:spTree>
    <p:extLst>
      <p:ext uri="{BB962C8B-B14F-4D97-AF65-F5344CB8AC3E}">
        <p14:creationId xmlns:p14="http://schemas.microsoft.com/office/powerpoint/2010/main" val="3608006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2BC9D035-68B4-1057-729E-8F03F76D2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 sz="3200" dirty="0"/>
              <a:t>Correspondência entre o sistema e o mundo real: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D993D-3B8F-43FB-ABAC-F621B0407938}"/>
              </a:ext>
            </a:extLst>
          </p:cNvPr>
          <p:cNvSpPr txBox="1">
            <a:spLocks/>
          </p:cNvSpPr>
          <p:nvPr/>
        </p:nvSpPr>
        <p:spPr>
          <a:xfrm>
            <a:off x="1219201" y="269965"/>
            <a:ext cx="9753600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3600" dirty="0">
              <a:solidFill>
                <a:schemeClr val="tx2"/>
              </a:solidFill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C2F2C122-6F43-1B71-5BEF-FAC25CD4CE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9700" y="292100"/>
            <a:ext cx="3136900" cy="31369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EFE4D275-AD2D-0942-91F3-99981C4BAD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14645" y="3483790"/>
            <a:ext cx="3041955" cy="3041955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BED2C702-39B3-32DC-16F4-DE48E9B282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32588" y="616256"/>
            <a:ext cx="2711146" cy="2711146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6791DF37-1027-4089-4967-40A2011CCA6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34577" y="3914317"/>
            <a:ext cx="2307167" cy="2307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476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1548E-7424-4EC9-F815-26588AC56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8F4B8851-9CDA-2B17-72D0-767C40E18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 sz="3200" dirty="0"/>
              <a:t>Correspondência entre o sistema e o mundo real: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B8E23F-B8BE-D0C7-AFF4-6CD09FFF555A}"/>
              </a:ext>
            </a:extLst>
          </p:cNvPr>
          <p:cNvSpPr txBox="1">
            <a:spLocks/>
          </p:cNvSpPr>
          <p:nvPr/>
        </p:nvSpPr>
        <p:spPr>
          <a:xfrm>
            <a:off x="1219201" y="269965"/>
            <a:ext cx="9753600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3600" dirty="0">
              <a:solidFill>
                <a:schemeClr val="tx2"/>
              </a:solidFill>
            </a:endParaRP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86863F3D-9CB1-4507-0099-26D1D5B333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54697" y="1664027"/>
            <a:ext cx="3529945" cy="352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188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74A3F-A609-A228-6E9E-8D74EE2C9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8E80E3B8-A352-9091-FA44-9FD5113D6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 sz="3200" dirty="0"/>
              <a:t>Correspondência entre o sistema e o mundo real: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EFDD29-15E1-7AAE-189D-D243CBF762E8}"/>
              </a:ext>
            </a:extLst>
          </p:cNvPr>
          <p:cNvSpPr txBox="1">
            <a:spLocks/>
          </p:cNvSpPr>
          <p:nvPr/>
        </p:nvSpPr>
        <p:spPr>
          <a:xfrm>
            <a:off x="1219201" y="269965"/>
            <a:ext cx="9753600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3600" dirty="0">
              <a:solidFill>
                <a:schemeClr val="tx2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8306F5C-28FD-2F15-01E4-9D166E3CC90A}"/>
              </a:ext>
            </a:extLst>
          </p:cNvPr>
          <p:cNvSpPr txBox="1"/>
          <p:nvPr/>
        </p:nvSpPr>
        <p:spPr>
          <a:xfrm>
            <a:off x="6412584" y="2234027"/>
            <a:ext cx="47487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dirty="0"/>
              <a:t>Data: DD/MM/AAAA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109BA2C-8592-6BC4-4321-B0A7ADE9078C}"/>
              </a:ext>
            </a:extLst>
          </p:cNvPr>
          <p:cNvSpPr txBox="1"/>
          <p:nvPr/>
        </p:nvSpPr>
        <p:spPr>
          <a:xfrm>
            <a:off x="6412584" y="3331312"/>
            <a:ext cx="47487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dirty="0"/>
              <a:t>Data: MM/DD/YYYY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3B74B7F-B0E2-015A-704F-F9871DADB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649861" cy="3064505"/>
          </a:xfrm>
        </p:spPr>
        <p:txBody>
          <a:bodyPr>
            <a:normAutofit/>
          </a:bodyPr>
          <a:lstStyle/>
          <a:p>
            <a:r>
              <a:rPr lang="en-US" dirty="0" err="1"/>
              <a:t>Adaptação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</a:t>
            </a:r>
            <a:r>
              <a:rPr lang="en-US" dirty="0" err="1"/>
              <a:t>público</a:t>
            </a:r>
            <a:r>
              <a:rPr lang="en-US" dirty="0"/>
              <a:t> e à </a:t>
            </a:r>
            <a:r>
              <a:rPr lang="en-US" dirty="0" err="1"/>
              <a:t>região</a:t>
            </a:r>
            <a:r>
              <a:rPr lang="en-US" dirty="0"/>
              <a:t> de </a:t>
            </a:r>
            <a:r>
              <a:rPr lang="en-US" dirty="0" err="1"/>
              <a:t>utilização</a:t>
            </a:r>
            <a:r>
              <a:rPr lang="en-US" dirty="0"/>
              <a:t> do </a:t>
            </a:r>
            <a:r>
              <a:rPr lang="en-US" dirty="0" err="1"/>
              <a:t>sistema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117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Heurísticas de Nielsen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3500" b="1" dirty="0"/>
              <a:t>3. Controle e liberdade do usuário:</a:t>
            </a:r>
          </a:p>
          <a:p>
            <a:pPr lvl="2"/>
            <a:r>
              <a:rPr lang="pt-BR" sz="2900" dirty="0"/>
              <a:t>Os usuários geralmente executam ações por engano. Eles precisam de uma "saída de emergência" claramente marcada para deixar a ação indesejada sem ter que passar por um processo prolongado.</a:t>
            </a:r>
            <a:endParaRPr lang="pt-BR" sz="2500" dirty="0"/>
          </a:p>
        </p:txBody>
      </p:sp>
    </p:spTree>
    <p:extLst>
      <p:ext uri="{BB962C8B-B14F-4D97-AF65-F5344CB8AC3E}">
        <p14:creationId xmlns:p14="http://schemas.microsoft.com/office/powerpoint/2010/main" val="7300591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2BC9D035-68B4-1057-729E-8F03F76D2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 sz="3100" dirty="0"/>
              <a:t>Controle e liberdade do usuário:</a:t>
            </a:r>
          </a:p>
        </p:txBody>
      </p:sp>
      <p:pic>
        <p:nvPicPr>
          <p:cNvPr id="4" name="Imagem 3" descr="Gráfico&#10;&#10;Descrição gerada automaticamente">
            <a:extLst>
              <a:ext uri="{FF2B5EF4-FFF2-40B4-BE49-F238E27FC236}">
                <a16:creationId xmlns:a16="http://schemas.microsoft.com/office/drawing/2014/main" id="{D4EF20CE-25CD-4A32-ABC1-5FC370F6A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984" y="1355615"/>
            <a:ext cx="5928344" cy="4209124"/>
          </a:xfrm>
          <a:prstGeom prst="rect">
            <a:avLst/>
          </a:prstGeom>
          <a:noFill/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C98312D-B464-8001-48F9-78643F678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649861" cy="3064505"/>
          </a:xfrm>
        </p:spPr>
        <p:txBody>
          <a:bodyPr>
            <a:normAutofit/>
          </a:bodyPr>
          <a:lstStyle/>
          <a:p>
            <a:r>
              <a:rPr lang="en-US" dirty="0" err="1"/>
              <a:t>Permitir</a:t>
            </a:r>
            <a:r>
              <a:rPr lang="en-US" dirty="0"/>
              <a:t> </a:t>
            </a:r>
            <a:r>
              <a:rPr lang="en-US" dirty="0" err="1"/>
              <a:t>ações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“</a:t>
            </a:r>
            <a:r>
              <a:rPr lang="en-US" dirty="0" err="1"/>
              <a:t>desfazer</a:t>
            </a:r>
            <a:r>
              <a:rPr lang="en-US" dirty="0"/>
              <a:t>” e “</a:t>
            </a:r>
            <a:r>
              <a:rPr lang="en-US" dirty="0" err="1"/>
              <a:t>refazer</a:t>
            </a:r>
            <a:r>
              <a:rPr lang="en-US" dirty="0"/>
              <a:t>”, </a:t>
            </a:r>
            <a:r>
              <a:rPr lang="en-US" dirty="0" err="1"/>
              <a:t>botões</a:t>
            </a:r>
            <a:r>
              <a:rPr lang="en-US" dirty="0"/>
              <a:t> de </a:t>
            </a:r>
            <a:r>
              <a:rPr lang="en-US" dirty="0" err="1"/>
              <a:t>cancelamento</a:t>
            </a:r>
            <a:r>
              <a:rPr lang="en-US" dirty="0"/>
              <a:t> etc.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D993D-3B8F-43FB-ABAC-F621B0407938}"/>
              </a:ext>
            </a:extLst>
          </p:cNvPr>
          <p:cNvSpPr txBox="1">
            <a:spLocks/>
          </p:cNvSpPr>
          <p:nvPr/>
        </p:nvSpPr>
        <p:spPr>
          <a:xfrm>
            <a:off x="1219201" y="269965"/>
            <a:ext cx="9753600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3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0023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2BC9D035-68B4-1057-729E-8F03F76D2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/>
              <a:t>Controle e liberdade do usuário: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D993D-3B8F-43FB-ABAC-F621B0407938}"/>
              </a:ext>
            </a:extLst>
          </p:cNvPr>
          <p:cNvSpPr txBox="1">
            <a:spLocks/>
          </p:cNvSpPr>
          <p:nvPr/>
        </p:nvSpPr>
        <p:spPr>
          <a:xfrm>
            <a:off x="1219201" y="269965"/>
            <a:ext cx="9753600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3600" dirty="0">
              <a:solidFill>
                <a:schemeClr val="tx2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EEA37F8-7391-4AFD-B235-67F9F06E0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17566"/>
            <a:ext cx="4714309" cy="1822867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D8AB0F0-AA09-39FC-042F-40FB81A96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649861" cy="3064505"/>
          </a:xfrm>
        </p:spPr>
        <p:txBody>
          <a:bodyPr>
            <a:normAutofit/>
          </a:bodyPr>
          <a:lstStyle/>
          <a:p>
            <a:r>
              <a:rPr lang="en-US" dirty="0" err="1"/>
              <a:t>Permitir</a:t>
            </a:r>
            <a:r>
              <a:rPr lang="en-US" dirty="0"/>
              <a:t> </a:t>
            </a:r>
            <a:r>
              <a:rPr lang="en-US" dirty="0" err="1"/>
              <a:t>ações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“</a:t>
            </a:r>
            <a:r>
              <a:rPr lang="en-US" dirty="0" err="1"/>
              <a:t>desfazer</a:t>
            </a:r>
            <a:r>
              <a:rPr lang="en-US" dirty="0"/>
              <a:t>” e “</a:t>
            </a:r>
            <a:r>
              <a:rPr lang="en-US" dirty="0" err="1"/>
              <a:t>refazer</a:t>
            </a:r>
            <a:r>
              <a:rPr lang="en-US" dirty="0"/>
              <a:t>”, </a:t>
            </a:r>
            <a:r>
              <a:rPr lang="en-US" dirty="0" err="1"/>
              <a:t>botões</a:t>
            </a:r>
            <a:r>
              <a:rPr lang="en-US" dirty="0"/>
              <a:t> de </a:t>
            </a:r>
            <a:r>
              <a:rPr lang="en-US" dirty="0" err="1"/>
              <a:t>cancelamento</a:t>
            </a:r>
            <a:r>
              <a:rPr lang="en-US" dirty="0"/>
              <a:t> etc.</a:t>
            </a:r>
          </a:p>
        </p:txBody>
      </p:sp>
    </p:spTree>
    <p:extLst>
      <p:ext uri="{BB962C8B-B14F-4D97-AF65-F5344CB8AC3E}">
        <p14:creationId xmlns:p14="http://schemas.microsoft.com/office/powerpoint/2010/main" val="3079826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2BC9D035-68B4-1057-729E-8F03F76D2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/>
              <a:t>Controle e liberdade do usuário:</a:t>
            </a:r>
          </a:p>
        </p:txBody>
      </p:sp>
      <p:pic>
        <p:nvPicPr>
          <p:cNvPr id="2" name="Imagem 1" descr="Interface gráfica do usuário, Texto, Aplicativo, chat ou mensagem de texto&#10;&#10;Descrição gerada automaticamente">
            <a:extLst>
              <a:ext uri="{FF2B5EF4-FFF2-40B4-BE49-F238E27FC236}">
                <a16:creationId xmlns:a16="http://schemas.microsoft.com/office/drawing/2014/main" id="{9EB4F1FC-2E45-6FD1-6278-20A6F6DCA2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0134" y="812799"/>
            <a:ext cx="3746043" cy="5294757"/>
          </a:xfrm>
          <a:prstGeom prst="rect">
            <a:avLst/>
          </a:prstGeom>
          <a:noFill/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D993D-3B8F-43FB-ABAC-F621B0407938}"/>
              </a:ext>
            </a:extLst>
          </p:cNvPr>
          <p:cNvSpPr txBox="1">
            <a:spLocks/>
          </p:cNvSpPr>
          <p:nvPr/>
        </p:nvSpPr>
        <p:spPr>
          <a:xfrm>
            <a:off x="1219201" y="269965"/>
            <a:ext cx="9753600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3600" dirty="0">
              <a:solidFill>
                <a:schemeClr val="tx2"/>
              </a:solidFill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4C4CF01-EED5-A7D7-6B0B-C494044CD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649861" cy="3064505"/>
          </a:xfrm>
        </p:spPr>
        <p:txBody>
          <a:bodyPr>
            <a:normAutofit/>
          </a:bodyPr>
          <a:lstStyle/>
          <a:p>
            <a:r>
              <a:rPr lang="en-US" dirty="0" err="1"/>
              <a:t>Permitir</a:t>
            </a:r>
            <a:r>
              <a:rPr lang="en-US" dirty="0"/>
              <a:t> </a:t>
            </a:r>
            <a:r>
              <a:rPr lang="en-US" dirty="0" err="1"/>
              <a:t>ações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“</a:t>
            </a:r>
            <a:r>
              <a:rPr lang="en-US" dirty="0" err="1"/>
              <a:t>desfazer</a:t>
            </a:r>
            <a:r>
              <a:rPr lang="en-US" dirty="0"/>
              <a:t>” e “</a:t>
            </a:r>
            <a:r>
              <a:rPr lang="en-US" dirty="0" err="1"/>
              <a:t>refazer</a:t>
            </a:r>
            <a:r>
              <a:rPr lang="en-US" dirty="0"/>
              <a:t>”, </a:t>
            </a:r>
            <a:r>
              <a:rPr lang="en-US" dirty="0" err="1"/>
              <a:t>botões</a:t>
            </a:r>
            <a:r>
              <a:rPr lang="en-US" dirty="0"/>
              <a:t> de </a:t>
            </a:r>
            <a:r>
              <a:rPr lang="en-US" dirty="0" err="1"/>
              <a:t>cancelamento</a:t>
            </a:r>
            <a:r>
              <a:rPr lang="en-US" dirty="0"/>
              <a:t> etc.</a:t>
            </a:r>
          </a:p>
        </p:txBody>
      </p:sp>
    </p:spTree>
    <p:extLst>
      <p:ext uri="{BB962C8B-B14F-4D97-AF65-F5344CB8AC3E}">
        <p14:creationId xmlns:p14="http://schemas.microsoft.com/office/powerpoint/2010/main" val="14698153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Heurísticas de Nielsen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3500" b="1" dirty="0"/>
              <a:t>4. Consistência e padrões:</a:t>
            </a:r>
          </a:p>
          <a:p>
            <a:pPr lvl="2"/>
            <a:r>
              <a:rPr lang="pt-BR" sz="2900" dirty="0"/>
              <a:t>Os usuários não devem se perguntar se palavras, situações ou ações diferentes significam a mesma coisa. Siga as convenções da plataforma e do setor.</a:t>
            </a:r>
            <a:endParaRPr lang="pt-BR" sz="2500" dirty="0"/>
          </a:p>
        </p:txBody>
      </p:sp>
    </p:spTree>
    <p:extLst>
      <p:ext uri="{BB962C8B-B14F-4D97-AF65-F5344CB8AC3E}">
        <p14:creationId xmlns:p14="http://schemas.microsoft.com/office/powerpoint/2010/main" val="29090019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2BC9D035-68B4-1057-729E-8F03F76D2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 dirty="0"/>
              <a:t>Consistência e padrões:</a:t>
            </a:r>
          </a:p>
        </p:txBody>
      </p:sp>
      <p:pic>
        <p:nvPicPr>
          <p:cNvPr id="5" name="Imagem 4" descr="Interface gráfica do usuário&#10;&#10;Descrição gerada automaticamente">
            <a:extLst>
              <a:ext uri="{FF2B5EF4-FFF2-40B4-BE49-F238E27FC236}">
                <a16:creationId xmlns:a16="http://schemas.microsoft.com/office/drawing/2014/main" id="{57EF3A0D-737D-47C3-B62D-029562A96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984" y="1355615"/>
            <a:ext cx="5928344" cy="4209124"/>
          </a:xfrm>
          <a:prstGeom prst="rect">
            <a:avLst/>
          </a:prstGeom>
          <a:noFill/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C98312D-B464-8001-48F9-78643F678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r>
              <a:rPr lang="pt-BR" dirty="0"/>
              <a:t>Os balcões de check-in geralmente estão localizados na frente dos hotéis.</a:t>
            </a:r>
          </a:p>
          <a:p>
            <a:r>
              <a:rPr lang="pt-BR" dirty="0"/>
              <a:t>Essa consistência atende às expectativas dos clientes.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D993D-3B8F-43FB-ABAC-F621B0407938}"/>
              </a:ext>
            </a:extLst>
          </p:cNvPr>
          <p:cNvSpPr txBox="1">
            <a:spLocks/>
          </p:cNvSpPr>
          <p:nvPr/>
        </p:nvSpPr>
        <p:spPr>
          <a:xfrm>
            <a:off x="1219201" y="269965"/>
            <a:ext cx="9753600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3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5416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2BC9D035-68B4-1057-729E-8F03F76D2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dirty="0"/>
              <a:t>Consistência e padrões: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C98312D-B464-8001-48F9-78643F678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>
            <a:normAutofit/>
          </a:bodyPr>
          <a:lstStyle/>
          <a:p>
            <a:r>
              <a:rPr lang="pt-BR" dirty="0"/>
              <a:t>Consistência interna: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D993D-3B8F-43FB-ABAC-F621B0407938}"/>
              </a:ext>
            </a:extLst>
          </p:cNvPr>
          <p:cNvSpPr txBox="1">
            <a:spLocks/>
          </p:cNvSpPr>
          <p:nvPr/>
        </p:nvSpPr>
        <p:spPr>
          <a:xfrm>
            <a:off x="1219201" y="269965"/>
            <a:ext cx="9753600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3600" dirty="0">
              <a:solidFill>
                <a:schemeClr val="tx2"/>
              </a:solidFill>
            </a:endParaRPr>
          </a:p>
        </p:txBody>
      </p:sp>
      <p:pic>
        <p:nvPicPr>
          <p:cNvPr id="2" name="Imagem 1" descr="Interface gráfica do usuário, Texto&#10;&#10;Descrição gerada automaticamente">
            <a:extLst>
              <a:ext uri="{FF2B5EF4-FFF2-40B4-BE49-F238E27FC236}">
                <a16:creationId xmlns:a16="http://schemas.microsoft.com/office/drawing/2014/main" id="{85CB1443-51C3-11B2-DA56-5D8FC787BC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391" y="1314956"/>
            <a:ext cx="6761218" cy="236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981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2BC9D035-68B4-1057-729E-8F03F76D2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dirty="0"/>
              <a:t>Consistência e padrões: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C98312D-B464-8001-48F9-78643F678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>
            <a:normAutofit/>
          </a:bodyPr>
          <a:lstStyle/>
          <a:p>
            <a:r>
              <a:rPr lang="pt-BR" dirty="0"/>
              <a:t>Consistência externa: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D993D-3B8F-43FB-ABAC-F621B0407938}"/>
              </a:ext>
            </a:extLst>
          </p:cNvPr>
          <p:cNvSpPr txBox="1">
            <a:spLocks/>
          </p:cNvSpPr>
          <p:nvPr/>
        </p:nvSpPr>
        <p:spPr>
          <a:xfrm>
            <a:off x="1219201" y="269965"/>
            <a:ext cx="9753600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3600" dirty="0">
              <a:solidFill>
                <a:schemeClr val="tx2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6437C40-C111-40C4-A05C-911D36B89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49" y="1920986"/>
            <a:ext cx="11650701" cy="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1403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A276B1BD-2A40-4966-90EC-EBBC3DDD0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74" y="922735"/>
            <a:ext cx="11110452" cy="3027598"/>
          </a:xfrm>
          <a:prstGeom prst="rect">
            <a:avLst/>
          </a:prstGeom>
          <a:noFill/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2BC9D035-68B4-1057-729E-8F03F76D2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dirty="0"/>
              <a:t>Consistência e padrões: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C98312D-B464-8001-48F9-78643F678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>
            <a:normAutofit/>
          </a:bodyPr>
          <a:lstStyle/>
          <a:p>
            <a:r>
              <a:rPr lang="pt-BR" dirty="0"/>
              <a:t>Consistência interna: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D993D-3B8F-43FB-ABAC-F621B0407938}"/>
              </a:ext>
            </a:extLst>
          </p:cNvPr>
          <p:cNvSpPr txBox="1">
            <a:spLocks/>
          </p:cNvSpPr>
          <p:nvPr/>
        </p:nvSpPr>
        <p:spPr>
          <a:xfrm>
            <a:off x="1219201" y="269965"/>
            <a:ext cx="9753600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3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70576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Heurísticas de Nielsen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3500" b="1" dirty="0"/>
              <a:t>5. Prevenção de erros:</a:t>
            </a:r>
          </a:p>
          <a:p>
            <a:pPr lvl="2"/>
            <a:r>
              <a:rPr lang="pt-BR" sz="2900" dirty="0"/>
              <a:t>Boas mensagens de erro são importantes, mas os melhores designs evitam cuidadosamente a ocorrência de problemas. Elimine as condições propensas a erros ou verifique-as e apresente aos usuários uma opção de confirmação antes de se comprometerem com a ação.</a:t>
            </a:r>
            <a:endParaRPr lang="pt-BR" sz="2500" dirty="0"/>
          </a:p>
        </p:txBody>
      </p:sp>
    </p:spTree>
    <p:extLst>
      <p:ext uri="{BB962C8B-B14F-4D97-AF65-F5344CB8AC3E}">
        <p14:creationId xmlns:p14="http://schemas.microsoft.com/office/powerpoint/2010/main" val="11057966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2BC9D035-68B4-1057-729E-8F03F76D2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 dirty="0"/>
              <a:t>Prevenção de erros:</a:t>
            </a:r>
          </a:p>
        </p:txBody>
      </p:sp>
      <p:pic>
        <p:nvPicPr>
          <p:cNvPr id="4" name="Imagem 3" descr="Forma, Seta&#10;&#10;Descrição gerada automaticamente">
            <a:extLst>
              <a:ext uri="{FF2B5EF4-FFF2-40B4-BE49-F238E27FC236}">
                <a16:creationId xmlns:a16="http://schemas.microsoft.com/office/drawing/2014/main" id="{FBE797F6-60A9-4503-BA6D-A8832A894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984" y="1355615"/>
            <a:ext cx="5928344" cy="4209124"/>
          </a:xfrm>
          <a:prstGeom prst="rect">
            <a:avLst/>
          </a:prstGeom>
          <a:noFill/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C98312D-B464-8001-48F9-78643F678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r>
              <a:rPr lang="pt-BR" dirty="0"/>
              <a:t>As grades de proteção nas estradas sinuosas das montanhas evitam que os motoristas caiam de penhascos.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D993D-3B8F-43FB-ABAC-F621B0407938}"/>
              </a:ext>
            </a:extLst>
          </p:cNvPr>
          <p:cNvSpPr txBox="1">
            <a:spLocks/>
          </p:cNvSpPr>
          <p:nvPr/>
        </p:nvSpPr>
        <p:spPr>
          <a:xfrm>
            <a:off x="1219201" y="269965"/>
            <a:ext cx="9753600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3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87701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2BC9D035-68B4-1057-729E-8F03F76D2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 dirty="0"/>
              <a:t>Prevenção de erros:</a:t>
            </a:r>
          </a:p>
        </p:txBody>
      </p:sp>
      <p:pic>
        <p:nvPicPr>
          <p:cNvPr id="2" name="Imagem 1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55708035-A131-819E-EA4F-ED182AF6E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984" y="2548694"/>
            <a:ext cx="5928344" cy="1822967"/>
          </a:xfrm>
          <a:prstGeom prst="rect">
            <a:avLst/>
          </a:prstGeom>
          <a:noFill/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C98312D-B464-8001-48F9-78643F678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r>
              <a:rPr lang="pt-BR" dirty="0"/>
              <a:t>Exigir confirmação para ações críticas do usuário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D993D-3B8F-43FB-ABAC-F621B0407938}"/>
              </a:ext>
            </a:extLst>
          </p:cNvPr>
          <p:cNvSpPr txBox="1">
            <a:spLocks/>
          </p:cNvSpPr>
          <p:nvPr/>
        </p:nvSpPr>
        <p:spPr>
          <a:xfrm>
            <a:off x="1219201" y="269965"/>
            <a:ext cx="9753600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3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85841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E9369-9788-45E1-794F-FCB771335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ABE4181A-375A-2704-D689-F23F08F5B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 dirty="0"/>
              <a:t>Prevenção de erros: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B907C0E-4534-6353-A32A-B19E50A9D2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r>
              <a:rPr lang="pt-BR" dirty="0"/>
              <a:t>Limitar possibilidades e evitar digitação desnecessária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28F20B-B9B2-DF13-EA64-F6D36A2106B1}"/>
              </a:ext>
            </a:extLst>
          </p:cNvPr>
          <p:cNvSpPr txBox="1">
            <a:spLocks/>
          </p:cNvSpPr>
          <p:nvPr/>
        </p:nvSpPr>
        <p:spPr>
          <a:xfrm>
            <a:off x="1219201" y="269965"/>
            <a:ext cx="9753600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3600" dirty="0">
              <a:solidFill>
                <a:schemeClr val="tx2"/>
              </a:solidFill>
            </a:endParaRPr>
          </a:p>
        </p:txBody>
      </p:sp>
      <p:pic>
        <p:nvPicPr>
          <p:cNvPr id="7" name="Imagem 6" descr="Tela de um aparelho eletrônico com botões coloridos&#10;&#10;O conteúdo gerado por IA pode estar incorreto.">
            <a:extLst>
              <a:ext uri="{FF2B5EF4-FFF2-40B4-BE49-F238E27FC236}">
                <a16:creationId xmlns:a16="http://schemas.microsoft.com/office/drawing/2014/main" id="{8B861FD5-1493-9953-A343-6A83EA777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531" y="0"/>
            <a:ext cx="67058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1275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Heurísticas de Nielsen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3500" b="1" dirty="0"/>
              <a:t>6. Reconhecimento ao invés de lembrança:</a:t>
            </a:r>
          </a:p>
          <a:p>
            <a:pPr lvl="2"/>
            <a:r>
              <a:rPr lang="pt-BR" sz="2900" dirty="0"/>
              <a:t>Minimize a carga de memória do usuário tornando visíveis elementos, ações e opções. O usuário não deve ter que lembrar informações de uma parte da interface para outra. As informações necessárias para usar o design devem ser visíveis ou facilmente recuperáveis quando necessário.</a:t>
            </a:r>
            <a:endParaRPr lang="pt-BR" sz="2500" dirty="0"/>
          </a:p>
        </p:txBody>
      </p:sp>
    </p:spTree>
    <p:extLst>
      <p:ext uri="{BB962C8B-B14F-4D97-AF65-F5344CB8AC3E}">
        <p14:creationId xmlns:p14="http://schemas.microsoft.com/office/powerpoint/2010/main" val="10065578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2BC9D035-68B4-1057-729E-8F03F76D2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 dirty="0"/>
              <a:t>Reconhecer ao invés de lembrar:</a:t>
            </a:r>
          </a:p>
        </p:txBody>
      </p:sp>
      <p:pic>
        <p:nvPicPr>
          <p:cNvPr id="5" name="Imagem 4" descr="Uma imagem contendo lego, brinquedo&#10;&#10;Descrição gerada automaticamente">
            <a:extLst>
              <a:ext uri="{FF2B5EF4-FFF2-40B4-BE49-F238E27FC236}">
                <a16:creationId xmlns:a16="http://schemas.microsoft.com/office/drawing/2014/main" id="{3079CB7D-2336-4082-9898-02E1C6C90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984" y="1355615"/>
            <a:ext cx="5928344" cy="4209124"/>
          </a:xfrm>
          <a:prstGeom prst="rect">
            <a:avLst/>
          </a:prstGeom>
          <a:noFill/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C98312D-B464-8001-48F9-78643F678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r>
              <a:rPr lang="pt-BR" dirty="0"/>
              <a:t>Reconhecer: “Lisboa é a capital de Portugal?”</a:t>
            </a:r>
          </a:p>
          <a:p>
            <a:r>
              <a:rPr lang="pt-BR" dirty="0"/>
              <a:t>Lembrar: “Qual é a capital de Portugal?”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D993D-3B8F-43FB-ABAC-F621B0407938}"/>
              </a:ext>
            </a:extLst>
          </p:cNvPr>
          <p:cNvSpPr txBox="1">
            <a:spLocks/>
          </p:cNvSpPr>
          <p:nvPr/>
        </p:nvSpPr>
        <p:spPr>
          <a:xfrm>
            <a:off x="1219201" y="269965"/>
            <a:ext cx="9753600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3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21627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2BC9D035-68B4-1057-729E-8F03F76D2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 dirty="0"/>
              <a:t>Reconhecer ao invés de lembrar: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C98312D-B464-8001-48F9-78643F678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6" y="3043050"/>
            <a:ext cx="3290498" cy="3064505"/>
          </a:xfrm>
        </p:spPr>
        <p:txBody>
          <a:bodyPr>
            <a:normAutofit/>
          </a:bodyPr>
          <a:lstStyle/>
          <a:p>
            <a:r>
              <a:rPr lang="pt-BR" dirty="0"/>
              <a:t>É fácil reconhecer um menu tradicional. O usuário não deve ter que lembrar onde está armazenado o conteúdo de cada site que acessa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D993D-3B8F-43FB-ABAC-F621B0407938}"/>
              </a:ext>
            </a:extLst>
          </p:cNvPr>
          <p:cNvSpPr txBox="1">
            <a:spLocks/>
          </p:cNvSpPr>
          <p:nvPr/>
        </p:nvSpPr>
        <p:spPr>
          <a:xfrm>
            <a:off x="1219201" y="269965"/>
            <a:ext cx="9753600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3600" dirty="0">
              <a:solidFill>
                <a:schemeClr val="tx2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9DB5E9F-7C6D-4C33-8D80-3E3C94BC7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847" y="0"/>
            <a:ext cx="3290497" cy="6858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B2A0144-667C-41D2-AAAC-3FCC38AEE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0222" y="0"/>
            <a:ext cx="3332230" cy="6858000"/>
          </a:xfrm>
          <a:prstGeom prst="rect">
            <a:avLst/>
          </a:prstGeom>
        </p:spPr>
      </p:pic>
      <p:sp>
        <p:nvSpPr>
          <p:cNvPr id="8" name="Elipse 7">
            <a:extLst>
              <a:ext uri="{FF2B5EF4-FFF2-40B4-BE49-F238E27FC236}">
                <a16:creationId xmlns:a16="http://schemas.microsoft.com/office/drawing/2014/main" id="{E95F8B33-CAB2-447A-9BEE-C344ACA41C90}"/>
              </a:ext>
            </a:extLst>
          </p:cNvPr>
          <p:cNvSpPr/>
          <p:nvPr/>
        </p:nvSpPr>
        <p:spPr>
          <a:xfrm>
            <a:off x="7833456" y="814737"/>
            <a:ext cx="561605" cy="56160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8102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3E244-2A5C-927E-8923-45C88D40B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E3514664-FCD2-03B7-680D-08AECBCB3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dirty="0"/>
              <a:t>Reconhecer ao invés de lembrar: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D1F972D0-E21E-8045-7A20-D5B89A4471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Evitem</a:t>
            </a:r>
            <a:r>
              <a:rPr lang="en-US" dirty="0"/>
              <a:t> </a:t>
            </a:r>
            <a:r>
              <a:rPr lang="en-US" dirty="0" err="1"/>
              <a:t>esconder</a:t>
            </a:r>
            <a:r>
              <a:rPr lang="en-US" dirty="0"/>
              <a:t> commandos </a:t>
            </a:r>
            <a:r>
              <a:rPr lang="en-US" dirty="0" err="1"/>
              <a:t>importantes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menus </a:t>
            </a:r>
            <a:r>
              <a:rPr lang="en-US" dirty="0" err="1"/>
              <a:t>também</a:t>
            </a:r>
            <a:r>
              <a:rPr lang="en-US" dirty="0"/>
              <a:t> </a:t>
            </a:r>
            <a:r>
              <a:rPr lang="en-US" dirty="0" err="1"/>
              <a:t>escondidos</a:t>
            </a:r>
            <a:endParaRPr lang="en-US" dirty="0"/>
          </a:p>
          <a:p>
            <a:r>
              <a:rPr lang="en-US" dirty="0"/>
              <a:t>O </a:t>
            </a:r>
            <a:r>
              <a:rPr lang="en-US" dirty="0" err="1"/>
              <a:t>usuário</a:t>
            </a:r>
            <a:r>
              <a:rPr lang="en-US" dirty="0"/>
              <a:t> </a:t>
            </a:r>
            <a:r>
              <a:rPr lang="en-US" dirty="0" err="1"/>
              <a:t>terá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se </a:t>
            </a:r>
            <a:r>
              <a:rPr lang="en-US" dirty="0" err="1"/>
              <a:t>lembrar</a:t>
            </a:r>
            <a:r>
              <a:rPr lang="en-US" dirty="0"/>
              <a:t> de </a:t>
            </a:r>
            <a:r>
              <a:rPr lang="en-US" dirty="0" err="1"/>
              <a:t>onde</a:t>
            </a:r>
            <a:r>
              <a:rPr lang="en-US" dirty="0"/>
              <a:t> </a:t>
            </a:r>
            <a:r>
              <a:rPr lang="en-US" dirty="0" err="1"/>
              <a:t>estão</a:t>
            </a:r>
            <a:r>
              <a:rPr lang="en-US" dirty="0"/>
              <a:t> </a:t>
            </a:r>
            <a:r>
              <a:rPr lang="en-US" dirty="0" err="1"/>
              <a:t>estes</a:t>
            </a:r>
            <a:r>
              <a:rPr lang="en-US" dirty="0"/>
              <a:t> menus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6BC89A-A5DB-D302-9D55-46783D88B385}"/>
              </a:ext>
            </a:extLst>
          </p:cNvPr>
          <p:cNvSpPr txBox="1">
            <a:spLocks/>
          </p:cNvSpPr>
          <p:nvPr/>
        </p:nvSpPr>
        <p:spPr>
          <a:xfrm>
            <a:off x="1219201" y="269965"/>
            <a:ext cx="9753600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3600" dirty="0">
              <a:solidFill>
                <a:schemeClr val="tx2"/>
              </a:solidFill>
            </a:endParaRPr>
          </a:p>
        </p:txBody>
      </p:sp>
      <p:pic>
        <p:nvPicPr>
          <p:cNvPr id="9" name="Imagem 8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30185736-B2DB-4782-606B-81A36F3DBD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038"/>
          <a:stretch>
            <a:fillRect/>
          </a:stretch>
        </p:blipFill>
        <p:spPr>
          <a:xfrm>
            <a:off x="0" y="1"/>
            <a:ext cx="12192000" cy="4627406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59402155-02EE-366A-E32B-78BB1B2D0625}"/>
              </a:ext>
            </a:extLst>
          </p:cNvPr>
          <p:cNvSpPr/>
          <p:nvPr/>
        </p:nvSpPr>
        <p:spPr>
          <a:xfrm rot="17203196">
            <a:off x="11531197" y="478652"/>
            <a:ext cx="646071" cy="282721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52142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F2EBD-27C7-395C-C77D-E2F0A4D63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89230B54-BD0E-4A2D-73C6-1F451A271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 dirty="0"/>
              <a:t>Reconhecer ao invés de lembrar: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02AD67C-0F8A-903A-E639-1CA31CC34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6" y="3043050"/>
            <a:ext cx="3290498" cy="306450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04333E-777D-4541-AD54-86B22554CBDC}"/>
              </a:ext>
            </a:extLst>
          </p:cNvPr>
          <p:cNvSpPr txBox="1">
            <a:spLocks/>
          </p:cNvSpPr>
          <p:nvPr/>
        </p:nvSpPr>
        <p:spPr>
          <a:xfrm>
            <a:off x="1219201" y="269965"/>
            <a:ext cx="9753600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3600" dirty="0">
              <a:solidFill>
                <a:schemeClr val="tx2"/>
              </a:solidFill>
            </a:endParaRPr>
          </a:p>
        </p:txBody>
      </p:sp>
      <p:pic>
        <p:nvPicPr>
          <p:cNvPr id="5" name="Imagem 4" descr="Interface gráfica do usuário, Texto, Aplicativo, Email&#10;&#10;O conteúdo gerado por IA pode estar incorreto.">
            <a:extLst>
              <a:ext uri="{FF2B5EF4-FFF2-40B4-BE49-F238E27FC236}">
                <a16:creationId xmlns:a16="http://schemas.microsoft.com/office/drawing/2014/main" id="{50C0BAA8-EA38-9ABD-6B02-ED615F64B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225" y="1158563"/>
            <a:ext cx="6143625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504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Heurísticas de Nielsen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3500" b="1" dirty="0"/>
              <a:t>7. Flexibilidade e eficiência de uso:</a:t>
            </a:r>
          </a:p>
          <a:p>
            <a:pPr lvl="2"/>
            <a:r>
              <a:rPr lang="pt-BR" sz="2900" dirty="0"/>
              <a:t>Atalhos podem acelerar a interação para o usuário experiente, de modo que o design possa atender a usuários inexperientes e experientes. Permita que os usuários personalizem ações frequentes.</a:t>
            </a:r>
            <a:endParaRPr lang="pt-BR" sz="2500" dirty="0"/>
          </a:p>
        </p:txBody>
      </p:sp>
    </p:spTree>
    <p:extLst>
      <p:ext uri="{BB962C8B-B14F-4D97-AF65-F5344CB8AC3E}">
        <p14:creationId xmlns:p14="http://schemas.microsoft.com/office/powerpoint/2010/main" val="22585115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2BC9D035-68B4-1057-729E-8F03F76D2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 sz="3300" dirty="0"/>
              <a:t>Flexibilidade e eficiência de uso:</a:t>
            </a:r>
          </a:p>
        </p:txBody>
      </p:sp>
      <p:pic>
        <p:nvPicPr>
          <p:cNvPr id="4" name="Imagem 3" descr="Diagrama&#10;&#10;Descrição gerada automaticamente com confiança baixa">
            <a:extLst>
              <a:ext uri="{FF2B5EF4-FFF2-40B4-BE49-F238E27FC236}">
                <a16:creationId xmlns:a16="http://schemas.microsoft.com/office/drawing/2014/main" id="{CE37FA7B-617D-49A8-ABFF-31CBDE109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984" y="1355615"/>
            <a:ext cx="5928344" cy="4209124"/>
          </a:xfrm>
          <a:prstGeom prst="rect">
            <a:avLst/>
          </a:prstGeom>
          <a:noFill/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C98312D-B464-8001-48F9-78643F678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r>
              <a:rPr lang="pt-BR" dirty="0"/>
              <a:t>Rotas regulares são mostradas no mapa, mas usuários experientes podem utilizar atalhos.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D993D-3B8F-43FB-ABAC-F621B0407938}"/>
              </a:ext>
            </a:extLst>
          </p:cNvPr>
          <p:cNvSpPr txBox="1">
            <a:spLocks/>
          </p:cNvSpPr>
          <p:nvPr/>
        </p:nvSpPr>
        <p:spPr>
          <a:xfrm>
            <a:off x="1219201" y="269965"/>
            <a:ext cx="9753600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3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7225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2BC9D035-68B4-1057-729E-8F03F76D2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 sz="3300" dirty="0"/>
              <a:t>Flexibilidade e eficiência de uso:</a:t>
            </a:r>
          </a:p>
        </p:txBody>
      </p:sp>
      <p:pic>
        <p:nvPicPr>
          <p:cNvPr id="2" name="Imagem 1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CAAF3536-2D99-FC57-267F-A0580A0BEC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984" y="1272564"/>
            <a:ext cx="5928344" cy="4312872"/>
          </a:xfrm>
          <a:prstGeom prst="rect">
            <a:avLst/>
          </a:prstGeom>
          <a:noFill/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C98312D-B464-8001-48F9-78643F678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r>
              <a:rPr lang="pt-BR" dirty="0"/>
              <a:t>É interessante poder executar a mesma ação de maneiras diferentes.</a:t>
            </a:r>
          </a:p>
          <a:p>
            <a:r>
              <a:rPr lang="en-US" dirty="0" err="1"/>
              <a:t>Atalhos</a:t>
            </a:r>
            <a:r>
              <a:rPr lang="en-US" dirty="0"/>
              <a:t> </a:t>
            </a:r>
            <a:r>
              <a:rPr lang="en-US" dirty="0" err="1"/>
              <a:t>fazem</a:t>
            </a:r>
            <a:r>
              <a:rPr lang="en-US" dirty="0"/>
              <a:t> </a:t>
            </a:r>
            <a:r>
              <a:rPr lang="en-US" dirty="0" err="1"/>
              <a:t>justamente</a:t>
            </a:r>
            <a:r>
              <a:rPr lang="en-US" dirty="0"/>
              <a:t> </a:t>
            </a:r>
            <a:r>
              <a:rPr lang="en-US" dirty="0" err="1"/>
              <a:t>isso</a:t>
            </a:r>
            <a:r>
              <a:rPr lang="en-US" dirty="0"/>
              <a:t>.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D993D-3B8F-43FB-ABAC-F621B0407938}"/>
              </a:ext>
            </a:extLst>
          </p:cNvPr>
          <p:cNvSpPr txBox="1">
            <a:spLocks/>
          </p:cNvSpPr>
          <p:nvPr/>
        </p:nvSpPr>
        <p:spPr>
          <a:xfrm>
            <a:off x="1219201" y="269965"/>
            <a:ext cx="9753600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3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67608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F30C5-4BB4-5F49-36D1-51CA2CDC6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D5EACBC0-5DB7-6606-591F-FE0CF6367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 sz="3300" dirty="0"/>
              <a:t>Flexibilidade e eficiência de uso: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15D1AB3-33C2-306F-9BAC-D808E0489D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r>
              <a:rPr lang="pt-BR" dirty="0"/>
              <a:t>É interessante poder executar a mesma ação de maneiras diferentes.</a:t>
            </a:r>
          </a:p>
          <a:p>
            <a:r>
              <a:rPr lang="en-US" dirty="0"/>
              <a:t>Ex.: </a:t>
            </a:r>
            <a:r>
              <a:rPr lang="en-US" dirty="0" err="1"/>
              <a:t>arrastar</a:t>
            </a:r>
            <a:r>
              <a:rPr lang="en-US" dirty="0"/>
              <a:t> para </a:t>
            </a:r>
            <a:r>
              <a:rPr lang="en-US" dirty="0" err="1"/>
              <a:t>fazer</a:t>
            </a:r>
            <a:r>
              <a:rPr lang="en-US" dirty="0"/>
              <a:t> upload.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3043AD-4D41-92D8-B09B-DA8D2F1B8639}"/>
              </a:ext>
            </a:extLst>
          </p:cNvPr>
          <p:cNvSpPr txBox="1">
            <a:spLocks/>
          </p:cNvSpPr>
          <p:nvPr/>
        </p:nvSpPr>
        <p:spPr>
          <a:xfrm>
            <a:off x="1219201" y="269965"/>
            <a:ext cx="9753600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3600" dirty="0">
              <a:solidFill>
                <a:schemeClr val="tx2"/>
              </a:solidFill>
            </a:endParaRPr>
          </a:p>
        </p:txBody>
      </p:sp>
      <p:pic>
        <p:nvPicPr>
          <p:cNvPr id="7" name="Imagem 6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B783B60E-8198-9557-7BB8-CFEA9BD64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600" y="647700"/>
            <a:ext cx="75184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2246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2BC9D035-68B4-1057-729E-8F03F76D2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 sz="3300" dirty="0"/>
              <a:t>Flexibilidade e eficiência de uso:</a:t>
            </a:r>
          </a:p>
        </p:txBody>
      </p:sp>
      <p:pic>
        <p:nvPicPr>
          <p:cNvPr id="4" name="Imagem 3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F6836985-CC7C-4861-8018-F28713411C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872" r="22146" b="-1"/>
          <a:stretch/>
        </p:blipFill>
        <p:spPr>
          <a:xfrm>
            <a:off x="5458984" y="812799"/>
            <a:ext cx="5928344" cy="5294757"/>
          </a:xfrm>
          <a:prstGeom prst="rect">
            <a:avLst/>
          </a:prstGeom>
          <a:noFill/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C98312D-B464-8001-48F9-78643F678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r>
              <a:rPr lang="pt-BR" dirty="0"/>
              <a:t>É interessante poder executar a mesma ação de maneiras diferentes.</a:t>
            </a:r>
          </a:p>
          <a:p>
            <a:r>
              <a:rPr lang="pt-BR" dirty="0"/>
              <a:t>(Funcionalidades “aceleradoras”)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D993D-3B8F-43FB-ABAC-F621B0407938}"/>
              </a:ext>
            </a:extLst>
          </p:cNvPr>
          <p:cNvSpPr txBox="1">
            <a:spLocks/>
          </p:cNvSpPr>
          <p:nvPr/>
        </p:nvSpPr>
        <p:spPr>
          <a:xfrm>
            <a:off x="1219201" y="269965"/>
            <a:ext cx="9753600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3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7587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Heurísticas de Nielsen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3500" b="1" dirty="0"/>
              <a:t>8. Design estético e minimalista:</a:t>
            </a:r>
          </a:p>
          <a:p>
            <a:pPr lvl="2"/>
            <a:r>
              <a:rPr lang="pt-BR" sz="2900" dirty="0"/>
              <a:t>As interfaces não devem conter informações irrelevantes ou raramente necessárias. Cada unidade extra de informação em uma interface compete com as unidades de informação relevantes e diminui sua visibilidade relativa.</a:t>
            </a:r>
            <a:endParaRPr lang="pt-BR" sz="2500" dirty="0"/>
          </a:p>
        </p:txBody>
      </p:sp>
    </p:spTree>
    <p:extLst>
      <p:ext uri="{BB962C8B-B14F-4D97-AF65-F5344CB8AC3E}">
        <p14:creationId xmlns:p14="http://schemas.microsoft.com/office/powerpoint/2010/main" val="24388703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2BC9D035-68B4-1057-729E-8F03F76D2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 dirty="0"/>
              <a:t>Design estético e minimalista:</a:t>
            </a:r>
          </a:p>
        </p:txBody>
      </p:sp>
      <p:pic>
        <p:nvPicPr>
          <p:cNvPr id="5" name="Imagem 4" descr="Desenho de um bicho amarelo&#10;&#10;Descrição gerada automaticamente com confiança média">
            <a:extLst>
              <a:ext uri="{FF2B5EF4-FFF2-40B4-BE49-F238E27FC236}">
                <a16:creationId xmlns:a16="http://schemas.microsoft.com/office/drawing/2014/main" id="{D9EE650A-ABA6-4AE6-BC0F-9163393E0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984" y="1355615"/>
            <a:ext cx="5928344" cy="4209124"/>
          </a:xfrm>
          <a:prstGeom prst="rect">
            <a:avLst/>
          </a:prstGeom>
          <a:noFill/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C98312D-B464-8001-48F9-78643F678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r>
              <a:rPr lang="pt-BR" dirty="0"/>
              <a:t>Um bule ornamentado pode ter elementos decorativos excessivos que podem interferir na usabilidade, como uma alça desconfortável ou um bico difícil de lavar.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D993D-3B8F-43FB-ABAC-F621B0407938}"/>
              </a:ext>
            </a:extLst>
          </p:cNvPr>
          <p:cNvSpPr txBox="1">
            <a:spLocks/>
          </p:cNvSpPr>
          <p:nvPr/>
        </p:nvSpPr>
        <p:spPr>
          <a:xfrm>
            <a:off x="1219201" y="269965"/>
            <a:ext cx="9753600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3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16733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D4CA0274-BF2E-4169-985C-A499F6DC7B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5265" r="-14036" b="-112"/>
          <a:stretch/>
        </p:blipFill>
        <p:spPr>
          <a:xfrm>
            <a:off x="15" y="10"/>
            <a:ext cx="12191985" cy="4578340"/>
          </a:xfrm>
          <a:prstGeom prst="rect">
            <a:avLst/>
          </a:prstGeom>
          <a:noFill/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2BC9D035-68B4-1057-729E-8F03F76D2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dirty="0"/>
              <a:t>Design estético e minimalista: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C98312D-B464-8001-48F9-78643F678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BR" sz="1700"/>
              <a:t>Todas as informações são pertinentes.</a:t>
            </a:r>
          </a:p>
          <a:p>
            <a:pPr>
              <a:lnSpc>
                <a:spcPct val="100000"/>
              </a:lnSpc>
            </a:pPr>
            <a:r>
              <a:rPr lang="pt-BR" sz="1700"/>
              <a:t>As imagens estão </a:t>
            </a:r>
            <a:r>
              <a:rPr lang="pt-BR" sz="1700" b="1"/>
              <a:t>comunicando</a:t>
            </a:r>
            <a:r>
              <a:rPr lang="pt-BR" sz="1700"/>
              <a:t> e não </a:t>
            </a:r>
            <a:r>
              <a:rPr lang="pt-BR" sz="1700" b="1"/>
              <a:t>decorando</a:t>
            </a:r>
            <a:endParaRPr lang="en-US" sz="1700" b="1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D993D-3B8F-43FB-ABAC-F621B0407938}"/>
              </a:ext>
            </a:extLst>
          </p:cNvPr>
          <p:cNvSpPr txBox="1">
            <a:spLocks/>
          </p:cNvSpPr>
          <p:nvPr/>
        </p:nvSpPr>
        <p:spPr>
          <a:xfrm>
            <a:off x="1219201" y="269965"/>
            <a:ext cx="9753600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3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3387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Heurísticas de Nielsen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44500" indent="-444500">
              <a:buNone/>
            </a:pPr>
            <a:r>
              <a:rPr lang="pt-BR" sz="3500" b="1" dirty="0"/>
              <a:t>9. Reconhecimento, diagnostico e recuperação de erros:</a:t>
            </a:r>
          </a:p>
          <a:p>
            <a:pPr lvl="2"/>
            <a:r>
              <a:rPr lang="pt-BR" sz="2900" dirty="0"/>
              <a:t>As mensagens de erro devem ser expressas em linguagem simples (sem códigos de erro), indicar com precisão o problema e sugerir uma solução de forma construtiva.</a:t>
            </a:r>
            <a:endParaRPr lang="pt-BR" sz="2500" dirty="0"/>
          </a:p>
        </p:txBody>
      </p:sp>
    </p:spTree>
    <p:extLst>
      <p:ext uri="{BB962C8B-B14F-4D97-AF65-F5344CB8AC3E}">
        <p14:creationId xmlns:p14="http://schemas.microsoft.com/office/powerpoint/2010/main" val="22921845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2BC9D035-68B4-1057-729E-8F03F76D2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Autofit/>
          </a:bodyPr>
          <a:lstStyle/>
          <a:p>
            <a:r>
              <a:rPr lang="pt-BR" sz="2800" dirty="0"/>
              <a:t>Ajude os usuários</a:t>
            </a:r>
            <a:br>
              <a:rPr lang="pt-BR" sz="2800" dirty="0"/>
            </a:br>
            <a:r>
              <a:rPr lang="pt-BR" sz="2800" dirty="0"/>
              <a:t>a reconhecer, diagnosticar e se recuperar de erros:</a:t>
            </a:r>
          </a:p>
        </p:txBody>
      </p:sp>
      <p:pic>
        <p:nvPicPr>
          <p:cNvPr id="4" name="Imagem 3" descr="Uma imagem contendo Texto&#10;&#10;Descrição gerada automaticamente">
            <a:extLst>
              <a:ext uri="{FF2B5EF4-FFF2-40B4-BE49-F238E27FC236}">
                <a16:creationId xmlns:a16="http://schemas.microsoft.com/office/drawing/2014/main" id="{00B60D9F-A447-4964-84FF-6ED681D46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984" y="1355615"/>
            <a:ext cx="5928344" cy="4209124"/>
          </a:xfrm>
          <a:prstGeom prst="rect">
            <a:avLst/>
          </a:prstGeom>
          <a:noFill/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C98312D-B464-8001-48F9-78643F678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r>
              <a:rPr lang="pt-BR" dirty="0"/>
              <a:t>Sinais de direção errada na estrada lembram aos motoristas que eles estão indo na direção errada e pedem que parem.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D993D-3B8F-43FB-ABAC-F621B0407938}"/>
              </a:ext>
            </a:extLst>
          </p:cNvPr>
          <p:cNvSpPr txBox="1">
            <a:spLocks/>
          </p:cNvSpPr>
          <p:nvPr/>
        </p:nvSpPr>
        <p:spPr>
          <a:xfrm>
            <a:off x="1219201" y="269965"/>
            <a:ext cx="9753600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3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710460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2BC9D035-68B4-1057-729E-8F03F76D2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Autofit/>
          </a:bodyPr>
          <a:lstStyle/>
          <a:p>
            <a:r>
              <a:rPr lang="pt-BR" sz="2800" dirty="0"/>
              <a:t>Ajude os usuários</a:t>
            </a:r>
            <a:br>
              <a:rPr lang="pt-BR" sz="2800" dirty="0"/>
            </a:br>
            <a:r>
              <a:rPr lang="pt-BR" sz="2800" dirty="0"/>
              <a:t>a reconhecer, diagnosticar e se recuperar de erros: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C98312D-B464-8001-48F9-78643F678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r>
              <a:rPr lang="pt-BR" dirty="0"/>
              <a:t>Combinação de texto e cores para informar claramente um erro ao usuário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D993D-3B8F-43FB-ABAC-F621B0407938}"/>
              </a:ext>
            </a:extLst>
          </p:cNvPr>
          <p:cNvSpPr txBox="1">
            <a:spLocks/>
          </p:cNvSpPr>
          <p:nvPr/>
        </p:nvSpPr>
        <p:spPr>
          <a:xfrm>
            <a:off x="1219201" y="269965"/>
            <a:ext cx="9753600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3600" dirty="0">
              <a:solidFill>
                <a:schemeClr val="tx2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ECF255F-C76A-4EEF-9438-E7B9EB8F4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950" y="1357023"/>
            <a:ext cx="4467849" cy="41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8474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2BC9D035-68B4-1057-729E-8F03F76D2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 sz="2800" dirty="0"/>
              <a:t>Ajude os usuários</a:t>
            </a:r>
            <a:br>
              <a:rPr lang="pt-BR" sz="2800" dirty="0"/>
            </a:br>
            <a:r>
              <a:rPr lang="pt-BR" sz="2800" dirty="0"/>
              <a:t>a reconhecer, diagnosticar e se recuperar de erros: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B8DC269-5475-4F76-8E8E-AD5ADA447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984" y="1832416"/>
            <a:ext cx="5928344" cy="3255522"/>
          </a:xfrm>
          <a:prstGeom prst="rect">
            <a:avLst/>
          </a:prstGeom>
          <a:noFill/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C98312D-B464-8001-48F9-78643F678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r>
              <a:rPr lang="pt-BR" dirty="0"/>
              <a:t>Mensagem de erro associada a instruções de como resolver o problema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D993D-3B8F-43FB-ABAC-F621B0407938}"/>
              </a:ext>
            </a:extLst>
          </p:cNvPr>
          <p:cNvSpPr txBox="1">
            <a:spLocks/>
          </p:cNvSpPr>
          <p:nvPr/>
        </p:nvSpPr>
        <p:spPr>
          <a:xfrm>
            <a:off x="1219201" y="269965"/>
            <a:ext cx="9753600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3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73511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9714DC-4AA3-4CFA-8A1F-82A95D019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Heurísticas de Nielsen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077081-560E-4F0E-83D0-63A6F7DC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44500" indent="-444500">
              <a:buNone/>
            </a:pPr>
            <a:r>
              <a:rPr lang="pt-BR" sz="3500" b="1" dirty="0"/>
              <a:t>10. Ajuda e documentação.:</a:t>
            </a:r>
          </a:p>
          <a:p>
            <a:pPr lvl="2"/>
            <a:r>
              <a:rPr lang="pt-BR" sz="2900" dirty="0"/>
              <a:t>É melhor que o sistema não precise de nenhuma explicação adicional. No entanto, pode ser necessário fornecer documentação para ajudar os usuários a entender como concluir suas tarefas.</a:t>
            </a:r>
            <a:endParaRPr lang="pt-BR" sz="2500" dirty="0"/>
          </a:p>
        </p:txBody>
      </p:sp>
    </p:spTree>
    <p:extLst>
      <p:ext uri="{BB962C8B-B14F-4D97-AF65-F5344CB8AC3E}">
        <p14:creationId xmlns:p14="http://schemas.microsoft.com/office/powerpoint/2010/main" val="41559526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2BC9D035-68B4-1057-729E-8F03F76D2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 dirty="0"/>
              <a:t>Ajuda e documentação:</a:t>
            </a:r>
            <a:endParaRPr lang="pt-BR" sz="2800" dirty="0"/>
          </a:p>
        </p:txBody>
      </p:sp>
      <p:pic>
        <p:nvPicPr>
          <p:cNvPr id="5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E451766A-D7EC-4518-AD58-74F4BE8C4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984" y="1355615"/>
            <a:ext cx="5928344" cy="4209124"/>
          </a:xfrm>
          <a:prstGeom prst="rect">
            <a:avLst/>
          </a:prstGeom>
          <a:noFill/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C98312D-B464-8001-48F9-78643F678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r>
              <a:rPr lang="pt-BR" dirty="0"/>
              <a:t>Os quiosques de informação nos aeroportos são facilmente reconhecíveis e resolvem os problemas dos clientes de forma contextualizada e imediata.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D993D-3B8F-43FB-ABAC-F621B0407938}"/>
              </a:ext>
            </a:extLst>
          </p:cNvPr>
          <p:cNvSpPr txBox="1">
            <a:spLocks/>
          </p:cNvSpPr>
          <p:nvPr/>
        </p:nvSpPr>
        <p:spPr>
          <a:xfrm>
            <a:off x="1219201" y="269965"/>
            <a:ext cx="9753600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3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8591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2BC9D035-68B4-1057-729E-8F03F76D2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r>
              <a:rPr lang="pt-BR" dirty="0"/>
              <a:t>Ajuda e documentação:</a:t>
            </a:r>
            <a:endParaRPr lang="pt-BR"/>
          </a:p>
        </p:txBody>
      </p:sp>
      <p:pic>
        <p:nvPicPr>
          <p:cNvPr id="5" name="Imagem 4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E76DEEC2-08C1-C242-C24B-4FA1C7B41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984" y="2393075"/>
            <a:ext cx="5928344" cy="2134205"/>
          </a:xfrm>
          <a:prstGeom prst="rect">
            <a:avLst/>
          </a:prstGeom>
          <a:noFill/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C98312D-B464-8001-48F9-78643F678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/>
          </a:bodyPr>
          <a:lstStyle/>
          <a:p>
            <a:r>
              <a:rPr lang="pt-BR" dirty="0"/>
              <a:t>Sugestões de documentação para auxiliar o usuário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D993D-3B8F-43FB-ABAC-F621B0407938}"/>
              </a:ext>
            </a:extLst>
          </p:cNvPr>
          <p:cNvSpPr txBox="1">
            <a:spLocks/>
          </p:cNvSpPr>
          <p:nvPr/>
        </p:nvSpPr>
        <p:spPr>
          <a:xfrm>
            <a:off x="1219201" y="269965"/>
            <a:ext cx="9753600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3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70920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218B645-1C9C-470C-B14C-5CDF54658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117172"/>
            <a:ext cx="9144000" cy="2308859"/>
          </a:xfrm>
          <a:prstGeom prst="rect">
            <a:avLst/>
          </a:prstGeom>
          <a:noFill/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2BC9D035-68B4-1057-729E-8F03F76D2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anchor="b">
            <a:normAutofit/>
          </a:bodyPr>
          <a:lstStyle/>
          <a:p>
            <a:r>
              <a:rPr lang="pt-BR" dirty="0"/>
              <a:t>Ajuda e documentação:</a:t>
            </a:r>
            <a:endParaRPr lang="pt-BR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C98312D-B464-8001-48F9-78643F678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>
            <a:normAutofit/>
          </a:bodyPr>
          <a:lstStyle/>
          <a:p>
            <a:r>
              <a:rPr lang="pt-BR" dirty="0"/>
              <a:t>Guia ou passo a passo para ensinar o usuário a executar uma tarefa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ED993D-3B8F-43FB-ABAC-F621B0407938}"/>
              </a:ext>
            </a:extLst>
          </p:cNvPr>
          <p:cNvSpPr txBox="1">
            <a:spLocks/>
          </p:cNvSpPr>
          <p:nvPr/>
        </p:nvSpPr>
        <p:spPr>
          <a:xfrm>
            <a:off x="1219201" y="269965"/>
            <a:ext cx="9753600" cy="5755881"/>
          </a:xfrm>
          <a:prstGeom prst="rect">
            <a:avLst/>
          </a:prstGeom>
        </p:spPr>
        <p:txBody>
          <a:bodyPr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BR" sz="3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6111492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715_TF33845126.potx" id="{07B33CC6-269C-4DD5-9017-A83AF51479F7}" vid="{03982E99-A52E-4A57-A229-288B0228341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A6CD9086B7A0143806617CD13B66A8F" ma:contentTypeVersion="3" ma:contentTypeDescription="Create a new document." ma:contentTypeScope="" ma:versionID="2e710e0f583069034d0b9b90b9c2cc93">
  <xsd:schema xmlns:xsd="http://www.w3.org/2001/XMLSchema" xmlns:xs="http://www.w3.org/2001/XMLSchema" xmlns:p="http://schemas.microsoft.com/office/2006/metadata/properties" xmlns:ns2="dd357385-7d55-4120-8587-028bbaf63831" targetNamespace="http://schemas.microsoft.com/office/2006/metadata/properties" ma:root="true" ma:fieldsID="e3843e93016ac1d5692d0c0ccf5af319" ns2:_="">
    <xsd:import namespace="dd357385-7d55-4120-8587-028bbaf638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357385-7d55-4120-8587-028bbaf638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2FD5E46-3448-45ED-92D2-59A58781F136}"/>
</file>

<file path=customXml/itemProps2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5B1FD9-3BB6-4DA9-A089-3B68C2323D4F}">
  <ds:schemaRefs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www.w3.org/XML/1998/namespace"/>
    <ds:schemaRef ds:uri="16c05727-aa75-4e4a-9b5f-8a80a1165891"/>
    <ds:schemaRef ds:uri="http://schemas.microsoft.com/office/2006/metadata/properties"/>
    <ds:schemaRef ds:uri="http://schemas.microsoft.com/office/2006/documentManagement/types"/>
    <ds:schemaRef ds:uri="71af3243-3dd4-4a8d-8c0d-dd76da1f02a5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{D129E361-7900-47DF-B65A-C5D6D83378F0}tf33845126_win32</Template>
  <TotalTime>966</TotalTime>
  <Words>1109</Words>
  <Application>Microsoft Office PowerPoint</Application>
  <PresentationFormat>Widescreen</PresentationFormat>
  <Paragraphs>111</Paragraphs>
  <Slides>47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47</vt:i4>
      </vt:variant>
    </vt:vector>
  </HeadingPairs>
  <TitlesOfParts>
    <vt:vector size="51" baseType="lpstr">
      <vt:lpstr>Bookman Old Style</vt:lpstr>
      <vt:lpstr>Calibri</vt:lpstr>
      <vt:lpstr>Franklin Gothic Book</vt:lpstr>
      <vt:lpstr>1_RetrospectVTI</vt:lpstr>
      <vt:lpstr>UX E UI DESIGN</vt:lpstr>
      <vt:lpstr>Jakob Nielsen</vt:lpstr>
      <vt:lpstr>Usabilidade</vt:lpstr>
      <vt:lpstr>Heurísticas de Nielsen</vt:lpstr>
      <vt:lpstr>Visibilidade do status do sistema</vt:lpstr>
      <vt:lpstr>Visibilidade do status do sistema</vt:lpstr>
      <vt:lpstr>Visibilidade do status do sistema</vt:lpstr>
      <vt:lpstr>Visibilidade do status do sistema</vt:lpstr>
      <vt:lpstr>Visibilidade do status do sistema</vt:lpstr>
      <vt:lpstr>Heurísticas de Nielsen</vt:lpstr>
      <vt:lpstr>Correspondência entre o sistema e o mundo real:</vt:lpstr>
      <vt:lpstr>Correspondência entre o sistema e o mundo real:</vt:lpstr>
      <vt:lpstr>Correspondência entre o sistema e o mundo real:</vt:lpstr>
      <vt:lpstr>Heurísticas de Nielsen</vt:lpstr>
      <vt:lpstr>Controle e liberdade do usuário:</vt:lpstr>
      <vt:lpstr>Controle e liberdade do usuário:</vt:lpstr>
      <vt:lpstr>Controle e liberdade do usuário:</vt:lpstr>
      <vt:lpstr>Heurísticas de Nielsen</vt:lpstr>
      <vt:lpstr>Consistência e padrões:</vt:lpstr>
      <vt:lpstr>Consistência e padrões:</vt:lpstr>
      <vt:lpstr>Consistência e padrões:</vt:lpstr>
      <vt:lpstr>Consistência e padrões:</vt:lpstr>
      <vt:lpstr>Heurísticas de Nielsen</vt:lpstr>
      <vt:lpstr>Prevenção de erros:</vt:lpstr>
      <vt:lpstr>Prevenção de erros:</vt:lpstr>
      <vt:lpstr>Prevenção de erros:</vt:lpstr>
      <vt:lpstr>Heurísticas de Nielsen</vt:lpstr>
      <vt:lpstr>Reconhecer ao invés de lembrar:</vt:lpstr>
      <vt:lpstr>Reconhecer ao invés de lembrar:</vt:lpstr>
      <vt:lpstr>Reconhecer ao invés de lembrar:</vt:lpstr>
      <vt:lpstr>Reconhecer ao invés de lembrar:</vt:lpstr>
      <vt:lpstr>Heurísticas de Nielsen</vt:lpstr>
      <vt:lpstr>Flexibilidade e eficiência de uso:</vt:lpstr>
      <vt:lpstr>Flexibilidade e eficiência de uso:</vt:lpstr>
      <vt:lpstr>Flexibilidade e eficiência de uso:</vt:lpstr>
      <vt:lpstr>Flexibilidade e eficiência de uso:</vt:lpstr>
      <vt:lpstr>Heurísticas de Nielsen</vt:lpstr>
      <vt:lpstr>Design estético e minimalista:</vt:lpstr>
      <vt:lpstr>Design estético e minimalista:</vt:lpstr>
      <vt:lpstr>Heurísticas de Nielsen</vt:lpstr>
      <vt:lpstr>Ajude os usuários a reconhecer, diagnosticar e se recuperar de erros:</vt:lpstr>
      <vt:lpstr>Ajude os usuários a reconhecer, diagnosticar e se recuperar de erros:</vt:lpstr>
      <vt:lpstr>Ajude os usuários a reconhecer, diagnosticar e se recuperar de erros:</vt:lpstr>
      <vt:lpstr>Heurísticas de Nielsen</vt:lpstr>
      <vt:lpstr>Ajuda e documentação:</vt:lpstr>
      <vt:lpstr>Ajuda e documentação:</vt:lpstr>
      <vt:lpstr>Ajuda e documentação: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Desenvolvimento de software para Internet</dc:title>
  <dc:creator>Flávio Waltz</dc:creator>
  <cp:lastModifiedBy>Flávio Waltz</cp:lastModifiedBy>
  <cp:revision>41</cp:revision>
  <dcterms:created xsi:type="dcterms:W3CDTF">2022-08-15T17:51:41Z</dcterms:created>
  <dcterms:modified xsi:type="dcterms:W3CDTF">2026-02-21T21:02:32Z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0x0101008A6CD9086B7A0143806617CD13B66A8F</vt:lpwstr>
  </property>
</Properties>
</file>