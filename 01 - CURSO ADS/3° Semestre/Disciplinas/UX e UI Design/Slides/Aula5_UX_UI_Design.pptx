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5"/>
  </p:notesMasterIdLst>
  <p:handoutMasterIdLst>
    <p:handoutMasterId r:id="rId36"/>
  </p:handoutMasterIdLst>
  <p:sldIdLst>
    <p:sldId id="268" r:id="rId5"/>
    <p:sldId id="409" r:id="rId6"/>
    <p:sldId id="437" r:id="rId7"/>
    <p:sldId id="436" r:id="rId8"/>
    <p:sldId id="438" r:id="rId9"/>
    <p:sldId id="434" r:id="rId10"/>
    <p:sldId id="430" r:id="rId11"/>
    <p:sldId id="432" r:id="rId12"/>
    <p:sldId id="433" r:id="rId13"/>
    <p:sldId id="410" r:id="rId14"/>
    <p:sldId id="439" r:id="rId15"/>
    <p:sldId id="411" r:id="rId16"/>
    <p:sldId id="412" r:id="rId17"/>
    <p:sldId id="415" r:id="rId18"/>
    <p:sldId id="414" r:id="rId19"/>
    <p:sldId id="408" r:id="rId20"/>
    <p:sldId id="417" r:id="rId21"/>
    <p:sldId id="418" r:id="rId22"/>
    <p:sldId id="419" r:id="rId23"/>
    <p:sldId id="431" r:id="rId24"/>
    <p:sldId id="420" r:id="rId25"/>
    <p:sldId id="421" r:id="rId26"/>
    <p:sldId id="422" r:id="rId27"/>
    <p:sldId id="423" r:id="rId28"/>
    <p:sldId id="424" r:id="rId29"/>
    <p:sldId id="425" r:id="rId30"/>
    <p:sldId id="426" r:id="rId31"/>
    <p:sldId id="427" r:id="rId32"/>
    <p:sldId id="428" r:id="rId33"/>
    <p:sldId id="429" r:id="rId3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2F088-68E5-EDAA-9F38-5BA2E54AAA87}" v="1" dt="2026-03-30T10:56:01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MOREIRA" userId="S::gabriel.moreira52@aluno.unip.br::069be17d-376a-4801-b115-1747a634cb96" providerId="AD" clId="Web-{0662F088-68E5-EDAA-9F38-5BA2E54AAA87}"/>
    <pc:docChg chg="addSld">
      <pc:chgData name="GABRIEL MOREIRA" userId="S::gabriel.moreira52@aluno.unip.br::069be17d-376a-4801-b115-1747a634cb96" providerId="AD" clId="Web-{0662F088-68E5-EDAA-9F38-5BA2E54AAA87}" dt="2026-03-30T10:56:01.171" v="0"/>
      <pc:docMkLst>
        <pc:docMk/>
      </pc:docMkLst>
      <pc:sldChg chg="new">
        <pc:chgData name="GABRIEL MOREIRA" userId="S::gabriel.moreira52@aluno.unip.br::069be17d-376a-4801-b115-1747a634cb96" providerId="AD" clId="Web-{0662F088-68E5-EDAA-9F38-5BA2E54AAA87}" dt="2026-03-30T10:56:01.171" v="0"/>
        <pc:sldMkLst>
          <pc:docMk/>
          <pc:sldMk cId="2964613751" sldId="43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30/03/2026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‹#›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Autofit/>
          </a:bodyPr>
          <a:lstStyle/>
          <a:p>
            <a:r>
              <a:rPr lang="pt-BR" sz="5400"/>
              <a:t>Desenvolvimento de software para Internet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  <p:pic>
        <p:nvPicPr>
          <p:cNvPr id="10" name="Imagem 9" descr="Interface gráfica do usuário, Aplicativo, Teams&#10;&#10;Descrição gerada automaticamente">
            <a:extLst>
              <a:ext uri="{FF2B5EF4-FFF2-40B4-BE49-F238E27FC236}">
                <a16:creationId xmlns:a16="http://schemas.microsoft.com/office/drawing/2014/main" id="{7C8F97D7-93B2-4430-A83E-988894948D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 l="40429" t="11829" r="26394" b="14631"/>
          <a:stretch/>
        </p:blipFill>
        <p:spPr>
          <a:xfrm>
            <a:off x="7551175" y="0"/>
            <a:ext cx="4640825" cy="6858000"/>
          </a:xfrm>
          <a:prstGeom prst="rect">
            <a:avLst/>
          </a:prstGeom>
        </p:spPr>
      </p:pic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sz="3500"/>
          </a:p>
          <a:p>
            <a:pPr marL="0" indent="0">
              <a:buNone/>
            </a:pPr>
            <a:r>
              <a:rPr lang="pt-BR" sz="3500"/>
              <a:t>Os pilares para se desenvolver um bom teste de usabilidade:</a:t>
            </a:r>
            <a:endParaRPr lang="pt-BR" sz="3300"/>
          </a:p>
          <a:p>
            <a:pPr lvl="1"/>
            <a:endParaRPr lang="pt-BR" sz="3300"/>
          </a:p>
        </p:txBody>
      </p:sp>
    </p:spTree>
    <p:extLst>
      <p:ext uri="{BB962C8B-B14F-4D97-AF65-F5344CB8AC3E}">
        <p14:creationId xmlns:p14="http://schemas.microsoft.com/office/powerpoint/2010/main" val="1449282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>
              <a:buNone/>
            </a:pPr>
            <a:r>
              <a:rPr lang="pt-BR" sz="3500"/>
              <a:t>Escolher participantes representativos:</a:t>
            </a:r>
          </a:p>
          <a:p>
            <a:pPr lvl="1"/>
            <a:r>
              <a:rPr lang="pt-BR" sz="3300"/>
              <a:t>Similares ao público-alvo</a:t>
            </a:r>
          </a:p>
          <a:p>
            <a:pPr lvl="1"/>
            <a:r>
              <a:rPr lang="pt-BR" sz="3300"/>
              <a:t>Que não saibam tanto sobre UX ou Web Design</a:t>
            </a:r>
          </a:p>
          <a:p>
            <a:pPr lvl="1"/>
            <a:r>
              <a:rPr lang="pt-BR" sz="3300"/>
              <a:t>Excluir participantes “internos”</a:t>
            </a:r>
          </a:p>
          <a:p>
            <a:pPr lvl="2"/>
            <a:endParaRPr lang="pt-BR" sz="2500"/>
          </a:p>
        </p:txBody>
      </p:sp>
    </p:spTree>
    <p:extLst>
      <p:ext uri="{BB962C8B-B14F-4D97-AF65-F5344CB8AC3E}">
        <p14:creationId xmlns:p14="http://schemas.microsoft.com/office/powerpoint/2010/main" val="250407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>
              <a:buNone/>
            </a:pPr>
            <a:r>
              <a:rPr lang="pt-BR" sz="3500"/>
              <a:t>Dar tarefas realistas aos participantes:</a:t>
            </a:r>
          </a:p>
          <a:p>
            <a:pPr lvl="1"/>
            <a:r>
              <a:rPr lang="pt-BR" sz="3300"/>
              <a:t>“Contrate o serviço X”: bom</a:t>
            </a:r>
          </a:p>
          <a:p>
            <a:pPr lvl="1"/>
            <a:r>
              <a:rPr lang="pt-BR" sz="3300"/>
              <a:t>“Entre no site, busque um produto, faça login e compre o produto”: ruim</a:t>
            </a:r>
          </a:p>
          <a:p>
            <a:pPr lvl="1"/>
            <a:r>
              <a:rPr lang="pt-BR" sz="3300"/>
              <a:t>Crie contextos: “imagine que você quer...”</a:t>
            </a:r>
            <a:endParaRPr lang="pt-BR" sz="3700"/>
          </a:p>
        </p:txBody>
      </p:sp>
    </p:spTree>
    <p:extLst>
      <p:ext uri="{BB962C8B-B14F-4D97-AF65-F5344CB8AC3E}">
        <p14:creationId xmlns:p14="http://schemas.microsoft.com/office/powerpoint/2010/main" val="1548086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/>
              <a:t>Falar o mínimo possível durante a sessão de teste</a:t>
            </a:r>
          </a:p>
          <a:p>
            <a:pPr lvl="1"/>
            <a:r>
              <a:rPr lang="pt-BR" sz="3300"/>
              <a:t>Tente ao máximo não enviesar o participante</a:t>
            </a:r>
          </a:p>
          <a:p>
            <a:pPr lvl="1"/>
            <a:r>
              <a:rPr lang="pt-BR" sz="3300"/>
              <a:t>Deixe o participante confortável. Não julgue</a:t>
            </a:r>
          </a:p>
          <a:p>
            <a:pPr lvl="1"/>
            <a:r>
              <a:rPr lang="pt-BR" sz="3300"/>
              <a:t>Esteja atento às ações do participante:</a:t>
            </a:r>
          </a:p>
          <a:p>
            <a:pPr lvl="2"/>
            <a:r>
              <a:rPr lang="pt-BR" sz="2900"/>
              <a:t>Onde o participante está clicando, como ele navega no site etc.</a:t>
            </a:r>
          </a:p>
        </p:txBody>
      </p:sp>
    </p:spTree>
    <p:extLst>
      <p:ext uri="{BB962C8B-B14F-4D97-AF65-F5344CB8AC3E}">
        <p14:creationId xmlns:p14="http://schemas.microsoft.com/office/powerpoint/2010/main" val="174258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/>
              <a:t>O que testar (primeiro):</a:t>
            </a:r>
          </a:p>
          <a:p>
            <a:pPr lvl="1"/>
            <a:r>
              <a:rPr lang="pt-BR" sz="3300"/>
              <a:t>O que pode ser modificado</a:t>
            </a:r>
          </a:p>
          <a:p>
            <a:pPr lvl="1"/>
            <a:r>
              <a:rPr lang="pt-BR" sz="3300"/>
              <a:t>Pontos nunca antes testados ou que oferecem risco ao sistema (</a:t>
            </a:r>
            <a:r>
              <a:rPr lang="pt-BR" sz="3300" i="1"/>
              <a:t>login</a:t>
            </a:r>
            <a:r>
              <a:rPr lang="pt-BR" sz="3300"/>
              <a:t>, por exemplo)</a:t>
            </a:r>
          </a:p>
          <a:p>
            <a:pPr lvl="1"/>
            <a:r>
              <a:rPr lang="pt-BR" sz="3300"/>
              <a:t>Pontos que impactem o usuário ou o negócio (</a:t>
            </a:r>
            <a:r>
              <a:rPr lang="pt-BR" sz="3300" i="1"/>
              <a:t>business</a:t>
            </a:r>
            <a:r>
              <a:rPr lang="pt-BR" sz="33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7457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ABE4542D-237F-4B61-8350-64E8935124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417" b="17615"/>
          <a:stretch/>
        </p:blipFill>
        <p:spPr>
          <a:xfrm>
            <a:off x="15" y="10"/>
            <a:ext cx="12191985" cy="4578340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en-US"/>
              <a:t>Teste </a:t>
            </a:r>
            <a:r>
              <a:rPr lang="en-US" err="1"/>
              <a:t>em</a:t>
            </a:r>
            <a:r>
              <a:rPr lang="en-US"/>
              <a:t> Desktop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 fontScale="77500" lnSpcReduction="20000"/>
          </a:bodyPr>
          <a:lstStyle/>
          <a:p>
            <a:r>
              <a:rPr lang="en-US" sz="2100" err="1"/>
              <a:t>Exemplo</a:t>
            </a:r>
            <a:r>
              <a:rPr lang="en-US" sz="2100"/>
              <a:t> de </a:t>
            </a:r>
            <a:r>
              <a:rPr lang="en-US" sz="2100" err="1"/>
              <a:t>ambiente</a:t>
            </a:r>
            <a:r>
              <a:rPr lang="en-US" sz="2100"/>
              <a:t> </a:t>
            </a:r>
            <a:r>
              <a:rPr lang="en-US" sz="2100" err="1"/>
              <a:t>projetado</a:t>
            </a:r>
            <a:r>
              <a:rPr lang="en-US" sz="2100"/>
              <a:t> para teste qualitative </a:t>
            </a:r>
            <a:r>
              <a:rPr lang="en-US" sz="2100" err="1"/>
              <a:t>em</a:t>
            </a:r>
            <a:r>
              <a:rPr lang="en-US" sz="2100"/>
              <a:t> desktop</a:t>
            </a:r>
          </a:p>
          <a:p>
            <a:r>
              <a:rPr lang="en-US"/>
              <a:t>Fonte: How to Setup a Desktop Usability Test. </a:t>
            </a:r>
            <a:r>
              <a:rPr lang="en-US" err="1"/>
              <a:t>Disponível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: https://www.nngroup.com/videos/how-setup-desktop-usability-test/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511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42AA17F-B2C0-49D1-878E-6BDDD7328A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45" b="3609"/>
          <a:stretch/>
        </p:blipFill>
        <p:spPr>
          <a:xfrm>
            <a:off x="15" y="10"/>
            <a:ext cx="12191985" cy="4578340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en-US"/>
              <a:t>Teste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dispositivo</a:t>
            </a:r>
            <a:r>
              <a:rPr lang="en-US"/>
              <a:t> </a:t>
            </a:r>
            <a:r>
              <a:rPr lang="en-US" err="1"/>
              <a:t>móvel</a:t>
            </a:r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err="1"/>
              <a:t>Exemplo</a:t>
            </a:r>
            <a:r>
              <a:rPr lang="en-US" sz="1600"/>
              <a:t> de </a:t>
            </a:r>
            <a:r>
              <a:rPr lang="en-US" sz="1600" err="1"/>
              <a:t>ambiente</a:t>
            </a:r>
            <a:r>
              <a:rPr lang="en-US" sz="1600"/>
              <a:t> </a:t>
            </a:r>
            <a:r>
              <a:rPr lang="en-US" sz="1600" err="1"/>
              <a:t>projetado</a:t>
            </a:r>
            <a:r>
              <a:rPr lang="en-US" sz="1600"/>
              <a:t> para teste </a:t>
            </a:r>
            <a:r>
              <a:rPr lang="en-US" sz="1600" err="1"/>
              <a:t>qualitativo</a:t>
            </a:r>
            <a:r>
              <a:rPr lang="en-US" sz="1600"/>
              <a:t> </a:t>
            </a:r>
            <a:r>
              <a:rPr lang="en-US" sz="1600" err="1"/>
              <a:t>em</a:t>
            </a:r>
            <a:r>
              <a:rPr lang="en-US" sz="1600"/>
              <a:t> </a:t>
            </a:r>
            <a:r>
              <a:rPr lang="en-US" sz="1600" err="1"/>
              <a:t>dispositivo</a:t>
            </a:r>
            <a:r>
              <a:rPr lang="en-US" sz="1600"/>
              <a:t> </a:t>
            </a:r>
            <a:r>
              <a:rPr lang="en-US" sz="1600" err="1"/>
              <a:t>móvel</a:t>
            </a:r>
            <a:endParaRPr lang="en-US" sz="1600"/>
          </a:p>
          <a:p>
            <a:pPr>
              <a:lnSpc>
                <a:spcPct val="100000"/>
              </a:lnSpc>
            </a:pPr>
            <a:r>
              <a:rPr lang="en-US" sz="1400"/>
              <a:t>Fonte: How to Setup a Desktop Usability Test. </a:t>
            </a:r>
            <a:r>
              <a:rPr lang="en-US" sz="1400" err="1"/>
              <a:t>Disponível</a:t>
            </a:r>
            <a:r>
              <a:rPr lang="en-US" sz="1400"/>
              <a:t> </a:t>
            </a:r>
            <a:r>
              <a:rPr lang="en-US" sz="1400" err="1"/>
              <a:t>em</a:t>
            </a:r>
            <a:r>
              <a:rPr lang="en-US" sz="1400"/>
              <a:t>: https://www.nngroup.com/videos/how-setup-mobile-usability-test/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06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3900"/>
          </a:p>
          <a:p>
            <a:pPr marL="0" indent="0">
              <a:buNone/>
            </a:pPr>
            <a:r>
              <a:rPr lang="pt-BR" sz="3900"/>
              <a:t>Pesquisa Quantitativa vs. Qualitativa</a:t>
            </a:r>
            <a:endParaRPr lang="pt-BR" sz="3500"/>
          </a:p>
        </p:txBody>
      </p:sp>
    </p:spTree>
    <p:extLst>
      <p:ext uri="{BB962C8B-B14F-4D97-AF65-F5344CB8AC3E}">
        <p14:creationId xmlns:p14="http://schemas.microsoft.com/office/powerpoint/2010/main" val="2271365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/>
              <a:t>Os dados coletados podem ser:</a:t>
            </a:r>
          </a:p>
          <a:p>
            <a:pPr marL="201168" lvl="1" indent="0">
              <a:buNone/>
            </a:pPr>
            <a:endParaRPr lang="pt-BR" sz="3000"/>
          </a:p>
          <a:p>
            <a:pPr marL="201168" lvl="1" indent="0">
              <a:buNone/>
            </a:pPr>
            <a:r>
              <a:rPr lang="pt-BR" sz="3000"/>
              <a:t>•</a:t>
            </a:r>
            <a:r>
              <a:rPr lang="pt-BR" sz="3000" b="1"/>
              <a:t>Dados qualitativos</a:t>
            </a:r>
            <a:r>
              <a:rPr lang="pt-BR" sz="3000"/>
              <a:t>, consistindo em achados observacionais que identificam recursos de design fáceis ou difíceis de usar</a:t>
            </a:r>
          </a:p>
          <a:p>
            <a:pPr marL="201168" lvl="1" indent="0">
              <a:buNone/>
            </a:pPr>
            <a:r>
              <a:rPr lang="pt-BR" sz="3000"/>
              <a:t>•</a:t>
            </a:r>
            <a:r>
              <a:rPr lang="pt-BR" sz="3000" b="1"/>
              <a:t>Dados quantitativos</a:t>
            </a:r>
            <a:r>
              <a:rPr lang="pt-BR" sz="3000"/>
              <a:t>, na forma de uma ou mais métricas (como taxas de conclusão de tarefas ou tempos de tarefas) que refletem se as tarefas foram fáceis de executar</a:t>
            </a:r>
          </a:p>
          <a:p>
            <a:pPr marL="201168" lvl="1" indent="0">
              <a:buNone/>
            </a:pPr>
            <a:endParaRPr lang="pt-BR" sz="3300" b="1"/>
          </a:p>
        </p:txBody>
      </p:sp>
    </p:spTree>
    <p:extLst>
      <p:ext uri="{BB962C8B-B14F-4D97-AF65-F5344CB8AC3E}">
        <p14:creationId xmlns:p14="http://schemas.microsoft.com/office/powerpoint/2010/main" val="3379135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27AD6-E946-2EA9-B2F6-F2BAA437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5A80BF-4D72-A7DA-19D6-C19BB8B33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613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000" b="1"/>
              <a:t>Dados qualitativos </a:t>
            </a:r>
            <a:r>
              <a:rPr lang="pt-BR" sz="3000"/>
              <a:t>oferecem uma avaliação direta da usabilidade de um sistema:</a:t>
            </a:r>
          </a:p>
          <a:p>
            <a:pPr lvl="1"/>
            <a:r>
              <a:rPr lang="pt-BR" sz="3000"/>
              <a:t>Os pesquisadores observarão os participantes lutando com elementos específicos da interface do usuário e inferirão quais aspectos do design são problemáticos e quais funcionam bem</a:t>
            </a:r>
            <a:endParaRPr lang="pt-BR" sz="3300"/>
          </a:p>
        </p:txBody>
      </p:sp>
    </p:spTree>
    <p:extLst>
      <p:ext uri="{BB962C8B-B14F-4D97-AF65-F5344CB8AC3E}">
        <p14:creationId xmlns:p14="http://schemas.microsoft.com/office/powerpoint/2010/main" val="1034097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000" b="1"/>
              <a:t>Dados quantitativos </a:t>
            </a:r>
            <a:r>
              <a:rPr lang="pt-BR" sz="3000"/>
              <a:t>oferecem uma avaliação indireta da usabilidade de um design.</a:t>
            </a:r>
          </a:p>
          <a:p>
            <a:pPr lvl="1"/>
            <a:r>
              <a:rPr lang="pt-BR" sz="3000"/>
              <a:t>Podem ser baseados no desempenho dos usuários em uma determinada tarefa (por exemplo: tempos de conclusão da tarefa, taxas de sucesso, número de erros)</a:t>
            </a:r>
          </a:p>
          <a:p>
            <a:pPr lvl="1"/>
            <a:r>
              <a:rPr lang="pt-BR" sz="3000"/>
              <a:t>Podem refletir a percepção de usabilidade dos participantes (por exemplo: índices de satisfação)</a:t>
            </a:r>
            <a:endParaRPr lang="pt-BR" sz="3300"/>
          </a:p>
        </p:txBody>
      </p:sp>
    </p:spTree>
    <p:extLst>
      <p:ext uri="{BB962C8B-B14F-4D97-AF65-F5344CB8AC3E}">
        <p14:creationId xmlns:p14="http://schemas.microsoft.com/office/powerpoint/2010/main" val="3323179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Dados quantitativos </a:t>
            </a:r>
            <a:r>
              <a:rPr lang="pt-BR" sz="3300"/>
              <a:t>não apontam especificamente quais erros foram encontrados:</a:t>
            </a:r>
          </a:p>
          <a:p>
            <a:pPr lvl="1"/>
            <a:r>
              <a:rPr lang="pt-BR" sz="3300"/>
              <a:t>“Saber que apenas 40% dos participantes são capazes de concluir uma tarefa não diz por que os usuários tiveram problemas com essa tarefa ou como torná-la mais fácil.”</a:t>
            </a:r>
          </a:p>
        </p:txBody>
      </p:sp>
    </p:spTree>
    <p:extLst>
      <p:ext uri="{BB962C8B-B14F-4D97-AF65-F5344CB8AC3E}">
        <p14:creationId xmlns:p14="http://schemas.microsoft.com/office/powerpoint/2010/main" val="3427109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Dados quantitativos </a:t>
            </a:r>
            <a:r>
              <a:rPr lang="pt-BR" sz="3300"/>
              <a:t>podem ser bastante significativos e pouco sujeitos a aleatoriedades:</a:t>
            </a:r>
          </a:p>
          <a:p>
            <a:pPr lvl="1"/>
            <a:r>
              <a:rPr lang="pt-BR" sz="3300"/>
              <a:t>Permitem dizer qual a probabilidade dos dados refletirem a verdade</a:t>
            </a:r>
          </a:p>
        </p:txBody>
      </p:sp>
    </p:spTree>
    <p:extLst>
      <p:ext uri="{BB962C8B-B14F-4D97-AF65-F5344CB8AC3E}">
        <p14:creationId xmlns:p14="http://schemas.microsoft.com/office/powerpoint/2010/main" val="531781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err="1"/>
              <a:t>Quali</a:t>
            </a:r>
            <a:r>
              <a:rPr lang="en-US"/>
              <a:t> vs. </a:t>
            </a:r>
            <a:r>
              <a:rPr lang="en-US" err="1"/>
              <a:t>Quanti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>
              <a:solidFill>
                <a:schemeClr val="tx2"/>
              </a:solidFill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7F6C0A2-C2DD-45B0-A354-32D67E0C4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sz="2400"/>
              <a:t>As principais diferenças entre os dois tipos de pesquisa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FACCB25-B4F1-4D34-B625-D02F2269F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927736"/>
              </p:ext>
            </p:extLst>
          </p:nvPr>
        </p:nvGraphicFramePr>
        <p:xfrm>
          <a:off x="5764364" y="0"/>
          <a:ext cx="5414092" cy="68579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4485">
                  <a:extLst>
                    <a:ext uri="{9D8B030D-6E8A-4147-A177-3AD203B41FA5}">
                      <a16:colId xmlns:a16="http://schemas.microsoft.com/office/drawing/2014/main" val="1253487425"/>
                    </a:ext>
                  </a:extLst>
                </a:gridCol>
                <a:gridCol w="1804485">
                  <a:extLst>
                    <a:ext uri="{9D8B030D-6E8A-4147-A177-3AD203B41FA5}">
                      <a16:colId xmlns:a16="http://schemas.microsoft.com/office/drawing/2014/main" val="3551978918"/>
                    </a:ext>
                  </a:extLst>
                </a:gridCol>
                <a:gridCol w="1805122">
                  <a:extLst>
                    <a:ext uri="{9D8B030D-6E8A-4147-A177-3AD203B41FA5}">
                      <a16:colId xmlns:a16="http://schemas.microsoft.com/office/drawing/2014/main" val="4071672003"/>
                    </a:ext>
                  </a:extLst>
                </a:gridCol>
              </a:tblGrid>
              <a:tr h="18777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 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Pesquisa Qualitativa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Pesquisa Quantitativa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extLst>
                  <a:ext uri="{0D108BD9-81ED-4DB2-BD59-A6C34878D82A}">
                    <a16:rowId xmlns:a16="http://schemas.microsoft.com/office/drawing/2014/main" val="3822891581"/>
                  </a:ext>
                </a:extLst>
              </a:tr>
              <a:tr h="18777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Questões perguntadas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Por quê?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Quanto?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extLst>
                  <a:ext uri="{0D108BD9-81ED-4DB2-BD59-A6C34878D82A}">
                    <a16:rowId xmlns:a16="http://schemas.microsoft.com/office/drawing/2014/main" val="1803581307"/>
                  </a:ext>
                </a:extLst>
              </a:tr>
              <a:tr h="23392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Objetivos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Tanto formativa quanto somativa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Informar decisões de design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Identificar problemas de usabilidade e encontrar soluções para eles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Principalmente somativo: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 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Avaliar a usabilidade de um site existente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Acompanhar a usabilidade ao longo do tempo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Comparar site com concorrentes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Calcular o ROI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extLst>
                  <a:ext uri="{0D108BD9-81ED-4DB2-BD59-A6C34878D82A}">
                    <a16:rowId xmlns:a16="http://schemas.microsoft.com/office/drawing/2014/main" val="3615225237"/>
                  </a:ext>
                </a:extLst>
              </a:tr>
              <a:tr h="7771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Quando é utilizada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Qualquer momento: durante o reprojeto ou quando já existe um produto funcional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Quando você possui um produto funcional (seja no começo ou no fim do ciclo do projeto)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extLst>
                  <a:ext uri="{0D108BD9-81ED-4DB2-BD59-A6C34878D82A}">
                    <a16:rowId xmlns:a16="http://schemas.microsoft.com/office/drawing/2014/main" val="3456877668"/>
                  </a:ext>
                </a:extLst>
              </a:tr>
              <a:tr h="11700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Resultado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Achados baseados nas impressões, interpretações e conhecimento prévio do pesquisador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Resultados estatisticamente significativos que provavelmente serão replicados em um estudo diferente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extLst>
                  <a:ext uri="{0D108BD9-81ED-4DB2-BD59-A6C34878D82A}">
                    <a16:rowId xmlns:a16="http://schemas.microsoft.com/office/drawing/2014/main" val="3883943623"/>
                  </a:ext>
                </a:extLst>
              </a:tr>
              <a:tr h="21960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100">
                          <a:effectLst/>
                        </a:rPr>
                        <a:t>Metodologia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Poucos participantes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Condições flexíveis que podem ser ajustadas de acordo com as necessidades do time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Protocolo de pensar em voz alta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Muitos participantes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Condições de estudo bem definidas e estritamente controladas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pt-BR" sz="1100">
                          <a:effectLst/>
                        </a:rPr>
                        <a:t>Normalmente em silêncio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839" marR="68839" marT="0" marB="0"/>
                </a:tc>
                <a:extLst>
                  <a:ext uri="{0D108BD9-81ED-4DB2-BD59-A6C34878D82A}">
                    <a16:rowId xmlns:a16="http://schemas.microsoft.com/office/drawing/2014/main" val="1947590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515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O ciclo do design iterativo:</a:t>
            </a:r>
          </a:p>
          <a:p>
            <a:pPr marL="715518" lvl="1" indent="-514350">
              <a:buFont typeface="+mj-lt"/>
              <a:buAutoNum type="arabicPeriod"/>
            </a:pPr>
            <a:r>
              <a:rPr lang="pt-BR" sz="3300"/>
              <a:t>Avaliação de um design existente,</a:t>
            </a:r>
          </a:p>
          <a:p>
            <a:pPr marL="715518" lvl="1" indent="-514350">
              <a:buFont typeface="+mj-lt"/>
              <a:buAutoNum type="arabicPeriod"/>
            </a:pPr>
            <a:r>
              <a:rPr lang="pt-BR" sz="3300"/>
              <a:t>Redesenho destinado a abordar os desafios de usabilidade do sistema atual,</a:t>
            </a:r>
          </a:p>
          <a:p>
            <a:pPr marL="715518" lvl="1" indent="-514350">
              <a:buFont typeface="+mj-lt"/>
              <a:buAutoNum type="arabicPeriod"/>
            </a:pPr>
            <a:r>
              <a:rPr lang="pt-BR" sz="3300"/>
              <a:t>Avaliação da versão redesenhada,</a:t>
            </a:r>
          </a:p>
          <a:p>
            <a:pPr marL="715518" lvl="1" indent="-514350">
              <a:buFont typeface="+mj-lt"/>
              <a:buAutoNum type="arabicPeriod"/>
            </a:pPr>
            <a:r>
              <a:rPr lang="pt-BR" sz="3300"/>
              <a:t>Comparação com a versão inicial</a:t>
            </a:r>
          </a:p>
        </p:txBody>
      </p:sp>
    </p:spTree>
    <p:extLst>
      <p:ext uri="{BB962C8B-B14F-4D97-AF65-F5344CB8AC3E}">
        <p14:creationId xmlns:p14="http://schemas.microsoft.com/office/powerpoint/2010/main" val="2971032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en-US" err="1"/>
              <a:t>Ciclo</a:t>
            </a:r>
            <a:r>
              <a:rPr lang="en-US"/>
              <a:t> do Design </a:t>
            </a:r>
            <a:r>
              <a:rPr lang="en-US" err="1"/>
              <a:t>Iterativo</a:t>
            </a:r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FCEC800-D450-4CF4-AF50-5297D4046E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8984" y="1140713"/>
            <a:ext cx="5928344" cy="46389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>
              <a:solidFill>
                <a:schemeClr val="tx2"/>
              </a:solidFill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58766E-9BA1-49C5-B911-A00DA5313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327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Quando usar:</a:t>
            </a:r>
          </a:p>
          <a:p>
            <a:pPr lvl="1"/>
            <a:r>
              <a:rPr lang="pt-BR" sz="3300" b="1"/>
              <a:t>Qualitativa</a:t>
            </a:r>
          </a:p>
          <a:p>
            <a:pPr lvl="2"/>
            <a:r>
              <a:rPr lang="pt-BR" sz="2900"/>
              <a:t>Estudos qualitativos costumam ser utilizados para avaliar partes ou processos específicos do projeto</a:t>
            </a:r>
          </a:p>
        </p:txBody>
      </p:sp>
    </p:spTree>
    <p:extLst>
      <p:ext uri="{BB962C8B-B14F-4D97-AF65-F5344CB8AC3E}">
        <p14:creationId xmlns:p14="http://schemas.microsoft.com/office/powerpoint/2010/main" val="240217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Quando usar:</a:t>
            </a:r>
          </a:p>
          <a:p>
            <a:pPr lvl="1"/>
            <a:r>
              <a:rPr lang="pt-BR" sz="3300" b="1"/>
              <a:t>Quantitativa</a:t>
            </a:r>
          </a:p>
          <a:p>
            <a:pPr lvl="2"/>
            <a:r>
              <a:rPr lang="pt-BR" sz="2900"/>
              <a:t>Estudos quantitativos tendem a ser utilizados para avaliação de todo o sistema (são mais caros, exigem mais tempo e maior controle das sessões)</a:t>
            </a:r>
          </a:p>
        </p:txBody>
      </p:sp>
    </p:spTree>
    <p:extLst>
      <p:ext uri="{BB962C8B-B14F-4D97-AF65-F5344CB8AC3E}">
        <p14:creationId xmlns:p14="http://schemas.microsoft.com/office/powerpoint/2010/main" val="2927287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01168" lvl="1" indent="0">
              <a:buNone/>
            </a:pPr>
            <a:r>
              <a:rPr lang="pt-BR" sz="3300" b="1"/>
              <a:t>Metodologia: </a:t>
            </a:r>
            <a:r>
              <a:rPr lang="pt-BR" sz="3300"/>
              <a:t>ambos os testes devem ter:</a:t>
            </a:r>
          </a:p>
          <a:p>
            <a:pPr marL="715518" lvl="1" indent="-514350">
              <a:buFont typeface="+mj-lt"/>
              <a:buAutoNum type="arabicPeriod"/>
            </a:pPr>
            <a:r>
              <a:rPr lang="pt-BR" sz="3300" b="1"/>
              <a:t>Validade externa</a:t>
            </a:r>
            <a:r>
              <a:rPr lang="pt-BR" sz="3300"/>
              <a:t>: os participantes são representativos do público-alvo e as condições do estudo refletem como a tarefa é realizada na natureza.</a:t>
            </a:r>
          </a:p>
          <a:p>
            <a:pPr lvl="3"/>
            <a:r>
              <a:rPr lang="pt-BR" sz="2900"/>
              <a:t>Por exemplo: testar um site móvel em um simulador de desktop carece de validade externa porque as pessoas normalmente usariam esse site em um telefone com tela sensível ao toque.</a:t>
            </a:r>
          </a:p>
          <a:p>
            <a:pPr marL="201168" lvl="1" indent="0">
              <a:buNone/>
            </a:pPr>
            <a:endParaRPr lang="pt-BR" sz="3300" b="1"/>
          </a:p>
          <a:p>
            <a:pPr marL="201168" lvl="1" indent="0">
              <a:buNone/>
            </a:pPr>
            <a:endParaRPr lang="pt-BR" sz="3300"/>
          </a:p>
        </p:txBody>
      </p:sp>
    </p:spTree>
    <p:extLst>
      <p:ext uri="{BB962C8B-B14F-4D97-AF65-F5344CB8AC3E}">
        <p14:creationId xmlns:p14="http://schemas.microsoft.com/office/powerpoint/2010/main" val="1797546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Metodologia: </a:t>
            </a:r>
            <a:r>
              <a:rPr lang="pt-BR" sz="3300"/>
              <a:t>ambos os testes devem ter:</a:t>
            </a:r>
          </a:p>
          <a:p>
            <a:pPr marL="715518" lvl="1" indent="-514350">
              <a:buAutoNum type="arabicPeriod" startAt="2"/>
            </a:pPr>
            <a:r>
              <a:rPr lang="pt-BR" sz="3300" b="1"/>
              <a:t>Validade interna</a:t>
            </a:r>
            <a:r>
              <a:rPr lang="pt-BR" sz="3300"/>
              <a:t>: a configuração do experimento não favorece nenhuma condição.</a:t>
            </a:r>
          </a:p>
          <a:p>
            <a:pPr lvl="3"/>
            <a:r>
              <a:rPr lang="pt-BR" sz="2900"/>
              <a:t>Por exemplo: se o 	projeto A for testado de manhã e o projeto B for 	testado à tarde, é possível que a fadiga dos usuários poderá afetar o teste B</a:t>
            </a:r>
            <a:endParaRPr lang="pt-BR" sz="2900" b="1"/>
          </a:p>
          <a:p>
            <a:pPr marL="201168" lvl="1" indent="0">
              <a:buNone/>
            </a:pPr>
            <a:endParaRPr lang="pt-BR" sz="3300"/>
          </a:p>
        </p:txBody>
      </p:sp>
    </p:spTree>
    <p:extLst>
      <p:ext uri="{BB962C8B-B14F-4D97-AF65-F5344CB8AC3E}">
        <p14:creationId xmlns:p14="http://schemas.microsoft.com/office/powerpoint/2010/main" val="2084360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Metodologia:</a:t>
            </a:r>
          </a:p>
          <a:p>
            <a:pPr lvl="1"/>
            <a:r>
              <a:rPr lang="pt-BR" sz="3300"/>
              <a:t>Estudos quantitativos envolvem mais participantes</a:t>
            </a:r>
          </a:p>
          <a:p>
            <a:pPr lvl="2"/>
            <a:r>
              <a:rPr lang="pt-BR" sz="2900"/>
              <a:t>Quantitativos: aprox. 30</a:t>
            </a:r>
          </a:p>
          <a:p>
            <a:pPr lvl="2"/>
            <a:r>
              <a:rPr lang="pt-BR" sz="2900"/>
              <a:t>Qualitativos: aprox. 5</a:t>
            </a:r>
            <a:endParaRPr lang="pt-BR" sz="3300" b="1"/>
          </a:p>
          <a:p>
            <a:pPr lvl="1"/>
            <a:endParaRPr lang="pt-BR" sz="3300"/>
          </a:p>
        </p:txBody>
      </p:sp>
    </p:spTree>
    <p:extLst>
      <p:ext uri="{BB962C8B-B14F-4D97-AF65-F5344CB8AC3E}">
        <p14:creationId xmlns:p14="http://schemas.microsoft.com/office/powerpoint/2010/main" val="4033947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Metodologia:</a:t>
            </a:r>
          </a:p>
          <a:p>
            <a:pPr lvl="1"/>
            <a:r>
              <a:rPr lang="pt-BR" sz="3300"/>
              <a:t>As condições nos estudos quantitativos precisam ser rigorosamente controladas de sessão para sessão</a:t>
            </a:r>
          </a:p>
          <a:p>
            <a:pPr lvl="2"/>
            <a:r>
              <a:rPr lang="pt-BR" sz="2900"/>
              <a:t>Por exemplo: não se pode executar parte dos testes à distância e outra parte presencialmente</a:t>
            </a:r>
          </a:p>
        </p:txBody>
      </p:sp>
    </p:spTree>
    <p:extLst>
      <p:ext uri="{BB962C8B-B14F-4D97-AF65-F5344CB8AC3E}">
        <p14:creationId xmlns:p14="http://schemas.microsoft.com/office/powerpoint/2010/main" val="1782071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Metodologia:</a:t>
            </a:r>
          </a:p>
          <a:p>
            <a:pPr lvl="1"/>
            <a:r>
              <a:rPr lang="pt-BR" sz="3300"/>
              <a:t>Estudos quantitativos geralmente começam com uma tarefa prática destinada a familiarizar todos os participantes com a configuração do estudo</a:t>
            </a:r>
          </a:p>
          <a:p>
            <a:pPr lvl="2"/>
            <a:r>
              <a:rPr lang="pt-BR" sz="2900"/>
              <a:t>Por exemplo: ensinando o mínimo sobre a interface</a:t>
            </a:r>
          </a:p>
        </p:txBody>
      </p:sp>
    </p:spTree>
    <p:extLst>
      <p:ext uri="{BB962C8B-B14F-4D97-AF65-F5344CB8AC3E}">
        <p14:creationId xmlns:p14="http://schemas.microsoft.com/office/powerpoint/2010/main" val="2737010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Metodologia:</a:t>
            </a:r>
          </a:p>
          <a:p>
            <a:pPr lvl="1"/>
            <a:r>
              <a:rPr lang="pt-BR" sz="3300"/>
              <a:t>O protocolo de pensar em voz alta é o método padrão em estudos qualitativos, mas às vezes não é recomendado em estudos quantitativos</a:t>
            </a:r>
          </a:p>
        </p:txBody>
      </p:sp>
    </p:spTree>
    <p:extLst>
      <p:ext uri="{BB962C8B-B14F-4D97-AF65-F5344CB8AC3E}">
        <p14:creationId xmlns:p14="http://schemas.microsoft.com/office/powerpoint/2010/main" val="386567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Metodologia:</a:t>
            </a:r>
          </a:p>
          <a:p>
            <a:pPr lvl="1"/>
            <a:r>
              <a:rPr lang="pt-BR" sz="3300"/>
              <a:t>Estudo qualitativo: pessoas inserem informações reais (nomes, idades, profissões etc.)</a:t>
            </a:r>
          </a:p>
          <a:p>
            <a:pPr lvl="1"/>
            <a:r>
              <a:rPr lang="pt-BR" sz="3300"/>
              <a:t>Estudo quantitativo: todos devem ter a mesma experiência e, portanto, devem digitar exatamente os mesmos textos</a:t>
            </a:r>
          </a:p>
        </p:txBody>
      </p:sp>
    </p:spTree>
    <p:extLst>
      <p:ext uri="{BB962C8B-B14F-4D97-AF65-F5344CB8AC3E}">
        <p14:creationId xmlns:p14="http://schemas.microsoft.com/office/powerpoint/2010/main" val="4090733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Metodologia:</a:t>
            </a:r>
          </a:p>
          <a:p>
            <a:pPr lvl="1"/>
            <a:r>
              <a:rPr lang="pt-BR" sz="3300"/>
              <a:t>Qualitativo: não há problema em variar as condições de estudo entre as sessões.</a:t>
            </a:r>
          </a:p>
          <a:p>
            <a:pPr lvl="2"/>
            <a:r>
              <a:rPr lang="pt-BR" sz="2900"/>
              <a:t>Por exemplo: se você descobrir que uma determinada tarefa não fornece os insights necessários, reescreva-a antes de executá-la com seu próximo usuário. </a:t>
            </a:r>
          </a:p>
        </p:txBody>
      </p:sp>
    </p:spTree>
    <p:extLst>
      <p:ext uri="{BB962C8B-B14F-4D97-AF65-F5344CB8AC3E}">
        <p14:creationId xmlns:p14="http://schemas.microsoft.com/office/powerpoint/2010/main" val="360849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01168" lvl="1" indent="0">
              <a:buNone/>
            </a:pPr>
            <a:r>
              <a:rPr lang="pt-BR" sz="3300" b="1"/>
              <a:t>Metodologia:</a:t>
            </a:r>
          </a:p>
          <a:p>
            <a:pPr lvl="1"/>
            <a:r>
              <a:rPr lang="pt-BR" sz="3300"/>
              <a:t>Quantitativos: as tarefas precisam ter uma única resposta bem definida.</a:t>
            </a:r>
          </a:p>
          <a:p>
            <a:pPr lvl="2"/>
            <a:r>
              <a:rPr lang="pt-BR" sz="2900"/>
              <a:t>Por exemplo: “Encontre o número de telefone e o endereço de John Smith”</a:t>
            </a:r>
          </a:p>
          <a:p>
            <a:pPr lvl="2"/>
            <a:r>
              <a:rPr lang="pt-BR" sz="2900"/>
              <a:t>Do ponto de vista qualitativo: ok</a:t>
            </a:r>
          </a:p>
          <a:p>
            <a:pPr lvl="2"/>
            <a:r>
              <a:rPr lang="pt-BR" sz="2900"/>
              <a:t>Do ponto de vista quantitativo: ruim (e se somente o telefone for encontrado?)</a:t>
            </a:r>
          </a:p>
        </p:txBody>
      </p:sp>
    </p:spTree>
    <p:extLst>
      <p:ext uri="{BB962C8B-B14F-4D97-AF65-F5344CB8AC3E}">
        <p14:creationId xmlns:p14="http://schemas.microsoft.com/office/powerpoint/2010/main" val="3198599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pt-BR" sz="3300" b="1"/>
              <a:t>Metodologia:</a:t>
            </a:r>
          </a:p>
          <a:p>
            <a:pPr lvl="1"/>
            <a:r>
              <a:rPr lang="pt-BR" sz="3300"/>
              <a:t>Quantitativos e qualitativos: randomizar tarefas</a:t>
            </a:r>
          </a:p>
          <a:p>
            <a:pPr lvl="2"/>
            <a:r>
              <a:rPr lang="pt-BR" sz="2900"/>
              <a:t>Principalmente em testes quantitativos, a randomização garante que a ordem das tarefas não influencie os resultados de forma alguma.</a:t>
            </a:r>
          </a:p>
        </p:txBody>
      </p:sp>
    </p:spTree>
    <p:extLst>
      <p:ext uri="{BB962C8B-B14F-4D97-AF65-F5344CB8AC3E}">
        <p14:creationId xmlns:p14="http://schemas.microsoft.com/office/powerpoint/2010/main" val="295624249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6CD9086B7A0143806617CD13B66A8F" ma:contentTypeVersion="3" ma:contentTypeDescription="Create a new document." ma:contentTypeScope="" ma:versionID="2e710e0f583069034d0b9b90b9c2cc93">
  <xsd:schema xmlns:xsd="http://www.w3.org/2001/XMLSchema" xmlns:xs="http://www.w3.org/2001/XMLSchema" xmlns:p="http://schemas.microsoft.com/office/2006/metadata/properties" xmlns:ns2="dd357385-7d55-4120-8587-028bbaf63831" targetNamespace="http://schemas.microsoft.com/office/2006/metadata/properties" ma:root="true" ma:fieldsID="e3843e93016ac1d5692d0c0ccf5af319" ns2:_="">
    <xsd:import namespace="dd357385-7d55-4120-8587-028bbaf638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57385-7d55-4120-8587-028bbaf638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ABA869D-08B4-477E-A657-EBFCF61DEF94}"/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Application>Microsoft Office PowerPoint</Application>
  <PresentationFormat>Widescreen</PresentationFormat>
  <Slides>30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1_RetrospectVTI</vt:lpstr>
      <vt:lpstr>Desenvolvimento de software para Internet</vt:lpstr>
      <vt:lpstr>Teste de Usabilidade</vt:lpstr>
      <vt:lpstr>Teste de Usabilidade</vt:lpstr>
      <vt:lpstr>Teste de Usabilidade</vt:lpstr>
      <vt:lpstr>Teste de Usabilidade</vt:lpstr>
      <vt:lpstr>Teste de Usabilidade</vt:lpstr>
      <vt:lpstr>Teste em Desktop</vt:lpstr>
      <vt:lpstr>Teste em dispositivo móvel</vt:lpstr>
      <vt:lpstr>Teste de Usabilidade</vt:lpstr>
      <vt:lpstr>Teste de Usabilidade</vt:lpstr>
      <vt:lpstr>PowerPoint Presentation</vt:lpstr>
      <vt:lpstr>Teste de Usabilidade</vt:lpstr>
      <vt:lpstr>Teste de Usabilidade</vt:lpstr>
      <vt:lpstr>Teste de Usabilidade</vt:lpstr>
      <vt:lpstr>Teste de Usabilidade</vt:lpstr>
      <vt:lpstr>Quali vs. Quanti</vt:lpstr>
      <vt:lpstr>Teste de Usabilidade</vt:lpstr>
      <vt:lpstr>Ciclo do Design Iterativo</vt:lpstr>
      <vt:lpstr>Teste de Usabilidade</vt:lpstr>
      <vt:lpstr>Teste de Usabilidade</vt:lpstr>
      <vt:lpstr>Teste de Usabilidade</vt:lpstr>
      <vt:lpstr>Teste de Usabilidade</vt:lpstr>
      <vt:lpstr>Teste de Usabilidade</vt:lpstr>
      <vt:lpstr>Teste de Usabilidade</vt:lpstr>
      <vt:lpstr>Teste de Usabilidade</vt:lpstr>
      <vt:lpstr>Teste de Usabilidade</vt:lpstr>
      <vt:lpstr>Teste de Usabilidade</vt:lpstr>
      <vt:lpstr>Teste de Usabilidade</vt:lpstr>
      <vt:lpstr>Teste de Usabilidade</vt:lpstr>
      <vt:lpstr>Teste de Usabilidade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revision>1</cp:revision>
  <dcterms:created xsi:type="dcterms:W3CDTF">2022-08-15T17:51:41Z</dcterms:created>
  <dcterms:modified xsi:type="dcterms:W3CDTF">2026-03-30T10:56:02Z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0x0101008A6CD9086B7A0143806617CD13B66A8F</vt:lpwstr>
  </property>
</Properties>
</file>