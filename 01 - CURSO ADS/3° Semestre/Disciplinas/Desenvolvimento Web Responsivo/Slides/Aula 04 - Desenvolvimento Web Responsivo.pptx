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30"/>
  </p:notesMasterIdLst>
  <p:handoutMasterIdLst>
    <p:handoutMasterId r:id="rId31"/>
  </p:handoutMasterIdLst>
  <p:sldIdLst>
    <p:sldId id="268" r:id="rId5"/>
    <p:sldId id="269" r:id="rId6"/>
    <p:sldId id="270" r:id="rId7"/>
    <p:sldId id="272" r:id="rId8"/>
    <p:sldId id="273" r:id="rId9"/>
    <p:sldId id="275" r:id="rId10"/>
    <p:sldId id="277" r:id="rId11"/>
    <p:sldId id="278" r:id="rId12"/>
    <p:sldId id="279" r:id="rId13"/>
    <p:sldId id="280" r:id="rId14"/>
    <p:sldId id="282" r:id="rId15"/>
    <p:sldId id="283" r:id="rId16"/>
    <p:sldId id="284" r:id="rId17"/>
    <p:sldId id="285" r:id="rId18"/>
    <p:sldId id="288" r:id="rId19"/>
    <p:sldId id="289" r:id="rId20"/>
    <p:sldId id="290" r:id="rId21"/>
    <p:sldId id="291" r:id="rId22"/>
    <p:sldId id="292" r:id="rId23"/>
    <p:sldId id="293" r:id="rId24"/>
    <p:sldId id="294" r:id="rId25"/>
    <p:sldId id="295" r:id="rId26"/>
    <p:sldId id="296" r:id="rId27"/>
    <p:sldId id="297" r:id="rId28"/>
    <p:sldId id="298" r:id="rId29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BFBFB"/>
    <a:srgbClr val="EC7016"/>
    <a:srgbClr val="EFD7FD"/>
    <a:srgbClr val="DBA8FA"/>
    <a:srgbClr val="F6E8FE"/>
    <a:srgbClr val="CE87F9"/>
    <a:srgbClr val="C26DF7"/>
    <a:srgbClr val="E8C8FC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38" autoAdjust="0"/>
    <p:restoredTop sz="94619" autoAdjust="0"/>
  </p:normalViewPr>
  <p:slideViewPr>
    <p:cSldViewPr snapToGrid="0">
      <p:cViewPr varScale="1">
        <p:scale>
          <a:sx n="102" d="100"/>
          <a:sy n="102" d="100"/>
        </p:scale>
        <p:origin x="960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8" d="100"/>
          <a:sy n="78" d="100"/>
        </p:scale>
        <p:origin x="3494" y="8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9935E2-E7C1-4ED2-91A8-3D2EF90039F0}" type="datetimeFigureOut">
              <a:rPr lang="pt-BR" smtClean="0"/>
              <a:t>26/03/2026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927CB4-B6D2-4E90-9CC1-824CE88DA95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937642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noProof="0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6FA47-21D5-4047-9471-F01A728B28BE}" type="datetimeFigureOut">
              <a:rPr lang="pt-BR" noProof="0" smtClean="0"/>
              <a:t>26/03/2026</a:t>
            </a:fld>
            <a:endParaRPr lang="pt-BR" noProof="0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noProof="0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/>
            <a:r>
              <a:rPr lang="pt-BR" noProof="0" dirty="0"/>
              <a:t>Segundo nível</a:t>
            </a:r>
          </a:p>
          <a:p>
            <a:pPr lvl="2"/>
            <a:r>
              <a:rPr lang="pt-BR" noProof="0" dirty="0"/>
              <a:t>Terceiro nível</a:t>
            </a:r>
          </a:p>
          <a:p>
            <a:pPr lvl="3"/>
            <a:r>
              <a:rPr lang="pt-BR" noProof="0" dirty="0"/>
              <a:t>Quarto nível</a:t>
            </a:r>
          </a:p>
          <a:p>
            <a:pPr lvl="4"/>
            <a:r>
              <a:rPr lang="pt-BR" noProof="0" dirty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noProof="0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3501BF-1D2B-4868-94EC-1ACE4360F5A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587417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3501BF-1D2B-4868-94EC-1ACE4360F5AC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3748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pt-BR" noProof="0"/>
              <a:t>Clique para editar o estilo do subtítulo Mestre</a:t>
            </a:r>
            <a:endParaRPr lang="pt-BR" noProof="0" dirty="0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A058210-3CDA-4DDA-8356-4FED81F3EC11}" type="datetime1">
              <a:rPr lang="pt-BR" noProof="0" smtClean="0"/>
              <a:t>26/03/2026</a:t>
            </a:fld>
            <a:endParaRPr lang="pt-BR" noProof="0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27225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10A45F5-F797-498C-8B7A-1AAECBDA6E61}" type="datetime1">
              <a:rPr lang="pt-BR" noProof="0" smtClean="0"/>
              <a:t>26/03/2026</a:t>
            </a:fld>
            <a:endParaRPr lang="pt-BR" noProof="0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75201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29AE4E-7FCD-4AA8-8737-FC932D28D25C}" type="datetime1">
              <a:rPr lang="pt-BR" noProof="0" smtClean="0"/>
              <a:t>26/03/2026</a:t>
            </a:fld>
            <a:endParaRPr lang="pt-BR" noProof="0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770401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6469966-2CA8-44E6-8B22-84BCFB10A849}" type="datetime1">
              <a:rPr lang="pt-BR" noProof="0" smtClean="0"/>
              <a:t>26/03/2026</a:t>
            </a:fld>
            <a:endParaRPr lang="pt-BR" noProof="0" dirty="0"/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15223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FBCC592-1277-433B-ABE2-7821BB8F5F47}" type="datetime1">
              <a:rPr lang="pt-BR" noProof="0" smtClean="0"/>
              <a:t>26/03/2026</a:t>
            </a:fld>
            <a:endParaRPr lang="pt-BR" noProof="0" dirty="0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316775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D34C60-AB26-43CA-BC61-01B53B651217}" type="datetime1">
              <a:rPr lang="pt-BR" noProof="0" smtClean="0"/>
              <a:t>26/03/2026</a:t>
            </a:fld>
            <a:endParaRPr lang="pt-BR" noProof="0" dirty="0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8" name="Espaço reservado para o número do slide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042260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629BC98-DC8A-4339-9F6E-A49DA685FCB7}" type="datetime1">
              <a:rPr lang="pt-BR" noProof="0" smtClean="0"/>
              <a:t>26/03/2026</a:t>
            </a:fld>
            <a:endParaRPr lang="pt-BR" noProof="0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440723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 rtl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 dirty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BA6BBE74-918B-43BF-B29E-5C4A628D9277}" type="datetime1">
              <a:rPr lang="pt-BR" noProof="0" smtClean="0"/>
              <a:t>26/03/2026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41185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 noProof="0"/>
              <a:t>Clique no ícone para adicionar uma imagem</a:t>
            </a:r>
            <a:endParaRPr lang="pt-BR" noProof="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0A1C5B49-891F-4320-82CB-3E8E2B9DD127}" type="datetime1">
              <a:rPr lang="pt-BR" noProof="0" smtClean="0"/>
              <a:t>26/03/2026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884398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BR" noProof="0" dirty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 rtl="0"/>
            <a:r>
              <a:rPr lang="pt-BR" noProof="0" dirty="0"/>
              <a:t>Segundo nível</a:t>
            </a:r>
          </a:p>
          <a:p>
            <a:pPr lvl="2" rtl="0"/>
            <a:r>
              <a:rPr lang="pt-BR" noProof="0" dirty="0"/>
              <a:t>Terceiro nível</a:t>
            </a:r>
          </a:p>
          <a:p>
            <a:pPr lvl="3" rtl="0"/>
            <a:r>
              <a:rPr lang="pt-BR" noProof="0" dirty="0"/>
              <a:t>Quarto nível</a:t>
            </a:r>
          </a:p>
          <a:p>
            <a:pPr lvl="4" rtl="0"/>
            <a:r>
              <a:rPr lang="pt-BR" noProof="0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BA7412EA-3900-4FDB-8760-09BB6255EE2A}" type="datetime1">
              <a:rPr lang="pt-BR" noProof="0" smtClean="0"/>
              <a:t>26/03/2026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pt-BR" noProof="0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070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6" Type="http://schemas.openxmlformats.org/officeDocument/2006/relationships/hyperlink" Target="https://unsplash.com/pt-br/@macphoto?utm_content=creditCopyText&amp;utm_medium=referral&amp;utm_source=unsplash" TargetMode="Externa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tângulo 26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010AF38-26DF-48B3-952C-4A9091D68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929" y="639097"/>
            <a:ext cx="6253317" cy="3686015"/>
          </a:xfrm>
        </p:spPr>
        <p:txBody>
          <a:bodyPr rtlCol="0">
            <a:normAutofit/>
          </a:bodyPr>
          <a:lstStyle/>
          <a:p>
            <a:r>
              <a:rPr lang="pt-BR" sz="5400" dirty="0"/>
              <a:t>Desenvolvimento Web Responsivo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7FC2D8F-56D2-4ADF-B439-0E09E7C37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899" y="4672739"/>
            <a:ext cx="6269347" cy="1021498"/>
          </a:xfrm>
        </p:spPr>
        <p:txBody>
          <a:bodyPr rtlCol="0">
            <a:normAutofit/>
          </a:bodyPr>
          <a:lstStyle/>
          <a:p>
            <a:pPr rtl="0"/>
            <a:r>
              <a:rPr lang="pt-BR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</a:t>
            </a:r>
            <a:r>
              <a:rPr lang="pt-BR" sz="2400" cap="none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rof</a:t>
            </a:r>
            <a:r>
              <a:rPr lang="pt-BR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  <a:r>
              <a:rPr lang="pt-BR" sz="2400" cap="none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Flávio Waltz</a:t>
            </a:r>
            <a:endParaRPr lang="pt-BR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44179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m 6" descr="Logotipo&#10;&#10;Descrição gerada automaticamente">
            <a:extLst>
              <a:ext uri="{FF2B5EF4-FFF2-40B4-BE49-F238E27FC236}">
                <a16:creationId xmlns:a16="http://schemas.microsoft.com/office/drawing/2014/main" id="{F0637C58-910B-422A-A403-5959784600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2899" y="5084627"/>
            <a:ext cx="1773372" cy="1773372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98A1E69E-30F4-436B-6FD8-42ED9C32C3AE}"/>
              </a:ext>
            </a:extLst>
          </p:cNvPr>
          <p:cNvSpPr txBox="1"/>
          <p:nvPr/>
        </p:nvSpPr>
        <p:spPr>
          <a:xfrm>
            <a:off x="10506077" y="6465586"/>
            <a:ext cx="16859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dirty="0">
                <a:solidFill>
                  <a:schemeClr val="bg1"/>
                </a:solidFill>
              </a:rPr>
              <a:t>Foto de </a:t>
            </a:r>
            <a:r>
              <a:rPr lang="pt-BR" sz="1100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Mauricio </a:t>
            </a:r>
            <a:r>
              <a:rPr lang="pt-BR" sz="1100" dirty="0" err="1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Artieda</a:t>
            </a:r>
            <a:endParaRPr lang="pt-BR" sz="1100" dirty="0">
              <a:solidFill>
                <a:schemeClr val="bg1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82FE4CFB-8913-5C30-40CA-C42BA1F96C4E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4753"/>
          <a:stretch/>
        </p:blipFill>
        <p:spPr>
          <a:xfrm>
            <a:off x="7776594" y="0"/>
            <a:ext cx="44154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747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Desenvolvimento de software para internet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Baseado no livro: </a:t>
            </a:r>
            <a:r>
              <a:rPr lang="pt-B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Learning Web Design - A </a:t>
            </a:r>
            <a:r>
              <a:rPr lang="pt-BR" sz="2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beginner's</a:t>
            </a:r>
            <a:r>
              <a:rPr lang="pt-B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guide</a:t>
            </a:r>
            <a:r>
              <a:rPr lang="pt-B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</a:t>
            </a:r>
            <a:r>
              <a:rPr lang="pt-B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HTML, CSS, Javascript </a:t>
            </a:r>
            <a:r>
              <a:rPr lang="pt-BR" sz="2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pt-B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Web </a:t>
            </a:r>
            <a:r>
              <a:rPr lang="pt-BR" sz="2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Graphics</a:t>
            </a:r>
            <a:r>
              <a:rPr lang="pt-B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por </a:t>
            </a:r>
            <a:r>
              <a:rPr lang="pt-BR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Jennifer </a:t>
            </a:r>
            <a:r>
              <a:rPr lang="pt-BR" sz="2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Niederst</a:t>
            </a:r>
            <a:r>
              <a:rPr lang="pt-BR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Robbins</a:t>
            </a:r>
          </a:p>
          <a:p>
            <a:pPr marL="0" lvl="0" indent="0" algn="just">
              <a:lnSpc>
                <a:spcPct val="107000"/>
              </a:lnSpc>
              <a:buNone/>
            </a:pPr>
            <a:endParaRPr lang="pt-BR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3721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CSS – </a:t>
            </a:r>
            <a:r>
              <a:rPr lang="pt-BR" sz="3600" dirty="0" err="1"/>
              <a:t>Cascading</a:t>
            </a:r>
            <a:r>
              <a:rPr lang="pt-BR" sz="3600" dirty="0"/>
              <a:t> </a:t>
            </a:r>
            <a:r>
              <a:rPr lang="pt-BR" sz="3600" dirty="0" err="1"/>
              <a:t>Style</a:t>
            </a:r>
            <a:r>
              <a:rPr lang="pt-BR" sz="3600" dirty="0"/>
              <a:t> </a:t>
            </a:r>
            <a:r>
              <a:rPr lang="pt-BR" sz="3600" dirty="0" err="1"/>
              <a:t>Sheets</a:t>
            </a:r>
            <a:endParaRPr lang="pt-BR" sz="36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36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Cascading</a:t>
            </a:r>
            <a:r>
              <a:rPr lang="pt-BR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6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Style</a:t>
            </a:r>
            <a:r>
              <a:rPr lang="pt-BR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6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Sheets</a:t>
            </a:r>
            <a:r>
              <a:rPr lang="pt-BR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(CSS) é o padrão W3C para definir a apresentação de documentos escritos em HTML</a:t>
            </a:r>
            <a:endParaRPr lang="pt-BR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2852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CSS – </a:t>
            </a:r>
            <a:r>
              <a:rPr lang="pt-BR" sz="3600" dirty="0" err="1"/>
              <a:t>Cascading</a:t>
            </a:r>
            <a:r>
              <a:rPr lang="pt-BR" sz="3600" dirty="0"/>
              <a:t> </a:t>
            </a:r>
            <a:r>
              <a:rPr lang="pt-BR" sz="3600" dirty="0" err="1"/>
              <a:t>Style</a:t>
            </a:r>
            <a:r>
              <a:rPr lang="pt-BR" sz="3600" dirty="0"/>
              <a:t> </a:t>
            </a:r>
            <a:r>
              <a:rPr lang="pt-BR" sz="3600" dirty="0" err="1"/>
              <a:t>Sheets</a:t>
            </a:r>
            <a:endParaRPr lang="pt-BR" sz="36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Você pode mudar a aparência de um site inteiro editando uma folha de estilo. Isso também garante consistência de formatação em todo o site.</a:t>
            </a:r>
            <a:endParaRPr lang="pt-BR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5023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CSS – </a:t>
            </a:r>
            <a:r>
              <a:rPr lang="pt-BR" sz="3600" dirty="0" err="1"/>
              <a:t>Cascading</a:t>
            </a:r>
            <a:r>
              <a:rPr lang="pt-BR" sz="3600" dirty="0"/>
              <a:t> </a:t>
            </a:r>
            <a:r>
              <a:rPr lang="pt-BR" sz="3600" dirty="0" err="1"/>
              <a:t>Style</a:t>
            </a:r>
            <a:r>
              <a:rPr lang="pt-BR" sz="3600" dirty="0"/>
              <a:t> </a:t>
            </a:r>
            <a:r>
              <a:rPr lang="pt-BR" sz="3600" dirty="0" err="1"/>
              <a:t>Sheets</a:t>
            </a:r>
            <a:endParaRPr lang="pt-BR" sz="36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Quando todas as questões de apresentação são tratadas pelo CSS, você pode marcar seu conteúdo de forma significativa, tornando-o mais acessível para dispositivos móveis ou não visuais.</a:t>
            </a:r>
            <a:endParaRPr lang="pt-BR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9489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CSS – </a:t>
            </a:r>
            <a:r>
              <a:rPr lang="pt-BR" sz="3600" dirty="0" err="1"/>
              <a:t>Cascading</a:t>
            </a:r>
            <a:r>
              <a:rPr lang="pt-BR" sz="3600" dirty="0"/>
              <a:t> </a:t>
            </a:r>
            <a:r>
              <a:rPr lang="pt-BR" sz="3600" dirty="0" err="1"/>
              <a:t>Style</a:t>
            </a:r>
            <a:r>
              <a:rPr lang="pt-BR" sz="3600" dirty="0"/>
              <a:t> </a:t>
            </a:r>
            <a:r>
              <a:rPr lang="pt-BR" sz="3600" dirty="0" err="1"/>
              <a:t>Sheets</a:t>
            </a:r>
            <a:endParaRPr lang="pt-BR" sz="36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Vejam exemplos do poder do CSS: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https://csszengarden.com/</a:t>
            </a:r>
          </a:p>
        </p:txBody>
      </p:sp>
    </p:spTree>
    <p:extLst>
      <p:ext uri="{BB962C8B-B14F-4D97-AF65-F5344CB8AC3E}">
        <p14:creationId xmlns:p14="http://schemas.microsoft.com/office/powerpoint/2010/main" val="601114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CSS – </a:t>
            </a:r>
            <a:r>
              <a:rPr lang="pt-BR" sz="3600" dirty="0" err="1"/>
              <a:t>Cascading</a:t>
            </a:r>
            <a:r>
              <a:rPr lang="pt-BR" sz="3600" dirty="0"/>
              <a:t> </a:t>
            </a:r>
            <a:r>
              <a:rPr lang="pt-BR" sz="3600" dirty="0" err="1"/>
              <a:t>Style</a:t>
            </a:r>
            <a:r>
              <a:rPr lang="pt-BR" sz="3600" dirty="0"/>
              <a:t> </a:t>
            </a:r>
            <a:r>
              <a:rPr lang="pt-BR" sz="3600" dirty="0" err="1"/>
              <a:t>Sheets</a:t>
            </a:r>
            <a:endParaRPr lang="pt-BR" sz="36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r>
              <a:rPr lang="pt-BR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Como começar:</a:t>
            </a:r>
          </a:p>
          <a:p>
            <a:pPr marL="742950" indent="-742950">
              <a:lnSpc>
                <a:spcPct val="107000"/>
              </a:lnSpc>
              <a:buFont typeface="+mj-lt"/>
              <a:buAutoNum type="arabicPeriod"/>
            </a:pPr>
            <a:r>
              <a:rPr lang="pt-BR" sz="36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Comece com um documento HTML</a:t>
            </a:r>
          </a:p>
          <a:p>
            <a:pPr marL="742950" indent="-742950">
              <a:lnSpc>
                <a:spcPct val="107000"/>
              </a:lnSpc>
              <a:buFont typeface="+mj-lt"/>
              <a:buAutoNum type="arabicPeriod"/>
            </a:pPr>
            <a:r>
              <a:rPr lang="pt-BR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Escreva regras de estilo para certos elementos</a:t>
            </a:r>
          </a:p>
          <a:p>
            <a:pPr marL="742950" indent="-742950">
              <a:lnSpc>
                <a:spcPct val="107000"/>
              </a:lnSpc>
              <a:buFont typeface="+mj-lt"/>
              <a:buAutoNum type="arabicPeriod"/>
            </a:pPr>
            <a:r>
              <a:rPr lang="pt-BR" sz="36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Anexe as regras de estilo ao documento</a:t>
            </a:r>
            <a:endParaRPr lang="pt-BR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endParaRPr lang="pt-BR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4681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CSS – </a:t>
            </a:r>
            <a:r>
              <a:rPr lang="pt-BR" sz="3600" dirty="0" err="1"/>
              <a:t>Cascading</a:t>
            </a:r>
            <a:r>
              <a:rPr lang="pt-BR" sz="3600" dirty="0"/>
              <a:t> </a:t>
            </a:r>
            <a:r>
              <a:rPr lang="pt-BR" sz="3600" dirty="0" err="1"/>
              <a:t>Style</a:t>
            </a:r>
            <a:r>
              <a:rPr lang="pt-BR" sz="3600" dirty="0"/>
              <a:t> </a:t>
            </a:r>
            <a:r>
              <a:rPr lang="pt-BR" sz="3600" dirty="0" err="1"/>
              <a:t>Sheets</a:t>
            </a:r>
            <a:endParaRPr lang="pt-BR" sz="36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Uma folha de estilo é composta de </a:t>
            </a:r>
            <a:r>
              <a:rPr lang="pt-BR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uma ou mais instruções de estilo</a:t>
            </a:r>
            <a:r>
              <a:rPr lang="pt-BR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(chamadas </a:t>
            </a:r>
            <a:r>
              <a:rPr lang="pt-BR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regras de estilo</a:t>
            </a:r>
            <a:r>
              <a:rPr lang="pt-BR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que descrevem como um elemento ou grupo de elementos deve ser exibido.</a:t>
            </a:r>
            <a:endParaRPr lang="pt-BR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03879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CSS – </a:t>
            </a:r>
            <a:r>
              <a:rPr lang="pt-BR" sz="3600" dirty="0" err="1"/>
              <a:t>Cascading</a:t>
            </a:r>
            <a:r>
              <a:rPr lang="pt-BR" sz="3600" dirty="0"/>
              <a:t> </a:t>
            </a:r>
            <a:r>
              <a:rPr lang="pt-BR" sz="3600" dirty="0" err="1"/>
              <a:t>Style</a:t>
            </a:r>
            <a:r>
              <a:rPr lang="pt-BR" sz="3600" dirty="0"/>
              <a:t> </a:t>
            </a:r>
            <a:r>
              <a:rPr lang="pt-BR" sz="3600" dirty="0" err="1"/>
              <a:t>Sheets</a:t>
            </a:r>
            <a:endParaRPr lang="pt-BR" sz="36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primeiro passo para aprender CSS é se familiarizar com as partes de uma regra.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Cada regra seleciona um elemento e declara como ele deve ficar.</a:t>
            </a:r>
          </a:p>
        </p:txBody>
      </p:sp>
    </p:spTree>
    <p:extLst>
      <p:ext uri="{BB962C8B-B14F-4D97-AF65-F5344CB8AC3E}">
        <p14:creationId xmlns:p14="http://schemas.microsoft.com/office/powerpoint/2010/main" val="1035166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CSS – </a:t>
            </a:r>
            <a:r>
              <a:rPr lang="pt-BR" sz="3600" dirty="0" err="1"/>
              <a:t>Cascading</a:t>
            </a:r>
            <a:r>
              <a:rPr lang="pt-BR" sz="3600" dirty="0"/>
              <a:t> </a:t>
            </a:r>
            <a:r>
              <a:rPr lang="pt-BR" sz="3600" dirty="0" err="1"/>
              <a:t>Style</a:t>
            </a:r>
            <a:r>
              <a:rPr lang="pt-BR" sz="3600" dirty="0"/>
              <a:t> </a:t>
            </a:r>
            <a:r>
              <a:rPr lang="pt-BR" sz="3600" dirty="0" err="1"/>
              <a:t>Sheets</a:t>
            </a:r>
            <a:endParaRPr lang="pt-BR" sz="36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Exemplo:</a:t>
            </a:r>
          </a:p>
          <a:p>
            <a:pPr marL="0" indent="0" algn="ctr">
              <a:lnSpc>
                <a:spcPct val="107000"/>
              </a:lnSpc>
              <a:buNone/>
            </a:pPr>
            <a:r>
              <a:rPr lang="pt-BR" sz="36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h1 { color: </a:t>
            </a:r>
            <a:r>
              <a:rPr lang="pt-BR" sz="3600" b="1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green</a:t>
            </a:r>
            <a:r>
              <a:rPr lang="pt-BR" sz="36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 }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Torna todos os elementos h1 no documento verdes</a:t>
            </a:r>
          </a:p>
        </p:txBody>
      </p:sp>
    </p:spTree>
    <p:extLst>
      <p:ext uri="{BB962C8B-B14F-4D97-AF65-F5344CB8AC3E}">
        <p14:creationId xmlns:p14="http://schemas.microsoft.com/office/powerpoint/2010/main" val="3001742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CSS – </a:t>
            </a:r>
            <a:r>
              <a:rPr lang="pt-BR" sz="3600" dirty="0" err="1"/>
              <a:t>Cascading</a:t>
            </a:r>
            <a:r>
              <a:rPr lang="pt-BR" sz="3600" dirty="0"/>
              <a:t> </a:t>
            </a:r>
            <a:r>
              <a:rPr lang="pt-BR" sz="3600" dirty="0" err="1"/>
              <a:t>Style</a:t>
            </a:r>
            <a:r>
              <a:rPr lang="pt-BR" sz="3600" dirty="0"/>
              <a:t> </a:t>
            </a:r>
            <a:r>
              <a:rPr lang="pt-BR" sz="3600" dirty="0" err="1"/>
              <a:t>Sheets</a:t>
            </a:r>
            <a:endParaRPr lang="pt-BR" sz="36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Exemplo:</a:t>
            </a:r>
          </a:p>
          <a:p>
            <a:pPr marL="0" indent="0" algn="ctr">
              <a:lnSpc>
                <a:spcPct val="107000"/>
              </a:lnSpc>
              <a:buNone/>
            </a:pPr>
            <a:r>
              <a:rPr lang="fr-FR" sz="36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 { font-size: large; font-family: sans-serif; }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Especifica que os parágrafos devem estar em uma fonte grande, sem serifa</a:t>
            </a:r>
          </a:p>
        </p:txBody>
      </p:sp>
    </p:spTree>
    <p:extLst>
      <p:ext uri="{BB962C8B-B14F-4D97-AF65-F5344CB8AC3E}">
        <p14:creationId xmlns:p14="http://schemas.microsoft.com/office/powerpoint/2010/main" val="1017989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CSS – </a:t>
            </a:r>
            <a:r>
              <a:rPr lang="pt-BR" sz="3600" dirty="0" err="1"/>
              <a:t>Cascading</a:t>
            </a:r>
            <a:r>
              <a:rPr lang="pt-BR" sz="3600" dirty="0"/>
              <a:t> </a:t>
            </a:r>
            <a:r>
              <a:rPr lang="pt-BR" sz="3600" dirty="0" err="1"/>
              <a:t>Style</a:t>
            </a:r>
            <a:r>
              <a:rPr lang="pt-BR" sz="3600" dirty="0"/>
              <a:t> </a:t>
            </a:r>
            <a:r>
              <a:rPr lang="pt-BR" sz="3600" dirty="0" err="1"/>
              <a:t>Sheets</a:t>
            </a:r>
            <a:endParaRPr lang="pt-BR" sz="36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r>
              <a:rPr lang="pt-BR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 terminologia CSS, as duas seções principais de uma regra são:</a:t>
            </a:r>
          </a:p>
          <a:p>
            <a:pPr lvl="1">
              <a:lnSpc>
                <a:spcPct val="107000"/>
              </a:lnSpc>
            </a:pPr>
            <a:r>
              <a:rPr lang="pt-BR" sz="3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</a:t>
            </a:r>
            <a:r>
              <a:rPr lang="pt-BR" sz="3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seletor</a:t>
            </a:r>
            <a:r>
              <a:rPr lang="pt-BR" sz="3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que identifica o elemento ou elementos a serem afetados</a:t>
            </a:r>
          </a:p>
          <a:p>
            <a:pPr lvl="1">
              <a:lnSpc>
                <a:spcPct val="107000"/>
              </a:lnSpc>
            </a:pPr>
            <a:r>
              <a:rPr lang="pt-BR" sz="3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pt-BR" sz="3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declaração</a:t>
            </a:r>
            <a:r>
              <a:rPr lang="pt-BR" sz="3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que fornece as instruções de renderização.</a:t>
            </a:r>
          </a:p>
        </p:txBody>
      </p:sp>
    </p:spTree>
    <p:extLst>
      <p:ext uri="{BB962C8B-B14F-4D97-AF65-F5344CB8AC3E}">
        <p14:creationId xmlns:p14="http://schemas.microsoft.com/office/powerpoint/2010/main" val="29949951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386F2CA0-3600-455D-FD0A-A231C9B970AF}"/>
              </a:ext>
            </a:extLst>
          </p:cNvPr>
          <p:cNvSpPr/>
          <p:nvPr/>
        </p:nvSpPr>
        <p:spPr>
          <a:xfrm>
            <a:off x="4987636" y="3674227"/>
            <a:ext cx="3690851" cy="65523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CSS – </a:t>
            </a:r>
            <a:r>
              <a:rPr lang="pt-BR" sz="3600" dirty="0" err="1"/>
              <a:t>Cascading</a:t>
            </a:r>
            <a:r>
              <a:rPr lang="pt-BR" sz="3600" dirty="0"/>
              <a:t> </a:t>
            </a:r>
            <a:r>
              <a:rPr lang="pt-BR" sz="3600" dirty="0" err="1"/>
              <a:t>Style</a:t>
            </a:r>
            <a:r>
              <a:rPr lang="pt-BR" sz="3600" dirty="0"/>
              <a:t> </a:t>
            </a:r>
            <a:r>
              <a:rPr lang="pt-BR" sz="3600" dirty="0" err="1"/>
              <a:t>Sheets</a:t>
            </a:r>
            <a:endParaRPr lang="pt-BR" sz="36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7000"/>
              </a:lnSpc>
              <a:buNone/>
            </a:pPr>
            <a:endParaRPr lang="pt-BR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7000"/>
              </a:lnSpc>
              <a:buNone/>
            </a:pPr>
            <a:r>
              <a:rPr lang="pt-BR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Seletor { </a:t>
            </a:r>
            <a:r>
              <a:rPr lang="pt-BR" sz="36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propriedade: valor;</a:t>
            </a:r>
            <a:r>
              <a:rPr lang="pt-BR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}</a:t>
            </a:r>
            <a:endParaRPr lang="pt-BR" sz="3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A48A28E-88F0-7146-C045-562AD4DE2ECD}"/>
              </a:ext>
            </a:extLst>
          </p:cNvPr>
          <p:cNvSpPr txBox="1"/>
          <p:nvPr/>
        </p:nvSpPr>
        <p:spPr>
          <a:xfrm>
            <a:off x="3786447" y="2361192"/>
            <a:ext cx="6093228" cy="721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7000"/>
              </a:lnSpc>
              <a:buNone/>
            </a:pPr>
            <a:r>
              <a:rPr lang="pt-BR" sz="40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declaração</a:t>
            </a:r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4E434462-8F9B-4758-91BB-6F619308E935}"/>
              </a:ext>
            </a:extLst>
          </p:cNvPr>
          <p:cNvCxnSpPr/>
          <p:nvPr/>
        </p:nvCxnSpPr>
        <p:spPr>
          <a:xfrm>
            <a:off x="6842760" y="3029444"/>
            <a:ext cx="0" cy="64478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32627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Agrupar 9">
            <a:extLst>
              <a:ext uri="{FF2B5EF4-FFF2-40B4-BE49-F238E27FC236}">
                <a16:creationId xmlns:a16="http://schemas.microsoft.com/office/drawing/2014/main" id="{D8AC0F08-200D-5586-95CC-CCD2FC67CF4E}"/>
              </a:ext>
            </a:extLst>
          </p:cNvPr>
          <p:cNvGrpSpPr/>
          <p:nvPr/>
        </p:nvGrpSpPr>
        <p:grpSpPr>
          <a:xfrm>
            <a:off x="2971806" y="2959100"/>
            <a:ext cx="4330694" cy="2909992"/>
            <a:chOff x="2971806" y="2959100"/>
            <a:chExt cx="4330694" cy="2909992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1C2C1ADA-83D2-0D58-BD06-8BAE312FA483}"/>
                </a:ext>
              </a:extLst>
            </p:cNvPr>
            <p:cNvSpPr/>
            <p:nvPr/>
          </p:nvSpPr>
          <p:spPr>
            <a:xfrm>
              <a:off x="4127500" y="2959100"/>
              <a:ext cx="3175000" cy="6477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C0FED4E1-E2DB-65DE-4C8B-B820C331DCF3}"/>
                </a:ext>
              </a:extLst>
            </p:cNvPr>
            <p:cNvSpPr/>
            <p:nvPr/>
          </p:nvSpPr>
          <p:spPr>
            <a:xfrm>
              <a:off x="2971806" y="3517016"/>
              <a:ext cx="4330694" cy="235207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7000"/>
              </a:lnSpc>
              <a:buNone/>
            </a:pPr>
            <a:endParaRPr lang="pt-BR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endParaRPr lang="pt-BR" sz="36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608560" lvl="8" indent="0">
              <a:lnSpc>
                <a:spcPct val="107000"/>
              </a:lnSpc>
              <a:buNone/>
            </a:pPr>
            <a:r>
              <a:rPr lang="pt-BR" sz="111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Seletor </a:t>
            </a:r>
            <a:r>
              <a:rPr lang="pt-BR" sz="111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	                             </a:t>
            </a:r>
          </a:p>
          <a:p>
            <a:pPr marL="1608560" lvl="8" indent="0">
              <a:lnSpc>
                <a:spcPct val="107000"/>
              </a:lnSpc>
              <a:buNone/>
            </a:pPr>
            <a:r>
              <a:rPr lang="pt-BR" sz="111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propriedade1: valor1;</a:t>
            </a:r>
          </a:p>
          <a:p>
            <a:pPr marL="1608560" lvl="8" indent="0">
              <a:lnSpc>
                <a:spcPct val="107000"/>
              </a:lnSpc>
              <a:buNone/>
            </a:pPr>
            <a:r>
              <a:rPr lang="pt-BR" sz="111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propriedade2: valor2;</a:t>
            </a:r>
          </a:p>
          <a:p>
            <a:pPr marL="1608560" lvl="8" indent="0">
              <a:lnSpc>
                <a:spcPct val="107000"/>
              </a:lnSpc>
              <a:buNone/>
            </a:pPr>
            <a:r>
              <a:rPr lang="pt-BR" sz="111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propriedade3: valor3;</a:t>
            </a:r>
          </a:p>
          <a:p>
            <a:pPr marL="1608560" lvl="8" indent="0">
              <a:lnSpc>
                <a:spcPct val="107000"/>
              </a:lnSpc>
              <a:buNone/>
            </a:pPr>
            <a:r>
              <a:rPr lang="pt-BR" sz="111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}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CSS – </a:t>
            </a:r>
            <a:r>
              <a:rPr lang="pt-BR" sz="3600" dirty="0" err="1"/>
              <a:t>Cascading</a:t>
            </a:r>
            <a:r>
              <a:rPr lang="pt-BR" sz="3600" dirty="0"/>
              <a:t> </a:t>
            </a:r>
            <a:r>
              <a:rPr lang="pt-BR" sz="3600" dirty="0" err="1"/>
              <a:t>Style</a:t>
            </a:r>
            <a:r>
              <a:rPr lang="pt-BR" sz="3600" dirty="0"/>
              <a:t> </a:t>
            </a:r>
            <a:r>
              <a:rPr lang="pt-BR" sz="3600" dirty="0" err="1"/>
              <a:t>Sheets</a:t>
            </a:r>
            <a:endParaRPr lang="pt-BR" sz="36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A48A28E-88F0-7146-C045-562AD4DE2ECD}"/>
              </a:ext>
            </a:extLst>
          </p:cNvPr>
          <p:cNvSpPr txBox="1"/>
          <p:nvPr/>
        </p:nvSpPr>
        <p:spPr>
          <a:xfrm>
            <a:off x="2231967" y="1955801"/>
            <a:ext cx="6093228" cy="721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7000"/>
              </a:lnSpc>
              <a:buNone/>
            </a:pPr>
            <a:r>
              <a:rPr lang="pt-BR" sz="40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declaração</a:t>
            </a:r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4E434462-8F9B-4758-91BB-6F619308E935}"/>
              </a:ext>
            </a:extLst>
          </p:cNvPr>
          <p:cNvCxnSpPr/>
          <p:nvPr/>
        </p:nvCxnSpPr>
        <p:spPr>
          <a:xfrm>
            <a:off x="5286894" y="2611037"/>
            <a:ext cx="0" cy="64478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81871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CSS – </a:t>
            </a:r>
            <a:r>
              <a:rPr lang="pt-BR" sz="3600" dirty="0" err="1"/>
              <a:t>Cascading</a:t>
            </a:r>
            <a:r>
              <a:rPr lang="pt-BR" sz="3600" dirty="0"/>
              <a:t> </a:t>
            </a:r>
            <a:r>
              <a:rPr lang="pt-BR" sz="3600" dirty="0" err="1"/>
              <a:t>Style</a:t>
            </a:r>
            <a:r>
              <a:rPr lang="pt-BR" sz="3600" dirty="0"/>
              <a:t> </a:t>
            </a:r>
            <a:r>
              <a:rPr lang="pt-BR" sz="3600" dirty="0" err="1"/>
              <a:t>Sheets</a:t>
            </a:r>
            <a:endParaRPr lang="pt-BR" sz="36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r>
              <a:rPr lang="pt-BR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Exemplos de seletor: </a:t>
            </a:r>
            <a:r>
              <a:rPr lang="pt-BR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h1 </a:t>
            </a:r>
            <a:r>
              <a:rPr lang="pt-BR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</a:t>
            </a:r>
            <a:r>
              <a:rPr lang="pt-BR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id=“exemplo”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Exemplo de propriedade: </a:t>
            </a:r>
            <a:r>
              <a:rPr lang="pt-BR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cor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36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Exemplo de valor: </a:t>
            </a:r>
            <a:r>
              <a:rPr lang="pt-BR" sz="36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verde</a:t>
            </a:r>
          </a:p>
          <a:p>
            <a:pPr marL="0" indent="0">
              <a:lnSpc>
                <a:spcPct val="107000"/>
              </a:lnSpc>
              <a:buNone/>
            </a:pPr>
            <a:endParaRPr lang="pt-BR" sz="3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36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São separados por dois pontos e espaço</a:t>
            </a:r>
            <a:endParaRPr lang="pt-BR" sz="3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95185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Anexando os estilos ao documento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lnSpc>
                <a:spcPct val="107000"/>
              </a:lnSpc>
              <a:buNone/>
            </a:pPr>
            <a:r>
              <a:rPr lang="pt-BR" sz="36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Style</a:t>
            </a:r>
            <a:r>
              <a:rPr lang="pt-BR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6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sheets</a:t>
            </a:r>
            <a:r>
              <a:rPr lang="pt-BR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externos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36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Um documento de texto que contém diversas regras de estilização.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Deve ser nomeado com o sufixo </a:t>
            </a:r>
            <a:r>
              <a:rPr lang="pt-BR" sz="3600" b="1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pt-BR" sz="3600" b="1" i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css</a:t>
            </a:r>
            <a:endParaRPr lang="pt-BR" sz="3600" b="1" i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36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documento é linkado ou importado para o </a:t>
            </a:r>
            <a:r>
              <a:rPr lang="pt-BR" sz="3600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doc</a:t>
            </a:r>
            <a:r>
              <a:rPr lang="pt-BR" sz="36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HTML</a:t>
            </a:r>
            <a:endParaRPr lang="pt-BR" sz="3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42575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Anexando os estilos ao documento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r>
              <a:rPr lang="pt-BR" sz="33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Style</a:t>
            </a:r>
            <a:r>
              <a:rPr lang="pt-BR" sz="33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3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sheets</a:t>
            </a:r>
            <a:r>
              <a:rPr lang="pt-BR" sz="33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integrados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33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 regras são descritas diretamente no documento HTML através do elemento </a:t>
            </a:r>
            <a:r>
              <a:rPr lang="pt-BR" sz="3300" b="1" i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</a:t>
            </a:r>
            <a:r>
              <a:rPr lang="pt-BR" sz="3300" b="1" i="1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style</a:t>
            </a:r>
            <a:r>
              <a:rPr lang="pt-BR" sz="3300" b="1" i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33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elemento </a:t>
            </a:r>
            <a:r>
              <a:rPr lang="pt-BR" sz="3300" b="1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</a:t>
            </a:r>
            <a:r>
              <a:rPr lang="pt-BR" sz="3300" b="1" i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style</a:t>
            </a:r>
            <a:r>
              <a:rPr lang="pt-BR" sz="3300" b="1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</a:t>
            </a:r>
            <a:r>
              <a:rPr lang="pt-BR" sz="33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deve estar dentro do </a:t>
            </a:r>
            <a:r>
              <a:rPr lang="pt-BR" sz="3300" b="1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</a:t>
            </a:r>
            <a:r>
              <a:rPr lang="pt-BR" sz="3300" b="1" i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head</a:t>
            </a:r>
            <a:r>
              <a:rPr lang="pt-BR" sz="3300" b="1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</a:t>
            </a:r>
            <a:r>
              <a:rPr lang="pt-BR" sz="33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 documento HTML</a:t>
            </a:r>
          </a:p>
        </p:txBody>
      </p:sp>
    </p:spTree>
    <p:extLst>
      <p:ext uri="{BB962C8B-B14F-4D97-AF65-F5344CB8AC3E}">
        <p14:creationId xmlns:p14="http://schemas.microsoft.com/office/powerpoint/2010/main" val="10025354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Anexando os estilos ao documento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lnSpc>
                <a:spcPct val="107000"/>
              </a:lnSpc>
              <a:buNone/>
            </a:pPr>
            <a:r>
              <a:rPr lang="pt-BR" sz="36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Style</a:t>
            </a:r>
            <a:r>
              <a:rPr lang="pt-BR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6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sheets</a:t>
            </a:r>
            <a:r>
              <a:rPr lang="pt-BR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600" b="1" i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inline</a:t>
            </a:r>
            <a:endParaRPr lang="pt-BR" sz="3600" b="1" i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pt-BR" sz="36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unciona aplicando propriedades e valores a elementos específicos através do atributo </a:t>
            </a:r>
            <a:r>
              <a:rPr lang="pt-BR" sz="3600" b="1" i="1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style</a:t>
            </a:r>
            <a:r>
              <a:rPr lang="pt-BR" sz="3600" b="1" i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lnSpc>
                <a:spcPct val="107000"/>
              </a:lnSpc>
              <a:buNone/>
            </a:pPr>
            <a:endParaRPr lang="en-US" sz="3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7000"/>
              </a:lnSpc>
              <a:buNone/>
            </a:pPr>
            <a:r>
              <a:rPr lang="en-US" sz="35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&lt;h1 </a:t>
            </a:r>
            <a:r>
              <a:rPr lang="en-US" sz="35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style="color: red; margin-top: 2em"</a:t>
            </a:r>
            <a:r>
              <a:rPr lang="en-US" sz="35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&gt;Introduction&lt;/h1&gt;</a:t>
            </a:r>
            <a:endParaRPr lang="pt-BR" sz="3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endParaRPr lang="pt-BR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06402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CSS – </a:t>
            </a:r>
            <a:r>
              <a:rPr lang="pt-BR" sz="3600" dirty="0" err="1"/>
              <a:t>Cascading</a:t>
            </a:r>
            <a:r>
              <a:rPr lang="pt-BR" sz="3600" dirty="0"/>
              <a:t> </a:t>
            </a:r>
            <a:r>
              <a:rPr lang="pt-BR" sz="3600" dirty="0" err="1"/>
              <a:t>Style</a:t>
            </a:r>
            <a:r>
              <a:rPr lang="pt-BR" sz="3600" dirty="0"/>
              <a:t> </a:t>
            </a:r>
            <a:r>
              <a:rPr lang="pt-BR" sz="3600" dirty="0" err="1"/>
              <a:t>Sheets</a:t>
            </a:r>
            <a:endParaRPr lang="pt-BR" sz="36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r>
              <a:rPr lang="pt-BR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Exemplos de seletor: </a:t>
            </a:r>
            <a:r>
              <a:rPr lang="pt-BR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h1 </a:t>
            </a:r>
            <a:r>
              <a:rPr lang="pt-BR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</a:t>
            </a:r>
            <a:r>
              <a:rPr lang="pt-BR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id=“exemplo”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Exemplo de propriedade: </a:t>
            </a:r>
            <a:r>
              <a:rPr lang="pt-BR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cor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36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Exemplo de valor: </a:t>
            </a:r>
            <a:r>
              <a:rPr lang="pt-BR" sz="36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verde</a:t>
            </a:r>
          </a:p>
          <a:p>
            <a:pPr marL="0" indent="0">
              <a:lnSpc>
                <a:spcPct val="107000"/>
              </a:lnSpc>
              <a:buNone/>
            </a:pPr>
            <a:endParaRPr lang="pt-BR" sz="3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36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São separados por dois pontos e espaço</a:t>
            </a:r>
            <a:endParaRPr lang="pt-BR" sz="3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37211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Estrutura do documento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Ancestrais, pais, filhos, irmãos...</a:t>
            </a:r>
            <a:endParaRPr lang="pt-BR" sz="3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14450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BED6D47-6DA0-8ED5-95A8-8130AC0C0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667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5647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Estrutura do documento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Aplicar uma regra utilizando o elemento </a:t>
            </a:r>
            <a:r>
              <a:rPr lang="pt-BR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&lt;p&gt;</a:t>
            </a:r>
            <a:r>
              <a:rPr lang="pt-BR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como seletor, por exemplo, a regra afetará todos os parágrafos do documento.</a:t>
            </a:r>
            <a:endParaRPr lang="pt-BR" sz="3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8615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Estrutura do documento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 houver um elemento </a:t>
            </a:r>
            <a:r>
              <a:rPr lang="pt-BR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&lt;em&gt;</a:t>
            </a:r>
            <a:r>
              <a:rPr lang="pt-BR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dentro do parágrafo, ele </a:t>
            </a:r>
            <a:r>
              <a:rPr lang="pt-BR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herdará</a:t>
            </a:r>
            <a:r>
              <a:rPr lang="pt-BR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regras do parágrafo.</a:t>
            </a:r>
            <a:endParaRPr lang="pt-BR" sz="3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35861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016C3603-7530-1E3B-78EB-71C99CB16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86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0068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912DA34B-0B87-D27E-3122-89686DA1C6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t="9840"/>
          <a:stretch/>
        </p:blipFill>
        <p:spPr>
          <a:xfrm>
            <a:off x="69850" y="0"/>
            <a:ext cx="12026900" cy="5120127"/>
          </a:xfrm>
          <a:prstGeom prst="rect">
            <a:avLst/>
          </a:prstGeom>
        </p:spPr>
      </p:pic>
      <p:grpSp>
        <p:nvGrpSpPr>
          <p:cNvPr id="5" name="Agrupar 4">
            <a:extLst>
              <a:ext uri="{FF2B5EF4-FFF2-40B4-BE49-F238E27FC236}">
                <a16:creationId xmlns:a16="http://schemas.microsoft.com/office/drawing/2014/main" id="{FC1C3A75-9B30-B5EA-C68F-8FA23FC7FAE1}"/>
              </a:ext>
            </a:extLst>
          </p:cNvPr>
          <p:cNvGrpSpPr/>
          <p:nvPr/>
        </p:nvGrpSpPr>
        <p:grpSpPr>
          <a:xfrm>
            <a:off x="6591300" y="0"/>
            <a:ext cx="5600700" cy="1760220"/>
            <a:chOff x="6591300" y="0"/>
            <a:chExt cx="5600700" cy="1760220"/>
          </a:xfrm>
        </p:grpSpPr>
        <p:sp>
          <p:nvSpPr>
            <p:cNvPr id="2" name="Retângulo 1">
              <a:extLst>
                <a:ext uri="{FF2B5EF4-FFF2-40B4-BE49-F238E27FC236}">
                  <a16:creationId xmlns:a16="http://schemas.microsoft.com/office/drawing/2014/main" id="{65653042-503D-3F35-4613-696EE3407800}"/>
                </a:ext>
              </a:extLst>
            </p:cNvPr>
            <p:cNvSpPr/>
            <p:nvPr/>
          </p:nvSpPr>
          <p:spPr>
            <a:xfrm>
              <a:off x="6591300" y="0"/>
              <a:ext cx="5600700" cy="1257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" name="Retângulo 2">
              <a:extLst>
                <a:ext uri="{FF2B5EF4-FFF2-40B4-BE49-F238E27FC236}">
                  <a16:creationId xmlns:a16="http://schemas.microsoft.com/office/drawing/2014/main" id="{F7C68507-2013-E30C-909E-48A7FA3CF879}"/>
                </a:ext>
              </a:extLst>
            </p:cNvPr>
            <p:cNvSpPr/>
            <p:nvPr/>
          </p:nvSpPr>
          <p:spPr>
            <a:xfrm>
              <a:off x="7840980" y="502920"/>
              <a:ext cx="4255770" cy="1257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380304372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4285715_TF33845126.potx" id="{07B33CC6-269C-4DD5-9017-A83AF51479F7}" vid="{03982E99-A52E-4A57-A229-288B0228341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BED2F52BDCB944C891BB0D3DB5B4689" ma:contentTypeVersion="3" ma:contentTypeDescription="Create a new document." ma:contentTypeScope="" ma:versionID="ffef1dbc39b52dbe3fbb7262bc81aa9d">
  <xsd:schema xmlns:xsd="http://www.w3.org/2001/XMLSchema" xmlns:xs="http://www.w3.org/2001/XMLSchema" xmlns:p="http://schemas.microsoft.com/office/2006/metadata/properties" xmlns:ns2="45266506-7c7c-49c5-a640-a9bbfd1bea9a" targetNamespace="http://schemas.microsoft.com/office/2006/metadata/properties" ma:root="true" ma:fieldsID="6a31eb5fc835b1abe042e2a09ad2ada0" ns2:_="">
    <xsd:import namespace="45266506-7c7c-49c5-a640-a9bbfd1bea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266506-7c7c-49c5-a640-a9bbfd1bea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AB53AB5-C8E1-4CF4-A386-AFAE28D0E164}"/>
</file>

<file path=customXml/itemProps2.xml><?xml version="1.0" encoding="utf-8"?>
<ds:datastoreItem xmlns:ds="http://schemas.openxmlformats.org/officeDocument/2006/customXml" ds:itemID="{638A3B04-B0F3-4C12-A722-52B5CF6D97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F5B1FD9-3BB6-4DA9-A089-3B68C2323D4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{D129E361-7900-47DF-B65A-C5D6D83378F0}tf33845126_win32</Template>
  <TotalTime>1134</TotalTime>
  <Words>614</Words>
  <Application>Microsoft Office PowerPoint</Application>
  <PresentationFormat>Widescreen</PresentationFormat>
  <Paragraphs>96</Paragraphs>
  <Slides>25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29" baseType="lpstr">
      <vt:lpstr>Bookman Old Style</vt:lpstr>
      <vt:lpstr>Calibri</vt:lpstr>
      <vt:lpstr>Franklin Gothic Book</vt:lpstr>
      <vt:lpstr>1_RetrospectVTI</vt:lpstr>
      <vt:lpstr>Desenvolvimento Web Responsivo</vt:lpstr>
      <vt:lpstr>Desenvolvimento de software para internet</vt:lpstr>
      <vt:lpstr>CSS – Cascading Style Sheets</vt:lpstr>
      <vt:lpstr>CSS – Cascading Style Sheets</vt:lpstr>
      <vt:lpstr>CSS – Cascading Style Sheets</vt:lpstr>
      <vt:lpstr>CSS – Cascading Style Sheets</vt:lpstr>
      <vt:lpstr>CSS – Cascading Style Sheets</vt:lpstr>
      <vt:lpstr>CSS – Cascading Style Sheets</vt:lpstr>
      <vt:lpstr>CSS – Cascading Style Sheets</vt:lpstr>
      <vt:lpstr>CSS – Cascading Style Sheets</vt:lpstr>
      <vt:lpstr>CSS – Cascading Style Sheets</vt:lpstr>
      <vt:lpstr>CSS – Cascading Style Sheets</vt:lpstr>
      <vt:lpstr>CSS – Cascading Style Sheets</vt:lpstr>
      <vt:lpstr>CSS – Cascading Style Sheets</vt:lpstr>
      <vt:lpstr>CSS – Cascading Style Sheets</vt:lpstr>
      <vt:lpstr>Anexando os estilos ao documento</vt:lpstr>
      <vt:lpstr>Anexando os estilos ao documento</vt:lpstr>
      <vt:lpstr>Anexando os estilos ao documento</vt:lpstr>
      <vt:lpstr>CSS – Cascading Style Sheets</vt:lpstr>
      <vt:lpstr>Estrutura do documento</vt:lpstr>
      <vt:lpstr>Apresentação do PowerPoint</vt:lpstr>
      <vt:lpstr>Estrutura do documento</vt:lpstr>
      <vt:lpstr>Estrutura do documento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Manuais e Ilustrações Técnico Científicas</dc:title>
  <dc:creator>Flávio Waltz</dc:creator>
  <cp:lastModifiedBy>Flávio Waltz</cp:lastModifiedBy>
  <cp:revision>92</cp:revision>
  <dcterms:created xsi:type="dcterms:W3CDTF">2022-08-10T14:03:41Z</dcterms:created>
  <dcterms:modified xsi:type="dcterms:W3CDTF">2026-03-26T18:00:48Z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0x0101002BED2F52BDCB944C891BB0D3DB5B4689</vt:lpwstr>
  </property>
</Properties>
</file>