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6"/>
  </p:notesMasterIdLst>
  <p:handoutMasterIdLst>
    <p:handoutMasterId r:id="rId47"/>
  </p:handoutMasterIdLst>
  <p:sldIdLst>
    <p:sldId id="268" r:id="rId5"/>
    <p:sldId id="269" r:id="rId6"/>
    <p:sldId id="270" r:id="rId7"/>
    <p:sldId id="271" r:id="rId8"/>
    <p:sldId id="272" r:id="rId9"/>
    <p:sldId id="350" r:id="rId10"/>
    <p:sldId id="348" r:id="rId11"/>
    <p:sldId id="367" r:id="rId12"/>
    <p:sldId id="349" r:id="rId13"/>
    <p:sldId id="353" r:id="rId14"/>
    <p:sldId id="354" r:id="rId15"/>
    <p:sldId id="371" r:id="rId16"/>
    <p:sldId id="372" r:id="rId17"/>
    <p:sldId id="373" r:id="rId18"/>
    <p:sldId id="374" r:id="rId19"/>
    <p:sldId id="375" r:id="rId20"/>
    <p:sldId id="376" r:id="rId21"/>
    <p:sldId id="377" r:id="rId22"/>
    <p:sldId id="378" r:id="rId23"/>
    <p:sldId id="379" r:id="rId24"/>
    <p:sldId id="380" r:id="rId25"/>
    <p:sldId id="381" r:id="rId26"/>
    <p:sldId id="382" r:id="rId27"/>
    <p:sldId id="347" r:id="rId28"/>
    <p:sldId id="384" r:id="rId29"/>
    <p:sldId id="365" r:id="rId30"/>
    <p:sldId id="366" r:id="rId31"/>
    <p:sldId id="362" r:id="rId32"/>
    <p:sldId id="364" r:id="rId33"/>
    <p:sldId id="368" r:id="rId34"/>
    <p:sldId id="369" r:id="rId35"/>
    <p:sldId id="370" r:id="rId36"/>
    <p:sldId id="385" r:id="rId37"/>
    <p:sldId id="383" r:id="rId38"/>
    <p:sldId id="386" r:id="rId39"/>
    <p:sldId id="388" r:id="rId40"/>
    <p:sldId id="387" r:id="rId41"/>
    <p:sldId id="389" r:id="rId42"/>
    <p:sldId id="390" r:id="rId43"/>
    <p:sldId id="391" r:id="rId44"/>
    <p:sldId id="392" r:id="rId4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BFB"/>
    <a:srgbClr val="EC7016"/>
    <a:srgbClr val="EFD7FD"/>
    <a:srgbClr val="DBA8FA"/>
    <a:srgbClr val="F6E8FE"/>
    <a:srgbClr val="CE87F9"/>
    <a:srgbClr val="C26DF7"/>
    <a:srgbClr val="E8C8FC"/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19" autoAdjust="0"/>
  </p:normalViewPr>
  <p:slideViewPr>
    <p:cSldViewPr snapToGrid="0">
      <p:cViewPr varScale="1">
        <p:scale>
          <a:sx n="102" d="100"/>
          <a:sy n="102" d="100"/>
        </p:scale>
        <p:origin x="96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26/03/2026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unsplash.com/pt-br/@macphoto?utm_content=creditCopyText&amp;utm_medium=referral&amp;utm_source=unsplash" TargetMode="Externa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t-br/@kevinmueller?utm_content=creditCopyText&amp;utm_medium=referral&amp;utm_source=unsplash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unsplash.com/pt-br/fotografias/papagaio-laranja-aeNg4YA41P8?utm_content=creditCopyText&amp;utm_medium=referral&amp;utm_source=unsplash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t-br/@kevinmueller?utm_content=creditCopyText&amp;utm_medium=referral&amp;utm_source=unsplash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unsplash.com/pt-br/fotografias/papagaio-laranja-aeNg4YA41P8?utm_content=creditCopyText&amp;utm_medium=referral&amp;utm_source=unsplash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t-br/@kevinmueller?utm_content=creditCopyText&amp;utm_medium=referral&amp;utm_source=unsplash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unsplash.com/pt-br/fotografias/papagaio-laranja-aeNg4YA41P8?utm_content=creditCopyText&amp;utm_medium=referral&amp;utm_source=unsplash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tâ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 rtlCol="0">
            <a:normAutofit/>
          </a:bodyPr>
          <a:lstStyle/>
          <a:p>
            <a:r>
              <a:rPr lang="pt-BR" sz="5400" dirty="0"/>
              <a:t>Desenvolvimento Web Responsivo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rof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Flávio Waltz</a:t>
            </a:r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F0637C58-910B-422A-A403-595978460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9" y="5084627"/>
            <a:ext cx="1773372" cy="177337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98A1E69E-30F4-436B-6FD8-42ED9C32C3AE}"/>
              </a:ext>
            </a:extLst>
          </p:cNvPr>
          <p:cNvSpPr txBox="1"/>
          <p:nvPr/>
        </p:nvSpPr>
        <p:spPr>
          <a:xfrm>
            <a:off x="10506077" y="6465586"/>
            <a:ext cx="16859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Foto de </a:t>
            </a:r>
            <a:r>
              <a:rPr lang="pt-BR" sz="11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Mauricio </a:t>
            </a:r>
            <a:r>
              <a:rPr lang="pt-BR" sz="1100" dirty="0" err="1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Artieda</a:t>
            </a:r>
            <a:endParaRPr lang="pt-BR" sz="1100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2FE4CFB-8913-5C30-40CA-C42BA1F96C4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753"/>
          <a:stretch/>
        </p:blipFill>
        <p:spPr>
          <a:xfrm>
            <a:off x="7776594" y="0"/>
            <a:ext cx="44154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Desenvolvimento Web Responsivo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Baseado no livro: 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Web Design - A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beginner's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guide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HTML, CSS, Javascript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Web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Graphics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por </a:t>
            </a: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Jennifer </a:t>
            </a:r>
            <a:r>
              <a:rPr lang="pt-BR" sz="2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Niederst</a:t>
            </a: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Robbins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72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Adicionando Imagens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imagens aparecem nas páginas da web de duas maneiras: incorporadas </a:t>
            </a:r>
            <a:r>
              <a:rPr lang="pt-BR" sz="36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pt-BR" sz="3600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embedded</a:t>
            </a:r>
            <a:r>
              <a:rPr lang="pt-BR" sz="36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conteúdo embutido ou como imagens de fundo</a:t>
            </a:r>
            <a:endParaRPr lang="pt-B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994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Adicionando Imagens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Imagens de conteúdo (produtos, galerias, </a:t>
            </a: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ads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etc.):</a:t>
            </a:r>
          </a:p>
          <a:p>
            <a:pPr lvl="1">
              <a:lnSpc>
                <a:spcPct val="107000"/>
              </a:lnSpc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 aparecer no fluxo do documento HTML</a:t>
            </a:r>
          </a:p>
          <a:p>
            <a:pPr marL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Imagens decorativas (background, bordas etc.):</a:t>
            </a:r>
          </a:p>
          <a:p>
            <a:pPr marL="384048" marR="0" lvl="1" indent="-182880" algn="l" defTabSz="914400" rtl="0" eaLnBrk="1" fontAlgn="auto" latinLnBrk="0" hangingPunct="1">
              <a:lnSpc>
                <a:spcPct val="107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Calibri" pitchFamily="34" charset="0"/>
              <a:buChar char="◦"/>
              <a:tabLst/>
              <a:defRPr/>
            </a:pPr>
            <a:r>
              <a:rPr kumimoji="0" lang="pt-BR" sz="32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 ser adicionada através de CSS</a:t>
            </a:r>
          </a:p>
          <a:p>
            <a:pPr marL="0">
              <a:lnSpc>
                <a:spcPct val="107000"/>
              </a:lnSpc>
              <a:buNone/>
            </a:pPr>
            <a:endParaRPr lang="pt-BR" sz="3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buNone/>
            </a:pPr>
            <a:endParaRPr lang="pt-BR" sz="3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217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Formatos de imagem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Bitmaps devem ser salvos em formatos:</a:t>
            </a:r>
          </a:p>
          <a:p>
            <a:pPr lvl="1">
              <a:lnSpc>
                <a:spcPct val="107000"/>
              </a:lnSpc>
            </a:pPr>
            <a:r>
              <a:rPr kumimoji="0" lang="pt-BR" sz="3200" b="0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PNG, JPEG ou GIF</a:t>
            </a:r>
            <a:endParaRPr kumimoji="0" lang="pt-BR" sz="3200" b="0" i="0" u="none" strike="noStrike" kern="1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buNone/>
            </a:pPr>
            <a:endParaRPr lang="pt-BR" sz="3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buNone/>
            </a:pPr>
            <a:endParaRPr lang="pt-BR" sz="3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05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Bitmap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0340" indent="-180340">
              <a:lnSpc>
                <a:spcPct val="107000"/>
              </a:lnSpc>
              <a:spcAft>
                <a:spcPts val="800"/>
              </a:spcAft>
            </a:pP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Também chamados de “</a:t>
            </a:r>
            <a:r>
              <a:rPr lang="pt-BR" sz="3600" dirty="0" err="1">
                <a:ea typeface="Calibri" panose="020F0502020204030204" pitchFamily="34" charset="0"/>
                <a:cs typeface="Times New Roman" panose="02020603050405020304" pitchFamily="18" charset="0"/>
              </a:rPr>
              <a:t>raster</a:t>
            </a: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”, são mapas criados a partir de linhas e colunas de </a:t>
            </a:r>
            <a:r>
              <a:rPr lang="pt-BR" sz="3600" b="1" dirty="0">
                <a:ea typeface="Calibri" panose="020F0502020204030204" pitchFamily="34" charset="0"/>
                <a:cs typeface="Times New Roman" panose="02020603050405020304" pitchFamily="18" charset="0"/>
              </a:rPr>
              <a:t>pixels</a:t>
            </a:r>
          </a:p>
          <a:p>
            <a:pPr lvl="1"/>
            <a:endParaRPr lang="pt-BR" sz="3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653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A9E967-5D4E-77D1-BFD2-10C551DBA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/>
          <a:lstStyle/>
          <a:p>
            <a:r>
              <a:rPr lang="en-US" dirty="0"/>
              <a:t>Bitmap</a:t>
            </a:r>
          </a:p>
        </p:txBody>
      </p:sp>
      <p:pic>
        <p:nvPicPr>
          <p:cNvPr id="3" name="Imagem 2" descr="Pássaro colorido num galho&#10;&#10;Descrição gerada automaticamente">
            <a:extLst>
              <a:ext uri="{FF2B5EF4-FFF2-40B4-BE49-F238E27FC236}">
                <a16:creationId xmlns:a16="http://schemas.microsoft.com/office/drawing/2014/main" id="{13D97469-A3D3-5441-F8DB-77F77598B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031" y="812799"/>
            <a:ext cx="3534250" cy="5294757"/>
          </a:xfrm>
          <a:prstGeom prst="rect">
            <a:avLst/>
          </a:prstGeom>
          <a:noFill/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0993C57-5E01-07CA-E186-7053E7C1C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sz="2000" dirty="0" err="1"/>
              <a:t>Resolução</a:t>
            </a:r>
            <a:r>
              <a:rPr lang="en-US" sz="2000" dirty="0"/>
              <a:t>: 640 x 960</a:t>
            </a:r>
            <a:endParaRPr lang="pt-BR" sz="20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r>
              <a:rPr lang="pt-BR" sz="1200" dirty="0"/>
              <a:t>Foto de </a:t>
            </a:r>
            <a:r>
              <a:rPr lang="pt-BR" sz="1200" dirty="0">
                <a:hlinkClick r:id="rId3"/>
              </a:rPr>
              <a:t>Kevin Mueller</a:t>
            </a:r>
            <a:r>
              <a:rPr lang="pt-BR" sz="1200" dirty="0"/>
              <a:t> na </a:t>
            </a:r>
            <a:r>
              <a:rPr lang="pt-BR" sz="1200" dirty="0" err="1">
                <a:hlinkClick r:id="rId4"/>
              </a:rPr>
              <a:t>Unsplash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37436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A9E967-5D4E-77D1-BFD2-10C551DBA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/>
          <a:lstStyle/>
          <a:p>
            <a:r>
              <a:rPr lang="en-US" dirty="0"/>
              <a:t>Bitmap</a:t>
            </a:r>
          </a:p>
        </p:txBody>
      </p:sp>
      <p:pic>
        <p:nvPicPr>
          <p:cNvPr id="3" name="Imagem 2" descr="Pássaro colorido num galho&#10;&#10;Descrição gerada automaticamente">
            <a:extLst>
              <a:ext uri="{FF2B5EF4-FFF2-40B4-BE49-F238E27FC236}">
                <a16:creationId xmlns:a16="http://schemas.microsoft.com/office/drawing/2014/main" id="{13D97469-A3D3-5441-F8DB-77F77598B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031" y="812799"/>
            <a:ext cx="3534250" cy="5294757"/>
          </a:xfrm>
          <a:prstGeom prst="rect">
            <a:avLst/>
          </a:prstGeom>
          <a:noFill/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0993C57-5E01-07CA-E186-7053E7C1C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sz="2000" dirty="0" err="1"/>
              <a:t>Resolução</a:t>
            </a:r>
            <a:r>
              <a:rPr lang="en-US" sz="2000" dirty="0"/>
              <a:t>: 640 x 960</a:t>
            </a:r>
            <a:endParaRPr lang="pt-BR" sz="20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r>
              <a:rPr lang="pt-BR" sz="1200" dirty="0"/>
              <a:t>Foto de </a:t>
            </a:r>
            <a:r>
              <a:rPr lang="pt-BR" sz="1200" dirty="0">
                <a:hlinkClick r:id="rId3"/>
              </a:rPr>
              <a:t>Kevin Mueller</a:t>
            </a:r>
            <a:r>
              <a:rPr lang="pt-BR" sz="1200" dirty="0"/>
              <a:t> na </a:t>
            </a:r>
            <a:r>
              <a:rPr lang="pt-BR" sz="1200" dirty="0" err="1">
                <a:hlinkClick r:id="rId4"/>
              </a:rPr>
              <a:t>Unsplash</a:t>
            </a:r>
            <a:endParaRPr lang="en-US" sz="1200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3ACA422D-B2A8-8411-4EC4-201AAAF96E0D}"/>
              </a:ext>
            </a:extLst>
          </p:cNvPr>
          <p:cNvCxnSpPr/>
          <p:nvPr/>
        </p:nvCxnSpPr>
        <p:spPr>
          <a:xfrm>
            <a:off x="6400800" y="812799"/>
            <a:ext cx="0" cy="52947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C546926-094C-D466-D3D5-266C0C7B8C52}"/>
              </a:ext>
            </a:extLst>
          </p:cNvPr>
          <p:cNvCxnSpPr>
            <a:cxnSpLocks/>
          </p:cNvCxnSpPr>
          <p:nvPr/>
        </p:nvCxnSpPr>
        <p:spPr>
          <a:xfrm>
            <a:off x="6656031" y="562062"/>
            <a:ext cx="35342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61C942B-19D5-157C-0478-58E5CB71F254}"/>
              </a:ext>
            </a:extLst>
          </p:cNvPr>
          <p:cNvSpPr txBox="1"/>
          <p:nvPr/>
        </p:nvSpPr>
        <p:spPr>
          <a:xfrm>
            <a:off x="8126395" y="192730"/>
            <a:ext cx="889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640 </a:t>
            </a:r>
            <a:r>
              <a:rPr lang="en-US" sz="1800" b="1" dirty="0" err="1"/>
              <a:t>px</a:t>
            </a:r>
            <a:endParaRPr lang="pt-BR" b="1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E9BB91F-F98A-1454-841C-17C89B0F2238}"/>
              </a:ext>
            </a:extLst>
          </p:cNvPr>
          <p:cNvSpPr txBox="1"/>
          <p:nvPr/>
        </p:nvSpPr>
        <p:spPr>
          <a:xfrm>
            <a:off x="5424433" y="3090845"/>
            <a:ext cx="976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960 </a:t>
            </a:r>
            <a:r>
              <a:rPr lang="en-US" sz="1800" b="1" dirty="0" err="1"/>
              <a:t>px</a:t>
            </a:r>
            <a:endParaRPr lang="pt-BR" b="1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E84F6A0-10BA-4840-94AD-C306281AE375}"/>
              </a:ext>
            </a:extLst>
          </p:cNvPr>
          <p:cNvSpPr/>
          <p:nvPr/>
        </p:nvSpPr>
        <p:spPr>
          <a:xfrm>
            <a:off x="7883525" y="1822450"/>
            <a:ext cx="708025" cy="635000"/>
          </a:xfrm>
          <a:prstGeom prst="rect">
            <a:avLst/>
          </a:prstGeom>
          <a:noFill/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9000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68C6453-C9FF-E697-6DC7-E61153956A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2" r="6486"/>
          <a:stretch/>
        </p:blipFill>
        <p:spPr>
          <a:xfrm>
            <a:off x="4638675" y="0"/>
            <a:ext cx="7553326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EA9E967-5D4E-77D1-BFD2-10C551DBA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/>
          <a:lstStyle/>
          <a:p>
            <a:r>
              <a:rPr lang="en-US" dirty="0"/>
              <a:t>Bitmap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0993C57-5E01-07CA-E186-7053E7C1C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 fontScale="92500" lnSpcReduction="10000"/>
          </a:bodyPr>
          <a:lstStyle/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r>
              <a:rPr lang="pt-BR" sz="1300" dirty="0"/>
              <a:t>Foto de </a:t>
            </a:r>
            <a:r>
              <a:rPr lang="pt-BR" sz="1300" dirty="0">
                <a:hlinkClick r:id="rId3"/>
              </a:rPr>
              <a:t>Kevin Mueller</a:t>
            </a:r>
            <a:r>
              <a:rPr lang="pt-BR" sz="1300" dirty="0"/>
              <a:t> na </a:t>
            </a:r>
            <a:r>
              <a:rPr lang="pt-BR" sz="1300" dirty="0" err="1">
                <a:hlinkClick r:id="rId4"/>
              </a:rPr>
              <a:t>Unsplash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77716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Bitmap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200" dirty="0">
                <a:ea typeface="Calibri" panose="020F0502020204030204" pitchFamily="34" charset="0"/>
                <a:cs typeface="Times New Roman" panose="02020603050405020304" pitchFamily="18" charset="0"/>
              </a:rPr>
              <a:t>A relação entre a quantidade de pixels na largura e na altura de uma imagem é chamada de </a:t>
            </a:r>
            <a:r>
              <a:rPr lang="pt-BR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resolução </a:t>
            </a:r>
            <a:r>
              <a:rPr lang="pt-BR" sz="3200" dirty="0">
                <a:ea typeface="Calibri" panose="020F0502020204030204" pitchFamily="34" charset="0"/>
                <a:cs typeface="Times New Roman" panose="02020603050405020304" pitchFamily="18" charset="0"/>
              </a:rPr>
              <a:t>da imagem. Na proporção </a:t>
            </a:r>
            <a:r>
              <a:rPr lang="pt-BR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16:9</a:t>
            </a:r>
            <a:r>
              <a:rPr lang="pt-BR" sz="3200" dirty="0">
                <a:ea typeface="Calibri" panose="020F0502020204030204" pitchFamily="34" charset="0"/>
                <a:cs typeface="Times New Roman" panose="02020603050405020304" pitchFamily="18" charset="0"/>
              </a:rPr>
              <a:t>, por exemplo:</a:t>
            </a:r>
          </a:p>
          <a:p>
            <a:pPr marL="201168" lvl="1" indent="0">
              <a:buNone/>
            </a:pPr>
            <a:endParaRPr lang="pt-BR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/>
            <a:r>
              <a:rPr lang="pt-BR" sz="2800" dirty="0">
                <a:ea typeface="Calibri" panose="020F0502020204030204" pitchFamily="34" charset="0"/>
                <a:cs typeface="Times New Roman" panose="02020603050405020304" pitchFamily="18" charset="0"/>
              </a:rPr>
              <a:t>HD: </a:t>
            </a:r>
            <a:r>
              <a:rPr lang="pt-BR" sz="2800" b="1" dirty="0">
                <a:ea typeface="Calibri" panose="020F0502020204030204" pitchFamily="34" charset="0"/>
                <a:cs typeface="Times New Roman" panose="02020603050405020304" pitchFamily="18" charset="0"/>
              </a:rPr>
              <a:t>1280 x 720</a:t>
            </a:r>
            <a:r>
              <a:rPr lang="pt-BR" sz="2800" dirty="0">
                <a:ea typeface="Calibri" panose="020F0502020204030204" pitchFamily="34" charset="0"/>
                <a:cs typeface="Times New Roman" panose="02020603050405020304" pitchFamily="18" charset="0"/>
              </a:rPr>
              <a:t> (921.600 pixels)</a:t>
            </a:r>
          </a:p>
          <a:p>
            <a:pPr lvl="2"/>
            <a:r>
              <a:rPr lang="pt-BR" sz="2800" dirty="0">
                <a:ea typeface="Calibri" panose="020F0502020204030204" pitchFamily="34" charset="0"/>
                <a:cs typeface="Times New Roman" panose="02020603050405020304" pitchFamily="18" charset="0"/>
              </a:rPr>
              <a:t>Full HD: </a:t>
            </a:r>
            <a:r>
              <a:rPr lang="pt-BR" sz="2800" b="1" dirty="0">
                <a:ea typeface="Calibri" panose="020F0502020204030204" pitchFamily="34" charset="0"/>
                <a:cs typeface="Times New Roman" panose="02020603050405020304" pitchFamily="18" charset="0"/>
              </a:rPr>
              <a:t>1920 x 1080</a:t>
            </a:r>
            <a:r>
              <a:rPr lang="pt-BR" sz="2800" dirty="0">
                <a:ea typeface="Calibri" panose="020F0502020204030204" pitchFamily="34" charset="0"/>
                <a:cs typeface="Times New Roman" panose="02020603050405020304" pitchFamily="18" charset="0"/>
              </a:rPr>
              <a:t> (2.073.600 pixels)</a:t>
            </a:r>
          </a:p>
          <a:p>
            <a:pPr lvl="2"/>
            <a:r>
              <a:rPr lang="pt-BR" sz="2800" dirty="0">
                <a:ea typeface="Calibri" panose="020F0502020204030204" pitchFamily="34" charset="0"/>
                <a:cs typeface="Times New Roman" panose="02020603050405020304" pitchFamily="18" charset="0"/>
              </a:rPr>
              <a:t>4K: </a:t>
            </a:r>
            <a:r>
              <a:rPr lang="pt-BR" sz="2800" b="1" dirty="0">
                <a:ea typeface="Calibri" panose="020F0502020204030204" pitchFamily="34" charset="0"/>
                <a:cs typeface="Times New Roman" panose="02020603050405020304" pitchFamily="18" charset="0"/>
              </a:rPr>
              <a:t>3840 x 2160</a:t>
            </a:r>
            <a:r>
              <a:rPr lang="pt-BR" sz="2800" dirty="0">
                <a:ea typeface="Calibri" panose="020F0502020204030204" pitchFamily="34" charset="0"/>
                <a:cs typeface="Times New Roman" panose="02020603050405020304" pitchFamily="18" charset="0"/>
              </a:rPr>
              <a:t> (8.294.400 pixels)</a:t>
            </a:r>
          </a:p>
          <a:p>
            <a:pPr lvl="1"/>
            <a:endParaRPr lang="pt-BR" sz="3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431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Bitmap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0340" indent="-180340">
              <a:lnSpc>
                <a:spcPct val="107000"/>
              </a:lnSpc>
              <a:spcAft>
                <a:spcPts val="800"/>
              </a:spcAft>
            </a:pP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pt-BR" sz="3200" dirty="0">
                <a:ea typeface="Calibri" panose="020F0502020204030204" pitchFamily="34" charset="0"/>
                <a:cs typeface="Times New Roman" panose="02020603050405020304" pitchFamily="18" charset="0"/>
              </a:rPr>
              <a:t>Quanto maior a quantidade de pixels, mais detalhada pode ser a imagem</a:t>
            </a:r>
          </a:p>
          <a:p>
            <a:pPr marL="201168" lvl="1" indent="0">
              <a:buNone/>
            </a:pPr>
            <a:endParaRPr lang="pt-BR" sz="3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pt-BR" sz="3200" dirty="0">
                <a:ea typeface="Calibri" panose="020F0502020204030204" pitchFamily="34" charset="0"/>
                <a:cs typeface="Times New Roman" panose="02020603050405020304" pitchFamily="18" charset="0"/>
              </a:rPr>
              <a:t>Câmeras com 16 megapixels, por exemplo, podem capturar 16 milhões de pixels em uma foto</a:t>
            </a:r>
          </a:p>
          <a:p>
            <a:pPr lvl="1"/>
            <a:endParaRPr lang="pt-BR" sz="3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568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 IMG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0340" indent="-180340">
              <a:lnSpc>
                <a:spcPct val="107000"/>
              </a:lnSpc>
              <a:spcAft>
                <a:spcPts val="800"/>
              </a:spcAft>
            </a:pP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pt-PT" sz="3600" dirty="0"/>
              <a:t>Quando o navegador vê o elemento </a:t>
            </a:r>
            <a:r>
              <a:rPr lang="pt-PT" sz="3600" b="1" dirty="0"/>
              <a:t>img</a:t>
            </a:r>
            <a:r>
              <a:rPr lang="pt-PT" sz="3600" dirty="0"/>
              <a:t>, ele faz uma solicitação ao servidor e recupera o arquivo de imagem antes de exibi-lo na página.</a:t>
            </a:r>
            <a:endParaRPr lang="pt-BR" sz="3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402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 IMG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457411" cy="3760891"/>
          </a:xfrm>
        </p:spPr>
        <p:txBody>
          <a:bodyPr>
            <a:normAutofit/>
          </a:bodyPr>
          <a:lstStyle/>
          <a:p>
            <a:pPr marL="180340" indent="-180340">
              <a:lnSpc>
                <a:spcPct val="107000"/>
              </a:lnSpc>
              <a:spcAft>
                <a:spcPts val="800"/>
              </a:spcAft>
            </a:pP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pt-PT" sz="3600" dirty="0"/>
              <a:t>Em uma rede rápida, mesmo que uma solicitação separada seja feita para cada arquivo de imagem, a página geralmente parece chegar instantaneamente.</a:t>
            </a:r>
            <a:endParaRPr lang="pt-BR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53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 IMG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0340" indent="-180340">
              <a:lnSpc>
                <a:spcPct val="107000"/>
              </a:lnSpc>
              <a:spcAft>
                <a:spcPts val="800"/>
              </a:spcAft>
            </a:pP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pt-BR" sz="3600" dirty="0"/>
              <a:t>Em conexões de rede lentas, pode-se perceber a espera para que as imagens sejam buscadas uma de cada vez.</a:t>
            </a:r>
            <a:endParaRPr lang="pt-BR" sz="3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108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 IMG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0340" indent="-180340">
              <a:lnSpc>
                <a:spcPct val="107000"/>
              </a:lnSpc>
              <a:spcAft>
                <a:spcPts val="800"/>
              </a:spcAft>
            </a:pP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Os atributos </a:t>
            </a:r>
            <a:r>
              <a:rPr lang="pt-BR" sz="3600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src</a:t>
            </a: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3600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alt</a:t>
            </a:r>
            <a:r>
              <a:rPr lang="pt-BR" sz="3600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são obrigatórios:</a:t>
            </a:r>
          </a:p>
          <a:p>
            <a:pPr lvl="1"/>
            <a:r>
              <a:rPr lang="pt-BR" sz="3200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src</a:t>
            </a:r>
            <a:r>
              <a:rPr lang="pt-BR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>
                <a:ea typeface="Calibri" panose="020F0502020204030204" pitchFamily="34" charset="0"/>
                <a:cs typeface="Times New Roman" panose="02020603050405020304" pitchFamily="18" charset="0"/>
              </a:rPr>
              <a:t>fornece o local do arquivo (a URL)</a:t>
            </a:r>
          </a:p>
          <a:p>
            <a:pPr lvl="1"/>
            <a:r>
              <a:rPr lang="pt-BR" sz="3200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alt</a:t>
            </a:r>
            <a:r>
              <a:rPr lang="pt-BR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>
                <a:ea typeface="Calibri" panose="020F0502020204030204" pitchFamily="34" charset="0"/>
                <a:cs typeface="Times New Roman" panose="02020603050405020304" pitchFamily="18" charset="0"/>
              </a:rPr>
              <a:t>fornece um texto alternativo caso a imagem não esteja disponível</a:t>
            </a:r>
            <a:endParaRPr lang="pt-BR" sz="32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884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 IMG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0340" indent="-180340">
              <a:lnSpc>
                <a:spcPct val="107000"/>
              </a:lnSpc>
              <a:spcAft>
                <a:spcPts val="800"/>
              </a:spcAft>
            </a:pP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pt-BR" sz="3600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img</a:t>
            </a:r>
            <a:r>
              <a:rPr lang="pt-BR" sz="3600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é um elemento </a:t>
            </a:r>
            <a:r>
              <a:rPr lang="pt-BR" sz="3600" b="1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inline</a:t>
            </a: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. Ou seja, ele se comporta como qualquer outro elemento </a:t>
            </a:r>
            <a:r>
              <a:rPr lang="pt-BR" sz="3600" b="1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inline</a:t>
            </a: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, como um parágrafo:</a:t>
            </a:r>
            <a:endParaRPr lang="pt-BR" sz="32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436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33DF453-B9EA-70D1-2B16-A9878C0B7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1017"/>
            <a:ext cx="12192000" cy="453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08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0F31AFF-B0E2-8F37-5CDE-9E44BFA78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68" y="899759"/>
            <a:ext cx="7078063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 IMG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a imagem estiver no mesmo diretório que o documento HTML: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img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src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“icon.gif”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=“ ”&gt;</a:t>
            </a:r>
          </a:p>
        </p:txBody>
      </p:sp>
    </p:spTree>
    <p:extLst>
      <p:ext uri="{BB962C8B-B14F-4D97-AF65-F5344CB8AC3E}">
        <p14:creationId xmlns:p14="http://schemas.microsoft.com/office/powerpoint/2010/main" val="1482954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 IMG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a imagem estiver em um diretório separado, é preciso adicionar o caminho completo: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img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src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“/</a:t>
            </a:r>
            <a:r>
              <a:rPr lang="pt-BR" sz="3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images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/icon.gif” </a:t>
            </a: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=“ ”&gt;</a:t>
            </a:r>
          </a:p>
        </p:txBody>
      </p:sp>
    </p:spTree>
    <p:extLst>
      <p:ext uri="{BB962C8B-B14F-4D97-AF65-F5344CB8AC3E}">
        <p14:creationId xmlns:p14="http://schemas.microsoft.com/office/powerpoint/2010/main" val="3403442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 IMG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a imagem estiver em outro website: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3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img</a:t>
            </a:r>
            <a:r>
              <a:rPr lang="pt-BR" sz="3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src</a:t>
            </a:r>
            <a:r>
              <a:rPr lang="pt-BR" sz="3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pt-BR" sz="3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“http://www.example.com/</a:t>
            </a:r>
            <a:r>
              <a:rPr lang="pt-BR" sz="3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images</a:t>
            </a:r>
            <a:r>
              <a:rPr lang="pt-BR" sz="3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/icon.gif”</a:t>
            </a:r>
            <a:r>
              <a:rPr lang="pt-BR" sz="3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</a:t>
            </a:r>
            <a:r>
              <a:rPr lang="pt-BR" sz="3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=“ ”&gt;</a:t>
            </a:r>
          </a:p>
        </p:txBody>
      </p:sp>
    </p:spTree>
    <p:extLst>
      <p:ext uri="{BB962C8B-B14F-4D97-AF65-F5344CB8AC3E}">
        <p14:creationId xmlns:p14="http://schemas.microsoft.com/office/powerpoint/2010/main" val="1850970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 IMG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Quando um navegador baixa uma imagem, ele armazena o arquivo no 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disco de cache: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sz="3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 espaço para armazenar temporariamente arquivos no disco rígido</a:t>
            </a:r>
          </a:p>
        </p:txBody>
      </p:sp>
    </p:spTree>
    <p:extLst>
      <p:ext uri="{BB962C8B-B14F-4D97-AF65-F5344CB8AC3E}">
        <p14:creationId xmlns:p14="http://schemas.microsoft.com/office/powerpoint/2010/main" val="3058259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Adicionando Imagens SVG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3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Scalable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Vector Graphics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 Gráficos vetoriais escaláveis</a:t>
            </a:r>
            <a:endParaRPr lang="pt-BR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448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Vetoriais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endParaRPr lang="pt-BR" sz="3600" dirty="0"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pt-BR" sz="3600" dirty="0">
                <a:cs typeface="Times New Roman" panose="02020603050405020304" pitchFamily="18" charset="0"/>
              </a:rPr>
              <a:t>Vetores não são constituídos por pixels, e também podem ser chamados de gráficos orientados a objetos.</a:t>
            </a:r>
          </a:p>
        </p:txBody>
      </p:sp>
    </p:spTree>
    <p:extLst>
      <p:ext uri="{BB962C8B-B14F-4D97-AF65-F5344CB8AC3E}">
        <p14:creationId xmlns:p14="http://schemas.microsoft.com/office/powerpoint/2010/main" val="1854719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Vetoriais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endParaRPr lang="pt-BR" sz="3600" dirty="0"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pt-BR" sz="3600" dirty="0">
                <a:cs typeface="Times New Roman" panose="02020603050405020304" pitchFamily="18" charset="0"/>
              </a:rPr>
              <a:t>É a representação de objetos gráficos, como linhas, arcos, círculos e retângulos, com fórmulas matemáticas.</a:t>
            </a:r>
          </a:p>
        </p:txBody>
      </p:sp>
    </p:spTree>
    <p:extLst>
      <p:ext uri="{BB962C8B-B14F-4D97-AF65-F5344CB8AC3E}">
        <p14:creationId xmlns:p14="http://schemas.microsoft.com/office/powerpoint/2010/main" val="4023750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A9E967-5D4E-77D1-BFD2-10C551DBA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/>
          <a:lstStyle/>
          <a:p>
            <a:r>
              <a:rPr lang="en-US" dirty="0" err="1"/>
              <a:t>Vetor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0993C57-5E01-07CA-E186-7053E7C1C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endParaRPr lang="en-US" sz="1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72B13F2-1260-8E21-6664-5CA357BFE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566" y="0"/>
            <a:ext cx="65350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345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A9E967-5D4E-77D1-BFD2-10C551DBA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/>
          <a:lstStyle/>
          <a:p>
            <a:r>
              <a:rPr lang="en-US" dirty="0" err="1"/>
              <a:t>Vetor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0993C57-5E01-07CA-E186-7053E7C1C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endParaRPr lang="en-US" sz="1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72B13F2-1260-8E21-6664-5CA357BFE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566" y="0"/>
            <a:ext cx="6535070" cy="6858000"/>
          </a:xfrm>
          <a:prstGeom prst="rect">
            <a:avLst/>
          </a:prstGeom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93E7A508-C371-C3C3-10CD-1C97941F977C}"/>
              </a:ext>
            </a:extLst>
          </p:cNvPr>
          <p:cNvSpPr/>
          <p:nvPr/>
        </p:nvSpPr>
        <p:spPr>
          <a:xfrm>
            <a:off x="7545158" y="1329305"/>
            <a:ext cx="533538" cy="478509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3614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A9E967-5D4E-77D1-BFD2-10C551DBA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/>
          <a:lstStyle/>
          <a:p>
            <a:r>
              <a:rPr lang="en-US" dirty="0" err="1"/>
              <a:t>Vetor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0993C57-5E01-07CA-E186-7053E7C1C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endParaRPr lang="en-US" sz="12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F5DDB33-8A85-8585-96F0-BA2833F381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61"/>
          <a:stretch/>
        </p:blipFill>
        <p:spPr>
          <a:xfrm>
            <a:off x="4638675" y="0"/>
            <a:ext cx="7553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5370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Vetoriais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0340" indent="-180340">
              <a:lnSpc>
                <a:spcPct val="107000"/>
              </a:lnSpc>
              <a:spcAft>
                <a:spcPts val="800"/>
              </a:spcAft>
            </a:pP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Imagens vetoriais não são, portanto, dependentes de resolução e reterão sua qualidade quando ampliadas ou reduzidas</a:t>
            </a:r>
          </a:p>
        </p:txBody>
      </p:sp>
    </p:spTree>
    <p:extLst>
      <p:ext uri="{BB962C8B-B14F-4D97-AF65-F5344CB8AC3E}">
        <p14:creationId xmlns:p14="http://schemas.microsoft.com/office/powerpoint/2010/main" val="39883537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Vetoriais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01168" lvl="1" indent="0">
              <a:buNone/>
            </a:pP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São amplamente empregados na produção de material gráfico, online ou offline, comercial ou artístico.</a:t>
            </a:r>
          </a:p>
          <a:p>
            <a:pPr marL="201168" lvl="1" indent="0">
              <a:buNone/>
            </a:pPr>
            <a:endParaRPr lang="pt-BR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E a possibilidade de alterar seu </a:t>
            </a:r>
            <a:r>
              <a:rPr lang="pt-BR" sz="3600" b="1" dirty="0">
                <a:ea typeface="Calibri" panose="020F0502020204030204" pitchFamily="34" charset="0"/>
                <a:cs typeface="Times New Roman" panose="02020603050405020304" pitchFamily="18" charset="0"/>
              </a:rPr>
              <a:t>tamanho</a:t>
            </a: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, sua </a:t>
            </a:r>
            <a:r>
              <a:rPr lang="pt-BR" sz="3600" b="1" dirty="0">
                <a:ea typeface="Calibri" panose="020F0502020204030204" pitchFamily="34" charset="0"/>
                <a:cs typeface="Times New Roman" panose="02020603050405020304" pitchFamily="18" charset="0"/>
              </a:rPr>
              <a:t>forma</a:t>
            </a: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 e suas </a:t>
            </a:r>
            <a:r>
              <a:rPr lang="pt-BR" sz="3600" b="1" dirty="0">
                <a:ea typeface="Calibri" panose="020F0502020204030204" pitchFamily="34" charset="0"/>
                <a:cs typeface="Times New Roman" panose="02020603050405020304" pitchFamily="18" charset="0"/>
              </a:rPr>
              <a:t>cores </a:t>
            </a: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livremente</a:t>
            </a:r>
            <a:r>
              <a:rPr lang="pt-BR" sz="3600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pt-BR" sz="3600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uma grande vantagem</a:t>
            </a:r>
            <a:r>
              <a:rPr lang="pt-BR" sz="3600" b="1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lang="pt-BR" sz="3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2361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A9E967-5D4E-77D1-BFD2-10C551DBA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/>
          <a:lstStyle/>
          <a:p>
            <a:r>
              <a:rPr lang="en-US" dirty="0" err="1"/>
              <a:t>Vetor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0993C57-5E01-07CA-E186-7053E7C1C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endParaRPr lang="en-US" sz="12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F5DDB33-8A85-8585-96F0-BA2833F381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61"/>
          <a:stretch/>
        </p:blipFill>
        <p:spPr>
          <a:xfrm>
            <a:off x="4638675" y="0"/>
            <a:ext cx="7553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299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A9E967-5D4E-77D1-BFD2-10C551DBA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/>
          <a:lstStyle/>
          <a:p>
            <a:r>
              <a:rPr lang="en-US" dirty="0" err="1"/>
              <a:t>Vetor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0993C57-5E01-07CA-E186-7053E7C1C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endParaRPr lang="en-US" sz="12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EABD113-23D1-3453-E0A8-BE1B2B065E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91"/>
          <a:stretch/>
        </p:blipFill>
        <p:spPr>
          <a:xfrm>
            <a:off x="4648200" y="1"/>
            <a:ext cx="7543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222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Vetoriais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endParaRPr lang="pt-BR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pt-BR" sz="3600" dirty="0">
                <a:ea typeface="Calibri" panose="020F0502020204030204" pitchFamily="34" charset="0"/>
                <a:cs typeface="Times New Roman" panose="02020603050405020304" pitchFamily="18" charset="0"/>
              </a:rPr>
              <a:t>Em geral, são mais leves que bitmaps e, portanto, carregam mais rápido na página.</a:t>
            </a:r>
          </a:p>
          <a:p>
            <a:pPr lvl="1"/>
            <a:endParaRPr lang="pt-BR" sz="3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4425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Adicionando Imagens SVG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Podem ser adicionados através do elemento </a:t>
            </a:r>
            <a:r>
              <a:rPr lang="pt-BR" sz="3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img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img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src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pt-BR" sz="3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icon.svg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=“ ”&gt;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8252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Adicionando </a:t>
            </a:r>
            <a:r>
              <a:rPr lang="pt-BR" dirty="0" err="1"/>
              <a:t>GIFs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lnSpc>
                <a:spcPct val="110000"/>
              </a:lnSpc>
              <a:buNone/>
            </a:pPr>
            <a:r>
              <a:rPr lang="pt-BR" sz="3600" dirty="0" err="1">
                <a:cs typeface="Times New Roman" panose="02020603050405020304" pitchFamily="18" charset="0"/>
              </a:rPr>
              <a:t>GIFs</a:t>
            </a:r>
            <a:r>
              <a:rPr lang="pt-BR" sz="3600" dirty="0">
                <a:cs typeface="Times New Roman" panose="02020603050405020304" pitchFamily="18" charset="0"/>
              </a:rPr>
              <a:t> (Graphics </a:t>
            </a:r>
            <a:r>
              <a:rPr lang="pt-BR" sz="3600" dirty="0" err="1">
                <a:cs typeface="Times New Roman" panose="02020603050405020304" pitchFamily="18" charset="0"/>
              </a:rPr>
              <a:t>Interchange</a:t>
            </a:r>
            <a:r>
              <a:rPr lang="pt-BR" sz="3600" dirty="0">
                <a:cs typeface="Times New Roman" panose="02020603050405020304" pitchFamily="18" charset="0"/>
              </a:rPr>
              <a:t> Format) podem conter várias imagens em sequência, criando um efeito de movimento sem som</a:t>
            </a:r>
            <a:endParaRPr lang="pt-BR" sz="3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1256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A9E967-5D4E-77D1-BFD2-10C551DBA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/>
          <a:lstStyle/>
          <a:p>
            <a:r>
              <a:rPr lang="en-US" dirty="0"/>
              <a:t>Gif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0993C57-5E01-07CA-E186-7053E7C1C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endParaRPr lang="en-US" sz="1200" dirty="0"/>
          </a:p>
        </p:txBody>
      </p:sp>
      <p:pic>
        <p:nvPicPr>
          <p:cNvPr id="11" name="Imagem 10" descr="Logotipo&#10;&#10;Descrição gerada automaticamente">
            <a:extLst>
              <a:ext uri="{FF2B5EF4-FFF2-40B4-BE49-F238E27FC236}">
                <a16:creationId xmlns:a16="http://schemas.microsoft.com/office/drawing/2014/main" id="{3486B3EC-8978-F3EA-6FF8-9F0AE803A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93583"/>
            <a:ext cx="4361112" cy="327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7525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Adicionando </a:t>
            </a:r>
            <a:r>
              <a:rPr lang="pt-BR" dirty="0" err="1"/>
              <a:t>GIFs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lnSpc>
                <a:spcPct val="110000"/>
              </a:lnSpc>
              <a:buNone/>
            </a:pPr>
            <a:r>
              <a:rPr lang="pt-BR" sz="3600" dirty="0">
                <a:cs typeface="Times New Roman" panose="02020603050405020304" pitchFamily="18" charset="0"/>
              </a:rPr>
              <a:t>Características principais dos </a:t>
            </a:r>
            <a:r>
              <a:rPr lang="pt-BR" sz="3600" dirty="0" err="1">
                <a:cs typeface="Times New Roman" panose="02020603050405020304" pitchFamily="18" charset="0"/>
              </a:rPr>
              <a:t>GIFs</a:t>
            </a:r>
            <a:r>
              <a:rPr lang="pt-BR" sz="3600" dirty="0"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10000"/>
              </a:lnSpc>
            </a:pPr>
            <a:r>
              <a:rPr lang="pt-BR" sz="3200" dirty="0">
                <a:cs typeface="Times New Roman" panose="02020603050405020304" pitchFamily="18" charset="0"/>
              </a:rPr>
              <a:t>São compostos por uma série de imagens ou quadros, exibidos em sequência para criar um efeito animado.</a:t>
            </a:r>
            <a:endParaRPr lang="pt-BR" sz="32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7533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Adicionando </a:t>
            </a:r>
            <a:r>
              <a:rPr lang="pt-BR" dirty="0" err="1"/>
              <a:t>GIFs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lnSpc>
                <a:spcPct val="110000"/>
              </a:lnSpc>
              <a:buNone/>
            </a:pPr>
            <a:r>
              <a:rPr lang="pt-BR" sz="3600" dirty="0">
                <a:cs typeface="Times New Roman" panose="02020603050405020304" pitchFamily="18" charset="0"/>
              </a:rPr>
              <a:t>Características principais dos </a:t>
            </a:r>
            <a:r>
              <a:rPr lang="pt-BR" sz="3600" dirty="0" err="1">
                <a:cs typeface="Times New Roman" panose="02020603050405020304" pitchFamily="18" charset="0"/>
              </a:rPr>
              <a:t>GIFs</a:t>
            </a:r>
            <a:r>
              <a:rPr lang="pt-BR" sz="3600" dirty="0"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10000"/>
              </a:lnSpc>
            </a:pPr>
            <a:r>
              <a:rPr lang="pt-BR" sz="3200" dirty="0">
                <a:cs typeface="Times New Roman" panose="02020603050405020304" pitchFamily="18" charset="0"/>
              </a:rPr>
              <a:t>Comparado a outros formatos de vídeo ou animação, os </a:t>
            </a:r>
            <a:r>
              <a:rPr lang="pt-BR" sz="3200" dirty="0" err="1">
                <a:cs typeface="Times New Roman" panose="02020603050405020304" pitchFamily="18" charset="0"/>
              </a:rPr>
              <a:t>GIFs</a:t>
            </a:r>
            <a:r>
              <a:rPr lang="pt-BR" sz="3200" dirty="0">
                <a:cs typeface="Times New Roman" panose="02020603050405020304" pitchFamily="18" charset="0"/>
              </a:rPr>
              <a:t> tendem a ser menores, facilitando o compartilhamento online.</a:t>
            </a:r>
            <a:endParaRPr lang="pt-BR" sz="3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5955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Adicionando </a:t>
            </a:r>
            <a:r>
              <a:rPr lang="pt-BR" dirty="0" err="1"/>
              <a:t>GIFs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lnSpc>
                <a:spcPct val="110000"/>
              </a:lnSpc>
              <a:buNone/>
            </a:pPr>
            <a:r>
              <a:rPr lang="pt-BR" sz="3600" dirty="0">
                <a:cs typeface="Times New Roman" panose="02020603050405020304" pitchFamily="18" charset="0"/>
              </a:rPr>
              <a:t>Características principais dos </a:t>
            </a:r>
            <a:r>
              <a:rPr lang="pt-BR" sz="3600" dirty="0" err="1">
                <a:cs typeface="Times New Roman" panose="02020603050405020304" pitchFamily="18" charset="0"/>
              </a:rPr>
              <a:t>GIFs</a:t>
            </a:r>
            <a:r>
              <a:rPr lang="pt-BR" sz="3600" dirty="0"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10000"/>
              </a:lnSpc>
            </a:pPr>
            <a:r>
              <a:rPr lang="pt-BR" sz="3200" dirty="0"/>
              <a:t>Suportam até 256 cores, o que os torna menos adequados para fotos realistas, mas eficientes para gráficos simples.</a:t>
            </a:r>
            <a:endParaRPr lang="pt-BR" sz="3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7457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Adicionando </a:t>
            </a:r>
            <a:r>
              <a:rPr lang="pt-BR" dirty="0" err="1"/>
              <a:t>GIFs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lnSpc>
                <a:spcPct val="110000"/>
              </a:lnSpc>
              <a:buNone/>
            </a:pPr>
            <a:r>
              <a:rPr lang="pt-BR" sz="3600" dirty="0">
                <a:cs typeface="Times New Roman" panose="02020603050405020304" pitchFamily="18" charset="0"/>
              </a:rPr>
              <a:t>Características principais dos </a:t>
            </a:r>
            <a:r>
              <a:rPr lang="pt-BR" sz="3600" dirty="0" err="1">
                <a:cs typeface="Times New Roman" panose="02020603050405020304" pitchFamily="18" charset="0"/>
              </a:rPr>
              <a:t>GIFs</a:t>
            </a:r>
            <a:r>
              <a:rPr lang="pt-BR" sz="3600" dirty="0"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10000"/>
              </a:lnSpc>
            </a:pPr>
            <a:r>
              <a:rPr lang="pt-BR" sz="3200" dirty="0"/>
              <a:t>Embora mostrem movimento, os </a:t>
            </a:r>
            <a:r>
              <a:rPr lang="pt-BR" sz="3200" dirty="0" err="1"/>
              <a:t>GIFs</a:t>
            </a:r>
            <a:r>
              <a:rPr lang="pt-BR" sz="3200" dirty="0"/>
              <a:t> não carregam áudio.</a:t>
            </a:r>
            <a:endParaRPr lang="pt-BR" sz="3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3753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E9EF5-1E19-40B9-8961-0D38227F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Adicionando </a:t>
            </a:r>
            <a:r>
              <a:rPr lang="pt-BR" dirty="0" err="1"/>
              <a:t>GIFs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D8789-DE59-476B-927F-DDE00DBD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Podem ser adicionados através do elemento </a:t>
            </a:r>
            <a:r>
              <a:rPr lang="pt-BR" sz="3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img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img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src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“icon.gif”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=“ ”&gt;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163047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ED2F52BDCB944C891BB0D3DB5B4689" ma:contentTypeVersion="3" ma:contentTypeDescription="Create a new document." ma:contentTypeScope="" ma:versionID="ffef1dbc39b52dbe3fbb7262bc81aa9d">
  <xsd:schema xmlns:xsd="http://www.w3.org/2001/XMLSchema" xmlns:xs="http://www.w3.org/2001/XMLSchema" xmlns:p="http://schemas.microsoft.com/office/2006/metadata/properties" xmlns:ns2="45266506-7c7c-49c5-a640-a9bbfd1bea9a" targetNamespace="http://schemas.microsoft.com/office/2006/metadata/properties" ma:root="true" ma:fieldsID="6a31eb5fc835b1abe042e2a09ad2ada0" ns2:_="">
    <xsd:import namespace="45266506-7c7c-49c5-a640-a9bbfd1bea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66506-7c7c-49c5-a640-a9bbfd1bea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37DD39F-CBBC-4D2D-BC8D-23C960D638D6}"/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1010</TotalTime>
  <Words>806</Words>
  <Application>Microsoft Office PowerPoint</Application>
  <PresentationFormat>Widescreen</PresentationFormat>
  <Paragraphs>155</Paragraphs>
  <Slides>41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6" baseType="lpstr">
      <vt:lpstr>Bookman Old Style</vt:lpstr>
      <vt:lpstr>Calibri</vt:lpstr>
      <vt:lpstr>Franklin Gothic Book</vt:lpstr>
      <vt:lpstr>Times New Roman</vt:lpstr>
      <vt:lpstr>1_RetrospectVTI</vt:lpstr>
      <vt:lpstr>Desenvolvimento Web Responsivo</vt:lpstr>
      <vt:lpstr>Desenvolvimento Web Responsivo</vt:lpstr>
      <vt:lpstr>Adicionando Imagens</vt:lpstr>
      <vt:lpstr>Adicionando Imagens</vt:lpstr>
      <vt:lpstr>Formatos de imagem</vt:lpstr>
      <vt:lpstr>Arquivos Bitmap</vt:lpstr>
      <vt:lpstr>Bitmap</vt:lpstr>
      <vt:lpstr>Bitmap</vt:lpstr>
      <vt:lpstr>Bitmap</vt:lpstr>
      <vt:lpstr>Arquivos Bitmap</vt:lpstr>
      <vt:lpstr>Arquivos Bitmap</vt:lpstr>
      <vt:lpstr>Elemento IMG</vt:lpstr>
      <vt:lpstr>Elemento IMG</vt:lpstr>
      <vt:lpstr>Elemento IMG</vt:lpstr>
      <vt:lpstr>Elemento IMG</vt:lpstr>
      <vt:lpstr>Elemento IMG</vt:lpstr>
      <vt:lpstr>Apresentação do PowerPoint</vt:lpstr>
      <vt:lpstr>Apresentação do PowerPoint</vt:lpstr>
      <vt:lpstr>Elemento IMG</vt:lpstr>
      <vt:lpstr>Elemento IMG</vt:lpstr>
      <vt:lpstr>Elemento IMG</vt:lpstr>
      <vt:lpstr>Elemento IMG</vt:lpstr>
      <vt:lpstr>Adicionando Imagens SVG</vt:lpstr>
      <vt:lpstr>Arquivos Vetoriais</vt:lpstr>
      <vt:lpstr>Arquivos Vetoriais</vt:lpstr>
      <vt:lpstr>Vetor</vt:lpstr>
      <vt:lpstr>Vetor</vt:lpstr>
      <vt:lpstr>Vetor</vt:lpstr>
      <vt:lpstr>Arquivos Vetoriais</vt:lpstr>
      <vt:lpstr>Arquivos Vetoriais</vt:lpstr>
      <vt:lpstr>Vetor</vt:lpstr>
      <vt:lpstr>Vetor</vt:lpstr>
      <vt:lpstr>Arquivos Vetoriais</vt:lpstr>
      <vt:lpstr>Adicionando Imagens SVG</vt:lpstr>
      <vt:lpstr>Adicionando GIFs</vt:lpstr>
      <vt:lpstr>Gif</vt:lpstr>
      <vt:lpstr>Adicionando GIFs</vt:lpstr>
      <vt:lpstr>Adicionando GIFs</vt:lpstr>
      <vt:lpstr>Adicionando GIFs</vt:lpstr>
      <vt:lpstr>Adicionando GIFs</vt:lpstr>
      <vt:lpstr>Adicionando GIFs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Manuais e Ilustrações Técnico Científicas</dc:title>
  <dc:creator>Flávio Waltz</dc:creator>
  <cp:lastModifiedBy>Flávio Waltz</cp:lastModifiedBy>
  <cp:revision>85</cp:revision>
  <dcterms:created xsi:type="dcterms:W3CDTF">2022-08-10T14:03:41Z</dcterms:created>
  <dcterms:modified xsi:type="dcterms:W3CDTF">2026-03-26T18:11:31Z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0x0101002BED2F52BDCB944C891BB0D3DB5B4689</vt:lpwstr>
  </property>
</Properties>
</file>