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0"/>
  </p:notesMasterIdLst>
  <p:handoutMasterIdLst>
    <p:handoutMasterId r:id="rId41"/>
  </p:handoutMasterIdLst>
  <p:sldIdLst>
    <p:sldId id="268" r:id="rId5"/>
    <p:sldId id="269" r:id="rId6"/>
    <p:sldId id="301" r:id="rId7"/>
    <p:sldId id="303" r:id="rId8"/>
    <p:sldId id="304" r:id="rId9"/>
    <p:sldId id="306" r:id="rId10"/>
    <p:sldId id="305" r:id="rId11"/>
    <p:sldId id="307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B630830-86DA-477D-9B12-97EB0463A36B}">
          <p14:sldIdLst>
            <p14:sldId id="268"/>
            <p14:sldId id="269"/>
            <p14:sldId id="301"/>
            <p14:sldId id="303"/>
            <p14:sldId id="304"/>
            <p14:sldId id="306"/>
            <p14:sldId id="305"/>
            <p14:sldId id="307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F4F6FA"/>
    <a:srgbClr val="FFD200"/>
    <a:srgbClr val="BCDFB3"/>
    <a:srgbClr val="FFFF80"/>
    <a:srgbClr val="74992E"/>
    <a:srgbClr val="FFFFFF"/>
    <a:srgbClr val="FBFBFB"/>
    <a:srgbClr val="EC7016"/>
    <a:srgbClr val="EFD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9" autoAdjust="0"/>
  </p:normalViewPr>
  <p:slideViewPr>
    <p:cSldViewPr snapToGrid="0">
      <p:cViewPr varScale="1">
        <p:scale>
          <a:sx n="107" d="100"/>
          <a:sy n="107" d="100"/>
        </p:scale>
        <p:origin x="6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23/04/2026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23/04/2026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de software para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de software para internet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84DC87C-8521-31D7-A571-CB8560E14C58}"/>
              </a:ext>
            </a:extLst>
          </p:cNvPr>
          <p:cNvSpPr/>
          <p:nvPr/>
        </p:nvSpPr>
        <p:spPr>
          <a:xfrm>
            <a:off x="0" y="0"/>
            <a:ext cx="12192000" cy="457835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62C9655-A76F-8472-C04D-4029123A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Responsividade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C1DC06-AC88-6F5D-5FED-A240F4A7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" name="Imagem 9" descr="Interface gráfica do usuário&#10;&#10;Descrição gerada automaticamente">
            <a:extLst>
              <a:ext uri="{FF2B5EF4-FFF2-40B4-BE49-F238E27FC236}">
                <a16:creationId xmlns:a16="http://schemas.microsoft.com/office/drawing/2014/main" id="{40CAD29C-3AB8-61F4-9254-3DA37C3B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446" y="50074"/>
            <a:ext cx="6003108" cy="450233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F6C9D5-B3E8-85E5-8717-202810195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343" y="3898518"/>
            <a:ext cx="2235200" cy="6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1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9EE7-8F34-8AA6-B560-ACD5D4CE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661AF-7C6B-B32D-F9DE-DF916EEE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64F71D-CA7D-D02B-730C-326D75DA2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configuração de media queries permite a preparação de uma webpage para apresentação em diferentes mídias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(web, mobile, print etc.)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9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F7054-A233-6B95-2DE0-258707199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7557D-439D-5E9E-2E28-5FD6FF121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346E43-B246-38FB-C943-33731AE7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um sistema que pode ser acessado via web e dispositivos móveis, 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Queries podem auxiliar a adaptação de layout em modo Portrait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(retrato - vertical)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 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Landscape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(paisagem - horizontal), por exemplo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51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9D4C1-703E-2C02-9511-C520FC27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EB8DA-00BD-565B-7852-850EE62C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F66973-999D-9CCD-5194-F03A2F750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318282" cy="37608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documento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 </a:t>
            </a: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segue a lógica que já conhecemos:</a:t>
            </a:r>
          </a:p>
          <a:p>
            <a:pPr marL="201168" lvl="1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&lt;!DOCTYPE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declara o tipo de documento</a:t>
            </a: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lang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-br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”&gt; -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idioma para acessibilidade e SEO</a:t>
            </a: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contém os metadados, títulos e links de estilos</a:t>
            </a: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&lt;meta 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viewport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”&gt; -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ajusta a escala em dispositivos móveis</a:t>
            </a:r>
            <a:endParaRPr lang="pt-BR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807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E2EE-9D3C-8299-97E0-76FCBC71D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17176-4898-5D95-5CF9-C7276B64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Organização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B59A03-8B71-8975-28BE-661FDD4C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Enquanto os arquivos CSS definem estilos para 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mídias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diferentes: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index.html –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estrutura semântica do sistema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style.css –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estilos gerais aplicados a todos os modos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portrait.css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regras para telas verticais (smartphones)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ndscape.css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regras para telas horizontais (monitores, tablets deitados...)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3B06-7BA1-7AD2-9DE4-16D368EA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FC3A9-F4E2-75C6-8827-1A0E6F3B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Importação dos arq. CSS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F51AFF3-B924-12FC-97D9-1BA13784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176F56-8761-F050-BB33-2E5EB9E4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391"/>
            <a:ext cx="12192000" cy="439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1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51224-1B20-F2FA-88BF-5B8604C5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9F-5F2F-5C8D-E23C-2E2A4C28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E594B4-D8FD-2718-FAC6-A51AE3A8B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&lt;header&gt; -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exibe o nome do sistema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pt-BR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contém o conteúdo principal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section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=“login”&gt; -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formulário de login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section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=“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”&gt; -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texto informativo para o usuário</a:t>
            </a:r>
            <a:endParaRPr lang="pt-BR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footer</a:t>
            </a:r>
            <a:r>
              <a:rPr lang="pt-BR" sz="32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direitos autorais e identificação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32766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1712-D44D-BB3B-7137-8BF0229D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B4AEE-0341-B671-F61E-944E6A3B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A85E0A-B25C-CA39-7827-65DB835C9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entender o funcionamento de formulários: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0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</a:t>
            </a:r>
            <a:r>
              <a:rPr lang="pt-BR" sz="3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elemento que define o início e o fim de um formulário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Formulários podem conter, por exemplo: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0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</a:t>
            </a:r>
            <a:r>
              <a:rPr lang="pt-BR" sz="30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0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gera uma etiqueta textual associada a um campo de entrada (input)</a:t>
            </a:r>
            <a:endParaRPr lang="pt-BR" sz="30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30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97D3-8C4F-82D8-3670-C53972E4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02BE3-29DC-DF92-7ABF-E245114B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53B34C-069B-4E79-5C6E-3C3210E55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entender o funcionamento de formulários: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elemento que define o início e o fim de um formulário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Formulários podem conter, por exemplo: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-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possui um atributo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importante, que vincula o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um campo específico (mesmo valor do atributo id de input)</a:t>
            </a: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7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5C7261-0518-68FB-DFCE-2504CF97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982"/>
            <a:ext cx="12192000" cy="380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1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222F8-3464-6913-A005-DF07F55B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301EE-9DD1-AB63-0C03-833A2D1F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6F571C-DDDC-61C9-00A7-4B430CBA6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Assim, quando o usuário clica no texto “E-mail”, o campo correspondente é automaticamente selecionado</a:t>
            </a: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56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F986-E3FD-5E93-D428-38349C65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54F87-883E-E4ED-EE9D-B30BDF2D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FD3231-7A73-40FE-26E1-7A6E3CD83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&lt;input&gt;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 um campo que recebe dados digitados pelo usuário, e pode ter diferentes comportamentos conforme o tipo definido</a:t>
            </a:r>
          </a:p>
        </p:txBody>
      </p:sp>
    </p:spTree>
    <p:extLst>
      <p:ext uri="{BB962C8B-B14F-4D97-AF65-F5344CB8AC3E}">
        <p14:creationId xmlns:p14="http://schemas.microsoft.com/office/powerpoint/2010/main" val="213359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25E16-5E3E-2E50-B578-C0837FEF5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55CD6-7AED-19A8-AE37-D2A868520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B5CA5-8772-91FE-F269-A9914AB4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principais atributos de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são: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o tipo de dado esperado (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...)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identifica o campo (usado pelo atributo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label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placeholder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texto de ajuda exibido dentro do campo, até que o usuário digite algo</a:t>
            </a:r>
          </a:p>
        </p:txBody>
      </p:sp>
    </p:spTree>
    <p:extLst>
      <p:ext uri="{BB962C8B-B14F-4D97-AF65-F5344CB8AC3E}">
        <p14:creationId xmlns:p14="http://schemas.microsoft.com/office/powerpoint/2010/main" val="493505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D460-883D-31EB-4EFE-95A076A3D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61F76A5-AD54-89FC-F699-8D01504C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7982"/>
            <a:ext cx="12192000" cy="380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85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E4A0-DBC1-4301-CCB6-4237919F9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AEDF4-5E59-BEC5-F626-E4AC09C9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9576B9-105C-B544-4F51-7EA02471F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exemplo dado, o campo é do tipo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password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(oculta caracteres) e o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placeholder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orienta o usuário sem ocupar espaço na interface:</a:t>
            </a:r>
          </a:p>
        </p:txBody>
      </p:sp>
    </p:spTree>
    <p:extLst>
      <p:ext uri="{BB962C8B-B14F-4D97-AF65-F5344CB8AC3E}">
        <p14:creationId xmlns:p14="http://schemas.microsoft.com/office/powerpoint/2010/main" val="1385017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0620AD-B2BB-5EAC-9815-82C42DA5A1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63666E-41C6-0D3E-A852-EDED8DE5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546" y="0"/>
            <a:ext cx="8361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48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ABCA5-BC0A-EC93-A379-0EA04A96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ED8EAF05-6A71-1449-CCD2-09BEBEF8333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79972715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989">
                  <a:extLst>
                    <a:ext uri="{9D8B030D-6E8A-4147-A177-3AD203B41FA5}">
                      <a16:colId xmlns:a16="http://schemas.microsoft.com/office/drawing/2014/main" val="3012770832"/>
                    </a:ext>
                  </a:extLst>
                </a:gridCol>
                <a:gridCol w="4908885">
                  <a:extLst>
                    <a:ext uri="{9D8B030D-6E8A-4147-A177-3AD203B41FA5}">
                      <a16:colId xmlns:a16="http://schemas.microsoft.com/office/drawing/2014/main" val="1197591854"/>
                    </a:ext>
                  </a:extLst>
                </a:gridCol>
                <a:gridCol w="4620126">
                  <a:extLst>
                    <a:ext uri="{9D8B030D-6E8A-4147-A177-3AD203B41FA5}">
                      <a16:colId xmlns:a16="http://schemas.microsoft.com/office/drawing/2014/main" val="2160985748"/>
                    </a:ext>
                  </a:extLst>
                </a:gridCol>
              </a:tblGrid>
              <a:tr h="61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0248250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text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Entrada de texto livre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Nome completo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750815"/>
                  </a:ext>
                </a:extLst>
              </a:tr>
              <a:tr h="110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email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Validação de formato de e-mail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E-mail corporativo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619098"/>
                  </a:ext>
                </a:extLst>
              </a:tr>
              <a:tr h="110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password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Oculta caracteres digitados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Senha de acesso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56889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number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Aceita apenas números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 de chamado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633536"/>
                  </a:ext>
                </a:extLst>
              </a:tr>
              <a:tr h="61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checkbox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Seleção múltipla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“Salvar senha?”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392009"/>
                  </a:ext>
                </a:extLst>
              </a:tr>
              <a:tr h="110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>
                          <a:latin typeface="Courier New" panose="02070309020205020404" pitchFamily="49" charset="0"/>
                        </a:rPr>
                        <a:t>radio</a:t>
                      </a:r>
                      <a:endParaRPr lang="pt-BR" sz="2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Seleção única entre opções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 de usuário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685130"/>
                  </a:ext>
                </a:extLst>
              </a:tr>
              <a:tr h="1102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b="1" dirty="0" err="1">
                          <a:latin typeface="Courier New" panose="02070309020205020404" pitchFamily="49" charset="0"/>
                        </a:rPr>
                        <a:t>submit</a:t>
                      </a:r>
                      <a:endParaRPr lang="pt-BR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Botão de envio do formulário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Enviar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788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6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49C6-45FF-CF22-F60E-5C113744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812FBD-E5A6-FAD8-77F8-5D0E514C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Estrutura Semântica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E91F2-A144-141E-0870-8547E3E47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fim, a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Tag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 botões interativos – geralmente usados para enviar formulários ou acionar funções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Seus atributos principais são: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submit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 o formulário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reset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limpa todos os campos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executa ação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2714781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05BF01C-64A3-6C1A-BFFE-B8B5CB45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7428"/>
            <a:ext cx="12192000" cy="212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141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03DEF-AD5E-7A5E-01D5-EE1D23D63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30A05-DBF4-F616-D279-B32CB487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Estilos Gerais (style.css)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38CC11-98C0-8135-7202-E3EAD636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nosso exemplo,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arquivo style.css define a identidade visual do sistema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garante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consistência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entre as diferentes versões</a:t>
            </a: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666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7F5F-A544-F1D9-DC52-17162EA2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A030A-5FAF-CF8B-A79F-254134BE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Estilos Gerais (style.css)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DE1578-48F3-506B-1FB5-3A3562DBF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elementos de destaque de style.css são: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fonte, cor de fundo, layout flexível e centralizado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.login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possuem caixas com sombra, espaçamento e bordas arredondadas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button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possui as cores institucionais (azul) e efeito </a:t>
            </a:r>
            <a:r>
              <a:rPr lang="pt-BR" sz="3200" i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hover</a:t>
            </a:r>
            <a:endParaRPr lang="pt-BR" sz="3200" i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header 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footer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são áreas fixas e contrastantes</a:t>
            </a: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612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CB2F45A-F1A2-4798-5D00-3173A49480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46AA03A-5203-62FC-86AF-A113BF88C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67" y="0"/>
            <a:ext cx="11095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80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38C09-DD83-C0F2-C078-E54CE858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C41CAFC-51FB-5FC5-C998-88CE208921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2305DF-7B55-D7D5-5250-63F3DBF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58" y="0"/>
            <a:ext cx="84520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34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5125-5900-6123-3AD4-73E704EE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27E97FD-545B-0479-CB08-1073F059A6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BF06D4-D0A0-BA9E-F76E-A4582AB0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7" y="0"/>
            <a:ext cx="11774905" cy="686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46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3A4FC-718B-B358-0C1D-DDDE76B9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3FDB166-2BCD-57FB-0067-21F54F38A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2456EB-787F-A3CF-FACA-61F51D96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48" y="0"/>
            <a:ext cx="8732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43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BA87-1862-5689-612C-889308E5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44DFFC6-8395-F5CC-B01B-61F9A13942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FD4EAB1-78F4-51E7-5B64-E0BDC86BB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0515"/>
            <a:ext cx="12192000" cy="239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26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A291-C670-5C56-EFAE-72DD6C32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D5B7E-8AE6-806E-A1E0-810DFBD2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Media Queries – Modo vertical (portrait.css)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F6A11-3F0C-7B87-1F0E-16F66AEB4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elementos de destaque de portrait.css são: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 {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flex-direction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flex-direction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column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.login, .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90%;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max-width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400px; }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375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50EEB6D-F906-C6C7-949C-7E2A21060D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61729E-A2F6-BE3E-382D-D313CBD6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02" y="0"/>
            <a:ext cx="4989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69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29A71-4558-33E2-3561-F56C001F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64B12-B887-A70F-D2CF-FBB076B8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886173" cy="1450757"/>
          </a:xfrm>
        </p:spPr>
        <p:txBody>
          <a:bodyPr>
            <a:normAutofit/>
          </a:bodyPr>
          <a:lstStyle/>
          <a:p>
            <a:r>
              <a:rPr lang="pt-BR" sz="3600" dirty="0"/>
              <a:t>Media Queries – Modo horizontal (landscape.css)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C01FD6-807E-223E-B160-96FFE11BD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 elementos de destaque de landscape.css são: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flex-direction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.login, .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width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45%; }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h1 {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font-size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1.8rem; }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654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EBD4-FB22-F3F9-105B-C501246D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1B508C-8031-C333-E41F-048CC17F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886173" cy="1450757"/>
          </a:xfrm>
        </p:spPr>
        <p:txBody>
          <a:bodyPr>
            <a:normAutofit/>
          </a:bodyPr>
          <a:lstStyle/>
          <a:p>
            <a:r>
              <a:rPr lang="pt-BR" sz="3600" dirty="0"/>
              <a:t>Media Queries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70C09A-7DCB-2404-BE2E-A8DF02B12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necessário, é possível definir a estilização para diferentes tipos de mídia diretamente no arquivo index.html: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Basta definir:</a:t>
            </a:r>
            <a:endParaRPr lang="pt-BR" sz="3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@media </a:t>
            </a:r>
            <a:r>
              <a:rPr lang="pt-BR" sz="3200" b="1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screen</a:t>
            </a:r>
            <a:r>
              <a:rPr lang="pt-BR" sz="32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32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orientation</a:t>
            </a: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...)</a:t>
            </a:r>
          </a:p>
        </p:txBody>
      </p:sp>
    </p:spTree>
    <p:extLst>
      <p:ext uri="{BB962C8B-B14F-4D97-AF65-F5344CB8AC3E}">
        <p14:creationId xmlns:p14="http://schemas.microsoft.com/office/powerpoint/2010/main" val="2905278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897AB82-5951-9554-3E15-9A1575BDB9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64E3255-677E-814A-36C8-D9194B9D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24"/>
          <a:stretch>
            <a:fillRect/>
          </a:stretch>
        </p:blipFill>
        <p:spPr>
          <a:xfrm>
            <a:off x="1062182" y="1090148"/>
            <a:ext cx="10067636" cy="467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58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D1F1-9539-0A07-E7AD-6B984A95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6D041-0B86-04A1-6349-BC3422BE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886173" cy="1450757"/>
          </a:xfrm>
        </p:spPr>
        <p:txBody>
          <a:bodyPr>
            <a:normAutofit/>
          </a:bodyPr>
          <a:lstStyle/>
          <a:p>
            <a:r>
              <a:rPr lang="pt-BR" sz="3600" dirty="0"/>
              <a:t>Media Queries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F0412B-C924-9AEE-951B-9CDE56F7F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739" y="2108201"/>
            <a:ext cx="10058400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 base no que discutimos até agora, o que está sendo definido pela estilização a seguir:</a:t>
            </a:r>
          </a:p>
        </p:txBody>
      </p:sp>
    </p:spTree>
    <p:extLst>
      <p:ext uri="{BB962C8B-B14F-4D97-AF65-F5344CB8AC3E}">
        <p14:creationId xmlns:p14="http://schemas.microsoft.com/office/powerpoint/2010/main" val="2842683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E437C76-26ED-EC67-3EFD-1B5FF512F0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14677E8-B10B-F767-36BC-8C6B1B1B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804" y="0"/>
            <a:ext cx="8994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6343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FABA498-DC5F-44FF-81F2-20C9719CC769}"/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2053</TotalTime>
  <Words>898</Words>
  <Application>Microsoft Office PowerPoint</Application>
  <PresentationFormat>Widescreen</PresentationFormat>
  <Paragraphs>118</Paragraphs>
  <Slides>35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0" baseType="lpstr">
      <vt:lpstr>Bookman Old Style</vt:lpstr>
      <vt:lpstr>Calibri</vt:lpstr>
      <vt:lpstr>Courier New</vt:lpstr>
      <vt:lpstr>Franklin Gothic Book</vt:lpstr>
      <vt:lpstr>1_RetrospectVTI</vt:lpstr>
      <vt:lpstr>Desenvolvimento de software para internet</vt:lpstr>
      <vt:lpstr>Desenvolvimento de software para internet</vt:lpstr>
      <vt:lpstr>Responsividade</vt:lpstr>
      <vt:lpstr>Media Queries</vt:lpstr>
      <vt:lpstr>Media Queries</vt:lpstr>
      <vt:lpstr>Media Queries – Estrutura HTML</vt:lpstr>
      <vt:lpstr>Media Queries – Organização</vt:lpstr>
      <vt:lpstr>Media Queries – Importação dos arq. CSS</vt:lpstr>
      <vt:lpstr>Media Queries – Estrutura Semântica</vt:lpstr>
      <vt:lpstr>Media Queries – Estrutura Semântica</vt:lpstr>
      <vt:lpstr>Media Queries – Estrutura Semântica</vt:lpstr>
      <vt:lpstr>Apresentação do PowerPoint</vt:lpstr>
      <vt:lpstr>Media Queries – Estrutura Semântica</vt:lpstr>
      <vt:lpstr>Media Queries – Estrutura Semântica</vt:lpstr>
      <vt:lpstr>Media Queries – Estrutura Semântica</vt:lpstr>
      <vt:lpstr>Apresentação do PowerPoint</vt:lpstr>
      <vt:lpstr>Media Queries – Estrutura Semântica</vt:lpstr>
      <vt:lpstr>Apresentação do PowerPoint</vt:lpstr>
      <vt:lpstr>Apresentação do PowerPoint</vt:lpstr>
      <vt:lpstr>Media Queries – Estrutura Semântica</vt:lpstr>
      <vt:lpstr>Apresentação do PowerPoint</vt:lpstr>
      <vt:lpstr>Media Queries – Estilos Gerais (style.css)</vt:lpstr>
      <vt:lpstr>Media Queries – Estilos Gerais (style.css)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Media Queries – Modo vertical (portrait.css)</vt:lpstr>
      <vt:lpstr>Apresentação do PowerPoint</vt:lpstr>
      <vt:lpstr>Media Queries – Modo horizontal (landscape.css)</vt:lpstr>
      <vt:lpstr>Media Queries</vt:lpstr>
      <vt:lpstr>Apresentação do PowerPoint</vt:lpstr>
      <vt:lpstr>Media Queries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112</cp:revision>
  <dcterms:created xsi:type="dcterms:W3CDTF">2022-08-10T14:03:41Z</dcterms:created>
  <dcterms:modified xsi:type="dcterms:W3CDTF">2026-04-23T20:21:03Z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