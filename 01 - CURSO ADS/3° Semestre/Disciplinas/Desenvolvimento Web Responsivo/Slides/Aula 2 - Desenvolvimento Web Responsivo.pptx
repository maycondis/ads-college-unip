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7"/>
  </p:notesMasterIdLst>
  <p:handoutMasterIdLst>
    <p:handoutMasterId r:id="rId48"/>
  </p:handoutMasterIdLst>
  <p:sldIdLst>
    <p:sldId id="268" r:id="rId5"/>
    <p:sldId id="269" r:id="rId6"/>
    <p:sldId id="283" r:id="rId7"/>
    <p:sldId id="270" r:id="rId8"/>
    <p:sldId id="284" r:id="rId9"/>
    <p:sldId id="285" r:id="rId10"/>
    <p:sldId id="282" r:id="rId11"/>
    <p:sldId id="289" r:id="rId12"/>
    <p:sldId id="290" r:id="rId13"/>
    <p:sldId id="287" r:id="rId14"/>
    <p:sldId id="286" r:id="rId15"/>
    <p:sldId id="288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4" r:id="rId29"/>
    <p:sldId id="303" r:id="rId30"/>
    <p:sldId id="305" r:id="rId31"/>
    <p:sldId id="306" r:id="rId32"/>
    <p:sldId id="308" r:id="rId33"/>
    <p:sldId id="310" r:id="rId34"/>
    <p:sldId id="311" r:id="rId35"/>
    <p:sldId id="312" r:id="rId36"/>
    <p:sldId id="307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FB"/>
    <a:srgbClr val="EC7016"/>
    <a:srgbClr val="EFD7FD"/>
    <a:srgbClr val="DBA8FA"/>
    <a:srgbClr val="F6E8FE"/>
    <a:srgbClr val="CE87F9"/>
    <a:srgbClr val="C26DF7"/>
    <a:srgbClr val="E8C8FC"/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9" autoAdjust="0"/>
  </p:normalViewPr>
  <p:slideViewPr>
    <p:cSldViewPr snapToGrid="0">
      <p:cViewPr varScale="1">
        <p:scale>
          <a:sx n="102" d="100"/>
          <a:sy n="102" d="100"/>
        </p:scale>
        <p:origin x="96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05/04/2026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05/04/2026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unsplash.com/pt-br/@macphoto?utm_content=creditCopyText&amp;utm_medium=referral&amp;utm_source=unsplash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pt-BR" sz="5400" dirty="0"/>
              <a:t>Desenvolvimento Web Responsivo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rof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Flávio Waltz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F0637C58-910B-422A-A403-595978460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9" y="5084627"/>
            <a:ext cx="1773372" cy="177337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1E69E-30F4-436B-6FD8-42ED9C32C3AE}"/>
              </a:ext>
            </a:extLst>
          </p:cNvPr>
          <p:cNvSpPr txBox="1"/>
          <p:nvPr/>
        </p:nvSpPr>
        <p:spPr>
          <a:xfrm>
            <a:off x="10506077" y="6465586"/>
            <a:ext cx="1685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Foto de </a:t>
            </a:r>
            <a:r>
              <a:rPr lang="pt-BR" sz="11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Mauricio </a:t>
            </a:r>
            <a:r>
              <a:rPr lang="pt-BR" sz="1100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Artieda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FE4CFB-8913-5C30-40CA-C42BA1F96C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53"/>
          <a:stretch/>
        </p:blipFill>
        <p:spPr>
          <a:xfrm>
            <a:off x="7776594" y="0"/>
            <a:ext cx="4415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Desenvolvimento Web Responsivo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Baseado no livro: 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Web Design - A </a:t>
            </a:r>
            <a:r>
              <a:rPr lang="pt-BR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beginner's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HTML, CSS, Javascript </a:t>
            </a:r>
            <a:r>
              <a:rPr lang="pt-BR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pt-BR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Graphics</a:t>
            </a:r>
            <a:r>
              <a:rPr lang="pt-B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</a:t>
            </a:r>
            <a:r>
              <a:rPr lang="pt-B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Jennifer </a:t>
            </a:r>
            <a:r>
              <a:rPr lang="pt-BR" sz="24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Niederst</a:t>
            </a:r>
            <a:r>
              <a:rPr lang="pt-BR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Robbins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72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9792771-B32A-70CE-0737-5C3FAFB5B2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04"/>
          <a:stretch/>
        </p:blipFill>
        <p:spPr>
          <a:xfrm>
            <a:off x="0" y="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 anatomia de uma </a:t>
            </a:r>
            <a:r>
              <a:rPr lang="pt-BR" sz="3600" i="1" dirty="0"/>
              <a:t>web </a:t>
            </a:r>
            <a:r>
              <a:rPr lang="pt-BR" sz="3600" i="1" dirty="0" err="1"/>
              <a:t>page</a:t>
            </a:r>
            <a:endParaRPr lang="pt-BR" sz="3600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página apresentada é composta por diferentes arquivos:</a:t>
            </a:r>
          </a:p>
          <a:p>
            <a:pPr lvl="1">
              <a:lnSpc>
                <a:spcPct val="107000"/>
              </a:lnSpc>
            </a:pPr>
            <a:r>
              <a:rPr lang="pt-BR" sz="2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documento HTML </a:t>
            </a:r>
            <a:r>
              <a:rPr lang="pt-BR" sz="2600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(index.html)</a:t>
            </a:r>
          </a:p>
          <a:p>
            <a:pPr lvl="1">
              <a:lnSpc>
                <a:spcPct val="107000"/>
              </a:lnSpc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documento de estilização </a:t>
            </a:r>
            <a:r>
              <a:rPr lang="pt-BR" sz="26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(kitchen.</a:t>
            </a:r>
            <a:r>
              <a:rPr lang="pt-BR" sz="2600" i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css)</a:t>
            </a:r>
          </a:p>
          <a:p>
            <a:pPr lvl="1">
              <a:lnSpc>
                <a:spcPct val="107000"/>
              </a:lnSpc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Dois gráficos </a:t>
            </a:r>
            <a:r>
              <a:rPr lang="pt-BR" sz="2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(foods.png e spoon.png)</a:t>
            </a:r>
          </a:p>
        </p:txBody>
      </p:sp>
    </p:spTree>
    <p:extLst>
      <p:ext uri="{BB962C8B-B14F-4D97-AF65-F5344CB8AC3E}">
        <p14:creationId xmlns:p14="http://schemas.microsoft.com/office/powerpoint/2010/main" val="242674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 anatomia de uma </a:t>
            </a:r>
            <a:r>
              <a:rPr lang="pt-BR" sz="3600" i="1" dirty="0"/>
              <a:t>web </a:t>
            </a:r>
            <a:r>
              <a:rPr lang="pt-BR" sz="3600" i="1" dirty="0" err="1"/>
              <a:t>page</a:t>
            </a:r>
            <a:endParaRPr lang="pt-BR" sz="3600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Documentos HTML: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arquivo </a:t>
            </a:r>
            <a:r>
              <a:rPr lang="pt-BR" sz="2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index.html, 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chamado de documento fonte (</a:t>
            </a:r>
            <a:r>
              <a:rPr lang="pt-BR" sz="2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 </a:t>
            </a:r>
            <a:r>
              <a:rPr lang="pt-BR" sz="26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</a:t>
            </a:r>
            <a:r>
              <a:rPr lang="pt-BR" sz="2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contém os arquivos de texto e </a:t>
            </a:r>
            <a:r>
              <a:rPr lang="pt-BR" sz="26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tags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(indicadas por </a:t>
            </a:r>
            <a:r>
              <a:rPr lang="pt-B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)especiais que descrevem cada elemento da página.</a:t>
            </a:r>
          </a:p>
        </p:txBody>
      </p:sp>
    </p:spTree>
    <p:extLst>
      <p:ext uri="{BB962C8B-B14F-4D97-AF65-F5344CB8AC3E}">
        <p14:creationId xmlns:p14="http://schemas.microsoft.com/office/powerpoint/2010/main" val="79051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 anatomia de uma </a:t>
            </a:r>
            <a:r>
              <a:rPr lang="pt-BR" sz="3600" i="1" dirty="0"/>
              <a:t>web </a:t>
            </a:r>
            <a:r>
              <a:rPr lang="pt-BR" sz="3600" i="1" dirty="0" err="1"/>
              <a:t>page</a:t>
            </a:r>
            <a:endParaRPr lang="pt-BR" sz="3600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Documentos HTML: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r>
              <a:rPr lang="pt-BR" sz="2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tags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informam ao 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browser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como o texto é estruturado e onde as imagens devem ser posicionadas</a:t>
            </a:r>
            <a:endParaRPr lang="pt-BR" sz="26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49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6F54059-A247-8054-F49F-7185504A1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258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FB19FDE-0CDF-980D-2B54-A7D900F7700A}"/>
              </a:ext>
            </a:extLst>
          </p:cNvPr>
          <p:cNvSpPr txBox="1"/>
          <p:nvPr/>
        </p:nvSpPr>
        <p:spPr>
          <a:xfrm>
            <a:off x="8961120" y="17270"/>
            <a:ext cx="1541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/>
              <a:t>index.html</a:t>
            </a:r>
          </a:p>
        </p:txBody>
      </p:sp>
    </p:spTree>
    <p:extLst>
      <p:ext uri="{BB962C8B-B14F-4D97-AF65-F5344CB8AC3E}">
        <p14:creationId xmlns:p14="http://schemas.microsoft.com/office/powerpoint/2010/main" val="3457675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6F54059-A247-8054-F49F-7185504A1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258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FB19FDE-0CDF-980D-2B54-A7D900F7700A}"/>
              </a:ext>
            </a:extLst>
          </p:cNvPr>
          <p:cNvSpPr txBox="1"/>
          <p:nvPr/>
        </p:nvSpPr>
        <p:spPr>
          <a:xfrm>
            <a:off x="8961120" y="17270"/>
            <a:ext cx="1541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/>
              <a:t>index.html</a:t>
            </a:r>
          </a:p>
        </p:txBody>
      </p:sp>
      <p:cxnSp>
        <p:nvCxnSpPr>
          <p:cNvPr id="5" name="Conector: Angulado 4">
            <a:extLst>
              <a:ext uri="{FF2B5EF4-FFF2-40B4-BE49-F238E27FC236}">
                <a16:creationId xmlns:a16="http://schemas.microsoft.com/office/drawing/2014/main" id="{95E4107B-2AD3-3A34-CC5E-F73761E2190D}"/>
              </a:ext>
            </a:extLst>
          </p:cNvPr>
          <p:cNvCxnSpPr/>
          <p:nvPr/>
        </p:nvCxnSpPr>
        <p:spPr>
          <a:xfrm>
            <a:off x="313509" y="2917371"/>
            <a:ext cx="505097" cy="174172"/>
          </a:xfrm>
          <a:prstGeom prst="bentConnector3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07C79C-FE39-8CFF-5DFC-F3E24EF51586}"/>
              </a:ext>
            </a:extLst>
          </p:cNvPr>
          <p:cNvSpPr txBox="1"/>
          <p:nvPr/>
        </p:nvSpPr>
        <p:spPr>
          <a:xfrm>
            <a:off x="818606" y="2913878"/>
            <a:ext cx="1873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“</a:t>
            </a:r>
            <a:r>
              <a:rPr lang="pt-BR" b="1" dirty="0" err="1">
                <a:solidFill>
                  <a:srgbClr val="FF0000"/>
                </a:solidFill>
              </a:rPr>
              <a:t>Heading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b="1" dirty="0" err="1">
                <a:solidFill>
                  <a:srgbClr val="FF0000"/>
                </a:solidFill>
              </a:rPr>
              <a:t>level</a:t>
            </a:r>
            <a:r>
              <a:rPr lang="pt-BR" b="1" dirty="0">
                <a:solidFill>
                  <a:srgbClr val="FF0000"/>
                </a:solidFill>
              </a:rPr>
              <a:t> 1”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C49818E-E1C6-6947-DB47-78FD9C508663}"/>
              </a:ext>
            </a:extLst>
          </p:cNvPr>
          <p:cNvSpPr txBox="1"/>
          <p:nvPr/>
        </p:nvSpPr>
        <p:spPr>
          <a:xfrm>
            <a:off x="1794062" y="4066056"/>
            <a:ext cx="2683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“Fim de </a:t>
            </a:r>
            <a:r>
              <a:rPr lang="pt-BR" b="1" dirty="0" err="1">
                <a:solidFill>
                  <a:srgbClr val="FF0000"/>
                </a:solidFill>
              </a:rPr>
              <a:t>Emphasized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b="1" dirty="0" err="1">
                <a:solidFill>
                  <a:srgbClr val="FF0000"/>
                </a:solidFill>
              </a:rPr>
              <a:t>text</a:t>
            </a:r>
            <a:r>
              <a:rPr lang="pt-BR" b="1" dirty="0">
                <a:solidFill>
                  <a:srgbClr val="FF0000"/>
                </a:solidFill>
              </a:rPr>
              <a:t>”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2AE7F0D9-89B9-CA7D-C2EF-E4238B0F9DD0}"/>
              </a:ext>
            </a:extLst>
          </p:cNvPr>
          <p:cNvCxnSpPr/>
          <p:nvPr/>
        </p:nvCxnSpPr>
        <p:spPr>
          <a:xfrm>
            <a:off x="1267432" y="4085259"/>
            <a:ext cx="505097" cy="174172"/>
          </a:xfrm>
          <a:prstGeom prst="bentConnector3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0CDBBF7B-E8E7-6DA4-3D26-DCAFD91BE0C5}"/>
              </a:ext>
            </a:extLst>
          </p:cNvPr>
          <p:cNvCxnSpPr>
            <a:cxnSpLocks/>
          </p:cNvCxnSpPr>
          <p:nvPr/>
        </p:nvCxnSpPr>
        <p:spPr>
          <a:xfrm>
            <a:off x="7271657" y="2913878"/>
            <a:ext cx="605246" cy="180215"/>
          </a:xfrm>
          <a:prstGeom prst="bentConnector3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8621B3F-2CE1-CCA8-483A-762C4C28BF43}"/>
              </a:ext>
            </a:extLst>
          </p:cNvPr>
          <p:cNvSpPr txBox="1"/>
          <p:nvPr/>
        </p:nvSpPr>
        <p:spPr>
          <a:xfrm>
            <a:off x="7876903" y="2916428"/>
            <a:ext cx="2591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“Fim de </a:t>
            </a:r>
            <a:r>
              <a:rPr lang="pt-BR" b="1" dirty="0" err="1">
                <a:solidFill>
                  <a:srgbClr val="FF0000"/>
                </a:solidFill>
              </a:rPr>
              <a:t>Heading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b="1" dirty="0" err="1">
                <a:solidFill>
                  <a:srgbClr val="FF0000"/>
                </a:solidFill>
              </a:rPr>
              <a:t>level</a:t>
            </a:r>
            <a:r>
              <a:rPr lang="pt-BR" b="1" dirty="0">
                <a:solidFill>
                  <a:srgbClr val="FF0000"/>
                </a:solidFill>
              </a:rPr>
              <a:t> 1”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41659A53-7B62-9136-9851-08AA069F3775}"/>
              </a:ext>
            </a:extLst>
          </p:cNvPr>
          <p:cNvCxnSpPr/>
          <p:nvPr/>
        </p:nvCxnSpPr>
        <p:spPr>
          <a:xfrm>
            <a:off x="696686" y="5103223"/>
            <a:ext cx="444137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7AC0BF3-14AC-8D10-D62E-94F9F7741275}"/>
              </a:ext>
            </a:extLst>
          </p:cNvPr>
          <p:cNvSpPr txBox="1"/>
          <p:nvPr/>
        </p:nvSpPr>
        <p:spPr>
          <a:xfrm>
            <a:off x="1140823" y="4902941"/>
            <a:ext cx="1850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“Horizontal Rule”</a:t>
            </a:r>
          </a:p>
        </p:txBody>
      </p:sp>
    </p:spTree>
    <p:extLst>
      <p:ext uri="{BB962C8B-B14F-4D97-AF65-F5344CB8AC3E}">
        <p14:creationId xmlns:p14="http://schemas.microsoft.com/office/powerpoint/2010/main" val="185906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6F54059-A247-8054-F49F-7185504A1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258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FB19FDE-0CDF-980D-2B54-A7D900F7700A}"/>
              </a:ext>
            </a:extLst>
          </p:cNvPr>
          <p:cNvSpPr txBox="1"/>
          <p:nvPr/>
        </p:nvSpPr>
        <p:spPr>
          <a:xfrm>
            <a:off x="8961120" y="17270"/>
            <a:ext cx="1541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/>
              <a:t>index.html</a:t>
            </a:r>
          </a:p>
        </p:txBody>
      </p:sp>
      <p:cxnSp>
        <p:nvCxnSpPr>
          <p:cNvPr id="4" name="Conector: Angulado 3">
            <a:extLst>
              <a:ext uri="{FF2B5EF4-FFF2-40B4-BE49-F238E27FC236}">
                <a16:creationId xmlns:a16="http://schemas.microsoft.com/office/drawing/2014/main" id="{77BE8DD6-325F-D138-125A-9BBB762D9C6E}"/>
              </a:ext>
            </a:extLst>
          </p:cNvPr>
          <p:cNvCxnSpPr/>
          <p:nvPr/>
        </p:nvCxnSpPr>
        <p:spPr>
          <a:xfrm>
            <a:off x="1227908" y="2917371"/>
            <a:ext cx="505097" cy="174172"/>
          </a:xfrm>
          <a:prstGeom prst="bentConnector3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7FED52-3838-39A2-A322-6B4A4762B110}"/>
              </a:ext>
            </a:extLst>
          </p:cNvPr>
          <p:cNvSpPr txBox="1"/>
          <p:nvPr/>
        </p:nvSpPr>
        <p:spPr>
          <a:xfrm>
            <a:off x="1733005" y="2913878"/>
            <a:ext cx="1875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Fonte da imagem</a:t>
            </a:r>
          </a:p>
        </p:txBody>
      </p:sp>
    </p:spTree>
    <p:extLst>
      <p:ext uri="{BB962C8B-B14F-4D97-AF65-F5344CB8AC3E}">
        <p14:creationId xmlns:p14="http://schemas.microsoft.com/office/powerpoint/2010/main" val="2861453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E7F6B39-CB28-0309-DBAA-D20F2FA9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176"/>
            <a:ext cx="12192000" cy="547564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FCA246B-D0CE-FD99-A379-28713C37F2FC}"/>
              </a:ext>
            </a:extLst>
          </p:cNvPr>
          <p:cNvSpPr txBox="1"/>
          <p:nvPr/>
        </p:nvSpPr>
        <p:spPr>
          <a:xfrm>
            <a:off x="216131" y="321844"/>
            <a:ext cx="1690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i="1" dirty="0"/>
              <a:t>Kitchen.css</a:t>
            </a:r>
          </a:p>
        </p:txBody>
      </p:sp>
    </p:spTree>
    <p:extLst>
      <p:ext uri="{BB962C8B-B14F-4D97-AF65-F5344CB8AC3E}">
        <p14:creationId xmlns:p14="http://schemas.microsoft.com/office/powerpoint/2010/main" val="56637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 anatomia de uma </a:t>
            </a:r>
            <a:r>
              <a:rPr lang="pt-BR" sz="3600" i="1" dirty="0"/>
              <a:t>web </a:t>
            </a:r>
            <a:r>
              <a:rPr lang="pt-BR" sz="3600" i="1" dirty="0" err="1"/>
              <a:t>page</a:t>
            </a:r>
            <a:endParaRPr lang="pt-BR" sz="3600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Documentos HTML: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Chamamos de “marcar” ou “marcação” 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pt-BR" sz="2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marking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 ato de adicionar </a:t>
            </a:r>
            <a:r>
              <a:rPr lang="pt-BR" sz="2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tags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um documento de texto. Por isso o nome: </a:t>
            </a:r>
            <a:r>
              <a:rPr lang="pt-BR" sz="2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HyperText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Markup </a:t>
            </a:r>
            <a:r>
              <a:rPr lang="pt-BR" sz="2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 HTML</a:t>
            </a:r>
            <a:endParaRPr lang="pt-BR" sz="26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443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 anatomia de uma </a:t>
            </a:r>
            <a:r>
              <a:rPr lang="pt-BR" sz="3600" i="1" dirty="0"/>
              <a:t>web </a:t>
            </a:r>
            <a:r>
              <a:rPr lang="pt-BR" sz="3600" i="1" dirty="0" err="1"/>
              <a:t>page</a:t>
            </a:r>
            <a:endParaRPr lang="pt-BR" sz="3600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Documentos HTML: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Todos os demais elementos que vimos (imagens 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.png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2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sheets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.</a:t>
            </a:r>
            <a:r>
              <a:rPr lang="pt-BR" sz="2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css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arquivos </a:t>
            </a:r>
            <a:r>
              <a:rPr lang="pt-BR" sz="26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pt-BR" sz="2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áudio ou vídeos) são solicitados ao server pelo navegador</a:t>
            </a:r>
            <a:endParaRPr lang="pt-BR" sz="26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659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Variedade de dispositivos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partir da introdução de dispositivos móveis, especialmente com o iPhone e Android (aprox. 2007), sites passaram a ter diferentes variações em largura, browsers e dispositivos (TVs, Videogames e outros).</a:t>
            </a:r>
            <a:endParaRPr lang="pt-BR" sz="26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330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Variedade de dispositivos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grande diferença, além das dimensões das telas, é a velocidade da conexão de internet.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Dispositivos móveis, atualmente, são a principal fonte de acesso à rede. Para muitas pessoas, é a única fonte.</a:t>
            </a:r>
          </a:p>
        </p:txBody>
      </p:sp>
    </p:spTree>
    <p:extLst>
      <p:ext uri="{BB962C8B-B14F-4D97-AF65-F5344CB8AC3E}">
        <p14:creationId xmlns:p14="http://schemas.microsoft.com/office/powerpoint/2010/main" val="3696487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Variedade de dispositivos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recomendação, então, é se basear nos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padrões documentados pela W3C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99% dos navegadores em uso atualmente segue este padrão.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6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Documentação: </a:t>
            </a:r>
            <a:r>
              <a:rPr lang="pt-BR" sz="2600" b="0" i="1" u="none" strike="noStrike" baseline="0" dirty="0">
                <a:solidFill>
                  <a:srgbClr val="009BC8"/>
                </a:solidFill>
                <a:latin typeface="SourceSansPro-It"/>
              </a:rPr>
              <a:t>w3.org/standards</a:t>
            </a:r>
            <a:endParaRPr lang="pt-BR" sz="2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222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Variedade de dispositivos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aprimoramento progressivo 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uma estratégia para lidar com recursos desconhecidos do navegador.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“Ao projetar com </a:t>
            </a:r>
            <a:r>
              <a:rPr lang="pt-B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aprimoramento progressivo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você começa com uma experiência básica que torna o conteúdo ou a funcionalidade principal disponível até mesmo para os navegadores ou dispositivos mais rudimentares. A partir daí, você adiciona recursos mais avançados para os navegadores que podem lidar com eles.”</a:t>
            </a:r>
          </a:p>
        </p:txBody>
      </p:sp>
    </p:spTree>
    <p:extLst>
      <p:ext uri="{BB962C8B-B14F-4D97-AF65-F5344CB8AC3E}">
        <p14:creationId xmlns:p14="http://schemas.microsoft.com/office/powerpoint/2010/main" val="2290555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Aprimoramento Progressivo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Estratégia de autoria</a:t>
            </a:r>
          </a:p>
          <a:p>
            <a:pPr lvl="1">
              <a:lnSpc>
                <a:spcPct val="107000"/>
              </a:lnSpc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um documento HTML é </a:t>
            </a:r>
            <a:r>
              <a:rPr lang="pt-B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escrito em ordem lógica e seus elementos são marcados de forma significativa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ele pode ser usado na mais ampla gama de ambientes de navegação, incluindo os navegadores mais antigos, navegadores futuros e dispositivos móveis.</a:t>
            </a:r>
          </a:p>
          <a:p>
            <a:pPr lvl="1">
              <a:lnSpc>
                <a:spcPct val="107000"/>
              </a:lnSpc>
            </a:pPr>
            <a:r>
              <a:rPr lang="pt-BR" sz="2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Search </a:t>
            </a:r>
            <a:r>
              <a:rPr lang="pt-BR" sz="26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engines</a:t>
            </a:r>
            <a:r>
              <a:rPr lang="pt-BR" sz="2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(motores/ferramentas de busca) como o Google se beneficiam da precisão nas marcações.</a:t>
            </a:r>
            <a:endParaRPr lang="pt-B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54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Aprimoramento Progressivo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Estratégia de estilização</a:t>
            </a:r>
          </a:p>
          <a:p>
            <a:pPr lvl="1">
              <a:lnSpc>
                <a:spcPct val="107000"/>
              </a:lnSpc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escrever uma regra de estilo que torna o fundo de um elemento vermelho, mas também incluir um estilo que dá a ele um gradiente (uma mistura de uma cor para outra) </a:t>
            </a:r>
            <a:r>
              <a:rPr lang="pt-B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navegadores que sabem como renderizar gradientes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Ou você pode usar um seletor CSS de ponta para entregar certos estilos apenas para navegadores de ponta.</a:t>
            </a:r>
          </a:p>
        </p:txBody>
      </p:sp>
    </p:spTree>
    <p:extLst>
      <p:ext uri="{BB962C8B-B14F-4D97-AF65-F5344CB8AC3E}">
        <p14:creationId xmlns:p14="http://schemas.microsoft.com/office/powerpoint/2010/main" val="785920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Aprimoramento Progressivo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Estratégia de </a:t>
            </a:r>
            <a:r>
              <a:rPr lang="pt-BR" sz="2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Scripting</a:t>
            </a:r>
            <a:endParaRPr lang="pt-BR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primeira regra no aprimoramento progressivo é </a:t>
            </a:r>
            <a:r>
              <a:rPr lang="pt-B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garantir que a funcionalidade básica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como vincular de página para página ou realizar tarefas essenciais como envio de dados por meio de formulários — </a:t>
            </a:r>
            <a:r>
              <a:rPr lang="pt-B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esteja intacta mesmo quando o </a:t>
            </a:r>
            <a:r>
              <a:rPr lang="pt-BR" sz="26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pt-B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estiver desativado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Dessa forma, você garante a experiência básica e a aprimora quando o </a:t>
            </a:r>
            <a:r>
              <a:rPr lang="pt-BR" sz="2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pt-BR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estiver disponível.</a:t>
            </a:r>
          </a:p>
        </p:txBody>
      </p:sp>
    </p:spTree>
    <p:extLst>
      <p:ext uri="{BB962C8B-B14F-4D97-AF65-F5344CB8AC3E}">
        <p14:creationId xmlns:p14="http://schemas.microsoft.com/office/powerpoint/2010/main" val="130427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Web Design responsivo (RWD)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padrão, a maioria dos navegadores em dispositivos pequenos, como smartphones e tablets,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encolhem uma página da web para caber na tela e fornecem mecanismos para ampliar e mover pela página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Embora funcione tecnicamente,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é uma ótima experiência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6925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Web Design responsivo (RWD)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chave para o Web Design Responsivo é disponibilizar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único documento HTML (com uma URL) para todos os dispositivos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mas aplicar diferentes estilos (CSS) com base no tamanho da tela para fornecer o </a:t>
            </a:r>
            <a:r>
              <a:rPr lang="pt-BR" sz="26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layout 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mais otimizado para aquele dispositivo.</a:t>
            </a:r>
          </a:p>
        </p:txBody>
      </p:sp>
    </p:spTree>
    <p:extLst>
      <p:ext uri="{BB962C8B-B14F-4D97-AF65-F5344CB8AC3E}">
        <p14:creationId xmlns:p14="http://schemas.microsoft.com/office/powerpoint/2010/main" val="1317158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Web Design responsivo (RWD)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exemplo, quando a página é visualizada em um smartphone, ela aparece em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coluna com links grandes para fácil toque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Mas quando a mesma página é visualizada em um navegador de desktop grande, o conteúdo é reorganizado em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várias colunas com elementos de navegação tradicionais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1671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43B3602-C766-0836-C265-6E4C1C7D6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1"/>
            <a:ext cx="12192000" cy="685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27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A85E1EFD-25F4-1BCD-8AB8-BD85B075E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E3155A7-4B81-8501-A1AA-5B87493CE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196" y="1123774"/>
            <a:ext cx="8203803" cy="4610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D992EDD9-51D1-44DF-D7BA-474F72B01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16141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3055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Web Design responsivo (RWD)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alguns sites e serviços, pode ser preferível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criar um site móvel separado 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(diferente URL)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uma interface personalizada e um conjunto de recursos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aproveite os recursos do telefone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como geolocalização.</a:t>
            </a:r>
          </a:p>
        </p:txBody>
      </p:sp>
    </p:spTree>
    <p:extLst>
      <p:ext uri="{BB962C8B-B14F-4D97-AF65-F5344CB8AC3E}">
        <p14:creationId xmlns:p14="http://schemas.microsoft.com/office/powerpoint/2010/main" val="3466103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Web Design responsivo (RWD)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Vocês podem encontrar o nome “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M-dot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sites” para se referir a sites desenvolvidos para dispositivos móveis (porque geralmente sua URL começa com ‘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m.’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‘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mobile.’</a:t>
            </a:r>
            <a:r>
              <a:rPr lang="pt-BR" sz="2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site dedicado para dispositivos móveis pode ser a melhor solução se você sabe que seus usuários móveis têm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padrões de uso diferentes 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daqueles que estão sentados em uma mesa.</a:t>
            </a:r>
          </a:p>
        </p:txBody>
      </p:sp>
    </p:spTree>
    <p:extLst>
      <p:ext uri="{BB962C8B-B14F-4D97-AF65-F5344CB8AC3E}">
        <p14:creationId xmlns:p14="http://schemas.microsoft.com/office/powerpoint/2010/main" val="3556481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Acessibilidade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essencial ter em mente que as pessoas acessam a web de muitas maneiras diferentes — com um teclado, mouse, comandos de voz, leitores de tela, saída Braille, lupas, joysticks, pedais e assim por diante. </a:t>
            </a:r>
          </a:p>
        </p:txBody>
      </p:sp>
    </p:spTree>
    <p:extLst>
      <p:ext uri="{BB962C8B-B14F-4D97-AF65-F5344CB8AC3E}">
        <p14:creationId xmlns:p14="http://schemas.microsoft.com/office/powerpoint/2010/main" val="411166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Acessibilidade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web designers devem criar páginas de uma maneira que crie o mínimo possível de barreiras para obter informações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independentemente da capacidade do usuário e do dispositivo usado para acessar a web. Em outras palavras, você deve projetar para acessibilidade.</a:t>
            </a:r>
          </a:p>
        </p:txBody>
      </p:sp>
    </p:spTree>
    <p:extLst>
      <p:ext uri="{BB962C8B-B14F-4D97-AF65-F5344CB8AC3E}">
        <p14:creationId xmlns:p14="http://schemas.microsoft.com/office/powerpoint/2010/main" val="2371711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Acessibilidade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Sites acessíveis também são indexados de forma mais eficaz por mecanismos de busca como o Google.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6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Documentação para a Web 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Acessbility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Initiative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(WAI): </a:t>
            </a:r>
            <a:r>
              <a:rPr lang="pt-BR" sz="2600" b="0" i="1" u="none" strike="noStrike" baseline="0" dirty="0">
                <a:solidFill>
                  <a:srgbClr val="009BC8"/>
                </a:solidFill>
                <a:latin typeface="SourceSansPro-It"/>
              </a:rPr>
              <a:t>www.w3.org/WAI</a:t>
            </a:r>
            <a:endParaRPr lang="pt-BR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597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Acessibilidade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Existem quatro grandes categorias de deficiências que afetam a maneira como as pessoas interagem com seus computadores e as informações neles contidas:</a:t>
            </a:r>
          </a:p>
          <a:p>
            <a:pPr lvl="1">
              <a:lnSpc>
                <a:spcPct val="107000"/>
              </a:lnSpc>
            </a:pPr>
            <a:r>
              <a:rPr lang="pt-BR" sz="2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Deficiência visual</a:t>
            </a:r>
            <a:r>
              <a:rPr lang="pt-BR" sz="2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leitor de tela, display Braille ou uma lupa de tela para obter conteúdo da tela</a:t>
            </a:r>
            <a:endParaRPr lang="pt-BR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647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D5A18DC-7A3E-9680-0823-3279415F72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E6AA601-EBFF-61A0-B82D-4384E8518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854" y="0"/>
            <a:ext cx="64402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65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Acessibilidade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Existem quatro grandes categorias de deficiências que afetam a maneira como as pessoas interagem com seus computadores e as informações neles contidas:</a:t>
            </a:r>
          </a:p>
          <a:p>
            <a:pPr lvl="1">
              <a:lnSpc>
                <a:spcPct val="107000"/>
              </a:lnSpc>
            </a:pPr>
            <a:r>
              <a:rPr lang="pt-BR" sz="2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Deficiência motora</a:t>
            </a:r>
            <a:r>
              <a:rPr lang="pt-BR" sz="2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mouses e teclados modificados, pedais, comandos de voz ou joysticks</a:t>
            </a:r>
            <a:endParaRPr lang="pt-BR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380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D5A18DC-7A3E-9680-0823-3279415F72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D834F29-7F6C-104E-AF00-D205C470A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0"/>
            <a:ext cx="10067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186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Acessibilidade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Existem quatro grandes categorias de deficiências que afetam a maneira como as pessoas interagem com seus computadores e as informações neles contidas:</a:t>
            </a:r>
          </a:p>
          <a:p>
            <a:pPr lvl="1">
              <a:lnSpc>
                <a:spcPct val="107000"/>
              </a:lnSpc>
            </a:pPr>
            <a:r>
              <a:rPr lang="pt-BR" sz="2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Deficiência auditiva</a:t>
            </a:r>
            <a:r>
              <a:rPr lang="pt-BR" sz="2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transcrições para faixas de áudio ou legendas para vídeo</a:t>
            </a:r>
            <a:endParaRPr lang="pt-BR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667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Acessibilidade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Existem quatro grandes categorias de deficiências que afetam a maneira como as pessoas interagem com seus computadores e as informações neles contidas:</a:t>
            </a:r>
          </a:p>
          <a:p>
            <a:pPr lvl="1">
              <a:lnSpc>
                <a:spcPct val="107000"/>
              </a:lnSpc>
            </a:pPr>
            <a:r>
              <a:rPr lang="pt-BR" sz="2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Deficiência cognitiva</a:t>
            </a:r>
            <a:r>
              <a:rPr lang="pt-BR" sz="2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limitações de memória, compreensão de leitura, resolução de problemas e atenção.</a:t>
            </a:r>
          </a:p>
          <a:p>
            <a:pPr lvl="1">
              <a:lnSpc>
                <a:spcPct val="107000"/>
              </a:lnSpc>
            </a:pPr>
            <a:r>
              <a:rPr lang="pt-BR" sz="2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Sites devem ser projetados de forma simples e clara (qualidades úteis para qualquer pessoa que use o site)</a:t>
            </a:r>
            <a:endParaRPr lang="pt-BR" sz="2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078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Performance de web 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porcentagem de pessoas que usam celulares para acessar a web está aumentando drasticamente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e para alguns setores, como mídia social e pesquisa, o uso de dispositivos móveis já ultrapassou o uso de desktops.</a:t>
            </a:r>
          </a:p>
        </p:txBody>
      </p:sp>
    </p:spTree>
    <p:extLst>
      <p:ext uri="{BB962C8B-B14F-4D97-AF65-F5344CB8AC3E}">
        <p14:creationId xmlns:p14="http://schemas.microsoft.com/office/powerpoint/2010/main" val="3218333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Performance de web 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Amazon.com mostrou que a redução do tempo de carregamento da página em apenas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 </a:t>
            </a:r>
            <a:r>
              <a:rPr lang="pt-BR" sz="2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ms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resultou em um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aumento de 1% na receita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Receita da 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em 2021: US$ 469,822 bilhões</a:t>
            </a:r>
          </a:p>
        </p:txBody>
      </p:sp>
    </p:spTree>
    <p:extLst>
      <p:ext uri="{BB962C8B-B14F-4D97-AF65-F5344CB8AC3E}">
        <p14:creationId xmlns:p14="http://schemas.microsoft.com/office/powerpoint/2010/main" val="40328271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Performance de web 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Outros estudos mostram que os usuários esperam que um site carregue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menos de 2 segundos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 quase um terço do seu público deixará seu site para ir para outro se isso não acontecer.</a:t>
            </a:r>
          </a:p>
        </p:txBody>
      </p:sp>
    </p:spTree>
    <p:extLst>
      <p:ext uri="{BB962C8B-B14F-4D97-AF65-F5344CB8AC3E}">
        <p14:creationId xmlns:p14="http://schemas.microsoft.com/office/powerpoint/2010/main" val="39497968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Performance de web 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Google adicionou a velocidade do site ao seu algoritmo de busca, então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o seu site for lento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improvável que ele apareça na primeira tela de resultados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desempenho do site (até o milissegundo) importa muito.</a:t>
            </a:r>
          </a:p>
        </p:txBody>
      </p:sp>
    </p:spTree>
    <p:extLst>
      <p:ext uri="{BB962C8B-B14F-4D97-AF65-F5344CB8AC3E}">
        <p14:creationId xmlns:p14="http://schemas.microsoft.com/office/powerpoint/2010/main" val="2973433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Performance de web 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melhorar a performance de web sites:</a:t>
            </a:r>
          </a:p>
          <a:p>
            <a:pPr lvl="1">
              <a:lnSpc>
                <a:spcPct val="107000"/>
              </a:lnSpc>
            </a:pPr>
            <a:r>
              <a:rPr lang="pt-BR" sz="2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Limitar o tamanho de arquivos</a:t>
            </a:r>
          </a:p>
          <a:p>
            <a:pPr lvl="1">
              <a:lnSpc>
                <a:spcPct val="107000"/>
              </a:lnSpc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Reduzir o número de requisições ao servidor</a:t>
            </a:r>
          </a:p>
        </p:txBody>
      </p:sp>
    </p:spTree>
    <p:extLst>
      <p:ext uri="{BB962C8B-B14F-4D97-AF65-F5344CB8AC3E}">
        <p14:creationId xmlns:p14="http://schemas.microsoft.com/office/powerpoint/2010/main" val="30816709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Performance de web 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Otimize as imagens para que tenham o menor tamanho de arquivo possível sem sacrificar a qualidade.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Simplifique a marcação HTML, evitando níveis desnecessários de elementos aninhados.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Minimize os documentos HTML e CSS removendo espaços extras de caracteres e retornos de linha.</a:t>
            </a:r>
          </a:p>
        </p:txBody>
      </p:sp>
    </p:spTree>
    <p:extLst>
      <p:ext uri="{BB962C8B-B14F-4D97-AF65-F5344CB8AC3E}">
        <p14:creationId xmlns:p14="http://schemas.microsoft.com/office/powerpoint/2010/main" val="3852349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Performance de web sites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Mantenha o 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mínimo.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Adicione scripts de forma que eles carreguem em paralelo com outros ativos da página e não bloqueiem a renderização.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Não carregue ativos desnecessários (como imagens, scripts ou bibliotecas 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Reduza o número de vezes que o navegador faz solicitações ao servidor (conhecidas como solicitações HTTP).</a:t>
            </a:r>
          </a:p>
        </p:txBody>
      </p:sp>
    </p:spTree>
    <p:extLst>
      <p:ext uri="{BB962C8B-B14F-4D97-AF65-F5344CB8AC3E}">
        <p14:creationId xmlns:p14="http://schemas.microsoft.com/office/powerpoint/2010/main" val="1435373939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D2F52BDCB944C891BB0D3DB5B4689" ma:contentTypeVersion="3" ma:contentTypeDescription="Create a new document." ma:contentTypeScope="" ma:versionID="ffef1dbc39b52dbe3fbb7262bc81aa9d">
  <xsd:schema xmlns:xsd="http://www.w3.org/2001/XMLSchema" xmlns:xs="http://www.w3.org/2001/XMLSchema" xmlns:p="http://schemas.microsoft.com/office/2006/metadata/properties" xmlns:ns2="45266506-7c7c-49c5-a640-a9bbfd1bea9a" targetNamespace="http://schemas.microsoft.com/office/2006/metadata/properties" ma:root="true" ma:fieldsID="6a31eb5fc835b1abe042e2a09ad2ada0" ns2:_="">
    <xsd:import namespace="45266506-7c7c-49c5-a640-a9bbfd1be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66506-7c7c-49c5-a640-a9bbfd1be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AA1E6B4-1152-45F5-BDCA-8DD04D0AABB6}"/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911</TotalTime>
  <Words>1545</Words>
  <Application>Microsoft Office PowerPoint</Application>
  <PresentationFormat>Widescreen</PresentationFormat>
  <Paragraphs>140</Paragraphs>
  <Slides>42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3" baseType="lpstr">
      <vt:lpstr>1_RetrospectVTI</vt:lpstr>
      <vt:lpstr>Desenvolvimento Web Responsivo</vt:lpstr>
      <vt:lpstr>Desenvolvimento Web Responsivo</vt:lpstr>
      <vt:lpstr>Apresentação do PowerPoint</vt:lpstr>
      <vt:lpstr>A anatomia de uma web page</vt:lpstr>
      <vt:lpstr>A anatomia de uma web page</vt:lpstr>
      <vt:lpstr>A anatomia de uma web page</vt:lpstr>
      <vt:lpstr>Apresentação do PowerPoint</vt:lpstr>
      <vt:lpstr>Apresentação do PowerPoint</vt:lpstr>
      <vt:lpstr>Apresentação do PowerPoint</vt:lpstr>
      <vt:lpstr>Apresentação do PowerPoint</vt:lpstr>
      <vt:lpstr>A anatomia de uma web page</vt:lpstr>
      <vt:lpstr>A anatomia de uma web page</vt:lpstr>
      <vt:lpstr>Variedade de dispositivos</vt:lpstr>
      <vt:lpstr>Variedade de dispositivos</vt:lpstr>
      <vt:lpstr>Variedade de dispositivos</vt:lpstr>
      <vt:lpstr>Variedade de dispositivos</vt:lpstr>
      <vt:lpstr>Aprimoramento Progressivo</vt:lpstr>
      <vt:lpstr>Aprimoramento Progressivo</vt:lpstr>
      <vt:lpstr>Aprimoramento Progressivo</vt:lpstr>
      <vt:lpstr>Web Design responsivo (RWD)</vt:lpstr>
      <vt:lpstr>Web Design responsivo (RWD)</vt:lpstr>
      <vt:lpstr>Web Design responsivo (RWD)</vt:lpstr>
      <vt:lpstr>Apresentação do PowerPoint</vt:lpstr>
      <vt:lpstr>Apresentação do PowerPoint</vt:lpstr>
      <vt:lpstr>Web Design responsivo (RWD)</vt:lpstr>
      <vt:lpstr>Web Design responsivo (RWD)</vt:lpstr>
      <vt:lpstr>Acessibilidade</vt:lpstr>
      <vt:lpstr>Acessibilidade</vt:lpstr>
      <vt:lpstr>Acessibilidade</vt:lpstr>
      <vt:lpstr>Acessibilidade</vt:lpstr>
      <vt:lpstr>Apresentação do PowerPoint</vt:lpstr>
      <vt:lpstr>Acessibilidade</vt:lpstr>
      <vt:lpstr>Apresentação do PowerPoint</vt:lpstr>
      <vt:lpstr>Acessibilidade</vt:lpstr>
      <vt:lpstr>Acessibilidade</vt:lpstr>
      <vt:lpstr>Performance de web sites</vt:lpstr>
      <vt:lpstr>Performance de web sites</vt:lpstr>
      <vt:lpstr>Performance de web sites</vt:lpstr>
      <vt:lpstr>Performance de web sites</vt:lpstr>
      <vt:lpstr>Performance de web sites</vt:lpstr>
      <vt:lpstr>Performance de web sites</vt:lpstr>
      <vt:lpstr>Performance de web sites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Manuais e Ilustrações Técnico Científicas</dc:title>
  <dc:creator>Flávio Waltz</dc:creator>
  <cp:lastModifiedBy>Flávio Waltz</cp:lastModifiedBy>
  <cp:revision>85</cp:revision>
  <dcterms:created xsi:type="dcterms:W3CDTF">2022-08-10T14:03:41Z</dcterms:created>
  <dcterms:modified xsi:type="dcterms:W3CDTF">2026-04-05T14:09:34Z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0x0101002BED2F52BDCB944C891BB0D3DB5B4689</vt:lpwstr>
  </property>
</Properties>
</file>