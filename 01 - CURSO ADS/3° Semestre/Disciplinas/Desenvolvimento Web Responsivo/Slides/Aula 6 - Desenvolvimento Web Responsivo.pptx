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1"/>
  </p:notesMasterIdLst>
  <p:handoutMasterIdLst>
    <p:handoutMasterId r:id="rId42"/>
  </p:handoutMasterIdLst>
  <p:sldIdLst>
    <p:sldId id="268" r:id="rId5"/>
    <p:sldId id="269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10" r:id="rId15"/>
    <p:sldId id="309" r:id="rId16"/>
    <p:sldId id="311" r:id="rId17"/>
    <p:sldId id="313" r:id="rId18"/>
    <p:sldId id="312" r:id="rId19"/>
    <p:sldId id="314" r:id="rId20"/>
    <p:sldId id="315" r:id="rId21"/>
    <p:sldId id="316" r:id="rId22"/>
    <p:sldId id="317" r:id="rId23"/>
    <p:sldId id="318" r:id="rId24"/>
    <p:sldId id="335" r:id="rId25"/>
    <p:sldId id="336" r:id="rId26"/>
    <p:sldId id="337" r:id="rId27"/>
    <p:sldId id="322" r:id="rId28"/>
    <p:sldId id="323" r:id="rId29"/>
    <p:sldId id="324" r:id="rId30"/>
    <p:sldId id="326" r:id="rId31"/>
    <p:sldId id="325" r:id="rId32"/>
    <p:sldId id="327" r:id="rId33"/>
    <p:sldId id="329" r:id="rId34"/>
    <p:sldId id="328" r:id="rId35"/>
    <p:sldId id="330" r:id="rId36"/>
    <p:sldId id="331" r:id="rId37"/>
    <p:sldId id="332" r:id="rId38"/>
    <p:sldId id="333" r:id="rId39"/>
    <p:sldId id="334" r:id="rId40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00"/>
    <a:srgbClr val="BCDFB3"/>
    <a:srgbClr val="FFFF80"/>
    <a:srgbClr val="74992E"/>
    <a:srgbClr val="FFFFFF"/>
    <a:srgbClr val="FBFBFB"/>
    <a:srgbClr val="EC7016"/>
    <a:srgbClr val="EFD7FD"/>
    <a:srgbClr val="DBA8FA"/>
    <a:srgbClr val="F6E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619" autoAdjust="0"/>
  </p:normalViewPr>
  <p:slideViewPr>
    <p:cSldViewPr snapToGrid="0">
      <p:cViewPr varScale="1">
        <p:scale>
          <a:sx n="107" d="100"/>
          <a:sy n="107" d="100"/>
        </p:scale>
        <p:origin x="6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05/05/2026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05/05/2026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05/05/2026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05/05/2026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05/05/2026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05/05/2026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05/05/2026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05/05/2026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05/05/2026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05/05/2026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05/05/2026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05/05/2026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unsplash.com/pt-br/@macphoto?utm_content=creditCopyText&amp;utm_medium=referral&amp;utm_source=unsplash" TargetMode="Externa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pt-BR" sz="5400" dirty="0"/>
              <a:t>Desenvolvimento Web Responsivo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rof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Flávio Waltz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F0637C58-910B-422A-A403-595978460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9" y="5084627"/>
            <a:ext cx="1773372" cy="177337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A1E69E-30F4-436B-6FD8-42ED9C32C3AE}"/>
              </a:ext>
            </a:extLst>
          </p:cNvPr>
          <p:cNvSpPr txBox="1"/>
          <p:nvPr/>
        </p:nvSpPr>
        <p:spPr>
          <a:xfrm>
            <a:off x="10506077" y="6465586"/>
            <a:ext cx="16859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Foto de </a:t>
            </a:r>
            <a:r>
              <a:rPr lang="pt-BR" sz="11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Mauricio </a:t>
            </a:r>
            <a:r>
              <a:rPr lang="pt-BR" sz="1100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Artieda</a:t>
            </a:r>
            <a:endParaRPr lang="pt-BR" sz="1100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2FE4CFB-8913-5C30-40CA-C42BA1F96C4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753"/>
          <a:stretch/>
        </p:blipFill>
        <p:spPr>
          <a:xfrm>
            <a:off x="7776594" y="0"/>
            <a:ext cx="4415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Desenvolvimento de software para internet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Baseado no livro: 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Web Design - A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beginner's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HTML, CSS, Javascript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Graphics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por 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Jennifer </a:t>
            </a:r>
            <a:r>
              <a:rPr lang="pt-BR" sz="2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Niederst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Robbins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72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84DC87C-8521-31D7-A571-CB8560E14C58}"/>
              </a:ext>
            </a:extLst>
          </p:cNvPr>
          <p:cNvSpPr/>
          <p:nvPr/>
        </p:nvSpPr>
        <p:spPr>
          <a:xfrm>
            <a:off x="0" y="0"/>
            <a:ext cx="12192000" cy="457835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62C9655-A76F-8472-C04D-4029123A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Responsividade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C1DC06-AC88-6F5D-5FED-A240F4A74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" name="Imagem 9" descr="Interface gráfica do usuário&#10;&#10;Descrição gerada automaticamente">
            <a:extLst>
              <a:ext uri="{FF2B5EF4-FFF2-40B4-BE49-F238E27FC236}">
                <a16:creationId xmlns:a16="http://schemas.microsoft.com/office/drawing/2014/main" id="{40CAD29C-3AB8-61F4-9254-3DA37C3BE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446" y="50074"/>
            <a:ext cx="6003108" cy="450233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FF6C9D5-B3E8-85E5-8717-202810195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343" y="3898518"/>
            <a:ext cx="2235200" cy="65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19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CSS </a:t>
            </a:r>
            <a:r>
              <a:rPr lang="pt-BR" sz="3600" dirty="0" err="1"/>
              <a:t>Flexible</a:t>
            </a:r>
            <a:r>
              <a:rPr lang="pt-BR" sz="3600" dirty="0"/>
              <a:t> Box Layout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 simplesmente </a:t>
            </a:r>
            <a:r>
              <a:rPr lang="pt-BR" sz="40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Flexbox</a:t>
            </a:r>
            <a:endParaRPr lang="pt-BR" sz="4000" b="1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4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Permite que elementos estiquem ou encolham dentro de containers, prevenindo desperdício de espaço ou sobreposições</a:t>
            </a:r>
            <a:endParaRPr lang="pt-B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804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dirty="0" err="1"/>
              <a:t>Flexbox</a:t>
            </a:r>
            <a:endParaRPr lang="pt-BR" sz="54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Vimos o layout em </a:t>
            </a:r>
            <a:r>
              <a:rPr lang="pt-BR" sz="4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blocos</a:t>
            </a:r>
            <a:r>
              <a:rPr lang="pt-BR" sz="4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4000" b="1" i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inline</a:t>
            </a:r>
            <a:r>
              <a:rPr lang="pt-BR" sz="4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(em linha).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4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Flexbox</a:t>
            </a: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outro modo de layout, com seus comportamentos próprios.</a:t>
            </a:r>
          </a:p>
          <a:p>
            <a:pPr marL="0" indent="0">
              <a:lnSpc>
                <a:spcPct val="107000"/>
              </a:lnSpc>
              <a:buNone/>
            </a:pPr>
            <a:endParaRPr lang="pt-BR" sz="4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fácil aplicá-lo a um elemento:</a:t>
            </a:r>
            <a:endParaRPr lang="pt-B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98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98D2B87A-E99E-CDAF-A0D4-27622A1AA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7911" cy="618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03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7C87946-4535-66F7-5D2D-D05D3CF98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549" y="2390630"/>
            <a:ext cx="4486901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052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pt-BR" sz="54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ookman Old Style" panose="020F0302020204030204"/>
                <a:ea typeface="+mj-ea"/>
                <a:cs typeface="+mj-cs"/>
              </a:rPr>
              <a:t>Flexbox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padrão, elementos </a:t>
            </a:r>
            <a:r>
              <a:rPr lang="pt-BR" sz="4000" b="1" i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</a:t>
            </a:r>
            <a:r>
              <a:rPr lang="pt-BR" sz="4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aparecem como elementos de bloco, empilhando verticalmente.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Ligando o modo </a:t>
            </a:r>
            <a:r>
              <a:rPr lang="pt-BR" sz="4000" b="1" i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Flexbox</a:t>
            </a:r>
            <a:r>
              <a:rPr lang="pt-BR" sz="4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faz com que os elementos filhos se alinhem em um eixo</a:t>
            </a:r>
            <a:endParaRPr lang="pt-BR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706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9251554-C7B8-C172-6734-417DA4893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839" y="0"/>
            <a:ext cx="3734321" cy="387721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81692C1-B185-2A8B-7789-7B170FA12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3966"/>
            <a:ext cx="12192000" cy="297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69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pt-BR" sz="54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ookman Old Style" panose="020F0302020204030204"/>
                <a:ea typeface="+mj-ea"/>
                <a:cs typeface="+mj-cs"/>
              </a:rPr>
              <a:t>Flexbox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Algumas propriedades podem ser definidas em um Flex container, como o </a:t>
            </a:r>
            <a:r>
              <a:rPr lang="pt-BR" sz="38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</a:t>
            </a:r>
            <a:r>
              <a:rPr lang="pt-BR" sz="3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que</a:t>
            </a:r>
            <a:r>
              <a:rPr lang="pt-BR" sz="38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a direção de apresentação dos itens através da propriedade </a:t>
            </a:r>
            <a:r>
              <a:rPr lang="pt-BR" sz="38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flex-direction</a:t>
            </a:r>
            <a:r>
              <a:rPr lang="pt-BR" sz="3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3126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39BE30F-E9B4-39D5-26C5-CAAACBC10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75" y="0"/>
            <a:ext cx="964744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68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pt-BR" sz="54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ookman Old Style" panose="020F0302020204030204"/>
                <a:ea typeface="+mj-ea"/>
                <a:cs typeface="+mj-cs"/>
              </a:rPr>
              <a:t>Flexbox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Outra propriedade possível é a </a:t>
            </a:r>
            <a:r>
              <a:rPr lang="pt-BR" sz="40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</a:t>
            </a:r>
            <a:r>
              <a:rPr lang="pt-BR" sz="40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-wrap</a:t>
            </a: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que define como os itens irão se organizar em linhas ou colunas</a:t>
            </a:r>
            <a:endParaRPr lang="pt-BR" sz="3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304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9B04AD1-784F-BD74-1D57-9A87B89E1D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D1779F7-E134-2C04-1068-D8CC454B0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53" y="0"/>
            <a:ext cx="10785294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65EDB04-FE0B-3626-4E0C-237B39D1802D}"/>
              </a:ext>
            </a:extLst>
          </p:cNvPr>
          <p:cNvSpPr/>
          <p:nvPr/>
        </p:nvSpPr>
        <p:spPr>
          <a:xfrm>
            <a:off x="5392646" y="3809999"/>
            <a:ext cx="6418353" cy="23770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7A22DA1-31BF-04E3-49CD-66D54EDCA29E}"/>
              </a:ext>
            </a:extLst>
          </p:cNvPr>
          <p:cNvSpPr txBox="1"/>
          <p:nvPr/>
        </p:nvSpPr>
        <p:spPr>
          <a:xfrm>
            <a:off x="6289273" y="3809999"/>
            <a:ext cx="609322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.container {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    display: </a:t>
            </a:r>
            <a:r>
              <a:rPr lang="pt-BR" sz="3200" b="1" dirty="0" err="1">
                <a:solidFill>
                  <a:srgbClr val="000000"/>
                </a:solidFill>
                <a:latin typeface="TheSansMonoCd-W4SemiLight"/>
              </a:rPr>
              <a:t>flex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flex-direction</a:t>
            </a:r>
            <a:r>
              <a:rPr lang="pt-BR" sz="3200" b="1" i="0" u="none" strike="noStrike" baseline="0" dirty="0">
                <a:solidFill>
                  <a:srgbClr val="0070C0"/>
                </a:solidFill>
                <a:latin typeface="TheSansMonoCd-W4SemiLight"/>
              </a:rPr>
              <a:t>: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row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flex</a:t>
            </a:r>
            <a:r>
              <a:rPr lang="pt-BR" sz="3200" b="1" i="0" u="none" strike="noStrike" baseline="0" dirty="0">
                <a:solidFill>
                  <a:srgbClr val="0070C0"/>
                </a:solidFill>
                <a:latin typeface="TheSansMonoCd-W4SemiLight"/>
              </a:rPr>
              <a:t>-wrap: wrap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32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5754251-B83C-5232-635E-1C477ED1B196}"/>
              </a:ext>
            </a:extLst>
          </p:cNvPr>
          <p:cNvCxnSpPr/>
          <p:nvPr/>
        </p:nvCxnSpPr>
        <p:spPr>
          <a:xfrm flipH="1" flipV="1">
            <a:off x="5862553" y="3429000"/>
            <a:ext cx="426720" cy="56526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014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9B04AD1-784F-BD74-1D57-9A87B89E1D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65EDB04-FE0B-3626-4E0C-237B39D1802D}"/>
              </a:ext>
            </a:extLst>
          </p:cNvPr>
          <p:cNvSpPr/>
          <p:nvPr/>
        </p:nvSpPr>
        <p:spPr>
          <a:xfrm>
            <a:off x="5392646" y="4042756"/>
            <a:ext cx="6418353" cy="23770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0C0D89-371A-67EB-1B76-65D0B5C05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22416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7C468C0-E92A-0157-18C5-7758859E57C4}"/>
              </a:ext>
            </a:extLst>
          </p:cNvPr>
          <p:cNvSpPr txBox="1"/>
          <p:nvPr/>
        </p:nvSpPr>
        <p:spPr>
          <a:xfrm>
            <a:off x="7522416" y="188768"/>
            <a:ext cx="60932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.container {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    display: </a:t>
            </a:r>
            <a:r>
              <a:rPr lang="pt-BR" sz="3200" b="1" dirty="0" err="1">
                <a:solidFill>
                  <a:srgbClr val="000000"/>
                </a:solidFill>
                <a:latin typeface="TheSansMonoCd-W4SemiLight"/>
              </a:rPr>
              <a:t>flex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dirty="0" err="1">
                <a:solidFill>
                  <a:srgbClr val="000000"/>
                </a:solidFill>
                <a:latin typeface="TheSansMonoCd-W4SemiLight"/>
              </a:rPr>
              <a:t>height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: 350px;</a:t>
            </a:r>
          </a:p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flex-direction</a:t>
            </a:r>
            <a:r>
              <a:rPr lang="pt-BR" sz="3200" b="1" i="0" u="none" strike="noStrike" baseline="0" dirty="0">
                <a:solidFill>
                  <a:srgbClr val="0070C0"/>
                </a:solidFill>
                <a:latin typeface="TheSansMonoCd-W4SemiLight"/>
              </a:rPr>
              <a:t>: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column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flex</a:t>
            </a:r>
            <a:r>
              <a:rPr lang="pt-BR" sz="3200" b="1" i="0" u="none" strike="noStrike" baseline="0" dirty="0">
                <a:solidFill>
                  <a:srgbClr val="0070C0"/>
                </a:solidFill>
                <a:latin typeface="TheSansMonoCd-W4SemiLight"/>
              </a:rPr>
              <a:t>-wrap: wrap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32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4524C18A-2FF0-132B-CB50-CF57562F6B3D}"/>
              </a:ext>
            </a:extLst>
          </p:cNvPr>
          <p:cNvCxnSpPr>
            <a:cxnSpLocks/>
          </p:cNvCxnSpPr>
          <p:nvPr/>
        </p:nvCxnSpPr>
        <p:spPr>
          <a:xfrm flipH="1">
            <a:off x="7309056" y="1456113"/>
            <a:ext cx="52153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690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pt-BR" sz="54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ookman Old Style" panose="020F0302020204030204"/>
                <a:ea typeface="+mj-ea"/>
                <a:cs typeface="+mj-cs"/>
              </a:rPr>
              <a:t>Flexbox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método mais simples para especificar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40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flex-direction</a:t>
            </a:r>
            <a:r>
              <a:rPr lang="pt-BR" sz="40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pt-BR" sz="40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</a:t>
            </a:r>
            <a:r>
              <a:rPr lang="pt-BR" sz="40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-wrap </a:t>
            </a: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 uma única propriedade é usar </a:t>
            </a:r>
            <a:r>
              <a:rPr lang="pt-BR" sz="40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flex-flow</a:t>
            </a:r>
            <a:endParaRPr lang="pt-BR" sz="3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066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97C468C0-E92A-0157-18C5-7758859E57C4}"/>
              </a:ext>
            </a:extLst>
          </p:cNvPr>
          <p:cNvSpPr txBox="1"/>
          <p:nvPr/>
        </p:nvSpPr>
        <p:spPr>
          <a:xfrm>
            <a:off x="439972" y="1685059"/>
            <a:ext cx="458091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.container {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    display: </a:t>
            </a:r>
            <a:r>
              <a:rPr lang="pt-BR" sz="3200" b="1" dirty="0" err="1">
                <a:solidFill>
                  <a:srgbClr val="000000"/>
                </a:solidFill>
                <a:latin typeface="TheSansMonoCd-W4SemiLight"/>
              </a:rPr>
              <a:t>flex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dirty="0" err="1">
                <a:solidFill>
                  <a:srgbClr val="000000"/>
                </a:solidFill>
                <a:latin typeface="TheSansMonoCd-W4SemiLight"/>
              </a:rPr>
              <a:t>height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: 350px;</a:t>
            </a:r>
          </a:p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flex-direction</a:t>
            </a:r>
            <a:r>
              <a:rPr lang="pt-BR" sz="3200" b="1" i="0" u="none" strike="noStrike" baseline="0" dirty="0">
                <a:solidFill>
                  <a:srgbClr val="0070C0"/>
                </a:solidFill>
                <a:latin typeface="TheSansMonoCd-W4SemiLight"/>
              </a:rPr>
              <a:t>: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column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flex</a:t>
            </a:r>
            <a:r>
              <a:rPr lang="pt-BR" sz="3200" b="1" i="0" u="none" strike="noStrike" baseline="0" dirty="0">
                <a:solidFill>
                  <a:srgbClr val="0070C0"/>
                </a:solidFill>
                <a:latin typeface="TheSansMonoCd-W4SemiLight"/>
              </a:rPr>
              <a:t>-wrap: wrap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32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83D1F2D-4A7E-7730-D4A7-C9F80536819D}"/>
              </a:ext>
            </a:extLst>
          </p:cNvPr>
          <p:cNvSpPr txBox="1"/>
          <p:nvPr/>
        </p:nvSpPr>
        <p:spPr>
          <a:xfrm>
            <a:off x="7013170" y="1685059"/>
            <a:ext cx="488848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.container {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    display: </a:t>
            </a:r>
            <a:r>
              <a:rPr lang="pt-BR" sz="3200" b="1" dirty="0" err="1">
                <a:solidFill>
                  <a:srgbClr val="000000"/>
                </a:solidFill>
                <a:latin typeface="TheSansMonoCd-W4SemiLight"/>
              </a:rPr>
              <a:t>flex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dirty="0" err="1">
                <a:solidFill>
                  <a:srgbClr val="000000"/>
                </a:solidFill>
                <a:latin typeface="TheSansMonoCd-W4SemiLight"/>
              </a:rPr>
              <a:t>height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: 350px;</a:t>
            </a:r>
          </a:p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flex-flow</a:t>
            </a:r>
            <a:r>
              <a:rPr lang="pt-BR" sz="3200" b="1" i="0" u="none" strike="noStrike" baseline="0" dirty="0">
                <a:solidFill>
                  <a:srgbClr val="0070C0"/>
                </a:solidFill>
                <a:latin typeface="TheSansMonoCd-W4SemiLight"/>
              </a:rPr>
              <a:t>: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column</a:t>
            </a:r>
            <a:r>
              <a:rPr lang="pt-BR" sz="3200" b="1" i="0" u="none" strike="noStrike" baseline="0" dirty="0">
                <a:solidFill>
                  <a:srgbClr val="0070C0"/>
                </a:solidFill>
                <a:latin typeface="TheSansMonoCd-W4SemiLight"/>
              </a:rPr>
              <a:t> wrap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32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3508FA40-A3A6-D65C-7F63-4D0017B8AE69}"/>
              </a:ext>
            </a:extLst>
          </p:cNvPr>
          <p:cNvSpPr/>
          <p:nvPr/>
        </p:nvSpPr>
        <p:spPr>
          <a:xfrm>
            <a:off x="5178831" y="2718262"/>
            <a:ext cx="1163782" cy="5486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072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pt-BR" sz="54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ookman Old Style" panose="020F0302020204030204"/>
                <a:ea typeface="+mj-ea"/>
                <a:cs typeface="+mj-cs"/>
              </a:rPr>
              <a:t>Flexbox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Outras ferramentas de controle de </a:t>
            </a:r>
            <a:r>
              <a:rPr lang="pt-BR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</a:t>
            </a: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containers são: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4000" b="1" i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justify-content</a:t>
            </a:r>
            <a:endParaRPr lang="pt-BR" sz="3800" b="1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866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5B040E-68A7-3250-5654-E70841A64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2749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5AFD9EF-30F7-64FB-96FC-79C9BD850D28}"/>
              </a:ext>
            </a:extLst>
          </p:cNvPr>
          <p:cNvSpPr txBox="1"/>
          <p:nvPr/>
        </p:nvSpPr>
        <p:spPr>
          <a:xfrm>
            <a:off x="6391885" y="116759"/>
            <a:ext cx="609322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.container {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    display: </a:t>
            </a:r>
            <a:r>
              <a:rPr lang="pt-BR" sz="3200" b="1" dirty="0" err="1">
                <a:solidFill>
                  <a:srgbClr val="000000"/>
                </a:solidFill>
                <a:latin typeface="TheSansMonoCd-W4SemiLight"/>
              </a:rPr>
              <a:t>flex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justify</a:t>
            </a:r>
            <a:r>
              <a:rPr lang="pt-BR" sz="3200" b="1" i="0" u="none" strike="noStrike" baseline="0" dirty="0">
                <a:solidFill>
                  <a:srgbClr val="0070C0"/>
                </a:solidFill>
                <a:latin typeface="TheSansMonoCd-W4SemiLight"/>
              </a:rPr>
              <a:t>-contente: </a:t>
            </a:r>
            <a:r>
              <a:rPr lang="pt-BR" sz="32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flex</a:t>
            </a:r>
            <a:r>
              <a:rPr lang="pt-BR" sz="3200" b="1" i="0" u="none" strike="noStrike" baseline="0" dirty="0">
                <a:solidFill>
                  <a:srgbClr val="0070C0"/>
                </a:solidFill>
                <a:latin typeface="TheSansMonoCd-W4SemiLight"/>
              </a:rPr>
              <a:t>-start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32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C83EEC6-264E-763D-4B1F-15A2F486F936}"/>
              </a:ext>
            </a:extLst>
          </p:cNvPr>
          <p:cNvCxnSpPr>
            <a:cxnSpLocks/>
          </p:cNvCxnSpPr>
          <p:nvPr/>
        </p:nvCxnSpPr>
        <p:spPr>
          <a:xfrm flipH="1">
            <a:off x="5669280" y="1147810"/>
            <a:ext cx="84789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084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1C6751B-E3B5-0708-7B5C-574CB3B3F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644"/>
            <a:ext cx="12192000" cy="566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06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pt-BR" sz="54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ookman Old Style" panose="020F0302020204030204"/>
                <a:ea typeface="+mj-ea"/>
                <a:cs typeface="+mj-cs"/>
              </a:rPr>
              <a:t>Flexbox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Vejam um exemplo de construção de barra de navegação global: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800" b="1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527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60768-FEF7-0C9A-0F94-7319C930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4F5837B-2FC6-2191-8A86-EEC583594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2311"/>
            <a:ext cx="12192000" cy="491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15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941DD-0394-0DCA-4407-D6D8A62D8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58566EE-F9E1-64F4-EFE5-A483D07F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46" y="240745"/>
            <a:ext cx="9011908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6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E6F32-569A-6775-12B7-9D0F8551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506C142-6600-07B0-9293-8AD865CBD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917" y="729322"/>
            <a:ext cx="4944165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654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1764F6D-275D-9F05-ED58-5B68621B3599}"/>
              </a:ext>
            </a:extLst>
          </p:cNvPr>
          <p:cNvSpPr txBox="1"/>
          <p:nvPr/>
        </p:nvSpPr>
        <p:spPr>
          <a:xfrm>
            <a:off x="4997334" y="1685059"/>
            <a:ext cx="21973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Resultado: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05D1EF9-C755-80F6-88E0-73EC783A5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3409"/>
            <a:ext cx="12192000" cy="139118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A7D6FEF-D8A1-604F-D0B8-F4367AF62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929" y="4124590"/>
            <a:ext cx="6260314" cy="139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15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dirty="0"/>
              <a:t>Grid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Grid layout oferece um sistema para organização de elementos em linhas </a:t>
            </a:r>
            <a:r>
              <a:rPr lang="pt-BR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colunas</a:t>
            </a:r>
          </a:p>
          <a:p>
            <a:pPr marL="0" indent="0">
              <a:lnSpc>
                <a:spcPct val="107000"/>
              </a:lnSpc>
              <a:buNone/>
            </a:pPr>
            <a:endParaRPr lang="pt-BR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Lembrando que o </a:t>
            </a:r>
            <a:r>
              <a:rPr lang="pt-BR" sz="4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Flexbox</a:t>
            </a: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organiza elementos em linhas </a:t>
            </a:r>
            <a:r>
              <a:rPr lang="pt-BR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 </a:t>
            </a: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colunas</a:t>
            </a:r>
          </a:p>
        </p:txBody>
      </p:sp>
    </p:spTree>
    <p:extLst>
      <p:ext uri="{BB962C8B-B14F-4D97-AF65-F5344CB8AC3E}">
        <p14:creationId xmlns:p14="http://schemas.microsoft.com/office/powerpoint/2010/main" val="2535002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dirty="0"/>
              <a:t>Grid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funciona:</a:t>
            </a:r>
          </a:p>
          <a:p>
            <a:pPr marL="742950" indent="-742950">
              <a:lnSpc>
                <a:spcPct val="107000"/>
              </a:lnSpc>
              <a:buFont typeface="+mj-lt"/>
              <a:buAutoNum type="arabicPeriod"/>
            </a:pPr>
            <a:r>
              <a:rPr lang="pt-BR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a propriedade </a:t>
            </a:r>
            <a:r>
              <a:rPr lang="pt-BR" sz="4000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</a:t>
            </a:r>
            <a:r>
              <a:rPr lang="pt-BR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transformar um elemento em um grid container</a:t>
            </a:r>
          </a:p>
          <a:p>
            <a:pPr marL="742950" indent="-742950">
              <a:lnSpc>
                <a:spcPct val="107000"/>
              </a:lnSpc>
              <a:buFont typeface="+mj-lt"/>
              <a:buAutoNum type="arabicPeriod"/>
            </a:pP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as colunas e linhas para o Grid</a:t>
            </a:r>
          </a:p>
          <a:p>
            <a:pPr marL="742950" indent="-742950">
              <a:lnSpc>
                <a:spcPct val="107000"/>
              </a:lnSpc>
              <a:buFont typeface="+mj-lt"/>
              <a:buAutoNum type="arabicPeriod"/>
            </a:pP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Distribua cada item em uma área do Grid</a:t>
            </a:r>
          </a:p>
        </p:txBody>
      </p:sp>
    </p:spTree>
    <p:extLst>
      <p:ext uri="{BB962C8B-B14F-4D97-AF65-F5344CB8AC3E}">
        <p14:creationId xmlns:p14="http://schemas.microsoft.com/office/powerpoint/2010/main" val="872944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F102F31-8678-6A08-6051-00AFB7B26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917" y="2196104"/>
            <a:ext cx="5302166" cy="24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89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dirty="0"/>
              <a:t>Grid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Todos os elementos filhos automaticamente se tornam </a:t>
            </a:r>
            <a:r>
              <a:rPr lang="pt-BR" sz="40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 </a:t>
            </a:r>
            <a:r>
              <a:rPr lang="pt-BR" sz="4000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items</a:t>
            </a: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são posicionados no Grid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Estes Grids são divididos em </a:t>
            </a:r>
            <a:r>
              <a:rPr lang="pt-BR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componentes</a:t>
            </a: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95539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8F97D1C-2B87-EE16-18AF-6423B553B5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C826B6A-1B5B-E963-8435-C9CAA871A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713" y="0"/>
            <a:ext cx="8574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87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dirty="0"/>
              <a:t>Grid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Podemos transformar elementos em um </a:t>
            </a:r>
            <a:r>
              <a:rPr lang="pt-BR" sz="40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 container</a:t>
            </a: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 seguinte forma:</a:t>
            </a:r>
          </a:p>
        </p:txBody>
      </p:sp>
    </p:spTree>
    <p:extLst>
      <p:ext uri="{BB962C8B-B14F-4D97-AF65-F5344CB8AC3E}">
        <p14:creationId xmlns:p14="http://schemas.microsoft.com/office/powerpoint/2010/main" val="827773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660D714-1A0D-2973-F2A3-1649FBBC37AF}"/>
              </a:ext>
            </a:extLst>
          </p:cNvPr>
          <p:cNvSpPr txBox="1"/>
          <p:nvPr/>
        </p:nvSpPr>
        <p:spPr>
          <a:xfrm>
            <a:off x="382386" y="1874728"/>
            <a:ext cx="503751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&lt;div id="layout"&gt;</a:t>
            </a:r>
          </a:p>
          <a:p>
            <a:pPr lvl="1"/>
            <a:r>
              <a:rPr lang="en-US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&lt;div id="one"&gt;One&lt;/div&gt;</a:t>
            </a:r>
          </a:p>
          <a:p>
            <a:pPr lvl="1"/>
            <a:r>
              <a:rPr lang="en-US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&lt;div id="two"&gt;Two&lt;/div&gt;</a:t>
            </a:r>
          </a:p>
          <a:p>
            <a:pPr lvl="1"/>
            <a:r>
              <a:rPr lang="en-US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&lt;div id="three"&gt;Three&lt;/div&gt;</a:t>
            </a:r>
          </a:p>
          <a:p>
            <a:pPr lvl="1"/>
            <a:r>
              <a:rPr lang="en-US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&lt;div id="four"&gt;Four&lt;/div&gt;</a:t>
            </a:r>
          </a:p>
          <a:p>
            <a:pPr marL="449263" algn="l"/>
            <a:r>
              <a:rPr lang="en-US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&lt;div id="five"&gt;Five&lt;/div&gt;</a:t>
            </a:r>
          </a:p>
          <a:p>
            <a:pPr algn="l"/>
            <a:r>
              <a:rPr lang="en-US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&lt;/div&gt;</a:t>
            </a:r>
            <a:endParaRPr lang="pt-BR" sz="2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B8A5FDE-6682-F218-F67C-737711AAE0A9}"/>
              </a:ext>
            </a:extLst>
          </p:cNvPr>
          <p:cNvSpPr txBox="1"/>
          <p:nvPr/>
        </p:nvSpPr>
        <p:spPr>
          <a:xfrm>
            <a:off x="382386" y="1379913"/>
            <a:ext cx="5037512" cy="37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HTML: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B4AFF5-05EB-6734-199C-5505BA36EF40}"/>
              </a:ext>
            </a:extLst>
          </p:cNvPr>
          <p:cNvSpPr txBox="1"/>
          <p:nvPr/>
        </p:nvSpPr>
        <p:spPr>
          <a:xfrm>
            <a:off x="6096000" y="1874728"/>
            <a:ext cx="50375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#layout {</a:t>
            </a:r>
          </a:p>
          <a:p>
            <a:pPr marL="531813" algn="l"/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display: grid;</a:t>
            </a:r>
          </a:p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28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9F12536-5B20-C86B-E6CE-1473F461E669}"/>
              </a:ext>
            </a:extLst>
          </p:cNvPr>
          <p:cNvSpPr txBox="1"/>
          <p:nvPr/>
        </p:nvSpPr>
        <p:spPr>
          <a:xfrm>
            <a:off x="6096000" y="1379913"/>
            <a:ext cx="5037512" cy="37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CSS: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8719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dirty="0"/>
              <a:t>Grid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Agora, podemos configurar o Grid:</a:t>
            </a:r>
          </a:p>
        </p:txBody>
      </p:sp>
    </p:spTree>
    <p:extLst>
      <p:ext uri="{BB962C8B-B14F-4D97-AF65-F5344CB8AC3E}">
        <p14:creationId xmlns:p14="http://schemas.microsoft.com/office/powerpoint/2010/main" val="2902414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1C85A0C-6794-5014-97AC-89A930898F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60D714-1A0D-2973-F2A3-1649FBBC37AF}"/>
              </a:ext>
            </a:extLst>
          </p:cNvPr>
          <p:cNvSpPr txBox="1"/>
          <p:nvPr/>
        </p:nvSpPr>
        <p:spPr>
          <a:xfrm>
            <a:off x="382385" y="395063"/>
            <a:ext cx="85621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#layout {</a:t>
            </a:r>
          </a:p>
          <a:p>
            <a:pPr marL="449263"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display: grid;</a:t>
            </a:r>
          </a:p>
          <a:p>
            <a:pPr marL="449263" algn="l"/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grid-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template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-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rows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: 100px 400px 100px;</a:t>
            </a:r>
          </a:p>
          <a:p>
            <a:pPr marL="449263" algn="l"/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grid-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template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-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columns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: 200px 500px 200px;</a:t>
            </a:r>
          </a:p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2800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223A201-AC03-AFB5-E141-B914A85C4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47" y="2651694"/>
            <a:ext cx="11172305" cy="420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28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dirty="0"/>
              <a:t>Grid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Podemos, inclusive, nomear as células criadas para facilitar a visualização:</a:t>
            </a:r>
          </a:p>
        </p:txBody>
      </p:sp>
    </p:spTree>
    <p:extLst>
      <p:ext uri="{BB962C8B-B14F-4D97-AF65-F5344CB8AC3E}">
        <p14:creationId xmlns:p14="http://schemas.microsoft.com/office/powerpoint/2010/main" val="808653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660D714-1A0D-2973-F2A3-1649FBBC37AF}"/>
              </a:ext>
            </a:extLst>
          </p:cNvPr>
          <p:cNvSpPr txBox="1"/>
          <p:nvPr/>
        </p:nvSpPr>
        <p:spPr>
          <a:xfrm>
            <a:off x="0" y="860576"/>
            <a:ext cx="1265250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#layout {</a:t>
            </a:r>
          </a:p>
          <a:p>
            <a:pPr marL="531813"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display: grid;</a:t>
            </a:r>
          </a:p>
          <a:p>
            <a:pPr marL="531813" algn="l"/>
            <a:endParaRPr lang="pt-BR" sz="28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531813" algn="l"/>
            <a:r>
              <a:rPr lang="en-US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grid-template-rows: [header-start] 100px [content-start] 400px</a:t>
            </a:r>
          </a:p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[</a:t>
            </a:r>
            <a:r>
              <a:rPr lang="pt-BR" sz="28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footer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-start] 100px;</a:t>
            </a:r>
          </a:p>
          <a:p>
            <a:pPr marL="531813" algn="l"/>
            <a:r>
              <a:rPr lang="en-US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grid-template-columns: [ads] 200px [main] 1fr [links] 200px;</a:t>
            </a:r>
          </a:p>
          <a:p>
            <a:pPr marL="531813" algn="l"/>
            <a:endParaRPr lang="en-US" sz="28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531813" algn="l"/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grid-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template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-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areas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:</a:t>
            </a:r>
          </a:p>
          <a:p>
            <a:pPr marL="981075" algn="l"/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"header 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header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 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header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"</a:t>
            </a:r>
          </a:p>
          <a:p>
            <a:pPr marL="981075" algn="l"/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"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ads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 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main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 links"</a:t>
            </a:r>
          </a:p>
          <a:p>
            <a:pPr marL="981075" algn="l"/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"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footer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 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footer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 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footer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";</a:t>
            </a:r>
          </a:p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5872733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1C85A0C-6794-5014-97AC-89A930898F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E60F0E-2147-98B1-2728-5B981FD6F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9215"/>
            <a:ext cx="12192000" cy="437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5709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ED2F52BDCB944C891BB0D3DB5B4689" ma:contentTypeVersion="3" ma:contentTypeDescription="Create a new document." ma:contentTypeScope="" ma:versionID="ffef1dbc39b52dbe3fbb7262bc81aa9d">
  <xsd:schema xmlns:xsd="http://www.w3.org/2001/XMLSchema" xmlns:xs="http://www.w3.org/2001/XMLSchema" xmlns:p="http://schemas.microsoft.com/office/2006/metadata/properties" xmlns:ns2="45266506-7c7c-49c5-a640-a9bbfd1bea9a" targetNamespace="http://schemas.microsoft.com/office/2006/metadata/properties" ma:root="true" ma:fieldsID="6a31eb5fc835b1abe042e2a09ad2ada0" ns2:_="">
    <xsd:import namespace="45266506-7c7c-49c5-a640-a9bbfd1be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66506-7c7c-49c5-a640-a9bbfd1bea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C1299E7-C887-44CE-BA53-CF8E751A0296}"/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1685</TotalTime>
  <Words>579</Words>
  <Application>Microsoft Office PowerPoint</Application>
  <PresentationFormat>Widescreen</PresentationFormat>
  <Paragraphs>114</Paragraphs>
  <Slides>36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2" baseType="lpstr">
      <vt:lpstr>Bookman Old Style</vt:lpstr>
      <vt:lpstr>Calibri</vt:lpstr>
      <vt:lpstr>Franklin Gothic Book</vt:lpstr>
      <vt:lpstr>TheSansMonoCd-W4SemiLight</vt:lpstr>
      <vt:lpstr>TheSansMonoCd-W5Regular</vt:lpstr>
      <vt:lpstr>1_RetrospectVTI</vt:lpstr>
      <vt:lpstr>Desenvolvimento Web Responsivo</vt:lpstr>
      <vt:lpstr>Desenvolvimento de software para internet</vt:lpstr>
      <vt:lpstr>Responsividade</vt:lpstr>
      <vt:lpstr>CSS Flexible Box Layout</vt:lpstr>
      <vt:lpstr>Flexbox</vt:lpstr>
      <vt:lpstr>Apresentação do PowerPoint</vt:lpstr>
      <vt:lpstr>Apresentação do PowerPoint</vt:lpstr>
      <vt:lpstr>Flexbox</vt:lpstr>
      <vt:lpstr>Apresentação do PowerPoint</vt:lpstr>
      <vt:lpstr>Flexbox</vt:lpstr>
      <vt:lpstr>Apresentação do PowerPoint</vt:lpstr>
      <vt:lpstr>Flexbox</vt:lpstr>
      <vt:lpstr>Apresentação do PowerPoint</vt:lpstr>
      <vt:lpstr>Apresentação do PowerPoint</vt:lpstr>
      <vt:lpstr>Flexbox</vt:lpstr>
      <vt:lpstr>Apresentação do PowerPoint</vt:lpstr>
      <vt:lpstr>Flexbox</vt:lpstr>
      <vt:lpstr>Apresentação do PowerPoint</vt:lpstr>
      <vt:lpstr>Apresentação do PowerPoint</vt:lpstr>
      <vt:lpstr>Flexbox</vt:lpstr>
      <vt:lpstr>Apresentação do PowerPoint</vt:lpstr>
      <vt:lpstr>Apresentação do PowerPoint</vt:lpstr>
      <vt:lpstr>Apresentação do PowerPoint</vt:lpstr>
      <vt:lpstr>Apresentação do PowerPoint</vt:lpstr>
      <vt:lpstr>Grid</vt:lpstr>
      <vt:lpstr>Grid</vt:lpstr>
      <vt:lpstr>Apresentação do PowerPoint</vt:lpstr>
      <vt:lpstr>Grid</vt:lpstr>
      <vt:lpstr>Apresentação do PowerPoint</vt:lpstr>
      <vt:lpstr>Grid</vt:lpstr>
      <vt:lpstr>Apresentação do PowerPoint</vt:lpstr>
      <vt:lpstr>Grid</vt:lpstr>
      <vt:lpstr>Apresentação do PowerPoint</vt:lpstr>
      <vt:lpstr>Grid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Manuais e Ilustrações Técnico Científicas</dc:title>
  <dc:creator>Flávio Waltz</dc:creator>
  <cp:lastModifiedBy>Flávio Waltz</cp:lastModifiedBy>
  <cp:revision>102</cp:revision>
  <dcterms:created xsi:type="dcterms:W3CDTF">2022-08-10T14:03:41Z</dcterms:created>
  <dcterms:modified xsi:type="dcterms:W3CDTF">2026-05-05T17:28:54Z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0x0101002BED2F52BDCB944C891BB0D3DB5B4689</vt:lpwstr>
  </property>
</Properties>
</file>