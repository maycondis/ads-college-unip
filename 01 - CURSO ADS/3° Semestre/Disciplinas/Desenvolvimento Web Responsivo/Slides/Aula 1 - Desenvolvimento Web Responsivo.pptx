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9"/>
  </p:notesMasterIdLst>
  <p:handoutMasterIdLst>
    <p:handoutMasterId r:id="rId50"/>
  </p:handoutMasterIdLst>
  <p:sldIdLst>
    <p:sldId id="268" r:id="rId5"/>
    <p:sldId id="269" r:id="rId6"/>
    <p:sldId id="270" r:id="rId7"/>
    <p:sldId id="271" r:id="rId8"/>
    <p:sldId id="272" r:id="rId9"/>
    <p:sldId id="274" r:id="rId10"/>
    <p:sldId id="275" r:id="rId11"/>
    <p:sldId id="276" r:id="rId12"/>
    <p:sldId id="312" r:id="rId13"/>
    <p:sldId id="313" r:id="rId14"/>
    <p:sldId id="277" r:id="rId15"/>
    <p:sldId id="278" r:id="rId16"/>
    <p:sldId id="279" r:id="rId17"/>
    <p:sldId id="280" r:id="rId18"/>
    <p:sldId id="281" r:id="rId19"/>
    <p:sldId id="282" r:id="rId20"/>
    <p:sldId id="284" r:id="rId21"/>
    <p:sldId id="283" r:id="rId22"/>
    <p:sldId id="285" r:id="rId23"/>
    <p:sldId id="286" r:id="rId24"/>
    <p:sldId id="287" r:id="rId25"/>
    <p:sldId id="288" r:id="rId26"/>
    <p:sldId id="291" r:id="rId27"/>
    <p:sldId id="302" r:id="rId28"/>
    <p:sldId id="292" r:id="rId29"/>
    <p:sldId id="304" r:id="rId30"/>
    <p:sldId id="290" r:id="rId31"/>
    <p:sldId id="303" r:id="rId32"/>
    <p:sldId id="293" r:id="rId33"/>
    <p:sldId id="294" r:id="rId34"/>
    <p:sldId id="295" r:id="rId35"/>
    <p:sldId id="296" r:id="rId36"/>
    <p:sldId id="297" r:id="rId37"/>
    <p:sldId id="314" r:id="rId38"/>
    <p:sldId id="298" r:id="rId39"/>
    <p:sldId id="299" r:id="rId40"/>
    <p:sldId id="305" r:id="rId41"/>
    <p:sldId id="306" r:id="rId42"/>
    <p:sldId id="307" r:id="rId43"/>
    <p:sldId id="308" r:id="rId44"/>
    <p:sldId id="301" r:id="rId45"/>
    <p:sldId id="310" r:id="rId46"/>
    <p:sldId id="311" r:id="rId47"/>
    <p:sldId id="309" r:id="rId48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EEF"/>
    <a:srgbClr val="FBFBFB"/>
    <a:srgbClr val="EC7016"/>
    <a:srgbClr val="EFD7FD"/>
    <a:srgbClr val="DBA8FA"/>
    <a:srgbClr val="F6E8FE"/>
    <a:srgbClr val="CE87F9"/>
    <a:srgbClr val="C26DF7"/>
    <a:srgbClr val="E8C8F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24D3A3-A13D-F002-7959-C79FEEA45500}" v="1" dt="2026-04-05T13:42:36.7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N SENNA" userId="S::willian.senna1@aluno.unip.br::d7affb05-0854-4c1c-a3ab-999ae8d54806" providerId="AD" clId="Web-{6924D3A3-A13D-F002-7959-C79FEEA45500}"/>
    <pc:docChg chg="modSld">
      <pc:chgData name="WILLIAN SENNA" userId="S::willian.senna1@aluno.unip.br::d7affb05-0854-4c1c-a3ab-999ae8d54806" providerId="AD" clId="Web-{6924D3A3-A13D-F002-7959-C79FEEA45500}" dt="2026-04-05T13:42:36.747" v="0" actId="1076"/>
      <pc:docMkLst>
        <pc:docMk/>
      </pc:docMkLst>
      <pc:sldChg chg="modSp">
        <pc:chgData name="WILLIAN SENNA" userId="S::willian.senna1@aluno.unip.br::d7affb05-0854-4c1c-a3ab-999ae8d54806" providerId="AD" clId="Web-{6924D3A3-A13D-F002-7959-C79FEEA45500}" dt="2026-04-05T13:42:36.747" v="0" actId="1076"/>
        <pc:sldMkLst>
          <pc:docMk/>
          <pc:sldMk cId="2426748193" sldId="270"/>
        </pc:sldMkLst>
        <pc:spChg chg="mod">
          <ac:chgData name="WILLIAN SENNA" userId="S::willian.senna1@aluno.unip.br::d7affb05-0854-4c1c-a3ab-999ae8d54806" providerId="AD" clId="Web-{6924D3A3-A13D-F002-7959-C79FEEA45500}" dt="2026-04-05T13:42:36.747" v="0" actId="1076"/>
          <ac:spMkLst>
            <pc:docMk/>
            <pc:sldMk cId="2426748193" sldId="270"/>
            <ac:spMk id="3" creationId="{7848B48F-C39D-1879-B916-956F50F4EBC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05/04/2026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05/04/2026</a:t>
            </a:fld>
            <a:endParaRPr lang="pt-BR" noProof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05/04/2026</a:t>
            </a:fld>
            <a:endParaRPr lang="pt-BR" noProof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05/04/2026</a:t>
            </a:fld>
            <a:endParaRPr lang="pt-BR" noProof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05/04/2026</a:t>
            </a:fld>
            <a:endParaRPr lang="pt-BR" noProof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05/04/2026</a:t>
            </a:fld>
            <a:endParaRPr lang="pt-BR" noProof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05/04/2026</a:t>
            </a:fld>
            <a:endParaRPr lang="pt-BR" noProof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05/04/2026</a:t>
            </a:fld>
            <a:endParaRPr lang="pt-BR" noProof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05/04/2026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05/04/2026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05/04/2026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unsplash.com/pt-br/@macphoto?utm_content=creditCopyText&amp;utm_medium=referral&amp;utm_source=unsplash" TargetMode="Externa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ample.com/index.html" TargetMode="External"/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pt-BR" sz="5400"/>
              <a:t>Desenvolvimento Web Responsivo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>
                <a:solidFill>
                  <a:schemeClr val="tx1">
                    <a:lumMod val="85000"/>
                    <a:lumOff val="15000"/>
                  </a:schemeClr>
                </a:solidFill>
              </a:rPr>
              <a:t>P</a:t>
            </a:r>
            <a:r>
              <a:rPr lang="pt-BR" sz="2400" cap="none">
                <a:solidFill>
                  <a:schemeClr val="tx1">
                    <a:lumMod val="85000"/>
                    <a:lumOff val="15000"/>
                  </a:schemeClr>
                </a:solidFill>
              </a:rPr>
              <a:t>rof</a:t>
            </a:r>
            <a:r>
              <a:rPr lang="pt-BR" sz="240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BR" sz="2400" cap="none">
                <a:solidFill>
                  <a:schemeClr val="tx1">
                    <a:lumMod val="85000"/>
                    <a:lumOff val="15000"/>
                  </a:schemeClr>
                </a:solidFill>
              </a:rPr>
              <a:t>Flávio Waltz</a:t>
            </a:r>
            <a:endParaRPr lang="pt-BR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F0637C58-910B-422A-A403-595978460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9" y="5084627"/>
            <a:ext cx="1773372" cy="177337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A1E69E-30F4-436B-6FD8-42ED9C32C3AE}"/>
              </a:ext>
            </a:extLst>
          </p:cNvPr>
          <p:cNvSpPr txBox="1"/>
          <p:nvPr/>
        </p:nvSpPr>
        <p:spPr>
          <a:xfrm>
            <a:off x="10506077" y="6465586"/>
            <a:ext cx="16859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Foto de </a:t>
            </a:r>
            <a:r>
              <a:rPr lang="pt-BR" sz="110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Mauricio </a:t>
            </a:r>
            <a:r>
              <a:rPr lang="pt-BR" sz="110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Artieda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2FE4CFB-8913-5C30-40CA-C42BA1F96C4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753"/>
          <a:stretch/>
        </p:blipFill>
        <p:spPr>
          <a:xfrm>
            <a:off x="7776594" y="0"/>
            <a:ext cx="4415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Desenvolvimento Web Responsivo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4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Baseado no livro: 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Web Design - A </a:t>
            </a:r>
            <a:r>
              <a:rPr lang="pt-BR" sz="24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beginner's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guide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HTML, CSS, Javascript </a:t>
            </a:r>
            <a:r>
              <a:rPr lang="pt-BR" sz="24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 </a:t>
            </a:r>
            <a:r>
              <a:rPr lang="pt-BR" sz="24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Graphics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por </a:t>
            </a:r>
            <a:r>
              <a:rPr lang="pt-BR" sz="24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Jennifer </a:t>
            </a:r>
            <a:r>
              <a:rPr lang="pt-BR" sz="2400" b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Niederst</a:t>
            </a:r>
            <a:r>
              <a:rPr lang="pt-BR" sz="24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Robbins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72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201" y="2027991"/>
            <a:ext cx="10058400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Arquitetura de informação (ou design de informação)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elacionada à organização do conteúdo de forma lógica e para fácil rastreabilidade. Está diretamente associada às áreas de Experiência do Usuário (UX) e Interface do Usuário (UI).</a:t>
            </a:r>
            <a:endParaRPr lang="pt-BR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748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7DA28DB1-A98E-DCBD-75CE-91A2C0F14B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CB97246-DE46-2DBF-7350-C849EF05E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19" y="0"/>
            <a:ext cx="114605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82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Estratégia de conteúdo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Área responsável pelo alinhamento entre todos os elementos textuais do site (textos, títulos, botões etc.) e a identidade da marca e os objetivos comerciais da organização.</a:t>
            </a:r>
            <a:endParaRPr lang="pt-BR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00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24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</a:t>
            </a:r>
            <a:r>
              <a:rPr lang="pt-BR" sz="2400" b="1" i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Experience </a:t>
            </a:r>
            <a:r>
              <a:rPr lang="pt-BR" sz="24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(UX)</a:t>
            </a: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4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Foca na coleta de dados e feedbacks dos usuários com o objetivo de fornecer uma experiência de uso favorável do sistema. 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400" b="1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</a:t>
            </a:r>
            <a:r>
              <a:rPr lang="pt-BR" sz="24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Interface </a:t>
            </a:r>
            <a:r>
              <a:rPr lang="pt-BR" sz="24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(UI)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4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Aborda ferramentas específicas que aprimoram e organizam as páginas, como botões, links e menus, utilizadas para navegação e realização de tarefas.</a:t>
            </a:r>
          </a:p>
        </p:txBody>
      </p:sp>
    </p:spTree>
    <p:extLst>
      <p:ext uri="{BB962C8B-B14F-4D97-AF65-F5344CB8AC3E}">
        <p14:creationId xmlns:p14="http://schemas.microsoft.com/office/powerpoint/2010/main" val="263384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de Interação (</a:t>
            </a:r>
            <a:r>
              <a:rPr lang="pt-BR" sz="2800" b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IxD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>
                <a:latin typeface="Calibri" panose="020F0502020204030204" pitchFamily="34" charset="0"/>
                <a:cs typeface="Times New Roman" panose="02020603050405020304" pitchFamily="18" charset="0"/>
              </a:rPr>
              <a:t>Está associado à facilidade, eficiência e satisfação provida pelo sistema aos usuários através das interações entre estes.</a:t>
            </a:r>
          </a:p>
          <a:p>
            <a:pPr marL="0" indent="0">
              <a:lnSpc>
                <a:spcPct val="107000"/>
              </a:lnSpc>
              <a:buNone/>
            </a:pPr>
            <a:endParaRPr lang="pt-BR" sz="1600" b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538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>
              <a:lnSpc>
                <a:spcPct val="107000"/>
              </a:lnSpc>
              <a:buNone/>
            </a:pPr>
            <a:endParaRPr lang="pt-BR" sz="22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buNone/>
            </a:pPr>
            <a:r>
              <a:rPr lang="pt-BR" sz="30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UX, UI e </a:t>
            </a:r>
            <a:r>
              <a:rPr lang="pt-BR" sz="3000" b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IxD</a:t>
            </a:r>
            <a:r>
              <a:rPr lang="pt-BR" sz="30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7000"/>
              </a:lnSpc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Pesquisa com usuários e relatórios de teste 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diretamente associado ao Design Centrado no Usuário (User-</a:t>
            </a:r>
            <a:r>
              <a:rPr lang="pt-BR" sz="28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Centered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Design). Permeia todo o desenvolvimento do site, do início ao fim.</a:t>
            </a:r>
          </a:p>
        </p:txBody>
      </p:sp>
    </p:spTree>
    <p:extLst>
      <p:ext uri="{BB962C8B-B14F-4D97-AF65-F5344CB8AC3E}">
        <p14:creationId xmlns:p14="http://schemas.microsoft.com/office/powerpoint/2010/main" val="1062471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CC92A-FD4B-9B26-0537-08F8A2F51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00EEC-CC19-352C-B3C7-533BEF24C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39215F-866A-8A84-9BDC-EEBC1952D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lnSpc>
                <a:spcPct val="107000"/>
              </a:lnSpc>
              <a:buNone/>
            </a:pPr>
            <a:endParaRPr lang="pt-BR" sz="22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buNone/>
            </a:pPr>
            <a:r>
              <a:rPr lang="pt-BR" sz="30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UX, UI e </a:t>
            </a:r>
            <a:r>
              <a:rPr lang="pt-BR" sz="3000" b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IxD</a:t>
            </a:r>
            <a:r>
              <a:rPr lang="pt-BR" sz="30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7000"/>
              </a:lnSpc>
            </a:pPr>
            <a:r>
              <a:rPr lang="pt-BR" sz="28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Diagramas de </a:t>
            </a:r>
            <a:r>
              <a:rPr lang="pt-BR" sz="2800" b="1" kern="1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Wireframes</a:t>
            </a:r>
            <a:r>
              <a:rPr lang="pt-BR" sz="28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é a definição da estrutura da webpage. Define o posicionamento de elementos importantes (textos, </a:t>
            </a:r>
            <a:r>
              <a:rPr lang="pt-BR" sz="2800" kern="1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searchbars</a:t>
            </a:r>
            <a:r>
              <a:rPr lang="pt-BR" sz="28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figuras etc.). Cores, fontes e outros elementos visuais são ignorados a princípio.</a:t>
            </a:r>
          </a:p>
        </p:txBody>
      </p:sp>
    </p:spTree>
    <p:extLst>
      <p:ext uri="{BB962C8B-B14F-4D97-AF65-F5344CB8AC3E}">
        <p14:creationId xmlns:p14="http://schemas.microsoft.com/office/powerpoint/2010/main" val="3175962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EF4FB-8386-23F5-D4F7-BD01D717A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45BA3-B991-47E3-C96A-B655DFA5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8083C0-ECE0-0F48-43B6-6F89B712B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lnSpc>
                <a:spcPct val="107000"/>
              </a:lnSpc>
              <a:buNone/>
            </a:pPr>
            <a:endParaRPr lang="pt-BR" sz="22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buNone/>
            </a:pPr>
            <a:r>
              <a:rPr lang="pt-BR" sz="30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UX, UI e </a:t>
            </a:r>
            <a:r>
              <a:rPr lang="pt-BR" sz="3000" b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IxD</a:t>
            </a:r>
            <a:r>
              <a:rPr lang="pt-BR" sz="30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7000"/>
              </a:lnSpc>
            </a:pPr>
            <a:r>
              <a:rPr lang="pt-BR" sz="28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Diagrama do site </a:t>
            </a:r>
            <a:r>
              <a:rPr lang="pt-BR" sz="28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indica a estrutura do site como um todo e como cada uma das páginas se relacionará com as demais</a:t>
            </a:r>
          </a:p>
        </p:txBody>
      </p:sp>
    </p:spTree>
    <p:extLst>
      <p:ext uri="{BB962C8B-B14F-4D97-AF65-F5344CB8AC3E}">
        <p14:creationId xmlns:p14="http://schemas.microsoft.com/office/powerpoint/2010/main" val="3309327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7DA28DB1-A98E-DCBD-75CE-91A2C0F14B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AB20173-A50E-C7FC-9937-E62AB5382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55201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EE064E9-5A75-4C9F-0378-99291480B1AD}"/>
              </a:ext>
            </a:extLst>
          </p:cNvPr>
          <p:cNvSpPr txBox="1"/>
          <p:nvPr/>
        </p:nvSpPr>
        <p:spPr>
          <a:xfrm>
            <a:off x="9144000" y="310634"/>
            <a:ext cx="259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Wireframe</a:t>
            </a:r>
            <a:endParaRPr lang="pt-BR" sz="2400" i="1"/>
          </a:p>
        </p:txBody>
      </p:sp>
    </p:spTree>
    <p:extLst>
      <p:ext uri="{BB962C8B-B14F-4D97-AF65-F5344CB8AC3E}">
        <p14:creationId xmlns:p14="http://schemas.microsoft.com/office/powerpoint/2010/main" val="2091928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Gráfico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>
                <a:latin typeface="Calibri" panose="020F0502020204030204" pitchFamily="34" charset="0"/>
                <a:cs typeface="Times New Roman" panose="02020603050405020304" pitchFamily="18" charset="0"/>
              </a:rPr>
              <a:t>Responsável pelo aspecto visual do site. Identidade visual, branding, figuras, hierarquia, apelo etc.</a:t>
            </a:r>
            <a:endParaRPr lang="pt-BR" sz="1800" b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936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Back-</a:t>
            </a:r>
            <a:r>
              <a:rPr lang="pt-BR" sz="2800" b="1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endParaRPr lang="pt-BR" sz="2800" b="1" i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>
                <a:latin typeface="Calibri" panose="020F0502020204030204" pitchFamily="34" charset="0"/>
                <a:cs typeface="Times New Roman" panose="02020603050405020304" pitchFamily="18" charset="0"/>
              </a:rPr>
              <a:t>Se concentram no servidor, incluindo os aplicativos e bancos de dados executados nele. </a:t>
            </a:r>
            <a:endParaRPr lang="pt-BR" sz="1800" b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806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Front-</a:t>
            </a:r>
            <a:r>
              <a:rPr lang="pt-BR" sz="2800" b="1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endParaRPr lang="pt-BR" sz="2800" b="1" i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>
                <a:latin typeface="Calibri" panose="020F0502020204030204" pitchFamily="34" charset="0"/>
                <a:cs typeface="Times New Roman" panose="02020603050405020304" pitchFamily="18" charset="0"/>
              </a:rPr>
              <a:t>Refere-se a qualquer aspecto do processo de design que apareça ou se relacione com o navegador. Isso inclui HTML, CSS e </a:t>
            </a:r>
            <a:r>
              <a:rPr lang="pt-BR" sz="2800" kern="100" err="1">
                <a:latin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r>
              <a:rPr lang="pt-BR" sz="2800" kern="10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1800" b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210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Front-</a:t>
            </a:r>
            <a:r>
              <a:rPr lang="pt-BR" sz="2800" b="1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HTML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i="1" kern="100" err="1">
                <a:latin typeface="Calibri" panose="020F0502020204030204" pitchFamily="34" charset="0"/>
                <a:cs typeface="Times New Roman" panose="02020603050405020304" pitchFamily="18" charset="0"/>
              </a:rPr>
              <a:t>HyperText</a:t>
            </a:r>
            <a:r>
              <a:rPr lang="pt-BR" sz="2800" b="1" i="1" kern="100">
                <a:latin typeface="Calibri" panose="020F0502020204030204" pitchFamily="34" charset="0"/>
                <a:cs typeface="Times New Roman" panose="02020603050405020304" pitchFamily="18" charset="0"/>
              </a:rPr>
              <a:t> Markup </a:t>
            </a:r>
            <a:r>
              <a:rPr lang="pt-BR" sz="2800" b="1" i="1" kern="100" err="1">
                <a:latin typeface="Calibri" panose="020F0502020204030204" pitchFamily="34" charset="0"/>
                <a:cs typeface="Times New Roman" panose="02020603050405020304" pitchFamily="18" charset="0"/>
              </a:rPr>
              <a:t>Language</a:t>
            </a:r>
            <a:r>
              <a:rPr lang="pt-BR" sz="2800" b="1" kern="100">
                <a:latin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pt-BR" sz="2800" kern="100">
                <a:latin typeface="Calibri" panose="020F0502020204030204" pitchFamily="34" charset="0"/>
                <a:cs typeface="Times New Roman" panose="02020603050405020304" pitchFamily="18" charset="0"/>
              </a:rPr>
              <a:t>a linguagem de marcação utilizada para criação de documentos de webpages. É um sistema para identificar e descrever vários componentes de um documento como, cabeçalhos, parágrafos e listas.</a:t>
            </a:r>
            <a:endParaRPr lang="pt-BR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823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6F54059-A247-8054-F49F-7185504A1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75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Front-</a:t>
            </a:r>
            <a:r>
              <a:rPr lang="pt-BR" sz="2800" b="1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CSS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i="1" kern="100" err="1">
                <a:latin typeface="Calibri" panose="020F0502020204030204" pitchFamily="34" charset="0"/>
                <a:cs typeface="Times New Roman" panose="02020603050405020304" pitchFamily="18" charset="0"/>
              </a:rPr>
              <a:t>Cascading</a:t>
            </a:r>
            <a:r>
              <a:rPr lang="pt-BR" sz="2800" b="1" i="1" kern="10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b="1" i="1" kern="100" err="1">
                <a:latin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pt-BR" sz="2800" b="1" i="1" kern="10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b="1" i="1" kern="100" err="1">
                <a:latin typeface="Calibri" panose="020F0502020204030204" pitchFamily="34" charset="0"/>
                <a:cs typeface="Times New Roman" panose="02020603050405020304" pitchFamily="18" charset="0"/>
              </a:rPr>
              <a:t>Sheets</a:t>
            </a:r>
            <a:r>
              <a:rPr lang="pt-BR" sz="2800" b="1" kern="100">
                <a:latin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pt-BR" sz="2800" kern="100">
                <a:latin typeface="Calibri" panose="020F0502020204030204" pitchFamily="34" charset="0"/>
                <a:cs typeface="Times New Roman" panose="02020603050405020304" pitchFamily="18" charset="0"/>
              </a:rPr>
              <a:t>uma linguagem de estilização que define a apresentação da página. Fontes, cores, background, espaçamento e layout, por exemplo, são controlados com CSS. </a:t>
            </a:r>
            <a:endParaRPr lang="pt-BR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033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9792771-B32A-70CE-0737-5C3FAFB5B2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04"/>
          <a:stretch/>
        </p:blipFill>
        <p:spPr>
          <a:xfrm>
            <a:off x="0" y="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/>
              <a:t>É a linguagem de programação que permite criar aplicações web interativas e dinâmicas, tanto no navegador quanto no servidor.</a:t>
            </a:r>
            <a:endParaRPr lang="pt-BR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</a:pPr>
            <a:r>
              <a:rPr lang="pt-BR" sz="2400" kern="100">
                <a:latin typeface="Calibri" panose="020F0502020204030204" pitchFamily="34" charset="0"/>
                <a:cs typeface="Times New Roman" panose="02020603050405020304" pitchFamily="18" charset="0"/>
              </a:rPr>
              <a:t>Controla aplicações inteiras</a:t>
            </a:r>
          </a:p>
          <a:p>
            <a:pPr lvl="1">
              <a:lnSpc>
                <a:spcPct val="107000"/>
              </a:lnSpc>
            </a:pP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Roda no navegador </a:t>
            </a:r>
            <a:r>
              <a:rPr lang="pt-BR" sz="24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servidor (Node.js)</a:t>
            </a:r>
            <a:endParaRPr lang="pt-BR" sz="1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304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Desenvolvedores </a:t>
            </a:r>
            <a:r>
              <a:rPr lang="pt-BR" sz="28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Fronted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tendem a conhecer frameworks como </a:t>
            </a:r>
            <a:r>
              <a:rPr lang="pt-BR" sz="2800" b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React</a:t>
            </a:r>
            <a:r>
              <a:rPr lang="pt-BR" sz="28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pt-BR" sz="28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b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Bootstrap</a:t>
            </a:r>
            <a:r>
              <a:rPr lang="pt-BR" sz="28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por exemplo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7000"/>
              </a:lnSpc>
            </a:pPr>
            <a:r>
              <a:rPr lang="pt-BR" sz="2400" kern="1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React</a:t>
            </a:r>
            <a:r>
              <a:rPr lang="pt-BR" sz="24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biblioteca para construir interfaces</a:t>
            </a:r>
          </a:p>
          <a:p>
            <a:pPr lvl="1">
              <a:lnSpc>
                <a:spcPct val="107000"/>
              </a:lnSpc>
            </a:pPr>
            <a:r>
              <a:rPr lang="pt-BR" sz="24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Bootstrap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framework CSS com componentes prontos</a:t>
            </a:r>
            <a:endParaRPr lang="pt-BR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870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Outros papéis</a:t>
            </a:r>
          </a:p>
          <a:p>
            <a:pPr lvl="1">
              <a:lnSpc>
                <a:spcPct val="107000"/>
              </a:lnSpc>
            </a:pPr>
            <a:r>
              <a:rPr lang="pt-BR" sz="24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Gerente de produto: </a:t>
            </a:r>
            <a:r>
              <a:rPr lang="pt-BR" sz="24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guia o desenvolvimento do projeto em uma direção condizente com os objetivos do negócio. É quem melhor conhece o “</a:t>
            </a:r>
            <a:r>
              <a:rPr lang="pt-BR" sz="2400" i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target</a:t>
            </a:r>
            <a:r>
              <a:rPr lang="pt-BR" sz="24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”, ou mercado-alvo, um grupo específico de consumidores que uma empresa ou marca deseja atingir.</a:t>
            </a:r>
          </a:p>
          <a:p>
            <a:pPr lvl="1">
              <a:lnSpc>
                <a:spcPct val="107000"/>
              </a:lnSpc>
            </a:pPr>
            <a:r>
              <a:rPr lang="pt-BR" sz="2400" b="1" kern="100">
                <a:latin typeface="Calibri" panose="020F0502020204030204" pitchFamily="34" charset="0"/>
                <a:cs typeface="Times New Roman" panose="02020603050405020304" pitchFamily="18" charset="0"/>
              </a:rPr>
              <a:t>Gerente de projeto:</a:t>
            </a:r>
            <a:r>
              <a:rPr lang="pt-BR" sz="2400" kern="100">
                <a:latin typeface="Calibri" panose="020F0502020204030204" pitchFamily="34" charset="0"/>
                <a:cs typeface="Times New Roman" panose="02020603050405020304" pitchFamily="18" charset="0"/>
              </a:rPr>
              <a:t> coordena designers, desenvolvedores e os demais indivíduos trabalhando no site.</a:t>
            </a:r>
          </a:p>
          <a:p>
            <a:pPr lvl="1">
              <a:lnSpc>
                <a:spcPct val="107000"/>
              </a:lnSpc>
            </a:pPr>
            <a:endParaRPr lang="pt-BR" sz="1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95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As áreas envolvidas na criação de websites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Outros papéis</a:t>
            </a:r>
          </a:p>
          <a:p>
            <a:pPr lvl="1">
              <a:lnSpc>
                <a:spcPct val="107000"/>
              </a:lnSpc>
            </a:pPr>
            <a:r>
              <a:rPr lang="pt-BR" sz="24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Especialista em SEO (</a:t>
            </a:r>
            <a:r>
              <a:rPr lang="pt-BR" sz="2400" b="1" i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Search </a:t>
            </a:r>
            <a:r>
              <a:rPr lang="pt-BR" sz="2400" b="1" i="1" kern="1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</a:t>
            </a:r>
            <a:r>
              <a:rPr lang="pt-BR" sz="2400" b="1" i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i="1" kern="10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Optimization</a:t>
            </a:r>
            <a:r>
              <a:rPr lang="pt-BR" sz="24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 </a:t>
            </a:r>
            <a:r>
              <a:rPr lang="pt-BR" sz="24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responsável por fazer alterações no código e na estrutura do site para aumentar suas chances de ser mais bem ranqueado em ferramentas de busca.</a:t>
            </a:r>
          </a:p>
          <a:p>
            <a:pPr lvl="1">
              <a:lnSpc>
                <a:spcPct val="107000"/>
              </a:lnSpc>
            </a:pPr>
            <a:r>
              <a:rPr lang="pt-BR" sz="24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Produtores multimídia: </a:t>
            </a:r>
            <a:r>
              <a:rPr lang="pt-BR" sz="24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responsáveis pelo som, vídeo, animação e outros elementos interativos.</a:t>
            </a:r>
          </a:p>
          <a:p>
            <a:pPr lvl="1">
              <a:lnSpc>
                <a:spcPct val="107000"/>
              </a:lnSpc>
            </a:pPr>
            <a:endParaRPr lang="pt-BR" sz="1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110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que é a internet e qual seu propósito?</a:t>
            </a:r>
          </a:p>
        </p:txBody>
      </p:sp>
    </p:spTree>
    <p:extLst>
      <p:ext uri="{BB962C8B-B14F-4D97-AF65-F5344CB8AC3E}">
        <p14:creationId xmlns:p14="http://schemas.microsoft.com/office/powerpoint/2010/main" val="2218992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que é a internet e qual seu propósito?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internet é uma rede internacional de computadores conectados.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Seu objetivo, obviamente, é </a:t>
            </a:r>
            <a:r>
              <a:rPr lang="pt-BR" sz="2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compartilhar informação</a:t>
            </a:r>
            <a:r>
              <a:rPr lang="pt-BR" sz="2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7000"/>
              </a:lnSpc>
            </a:pPr>
            <a:r>
              <a:rPr lang="pt-BR" sz="2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Há diversas maneiras de compartilhar informação entre computadores, como Email (POP3/IMAP/SMTP), transferência de arquivos (FTP), </a:t>
            </a:r>
            <a:r>
              <a:rPr lang="pt-BR" sz="2200" i="1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Secure</a:t>
            </a:r>
            <a:r>
              <a:rPr lang="pt-BR" sz="22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Shell </a:t>
            </a:r>
            <a:r>
              <a:rPr lang="pt-BR" sz="2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(SSH - um protocolo de rede criptografado que permite a comunicação segura entre dois dispositivos) e outros.</a:t>
            </a:r>
          </a:p>
        </p:txBody>
      </p:sp>
    </p:spTree>
    <p:extLst>
      <p:ext uri="{BB962C8B-B14F-4D97-AF65-F5344CB8AC3E}">
        <p14:creationId xmlns:p14="http://schemas.microsoft.com/office/powerpoint/2010/main" val="1911375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que é a Web?</a:t>
            </a:r>
          </a:p>
        </p:txBody>
      </p:sp>
    </p:spTree>
    <p:extLst>
      <p:ext uri="{BB962C8B-B14F-4D97-AF65-F5344CB8AC3E}">
        <p14:creationId xmlns:p14="http://schemas.microsoft.com/office/powerpoint/2010/main" val="1161077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que é a Web?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4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pt-BR" sz="24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 </a:t>
            </a:r>
            <a:r>
              <a:rPr lang="pt-BR" sz="24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Wide</a:t>
            </a:r>
            <a:r>
              <a:rPr lang="pt-BR" sz="24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um dos métodos capazes de linkar documentos através de hipertextos (</a:t>
            </a:r>
            <a:r>
              <a:rPr lang="pt-BR" sz="2400" i="1" u="sng" kern="10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links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lvl="1">
              <a:lnSpc>
                <a:spcPct val="107000"/>
              </a:lnSpc>
            </a:pPr>
            <a:r>
              <a:rPr lang="pt-BR" sz="2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protocolo utilizado na Web é o HTTP (</a:t>
            </a:r>
            <a:r>
              <a:rPr lang="pt-BR" sz="2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HyperText</a:t>
            </a:r>
            <a:r>
              <a:rPr lang="pt-BR" sz="2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Transfer</a:t>
            </a:r>
            <a:r>
              <a:rPr lang="pt-BR" sz="2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Protocol</a:t>
            </a:r>
            <a:r>
              <a:rPr lang="pt-BR" sz="2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lvl="2">
              <a:lnSpc>
                <a:spcPct val="107000"/>
              </a:lnSpc>
            </a:pPr>
            <a:r>
              <a:rPr lang="pt-BR" sz="18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 HTTPS, HTTP/2, HTTP/3...</a:t>
            </a:r>
            <a:endParaRPr lang="pt-BR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</a:pPr>
            <a:r>
              <a:rPr lang="pt-BR" sz="2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desenvolvimento de tecnologias para Web é supervisionado pelo Consórcio World </a:t>
            </a:r>
            <a:r>
              <a:rPr lang="pt-BR" sz="22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Wide</a:t>
            </a:r>
            <a:r>
              <a:rPr lang="pt-BR" sz="2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 (W3C).</a:t>
            </a:r>
            <a:endParaRPr lang="pt-BR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2668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 a diferença entre a web e a internet?</a:t>
            </a:r>
          </a:p>
          <a:p>
            <a:pPr marL="0" indent="0">
              <a:lnSpc>
                <a:spcPct val="107000"/>
              </a:lnSpc>
              <a:buNone/>
            </a:pPr>
            <a:endParaRPr lang="pt-BR" sz="1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537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 a diferença entre a web e a internet?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web é um subconjunto da internet. É apenas uma das várias maneiras de transferir informação entre computadores conectados.</a:t>
            </a:r>
            <a:endParaRPr lang="pt-BR" sz="1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9214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server é um computador ou um software?</a:t>
            </a:r>
          </a:p>
        </p:txBody>
      </p:sp>
    </p:spTree>
    <p:extLst>
      <p:ext uri="{BB962C8B-B14F-4D97-AF65-F5344CB8AC3E}">
        <p14:creationId xmlns:p14="http://schemas.microsoft.com/office/powerpoint/2010/main" val="11153805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server é um computador ou um software?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 verdade, pode ser tanto o hardware (máquina) quanto o software responsável por “servir” documentação quando solicitado, sendo os softwares de servidor mais comuns: Apache HTTP Server, </a:t>
            </a:r>
            <a:r>
              <a:rPr lang="pt-BR" sz="22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Nginx</a:t>
            </a:r>
            <a:r>
              <a:rPr lang="pt-BR" sz="2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Microsoft Internet </a:t>
            </a:r>
            <a:r>
              <a:rPr lang="pt-BR" sz="22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pt-BR" sz="2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Service (Microsoft IIS).</a:t>
            </a:r>
          </a:p>
        </p:txBody>
      </p:sp>
    </p:spTree>
    <p:extLst>
      <p:ext uri="{BB962C8B-B14F-4D97-AF65-F5344CB8AC3E}">
        <p14:creationId xmlns:p14="http://schemas.microsoft.com/office/powerpoint/2010/main" val="1528729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Todo computador ou dispositivo (roteador, smartphone, carro etc.) conectado à internet recebe um número específico chamado 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Endereço de IP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pt-BR" sz="28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Internet </a:t>
            </a:r>
            <a:r>
              <a:rPr lang="pt-BR" sz="28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Protocol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Nos referimos a estes </a:t>
            </a:r>
            <a:r>
              <a:rPr lang="pt-BR" sz="28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IP’s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através de um 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domínio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graças ao </a:t>
            </a:r>
            <a:r>
              <a:rPr lang="pt-BR" sz="28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Domain </a:t>
            </a:r>
            <a:r>
              <a:rPr lang="pt-BR" sz="28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pt-BR" sz="28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System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(DNS).</a:t>
            </a:r>
            <a:endParaRPr lang="pt-BR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818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Enquanto o servidor “serve”, o software responsável por fazer a 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solicitação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chamado de “</a:t>
            </a:r>
            <a:r>
              <a:rPr lang="pt-BR" sz="2800" b="1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”.</a:t>
            </a:r>
            <a:r>
              <a:rPr lang="pt-BR" sz="28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Server, então, retorna a informação para o </a:t>
            </a: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browser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(navegador).</a:t>
            </a:r>
            <a:endParaRPr lang="pt-BR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3439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aplicativos do lado do cliente (</a:t>
            </a:r>
            <a:r>
              <a:rPr lang="pt-BR" sz="2800" b="1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Client-side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são executados na máquina do usuário, enquanto os aplicativos e funções do lado do servidor (</a:t>
            </a: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Server-</a:t>
            </a:r>
            <a:r>
              <a:rPr lang="pt-BR" sz="2800" b="1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side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usam o poder de processamento do computador servidor.</a:t>
            </a:r>
            <a:endParaRPr lang="pt-BR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447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54E4945-47BC-89AB-3C3C-44E4F86ECF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C558CE72-69CB-CD17-B961-82B5186E0F85}"/>
              </a:ext>
            </a:extLst>
          </p:cNvPr>
          <p:cNvGrpSpPr/>
          <p:nvPr/>
        </p:nvGrpSpPr>
        <p:grpSpPr>
          <a:xfrm>
            <a:off x="3810000" y="0"/>
            <a:ext cx="4572000" cy="6858000"/>
            <a:chOff x="3810000" y="0"/>
            <a:chExt cx="4572000" cy="6858000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1536DC92-4B0B-CBC9-BF46-E9912BD77419}"/>
                </a:ext>
              </a:extLst>
            </p:cNvPr>
            <p:cNvGrpSpPr/>
            <p:nvPr/>
          </p:nvGrpSpPr>
          <p:grpSpPr>
            <a:xfrm>
              <a:off x="3810000" y="0"/>
              <a:ext cx="4572000" cy="6858000"/>
              <a:chOff x="3810000" y="0"/>
              <a:chExt cx="4572000" cy="6858000"/>
            </a:xfrm>
          </p:grpSpPr>
          <p:pic>
            <p:nvPicPr>
              <p:cNvPr id="3" name="Imagem 2" descr="Diagrama&#10;&#10;O conteúdo gerado por IA pode estar incorreto.">
                <a:extLst>
                  <a:ext uri="{FF2B5EF4-FFF2-40B4-BE49-F238E27FC236}">
                    <a16:creationId xmlns:a16="http://schemas.microsoft.com/office/drawing/2014/main" id="{8F251726-7383-D5A9-AF3D-3D1A837692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10000" y="0"/>
                <a:ext cx="4572000" cy="6858000"/>
              </a:xfrm>
              <a:prstGeom prst="rect">
                <a:avLst/>
              </a:prstGeom>
            </p:spPr>
          </p:pic>
          <p:pic>
            <p:nvPicPr>
              <p:cNvPr id="6" name="Imagem 5" descr="Desenho com traços pretos em fundo branco&#10;&#10;O conteúdo gerado por IA pode estar incorreto.">
                <a:extLst>
                  <a:ext uri="{FF2B5EF4-FFF2-40B4-BE49-F238E27FC236}">
                    <a16:creationId xmlns:a16="http://schemas.microsoft.com/office/drawing/2014/main" id="{A9083E60-59C6-0EC2-95C0-9F793988A3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43166" y="2431112"/>
                <a:ext cx="920997" cy="178738"/>
              </a:xfrm>
              <a:prstGeom prst="rect">
                <a:avLst/>
              </a:prstGeom>
            </p:spPr>
          </p:pic>
          <p:pic>
            <p:nvPicPr>
              <p:cNvPr id="9" name="Imagem 8">
                <a:extLst>
                  <a:ext uri="{FF2B5EF4-FFF2-40B4-BE49-F238E27FC236}">
                    <a16:creationId xmlns:a16="http://schemas.microsoft.com/office/drawing/2014/main" id="{49F096FE-FDF4-E85D-B87F-89161C117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89728" y="2628900"/>
                <a:ext cx="1028844" cy="295316"/>
              </a:xfrm>
              <a:prstGeom prst="rect">
                <a:avLst/>
              </a:prstGeom>
            </p:spPr>
          </p:pic>
        </p:grpSp>
        <p:pic>
          <p:nvPicPr>
            <p:cNvPr id="16" name="Imagem 15" descr="Logotipo, nome da empresa&#10;&#10;O conteúdo gerado por IA pode estar incorreto.">
              <a:extLst>
                <a:ext uri="{FF2B5EF4-FFF2-40B4-BE49-F238E27FC236}">
                  <a16:creationId xmlns:a16="http://schemas.microsoft.com/office/drawing/2014/main" id="{FEB6DCFE-35B1-646F-EF8E-85A9C8F2A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53109" y="6491330"/>
              <a:ext cx="815602" cy="176170"/>
            </a:xfrm>
            <a:prstGeom prst="rect">
              <a:avLst/>
            </a:prstGeom>
          </p:spPr>
        </p:pic>
      </p:grpSp>
      <p:sp>
        <p:nvSpPr>
          <p:cNvPr id="19" name="Retângulo 18">
            <a:extLst>
              <a:ext uri="{FF2B5EF4-FFF2-40B4-BE49-F238E27FC236}">
                <a16:creationId xmlns:a16="http://schemas.microsoft.com/office/drawing/2014/main" id="{07E48E06-A113-6A63-0B35-D8BBD55E14D8}"/>
              </a:ext>
            </a:extLst>
          </p:cNvPr>
          <p:cNvSpPr/>
          <p:nvPr/>
        </p:nvSpPr>
        <p:spPr>
          <a:xfrm>
            <a:off x="4210050" y="4406900"/>
            <a:ext cx="3803650" cy="730250"/>
          </a:xfrm>
          <a:prstGeom prst="rect">
            <a:avLst/>
          </a:prstGeom>
          <a:solidFill>
            <a:srgbClr val="F0E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1E221485-DC2D-270C-BA3F-E9F8E5523F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324" y="4949982"/>
            <a:ext cx="133351" cy="213362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06E6AD8A-2732-DA00-0ED1-C82C815E2E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324" y="4711857"/>
            <a:ext cx="133351" cy="213362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C13DBA9E-76E9-E175-588B-8DC1525CE5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324" y="4465795"/>
            <a:ext cx="133351" cy="213362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89933EFC-9282-2623-7C37-617E93E35E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585" y="2331244"/>
            <a:ext cx="238076" cy="777716"/>
          </a:xfrm>
          <a:prstGeom prst="rect">
            <a:avLst/>
          </a:prstGeom>
        </p:spPr>
      </p:pic>
      <p:pic>
        <p:nvPicPr>
          <p:cNvPr id="33" name="Imagem 32" descr="Ícone&#10;&#10;O conteúdo gerado por IA pode estar incorreto.">
            <a:extLst>
              <a:ext uri="{FF2B5EF4-FFF2-40B4-BE49-F238E27FC236}">
                <a16:creationId xmlns:a16="http://schemas.microsoft.com/office/drawing/2014/main" id="{DB47491C-54B0-BD10-0ABF-B29BE19086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0759" y="2347861"/>
            <a:ext cx="255315" cy="758718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679BB543-8760-C8B3-8FB8-5B7088CDA3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1893" y="2328863"/>
            <a:ext cx="238076" cy="77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71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página na Web possui seu próprio 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endereço 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especial chamado 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URL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pt-BR" sz="28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Uniform </a:t>
            </a:r>
            <a:r>
              <a:rPr lang="pt-BR" sz="28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Resource</a:t>
            </a:r>
            <a:r>
              <a:rPr lang="pt-BR" sz="28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Locator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 Uma URL completa possui três elementos: o 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protocolo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 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nome 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site e o 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caminho 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absoluto do documento ou recurso</a:t>
            </a:r>
            <a:endParaRPr lang="pt-BR" sz="2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503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152AB647-8F36-3E00-38FF-F2D620497DFE}"/>
              </a:ext>
            </a:extLst>
          </p:cNvPr>
          <p:cNvGrpSpPr/>
          <p:nvPr/>
        </p:nvGrpSpPr>
        <p:grpSpPr>
          <a:xfrm>
            <a:off x="0" y="853701"/>
            <a:ext cx="12192000" cy="2856871"/>
            <a:chOff x="0" y="2000564"/>
            <a:chExt cx="12192000" cy="2856871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1D5AE2F8-71E2-3A1D-51B4-93D31701F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000564"/>
              <a:ext cx="12192000" cy="2856871"/>
            </a:xfrm>
            <a:prstGeom prst="rect">
              <a:avLst/>
            </a:prstGeom>
          </p:spPr>
        </p:pic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691B0395-AD13-F738-D946-43BB4CD9DC2E}"/>
                </a:ext>
              </a:extLst>
            </p:cNvPr>
            <p:cNvSpPr txBox="1"/>
            <p:nvPr/>
          </p:nvSpPr>
          <p:spPr>
            <a:xfrm>
              <a:off x="730250" y="2146300"/>
              <a:ext cx="140970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pt-BR" sz="2400" b="1"/>
                <a:t>Protocolo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37002288-39CD-2695-8775-297EE3D6EB8E}"/>
                </a:ext>
              </a:extLst>
            </p:cNvPr>
            <p:cNvSpPr txBox="1"/>
            <p:nvPr/>
          </p:nvSpPr>
          <p:spPr>
            <a:xfrm>
              <a:off x="2679700" y="2146299"/>
              <a:ext cx="297180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pt-BR" sz="2400" b="1"/>
                <a:t>Nome do site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2AF06549-29AE-D783-98E0-77B55C263B09}"/>
                </a:ext>
              </a:extLst>
            </p:cNvPr>
            <p:cNvSpPr txBox="1"/>
            <p:nvPr/>
          </p:nvSpPr>
          <p:spPr>
            <a:xfrm>
              <a:off x="6921500" y="2146299"/>
              <a:ext cx="357505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pt-BR" sz="2400" b="1"/>
                <a:t>Caminho (</a:t>
              </a:r>
              <a:r>
                <a:rPr lang="pt-BR" sz="2400" b="1" i="1"/>
                <a:t>Absolute path</a:t>
              </a:r>
              <a:r>
                <a:rPr lang="pt-BR" sz="2400" b="1"/>
                <a:t>)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022C283-CABD-4217-A16D-1DE4908F010F}"/>
                </a:ext>
              </a:extLst>
            </p:cNvPr>
            <p:cNvSpPr txBox="1"/>
            <p:nvPr/>
          </p:nvSpPr>
          <p:spPr>
            <a:xfrm>
              <a:off x="1822450" y="4203700"/>
              <a:ext cx="147320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/>
                <a:t>Host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048099B-49D2-57A4-EE79-3B8632B878D2}"/>
                </a:ext>
              </a:extLst>
            </p:cNvPr>
            <p:cNvSpPr txBox="1"/>
            <p:nvPr/>
          </p:nvSpPr>
          <p:spPr>
            <a:xfrm>
              <a:off x="3238500" y="4203698"/>
              <a:ext cx="259080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/>
                <a:t>Nome do domínio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B84DCEF-253A-BCA7-3FCA-3DD00B4F5EAE}"/>
                </a:ext>
              </a:extLst>
            </p:cNvPr>
            <p:cNvSpPr txBox="1"/>
            <p:nvPr/>
          </p:nvSpPr>
          <p:spPr>
            <a:xfrm>
              <a:off x="6096000" y="4203696"/>
              <a:ext cx="308610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/>
                <a:t>Caminho do diretório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115BC5F4-76A0-B6F1-6A0A-732937B91155}"/>
                </a:ext>
              </a:extLst>
            </p:cNvPr>
            <p:cNvSpPr txBox="1"/>
            <p:nvPr/>
          </p:nvSpPr>
          <p:spPr>
            <a:xfrm>
              <a:off x="9471660" y="4203695"/>
              <a:ext cx="230124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/>
                <a:t>Documento</a:t>
              </a: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635AABD-4865-B153-BCCB-70E28FC5221B}"/>
              </a:ext>
            </a:extLst>
          </p:cNvPr>
          <p:cNvSpPr txBox="1"/>
          <p:nvPr/>
        </p:nvSpPr>
        <p:spPr>
          <a:xfrm>
            <a:off x="881063" y="4575863"/>
            <a:ext cx="10429875" cy="1260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“a URL na Figura diz que gostaria de usar o protocolo HTTP para se conectar a um servidor web na internet chamado ‘</a:t>
            </a:r>
            <a:r>
              <a:rPr lang="pt-BR" sz="24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www.example.com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 e solicitar o documento </a:t>
            </a:r>
            <a:r>
              <a:rPr lang="pt-BR" sz="24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first.html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localizado no diretório </a:t>
            </a:r>
            <a:r>
              <a:rPr lang="pt-BR" sz="24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samples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que está no diretório </a:t>
            </a:r>
            <a:r>
              <a:rPr lang="pt-BR" sz="24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2018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.”</a:t>
            </a:r>
            <a:endParaRPr lang="pt-BR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2959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passarmos apenas o domínio ‘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www.example.com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’, sem solicitar qualquer documento (</a:t>
            </a:r>
            <a:r>
              <a:rPr lang="pt-BR" sz="2800" b="1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.: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‘</a:t>
            </a: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first.html’)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especificamente, qual é a resposta do servidor?</a:t>
            </a:r>
          </a:p>
          <a:p>
            <a:pPr marL="0" indent="0">
              <a:lnSpc>
                <a:spcPct val="107000"/>
              </a:lnSpc>
              <a:buNone/>
            </a:pPr>
            <a:endParaRPr lang="pt-BR" sz="2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17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passarmos apenas o domínio ‘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www.example.com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’, sem solicitar qualquer documento (</a:t>
            </a:r>
            <a:r>
              <a:rPr lang="pt-BR" sz="2800" b="1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.: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‘</a:t>
            </a: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first.html’)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especificamente, qual é a resposta do servidor?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 procurará nesse diretório por um documento padrão, normalmente chamado </a:t>
            </a:r>
            <a:r>
              <a:rPr lang="pt-BR" sz="2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index.html </a:t>
            </a:r>
            <a:r>
              <a:rPr lang="pt-BR" sz="2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 </a:t>
            </a:r>
            <a:r>
              <a:rPr lang="pt-BR" sz="2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default.html: 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www.example.com/index.html</a:t>
            </a:r>
            <a:endParaRPr lang="pt-BR" sz="2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2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8838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 a diferença entre 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www.example.com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28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www.example.com/</a:t>
            </a:r>
            <a:r>
              <a:rPr lang="pt-BR" sz="28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lnSpc>
                <a:spcPct val="107000"/>
              </a:lnSpc>
              <a:buNone/>
            </a:pPr>
            <a:endParaRPr lang="pt-BR" sz="2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2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8920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 a diferença entre 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www.example.com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28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www.example.com/</a:t>
            </a:r>
            <a:r>
              <a:rPr lang="pt-BR" sz="28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4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a barra for omitida, o servidor verifica se a solicitação é um arquivo ou um diretório. Se for um diretório, o servidor pede ao navegador para enviar a solicitação novamente com uma barra. No final, a barra é incluída para diretórios, mesmo que não seja incluída na primeira vez que for inserida</a:t>
            </a:r>
          </a:p>
          <a:p>
            <a:pPr marL="0" indent="0">
              <a:lnSpc>
                <a:spcPct val="107000"/>
              </a:lnSpc>
              <a:buNone/>
            </a:pPr>
            <a:endParaRPr lang="pt-BR" sz="2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2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2259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Quais os riscos de não incluir o nome do documento (</a:t>
            </a:r>
            <a:r>
              <a:rPr lang="pt-BR" sz="2800" b="1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.: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‘</a:t>
            </a:r>
            <a:r>
              <a:rPr lang="pt-BR" sz="2800" b="1" i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</a:t>
            </a: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.html’)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 busca?</a:t>
            </a:r>
            <a:endParaRPr lang="pt-BR" sz="2800" b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2319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Quais os riscos de não incluir o nome do documento (</a:t>
            </a:r>
            <a:r>
              <a:rPr lang="pt-BR" sz="2800" b="1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.: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‘</a:t>
            </a:r>
            <a:r>
              <a:rPr lang="pt-BR" sz="2800" b="1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index.html’)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 busca?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arquivo </a:t>
            </a:r>
            <a:r>
              <a:rPr lang="pt-BR" sz="24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também é útil para </a:t>
            </a:r>
            <a:r>
              <a:rPr lang="pt-BR" sz="24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segurança</a:t>
            </a:r>
            <a:r>
              <a:rPr lang="pt-BR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Alguns servidores (dependendo de sua configuração) exibem o conteúdo do diretório se o arquivo padrão não for encontrado.</a:t>
            </a:r>
          </a:p>
          <a:p>
            <a:pPr marL="0" indent="0">
              <a:lnSpc>
                <a:spcPct val="107000"/>
              </a:lnSpc>
              <a:buNone/>
            </a:pPr>
            <a:endParaRPr lang="pt-BR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5498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FA193E7-8EE9-15E9-82EB-18B5AA54A1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83E9241-22B3-0B90-7B79-F9BDD480F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10" y="0"/>
            <a:ext cx="11802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529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/>
              <a:t>Como a Web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 letra “</a:t>
            </a:r>
            <a:r>
              <a:rPr lang="pt-BR" sz="2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significa “</a:t>
            </a:r>
            <a:r>
              <a:rPr lang="pt-BR" sz="2800" b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Secure</a:t>
            </a:r>
            <a:r>
              <a:rPr lang="pt-BR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”. Esta é uma modificação do HTTP que </a:t>
            </a:r>
            <a:r>
              <a:rPr lang="pt-BR" sz="2800"/>
              <a:t>criptografa todos os dados trocados entre navegador e servidor</a:t>
            </a:r>
            <a:endParaRPr lang="pt-BR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63461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ED2F52BDCB944C891BB0D3DB5B4689" ma:contentTypeVersion="3" ma:contentTypeDescription="Create a new document." ma:contentTypeScope="" ma:versionID="ffef1dbc39b52dbe3fbb7262bc81aa9d">
  <xsd:schema xmlns:xsd="http://www.w3.org/2001/XMLSchema" xmlns:xs="http://www.w3.org/2001/XMLSchema" xmlns:p="http://schemas.microsoft.com/office/2006/metadata/properties" xmlns:ns2="45266506-7c7c-49c5-a640-a9bbfd1bea9a" targetNamespace="http://schemas.microsoft.com/office/2006/metadata/properties" ma:root="true" ma:fieldsID="6a31eb5fc835b1abe042e2a09ad2ada0" ns2:_="">
    <xsd:import namespace="45266506-7c7c-49c5-a640-a9bbfd1bea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66506-7c7c-49c5-a640-a9bbfd1bea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B4038CD-CD55-48C5-8ADF-2B7AB55A6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266506-7c7c-49c5-a640-a9bbfd1bea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Application>Microsoft Office PowerPoint</Application>
  <PresentationFormat>Widescreen</PresentationFormat>
  <Slides>44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45" baseType="lpstr">
      <vt:lpstr>1_RetrospectVTI</vt:lpstr>
      <vt:lpstr>Desenvolvimento Web Responsivo</vt:lpstr>
      <vt:lpstr>Desenvolvimento Web Responsivo</vt:lpstr>
      <vt:lpstr>As áreas envolvidas na criação de websites</vt:lpstr>
      <vt:lpstr>Apresentação do PowerPoint</vt:lpstr>
      <vt:lpstr>As áreas envolvidas na criação de websites</vt:lpstr>
      <vt:lpstr>As áreas envolvidas na criação de websites</vt:lpstr>
      <vt:lpstr>As áreas envolvidas na criação de websites</vt:lpstr>
      <vt:lpstr>As áreas envolvidas na criação de websites</vt:lpstr>
      <vt:lpstr>As áreas envolvidas na criação de websites</vt:lpstr>
      <vt:lpstr>As áreas envolvidas na criação de websites</vt:lpstr>
      <vt:lpstr>Apresentação do PowerPoint</vt:lpstr>
      <vt:lpstr>As áreas envolvidas na criação de websites</vt:lpstr>
      <vt:lpstr>As áreas envolvidas na criação de websites</vt:lpstr>
      <vt:lpstr>As áreas envolvidas na criação de websites</vt:lpstr>
      <vt:lpstr>As áreas envolvidas na criação de websites</vt:lpstr>
      <vt:lpstr>Apresentação do PowerPoint</vt:lpstr>
      <vt:lpstr>As áreas envolvidas na criação de websites</vt:lpstr>
      <vt:lpstr>Apresentação do PowerPoint</vt:lpstr>
      <vt:lpstr>As áreas envolvidas na criação de websites</vt:lpstr>
      <vt:lpstr>As áreas envolvidas na criação de websites</vt:lpstr>
      <vt:lpstr>As áreas envolvidas na criação de websites</vt:lpstr>
      <vt:lpstr>As áreas envolvidas na criação de websites</vt:lpstr>
      <vt:lpstr>Como a Web funciona</vt:lpstr>
      <vt:lpstr>Como a Web funciona</vt:lpstr>
      <vt:lpstr>Como a Web funciona</vt:lpstr>
      <vt:lpstr>Como a Web funciona</vt:lpstr>
      <vt:lpstr>Como a Web funciona</vt:lpstr>
      <vt:lpstr>Como a Web funciona</vt:lpstr>
      <vt:lpstr>Como a Web funciona</vt:lpstr>
      <vt:lpstr>Como a Web funciona</vt:lpstr>
      <vt:lpstr>Como a Web funciona</vt:lpstr>
      <vt:lpstr>Como a Web funciona</vt:lpstr>
      <vt:lpstr>Como a Web funciona</vt:lpstr>
      <vt:lpstr>Apresentação do PowerPoint</vt:lpstr>
      <vt:lpstr>Como a Web funciona</vt:lpstr>
      <vt:lpstr>Apresentação do PowerPoint</vt:lpstr>
      <vt:lpstr>Como a Web funciona</vt:lpstr>
      <vt:lpstr>Como a Web funciona</vt:lpstr>
      <vt:lpstr>Como a Web funciona</vt:lpstr>
      <vt:lpstr>Como a Web funciona</vt:lpstr>
      <vt:lpstr>Como a Web funciona</vt:lpstr>
      <vt:lpstr>Como a Web funciona</vt:lpstr>
      <vt:lpstr>Apresentação do PowerPoint</vt:lpstr>
      <vt:lpstr>Como a Web funciona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Manuais e Ilustrações Técnico Científicas</dc:title>
  <dc:creator>Flávio Waltz</dc:creator>
  <cp:revision>4</cp:revision>
  <dcterms:created xsi:type="dcterms:W3CDTF">2022-08-10T14:03:41Z</dcterms:created>
  <dcterms:modified xsi:type="dcterms:W3CDTF">2026-04-05T13:49:17Z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0x0101002BED2F52BDCB944C891BB0D3DB5B4689</vt:lpwstr>
  </property>
</Properties>
</file>