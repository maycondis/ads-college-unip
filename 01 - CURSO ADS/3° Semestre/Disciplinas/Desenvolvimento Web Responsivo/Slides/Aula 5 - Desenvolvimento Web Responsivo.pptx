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8"/>
  </p:notesMasterIdLst>
  <p:handoutMasterIdLst>
    <p:handoutMasterId r:id="rId69"/>
  </p:handoutMasterIdLst>
  <p:sldIdLst>
    <p:sldId id="268" r:id="rId5"/>
    <p:sldId id="269" r:id="rId6"/>
    <p:sldId id="301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76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6" r:id="rId23"/>
    <p:sldId id="287" r:id="rId24"/>
    <p:sldId id="289" r:id="rId25"/>
    <p:sldId id="288" r:id="rId26"/>
    <p:sldId id="290" r:id="rId27"/>
    <p:sldId id="291" r:id="rId28"/>
    <p:sldId id="292" r:id="rId29"/>
    <p:sldId id="293" r:id="rId30"/>
    <p:sldId id="294" r:id="rId31"/>
    <p:sldId id="295" r:id="rId32"/>
    <p:sldId id="297" r:id="rId33"/>
    <p:sldId id="298" r:id="rId34"/>
    <p:sldId id="296" r:id="rId35"/>
    <p:sldId id="299" r:id="rId36"/>
    <p:sldId id="302" r:id="rId37"/>
    <p:sldId id="303" r:id="rId38"/>
    <p:sldId id="304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6" r:id="rId48"/>
    <p:sldId id="315" r:id="rId49"/>
    <p:sldId id="321" r:id="rId50"/>
    <p:sldId id="318" r:id="rId51"/>
    <p:sldId id="320" r:id="rId52"/>
    <p:sldId id="319" r:id="rId53"/>
    <p:sldId id="322" r:id="rId54"/>
    <p:sldId id="323" r:id="rId55"/>
    <p:sldId id="324" r:id="rId56"/>
    <p:sldId id="325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FB3"/>
    <a:srgbClr val="FFFF80"/>
    <a:srgbClr val="74992E"/>
    <a:srgbClr val="FFFFFF"/>
    <a:srgbClr val="FBFBFB"/>
    <a:srgbClr val="EC7016"/>
    <a:srgbClr val="EFD7FD"/>
    <a:srgbClr val="DBA8FA"/>
    <a:srgbClr val="F6E8FE"/>
    <a:srgbClr val="CE8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92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26/03/2026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26/03/2026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 dirty="0"/>
              <a:t>Desenvolvimento Web Responsivo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Desenvolvimento Web Responsivo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Imagem 5" descr="Imagem de jogo de vídeo game&#10;&#10;Descrição gerada automaticamente com confiança média">
            <a:extLst>
              <a:ext uri="{FF2B5EF4-FFF2-40B4-BE49-F238E27FC236}">
                <a16:creationId xmlns:a16="http://schemas.microsoft.com/office/drawing/2014/main" id="{2AFEC881-DD60-8C8E-C954-A9F35A4BC06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5918" b="35918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62C9655-A76F-8472-C04D-4029123A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Formatando texto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C1DC06-AC88-6F5D-5FED-A240F4A74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301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Especificando o nome da Fonte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Propriedade: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font-family</a:t>
            </a:r>
            <a:r>
              <a:rPr lang="pt-BR" sz="36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  <a:endParaRPr lang="pt-BR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2608" lvl="1" indent="0">
              <a:buNone/>
            </a:pP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body {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font-family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: Arial;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292608" lvl="1" indent="0">
              <a:buNone/>
            </a:pP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var {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font-family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: Courier,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monospace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;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}		</a:t>
            </a:r>
            <a:r>
              <a:rPr lang="pt-BR" sz="3200" i="1" u="none" strike="noStrike" baseline="0" dirty="0">
                <a:solidFill>
                  <a:srgbClr val="000000"/>
                </a:solidFill>
                <a:latin typeface="TheSansMonoCd-W4SemiLight"/>
              </a:rPr>
              <a:t>“</a:t>
            </a:r>
            <a:r>
              <a:rPr lang="pt-BR" sz="3200" i="1" u="none" strike="noStrike" baseline="0" dirty="0" err="1">
                <a:solidFill>
                  <a:srgbClr val="000000"/>
                </a:solidFill>
                <a:latin typeface="TheSansMonoCd-W4SemiLight"/>
              </a:rPr>
              <a:t>font</a:t>
            </a:r>
            <a:r>
              <a:rPr lang="pt-BR" sz="3200" i="1" u="none" strike="noStrike" baseline="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3200" i="1" u="none" strike="noStrike" baseline="0" dirty="0" err="1">
                <a:solidFill>
                  <a:srgbClr val="000000"/>
                </a:solidFill>
                <a:latin typeface="TheSansMonoCd-W4SemiLight"/>
              </a:rPr>
              <a:t>stack</a:t>
            </a:r>
            <a:r>
              <a:rPr lang="pt-BR" sz="3200" i="1" u="none" strike="noStrike" baseline="0" dirty="0">
                <a:solidFill>
                  <a:srgbClr val="000000"/>
                </a:solidFill>
                <a:latin typeface="TheSansMonoCd-W4SemiLight"/>
              </a:rPr>
              <a:t>"</a:t>
            </a:r>
            <a:endParaRPr lang="pt-BR" sz="3200" b="1" i="1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292608" lvl="1" indent="0">
              <a:buNone/>
            </a:pPr>
            <a:r>
              <a:rPr lang="fr-F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p { </a:t>
            </a:r>
            <a:r>
              <a:rPr lang="fr-F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font-family: "Duru Sans", Verdana, sans-serif; </a:t>
            </a:r>
            <a:r>
              <a:rPr lang="fr-F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292608" lvl="1" indent="0">
              <a:buNone/>
            </a:pPr>
            <a:endParaRPr lang="fr-FR" sz="26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algn="l"/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Obs.: Arial deve iniciar com letra maiúscula. “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monospace</a:t>
            </a: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é uma família genérica, e pode iniciar com letra minúscula. “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Duru</a:t>
            </a: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Sans</a:t>
            </a:r>
            <a:r>
              <a:rPr lang="pt-B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 deve estar entre aspas por possuir um espaço entre as palavras.</a:t>
            </a:r>
          </a:p>
          <a:p>
            <a:pPr algn="l"/>
            <a:endParaRPr lang="pt-BR" sz="1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84B9A6C3-9FAF-CF88-1603-61F4B424D604}"/>
              </a:ext>
            </a:extLst>
          </p:cNvPr>
          <p:cNvCxnSpPr/>
          <p:nvPr/>
        </p:nvCxnSpPr>
        <p:spPr>
          <a:xfrm flipH="1">
            <a:off x="7897091" y="3888896"/>
            <a:ext cx="11970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: Angulado 8">
            <a:extLst>
              <a:ext uri="{FF2B5EF4-FFF2-40B4-BE49-F238E27FC236}">
                <a16:creationId xmlns:a16="http://schemas.microsoft.com/office/drawing/2014/main" id="{23B3C5DF-69FC-CB15-33FD-E8C21C7CA808}"/>
              </a:ext>
            </a:extLst>
          </p:cNvPr>
          <p:cNvCxnSpPr>
            <a:cxnSpLocks/>
          </p:cNvCxnSpPr>
          <p:nvPr/>
        </p:nvCxnSpPr>
        <p:spPr>
          <a:xfrm rot="10800000" flipV="1">
            <a:off x="9476513" y="4123112"/>
            <a:ext cx="1330033" cy="216133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77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BR" dirty="0"/>
              <a:t>Especificando o nome da Fonte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905064A-B83F-2EB8-EB13-285CE69E8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731346"/>
            <a:ext cx="10058400" cy="2514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0724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BR" dirty="0"/>
              <a:t>Especificando o nome da Fonte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E60B28-3A1F-2680-164B-EEB8FC7E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81055"/>
            <a:ext cx="10058400" cy="2615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332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BR" dirty="0"/>
              <a:t>Especificando o nome da Fonte</a:t>
            </a:r>
          </a:p>
        </p:txBody>
      </p:sp>
      <p:pic>
        <p:nvPicPr>
          <p:cNvPr id="5" name="Imagem 4" descr="Logotipo&#10;&#10;Descrição gerada automaticamente com confiança baixa">
            <a:extLst>
              <a:ext uri="{FF2B5EF4-FFF2-40B4-BE49-F238E27FC236}">
                <a16:creationId xmlns:a16="http://schemas.microsoft.com/office/drawing/2014/main" id="{E1E0534E-A450-2607-97F1-29907FBCA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68481"/>
            <a:ext cx="10058400" cy="26403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520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BR" dirty="0"/>
              <a:t>Especificando o nome da Fonte</a:t>
            </a:r>
          </a:p>
        </p:txBody>
      </p:sp>
      <p:pic>
        <p:nvPicPr>
          <p:cNvPr id="4" name="Imagem 3" descr="Texto&#10;&#10;Descrição gerada automaticamente com confiança baixa">
            <a:extLst>
              <a:ext uri="{FF2B5EF4-FFF2-40B4-BE49-F238E27FC236}">
                <a16:creationId xmlns:a16="http://schemas.microsoft.com/office/drawing/2014/main" id="{B59767CB-23F7-A130-11A3-D1D1C4319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58828"/>
            <a:ext cx="10058400" cy="16596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96754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BR" dirty="0"/>
              <a:t>Especificando o nome da Fonte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753A243-CC20-5013-61D2-1E9FB7BD5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165145"/>
            <a:ext cx="10058400" cy="16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469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Especificando o tamanho da Fonte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Propriedade: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pt-BR" sz="3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font-size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</a:t>
            </a:r>
          </a:p>
          <a:p>
            <a:pPr marL="292608" lvl="1" indent="0">
              <a:buNone/>
            </a:pP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font-size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: 1.5em;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}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 tamanho relativo à fonte</a:t>
            </a:r>
            <a:endParaRPr lang="pt-BR" sz="32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292608" lvl="1" indent="0">
              <a:buNone/>
            </a:pP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font-size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: 150%;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marL="292608" lvl="1" indent="0">
              <a:buNone/>
            </a:pP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font-size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: x-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large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;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 tamanho absoluto</a:t>
            </a:r>
          </a:p>
          <a:p>
            <a:pPr marL="292608" lvl="1" indent="0">
              <a:buNone/>
            </a:pPr>
            <a:endParaRPr lang="pt-BR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2608" lvl="1" indent="0">
              <a:buNone/>
            </a:pPr>
            <a:r>
              <a:rPr lang="pt-BR" sz="32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strong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 {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font-size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: </a:t>
            </a:r>
            <a:r>
              <a:rPr lang="pt-BR" sz="32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larger</a:t>
            </a:r>
            <a:r>
              <a:rPr lang="pt-BR" sz="3200" b="1" i="0" u="none" strike="noStrike" baseline="0" dirty="0">
                <a:solidFill>
                  <a:srgbClr val="3D71B8"/>
                </a:solidFill>
                <a:latin typeface="TheSansMonoCd-W5Regular"/>
              </a:rPr>
              <a:t>; </a:t>
            </a:r>
            <a:r>
              <a:rPr lang="pt-B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-&gt; maior que os itens ao redor</a:t>
            </a:r>
            <a:endParaRPr lang="pt-BR" sz="32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10640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Especificando o tamanho da Fonte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uso de valores relativos é mais eficiente. Definindo: </a:t>
            </a:r>
          </a:p>
          <a:p>
            <a:pPr marL="1471400" lvl="8" indent="0">
              <a:buNone/>
            </a:pPr>
            <a:endParaRPr lang="pt-BR" sz="3100" b="0" i="0" u="none" strike="noStrike" baseline="0" dirty="0">
              <a:latin typeface="TheSansMonoCd-W4SemiLight"/>
            </a:endParaRPr>
          </a:p>
          <a:p>
            <a:pPr marL="3490913" lvl="8" indent="0">
              <a:buNone/>
            </a:pP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html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{</a:t>
            </a:r>
          </a:p>
          <a:p>
            <a:pPr marL="3490913" lvl="8" indent="0">
              <a:buNone/>
            </a:pP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    </a:t>
            </a:r>
            <a:r>
              <a:rPr lang="pt-BR" sz="3200" b="1" dirty="0" err="1">
                <a:solidFill>
                  <a:srgbClr val="000000"/>
                </a:solidFill>
                <a:latin typeface="TheSansMonoCd-W4SemiLight"/>
              </a:rPr>
              <a:t>font-size</a:t>
            </a: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: 100%;</a:t>
            </a:r>
          </a:p>
          <a:p>
            <a:pPr marL="3490913" lvl="8" indent="0">
              <a:buNone/>
            </a:pPr>
            <a:r>
              <a:rPr lang="pt-BR" sz="3200" b="1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algn="l"/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fácil trabalhar com as porcentagens de h1, por ex.</a:t>
            </a:r>
          </a:p>
        </p:txBody>
      </p:sp>
    </p:spTree>
    <p:extLst>
      <p:ext uri="{BB962C8B-B14F-4D97-AF65-F5344CB8AC3E}">
        <p14:creationId xmlns:p14="http://schemas.microsoft.com/office/powerpoint/2010/main" val="1289189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Especificando o tamanho da Fonte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Outro valor </a:t>
            </a:r>
            <a:r>
              <a:rPr lang="pt-BR" sz="3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relativo:</a:t>
            </a:r>
          </a:p>
          <a:p>
            <a:pPr>
              <a:lnSpc>
                <a:spcPct val="107000"/>
              </a:lnSpc>
            </a:pPr>
            <a:r>
              <a:rPr lang="pt-BR" sz="3600" b="1" i="0" u="none" strike="noStrike" kern="100" baseline="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rem </a:t>
            </a:r>
            <a:r>
              <a:rPr lang="pt-BR" sz="3600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“root em” 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relativo ao tamanho do elemento root (</a:t>
            </a:r>
            <a:r>
              <a:rPr lang="pt-BR" sz="36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html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). Normalmente, 16px.</a:t>
            </a:r>
          </a:p>
          <a:p>
            <a:pPr>
              <a:lnSpc>
                <a:spcPct val="107000"/>
              </a:lnSpc>
            </a:pP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Por exemplo:</a:t>
            </a:r>
          </a:p>
          <a:p>
            <a:pPr algn="ctr">
              <a:lnSpc>
                <a:spcPct val="107000"/>
              </a:lnSpc>
            </a:pPr>
            <a:r>
              <a:rPr lang="fr-FR" sz="32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 font-size: 1.5rem; } </a:t>
            </a:r>
            <a:r>
              <a:rPr lang="fr-FR" sz="3200" b="1" i="0" u="none" strike="noStrike" baseline="0" dirty="0">
                <a:solidFill>
                  <a:srgbClr val="818385"/>
                </a:solidFill>
                <a:latin typeface="TheSansMonoCd-W5Regular"/>
              </a:rPr>
              <a:t>/* 1.5 x 16 = 24 */</a:t>
            </a:r>
            <a:endParaRPr lang="pt-BR" sz="3200" b="1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404042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Peso, estilo e expansão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b="1" i="0" u="none" strike="noStrike" kern="100" baseline="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b="1" i="0" u="none" strike="noStrike" kern="100" baseline="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font-weight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– normal, </a:t>
            </a:r>
            <a:r>
              <a:rPr lang="pt-BR" sz="36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bold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bolder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lighter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100...900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b="1" i="0" u="none" strike="noStrike" kern="100" baseline="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font-style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– normal, </a:t>
            </a:r>
            <a:r>
              <a:rPr lang="pt-BR" sz="36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italic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oblique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b="1" i="0" u="none" strike="noStrike" kern="100" baseline="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font-stretch</a:t>
            </a:r>
            <a:r>
              <a:rPr lang="pt-BR" sz="3600" b="1" i="0" u="none" strike="noStrike" kern="100" baseline="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normal, </a:t>
            </a:r>
            <a:r>
              <a:rPr lang="pt-BR" sz="36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condensed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36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expanded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...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endParaRPr lang="pt-BR" sz="320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653818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Peso, estilo e expansão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É possível utilizar a propriedade </a:t>
            </a:r>
            <a:r>
              <a:rPr lang="pt-BR" sz="3600" b="1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pt-BR" sz="3600" b="1" kern="1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font</a:t>
            </a:r>
            <a:r>
              <a:rPr lang="pt-BR" sz="3600" b="1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que permite a configuração de diversos valores: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heSansMonoCd-W4SemiLight"/>
              </a:rPr>
              <a:t>{ font: style weight stretch variant size/line-height font-family; }</a:t>
            </a:r>
            <a:endParaRPr lang="pt-BR" sz="2800" b="1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b="1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368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Outras </a:t>
            </a:r>
            <a:r>
              <a:rPr lang="pt-BR" sz="4400" dirty="0" err="1"/>
              <a:t>propriedaes</a:t>
            </a:r>
            <a:endParaRPr lang="pt-BR" sz="4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523913" cy="376089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Exemplos: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p { </a:t>
            </a:r>
            <a:r>
              <a:rPr lang="pt-BR" sz="35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font</a:t>
            </a:r>
            <a:r>
              <a:rPr lang="pt-BR" sz="3500" b="1" i="0" u="none" strike="noStrike" baseline="0" dirty="0">
                <a:solidFill>
                  <a:srgbClr val="3D71B8"/>
                </a:solidFill>
                <a:latin typeface="TheSansMonoCd-W5Regular"/>
              </a:rPr>
              <a:t>: 1em </a:t>
            </a:r>
            <a:r>
              <a:rPr lang="pt-BR" sz="35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sans-serif</a:t>
            </a:r>
            <a:r>
              <a:rPr lang="pt-BR" sz="3500" b="1" i="0" u="none" strike="noStrike" baseline="0" dirty="0">
                <a:solidFill>
                  <a:srgbClr val="3D71B8"/>
                </a:solidFill>
                <a:latin typeface="TheSansMonoCd-W5Regular"/>
              </a:rPr>
              <a:t>; 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} </a:t>
            </a:r>
            <a:r>
              <a:rPr lang="pt-BR" sz="35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tamanho e família são obrigatórios</a:t>
            </a:r>
            <a:endParaRPr lang="pt-BR" sz="35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 algn="l">
              <a:buNone/>
            </a:pP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h3 {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font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: oblique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bold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small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-caps 1.5em</a:t>
            </a:r>
            <a:r>
              <a:rPr lang="pt-BR" sz="3500" b="1" i="0" u="none" strike="noStrike" baseline="0" dirty="0">
                <a:solidFill>
                  <a:srgbClr val="3D71B8"/>
                </a:solidFill>
                <a:latin typeface="TheSansMonoCd-W5Regular"/>
              </a:rPr>
              <a:t>/1.8em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Verdana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,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sans-serif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; } </a:t>
            </a:r>
            <a:r>
              <a:rPr lang="pt-BR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1.5em é o tamanho da fonte, enquanto 1.8em é a altura da linha. Devem ser separados por /</a:t>
            </a:r>
            <a:endParaRPr lang="pt-BR" sz="35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 algn="l">
              <a:buNone/>
            </a:pP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h2 {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font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: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bold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 1.75em</a:t>
            </a:r>
            <a:r>
              <a:rPr lang="pt-BR" sz="3500" b="1" i="0" u="none" strike="noStrike" baseline="0" dirty="0">
                <a:solidFill>
                  <a:srgbClr val="3D71B8"/>
                </a:solidFill>
                <a:latin typeface="TheSansMonoCd-W5Regular"/>
              </a:rPr>
              <a:t>/2 </a:t>
            </a:r>
            <a:r>
              <a:rPr lang="pt-BR" sz="35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sans-serif</a:t>
            </a:r>
            <a:r>
              <a:rPr lang="pt-BR" sz="3500" b="1" i="0" u="none" strike="noStrike" baseline="0" dirty="0">
                <a:solidFill>
                  <a:srgbClr val="000000"/>
                </a:solidFill>
                <a:latin typeface="TheSansMonoCd-W4SemiLight"/>
              </a:rPr>
              <a:t>; }</a:t>
            </a:r>
            <a:endParaRPr lang="pt-BR" sz="35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3600" b="1" kern="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731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Peso, estilo e expansão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36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Cuidado: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ao utilizar a propriedade </a:t>
            </a:r>
            <a:r>
              <a:rPr lang="pt-BR" sz="3600" b="1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“</a:t>
            </a:r>
            <a:r>
              <a:rPr lang="pt-BR" sz="3600" b="1" kern="100" dirty="0" err="1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font</a:t>
            </a:r>
            <a:r>
              <a:rPr lang="pt-BR" sz="3600" b="1" kern="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todo valor não declarado será definido como padrão, o que pode afetar outros elementos em seu documento</a:t>
            </a:r>
          </a:p>
        </p:txBody>
      </p:sp>
    </p:spTree>
    <p:extLst>
      <p:ext uri="{BB962C8B-B14F-4D97-AF65-F5344CB8AC3E}">
        <p14:creationId xmlns:p14="http://schemas.microsoft.com/office/powerpoint/2010/main" val="3253798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Alterando a cor do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 </a:t>
            </a:r>
            <a:r>
              <a:rPr lang="pt-BR" sz="3600" b="1" i="0" u="none" strike="noStrike" baseline="0" dirty="0">
                <a:solidFill>
                  <a:srgbClr val="3D71B8"/>
                </a:solidFill>
                <a:latin typeface="TheSansMonoCd-W5Regular"/>
              </a:rPr>
              <a:t>color: </a:t>
            </a:r>
            <a:r>
              <a:rPr lang="pt-BR" sz="36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gray</a:t>
            </a:r>
            <a:r>
              <a:rPr lang="pt-BR" sz="3600" b="1" i="0" u="none" strike="noStrike" baseline="0" dirty="0">
                <a:solidFill>
                  <a:srgbClr val="3D71B8"/>
                </a:solidFill>
                <a:latin typeface="TheSansMonoCd-W5Regular"/>
              </a:rPr>
              <a:t>; 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} 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cinza</a:t>
            </a:r>
            <a:endParaRPr lang="pt-BR" sz="36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algn="l"/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 </a:t>
            </a:r>
            <a:r>
              <a:rPr lang="pt-BR" sz="3600" b="1" i="0" u="none" strike="noStrike" baseline="0" dirty="0">
                <a:solidFill>
                  <a:srgbClr val="3D71B8"/>
                </a:solidFill>
                <a:latin typeface="TheSansMonoCd-W5Regular"/>
              </a:rPr>
              <a:t>color: #666666; 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} 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cinza</a:t>
            </a:r>
            <a:endParaRPr lang="pt-BR" sz="36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algn="l"/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 </a:t>
            </a:r>
            <a:r>
              <a:rPr lang="pt-BR" sz="3600" b="1" i="0" u="none" strike="noStrike" baseline="0" dirty="0">
                <a:solidFill>
                  <a:srgbClr val="3D71B8"/>
                </a:solidFill>
                <a:latin typeface="TheSansMonoCd-W5Regular"/>
              </a:rPr>
              <a:t>color: </a:t>
            </a:r>
            <a:r>
              <a:rPr lang="pt-BR" sz="36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rgb</a:t>
            </a:r>
            <a:r>
              <a:rPr lang="pt-BR" sz="3600" b="1" i="0" u="none" strike="noStrike" baseline="0" dirty="0">
                <a:solidFill>
                  <a:srgbClr val="3D71B8"/>
                </a:solidFill>
                <a:latin typeface="TheSansMonoCd-W5Regular"/>
              </a:rPr>
              <a:t>(102,102,102); 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} </a:t>
            </a: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cinza</a:t>
            </a:r>
            <a:endParaRPr lang="pt-BR" sz="36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41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Alterando a cor do 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Como cores são herdadas, é possível definir a cor de todo texto no documento de uma vez:</a:t>
            </a:r>
          </a:p>
          <a:p>
            <a:pPr marL="0" indent="0" algn="l">
              <a:buNone/>
            </a:pPr>
            <a:endParaRPr lang="pt-BR" sz="3600" b="1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 algn="ctr">
              <a:buNone/>
            </a:pPr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body { </a:t>
            </a:r>
            <a:r>
              <a:rPr lang="pt-BR" sz="3600" b="1" i="0" u="none" strike="noStrike" baseline="0" dirty="0">
                <a:solidFill>
                  <a:srgbClr val="3D71B8"/>
                </a:solidFill>
                <a:latin typeface="TheSansMonoCd-W5Regular"/>
              </a:rPr>
              <a:t>color: blue; 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36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8634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Até o momento, vimos:</a:t>
            </a:r>
          </a:p>
          <a:p>
            <a:pPr marL="0" indent="0" algn="l">
              <a:buNone/>
            </a:pPr>
            <a:r>
              <a:rPr lang="en-US" sz="4400" b="0" u="none" strike="noStrike" baseline="0" dirty="0" err="1">
                <a:latin typeface="Birka-Italic"/>
              </a:rPr>
              <a:t>Seletor</a:t>
            </a:r>
            <a:r>
              <a:rPr lang="en-US" sz="4400" b="0" u="none" strike="noStrike" baseline="0" dirty="0">
                <a:latin typeface="Birka-Italic"/>
              </a:rPr>
              <a:t> </a:t>
            </a:r>
            <a:r>
              <a:rPr lang="en-US" sz="4400" b="0" u="none" strike="noStrike" baseline="0" dirty="0" err="1">
                <a:latin typeface="Birka-Italic"/>
              </a:rPr>
              <a:t>por</a:t>
            </a:r>
            <a:r>
              <a:rPr lang="en-US" sz="4400" b="0" u="none" strike="noStrike" baseline="0" dirty="0">
                <a:latin typeface="Birka-Italic"/>
              </a:rPr>
              <a:t> </a:t>
            </a:r>
            <a:r>
              <a:rPr lang="en-US" sz="4400" b="0" u="none" strike="noStrike" baseline="0" dirty="0" err="1">
                <a:latin typeface="Birka-Italic"/>
              </a:rPr>
              <a:t>elemento</a:t>
            </a:r>
            <a:r>
              <a:rPr lang="en-US" sz="4400" b="0" u="none" strike="noStrike" baseline="0" dirty="0">
                <a:latin typeface="Birka-Italic"/>
              </a:rPr>
              <a:t>:</a:t>
            </a:r>
            <a:r>
              <a:rPr lang="en-US" sz="4400" b="0" i="1" u="none" strike="noStrike" baseline="0" dirty="0">
                <a:latin typeface="Birka-Italic"/>
              </a:rPr>
              <a:t>  </a:t>
            </a:r>
            <a:r>
              <a:rPr lang="en-US" sz="3600" b="1" dirty="0">
                <a:solidFill>
                  <a:srgbClr val="000000"/>
                </a:solidFill>
                <a:latin typeface="TheSansMonoCd-W4SemiLight"/>
              </a:rPr>
              <a:t>p { color: navy; }</a:t>
            </a:r>
          </a:p>
          <a:p>
            <a:pPr marL="0" indent="0" algn="l">
              <a:buNone/>
            </a:pPr>
            <a:r>
              <a:rPr lang="en-US" sz="4400" b="0" u="none" strike="noStrike" baseline="0" dirty="0" err="1">
                <a:latin typeface="Birka-Italic"/>
              </a:rPr>
              <a:t>Seletor</a:t>
            </a:r>
            <a:r>
              <a:rPr lang="en-US" sz="4400" b="0" u="none" strike="noStrike" baseline="0" dirty="0">
                <a:latin typeface="Birka-Italic"/>
              </a:rPr>
              <a:t> </a:t>
            </a:r>
            <a:r>
              <a:rPr lang="en-US" sz="4400" b="0" u="none" strike="noStrike" baseline="0" dirty="0" err="1">
                <a:latin typeface="Birka-Italic"/>
              </a:rPr>
              <a:t>por</a:t>
            </a:r>
            <a:r>
              <a:rPr lang="en-US" sz="4400" b="0" u="none" strike="noStrike" baseline="0" dirty="0">
                <a:latin typeface="Birka-Italic"/>
              </a:rPr>
              <a:t> </a:t>
            </a:r>
            <a:r>
              <a:rPr lang="en-US" sz="4400" b="0" u="none" strike="noStrike" baseline="0" dirty="0" err="1">
                <a:latin typeface="Birka-Italic"/>
              </a:rPr>
              <a:t>grupo</a:t>
            </a:r>
            <a:r>
              <a:rPr lang="en-US" sz="4400" b="0" u="none" strike="noStrike" baseline="0" dirty="0">
                <a:latin typeface="Birka-Italic"/>
              </a:rPr>
              <a:t>:</a:t>
            </a:r>
            <a:r>
              <a:rPr lang="en-US" sz="4400" b="0" i="1" u="none" strike="noStrike" baseline="0" dirty="0">
                <a:latin typeface="Birka-Italic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TheSansMonoCd-W4SemiLight"/>
              </a:rPr>
              <a:t>p, </a:t>
            </a:r>
            <a:r>
              <a:rPr lang="en-US" sz="3600" b="1" dirty="0" err="1">
                <a:solidFill>
                  <a:srgbClr val="000000"/>
                </a:solidFill>
                <a:latin typeface="TheSansMonoCd-W4SemiLight"/>
              </a:rPr>
              <a:t>ul</a:t>
            </a:r>
            <a:r>
              <a:rPr lang="en-US" sz="3600" b="1" dirty="0">
                <a:solidFill>
                  <a:srgbClr val="000000"/>
                </a:solidFill>
                <a:latin typeface="TheSansMonoCd-W4SemiLight"/>
              </a:rPr>
              <a:t>, td, </a:t>
            </a:r>
            <a:r>
              <a:rPr lang="en-US" sz="3600" b="1" dirty="0" err="1">
                <a:solidFill>
                  <a:srgbClr val="000000"/>
                </a:solidFill>
                <a:latin typeface="TheSansMonoCd-W4SemiLight"/>
              </a:rPr>
              <a:t>th</a:t>
            </a:r>
            <a:r>
              <a:rPr lang="en-US" sz="3600" b="1" dirty="0">
                <a:solidFill>
                  <a:srgbClr val="000000"/>
                </a:solidFill>
                <a:latin typeface="TheSansMonoCd-W4SemiLight"/>
              </a:rPr>
              <a:t> { color: navy; }</a:t>
            </a:r>
            <a:endParaRPr lang="pt-BR" sz="3600" b="1" dirty="0">
              <a:solidFill>
                <a:srgbClr val="000000"/>
              </a:solidFill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396392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 problema, nos casos vistos, é aplicar propriedades para todos os elementos listados</a:t>
            </a:r>
            <a:endParaRPr lang="pt-BR" sz="3600" b="1" dirty="0">
              <a:solidFill>
                <a:srgbClr val="000000"/>
              </a:solidFill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298597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Podemos utilizar outros métodos quando quisermos selecionar elementos específicos:</a:t>
            </a:r>
          </a:p>
        </p:txBody>
      </p:sp>
    </p:spTree>
    <p:extLst>
      <p:ext uri="{BB962C8B-B14F-4D97-AF65-F5344CB8AC3E}">
        <p14:creationId xmlns:p14="http://schemas.microsoft.com/office/powerpoint/2010/main" val="954852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Seleção contextual (por descendentes):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425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080272D-92E8-7288-1947-6C6B1ADE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282" y="0"/>
            <a:ext cx="9745435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67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b="0" i="0" u="none" strike="noStrike" baseline="0" dirty="0">
                <a:solidFill>
                  <a:srgbClr val="3D71B8"/>
                </a:solidFill>
                <a:latin typeface="TheSansMonoCd-W5Regular"/>
              </a:rPr>
              <a:t>li em </a:t>
            </a:r>
            <a:r>
              <a:rPr lang="pt-BR" sz="4400" b="0" i="0" u="none" strike="noStrike" baseline="0" dirty="0">
                <a:solidFill>
                  <a:srgbClr val="000000"/>
                </a:solidFill>
                <a:latin typeface="TheSansMonoCd-W4SemiLight"/>
              </a:rPr>
              <a:t>{ color: </a:t>
            </a:r>
            <a:r>
              <a:rPr lang="pt-BR" sz="4400" b="0" i="0" u="none" strike="noStrike" baseline="0" dirty="0" err="1">
                <a:solidFill>
                  <a:srgbClr val="000000"/>
                </a:solidFill>
                <a:latin typeface="TheSansMonoCd-W4SemiLight"/>
              </a:rPr>
              <a:t>olive</a:t>
            </a:r>
            <a:r>
              <a:rPr lang="pt-BR" sz="4400" b="0" i="0" u="none" strike="noStrike" baseline="0" dirty="0">
                <a:solidFill>
                  <a:srgbClr val="000000"/>
                </a:solidFill>
                <a:latin typeface="TheSansMonoCd-W4SemiLight"/>
              </a:rPr>
              <a:t>; }</a:t>
            </a:r>
            <a:r>
              <a:rPr lang="pt-BR" sz="4400" b="0" i="0" u="none" strike="noStrike" kern="100" baseline="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este exemplo muda a cor de elementos </a:t>
            </a:r>
            <a:r>
              <a:rPr lang="pt-BR" sz="4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enfazidados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(em)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mas somente quando estiverem dentro de listas</a:t>
            </a:r>
            <a:endParaRPr lang="pt-BR" sz="4400" b="1" i="1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5668645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Seleção pelo atributo ID: utilizando </a:t>
            </a:r>
            <a:r>
              <a:rPr lang="pt-BR" sz="4400" dirty="0">
                <a:solidFill>
                  <a:srgbClr val="3D71B8"/>
                </a:solidFill>
                <a:latin typeface="TheSansMonoCd-W5Regular"/>
              </a:rPr>
              <a:t>#</a:t>
            </a: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buNone/>
            </a:pPr>
            <a:r>
              <a:rPr lang="pt-BR" sz="4400" b="0" i="0" u="none" strike="noStrike" baseline="0" dirty="0">
                <a:solidFill>
                  <a:srgbClr val="000000"/>
                </a:solidFill>
                <a:latin typeface="TheSansMonoCd-W4SemiLight"/>
              </a:rPr>
              <a:t>&lt;li </a:t>
            </a:r>
            <a:r>
              <a:rPr lang="pt-BR" sz="4400" b="0" i="0" u="none" strike="noStrike" baseline="0" dirty="0">
                <a:solidFill>
                  <a:srgbClr val="3D71B8"/>
                </a:solidFill>
                <a:latin typeface="TheSansMonoCd-W5Regular"/>
              </a:rPr>
              <a:t>id=“camisetas"</a:t>
            </a:r>
            <a:r>
              <a:rPr lang="pt-BR" sz="4400" b="0" i="0" u="none" strike="noStrike" baseline="0" dirty="0">
                <a:solidFill>
                  <a:srgbClr val="000000"/>
                </a:solidFill>
                <a:latin typeface="TheSansMonoCd-W4SemiLight"/>
              </a:rPr>
              <a:t>&gt;Modelos de camiseta&lt;/li&gt;</a:t>
            </a:r>
          </a:p>
          <a:p>
            <a:pPr marL="0" indent="0" algn="ctr">
              <a:lnSpc>
                <a:spcPct val="107000"/>
              </a:lnSpc>
              <a:buNone/>
            </a:pPr>
            <a:r>
              <a:rPr lang="pt-BR" sz="4400" dirty="0">
                <a:solidFill>
                  <a:srgbClr val="3D71B8"/>
                </a:solidFill>
                <a:latin typeface="TheSansMonoCd-W5Regular"/>
              </a:rPr>
              <a:t>#camisetas </a:t>
            </a:r>
            <a:r>
              <a:rPr lang="pt-BR" sz="4400" dirty="0">
                <a:solidFill>
                  <a:srgbClr val="000000"/>
                </a:solidFill>
                <a:latin typeface="TheSansMonoCd-W4SemiLight"/>
              </a:rPr>
              <a:t>{ color: </a:t>
            </a:r>
            <a:r>
              <a:rPr lang="pt-BR" sz="4400" dirty="0" err="1">
                <a:solidFill>
                  <a:srgbClr val="000000"/>
                </a:solidFill>
                <a:latin typeface="TheSansMonoCd-W4SemiLight"/>
              </a:rPr>
              <a:t>olive</a:t>
            </a:r>
            <a:r>
              <a:rPr lang="pt-BR" sz="4400" dirty="0">
                <a:solidFill>
                  <a:srgbClr val="000000"/>
                </a:solidFill>
                <a:latin typeface="TheSansMonoCd-W4SemiLight"/>
              </a:rPr>
              <a:t>; }</a:t>
            </a:r>
            <a:endParaRPr lang="pt-BR" sz="44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408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Seleção pela classe: utilizando </a:t>
            </a:r>
            <a:r>
              <a:rPr lang="pt-BR" sz="4400" dirty="0">
                <a:solidFill>
                  <a:srgbClr val="3D71B8"/>
                </a:solidFill>
                <a:latin typeface="TheSansMonoCd-W5Regular"/>
              </a:rPr>
              <a:t>.</a:t>
            </a: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&lt;</a:t>
            </a:r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div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class</a:t>
            </a:r>
            <a:r>
              <a:rPr lang="pt-BR" sz="4400" b="1" i="0" u="none" strike="noStrike" baseline="0" dirty="0">
                <a:solidFill>
                  <a:srgbClr val="3D71B8"/>
                </a:solidFill>
                <a:latin typeface="TheSansMonoCd-W5Regular"/>
              </a:rPr>
              <a:t>=“</a:t>
            </a:r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special</a:t>
            </a:r>
            <a:r>
              <a:rPr lang="pt-BR" sz="4400" b="1" i="0" u="none" strike="noStrike" baseline="0" dirty="0">
                <a:solidFill>
                  <a:srgbClr val="3D71B8"/>
                </a:solidFill>
                <a:latin typeface="TheSansMonoCd-W5Regular"/>
              </a:rPr>
              <a:t>”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&gt;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400" b="1" dirty="0" err="1">
                <a:solidFill>
                  <a:srgbClr val="3D71B8"/>
                </a:solidFill>
                <a:latin typeface="TheSansMonoCd-W5Regular"/>
              </a:rPr>
              <a:t>p.special</a:t>
            </a:r>
            <a:r>
              <a:rPr lang="pt-BR" sz="4400" b="1" dirty="0">
                <a:solidFill>
                  <a:srgbClr val="3D71B8"/>
                </a:solidFill>
                <a:latin typeface="TheSansMonoCd-W5Regular"/>
              </a:rPr>
              <a:t> 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{ color: </a:t>
            </a:r>
            <a:r>
              <a:rPr lang="pt-BR" sz="4400" b="1" dirty="0" err="1">
                <a:solidFill>
                  <a:srgbClr val="000000"/>
                </a:solidFill>
                <a:latin typeface="TheSansMonoCd-W4SemiLight"/>
              </a:rPr>
              <a:t>orange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; }</a:t>
            </a:r>
            <a:r>
              <a:rPr lang="pt-BR" sz="440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seleciona os parágrafos dentro do elemento </a:t>
            </a:r>
            <a:r>
              <a:rPr lang="pt-BR" sz="4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div</a:t>
            </a:r>
            <a:endParaRPr lang="pt-BR" sz="44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b="1" dirty="0">
                <a:solidFill>
                  <a:srgbClr val="3D71B8"/>
                </a:solidFill>
                <a:latin typeface="TheSansMonoCd-W5Regular"/>
              </a:rPr>
              <a:t>.</a:t>
            </a:r>
            <a:r>
              <a:rPr lang="pt-BR" sz="4400" b="1" dirty="0" err="1">
                <a:solidFill>
                  <a:srgbClr val="3D71B8"/>
                </a:solidFill>
                <a:latin typeface="TheSansMonoCd-W5Regular"/>
              </a:rPr>
              <a:t>special</a:t>
            </a:r>
            <a:r>
              <a:rPr lang="pt-BR" sz="4400" b="1" dirty="0">
                <a:solidFill>
                  <a:srgbClr val="3D71B8"/>
                </a:solidFill>
                <a:latin typeface="TheSansMonoCd-W5Regular"/>
              </a:rPr>
              <a:t> 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{ color: </a:t>
            </a:r>
            <a:r>
              <a:rPr lang="pt-BR" sz="4400" b="1" dirty="0" err="1">
                <a:solidFill>
                  <a:srgbClr val="000000"/>
                </a:solidFill>
                <a:latin typeface="TheSansMonoCd-W4SemiLight"/>
              </a:rPr>
              <a:t>orange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; }</a:t>
            </a:r>
            <a:r>
              <a:rPr lang="pt-BR" sz="440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seleciona todos os elementos dentro de </a:t>
            </a:r>
            <a:r>
              <a:rPr lang="pt-BR" sz="4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div</a:t>
            </a:r>
            <a:endParaRPr lang="pt-BR" sz="44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0552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Métodos de seleção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Seletor universal: </a:t>
            </a:r>
            <a:r>
              <a:rPr lang="pt-BR" sz="4400" b="0" i="0" u="none" strike="noStrike" baseline="0" dirty="0">
                <a:solidFill>
                  <a:srgbClr val="3D71B8"/>
                </a:solidFill>
                <a:latin typeface="TheSansMonoCd-W5Regular"/>
              </a:rPr>
              <a:t>*</a:t>
            </a:r>
            <a:endParaRPr lang="pt-BR" sz="4400" dirty="0">
              <a:solidFill>
                <a:srgbClr val="3D71B8"/>
              </a:solidFill>
              <a:latin typeface="TheSansMonoCd-W5Regular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b="0" i="0" u="none" strike="noStrike" baseline="0" dirty="0">
                <a:solidFill>
                  <a:srgbClr val="3D71B8"/>
                </a:solidFill>
                <a:latin typeface="TheSansMonoCd-W5Regular"/>
              </a:rPr>
              <a:t>* 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{ </a:t>
            </a:r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border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: 1px </a:t>
            </a:r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solid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gray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 }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 coloca bordas cinzas de 1 pixel ao redor de todos os elementos do documento</a:t>
            </a:r>
            <a:endParaRPr lang="pt-BR" sz="4400" b="0" i="0" u="none" strike="noStrike" baseline="0" dirty="0">
              <a:solidFill>
                <a:srgbClr val="000000"/>
              </a:solidFill>
              <a:latin typeface="TheSansMonoCd-W4SemiLight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8843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Estilizando listas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Propriedade: </a:t>
            </a:r>
            <a:r>
              <a:rPr lang="pt-BR" sz="44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list-style-type</a:t>
            </a:r>
            <a:endParaRPr lang="pt-BR" sz="44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Passar o valor </a:t>
            </a:r>
            <a:r>
              <a:rPr lang="pt-BR" sz="44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none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para a propriedade remove números e “</a:t>
            </a:r>
            <a:r>
              <a:rPr lang="pt-BR" sz="4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bullets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” das listas</a:t>
            </a:r>
          </a:p>
        </p:txBody>
      </p:sp>
    </p:spTree>
    <p:extLst>
      <p:ext uri="{BB962C8B-B14F-4D97-AF65-F5344CB8AC3E}">
        <p14:creationId xmlns:p14="http://schemas.microsoft.com/office/powerpoint/2010/main" val="1730910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51CC195-2D2F-E43F-2A08-0434379F1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414" y="2000050"/>
            <a:ext cx="9831172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166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Estilizando listas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Propriedade: </a:t>
            </a:r>
            <a:r>
              <a:rPr lang="pt-BR" sz="44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list-style</a:t>
            </a:r>
            <a:endParaRPr lang="pt-BR" sz="44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Passar o valor </a:t>
            </a:r>
            <a:r>
              <a:rPr lang="pt-BR" sz="4400" b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none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para esta propriedade remove números e “</a:t>
            </a:r>
            <a:r>
              <a:rPr lang="pt-BR" sz="4400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bullets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” das listas: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1910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Estilizando listas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4400" b="1" dirty="0" err="1">
                <a:solidFill>
                  <a:srgbClr val="000000"/>
                </a:solidFill>
                <a:latin typeface="TheSansMonoCd-W4SemiLight"/>
              </a:rPr>
              <a:t>list-style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:</a:t>
            </a:r>
            <a:r>
              <a:rPr lang="pt-BR" sz="4400" b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b="1" dirty="0" err="1">
                <a:solidFill>
                  <a:srgbClr val="3D71B8"/>
                </a:solidFill>
                <a:latin typeface="TheSansMonoCd-W5Regular"/>
              </a:rPr>
              <a:t>square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400" b="1" dirty="0" err="1">
                <a:solidFill>
                  <a:srgbClr val="000000"/>
                </a:solidFill>
                <a:latin typeface="TheSansMonoCd-W4SemiLight"/>
              </a:rPr>
              <a:t>list-style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: </a:t>
            </a:r>
            <a:r>
              <a:rPr lang="pt-BR" sz="4400" b="1" dirty="0" err="1">
                <a:solidFill>
                  <a:srgbClr val="3D71B8"/>
                </a:solidFill>
                <a:latin typeface="TheSansMonoCd-W5Regular"/>
              </a:rPr>
              <a:t>inside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4400" b="1" dirty="0" err="1">
                <a:solidFill>
                  <a:srgbClr val="000000"/>
                </a:solidFill>
                <a:latin typeface="TheSansMonoCd-W4SemiLight"/>
              </a:rPr>
              <a:t>list-style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: </a:t>
            </a:r>
            <a:r>
              <a:rPr lang="pt-BR" sz="4400" b="1" dirty="0" err="1">
                <a:solidFill>
                  <a:srgbClr val="3D71B8"/>
                </a:solidFill>
                <a:latin typeface="TheSansMonoCd-W5Regular"/>
              </a:rPr>
              <a:t>none</a:t>
            </a:r>
            <a:r>
              <a:rPr lang="pt-BR" sz="44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0" indent="0">
              <a:lnSpc>
                <a:spcPct val="107000"/>
              </a:lnSpc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747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7DE690-FA50-0F82-69F1-554BBB0D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795" y="2761609"/>
            <a:ext cx="5158410" cy="27776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86BB4CF-88CE-716B-274F-6C36BCA1CAD4}"/>
              </a:ext>
            </a:extLst>
          </p:cNvPr>
          <p:cNvSpPr txBox="1"/>
          <p:nvPr/>
        </p:nvSpPr>
        <p:spPr>
          <a:xfrm>
            <a:off x="964277" y="1518290"/>
            <a:ext cx="10773294" cy="784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200"/>
              </a:spcAft>
              <a:buClr>
                <a:srgbClr val="EC7016"/>
              </a:buClr>
              <a:buSzPct val="100000"/>
              <a:buFont typeface="Calibri" panose="020F0502020204030204" pitchFamily="34" charset="0"/>
              <a:buNone/>
              <a:tabLst/>
              <a:defRPr/>
            </a:pPr>
            <a:r>
              <a:rPr kumimoji="0" lang="pt-BR" sz="4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list-style</a:t>
            </a:r>
            <a:r>
              <a:rPr kumimoji="0" lang="pt-BR" sz="4400" b="1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pt-BR" sz="4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url</a:t>
            </a:r>
            <a:r>
              <a:rPr kumimoji="0" lang="pt-BR" sz="4400" b="1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('/media/</a:t>
            </a:r>
            <a:r>
              <a:rPr kumimoji="0" lang="pt-BR" sz="4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examples</a:t>
            </a:r>
            <a:r>
              <a:rPr kumimoji="0" lang="pt-BR" sz="4400" b="1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/</a:t>
            </a:r>
            <a:r>
              <a:rPr kumimoji="0" lang="pt-BR" sz="4400" b="1" i="0" u="none" strike="noStrike" kern="1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rocket.svg</a:t>
            </a:r>
            <a:r>
              <a:rPr kumimoji="0" lang="pt-BR" sz="4400" b="1" i="0" u="none" strike="noStrike" kern="1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Times New Roman" panose="02020603050405020304" pitchFamily="18" charset="0"/>
              </a:rPr>
              <a:t>');</a:t>
            </a:r>
          </a:p>
        </p:txBody>
      </p:sp>
    </p:spTree>
    <p:extLst>
      <p:ext uri="{BB962C8B-B14F-4D97-AF65-F5344CB8AC3E}">
        <p14:creationId xmlns:p14="http://schemas.microsoft.com/office/powerpoint/2010/main" val="42117772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 descr="Padrão do plano de fundo&#10;&#10;Descrição gerada automaticamente com confiança média">
            <a:extLst>
              <a:ext uri="{FF2B5EF4-FFF2-40B4-BE49-F238E27FC236}">
                <a16:creationId xmlns:a16="http://schemas.microsoft.com/office/drawing/2014/main" id="{64E1C229-B351-2ED2-3DF3-1F8762D11E4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1836" b="21836"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D43A5EC0-FC51-46E6-1C9E-75A315CDD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Cores e background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AF772A-71BD-8476-C8EA-B586D1044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20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Nomes de cores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Podemos escolher nomes diretamente:</a:t>
            </a:r>
          </a:p>
          <a:p>
            <a:pPr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color: </a:t>
            </a:r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silver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background-color: </a:t>
            </a:r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gray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border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-</a:t>
            </a:r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bottom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-color: </a:t>
            </a:r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teal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  <a:endParaRPr lang="pt-BR" sz="44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333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2154D43-18C2-4732-8EF0-415A2D480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37" y="354788"/>
            <a:ext cx="6992326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94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Valores RGB, </a:t>
            </a:r>
            <a:r>
              <a:rPr lang="pt-BR" sz="4400" dirty="0" err="1"/>
              <a:t>RGBa</a:t>
            </a:r>
            <a:r>
              <a:rPr lang="pt-BR" sz="4400" dirty="0"/>
              <a:t> e </a:t>
            </a:r>
            <a:r>
              <a:rPr lang="pt-BR" sz="4400" dirty="0" err="1"/>
              <a:t>Hex</a:t>
            </a:r>
            <a:endParaRPr lang="pt-BR" sz="4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57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Mas há métodos mais eficientes:</a:t>
            </a:r>
          </a:p>
          <a:p>
            <a:pPr algn="l"/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color: </a:t>
            </a:r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rgb</a:t>
            </a:r>
            <a:r>
              <a:rPr lang="pt-BR" sz="4400" b="1" i="0" u="none" strike="noStrike" baseline="0" dirty="0">
                <a:solidFill>
                  <a:srgbClr val="3D71B8"/>
                </a:solidFill>
                <a:latin typeface="TheSansMonoCd-W5Regular"/>
              </a:rPr>
              <a:t>(200, 178, 230)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color: </a:t>
            </a:r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rgb</a:t>
            </a:r>
            <a:r>
              <a:rPr lang="pt-BR" sz="4400" b="1" i="0" u="none" strike="noStrike" baseline="0" dirty="0">
                <a:solidFill>
                  <a:srgbClr val="3D71B8"/>
                </a:solidFill>
                <a:latin typeface="TheSansMonoCd-W5Regular"/>
              </a:rPr>
              <a:t>(78%, 70%, 90%)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color: </a:t>
            </a:r>
            <a:r>
              <a:rPr lang="pt-BR" sz="4400" b="1" i="0" u="none" strike="noStrike" baseline="0" dirty="0">
                <a:solidFill>
                  <a:srgbClr val="3D71B8"/>
                </a:solidFill>
                <a:latin typeface="TheSansMonoCd-W5Regular"/>
              </a:rPr>
              <a:t>#C8B2E6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color: </a:t>
            </a:r>
            <a:r>
              <a:rPr lang="pt-BR" sz="4400" b="1" i="0" u="none" strike="noStrike" baseline="0" dirty="0">
                <a:solidFill>
                  <a:srgbClr val="3D71B8"/>
                </a:solidFill>
                <a:latin typeface="TheSansMonoCd-W5Regular"/>
              </a:rPr>
              <a:t>#FC0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  <a:endParaRPr lang="pt-BR" sz="4400" b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6717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Valores RGB, </a:t>
            </a:r>
            <a:r>
              <a:rPr lang="pt-BR" sz="4400" dirty="0" err="1"/>
              <a:t>RGBa</a:t>
            </a:r>
            <a:r>
              <a:rPr lang="pt-BR" sz="4400" dirty="0"/>
              <a:t> e </a:t>
            </a:r>
            <a:r>
              <a:rPr lang="pt-BR" sz="4400" dirty="0" err="1"/>
              <a:t>Hex</a:t>
            </a:r>
            <a:endParaRPr lang="pt-BR" sz="4400" dirty="0"/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588C31C2-619D-54C7-3B03-573A36FE52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963" y="2532443"/>
            <a:ext cx="10058400" cy="2912301"/>
          </a:xfrm>
        </p:spPr>
      </p:pic>
    </p:spTree>
    <p:extLst>
      <p:ext uri="{BB962C8B-B14F-4D97-AF65-F5344CB8AC3E}">
        <p14:creationId xmlns:p14="http://schemas.microsoft.com/office/powerpoint/2010/main" val="1390153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Valores RGB, </a:t>
            </a:r>
            <a:r>
              <a:rPr lang="pt-BR" sz="4400" dirty="0" err="1"/>
              <a:t>RGBa</a:t>
            </a:r>
            <a:r>
              <a:rPr lang="pt-BR" sz="4400" dirty="0"/>
              <a:t> e </a:t>
            </a:r>
            <a:r>
              <a:rPr lang="pt-BR" sz="4400" dirty="0" err="1"/>
              <a:t>Hex</a:t>
            </a:r>
            <a:endParaRPr lang="pt-BR" sz="4400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9585A6F-8909-3096-E146-E91E51A60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4604" y="2108200"/>
            <a:ext cx="7576479" cy="3760788"/>
          </a:xfrm>
        </p:spPr>
      </p:pic>
    </p:spTree>
    <p:extLst>
      <p:ext uri="{BB962C8B-B14F-4D97-AF65-F5344CB8AC3E}">
        <p14:creationId xmlns:p14="http://schemas.microsoft.com/office/powerpoint/2010/main" val="32497580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Valores RGB, </a:t>
            </a:r>
            <a:r>
              <a:rPr lang="pt-BR" sz="4400" dirty="0" err="1"/>
              <a:t>RGBa</a:t>
            </a:r>
            <a:r>
              <a:rPr lang="pt-BR" sz="4400" dirty="0"/>
              <a:t> e </a:t>
            </a:r>
            <a:r>
              <a:rPr lang="pt-BR" sz="4400" dirty="0" err="1"/>
              <a:t>Hex</a:t>
            </a:r>
            <a:endParaRPr lang="pt-BR" sz="4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É possível adicionar transparência através de um canal </a:t>
            </a:r>
            <a:r>
              <a:rPr lang="pt-BR" sz="4400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alpha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que vai de 0 (transparente) a 1 (opaco):</a:t>
            </a:r>
          </a:p>
          <a:p>
            <a:pPr marL="0" indent="0" algn="l"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201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EC2995A-ACEB-1322-9296-A986C4A7C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26" y="2019103"/>
            <a:ext cx="8049748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797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Valores RGB, </a:t>
            </a:r>
            <a:r>
              <a:rPr lang="pt-BR" sz="4400" dirty="0" err="1"/>
              <a:t>RGBa</a:t>
            </a:r>
            <a:r>
              <a:rPr lang="pt-BR" sz="4400" dirty="0"/>
              <a:t> e </a:t>
            </a:r>
            <a:r>
              <a:rPr lang="pt-BR" sz="4400" dirty="0" err="1"/>
              <a:t>Hex</a:t>
            </a:r>
            <a:endParaRPr lang="pt-BR" sz="4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É possível adicionar transparência através de um canal </a:t>
            </a:r>
            <a:r>
              <a:rPr lang="pt-BR" sz="4400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alpha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que vai de 0 (transparente) a 1 (opaco):</a:t>
            </a:r>
          </a:p>
          <a:p>
            <a:pPr marL="0" indent="0" algn="l">
              <a:buNone/>
            </a:pPr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765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Cor de Background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background-color: </a:t>
            </a:r>
            <a:r>
              <a:rPr lang="pt-BR" sz="3600" b="1" i="0" u="none" strike="noStrike" baseline="0" dirty="0" err="1">
                <a:solidFill>
                  <a:srgbClr val="0070C0"/>
                </a:solidFill>
                <a:latin typeface="TheSansMonoCd-W4SemiLight"/>
              </a:rPr>
              <a:t>brown</a:t>
            </a:r>
            <a:r>
              <a:rPr lang="pt-BR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r>
              <a:rPr lang="pt-BR" sz="3600" b="1" dirty="0">
                <a:solidFill>
                  <a:srgbClr val="000000"/>
                </a:solidFill>
                <a:latin typeface="TheSansMonoCd-W4SemiLight"/>
              </a:rPr>
              <a:t>background-color: </a:t>
            </a:r>
            <a:r>
              <a:rPr lang="pt-BR" sz="3600" b="1" dirty="0">
                <a:solidFill>
                  <a:srgbClr val="0070C0"/>
                </a:solidFill>
                <a:latin typeface="TheSansMonoCd-W4SemiLight"/>
              </a:rPr>
              <a:t>#74992e</a:t>
            </a:r>
            <a:r>
              <a:rPr lang="pt-BR" sz="36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r>
              <a:rPr lang="en-US" sz="3600" b="1" dirty="0">
                <a:solidFill>
                  <a:srgbClr val="000000"/>
                </a:solidFill>
                <a:latin typeface="TheSansMonoCd-W4SemiLight"/>
              </a:rPr>
              <a:t>background-color: </a:t>
            </a:r>
            <a:r>
              <a:rPr lang="en-US" sz="3600" b="1" dirty="0" err="1">
                <a:solidFill>
                  <a:srgbClr val="0070C0"/>
                </a:solidFill>
                <a:latin typeface="TheSansMonoCd-W4SemiLight"/>
              </a:rPr>
              <a:t>rgb</a:t>
            </a:r>
            <a:r>
              <a:rPr lang="en-US" sz="3600" b="1" dirty="0">
                <a:solidFill>
                  <a:srgbClr val="0070C0"/>
                </a:solidFill>
                <a:latin typeface="TheSansMonoCd-W4SemiLight"/>
              </a:rPr>
              <a:t>(255, 255, 128)</a:t>
            </a:r>
            <a:r>
              <a:rPr lang="en-US" sz="3600" b="1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endParaRPr lang="en-US" sz="3600" b="1" dirty="0">
              <a:solidFill>
                <a:srgbClr val="000000"/>
              </a:solidFill>
              <a:latin typeface="TheSansMonoCd-W4SemiLight"/>
            </a:endParaRPr>
          </a:p>
          <a:p>
            <a:r>
              <a:rPr lang="en-US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h1 {color: gold; background: white; </a:t>
            </a:r>
            <a:r>
              <a:rPr lang="en-US" sz="3600" b="1" i="0" u="none" strike="noStrike" baseline="0" dirty="0">
                <a:solidFill>
                  <a:srgbClr val="3D71B8"/>
                </a:solidFill>
                <a:latin typeface="TheSansMonoCd-W5Regular"/>
              </a:rPr>
              <a:t>opacity: .5</a:t>
            </a:r>
            <a:r>
              <a:rPr lang="en-US" sz="3600" b="1" i="0" u="none" strike="noStrike" baseline="0" dirty="0">
                <a:solidFill>
                  <a:srgbClr val="000000"/>
                </a:solidFill>
                <a:latin typeface="TheSansMonoCd-W4SemiLight"/>
              </a:rPr>
              <a:t>;} </a:t>
            </a:r>
            <a:r>
              <a:rPr lang="en-US" sz="3600" b="1" i="0" u="none" strike="noStrike" baseline="0" dirty="0">
                <a:latin typeface="TheSansMonoCd-W4SemiLight"/>
              </a:rPr>
              <a:t>-&gt; ?</a:t>
            </a:r>
            <a:endParaRPr lang="pt-BR" sz="3600" b="1" dirty="0"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815234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E62756A-BD5E-BB01-32C7-D406DCFA6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709233"/>
            <a:ext cx="12174649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246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Seletores de </a:t>
            </a:r>
            <a:r>
              <a:rPr lang="pt-BR" sz="4400" dirty="0" err="1"/>
              <a:t>pseudo-classes</a:t>
            </a:r>
            <a:endParaRPr lang="pt-BR" sz="44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Autofit/>
          </a:bodyPr>
          <a:lstStyle/>
          <a:p>
            <a:pPr algn="l"/>
            <a:r>
              <a:rPr lang="en-US" sz="2800" b="1" i="0" u="none" strike="noStrike" baseline="0" dirty="0">
                <a:solidFill>
                  <a:schemeClr val="tx1"/>
                </a:solidFill>
                <a:latin typeface="TheSansMonoCd-W6SemiBold"/>
              </a:rPr>
              <a:t>:link </a:t>
            </a:r>
            <a:r>
              <a:rPr lang="en-US" sz="2800" b="1" i="0" u="none" strike="noStrike" baseline="0" dirty="0">
                <a:latin typeface="TheSansMonoCd-W6SemiBold"/>
              </a:rPr>
              <a:t>-&gt; </a:t>
            </a:r>
            <a:r>
              <a:rPr lang="en-US" sz="2800" b="1" i="0" u="none" strike="noStrike" baseline="0" dirty="0" err="1">
                <a:latin typeface="TheSansMonoCd-W6SemiBold"/>
              </a:rPr>
              <a:t>estiliza</a:t>
            </a:r>
            <a:r>
              <a:rPr lang="en-US" sz="2800" b="1" i="0" u="none" strike="noStrike" baseline="0" dirty="0">
                <a:latin typeface="TheSansMonoCd-W6SemiBold"/>
              </a:rPr>
              <a:t> um link “</a:t>
            </a:r>
            <a:r>
              <a:rPr lang="en-US" sz="2800" b="1" i="0" u="none" strike="noStrike" baseline="0" dirty="0" err="1">
                <a:latin typeface="TheSansMonoCd-W6SemiBold"/>
              </a:rPr>
              <a:t>não</a:t>
            </a:r>
            <a:r>
              <a:rPr lang="en-US" sz="2800" b="1" i="0" u="none" strike="noStrike" baseline="0" dirty="0">
                <a:latin typeface="TheSansMonoCd-W6SemiBold"/>
              </a:rPr>
              <a:t> </a:t>
            </a:r>
            <a:r>
              <a:rPr lang="en-US" sz="2800" b="1" i="0" u="none" strike="noStrike" baseline="0" dirty="0" err="1">
                <a:latin typeface="TheSansMonoCd-W6SemiBold"/>
              </a:rPr>
              <a:t>clicado</a:t>
            </a:r>
            <a:r>
              <a:rPr lang="en-US" sz="2800" b="1" i="0" u="none" strike="noStrike" baseline="0" dirty="0">
                <a:latin typeface="TheSansMonoCd-W6SemiBold"/>
              </a:rPr>
              <a:t>”</a:t>
            </a:r>
          </a:p>
          <a:p>
            <a:pPr algn="l"/>
            <a:r>
              <a:rPr lang="en-US" sz="2800" b="1" i="0" u="none" strike="noStrike" baseline="0" dirty="0">
                <a:solidFill>
                  <a:schemeClr val="tx1"/>
                </a:solidFill>
                <a:latin typeface="TheSansMonoCd-W6SemiBold"/>
              </a:rPr>
              <a:t>:visited </a:t>
            </a:r>
            <a:r>
              <a:rPr lang="en-US" sz="2800" b="1" i="0" u="none" strike="noStrike" baseline="0" dirty="0">
                <a:latin typeface="TheSansMonoCd-W6SemiBold"/>
              </a:rPr>
              <a:t>-&gt; </a:t>
            </a:r>
            <a:r>
              <a:rPr lang="en-US" sz="2800" b="1" i="0" u="none" strike="noStrike" baseline="0" dirty="0" err="1">
                <a:latin typeface="TheSansMonoCd-W6SemiBold"/>
              </a:rPr>
              <a:t>estiliza</a:t>
            </a:r>
            <a:r>
              <a:rPr lang="en-US" sz="2800" b="1" i="0" u="none" strike="noStrike" baseline="0" dirty="0">
                <a:latin typeface="TheSansMonoCd-W6SemiBold"/>
              </a:rPr>
              <a:t> um link “</a:t>
            </a:r>
            <a:r>
              <a:rPr lang="en-US" sz="2800" b="1" i="0" u="none" strike="noStrike" baseline="0" dirty="0" err="1">
                <a:latin typeface="TheSansMonoCd-W6SemiBold"/>
              </a:rPr>
              <a:t>já</a:t>
            </a:r>
            <a:r>
              <a:rPr lang="en-US" sz="2800" b="1" i="0" u="none" strike="noStrike" baseline="0" dirty="0">
                <a:latin typeface="TheSansMonoCd-W6SemiBold"/>
              </a:rPr>
              <a:t> </a:t>
            </a:r>
            <a:r>
              <a:rPr lang="en-US" sz="2800" b="1" i="0" u="none" strike="noStrike" baseline="0" dirty="0" err="1">
                <a:latin typeface="TheSansMonoCd-W6SemiBold"/>
              </a:rPr>
              <a:t>clicado</a:t>
            </a:r>
            <a:r>
              <a:rPr lang="en-US" sz="2800" b="1" i="0" u="none" strike="noStrike" baseline="0" dirty="0">
                <a:latin typeface="TheSansMonoCd-W6SemiBold"/>
              </a:rPr>
              <a:t>”</a:t>
            </a:r>
            <a:endParaRPr lang="en-US" sz="2800" b="1" i="0" u="none" strike="noStrike" baseline="0" dirty="0">
              <a:solidFill>
                <a:schemeClr val="tx1"/>
              </a:solidFill>
              <a:latin typeface="TheSansMonoCd-W6SemiBold"/>
            </a:endParaRPr>
          </a:p>
          <a:p>
            <a:pPr algn="l"/>
            <a:r>
              <a:rPr lang="en-US" sz="2800" b="1" dirty="0">
                <a:solidFill>
                  <a:schemeClr val="tx1"/>
                </a:solidFill>
                <a:latin typeface="TheSansMonoCd-W6SemiBold"/>
              </a:rPr>
              <a:t>:focus </a:t>
            </a:r>
            <a:r>
              <a:rPr lang="en-US" sz="2800" b="1" i="0" u="none" strike="noStrike" baseline="0" dirty="0">
                <a:latin typeface="TheSansMonoCd-W6SemiBold"/>
              </a:rPr>
              <a:t>-&gt; </a:t>
            </a:r>
            <a:r>
              <a:rPr lang="en-US" sz="2800" b="1" i="0" u="none" strike="noStrike" baseline="0" dirty="0" err="1">
                <a:latin typeface="TheSansMonoCd-W6SemiBold"/>
              </a:rPr>
              <a:t>estiliza</a:t>
            </a:r>
            <a:r>
              <a:rPr lang="en-US" sz="2800" b="1" i="0" u="none" strike="noStrike" baseline="0" dirty="0">
                <a:latin typeface="TheSansMonoCd-W6SemiBold"/>
              </a:rPr>
              <a:t> um </a:t>
            </a:r>
            <a:r>
              <a:rPr lang="en-US" sz="2800" b="1" i="0" u="none" strike="noStrike" baseline="0" dirty="0" err="1">
                <a:latin typeface="TheSansMonoCd-W6SemiBold"/>
              </a:rPr>
              <a:t>elemento</a:t>
            </a:r>
            <a:r>
              <a:rPr lang="en-US" sz="2800" b="1" i="0" u="none" strike="noStrike" baseline="0" dirty="0">
                <a:latin typeface="TheSansMonoCd-W6SemiBold"/>
              </a:rPr>
              <a:t> </a:t>
            </a:r>
            <a:r>
              <a:rPr lang="en-US" sz="2800" b="1" i="0" u="none" strike="noStrike" baseline="0" dirty="0" err="1">
                <a:latin typeface="TheSansMonoCd-W6SemiBold"/>
              </a:rPr>
              <a:t>já</a:t>
            </a:r>
            <a:r>
              <a:rPr lang="en-US" sz="2800" b="1" i="0" u="none" strike="noStrike" baseline="0" dirty="0">
                <a:latin typeface="TheSansMonoCd-W6SemiBold"/>
              </a:rPr>
              <a:t> </a:t>
            </a:r>
            <a:r>
              <a:rPr lang="en-US" sz="2800" b="1" i="0" u="none" strike="noStrike" baseline="0" dirty="0" err="1">
                <a:latin typeface="TheSansMonoCd-W6SemiBold"/>
              </a:rPr>
              <a:t>selecionado</a:t>
            </a:r>
            <a:r>
              <a:rPr lang="en-US" sz="2800" b="1" i="0" u="none" strike="noStrike" baseline="0" dirty="0">
                <a:latin typeface="TheSansMonoCd-W6SemiBold"/>
              </a:rPr>
              <a:t> e </a:t>
            </a:r>
            <a:r>
              <a:rPr lang="en-US" sz="2800" b="1" i="0" u="none" strike="noStrike" baseline="0" dirty="0" err="1">
                <a:latin typeface="TheSansMonoCd-W6SemiBold"/>
              </a:rPr>
              <a:t>aguardando</a:t>
            </a:r>
            <a:r>
              <a:rPr lang="en-US" sz="2800" b="1" i="0" u="none" strike="noStrike" baseline="0" dirty="0">
                <a:latin typeface="TheSansMonoCd-W6SemiBold"/>
              </a:rPr>
              <a:t> input</a:t>
            </a:r>
            <a:endParaRPr lang="en-US" sz="2800" b="1" dirty="0">
              <a:solidFill>
                <a:schemeClr val="tx1"/>
              </a:solidFill>
              <a:latin typeface="TheSansMonoCd-W6SemiBold"/>
            </a:endParaRPr>
          </a:p>
          <a:p>
            <a:pPr algn="l"/>
            <a:r>
              <a:rPr lang="en-US" sz="2800" b="1" i="0" u="none" strike="noStrike" baseline="0" dirty="0">
                <a:solidFill>
                  <a:schemeClr val="tx1"/>
                </a:solidFill>
                <a:latin typeface="TheSansMonoCd-W6SemiBold"/>
              </a:rPr>
              <a:t>:hover </a:t>
            </a:r>
            <a:r>
              <a:rPr lang="en-US" sz="2800" b="1" i="0" u="none" strike="noStrike" baseline="0" dirty="0">
                <a:latin typeface="TheSansMonoCd-W6SemiBold"/>
              </a:rPr>
              <a:t>-&gt; </a:t>
            </a:r>
            <a:r>
              <a:rPr lang="en-US" sz="2800" b="1" i="0" u="none" strike="noStrike" baseline="0" dirty="0" err="1">
                <a:latin typeface="TheSansMonoCd-W6SemiBold"/>
              </a:rPr>
              <a:t>estiliza</a:t>
            </a:r>
            <a:r>
              <a:rPr lang="en-US" sz="2800" b="1" i="0" u="none" strike="noStrike" baseline="0" dirty="0">
                <a:latin typeface="TheSansMonoCd-W6SemiBold"/>
              </a:rPr>
              <a:t> um </a:t>
            </a:r>
            <a:r>
              <a:rPr lang="en-US" sz="2800" b="1" i="0" u="none" strike="noStrike" baseline="0" dirty="0" err="1">
                <a:latin typeface="TheSansMonoCd-W6SemiBold"/>
              </a:rPr>
              <a:t>elemento</a:t>
            </a:r>
            <a:r>
              <a:rPr lang="en-US" sz="2800" b="1" i="0" u="none" strike="noStrike" baseline="0" dirty="0">
                <a:latin typeface="TheSansMonoCd-W6SemiBold"/>
              </a:rPr>
              <a:t> </a:t>
            </a:r>
            <a:r>
              <a:rPr lang="en-US" sz="2800" b="1" i="0" u="none" strike="noStrike" baseline="0" dirty="0" err="1">
                <a:latin typeface="TheSansMonoCd-W6SemiBold"/>
              </a:rPr>
              <a:t>quando</a:t>
            </a:r>
            <a:r>
              <a:rPr lang="en-US" sz="2800" b="1" i="0" u="none" strike="noStrike" baseline="0" dirty="0">
                <a:latin typeface="TheSansMonoCd-W6SemiBold"/>
              </a:rPr>
              <a:t> </a:t>
            </a:r>
            <a:r>
              <a:rPr lang="en-US" sz="2800" b="1" i="0" u="none" strike="noStrike" baseline="0" dirty="0" err="1">
                <a:latin typeface="TheSansMonoCd-W6SemiBold"/>
              </a:rPr>
              <a:t>sobreposto</a:t>
            </a:r>
            <a:r>
              <a:rPr lang="en-US" sz="2800" b="1" i="0" u="none" strike="noStrike" baseline="0" dirty="0">
                <a:latin typeface="TheSansMonoCd-W6SemiBold"/>
              </a:rPr>
              <a:t> </a:t>
            </a:r>
            <a:r>
              <a:rPr lang="en-US" sz="2800" b="1" i="0" u="none" strike="noStrike" baseline="0" dirty="0" err="1">
                <a:latin typeface="TheSansMonoCd-W6SemiBold"/>
              </a:rPr>
              <a:t>pelo</a:t>
            </a:r>
            <a:r>
              <a:rPr lang="en-US" sz="2800" b="1" i="0" u="none" strike="noStrike" baseline="0" dirty="0">
                <a:latin typeface="TheSansMonoCd-W6SemiBold"/>
              </a:rPr>
              <a:t> mouse</a:t>
            </a:r>
            <a:endParaRPr lang="en-US" sz="2800" b="1" i="0" u="none" strike="noStrike" baseline="0" dirty="0">
              <a:solidFill>
                <a:schemeClr val="tx1"/>
              </a:solidFill>
              <a:latin typeface="TheSansMonoCd-W6SemiBold"/>
            </a:endParaRPr>
          </a:p>
          <a:p>
            <a:pPr marL="0" indent="0" algn="l"/>
            <a:r>
              <a:rPr lang="en-US" sz="2800" b="1" dirty="0">
                <a:solidFill>
                  <a:schemeClr val="tx1"/>
                </a:solidFill>
                <a:latin typeface="TheSansMonoCd-W6SemiBold"/>
              </a:rPr>
              <a:t>:active </a:t>
            </a:r>
            <a:r>
              <a:rPr lang="en-US" sz="3200" b="1" i="0" u="none" strike="noStrike" baseline="0" dirty="0">
                <a:latin typeface="TheSansMonoCd-W6SemiBold"/>
              </a:rPr>
              <a:t>-&gt; </a:t>
            </a:r>
            <a:r>
              <a:rPr lang="en-US" sz="3200" b="1" i="0" u="none" strike="noStrike" baseline="0" dirty="0" err="1">
                <a:latin typeface="TheSansMonoCd-W6SemiBold"/>
              </a:rPr>
              <a:t>estiliza</a:t>
            </a:r>
            <a:r>
              <a:rPr lang="en-US" sz="3200" b="1" i="0" u="none" strike="noStrike" baseline="0" dirty="0">
                <a:latin typeface="TheSansMonoCd-W6SemiBold"/>
              </a:rPr>
              <a:t> um </a:t>
            </a:r>
            <a:r>
              <a:rPr lang="en-US" sz="3200" b="1" i="0" u="none" strike="noStrike" baseline="0" dirty="0" err="1">
                <a:latin typeface="TheSansMonoCd-W6SemiBold"/>
              </a:rPr>
              <a:t>elemento</a:t>
            </a:r>
            <a:r>
              <a:rPr lang="en-US" sz="3200" b="1" i="0" u="none" strike="noStrike" baseline="0" dirty="0">
                <a:latin typeface="TheSansMonoCd-W6SemiBold"/>
              </a:rPr>
              <a:t> no </a:t>
            </a:r>
            <a:r>
              <a:rPr lang="en-US" sz="3200" b="1" i="0" u="none" strike="noStrike" baseline="0" dirty="0" err="1">
                <a:latin typeface="TheSansMonoCd-W6SemiBold"/>
              </a:rPr>
              <a:t>momento</a:t>
            </a:r>
            <a:r>
              <a:rPr lang="en-US" sz="3200" b="1" i="0" u="none" strike="noStrike" baseline="0" dirty="0">
                <a:latin typeface="TheSansMonoCd-W6SemiBold"/>
              </a:rPr>
              <a:t> </a:t>
            </a:r>
            <a:r>
              <a:rPr lang="en-US" sz="3200" b="1" i="0" u="none" strike="noStrike" baseline="0" dirty="0" err="1">
                <a:latin typeface="TheSansMonoCd-W6SemiBold"/>
              </a:rPr>
              <a:t>em</a:t>
            </a:r>
            <a:r>
              <a:rPr lang="en-US" sz="3200" b="1" i="0" u="none" strike="noStrike" baseline="0" dirty="0">
                <a:latin typeface="TheSansMonoCd-W6SemiBold"/>
              </a:rPr>
              <a:t> que é 	 		      “</a:t>
            </a:r>
            <a:r>
              <a:rPr lang="en-US" sz="3200" b="1" i="0" u="none" strike="noStrike" baseline="0" dirty="0" err="1">
                <a:latin typeface="TheSansMonoCd-W6SemiBold"/>
              </a:rPr>
              <a:t>clicado</a:t>
            </a:r>
            <a:r>
              <a:rPr lang="en-US" sz="3200" b="1" i="0" u="none" strike="noStrike" baseline="0" dirty="0">
                <a:latin typeface="TheSansMonoCd-W6SemiBold"/>
              </a:rPr>
              <a:t>” </a:t>
            </a:r>
            <a:r>
              <a:rPr lang="en-US" sz="3200" b="1" i="0" u="none" strike="noStrike" baseline="0" dirty="0" err="1">
                <a:latin typeface="TheSansMonoCd-W6SemiBold"/>
              </a:rPr>
              <a:t>ou</a:t>
            </a:r>
            <a:r>
              <a:rPr lang="en-US" sz="3200" b="1" i="0" u="none" strike="noStrike" baseline="0" dirty="0">
                <a:latin typeface="TheSansMonoCd-W6SemiBold"/>
              </a:rPr>
              <a:t> “</a:t>
            </a:r>
            <a:r>
              <a:rPr lang="en-US" sz="3200" b="1" i="0" u="none" strike="noStrike" baseline="0" dirty="0" err="1">
                <a:latin typeface="TheSansMonoCd-W6SemiBold"/>
              </a:rPr>
              <a:t>tocado</a:t>
            </a:r>
            <a:r>
              <a:rPr lang="en-US" sz="3200" b="1" i="0" u="none" strike="noStrike" baseline="0" dirty="0">
                <a:latin typeface="TheSansMonoCd-W6SemiBold"/>
              </a:rPr>
              <a:t>”</a:t>
            </a:r>
            <a:endParaRPr lang="en-US" sz="3200" b="0" i="0" u="none" strike="noStrike" baseline="0" dirty="0">
              <a:solidFill>
                <a:schemeClr val="tx1"/>
              </a:solidFill>
              <a:latin typeface="Birka"/>
            </a:endParaRPr>
          </a:p>
          <a:p>
            <a:pPr algn="l"/>
            <a:endParaRPr lang="pt-BR" sz="3000" b="1" dirty="0">
              <a:latin typeface="TheSansMonoCd-W4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4210861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Seletores de </a:t>
            </a:r>
            <a:r>
              <a:rPr lang="pt-BR" sz="4400" dirty="0" err="1"/>
              <a:t>pseudo-classes</a:t>
            </a:r>
            <a:endParaRPr lang="pt-BR" sz="4400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208E8DC-28D8-8FE0-9BC3-C5D5DA359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7280" y="2057400"/>
            <a:ext cx="4639736" cy="381169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a:link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{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color: </a:t>
            </a:r>
            <a:r>
              <a:rPr lang="pt-BR" sz="28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maroon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</a:p>
          <a:p>
            <a:pPr algn="l"/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a:visited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{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    color: </a:t>
            </a:r>
            <a:r>
              <a:rPr lang="pt-BR" sz="28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gray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2800" b="1" dirty="0"/>
          </a:p>
          <a:p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57E1FD-A0B8-70F4-D4DF-9426F99F22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5944" y="2057400"/>
            <a:ext cx="4639736" cy="381169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a:hover {</a:t>
            </a:r>
          </a:p>
          <a:p>
            <a:pPr algn="l"/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text-decoration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: </a:t>
            </a:r>
            <a:r>
              <a:rPr lang="pt-BR" sz="28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underline</a:t>
            </a:r>
            <a:r>
              <a:rPr lang="pt-BR" sz="2800" b="1" i="0" u="none" strike="noStrike" baseline="0" dirty="0">
                <a:solidFill>
                  <a:srgbClr val="3D71B8"/>
                </a:solidFill>
                <a:latin typeface="TheSansMonoCd-W5Regular"/>
              </a:rPr>
              <a:t>;</a:t>
            </a:r>
          </a:p>
          <a:p>
            <a:pPr algn="l"/>
            <a:r>
              <a:rPr lang="pt-BR" sz="28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2800" b="1" dirty="0"/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8083773-74FB-936A-A454-4DD41CAF60A9}"/>
              </a:ext>
            </a:extLst>
          </p:cNvPr>
          <p:cNvCxnSpPr/>
          <p:nvPr/>
        </p:nvCxnSpPr>
        <p:spPr>
          <a:xfrm>
            <a:off x="5737016" y="2057400"/>
            <a:ext cx="0" cy="403860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5546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B58ECE8-B4D6-6809-C2ED-070E1F955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Box Model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2EEB6D-3394-4E02-C11D-DF64EF0E4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FD75E0C-0F7D-0E3C-AD63-59BD2F544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44" b="5551"/>
          <a:stretch/>
        </p:blipFill>
        <p:spPr>
          <a:xfrm>
            <a:off x="0" y="1"/>
            <a:ext cx="12192000" cy="462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068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Todo elemento em um documento gera uma “caixa de elemento retangular”</a:t>
            </a:r>
          </a:p>
        </p:txBody>
      </p:sp>
    </p:spTree>
    <p:extLst>
      <p:ext uri="{BB962C8B-B14F-4D97-AF65-F5344CB8AC3E}">
        <p14:creationId xmlns:p14="http://schemas.microsoft.com/office/powerpoint/2010/main" val="12724096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8CCF136-F0E5-F57A-2EE7-E9DB58426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3472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Content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area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área destinada ao conteúdo. Indicada pela cor branca na imagem</a:t>
            </a:r>
          </a:p>
        </p:txBody>
      </p:sp>
    </p:spTree>
    <p:extLst>
      <p:ext uri="{BB962C8B-B14F-4D97-AF65-F5344CB8AC3E}">
        <p14:creationId xmlns:p14="http://schemas.microsoft.com/office/powerpoint/2010/main" val="9043787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Inner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edges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as bordas da área de conteúdo. Invisível no conteúdo final</a:t>
            </a:r>
          </a:p>
        </p:txBody>
      </p:sp>
    </p:spTree>
    <p:extLst>
      <p:ext uri="{BB962C8B-B14F-4D97-AF65-F5344CB8AC3E}">
        <p14:creationId xmlns:p14="http://schemas.microsoft.com/office/powerpoint/2010/main" val="15821872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Padding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é a área entre a área de conteúdo e uma borda opcional. Indicada pela cor amarela na imagem.</a:t>
            </a:r>
          </a:p>
        </p:txBody>
      </p:sp>
    </p:spTree>
    <p:extLst>
      <p:ext uri="{BB962C8B-B14F-4D97-AF65-F5344CB8AC3E}">
        <p14:creationId xmlns:p14="http://schemas.microsoft.com/office/powerpoint/2010/main" val="3719972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Border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Uma linha que envolve o elemento e o </a:t>
            </a:r>
            <a:r>
              <a:rPr lang="pt-BR" sz="4400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padding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. Também é um item opcional.</a:t>
            </a:r>
            <a:endParaRPr lang="pt-BR" sz="4400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5227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Margin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 um espaço adicionado fora da borda. Também é um item opcional. Na imagem, é indicada pela cor azul.</a:t>
            </a:r>
            <a:endParaRPr lang="pt-BR" sz="4400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1981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Outer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edge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–  as bordas externas da margem. Corresponde ao tamanho total tomado pelo elemento na página.</a:t>
            </a:r>
            <a:endParaRPr lang="pt-BR" sz="4400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6179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 fontScale="47500" lnSpcReduction="20000"/>
          </a:bodyPr>
          <a:lstStyle/>
          <a:p>
            <a:pPr marL="3944938" indent="-90488"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p {</a:t>
            </a:r>
          </a:p>
          <a:p>
            <a:pPr marL="4214813" indent="-360363"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background: #f2f5d5;</a:t>
            </a:r>
          </a:p>
          <a:p>
            <a:pPr marL="4214813" indent="-360363" algn="l"/>
            <a:r>
              <a:rPr lang="pt-BR" sz="4400" b="1" i="0" u="none" strike="noStrike" baseline="0" dirty="0" err="1">
                <a:solidFill>
                  <a:srgbClr val="3D71B8"/>
                </a:solidFill>
                <a:latin typeface="TheSansMonoCd-W5Regular"/>
              </a:rPr>
              <a:t>width</a:t>
            </a:r>
            <a:r>
              <a:rPr lang="pt-BR" sz="4400" b="1" i="0" u="none" strike="noStrike" baseline="0" dirty="0">
                <a:solidFill>
                  <a:srgbClr val="3D71B8"/>
                </a:solidFill>
                <a:latin typeface="TheSansMonoCd-W5Regular"/>
              </a:rPr>
              <a:t>: 500px;</a:t>
            </a:r>
          </a:p>
          <a:p>
            <a:pPr marL="4214813" indent="-360363" algn="l"/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height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: 150px;</a:t>
            </a:r>
          </a:p>
          <a:p>
            <a:pPr marL="4214813" indent="-360363" algn="l"/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padding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: 20px;</a:t>
            </a:r>
          </a:p>
          <a:p>
            <a:pPr marL="4214813" indent="-360363" algn="l"/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border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: 5px </a:t>
            </a:r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solid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 </a:t>
            </a:r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gray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;</a:t>
            </a:r>
          </a:p>
          <a:p>
            <a:pPr marL="4214813" indent="-360363" algn="l"/>
            <a:r>
              <a:rPr lang="pt-BR" sz="4400" b="1" i="0" u="none" strike="noStrike" baseline="0" dirty="0" err="1">
                <a:solidFill>
                  <a:srgbClr val="000000"/>
                </a:solidFill>
                <a:latin typeface="TheSansMonoCd-W4SemiLight"/>
              </a:rPr>
              <a:t>margin</a:t>
            </a:r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: 20px;</a:t>
            </a:r>
          </a:p>
          <a:p>
            <a:pPr marL="3944938" indent="-90488" algn="l"/>
            <a:r>
              <a:rPr lang="pt-BR" sz="4400" b="1" i="0" u="none" strike="noStrike" baseline="0" dirty="0">
                <a:solidFill>
                  <a:srgbClr val="000000"/>
                </a:solidFill>
                <a:latin typeface="TheSansMonoCd-W4SemiLight"/>
              </a:rPr>
              <a:t>}</a:t>
            </a:r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546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902EDA0-3016-FC52-0EB1-0760281E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7715"/>
            <a:ext cx="12192000" cy="630256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E5A7199-0B40-88D6-66DC-DF857FEADC7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1" t="3142" r="843" b="2352"/>
          <a:stretch/>
        </p:blipFill>
        <p:spPr>
          <a:xfrm>
            <a:off x="1765300" y="1751013"/>
            <a:ext cx="8648700" cy="3136246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275C533-0172-1928-06EF-6AD59A753237}"/>
              </a:ext>
            </a:extLst>
          </p:cNvPr>
          <p:cNvCxnSpPr>
            <a:cxnSpLocks/>
          </p:cNvCxnSpPr>
          <p:nvPr/>
        </p:nvCxnSpPr>
        <p:spPr>
          <a:xfrm>
            <a:off x="2159726" y="1751013"/>
            <a:ext cx="0" cy="3136246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4C74C43D-0DE3-8AF4-81DF-AC1521434094}"/>
              </a:ext>
            </a:extLst>
          </p:cNvPr>
          <p:cNvCxnSpPr>
            <a:cxnSpLocks/>
          </p:cNvCxnSpPr>
          <p:nvPr/>
        </p:nvCxnSpPr>
        <p:spPr>
          <a:xfrm>
            <a:off x="10010504" y="1751013"/>
            <a:ext cx="0" cy="3136246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20A084B-13C6-05DD-538D-FB6D7936F042}"/>
              </a:ext>
            </a:extLst>
          </p:cNvPr>
          <p:cNvCxnSpPr>
            <a:cxnSpLocks/>
          </p:cNvCxnSpPr>
          <p:nvPr/>
        </p:nvCxnSpPr>
        <p:spPr>
          <a:xfrm>
            <a:off x="1765300" y="2174539"/>
            <a:ext cx="86487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787DE9E-52A3-A3CC-B8AC-6318691C787C}"/>
              </a:ext>
            </a:extLst>
          </p:cNvPr>
          <p:cNvCxnSpPr>
            <a:cxnSpLocks/>
          </p:cNvCxnSpPr>
          <p:nvPr/>
        </p:nvCxnSpPr>
        <p:spPr>
          <a:xfrm>
            <a:off x="1765300" y="4468159"/>
            <a:ext cx="8648700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5779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Outra forma eficiente (e atualizada) de se fazer estas especificações é utilizando o </a:t>
            </a:r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border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-box Model</a:t>
            </a:r>
          </a:p>
        </p:txBody>
      </p:sp>
    </p:spTree>
    <p:extLst>
      <p:ext uri="{BB962C8B-B14F-4D97-AF65-F5344CB8AC3E}">
        <p14:creationId xmlns:p14="http://schemas.microsoft.com/office/powerpoint/2010/main" val="18054497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Outra forma eficiente (e atualizada) de se fazer estas especificações é utilizando o </a:t>
            </a:r>
            <a:r>
              <a:rPr lang="pt-BR" sz="4400" b="1" i="1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border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-box Model</a:t>
            </a:r>
          </a:p>
        </p:txBody>
      </p:sp>
    </p:spTree>
    <p:extLst>
      <p:ext uri="{BB962C8B-B14F-4D97-AF65-F5344CB8AC3E}">
        <p14:creationId xmlns:p14="http://schemas.microsoft.com/office/powerpoint/2010/main" val="42319453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Quando um elemento é pequeno demais para um conteúdo, é possível especificar como queremos tratar o conteúdo com a propriedade </a:t>
            </a:r>
            <a:r>
              <a:rPr lang="pt-BR" sz="4400" b="1" i="1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overflow</a:t>
            </a:r>
          </a:p>
        </p:txBody>
      </p:sp>
    </p:spTree>
    <p:extLst>
      <p:ext uri="{BB962C8B-B14F-4D97-AF65-F5344CB8AC3E}">
        <p14:creationId xmlns:p14="http://schemas.microsoft.com/office/powerpoint/2010/main" val="415736835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37AE329-1C36-E1F2-2814-E39851935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9599"/>
            <a:ext cx="12192000" cy="420933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D5AF2F4-4B85-9116-A3D5-B05CC3DB282C}"/>
              </a:ext>
            </a:extLst>
          </p:cNvPr>
          <p:cNvSpPr txBox="1"/>
          <p:nvPr/>
        </p:nvSpPr>
        <p:spPr>
          <a:xfrm>
            <a:off x="228600" y="1020680"/>
            <a:ext cx="2182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overflow: </a:t>
            </a:r>
            <a:r>
              <a:rPr lang="pt-BR" sz="2000" b="1" dirty="0" err="1">
                <a:solidFill>
                  <a:srgbClr val="0070C0"/>
                </a:solidFill>
              </a:rPr>
              <a:t>visible</a:t>
            </a:r>
            <a:r>
              <a:rPr lang="pt-BR" sz="2000" b="1" dirty="0"/>
              <a:t>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3EE49E2-7132-BBC1-8815-22964033647A}"/>
              </a:ext>
            </a:extLst>
          </p:cNvPr>
          <p:cNvSpPr txBox="1"/>
          <p:nvPr/>
        </p:nvSpPr>
        <p:spPr>
          <a:xfrm>
            <a:off x="2575560" y="1020680"/>
            <a:ext cx="2182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overflow: </a:t>
            </a:r>
            <a:r>
              <a:rPr lang="pt-BR" sz="2000" b="1" dirty="0" err="1">
                <a:solidFill>
                  <a:srgbClr val="0070C0"/>
                </a:solidFill>
              </a:rPr>
              <a:t>hidden</a:t>
            </a:r>
            <a:r>
              <a:rPr lang="pt-BR" sz="2000" b="1" dirty="0"/>
              <a:t>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FBF790-B344-1EAE-4048-1C8AA4046BCA}"/>
              </a:ext>
            </a:extLst>
          </p:cNvPr>
          <p:cNvSpPr txBox="1"/>
          <p:nvPr/>
        </p:nvSpPr>
        <p:spPr>
          <a:xfrm>
            <a:off x="4922520" y="1020680"/>
            <a:ext cx="2182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overflow: </a:t>
            </a:r>
            <a:r>
              <a:rPr lang="pt-BR" sz="2000" b="1" dirty="0">
                <a:solidFill>
                  <a:srgbClr val="0070C0"/>
                </a:solidFill>
              </a:rPr>
              <a:t>scroll</a:t>
            </a:r>
            <a:r>
              <a:rPr lang="pt-BR" sz="2000" b="1" dirty="0"/>
              <a:t>;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0563F56-9E5E-6A7E-0CDE-923328FB5C8E}"/>
              </a:ext>
            </a:extLst>
          </p:cNvPr>
          <p:cNvSpPr txBox="1"/>
          <p:nvPr/>
        </p:nvSpPr>
        <p:spPr>
          <a:xfrm>
            <a:off x="7351915" y="1020680"/>
            <a:ext cx="2182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overflow: </a:t>
            </a:r>
            <a:r>
              <a:rPr lang="pt-BR" sz="2000" b="1" dirty="0">
                <a:solidFill>
                  <a:srgbClr val="0070C0"/>
                </a:solidFill>
              </a:rPr>
              <a:t>auto</a:t>
            </a:r>
            <a:r>
              <a:rPr lang="pt-BR" sz="2000" b="1" dirty="0"/>
              <a:t>;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B82917D-4781-503E-A6D6-74C89A3AE2B7}"/>
              </a:ext>
            </a:extLst>
          </p:cNvPr>
          <p:cNvSpPr txBox="1"/>
          <p:nvPr/>
        </p:nvSpPr>
        <p:spPr>
          <a:xfrm>
            <a:off x="9781310" y="1020680"/>
            <a:ext cx="2182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overflow: </a:t>
            </a:r>
            <a:r>
              <a:rPr lang="pt-BR" sz="2000" b="1" dirty="0">
                <a:solidFill>
                  <a:srgbClr val="0070C0"/>
                </a:solidFill>
              </a:rPr>
              <a:t>auto</a:t>
            </a:r>
            <a:r>
              <a:rPr lang="pt-BR" sz="2000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595641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/>
              <a:t>Box Model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291156" cy="3760891"/>
          </a:xfrm>
        </p:spPr>
        <p:txBody>
          <a:bodyPr>
            <a:normAutofit/>
          </a:bodyPr>
          <a:lstStyle/>
          <a:p>
            <a:pPr algn="l"/>
            <a:endParaRPr lang="pt-BR" sz="44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pt-BR" sz="4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É possível arredondar bordas de elementos:</a:t>
            </a:r>
            <a:endParaRPr lang="pt-BR" sz="4400" b="1" i="1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0908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E74FE66-2C1E-8B7F-AF69-EB21C358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68185"/>
            <a:ext cx="5543550" cy="35417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BC9A249-1F4C-8E86-2BCE-906788582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76" y="1068185"/>
            <a:ext cx="5410951" cy="3541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5534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9FA179C-CCF1-46A5-9D60-7DF254E6D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84" y="1068185"/>
            <a:ext cx="5693516" cy="472162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C7797D1-9E59-D148-0B01-ED702C5DE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483" y="1068185"/>
            <a:ext cx="5329159" cy="357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9851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F689B0DD-1C34-4723-8C7B-D9FE8D4BD047}"/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1468</TotalTime>
  <Words>1334</Words>
  <Application>Microsoft Office PowerPoint</Application>
  <PresentationFormat>Widescreen</PresentationFormat>
  <Paragraphs>202</Paragraphs>
  <Slides>63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72" baseType="lpstr">
      <vt:lpstr>Birka</vt:lpstr>
      <vt:lpstr>Birka-Italic</vt:lpstr>
      <vt:lpstr>Bookman Old Style</vt:lpstr>
      <vt:lpstr>Calibri</vt:lpstr>
      <vt:lpstr>Franklin Gothic Book</vt:lpstr>
      <vt:lpstr>TheSansMonoCd-W4SemiLight</vt:lpstr>
      <vt:lpstr>TheSansMonoCd-W5Regular</vt:lpstr>
      <vt:lpstr>TheSansMonoCd-W6SemiBold</vt:lpstr>
      <vt:lpstr>1_RetrospectVTI</vt:lpstr>
      <vt:lpstr>Desenvolvimento Web Responsivo</vt:lpstr>
      <vt:lpstr>Desenvolvimento Web Responsivo</vt:lpstr>
      <vt:lpstr>Formatando texto</vt:lpstr>
      <vt:lpstr>Especificando o nome da Fonte</vt:lpstr>
      <vt:lpstr>Especificando o nome da Fonte</vt:lpstr>
      <vt:lpstr>Especificando o nome da Fonte</vt:lpstr>
      <vt:lpstr>Especificando o nome da Fonte</vt:lpstr>
      <vt:lpstr>Especificando o nome da Fonte</vt:lpstr>
      <vt:lpstr>Especificando o nome da Fonte</vt:lpstr>
      <vt:lpstr>Especificando o tamanho da Fonte</vt:lpstr>
      <vt:lpstr>Especificando o tamanho da Fonte</vt:lpstr>
      <vt:lpstr>Especificando o tamanho da Fonte</vt:lpstr>
      <vt:lpstr>Peso, estilo e expansão</vt:lpstr>
      <vt:lpstr>Peso, estilo e expansão</vt:lpstr>
      <vt:lpstr>Outras propriedaes</vt:lpstr>
      <vt:lpstr>Peso, estilo e expansão</vt:lpstr>
      <vt:lpstr>Alterando a cor do texto</vt:lpstr>
      <vt:lpstr>Alterando a cor do texto</vt:lpstr>
      <vt:lpstr>Métodos de seleção</vt:lpstr>
      <vt:lpstr>Métodos de seleção</vt:lpstr>
      <vt:lpstr>Métodos de seleção</vt:lpstr>
      <vt:lpstr>Métodos de seleção</vt:lpstr>
      <vt:lpstr>Apresentação do PowerPoint</vt:lpstr>
      <vt:lpstr>Métodos de seleção</vt:lpstr>
      <vt:lpstr>Métodos de seleção</vt:lpstr>
      <vt:lpstr>Métodos de seleção</vt:lpstr>
      <vt:lpstr>Métodos de seleção</vt:lpstr>
      <vt:lpstr>Estilizando listas</vt:lpstr>
      <vt:lpstr>Apresentação do PowerPoint</vt:lpstr>
      <vt:lpstr>Estilizando listas</vt:lpstr>
      <vt:lpstr>Estilizando listas</vt:lpstr>
      <vt:lpstr>Apresentação do PowerPoint</vt:lpstr>
      <vt:lpstr>Cores e background</vt:lpstr>
      <vt:lpstr>Nomes de cores</vt:lpstr>
      <vt:lpstr>Apresentação do PowerPoint</vt:lpstr>
      <vt:lpstr>Valores RGB, RGBa e Hex</vt:lpstr>
      <vt:lpstr>Valores RGB, RGBa e Hex</vt:lpstr>
      <vt:lpstr>Valores RGB, RGBa e Hex</vt:lpstr>
      <vt:lpstr>Valores RGB, RGBa e Hex</vt:lpstr>
      <vt:lpstr>Apresentação do PowerPoint</vt:lpstr>
      <vt:lpstr>Valores RGB, RGBa e Hex</vt:lpstr>
      <vt:lpstr>Cor de Background</vt:lpstr>
      <vt:lpstr>Apresentação do PowerPoint</vt:lpstr>
      <vt:lpstr>Seletores de pseudo-classes</vt:lpstr>
      <vt:lpstr>Seletores de pseudo-classes</vt:lpstr>
      <vt:lpstr>Box Model</vt:lpstr>
      <vt:lpstr>Box Model</vt:lpstr>
      <vt:lpstr>Apresentação do PowerPoint</vt:lpstr>
      <vt:lpstr>Box Model</vt:lpstr>
      <vt:lpstr>Box Model</vt:lpstr>
      <vt:lpstr>Box Model</vt:lpstr>
      <vt:lpstr>Box Model</vt:lpstr>
      <vt:lpstr>Box Model</vt:lpstr>
      <vt:lpstr>Box Model</vt:lpstr>
      <vt:lpstr>Box Model</vt:lpstr>
      <vt:lpstr>Apresentação do PowerPoint</vt:lpstr>
      <vt:lpstr>Box Model</vt:lpstr>
      <vt:lpstr>Box Model</vt:lpstr>
      <vt:lpstr>Box Model</vt:lpstr>
      <vt:lpstr>Apresentação do PowerPoint</vt:lpstr>
      <vt:lpstr>Box Model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96</cp:revision>
  <dcterms:created xsi:type="dcterms:W3CDTF">2022-08-10T14:03:41Z</dcterms:created>
  <dcterms:modified xsi:type="dcterms:W3CDTF">2026-03-26T18:12:43Z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