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6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35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42"/>
  </p:notesMasterIdLst>
  <p:handoutMasterIdLst>
    <p:handoutMasterId r:id="rId43"/>
  </p:handoutMasterIdLst>
  <p:sldIdLst>
    <p:sldId id="865" r:id="rId2"/>
    <p:sldId id="880" r:id="rId3"/>
    <p:sldId id="827" r:id="rId4"/>
    <p:sldId id="843" r:id="rId5"/>
    <p:sldId id="844" r:id="rId6"/>
    <p:sldId id="845" r:id="rId7"/>
    <p:sldId id="846" r:id="rId8"/>
    <p:sldId id="848" r:id="rId9"/>
    <p:sldId id="849" r:id="rId10"/>
    <p:sldId id="851" r:id="rId11"/>
    <p:sldId id="850" r:id="rId12"/>
    <p:sldId id="852" r:id="rId13"/>
    <p:sldId id="853" r:id="rId14"/>
    <p:sldId id="854" r:id="rId15"/>
    <p:sldId id="866" r:id="rId16"/>
    <p:sldId id="855" r:id="rId17"/>
    <p:sldId id="856" r:id="rId18"/>
    <p:sldId id="857" r:id="rId19"/>
    <p:sldId id="847" r:id="rId20"/>
    <p:sldId id="867" r:id="rId21"/>
    <p:sldId id="859" r:id="rId22"/>
    <p:sldId id="860" r:id="rId23"/>
    <p:sldId id="861" r:id="rId24"/>
    <p:sldId id="862" r:id="rId25"/>
    <p:sldId id="863" r:id="rId26"/>
    <p:sldId id="864" r:id="rId27"/>
    <p:sldId id="868" r:id="rId28"/>
    <p:sldId id="869" r:id="rId29"/>
    <p:sldId id="870" r:id="rId30"/>
    <p:sldId id="872" r:id="rId31"/>
    <p:sldId id="873" r:id="rId32"/>
    <p:sldId id="879" r:id="rId33"/>
    <p:sldId id="874" r:id="rId34"/>
    <p:sldId id="875" r:id="rId35"/>
    <p:sldId id="876" r:id="rId36"/>
    <p:sldId id="877" r:id="rId37"/>
    <p:sldId id="884" r:id="rId38"/>
    <p:sldId id="878" r:id="rId39"/>
    <p:sldId id="881" r:id="rId40"/>
    <p:sldId id="883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9900"/>
    <a:srgbClr val="00E7E2"/>
    <a:srgbClr val="00B0AC"/>
    <a:srgbClr val="BDD2E9"/>
    <a:srgbClr val="A4A4D0"/>
    <a:srgbClr val="ECFB79"/>
    <a:srgbClr val="B1B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34" autoAdjust="0"/>
    <p:restoredTop sz="94394" autoAdjust="0"/>
  </p:normalViewPr>
  <p:slideViewPr>
    <p:cSldViewPr>
      <p:cViewPr varScale="1">
        <p:scale>
          <a:sx n="75" d="100"/>
          <a:sy n="75" d="100"/>
        </p:scale>
        <p:origin x="941" y="62"/>
      </p:cViewPr>
      <p:guideLst>
        <p:guide orient="horz" pos="2160"/>
        <p:guide pos="384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BBAEE95-8191-2527-C98E-00A7E0B8656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AE8E986-2186-F455-A736-665C1377358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/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CA5EDB95-EB57-C69B-857E-7D3411D2B7E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18FBC8AC-152B-EBFB-0707-496BEA452B3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A54AAD71-F961-49F9-8CB2-341FEC2FEE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455E3DFA-16FF-697B-0392-78A2A87D9CA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1B498510-371E-96D4-7797-3D58805438F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/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B3EF074-1EFF-C1B5-1FCC-ACCEA315518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CE96CCFB-A42B-12CF-4163-87C5FDC367F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 noProof="0"/>
              <a:t>Click to edit Master text styles</a:t>
            </a:r>
          </a:p>
          <a:p>
            <a:pPr lvl="1"/>
            <a:r>
              <a:rPr lang="en-US" altLang="pt-BR" noProof="0"/>
              <a:t>Second level</a:t>
            </a:r>
          </a:p>
          <a:p>
            <a:pPr lvl="2"/>
            <a:r>
              <a:rPr lang="en-US" altLang="pt-BR" noProof="0"/>
              <a:t>Third level</a:t>
            </a:r>
          </a:p>
          <a:p>
            <a:pPr lvl="3"/>
            <a:r>
              <a:rPr lang="en-US" altLang="pt-BR" noProof="0"/>
              <a:t>Fourth level</a:t>
            </a:r>
          </a:p>
          <a:p>
            <a:pPr lvl="4"/>
            <a:r>
              <a:rPr lang="en-US" altLang="pt-BR" noProof="0"/>
              <a:t>Fifth level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C6B0C5C0-2295-EF66-7D1D-5C8749BEAE4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pt-BR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0F791D7B-738D-E534-D93A-C4318A00F2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0697752F-8A8B-4213-A5AF-0881398C59E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BCCD7C81-F8C9-4905-84A7-377D7A1842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4FDFB94-BA91-4084-BE58-A751EE40AE27}" type="slidenum">
              <a:rPr lang="en-US" altLang="pt-BR">
                <a:latin typeface="Times New Roman" panose="02020603050405020304" pitchFamily="18" charset="0"/>
              </a:rPr>
              <a:pPr/>
              <a:t>1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B2A469F1-7E76-E0D5-BD4A-3479FA17B6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341ED838-E257-7911-83AD-453E90B30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8E0D10E-A022-3E7F-2710-C18BFA0305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1E60AF7-940C-4AFC-9681-6679190EF262}" type="slidenum">
              <a:rPr lang="en-US" altLang="pt-BR">
                <a:latin typeface="Times New Roman" panose="02020603050405020304" pitchFamily="18" charset="0"/>
              </a:rPr>
              <a:pPr/>
              <a:t>2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2206845-A8DB-F1D9-3573-5DEED92779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89C106E1-243A-3B9F-59E5-FB8E7EE769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A44EE9D1-2D17-FADB-E9E5-EC9A279F09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7F6CA35-4882-49BB-9B3C-16A1470508E3}" type="slidenum">
              <a:rPr lang="en-US" altLang="pt-BR">
                <a:latin typeface="Times New Roman" panose="02020603050405020304" pitchFamily="18" charset="0"/>
              </a:rPr>
              <a:pPr/>
              <a:t>3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CB48D55C-46D1-04BB-957C-2ADEA89C21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32BB621A-E566-5438-78B6-E8F520163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969622C4-55AD-9007-DD64-641187EF96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A456AFB-F134-41F7-AA83-0B02DEF0A9A3}" type="slidenum">
              <a:rPr lang="en-US" altLang="pt-BR">
                <a:latin typeface="Times New Roman" panose="02020603050405020304" pitchFamily="18" charset="0"/>
              </a:rPr>
              <a:pPr/>
              <a:t>4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F808C538-82EF-46B2-3707-7A640EE39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2627E06C-2692-5A97-D7B3-800A9885F8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4C750082-0817-0289-C6C5-020C51964C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735BD1D-698F-41F8-96EB-3BFB5E1C7E87}" type="slidenum">
              <a:rPr lang="en-US" altLang="pt-BR">
                <a:latin typeface="Times New Roman" panose="02020603050405020304" pitchFamily="18" charset="0"/>
              </a:rPr>
              <a:pPr/>
              <a:t>5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1A888068-BC53-52E1-8162-FC457FC409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D1F4A72B-CD57-D49E-A202-E6C2DC893D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33FF6068-809E-741B-0EF9-D3892E3414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41F6C2A-F123-41BE-AED6-B9E2FC4777FF}" type="slidenum">
              <a:rPr lang="en-US" altLang="pt-BR">
                <a:latin typeface="Times New Roman" panose="02020603050405020304" pitchFamily="18" charset="0"/>
              </a:rPr>
              <a:pPr/>
              <a:t>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8B20EC7D-1716-0CC7-E819-ADFD480E68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2B42061-30AC-11C1-2C16-5A0E21619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85FBAC69-2F16-02EA-3BEA-06DCD40E58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9292542-D6AF-400B-A643-E634B671ADDB}" type="slidenum">
              <a:rPr lang="en-US" altLang="pt-BR">
                <a:latin typeface="Times New Roman" panose="02020603050405020304" pitchFamily="18" charset="0"/>
              </a:rPr>
              <a:pPr/>
              <a:t>7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8974A91-4570-A3D5-A0D7-D09000F1B4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E575931C-4391-821C-7928-C75D115711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BD6121A6-F64F-CCD4-3747-0FA2800900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093968B-AC10-4D88-88B9-71FB07CA7155}" type="slidenum">
              <a:rPr lang="en-US" altLang="pt-BR">
                <a:latin typeface="Times New Roman" panose="02020603050405020304" pitchFamily="18" charset="0"/>
              </a:rPr>
              <a:pPr/>
              <a:t>8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0DEBD14-40C6-E8D7-3EFF-9549CC2509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54646419-9D63-AD4A-2BB1-C38E2918F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BB3B65C2-64C6-0F5C-7283-68CA2F4E44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10E2454-9E19-4573-A7F7-B5E7E98A99D5}" type="slidenum">
              <a:rPr lang="en-US" altLang="pt-BR">
                <a:latin typeface="Times New Roman" panose="02020603050405020304" pitchFamily="18" charset="0"/>
              </a:rPr>
              <a:pPr/>
              <a:t>9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2F951A5A-1662-9C78-C6EA-EE105C82F1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A630DF25-8B9E-9C1C-33BA-D65BFE2ADB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3FEA15CC-D1BC-14C5-5656-902CACEC5C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1F19644-5F53-4D77-9DDF-92127CD7EAC9}" type="slidenum">
              <a:rPr lang="en-US" altLang="pt-BR">
                <a:latin typeface="Times New Roman" panose="02020603050405020304" pitchFamily="18" charset="0"/>
              </a:rPr>
              <a:pPr/>
              <a:t>10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561E8795-CA5C-47AF-0630-294E801FC0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DD96193A-3351-6ED6-304D-865A04E3B3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DB83B9F5-03D3-A976-FF90-A3A054C9FB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E6230E9-F941-41EE-A18C-EC2DDFCDD41B}" type="slidenum">
              <a:rPr lang="en-US" altLang="pt-BR">
                <a:latin typeface="Times New Roman" panose="02020603050405020304" pitchFamily="18" charset="0"/>
              </a:rPr>
              <a:pPr/>
              <a:t>11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B7414848-E767-1582-1107-E3AB4D1A26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3AB06CEB-23D4-C9F4-3A00-4FA19D2689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57A8813C-D71D-DC86-2020-51BC2A9B99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FE91FFC-AADD-43DF-AD9F-56F05057B620}" type="slidenum">
              <a:rPr lang="en-US" altLang="pt-BR">
                <a:latin typeface="Times New Roman" panose="02020603050405020304" pitchFamily="18" charset="0"/>
              </a:rPr>
              <a:pPr/>
              <a:t>12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AA0C382A-B344-67F8-BA98-2C88E79D8B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0860F713-F81E-5A8B-BA63-DF496BC3F3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359707EB-4F6C-46F4-D529-E0868659FC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A9AE008-7E1C-4FD8-996F-766F6B030519}" type="slidenum">
              <a:rPr lang="en-US" altLang="pt-BR">
                <a:latin typeface="Times New Roman" panose="02020603050405020304" pitchFamily="18" charset="0"/>
              </a:rPr>
              <a:pPr/>
              <a:t>13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8892D5BC-B245-A44F-65D9-8AAE8B7A19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A4CDAE3-6DC9-0A45-1892-C8828CF723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64F42A98-5DE8-4068-364A-E5528FC9C9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4664BF9-3658-4C50-AD85-723A495BB8EF}" type="slidenum">
              <a:rPr lang="en-US" altLang="pt-BR">
                <a:latin typeface="Times New Roman" panose="02020603050405020304" pitchFamily="18" charset="0"/>
              </a:rPr>
              <a:pPr/>
              <a:t>14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A3BFB5C7-2866-6F4C-221E-11C797236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F7E34765-C52A-2F51-707B-0E6A1E901F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27491370-9F28-3FDB-AF2F-A6802E4196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D2A0613-964D-4FF7-9127-BDDDABE323EB}" type="slidenum">
              <a:rPr lang="en-US" altLang="pt-BR">
                <a:latin typeface="Times New Roman" panose="02020603050405020304" pitchFamily="18" charset="0"/>
              </a:rPr>
              <a:pPr/>
              <a:t>15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32B377CC-8C38-14D2-BAF6-1D1B29294A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22EE5275-76C1-7420-C22B-BC77A61D08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9BDD6C4E-1D8A-D4A3-28D2-36A729CE12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67A96E4-1F59-43AE-9A87-7A1BF1A11DB8}" type="slidenum">
              <a:rPr lang="en-US" altLang="pt-BR">
                <a:latin typeface="Times New Roman" panose="02020603050405020304" pitchFamily="18" charset="0"/>
              </a:rPr>
              <a:pPr/>
              <a:t>16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3C9F723-DF45-D828-A1A9-190ADEDD7B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B570229-0960-6B01-881B-570F3613E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2A9E9AEA-49F8-BDB1-9AEF-7ADF29B445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86EAB4D-0E64-40DA-8D39-69336837CAEF}" type="slidenum">
              <a:rPr lang="en-US" altLang="pt-BR">
                <a:latin typeface="Times New Roman" panose="02020603050405020304" pitchFamily="18" charset="0"/>
              </a:rPr>
              <a:pPr/>
              <a:t>17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0C965EA3-DFA1-4B7B-F1BD-74A5304CEC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85C4DB23-1A52-EC8D-B69B-AF9A801FB1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9ECA85A4-E0E1-529B-C249-306E046476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64CF39D-BFFC-4BE3-9022-06EA19797D86}" type="slidenum">
              <a:rPr lang="en-US" altLang="pt-BR">
                <a:latin typeface="Times New Roman" panose="02020603050405020304" pitchFamily="18" charset="0"/>
              </a:rPr>
              <a:pPr/>
              <a:t>18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DA3A677C-0755-F879-FF11-0072020908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FAE4076-0336-F83A-744F-EAB1F309E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DD7DF08E-7ED4-67B6-9B40-3705AA8EB1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04122B1-08E6-48C1-B1C2-4AF4E7FF4307}" type="slidenum">
              <a:rPr lang="en-US" altLang="pt-BR">
                <a:latin typeface="Times New Roman" panose="02020603050405020304" pitchFamily="18" charset="0"/>
              </a:rPr>
              <a:pPr/>
              <a:t>19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A4017EDC-7FF4-7399-3B57-01E4892C8A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8F8FACD2-F01B-FB70-ED38-0BC9DDFD5C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BAFBA2F3-5C13-172A-0964-011AA70397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B388123-BD83-4AD5-A625-20FE2A54A4A6}" type="slidenum">
              <a:rPr lang="en-US" altLang="pt-BR">
                <a:latin typeface="Times New Roman" panose="02020603050405020304" pitchFamily="18" charset="0"/>
              </a:rPr>
              <a:pPr/>
              <a:t>20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24C3F0BE-152D-4F07-DE1D-BF53DCB8A5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DC14F01-C1F6-884E-10F4-9FDB162448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7E78ED6D-A3D4-1F5A-851B-D5FC459C0C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F6529A1-9013-41F3-A527-1A9C961185E3}" type="slidenum">
              <a:rPr lang="en-US" altLang="pt-BR">
                <a:latin typeface="Times New Roman" panose="02020603050405020304" pitchFamily="18" charset="0"/>
              </a:rPr>
              <a:pPr/>
              <a:t>21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AF775D56-8AC3-9D8F-1F35-1D4C080D92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360A9F9B-2302-5D84-C39B-08667B853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CBED589E-7906-480B-CC38-FF79144E76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73EEAA0-9E1E-4A3E-8343-E6822C910A82}" type="slidenum">
              <a:rPr lang="en-US" altLang="pt-BR">
                <a:latin typeface="Times New Roman" panose="02020603050405020304" pitchFamily="18" charset="0"/>
              </a:rPr>
              <a:pPr/>
              <a:t>22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01FD5B50-6EC5-502E-33E3-28930AD35F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5B876DFF-ACC0-B9BC-33DB-A97269B02E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1E1AD5E0-4BB3-DD22-FD45-DD78C88206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B4ED5DE-232B-48E5-8BE9-47B2D38B9899}" type="slidenum">
              <a:rPr lang="en-US" altLang="pt-BR">
                <a:latin typeface="Times New Roman" panose="02020603050405020304" pitchFamily="18" charset="0"/>
              </a:rPr>
              <a:pPr/>
              <a:t>23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1DB85FF5-0E8A-13AF-E772-4533414ACF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4744B6B9-FF82-026F-AFE6-6158648C8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62C5A407-4205-8BF7-00F2-0B9E0A8F5A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F99FEA4-21BD-4D7D-9E97-1776D5397D28}" type="slidenum">
              <a:rPr lang="en-US" altLang="pt-BR">
                <a:latin typeface="Times New Roman" panose="02020603050405020304" pitchFamily="18" charset="0"/>
              </a:rPr>
              <a:pPr/>
              <a:t>24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4DA6D0B-9947-7157-C18C-4CC4F7617E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303E8A7C-68A6-DC68-2EE2-818F96CE6C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CF61654A-CC91-C9C1-D9AA-AB32426AD3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D132A2D-C570-4618-9A97-4B4B78B9703C}" type="slidenum">
              <a:rPr lang="en-US" altLang="pt-BR">
                <a:latin typeface="Times New Roman" panose="02020603050405020304" pitchFamily="18" charset="0"/>
              </a:rPr>
              <a:pPr/>
              <a:t>25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8F570D17-8E70-291F-AD6F-377F1F6F16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18C1E51A-0E2F-81DE-EE5E-563E3C15F8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BDFDEDF0-F9B3-7971-A586-21880613C0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E41C8EB-0DEE-4986-9857-980DD4340D97}" type="slidenum">
              <a:rPr lang="en-US" altLang="pt-BR">
                <a:latin typeface="Times New Roman" panose="02020603050405020304" pitchFamily="18" charset="0"/>
              </a:rPr>
              <a:pPr/>
              <a:t>26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6BB73378-16C1-0F11-5004-0F69AF146C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E3DD5806-2D39-93C3-EDD1-2F27D6C2CB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2BDB3180-1F56-21E6-6F4D-4EF593B8BB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E599B70-6C05-46CE-B50A-724CA131EEB8}" type="slidenum">
              <a:rPr lang="en-US" altLang="pt-BR">
                <a:latin typeface="Times New Roman" panose="02020603050405020304" pitchFamily="18" charset="0"/>
              </a:rPr>
              <a:pPr/>
              <a:t>27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B70A5573-B4BC-A0BA-B6F1-0D02AF6AA7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E28AC366-D5A0-DD75-82DF-9076431DDF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DBF71B12-A0E4-5314-2EF2-72B20DA0BA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FB9D006-197F-45F7-A413-383B474CB3CC}" type="slidenum">
              <a:rPr lang="en-US" altLang="pt-BR">
                <a:latin typeface="Times New Roman" panose="02020603050405020304" pitchFamily="18" charset="0"/>
              </a:rPr>
              <a:pPr/>
              <a:t>28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0CC3EE63-D924-5CD4-794B-CF693BA89E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9FCE34C0-0D9C-2CC3-4469-67D1E1F45C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977DA48D-8AD5-731B-24E7-F417529FD6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F2B2343-3E30-4A03-8E9C-82E487A2A661}" type="slidenum">
              <a:rPr lang="en-US" altLang="pt-BR">
                <a:latin typeface="Times New Roman" panose="02020603050405020304" pitchFamily="18" charset="0"/>
              </a:rPr>
              <a:pPr/>
              <a:t>29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9AC50B84-152E-EC44-C813-3911B10756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97075439-09BF-9663-4779-F68FF31F07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F8690554-A045-29FB-4B88-744D11849A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6B89C07-8436-4D97-B289-3B7C474EE285}" type="slidenum">
              <a:rPr lang="en-US" altLang="pt-BR">
                <a:latin typeface="Times New Roman" panose="02020603050405020304" pitchFamily="18" charset="0"/>
              </a:rPr>
              <a:pPr/>
              <a:t>33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D48A8181-3CF1-4D8A-D465-1A8F728A45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C3A7ECB9-57BE-4B59-5E52-0207C5F906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97751E84-AF6A-373F-4DF9-A50987DE1C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0DDCFB3-1481-48C0-9A0E-0FD4003C56D7}" type="slidenum">
              <a:rPr lang="en-US" altLang="pt-BR">
                <a:latin typeface="Times New Roman" panose="02020603050405020304" pitchFamily="18" charset="0"/>
              </a:rPr>
              <a:pPr/>
              <a:t>34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C0E8A515-9A56-5DFC-6BF6-355D9DB188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56B550BB-5416-EA6D-855C-B57462D7EC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76D6CF07-5393-33A8-10A8-17670F3059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EA703C8-780D-472B-85EA-054F3EBB8B11}" type="slidenum">
              <a:rPr lang="en-US" altLang="pt-BR">
                <a:latin typeface="Times New Roman" panose="02020603050405020304" pitchFamily="18" charset="0"/>
              </a:rPr>
              <a:pPr/>
              <a:t>35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93A2BAE5-830C-7CD4-EB81-49135E1C2E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0B02A670-7690-7DF5-4BD7-7DAC37F7B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4ADB0F13-128F-DC10-F906-EA7E008979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77328FD-2E03-4A8D-8F57-AC0FB83A30CB}" type="slidenum">
              <a:rPr lang="en-US" altLang="pt-BR">
                <a:latin typeface="Times New Roman" panose="02020603050405020304" pitchFamily="18" charset="0"/>
              </a:rPr>
              <a:pPr/>
              <a:t>36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1A6F683F-2559-5401-0CDD-B0561A97B0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FE9CC5AA-2508-F886-47F5-7EEF391F1F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E0A93F5-530E-F4E2-1736-C3DC01D12B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FA9CF92-1D02-4D9C-9979-5634805496A0}" type="slidenum">
              <a:rPr lang="en-US" altLang="pt-BR">
                <a:latin typeface="Times New Roman" panose="02020603050405020304" pitchFamily="18" charset="0"/>
              </a:rPr>
              <a:pPr/>
              <a:t>38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66F3D789-414B-5F7B-56A7-58575B74E2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2B8D09F1-3C94-CCEA-CDCD-30E6934D64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D427EC95-A3E9-5A7A-AFE0-011060BD2C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45A11FC-5B96-47B6-AA0B-145B3CE389A9}" type="slidenum">
              <a:rPr lang="en-US" altLang="pt-BR">
                <a:latin typeface="Times New Roman" panose="02020603050405020304" pitchFamily="18" charset="0"/>
              </a:rPr>
              <a:pPr/>
              <a:t>39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DA9CC158-8910-12BA-629C-269938A778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3929F6EB-89FC-B56B-2C18-EE2BC3BB0B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0F3EBD89-8017-4E73-B1F3-1E121F6358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42B2019-1AC2-4B6B-BD39-1542E2A9CE95}" type="slidenum">
              <a:rPr lang="en-US" altLang="pt-BR">
                <a:latin typeface="Times New Roman" panose="02020603050405020304" pitchFamily="18" charset="0"/>
              </a:rPr>
              <a:pPr/>
              <a:t>40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F827EAA-C86C-F82A-5FFE-23512CFBA0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C98B02AE-87E6-A96D-9EC2-731A41174D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AE9F-E8C3-44FA-83D1-7AAFED0C736A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1039766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AE9F-E8C3-44FA-83D1-7AAFED0C736A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4217838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CAAF7-21CC-4CB0-A415-95E85A6B25DA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31390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D705-1CDF-4FE5-BBA7-8538608D876C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13029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FC6C-94ED-4DC0-ABA3-8A886B71C13F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35911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AE9F-E8C3-44FA-83D1-7AAFED0C736A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9654321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AE9F-E8C3-44FA-83D1-7AAFED0C736A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2906052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38904-B5EC-494A-9C33-DDF057BF7BF7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4995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AA7F2-1B26-499B-9175-2528B18D30BD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90540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AE9F-E8C3-44FA-83D1-7AAFED0C736A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8936191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3AE9F-E8C3-44FA-83D1-7AAFED0C736A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1481842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3716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484313"/>
            <a:ext cx="5384800" cy="460851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484313"/>
            <a:ext cx="5384800" cy="460851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A6F225-D26D-AA84-775D-9E10DF3AC8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236D0F-FAB3-7162-EC68-5117CDFF25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FB79CE-98D8-90E6-1DEE-1A0B2A0E8F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419438-A59A-49A0-8AC0-44D7F8E2B89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33045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3AE9F-E8C3-44FA-83D1-7AAFED0C736A}" type="slidenum">
              <a:rPr lang="pt-BR" altLang="pt-BR" smtClean="0"/>
              <a:pPr/>
              <a:t>‹nº›</a:t>
            </a:fld>
            <a:endParaRPr lang="pt-BR" altLang="pt-BR"/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F7B7316C-9314-83DC-5035-9AAE52EBC22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944534" y="6523039"/>
            <a:ext cx="1211998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pt-BR" sz="1200">
                <a:solidFill>
                  <a:srgbClr val="A4A4D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Programação A</a:t>
            </a:r>
            <a:endParaRPr lang="pt-BR" altLang="pt-BR" sz="1200">
              <a:solidFill>
                <a:srgbClr val="A4A4D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99C9E3C-1A4D-F134-E43D-4758DAA10DCA}"/>
              </a:ext>
            </a:extLst>
          </p:cNvPr>
          <p:cNvSpPr/>
          <p:nvPr userDrawn="1"/>
        </p:nvSpPr>
        <p:spPr>
          <a:xfrm>
            <a:off x="2446867" y="14288"/>
            <a:ext cx="9745133" cy="6778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D180F313-92E8-5A34-3B57-9878046C36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446867" y="150787"/>
            <a:ext cx="9745133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pt-BR" altLang="pt-BR" sz="2000" b="1" cap="none" spc="0" dirty="0">
                <a:ln w="10160">
                  <a:solidFill>
                    <a:sysClr val="windowText" lastClr="000000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CURSO SUPERIOR DE TECNOLOGIA EM ANÁLISE E DESENVOLVIMENTO DE SISTEMAS</a:t>
            </a:r>
          </a:p>
        </p:txBody>
      </p:sp>
      <p:sp>
        <p:nvSpPr>
          <p:cNvPr id="9" name="Line 17">
            <a:extLst>
              <a:ext uri="{FF2B5EF4-FFF2-40B4-BE49-F238E27FC236}">
                <a16:creationId xmlns:a16="http://schemas.microsoft.com/office/drawing/2014/main" id="{43DF41F4-CF74-E09C-B9CB-948CC4EF5B2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739775"/>
            <a:ext cx="12192000" cy="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18">
            <a:extLst>
              <a:ext uri="{FF2B5EF4-FFF2-40B4-BE49-F238E27FC236}">
                <a16:creationId xmlns:a16="http://schemas.microsoft.com/office/drawing/2014/main" id="{D1576997-EB11-1B5F-9EDB-FDD2E17100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8"/>
            <a:ext cx="2446867" cy="67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9945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../../../Dev-Cpp/intcomp/28_04/fun&#231;&#227;o1_media.cpp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aula4_Programa&#231;&#227;o_B_1o.Sem_2009.ppt#-1,1,Unidade 2 &#8211; Aloca&#231;&#227;o Din&#226;mica de Mem&#243;ria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48881DD1-49E9-3DC1-7E36-3ED79DE16F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Linguagem de Programação C</a:t>
            </a:r>
            <a:endParaRPr lang="pt-BR" altLang="pt-BR" dirty="0">
              <a:effectLst/>
            </a:endParaRP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BD4352D0-E351-34E2-588C-CA76C831C63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484313"/>
            <a:ext cx="8291513" cy="4114800"/>
          </a:xfrm>
        </p:spPr>
        <p:txBody>
          <a:bodyPr/>
          <a:lstStyle/>
          <a:p>
            <a:pPr marL="93663" indent="263525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pt-BR" altLang="pt-BR" sz="2000" b="1" u="sng" dirty="0">
              <a:effectLst/>
            </a:endParaRPr>
          </a:p>
          <a:p>
            <a:pPr marL="93663" indent="263525" algn="just" eaLnBrk="1" hangingPunct="1">
              <a:lnSpc>
                <a:spcPct val="80000"/>
              </a:lnSpc>
            </a:pPr>
            <a:r>
              <a:rPr lang="pt-BR" altLang="pt-BR" b="1" dirty="0">
                <a:effectLst/>
              </a:rPr>
              <a:t>Unidade 5 - Ferramentas para modularização</a:t>
            </a:r>
          </a:p>
          <a:p>
            <a:pPr marL="93663" indent="0" algn="just" eaLnBrk="1" hangingPunct="1">
              <a:lnSpc>
                <a:spcPct val="80000"/>
              </a:lnSpc>
              <a:buNone/>
            </a:pPr>
            <a:r>
              <a:rPr lang="pt-BR" altLang="pt-BR" b="1" dirty="0">
                <a:effectLst/>
              </a:rPr>
              <a:t>     </a:t>
            </a:r>
          </a:p>
        </p:txBody>
      </p:sp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20382BEE-335A-A81A-6D51-68813F62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FBA6451-8E58-4199-A98F-7CBE4D972E64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1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1B567BC5-E20F-FD6B-FD49-CB7FB9781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>
                <a:effectLst/>
              </a:rPr>
              <a:t>Programação A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9FCEF5AC-BAFE-ABA8-EB26-A779DB6CF9E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484313"/>
            <a:ext cx="8291513" cy="4114800"/>
          </a:xfrm>
        </p:spPr>
        <p:txBody>
          <a:bodyPr/>
          <a:lstStyle/>
          <a:p>
            <a:pPr marL="93663" indent="263525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altLang="pt-BR" sz="2000" b="1" u="sng">
                <a:effectLst/>
              </a:rPr>
              <a:t>Conteúdo Programático</a:t>
            </a:r>
          </a:p>
          <a:p>
            <a:pPr marL="93663" indent="263525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pt-BR" altLang="pt-BR" sz="2000" b="1" u="sng">
              <a:effectLst/>
            </a:endParaRPr>
          </a:p>
          <a:p>
            <a:pPr marL="93663" indent="263525" algn="just" eaLnBrk="1" hangingPunct="1">
              <a:lnSpc>
                <a:spcPct val="80000"/>
              </a:lnSpc>
            </a:pPr>
            <a:r>
              <a:rPr lang="pt-BR" altLang="pt-BR" b="1">
                <a:effectLst/>
              </a:rPr>
              <a:t>Unidade 5 - Ferramentas para modularização</a:t>
            </a:r>
          </a:p>
          <a:p>
            <a:pPr marL="93663" indent="263525" algn="just" eaLnBrk="1" hangingPunct="1">
              <a:lnSpc>
                <a:spcPct val="80000"/>
              </a:lnSpc>
            </a:pPr>
            <a:r>
              <a:rPr lang="pt-BR" altLang="pt-BR" b="1">
                <a:effectLst/>
              </a:rPr>
              <a:t>      5.1 – Funções</a:t>
            </a:r>
          </a:p>
          <a:p>
            <a:pPr marL="93663" indent="263525" algn="just" eaLnBrk="1" hangingPunct="1">
              <a:lnSpc>
                <a:spcPct val="80000"/>
              </a:lnSpc>
            </a:pPr>
            <a:r>
              <a:rPr lang="pt-BR" altLang="pt-BR" b="1">
                <a:effectLst/>
              </a:rPr>
              <a:t>      5.2 - Variáveis locais e globais</a:t>
            </a:r>
          </a:p>
          <a:p>
            <a:pPr marL="93663" indent="263525" algn="just" eaLnBrk="1" hangingPunct="1">
              <a:lnSpc>
                <a:spcPct val="80000"/>
              </a:lnSpc>
            </a:pPr>
            <a:r>
              <a:rPr lang="pt-BR" altLang="pt-BR" b="1">
                <a:effectLst/>
              </a:rPr>
              <a:t>      5.3 - Passagem de parâmetro por valor</a:t>
            </a:r>
          </a:p>
          <a:p>
            <a:pPr marL="93663" indent="263525" algn="just" eaLnBrk="1" hangingPunct="1">
              <a:lnSpc>
                <a:spcPct val="80000"/>
              </a:lnSpc>
            </a:pPr>
            <a:r>
              <a:rPr lang="pt-BR" altLang="pt-BR" b="1">
                <a:effectLst/>
              </a:rPr>
              <a:t>      5.4 - Regras de escopo</a:t>
            </a:r>
          </a:p>
        </p:txBody>
      </p:sp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B6091163-8243-1C06-333E-D6F6DEDF1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0036B31-25E2-4625-952A-07DF1E99344C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2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03ED3DCC-DB2C-683E-F03D-960EBAE6E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>
                <a:effectLst/>
              </a:rPr>
              <a:t>5.1 – Funções</a:t>
            </a:r>
          </a:p>
        </p:txBody>
      </p:sp>
      <p:sp>
        <p:nvSpPr>
          <p:cNvPr id="1380355" name="Rectangle 3">
            <a:extLst>
              <a:ext uri="{FF2B5EF4-FFF2-40B4-BE49-F238E27FC236}">
                <a16:creationId xmlns:a16="http://schemas.microsoft.com/office/drawing/2014/main" id="{7EDC4FDC-6540-7485-C89A-8333EB79F6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zh-CN" sz="2000">
                <a:ea typeface="SimSun" panose="02010600030101010101" pitchFamily="2" charset="-122"/>
              </a:rPr>
              <a:t>   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Funções (também chamadas de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rotinas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, ou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sub-programas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) são a essência da programação estruturada. Funções são segmentos de programa que executam uma determinada tarefa específica.</a:t>
            </a:r>
          </a:p>
          <a:p>
            <a:pPr lvl="1" algn="just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lang="pt-BR" altLang="zh-CN" sz="1800">
                <a:effectLst/>
                <a:ea typeface="SimSun" panose="02010600030101010101" pitchFamily="2" charset="-122"/>
              </a:rPr>
              <a:t>Exemplos: sqrt(), getch().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zh-CN" sz="2000">
                <a:effectLst/>
                <a:ea typeface="SimSun" panose="02010600030101010101" pitchFamily="2" charset="-122"/>
              </a:rPr>
              <a:t>   É possível ao programador escrever suas próprias rotinas que são as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funções de usuário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ou rotinas de usuário, podendo segmentar um programa grande em vários programas menores (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modularização) 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e permite que cada segmento seja escrito, testado e revisado individualmente sem alterar o funcionamento do programa como um todo.</a:t>
            </a:r>
          </a:p>
          <a:p>
            <a:pPr algn="just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zh-CN" sz="2000">
                <a:effectLst/>
                <a:ea typeface="SimSun" panose="02010600030101010101" pitchFamily="2" charset="-122"/>
              </a:rPr>
              <a:t>   A modularização também permite que um programa seja escrito por vários programadores ao mesmo tempo, cada um escrevendo um segmento separado.</a:t>
            </a:r>
            <a:endParaRPr lang="pt-BR" altLang="pt-BR" sz="2000">
              <a:effectLst/>
            </a:endParaRP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BDD89B88-5C4B-3852-6EAD-EB87E698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702877C-E9F2-4B2D-BE9A-F61E92EAE7D0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3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834" name="Rectangle 2">
            <a:extLst>
              <a:ext uri="{FF2B5EF4-FFF2-40B4-BE49-F238E27FC236}">
                <a16:creationId xmlns:a16="http://schemas.microsoft.com/office/drawing/2014/main" id="{ACF66258-BE10-3FA3-C5BC-CA5DBD47C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pt-BR" altLang="pt-BR" sz="3000" dirty="0">
                <a:effectLst/>
              </a:rPr>
              <a:t>5.1 – Funções:</a:t>
            </a:r>
            <a:r>
              <a:rPr lang="pt-BR" altLang="zh-CN" sz="3000" dirty="0">
                <a:ea typeface="SimSun" panose="02010600030101010101" pitchFamily="2" charset="-122"/>
              </a:rPr>
              <a:t> </a:t>
            </a:r>
            <a:r>
              <a:rPr lang="pt-BR" altLang="zh-CN" sz="3000" dirty="0">
                <a:effectLst/>
                <a:ea typeface="SimSun" panose="02010600030101010101" pitchFamily="2" charset="-122"/>
              </a:rPr>
              <a:t>Estrutura das Funções de Usuário</a:t>
            </a:r>
            <a:r>
              <a:rPr lang="pt-BR" altLang="zh-CN" sz="3000" dirty="0">
                <a:ea typeface="SimSun" panose="02010600030101010101" pitchFamily="2" charset="-122"/>
              </a:rPr>
              <a:t> </a:t>
            </a:r>
            <a:endParaRPr lang="pt-BR" altLang="pt-BR" sz="3000" dirty="0">
              <a:ea typeface="SimSun" panose="02010600030101010101" pitchFamily="2" charset="-122"/>
            </a:endParaRPr>
          </a:p>
        </p:txBody>
      </p:sp>
      <p:sp>
        <p:nvSpPr>
          <p:cNvPr id="1400835" name="Rectangle 3">
            <a:extLst>
              <a:ext uri="{FF2B5EF4-FFF2-40B4-BE49-F238E27FC236}">
                <a16:creationId xmlns:a16="http://schemas.microsoft.com/office/drawing/2014/main" id="{EBBB2E1E-DC46-FCC7-732B-82F484D2BD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412876"/>
            <a:ext cx="8229600" cy="4608513"/>
          </a:xfrm>
        </p:spPr>
        <p:txBody>
          <a:bodyPr/>
          <a:lstStyle/>
          <a:p>
            <a:pPr marL="0" indent="357188" algn="just" eaLnBrk="1" hangingPunct="1">
              <a:lnSpc>
                <a:spcPct val="8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zh-CN" sz="2000" dirty="0">
                <a:ea typeface="SimSun" panose="02010600030101010101" pitchFamily="2" charset="-122"/>
              </a:rPr>
              <a:t>  </a:t>
            </a:r>
            <a:r>
              <a:rPr lang="pt-BR" altLang="zh-CN" sz="2000" dirty="0">
                <a:effectLst/>
                <a:ea typeface="SimSun" panose="02010600030101010101" pitchFamily="2" charset="-122"/>
              </a:rPr>
              <a:t>Uma função de usuário constitui-se de um bloco de instruções que definem os procedimentos efetuados pela função, um nome pelo qual a chamamos e uma lista de argumentos passados a função. </a:t>
            </a:r>
          </a:p>
          <a:p>
            <a:pPr marL="0" indent="357188" algn="just" eaLnBrk="1" hangingPunct="1">
              <a:defRPr/>
            </a:pPr>
            <a:r>
              <a:rPr lang="pt-BR" altLang="pt-BR" sz="2000" b="1" dirty="0">
                <a:effectLst/>
              </a:rPr>
              <a:t>Exemplo:</a:t>
            </a:r>
            <a:r>
              <a:rPr lang="pt-BR" altLang="pt-BR" sz="2000" dirty="0">
                <a:effectLst/>
              </a:rPr>
              <a:t> </a:t>
            </a:r>
          </a:p>
          <a:p>
            <a:pPr marL="0" indent="357188" algn="just" eaLnBrk="1" hangingPunct="1">
              <a:defRPr/>
            </a:pPr>
            <a:r>
              <a:rPr lang="pt-BR" altLang="pt-BR" sz="2000" dirty="0">
                <a:effectLst/>
              </a:rPr>
              <a:t>	O código mostrado no arquivo função1_media é uma função definida pelo usuário para calcular a média aritmética de dois números reais:</a:t>
            </a: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DACEA60B-4628-7F32-04BA-4EA42D3C6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F22CDB1-A327-44DA-AF9E-FF7DEC5AAFC8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4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A3D51FE7-17E0-9CF8-69C8-3E7D4D1A4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4076700"/>
            <a:ext cx="3887788" cy="1739900"/>
          </a:xfrm>
          <a:prstGeom prst="rect">
            <a:avLst/>
          </a:prstGeom>
          <a:solidFill>
            <a:srgbClr val="A4A4D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>
                <a:ea typeface="SimSun" panose="02010600030101010101" pitchFamily="2" charset="-122"/>
              </a:rPr>
              <a:t>float media2(float a, float b)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>
                <a:ea typeface="SimSun" panose="02010600030101010101" pitchFamily="2" charset="-122"/>
              </a:rPr>
              <a:t>      {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>
                <a:ea typeface="SimSun" panose="02010600030101010101" pitchFamily="2" charset="-122"/>
              </a:rPr>
              <a:t>	  float med;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>
                <a:ea typeface="SimSun" panose="02010600030101010101" pitchFamily="2" charset="-122"/>
              </a:rPr>
              <a:t>	  med = (a + b) / 2.0;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>
                <a:ea typeface="SimSun" panose="02010600030101010101" pitchFamily="2" charset="-122"/>
              </a:rPr>
              <a:t>	  return(med);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>
                <a:ea typeface="SimSun" panose="02010600030101010101" pitchFamily="2" charset="-122"/>
              </a:rPr>
              <a:t>	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594" name="Rectangle 2">
            <a:extLst>
              <a:ext uri="{FF2B5EF4-FFF2-40B4-BE49-F238E27FC236}">
                <a16:creationId xmlns:a16="http://schemas.microsoft.com/office/drawing/2014/main" id="{DAEC6180-BC50-F606-1CF1-98DFB73E97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pt-BR" altLang="pt-BR" sz="3000" dirty="0">
                <a:effectLst/>
              </a:rPr>
              <a:t>5.1 – Funções: Estrutura das Funções de Usuário </a:t>
            </a:r>
            <a:endParaRPr lang="pt-BR" altLang="pt-BR" sz="3000" dirty="0">
              <a:ea typeface="SimSun" panose="02010600030101010101" pitchFamily="2" charset="-122"/>
            </a:endParaRP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7EBFA0A-81C0-60CB-AAE5-B8B0643835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412876"/>
            <a:ext cx="8229600" cy="4608513"/>
          </a:xfrm>
        </p:spPr>
        <p:txBody>
          <a:bodyPr/>
          <a:lstStyle/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zh-CN" dirty="0">
                <a:effectLst/>
                <a:ea typeface="SimSun" panose="02010600030101010101" pitchFamily="2" charset="-122"/>
              </a:rPr>
              <a:t>float media2(float a, float b)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zh-CN" dirty="0">
                <a:effectLst/>
                <a:ea typeface="SimSun" panose="02010600030101010101" pitchFamily="2" charset="-122"/>
              </a:rPr>
              <a:t>      {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zh-CN" dirty="0">
                <a:effectLst/>
                <a:ea typeface="SimSun" panose="02010600030101010101" pitchFamily="2" charset="-122"/>
              </a:rPr>
              <a:t>	  float </a:t>
            </a:r>
            <a:r>
              <a:rPr lang="pt-BR" altLang="zh-CN" dirty="0" err="1">
                <a:effectLst/>
                <a:ea typeface="SimSun" panose="02010600030101010101" pitchFamily="2" charset="-122"/>
              </a:rPr>
              <a:t>med</a:t>
            </a:r>
            <a:r>
              <a:rPr lang="pt-BR" altLang="zh-CN" dirty="0">
                <a:effectLst/>
                <a:ea typeface="SimSun" panose="02010600030101010101" pitchFamily="2" charset="-122"/>
              </a:rPr>
              <a:t>;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zh-CN" dirty="0">
                <a:effectLst/>
                <a:ea typeface="SimSun" panose="02010600030101010101" pitchFamily="2" charset="-122"/>
              </a:rPr>
              <a:t>	  </a:t>
            </a:r>
            <a:r>
              <a:rPr lang="pt-BR" altLang="zh-CN" dirty="0" err="1">
                <a:effectLst/>
                <a:ea typeface="SimSun" panose="02010600030101010101" pitchFamily="2" charset="-122"/>
              </a:rPr>
              <a:t>med</a:t>
            </a:r>
            <a:r>
              <a:rPr lang="pt-BR" altLang="zh-CN" dirty="0">
                <a:effectLst/>
                <a:ea typeface="SimSun" panose="02010600030101010101" pitchFamily="2" charset="-122"/>
              </a:rPr>
              <a:t> = (a + b) / 2.0;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zh-CN" dirty="0">
                <a:effectLst/>
                <a:ea typeface="SimSun" panose="02010600030101010101" pitchFamily="2" charset="-122"/>
              </a:rPr>
              <a:t>	  </a:t>
            </a:r>
            <a:r>
              <a:rPr lang="pt-BR" altLang="zh-CN" dirty="0" err="1">
                <a:effectLst/>
                <a:ea typeface="SimSun" panose="02010600030101010101" pitchFamily="2" charset="-122"/>
              </a:rPr>
              <a:t>return</a:t>
            </a:r>
            <a:r>
              <a:rPr lang="pt-BR" altLang="zh-CN" dirty="0">
                <a:effectLst/>
                <a:ea typeface="SimSun" panose="02010600030101010101" pitchFamily="2" charset="-122"/>
              </a:rPr>
              <a:t>(</a:t>
            </a:r>
            <a:r>
              <a:rPr lang="pt-BR" altLang="zh-CN" dirty="0" err="1">
                <a:effectLst/>
                <a:ea typeface="SimSun" panose="02010600030101010101" pitchFamily="2" charset="-122"/>
              </a:rPr>
              <a:t>med</a:t>
            </a:r>
            <a:r>
              <a:rPr lang="pt-BR" altLang="zh-CN" dirty="0">
                <a:effectLst/>
                <a:ea typeface="SimSun" panose="02010600030101010101" pitchFamily="2" charset="-122"/>
              </a:rPr>
              <a:t>);</a:t>
            </a:r>
          </a:p>
          <a:p>
            <a:pPr marL="0" indent="0" algn="l" eaLnBrk="1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zh-CN" dirty="0">
                <a:effectLst/>
                <a:ea typeface="SimSun" panose="02010600030101010101" pitchFamily="2" charset="-122"/>
              </a:rPr>
              <a:t>	}</a:t>
            </a:r>
            <a:endParaRPr lang="pt-BR" altLang="zh-CN" sz="2000" dirty="0">
              <a:effectLst/>
              <a:ea typeface="SimSun" panose="02010600030101010101" pitchFamily="2" charset="-122"/>
            </a:endParaRPr>
          </a:p>
          <a:p>
            <a:pPr marL="0" indent="357188" algn="just" eaLnBrk="1" hangingPunct="1">
              <a:lnSpc>
                <a:spcPct val="95000"/>
              </a:lnSpc>
              <a:buFont typeface="Wingdings" panose="05000000000000000000" pitchFamily="2" charset="2"/>
              <a:buChar char="n"/>
            </a:pPr>
            <a:r>
              <a:rPr lang="pt-BR" altLang="zh-CN" sz="2000" dirty="0">
                <a:effectLst/>
                <a:ea typeface="SimSun" panose="02010600030101010101" pitchFamily="2" charset="-122"/>
              </a:rPr>
              <a:t>A função chamada media2 recebe dois argumentos tipo float: a e b. A média destes dois valores é calculada e armazenada na variável </a:t>
            </a:r>
            <a:r>
              <a:rPr lang="pt-BR" altLang="zh-CN" sz="2000" dirty="0" err="1">
                <a:effectLst/>
                <a:ea typeface="SimSun" panose="02010600030101010101" pitchFamily="2" charset="-122"/>
              </a:rPr>
              <a:t>med</a:t>
            </a:r>
            <a:r>
              <a:rPr lang="pt-BR" altLang="zh-CN" sz="2000" dirty="0">
                <a:effectLst/>
                <a:ea typeface="SimSun" panose="02010600030101010101" pitchFamily="2" charset="-122"/>
              </a:rPr>
              <a:t> declarada internamente.</a:t>
            </a:r>
          </a:p>
          <a:p>
            <a:pPr marL="0" indent="357188" algn="just" eaLnBrk="1" hangingPunct="1">
              <a:lnSpc>
                <a:spcPct val="95000"/>
              </a:lnSpc>
              <a:buFont typeface="Wingdings" panose="05000000000000000000" pitchFamily="2" charset="2"/>
              <a:buChar char="n"/>
            </a:pPr>
            <a:r>
              <a:rPr lang="pt-BR" altLang="zh-CN" sz="2000" dirty="0">
                <a:effectLst/>
                <a:ea typeface="SimSun" panose="02010600030101010101" pitchFamily="2" charset="-122"/>
              </a:rPr>
              <a:t>A função retorna um valor do tipo float (o valor da variável </a:t>
            </a:r>
            <a:r>
              <a:rPr lang="pt-BR" altLang="zh-CN" sz="2000" b="1" dirty="0" err="1">
                <a:effectLst/>
                <a:ea typeface="SimSun" panose="02010600030101010101" pitchFamily="2" charset="-122"/>
              </a:rPr>
              <a:t>med</a:t>
            </a:r>
            <a:r>
              <a:rPr lang="pt-BR" altLang="zh-CN" sz="2000" dirty="0">
                <a:effectLst/>
                <a:ea typeface="SimSun" panose="02010600030101010101" pitchFamily="2" charset="-122"/>
              </a:rPr>
              <a:t>) para o programa que a chamou. </a:t>
            </a:r>
          </a:p>
          <a:p>
            <a:pPr marL="0" indent="357188" algn="just" eaLnBrk="1" hangingPunct="1">
              <a:lnSpc>
                <a:spcPct val="95000"/>
              </a:lnSpc>
              <a:buFont typeface="Wingdings" panose="05000000000000000000" pitchFamily="2" charset="2"/>
              <a:buChar char="n"/>
            </a:pPr>
            <a:r>
              <a:rPr lang="pt-BR" altLang="zh-CN" sz="2000" dirty="0">
                <a:effectLst/>
                <a:ea typeface="SimSun" panose="02010600030101010101" pitchFamily="2" charset="-122"/>
              </a:rPr>
              <a:t>O retorno desse valor é feito pela função </a:t>
            </a:r>
            <a:r>
              <a:rPr lang="pt-BR" altLang="zh-CN" sz="2000" dirty="0" err="1">
                <a:effectLst/>
                <a:ea typeface="SimSun" panose="02010600030101010101" pitchFamily="2" charset="-122"/>
              </a:rPr>
              <a:t>return</a:t>
            </a:r>
            <a:r>
              <a:rPr lang="pt-BR" altLang="zh-CN" sz="2000" dirty="0">
                <a:effectLst/>
                <a:ea typeface="SimSun" panose="02010600030101010101" pitchFamily="2" charset="-122"/>
              </a:rPr>
              <a:t>() que termina a execução da função. </a:t>
            </a:r>
            <a:endParaRPr lang="pt-BR" altLang="pt-BR" sz="2000" dirty="0">
              <a:effectLst/>
            </a:endParaRPr>
          </a:p>
          <a:p>
            <a:pPr marL="0" indent="357188" algn="just" eaLnBrk="1" hangingPunct="1">
              <a:lnSpc>
                <a:spcPct val="80000"/>
              </a:lnSpc>
              <a:buFont typeface="Wingdings" panose="05000000000000000000" pitchFamily="2" charset="2"/>
              <a:buChar char="n"/>
            </a:pPr>
            <a:endParaRPr lang="pt-BR" altLang="pt-BR" sz="2000" dirty="0">
              <a:effectLst/>
            </a:endParaRP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8EBFF0FA-786D-7C68-DE2F-30A0E56A8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7600798-C9C0-4C29-941E-6E32207477FA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5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642" name="Rectangle 2">
            <a:extLst>
              <a:ext uri="{FF2B5EF4-FFF2-40B4-BE49-F238E27FC236}">
                <a16:creationId xmlns:a16="http://schemas.microsoft.com/office/drawing/2014/main" id="{E44CBF94-8CF0-DD67-CDD0-5057036A3F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pt-BR" sz="3000" dirty="0"/>
              <a:t>5.1 – Funções:</a:t>
            </a:r>
            <a:r>
              <a:rPr lang="pt-BR" altLang="zh-CN" sz="3000" dirty="0"/>
              <a:t> Definição de Funções </a:t>
            </a:r>
            <a:endParaRPr lang="pt-BR" altLang="pt-BR" sz="3000" dirty="0"/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D53E2EE8-7133-402B-17C7-8A4DC91D50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2" y="1412876"/>
            <a:ext cx="9864327" cy="4608513"/>
          </a:xfrm>
        </p:spPr>
        <p:txBody>
          <a:bodyPr>
            <a:normAutofit fontScale="92500" lnSpcReduction="10000"/>
          </a:bodyPr>
          <a:lstStyle/>
          <a:p>
            <a:pPr marL="0" indent="357188" algn="l" eaLnBrk="1" hangingPunct="1">
              <a:buFont typeface="Wingdings" panose="05000000000000000000" pitchFamily="2" charset="2"/>
              <a:buChar char="n"/>
            </a:pPr>
            <a:r>
              <a:rPr lang="pt-BR" altLang="zh-CN" sz="2000" dirty="0">
                <a:effectLst/>
                <a:ea typeface="SimSun" panose="02010600030101010101" pitchFamily="2" charset="-122"/>
              </a:rPr>
              <a:t>De modo formal, a sintaxe de uma função é a seguinte:</a:t>
            </a:r>
          </a:p>
          <a:p>
            <a:pPr marL="0" indent="0" algn="l" eaLnBrk="1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zh-CN" i="1" dirty="0" err="1">
                <a:effectLst/>
                <a:ea typeface="SimSun" panose="02010600030101010101" pitchFamily="2" charset="-122"/>
              </a:rPr>
              <a:t>tipo_de_retorno</a:t>
            </a:r>
            <a:r>
              <a:rPr lang="pt-BR" altLang="zh-CN" dirty="0">
                <a:effectLst/>
                <a:ea typeface="SimSun" panose="02010600030101010101" pitchFamily="2" charset="-122"/>
              </a:rPr>
              <a:t> </a:t>
            </a:r>
            <a:r>
              <a:rPr lang="pt-BR" altLang="zh-CN" i="1" dirty="0" err="1">
                <a:effectLst/>
                <a:ea typeface="SimSun" panose="02010600030101010101" pitchFamily="2" charset="-122"/>
              </a:rPr>
              <a:t>nome_da_função</a:t>
            </a:r>
            <a:r>
              <a:rPr lang="pt-BR" altLang="zh-CN" dirty="0">
                <a:effectLst/>
                <a:ea typeface="SimSun" panose="02010600030101010101" pitchFamily="2" charset="-122"/>
              </a:rPr>
              <a:t>(</a:t>
            </a:r>
            <a:r>
              <a:rPr lang="pt-BR" altLang="zh-CN" i="1" dirty="0">
                <a:effectLst/>
                <a:ea typeface="SimSun" panose="02010600030101010101" pitchFamily="2" charset="-122"/>
              </a:rPr>
              <a:t>tipo_1 arg_1, tipo_2 arg_2, ...</a:t>
            </a:r>
            <a:r>
              <a:rPr lang="pt-BR" altLang="zh-CN" dirty="0">
                <a:effectLst/>
                <a:ea typeface="SimSun" panose="02010600030101010101" pitchFamily="2" charset="-122"/>
              </a:rPr>
              <a:t>)</a:t>
            </a:r>
          </a:p>
          <a:p>
            <a:pPr marL="0" indent="0" algn="l" eaLnBrk="1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zh-CN" dirty="0">
                <a:effectLst/>
                <a:ea typeface="SimSun" panose="02010600030101010101" pitchFamily="2" charset="-122"/>
              </a:rPr>
              <a:t>{</a:t>
            </a:r>
          </a:p>
          <a:p>
            <a:pPr marL="0" indent="0" algn="l" eaLnBrk="1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zh-CN" dirty="0">
                <a:effectLst/>
                <a:ea typeface="SimSun" panose="02010600030101010101" pitchFamily="2" charset="-122"/>
              </a:rPr>
              <a:t>  [</a:t>
            </a:r>
            <a:r>
              <a:rPr lang="pt-BR" altLang="zh-CN" i="1" dirty="0">
                <a:effectLst/>
                <a:ea typeface="SimSun" panose="02010600030101010101" pitchFamily="2" charset="-122"/>
              </a:rPr>
              <a:t>bloco de instruções da função</a:t>
            </a:r>
            <a:r>
              <a:rPr lang="pt-BR" altLang="zh-CN" dirty="0">
                <a:effectLst/>
                <a:ea typeface="SimSun" panose="02010600030101010101" pitchFamily="2" charset="-122"/>
              </a:rPr>
              <a:t>]</a:t>
            </a:r>
          </a:p>
          <a:p>
            <a:pPr marL="0" indent="0" algn="l" eaLnBrk="1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zh-CN" dirty="0">
                <a:effectLst/>
                <a:ea typeface="SimSun" panose="02010600030101010101" pitchFamily="2" charset="-122"/>
              </a:rPr>
              <a:t>}</a:t>
            </a:r>
            <a:endParaRPr lang="pt-BR" altLang="zh-CN" sz="2000" dirty="0">
              <a:effectLst/>
              <a:ea typeface="SimSun" panose="02010600030101010101" pitchFamily="2" charset="-122"/>
            </a:endParaRPr>
          </a:p>
          <a:p>
            <a:pPr marL="0" indent="0" algn="l" eaLnBrk="1" hangingPunct="1">
              <a:spcBef>
                <a:spcPct val="0"/>
              </a:spcBef>
              <a:spcAft>
                <a:spcPct val="0"/>
              </a:spcAft>
              <a:buNone/>
            </a:pPr>
            <a:endParaRPr lang="pt-BR" altLang="zh-CN" dirty="0">
              <a:effectLst/>
              <a:ea typeface="SimSun" panose="02010600030101010101" pitchFamily="2" charset="-122"/>
            </a:endParaRPr>
          </a:p>
          <a:p>
            <a:pPr marL="0" indent="0" algn="l" eaLnBrk="1" hangingPunct="1">
              <a:spcBef>
                <a:spcPct val="0"/>
              </a:spcBef>
              <a:spcAft>
                <a:spcPct val="0"/>
              </a:spcAft>
              <a:buNone/>
            </a:pPr>
            <a:endParaRPr lang="pt-BR" altLang="zh-CN" dirty="0">
              <a:effectLst/>
              <a:ea typeface="SimSun" panose="02010600030101010101" pitchFamily="2" charset="-122"/>
            </a:endParaRPr>
          </a:p>
          <a:p>
            <a:pPr marL="0" indent="0" algn="l" eaLnBrk="1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zh-CN" b="1" dirty="0">
                <a:effectLst/>
                <a:ea typeface="SimSun" panose="02010600030101010101" pitchFamily="2" charset="-122"/>
              </a:rPr>
              <a:t>float soma(float a, float b)</a:t>
            </a:r>
          </a:p>
          <a:p>
            <a:pPr marL="0" indent="0" algn="l" eaLnBrk="1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zh-CN" b="1" dirty="0">
                <a:effectLst/>
                <a:ea typeface="SimSun" panose="02010600030101010101" pitchFamily="2" charset="-122"/>
              </a:rPr>
              <a:t>    {</a:t>
            </a:r>
          </a:p>
          <a:p>
            <a:pPr marL="0" indent="0" algn="l" eaLnBrk="1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zh-CN" b="1" dirty="0">
                <a:effectLst/>
                <a:ea typeface="SimSun" panose="02010600030101010101" pitchFamily="2" charset="-122"/>
              </a:rPr>
              <a:t>	  float soma1;</a:t>
            </a:r>
          </a:p>
          <a:p>
            <a:pPr marL="0" indent="0" algn="l" eaLnBrk="1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zh-CN" b="1" dirty="0">
                <a:effectLst/>
                <a:ea typeface="SimSun" panose="02010600030101010101" pitchFamily="2" charset="-122"/>
              </a:rPr>
              <a:t>	  soma1 = a + b;</a:t>
            </a:r>
          </a:p>
          <a:p>
            <a:pPr marL="0" indent="0" algn="l" eaLnBrk="1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zh-CN" b="1" dirty="0">
                <a:effectLst/>
                <a:ea typeface="SimSun" panose="02010600030101010101" pitchFamily="2" charset="-122"/>
              </a:rPr>
              <a:t>	  </a:t>
            </a:r>
            <a:r>
              <a:rPr lang="pt-BR" altLang="zh-CN" b="1" dirty="0" err="1">
                <a:effectLst/>
                <a:ea typeface="SimSun" panose="02010600030101010101" pitchFamily="2" charset="-122"/>
              </a:rPr>
              <a:t>return</a:t>
            </a:r>
            <a:r>
              <a:rPr lang="pt-BR" altLang="zh-CN" b="1" dirty="0">
                <a:effectLst/>
                <a:ea typeface="SimSun" panose="02010600030101010101" pitchFamily="2" charset="-122"/>
              </a:rPr>
              <a:t>(soma1);</a:t>
            </a:r>
          </a:p>
          <a:p>
            <a:pPr marL="0" indent="0" algn="l" eaLnBrk="1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zh-CN" b="1" dirty="0">
                <a:effectLst/>
                <a:ea typeface="SimSun" panose="02010600030101010101" pitchFamily="2" charset="-122"/>
              </a:rPr>
              <a:t>   }</a:t>
            </a:r>
            <a:endParaRPr lang="pt-BR" altLang="pt-BR" b="1" dirty="0">
              <a:effectLst/>
            </a:endParaRPr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C27E5AB6-6A76-1C67-3C45-C5E67657C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9453895-75D2-4A36-B61E-4C2916B53D37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6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20644" name="Freeform 4">
            <a:extLst>
              <a:ext uri="{FF2B5EF4-FFF2-40B4-BE49-F238E27FC236}">
                <a16:creationId xmlns:a16="http://schemas.microsoft.com/office/drawing/2014/main" id="{652FFEC7-4EBE-EAEE-C906-ACF2F019E58E}"/>
              </a:ext>
            </a:extLst>
          </p:cNvPr>
          <p:cNvSpPr>
            <a:spLocks/>
          </p:cNvSpPr>
          <p:nvPr/>
        </p:nvSpPr>
        <p:spPr bwMode="auto">
          <a:xfrm>
            <a:off x="5546726" y="2060576"/>
            <a:ext cx="4221163" cy="369332"/>
          </a:xfrm>
          <a:custGeom>
            <a:avLst/>
            <a:gdLst>
              <a:gd name="T0" fmla="*/ 2449 w 2812"/>
              <a:gd name="T1" fmla="*/ 0 h 1043"/>
              <a:gd name="T2" fmla="*/ 2404 w 2812"/>
              <a:gd name="T3" fmla="*/ 817 h 1043"/>
              <a:gd name="T4" fmla="*/ 0 w 2812"/>
              <a:gd name="T5" fmla="*/ 1043 h 10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12" h="1043">
                <a:moveTo>
                  <a:pt x="2449" y="0"/>
                </a:moveTo>
                <a:cubicBezTo>
                  <a:pt x="2630" y="321"/>
                  <a:pt x="2812" y="643"/>
                  <a:pt x="2404" y="817"/>
                </a:cubicBezTo>
                <a:cubicBezTo>
                  <a:pt x="1996" y="991"/>
                  <a:pt x="998" y="1017"/>
                  <a:pt x="0" y="1043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20645" name="Freeform 5">
            <a:extLst>
              <a:ext uri="{FF2B5EF4-FFF2-40B4-BE49-F238E27FC236}">
                <a16:creationId xmlns:a16="http://schemas.microsoft.com/office/drawing/2014/main" id="{6AC0B3C8-63D2-D994-06FA-AC81C9909503}"/>
              </a:ext>
            </a:extLst>
          </p:cNvPr>
          <p:cNvSpPr>
            <a:spLocks/>
          </p:cNvSpPr>
          <p:nvPr/>
        </p:nvSpPr>
        <p:spPr bwMode="auto">
          <a:xfrm>
            <a:off x="5663247" y="3750423"/>
            <a:ext cx="2284149" cy="777717"/>
          </a:xfrm>
          <a:custGeom>
            <a:avLst/>
            <a:gdLst>
              <a:gd name="T0" fmla="*/ 318 w 1505"/>
              <a:gd name="T1" fmla="*/ 0 h 1225"/>
              <a:gd name="T2" fmla="*/ 1452 w 1505"/>
              <a:gd name="T3" fmla="*/ 771 h 1225"/>
              <a:gd name="T4" fmla="*/ 0 w 1505"/>
              <a:gd name="T5" fmla="*/ 1225 h 1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05" h="1225">
                <a:moveTo>
                  <a:pt x="318" y="0"/>
                </a:moveTo>
                <a:cubicBezTo>
                  <a:pt x="911" y="283"/>
                  <a:pt x="1505" y="567"/>
                  <a:pt x="1452" y="771"/>
                </a:cubicBezTo>
                <a:cubicBezTo>
                  <a:pt x="1399" y="975"/>
                  <a:pt x="699" y="1100"/>
                  <a:pt x="0" y="1225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oval" w="med" len="med"/>
            <a:tailEnd type="triangle" w="med" len="med"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20646" name="AutoShape 6">
            <a:extLst>
              <a:ext uri="{FF2B5EF4-FFF2-40B4-BE49-F238E27FC236}">
                <a16:creationId xmlns:a16="http://schemas.microsoft.com/office/drawing/2014/main" id="{331B7634-1601-6266-8A21-A538712BE650}"/>
              </a:ext>
            </a:extLst>
          </p:cNvPr>
          <p:cNvSpPr>
            <a:spLocks/>
          </p:cNvSpPr>
          <p:nvPr/>
        </p:nvSpPr>
        <p:spPr bwMode="auto">
          <a:xfrm>
            <a:off x="5159376" y="4366499"/>
            <a:ext cx="518818" cy="430054"/>
          </a:xfrm>
          <a:prstGeom prst="rightBrace">
            <a:avLst>
              <a:gd name="adj1" fmla="val 131522"/>
              <a:gd name="adj2" fmla="val 50000"/>
            </a:avLst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152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20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690" name="Rectangle 2">
            <a:extLst>
              <a:ext uri="{FF2B5EF4-FFF2-40B4-BE49-F238E27FC236}">
                <a16:creationId xmlns:a16="http://schemas.microsoft.com/office/drawing/2014/main" id="{A3604728-0360-BCB0-FEBB-C31024CD6C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pt-BR" sz="3000"/>
              <a:t>5.1 – Funções</a:t>
            </a:r>
            <a:r>
              <a:rPr lang="pt-BR" altLang="zh-CN" sz="3000"/>
              <a:t>: Definição de Funções </a:t>
            </a:r>
            <a:endParaRPr lang="pt-BR" altLang="pt-BR" sz="3000"/>
          </a:p>
        </p:txBody>
      </p:sp>
      <p:sp>
        <p:nvSpPr>
          <p:cNvPr id="1522691" name="Rectangle 3">
            <a:extLst>
              <a:ext uri="{FF2B5EF4-FFF2-40B4-BE49-F238E27FC236}">
                <a16:creationId xmlns:a16="http://schemas.microsoft.com/office/drawing/2014/main" id="{7B5E4504-0F0C-FDD6-87BF-C17859592E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3432" y="1412876"/>
            <a:ext cx="10657183" cy="4608513"/>
          </a:xfrm>
        </p:spPr>
        <p:txBody>
          <a:bodyPr/>
          <a:lstStyle/>
          <a:p>
            <a:pPr marL="0" indent="357188" algn="l" eaLnBrk="1" hangingPunct="1">
              <a:spcBef>
                <a:spcPct val="0"/>
              </a:spcBef>
              <a:spcAft>
                <a:spcPct val="0"/>
              </a:spcAft>
              <a:defRPr/>
            </a:pPr>
            <a:endParaRPr lang="pt-BR" altLang="zh-CN" dirty="0">
              <a:solidFill>
                <a:srgbClr val="CC0000"/>
              </a:solidFill>
              <a:ea typeface="SimSun" panose="02010600030101010101" pitchFamily="2" charset="-122"/>
            </a:endParaRPr>
          </a:p>
          <a:p>
            <a:pPr marL="0" indent="357188" algn="just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pt-BR" altLang="zh-CN" sz="2000" dirty="0">
                <a:effectLst/>
                <a:ea typeface="SimSun" panose="02010600030101010101" pitchFamily="2" charset="-122"/>
              </a:rPr>
              <a:t>A primeira linha da função contém a declaração da função. </a:t>
            </a:r>
          </a:p>
          <a:p>
            <a:pPr marL="0" indent="357188" algn="just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pt-BR" altLang="zh-CN" sz="2000" dirty="0">
                <a:effectLst/>
                <a:ea typeface="SimSun" panose="02010600030101010101" pitchFamily="2" charset="-122"/>
              </a:rPr>
              <a:t>Na declaração de uma função se define o nome da função, seu tipo de retorno e a lista de argumentos que recebe.</a:t>
            </a:r>
          </a:p>
          <a:p>
            <a:pPr marL="0" indent="357188" algn="just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/>
            </a:pPr>
            <a:r>
              <a:rPr lang="pt-BR" altLang="zh-CN" sz="2000" dirty="0">
                <a:effectLst/>
                <a:ea typeface="SimSun" panose="02010600030101010101" pitchFamily="2" charset="-122"/>
              </a:rPr>
              <a:t> Em seguida, dentro de chaves {}, definimos o bloco de instruções da função. </a:t>
            </a:r>
            <a:endParaRPr lang="pt-BR" altLang="pt-BR" sz="2000" dirty="0">
              <a:effectLst/>
            </a:endParaRPr>
          </a:p>
        </p:txBody>
      </p:sp>
      <p:sp>
        <p:nvSpPr>
          <p:cNvPr id="13" name="Espaço Reservado para Número de Slide 5">
            <a:extLst>
              <a:ext uri="{FF2B5EF4-FFF2-40B4-BE49-F238E27FC236}">
                <a16:creationId xmlns:a16="http://schemas.microsoft.com/office/drawing/2014/main" id="{2B0209F1-0EF7-E9ED-95E4-2F122527A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DC13530-60F6-4135-B077-156AB9ACFB87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7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6256DD2E-42C7-EA14-2D72-EC98B733E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3" y="4652964"/>
            <a:ext cx="3168650" cy="1749425"/>
          </a:xfrm>
          <a:prstGeom prst="rect">
            <a:avLst/>
          </a:prstGeom>
          <a:solidFill>
            <a:srgbClr val="BDD2E9"/>
          </a:solidFill>
          <a:ln w="9525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b="1">
                <a:ea typeface="SimSun" panose="02010600030101010101" pitchFamily="2" charset="-122"/>
              </a:rPr>
              <a:t>float soma(float a, float b)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b="1">
                <a:ea typeface="SimSun" panose="02010600030101010101" pitchFamily="2" charset="-122"/>
              </a:rPr>
              <a:t>    {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b="1">
                <a:ea typeface="SimSun" panose="02010600030101010101" pitchFamily="2" charset="-122"/>
              </a:rPr>
              <a:t>	  float soma1;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b="1">
                <a:ea typeface="SimSun" panose="02010600030101010101" pitchFamily="2" charset="-122"/>
              </a:rPr>
              <a:t>	  soma1 = a + b;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b="1">
                <a:ea typeface="SimSun" panose="02010600030101010101" pitchFamily="2" charset="-122"/>
              </a:rPr>
              <a:t>	  return(soma1);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b="1">
                <a:ea typeface="SimSun" panose="02010600030101010101" pitchFamily="2" charset="-122"/>
              </a:rPr>
              <a:t>   }</a:t>
            </a:r>
            <a:endParaRPr lang="pt-BR" altLang="pt-BR" b="1"/>
          </a:p>
        </p:txBody>
      </p:sp>
      <p:sp>
        <p:nvSpPr>
          <p:cNvPr id="16390" name="Text Box 5">
            <a:extLst>
              <a:ext uri="{FF2B5EF4-FFF2-40B4-BE49-F238E27FC236}">
                <a16:creationId xmlns:a16="http://schemas.microsoft.com/office/drawing/2014/main" id="{4A1D79E3-A61B-8B8D-2CB0-E27DAC3D7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1" y="3357563"/>
            <a:ext cx="2093913" cy="36671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pt-BR" b="1"/>
              <a:t>Nome da Função</a:t>
            </a:r>
          </a:p>
        </p:txBody>
      </p:sp>
      <p:sp>
        <p:nvSpPr>
          <p:cNvPr id="1522694" name="Line 6">
            <a:extLst>
              <a:ext uri="{FF2B5EF4-FFF2-40B4-BE49-F238E27FC236}">
                <a16:creationId xmlns:a16="http://schemas.microsoft.com/office/drawing/2014/main" id="{11BE2E99-F31D-DAB2-E507-4F835684DE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19739" y="3789364"/>
            <a:ext cx="288925" cy="9350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392" name="Text Box 7">
            <a:extLst>
              <a:ext uri="{FF2B5EF4-FFF2-40B4-BE49-F238E27FC236}">
                <a16:creationId xmlns:a16="http://schemas.microsoft.com/office/drawing/2014/main" id="{E2B27D3B-E65B-5E96-48D3-A0A763648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3789363"/>
            <a:ext cx="1949450" cy="36671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pt-BR" b="1"/>
              <a:t>Tipo de retorno</a:t>
            </a:r>
          </a:p>
        </p:txBody>
      </p:sp>
      <p:sp>
        <p:nvSpPr>
          <p:cNvPr id="1522696" name="Line 8">
            <a:extLst>
              <a:ext uri="{FF2B5EF4-FFF2-40B4-BE49-F238E27FC236}">
                <a16:creationId xmlns:a16="http://schemas.microsoft.com/office/drawing/2014/main" id="{4A8EEC88-D161-2A68-2A80-2E712A8D0D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7013" y="4121151"/>
            <a:ext cx="792162" cy="5762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394" name="Text Box 9">
            <a:extLst>
              <a:ext uri="{FF2B5EF4-FFF2-40B4-BE49-F238E27FC236}">
                <a16:creationId xmlns:a16="http://schemas.microsoft.com/office/drawing/2014/main" id="{4EEB33DE-859D-DA74-611E-0D4677A59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3" y="3789363"/>
            <a:ext cx="2589212" cy="36671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pt-BR" b="1"/>
              <a:t>Tipos de argumentos</a:t>
            </a:r>
          </a:p>
        </p:txBody>
      </p:sp>
      <p:sp>
        <p:nvSpPr>
          <p:cNvPr id="1522698" name="Line 10">
            <a:extLst>
              <a:ext uri="{FF2B5EF4-FFF2-40B4-BE49-F238E27FC236}">
                <a16:creationId xmlns:a16="http://schemas.microsoft.com/office/drawing/2014/main" id="{763ED053-7BE2-6D2A-6057-F885B94CB7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32625" y="4076701"/>
            <a:ext cx="935038" cy="5762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396" name="Text Box 11">
            <a:extLst>
              <a:ext uri="{FF2B5EF4-FFF2-40B4-BE49-F238E27FC236}">
                <a16:creationId xmlns:a16="http://schemas.microsoft.com/office/drawing/2014/main" id="{DFC5F124-DB87-A890-6DDA-9F87FE5A4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864" y="5395913"/>
            <a:ext cx="2414587" cy="36671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altLang="pt-BR" b="1"/>
              <a:t>Bloco de instruções</a:t>
            </a:r>
          </a:p>
        </p:txBody>
      </p:sp>
      <p:sp>
        <p:nvSpPr>
          <p:cNvPr id="1522700" name="AutoShape 12">
            <a:extLst>
              <a:ext uri="{FF2B5EF4-FFF2-40B4-BE49-F238E27FC236}">
                <a16:creationId xmlns:a16="http://schemas.microsoft.com/office/drawing/2014/main" id="{AE165277-3B34-2D3B-964A-F9E62C5B7DA8}"/>
              </a:ext>
            </a:extLst>
          </p:cNvPr>
          <p:cNvSpPr>
            <a:spLocks/>
          </p:cNvSpPr>
          <p:nvPr/>
        </p:nvSpPr>
        <p:spPr bwMode="auto">
          <a:xfrm flipH="1">
            <a:off x="4367214" y="5435283"/>
            <a:ext cx="288925" cy="422910"/>
          </a:xfrm>
          <a:prstGeom prst="rightBrace">
            <a:avLst>
              <a:gd name="adj1" fmla="val 33242"/>
              <a:gd name="adj2" fmla="val 44764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074" name="Rectangle 2">
            <a:extLst>
              <a:ext uri="{FF2B5EF4-FFF2-40B4-BE49-F238E27FC236}">
                <a16:creationId xmlns:a16="http://schemas.microsoft.com/office/drawing/2014/main" id="{446E56B4-3A97-2569-A0BD-44B8346EA7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pt-BR" sz="3000" dirty="0"/>
              <a:t>5.1 – Funções:</a:t>
            </a:r>
            <a:r>
              <a:rPr lang="pt-BR" altLang="zh-CN" sz="3000" dirty="0"/>
              <a:t> Localização das Funções </a:t>
            </a:r>
            <a:endParaRPr lang="pt-BR" altLang="pt-BR" sz="3000" dirty="0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DE0A290-AE85-BAEE-17A6-701D0B78EE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zh-CN" sz="2400" dirty="0">
                <a:effectLst/>
                <a:ea typeface="SimSun" panose="02010600030101010101" pitchFamily="2" charset="-122"/>
              </a:rPr>
              <a:t>Existem basicamente duas posições possíveis para escrevermos o corpo de uma função: ou </a:t>
            </a:r>
            <a:r>
              <a:rPr lang="pt-BR" altLang="zh-CN" sz="2400" b="1" dirty="0">
                <a:effectLst/>
                <a:ea typeface="SimSun" panose="02010600030101010101" pitchFamily="2" charset="-122"/>
              </a:rPr>
              <a:t>antes</a:t>
            </a:r>
            <a:r>
              <a:rPr lang="pt-BR" altLang="zh-CN" sz="2400" dirty="0">
                <a:effectLst/>
                <a:ea typeface="SimSun" panose="02010600030101010101" pitchFamily="2" charset="-122"/>
              </a:rPr>
              <a:t> ou </a:t>
            </a:r>
            <a:r>
              <a:rPr lang="pt-BR" altLang="zh-CN" sz="2400" b="1" dirty="0">
                <a:effectLst/>
                <a:ea typeface="SimSun" panose="02010600030101010101" pitchFamily="2" charset="-122"/>
              </a:rPr>
              <a:t>depois</a:t>
            </a:r>
            <a:r>
              <a:rPr lang="pt-BR" altLang="zh-CN" sz="2400" dirty="0">
                <a:effectLst/>
                <a:ea typeface="SimSun" panose="02010600030101010101" pitchFamily="2" charset="-122"/>
              </a:rPr>
              <a:t> do programa principal. </a:t>
            </a:r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zh-CN" sz="2400" dirty="0">
                <a:ea typeface="SimSun" panose="02010600030101010101" pitchFamily="2" charset="-122"/>
              </a:rPr>
              <a:t> </a:t>
            </a:r>
            <a:r>
              <a:rPr lang="pt-BR" altLang="zh-CN" sz="2400" dirty="0">
                <a:effectLst/>
                <a:ea typeface="SimSun" panose="02010600030101010101" pitchFamily="2" charset="-122"/>
              </a:rPr>
              <a:t>Podemos ainda escrever uma função no </a:t>
            </a:r>
            <a:r>
              <a:rPr lang="pt-BR" altLang="zh-CN" sz="2400" b="1" dirty="0">
                <a:effectLst/>
                <a:ea typeface="SimSun" panose="02010600030101010101" pitchFamily="2" charset="-122"/>
              </a:rPr>
              <a:t>mesmo arquivo</a:t>
            </a:r>
            <a:r>
              <a:rPr lang="pt-BR" altLang="zh-CN" sz="2400" dirty="0">
                <a:effectLst/>
                <a:ea typeface="SimSun" panose="02010600030101010101" pitchFamily="2" charset="-122"/>
              </a:rPr>
              <a:t> do programa principal ou em </a:t>
            </a:r>
            <a:r>
              <a:rPr lang="pt-BR" altLang="zh-CN" sz="2400" b="1" dirty="0">
                <a:effectLst/>
                <a:ea typeface="SimSun" panose="02010600030101010101" pitchFamily="2" charset="-122"/>
              </a:rPr>
              <a:t>arquivo separado</a:t>
            </a:r>
            <a:r>
              <a:rPr lang="pt-BR" altLang="zh-CN" sz="2400" dirty="0">
                <a:effectLst/>
                <a:ea typeface="SimSun" panose="02010600030101010101" pitchFamily="2" charset="-122"/>
              </a:rPr>
              <a:t>. </a:t>
            </a:r>
          </a:p>
          <a:p>
            <a:pPr marL="762000" lvl="1" indent="-304800" eaLnBrk="1" hangingPunct="1"/>
            <a:r>
              <a:rPr lang="pt-BR" altLang="zh-CN" dirty="0">
                <a:effectLst/>
                <a:ea typeface="SimSun" panose="02010600030101010101" pitchFamily="2" charset="-122"/>
              </a:rPr>
              <a:t>Corpo da função </a:t>
            </a:r>
            <a:r>
              <a:rPr lang="pt-BR" altLang="zh-CN" i="1" dirty="0">
                <a:effectLst/>
                <a:ea typeface="SimSun" panose="02010600030101010101" pitchFamily="2" charset="-122"/>
              </a:rPr>
              <a:t>antes</a:t>
            </a:r>
            <a:r>
              <a:rPr lang="pt-BR" altLang="zh-CN" dirty="0">
                <a:effectLst/>
                <a:ea typeface="SimSun" panose="02010600030101010101" pitchFamily="2" charset="-122"/>
              </a:rPr>
              <a:t> do programa principal (no mesmo arquivo) </a:t>
            </a:r>
          </a:p>
          <a:p>
            <a:pPr marL="762000" lvl="1" indent="-304800" eaLnBrk="1" hangingPunct="1"/>
            <a:r>
              <a:rPr lang="pt-BR" altLang="zh-CN" dirty="0">
                <a:effectLst/>
                <a:ea typeface="SimSun" panose="02010600030101010101" pitchFamily="2" charset="-122"/>
              </a:rPr>
              <a:t>Corpo da função </a:t>
            </a:r>
            <a:r>
              <a:rPr lang="pt-BR" altLang="zh-CN" i="1" dirty="0">
                <a:effectLst/>
                <a:ea typeface="SimSun" panose="02010600030101010101" pitchFamily="2" charset="-122"/>
              </a:rPr>
              <a:t>depois</a:t>
            </a:r>
            <a:r>
              <a:rPr lang="pt-BR" altLang="zh-CN" dirty="0">
                <a:effectLst/>
                <a:ea typeface="SimSun" panose="02010600030101010101" pitchFamily="2" charset="-122"/>
              </a:rPr>
              <a:t> do programa principal (no mesmo arquivo) </a:t>
            </a:r>
            <a:endParaRPr lang="pt-BR" altLang="pt-BR" dirty="0">
              <a:effectLst/>
            </a:endParaRP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FDA38D16-0761-74DF-67A6-0EF8883E0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0B21C48-BCFD-46D5-9433-15DE6D5FEE1D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8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122" name="Rectangle 2">
            <a:extLst>
              <a:ext uri="{FF2B5EF4-FFF2-40B4-BE49-F238E27FC236}">
                <a16:creationId xmlns:a16="http://schemas.microsoft.com/office/drawing/2014/main" id="{BCF22DFB-3422-6A27-3B31-E4D886BCEF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pt-BR" sz="3000" dirty="0"/>
              <a:t>5.1 – Funções:</a:t>
            </a:r>
            <a:r>
              <a:rPr lang="pt-BR" altLang="zh-CN" sz="3000" dirty="0"/>
              <a:t> Localização das Funções</a:t>
            </a:r>
            <a:endParaRPr lang="pt-BR" altLang="pt-BR" sz="3000" dirty="0"/>
          </a:p>
        </p:txBody>
      </p:sp>
      <p:sp>
        <p:nvSpPr>
          <p:cNvPr id="1541123" name="Rectangle 3">
            <a:extLst>
              <a:ext uri="{FF2B5EF4-FFF2-40B4-BE49-F238E27FC236}">
                <a16:creationId xmlns:a16="http://schemas.microsoft.com/office/drawing/2014/main" id="{000CC814-7F79-33DE-0DE7-5575D62BFA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 eaLnBrk="1" hangingPunct="1">
              <a:lnSpc>
                <a:spcPct val="90000"/>
              </a:lnSpc>
              <a:buNone/>
              <a:defRPr/>
            </a:pPr>
            <a:r>
              <a:rPr lang="pt-BR" altLang="zh-CN" sz="2200" dirty="0">
                <a:effectLst/>
                <a:ea typeface="SimSun" panose="02010600030101010101" pitchFamily="2" charset="-122"/>
              </a:rPr>
              <a:t>Corpo da função </a:t>
            </a:r>
            <a:r>
              <a:rPr lang="pt-BR" altLang="zh-CN" sz="2200" i="1" dirty="0">
                <a:effectLst/>
                <a:ea typeface="SimSun" panose="02010600030101010101" pitchFamily="2" charset="-122"/>
              </a:rPr>
              <a:t>antes</a:t>
            </a:r>
            <a:r>
              <a:rPr lang="pt-BR" altLang="zh-CN" sz="2200" dirty="0">
                <a:effectLst/>
                <a:ea typeface="SimSun" panose="02010600030101010101" pitchFamily="2" charset="-122"/>
              </a:rPr>
              <a:t> do programa principal (no mesmo arquivo)</a:t>
            </a:r>
            <a:r>
              <a:rPr lang="pt-BR" altLang="zh-CN" sz="2200" dirty="0">
                <a:ea typeface="SimSun" panose="02010600030101010101" pitchFamily="2" charset="-122"/>
              </a:rPr>
              <a:t> </a:t>
            </a: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zh-CN" sz="2200" dirty="0">
                <a:effectLst/>
                <a:ea typeface="SimSun" panose="02010600030101010101" pitchFamily="2" charset="-122"/>
              </a:rPr>
              <a:t>Quando escrevemos a definição de uma função </a:t>
            </a:r>
            <a:r>
              <a:rPr lang="pt-BR" altLang="zh-CN" sz="2200" b="1" dirty="0">
                <a:effectLst/>
                <a:ea typeface="SimSun" panose="02010600030101010101" pitchFamily="2" charset="-122"/>
              </a:rPr>
              <a:t>antes</a:t>
            </a:r>
            <a:r>
              <a:rPr lang="pt-BR" altLang="zh-CN" sz="2200" dirty="0">
                <a:effectLst/>
                <a:ea typeface="SimSun" panose="02010600030101010101" pitchFamily="2" charset="-122"/>
              </a:rPr>
              <a:t> do programa principal e no mesmo arquivo deste, nenhuma outra instrução é necessária. A sintaxe geral para isto é a seguinte:</a:t>
            </a:r>
          </a:p>
          <a:p>
            <a:pPr marL="0" indent="0" algn="l" eaLnBrk="1" hangingPunct="1">
              <a:lnSpc>
                <a:spcPct val="90000"/>
              </a:lnSpc>
              <a:buNone/>
              <a:defRPr/>
            </a:pPr>
            <a:r>
              <a:rPr lang="pt-BR" altLang="zh-CN" sz="2200" i="1" dirty="0">
                <a:ea typeface="SimSun" panose="02010600030101010101" pitchFamily="2" charset="-122"/>
              </a:rPr>
              <a:t>tipo</a:t>
            </a:r>
            <a:r>
              <a:rPr lang="pt-BR" altLang="zh-CN" sz="2200" dirty="0">
                <a:ea typeface="SimSun" panose="02010600030101010101" pitchFamily="2" charset="-122"/>
              </a:rPr>
              <a:t> </a:t>
            </a:r>
            <a:r>
              <a:rPr lang="pt-BR" altLang="zh-CN" sz="2200" dirty="0" err="1">
                <a:ea typeface="SimSun" panose="02010600030101010101" pitchFamily="2" charset="-122"/>
              </a:rPr>
              <a:t>nomef</a:t>
            </a:r>
            <a:r>
              <a:rPr lang="pt-BR" altLang="zh-CN" sz="2200" dirty="0">
                <a:ea typeface="SimSun" panose="02010600030101010101" pitchFamily="2" charset="-122"/>
              </a:rPr>
              <a:t>(...){            // definição da função</a:t>
            </a:r>
          </a:p>
          <a:p>
            <a:pPr marL="0" indent="0" algn="l" eaLnBrk="1" hangingPunct="1">
              <a:lnSpc>
                <a:spcPct val="90000"/>
              </a:lnSpc>
              <a:buNone/>
              <a:defRPr/>
            </a:pPr>
            <a:r>
              <a:rPr lang="pt-BR" altLang="zh-CN" sz="2200" dirty="0">
                <a:ea typeface="SimSun" panose="02010600030101010101" pitchFamily="2" charset="-122"/>
              </a:rPr>
              <a:t>  [</a:t>
            </a:r>
            <a:r>
              <a:rPr lang="pt-BR" altLang="zh-CN" sz="2200" i="1" dirty="0">
                <a:ea typeface="SimSun" panose="02010600030101010101" pitchFamily="2" charset="-122"/>
              </a:rPr>
              <a:t>corpo de função</a:t>
            </a:r>
            <a:r>
              <a:rPr lang="pt-BR" altLang="zh-CN" sz="2200" dirty="0">
                <a:ea typeface="SimSun" panose="02010600030101010101" pitchFamily="2" charset="-122"/>
              </a:rPr>
              <a:t>]</a:t>
            </a:r>
          </a:p>
          <a:p>
            <a:pPr marL="0" indent="0" algn="l" eaLnBrk="1" hangingPunct="1">
              <a:lnSpc>
                <a:spcPct val="90000"/>
              </a:lnSpc>
              <a:buNone/>
              <a:defRPr/>
            </a:pPr>
            <a:r>
              <a:rPr lang="pt-BR" altLang="zh-CN" sz="2200" dirty="0">
                <a:ea typeface="SimSun" panose="02010600030101010101" pitchFamily="2" charset="-122"/>
              </a:rPr>
              <a:t>}</a:t>
            </a:r>
          </a:p>
          <a:p>
            <a:pPr marL="0" indent="0" algn="l" eaLnBrk="1" hangingPunct="1">
              <a:lnSpc>
                <a:spcPct val="90000"/>
              </a:lnSpc>
              <a:buNone/>
              <a:defRPr/>
            </a:pPr>
            <a:r>
              <a:rPr lang="pt-BR" altLang="zh-CN" sz="2200" dirty="0">
                <a:ea typeface="SimSun" panose="02010600030101010101" pitchFamily="2" charset="-122"/>
              </a:rPr>
              <a:t>void </a:t>
            </a:r>
            <a:r>
              <a:rPr lang="pt-BR" altLang="zh-CN" sz="2200" dirty="0" err="1">
                <a:ea typeface="SimSun" panose="02010600030101010101" pitchFamily="2" charset="-122"/>
              </a:rPr>
              <a:t>main</a:t>
            </a:r>
            <a:r>
              <a:rPr lang="pt-BR" altLang="zh-CN" sz="2200" dirty="0">
                <a:ea typeface="SimSun" panose="02010600030101010101" pitchFamily="2" charset="-122"/>
              </a:rPr>
              <a:t>(){                // programa principal</a:t>
            </a:r>
          </a:p>
          <a:p>
            <a:pPr marL="0" indent="0" algn="l" eaLnBrk="1" hangingPunct="1">
              <a:lnSpc>
                <a:spcPct val="90000"/>
              </a:lnSpc>
              <a:buNone/>
              <a:defRPr/>
            </a:pPr>
            <a:r>
              <a:rPr lang="pt-BR" altLang="zh-CN" sz="2200" dirty="0">
                <a:ea typeface="SimSun" panose="02010600030101010101" pitchFamily="2" charset="-122"/>
              </a:rPr>
              <a:t>  ...</a:t>
            </a:r>
          </a:p>
          <a:p>
            <a:pPr marL="0" indent="0" algn="l" eaLnBrk="1" hangingPunct="1">
              <a:lnSpc>
                <a:spcPct val="90000"/>
              </a:lnSpc>
              <a:buNone/>
              <a:defRPr/>
            </a:pPr>
            <a:r>
              <a:rPr lang="pt-BR" altLang="zh-CN" sz="2200" dirty="0">
                <a:ea typeface="SimSun" panose="02010600030101010101" pitchFamily="2" charset="-122"/>
              </a:rPr>
              <a:t>  var = </a:t>
            </a:r>
            <a:r>
              <a:rPr lang="pt-BR" altLang="zh-CN" sz="2200" dirty="0" err="1">
                <a:ea typeface="SimSun" panose="02010600030101010101" pitchFamily="2" charset="-122"/>
              </a:rPr>
              <a:t>nomef</a:t>
            </a:r>
            <a:r>
              <a:rPr lang="pt-BR" altLang="zh-CN" sz="2200" dirty="0">
                <a:ea typeface="SimSun" panose="02010600030101010101" pitchFamily="2" charset="-122"/>
              </a:rPr>
              <a:t>(...)          // chamada da função</a:t>
            </a:r>
          </a:p>
          <a:p>
            <a:pPr marL="0" indent="0" algn="l" eaLnBrk="1" hangingPunct="1">
              <a:lnSpc>
                <a:spcPct val="90000"/>
              </a:lnSpc>
              <a:buNone/>
              <a:defRPr/>
            </a:pPr>
            <a:r>
              <a:rPr lang="pt-BR" altLang="zh-CN" sz="2200" dirty="0">
                <a:ea typeface="SimSun" panose="02010600030101010101" pitchFamily="2" charset="-122"/>
              </a:rPr>
              <a:t>  ...</a:t>
            </a:r>
          </a:p>
          <a:p>
            <a:pPr marL="0" indent="0" algn="l" eaLnBrk="1" hangingPunct="1">
              <a:lnSpc>
                <a:spcPct val="90000"/>
              </a:lnSpc>
              <a:buNone/>
              <a:defRPr/>
            </a:pPr>
            <a:r>
              <a:rPr lang="pt-BR" altLang="zh-CN" sz="2200" dirty="0">
                <a:ea typeface="SimSun" panose="02010600030101010101" pitchFamily="2" charset="-122"/>
              </a:rPr>
              <a:t>} 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1B2551A1-911F-4721-F6E3-33CB76F8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C1C4CCA-1C24-4F1C-B44C-C716E3275361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9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218" name="Rectangle 2">
            <a:extLst>
              <a:ext uri="{FF2B5EF4-FFF2-40B4-BE49-F238E27FC236}">
                <a16:creationId xmlns:a16="http://schemas.microsoft.com/office/drawing/2014/main" id="{C92E40AC-FACB-85D2-71BA-74DE99E0B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pt-BR" sz="3000" dirty="0"/>
              <a:t>5.1 – Funções:</a:t>
            </a:r>
            <a:r>
              <a:rPr lang="pt-BR" altLang="zh-CN" sz="3000" dirty="0"/>
              <a:t> Localização das Funções</a:t>
            </a:r>
            <a:endParaRPr lang="pt-BR" altLang="pt-BR" sz="3000" dirty="0"/>
          </a:p>
        </p:txBody>
      </p:sp>
      <p:sp>
        <p:nvSpPr>
          <p:cNvPr id="1545219" name="Rectangle 3">
            <a:extLst>
              <a:ext uri="{FF2B5EF4-FFF2-40B4-BE49-F238E27FC236}">
                <a16:creationId xmlns:a16="http://schemas.microsoft.com/office/drawing/2014/main" id="{A9F66F31-940C-8917-2AED-1201C26138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340768"/>
            <a:ext cx="10515600" cy="4351338"/>
          </a:xfrm>
        </p:spPr>
        <p:txBody>
          <a:bodyPr>
            <a:noAutofit/>
          </a:bodyPr>
          <a:lstStyle/>
          <a:p>
            <a:pPr algn="l" eaLnBrk="1" hangingPunct="1">
              <a:lnSpc>
                <a:spcPct val="80000"/>
              </a:lnSpc>
              <a:defRPr/>
            </a:pPr>
            <a:r>
              <a:rPr lang="pt-BR" altLang="zh-CN" sz="2000" b="1" dirty="0">
                <a:effectLst/>
                <a:ea typeface="SimSun" panose="02010600030101010101" pitchFamily="2" charset="-122"/>
              </a:rPr>
              <a:t>Corpo da função </a:t>
            </a:r>
            <a:r>
              <a:rPr lang="pt-BR" altLang="zh-CN" sz="2000" b="1" i="1" dirty="0">
                <a:effectLst/>
                <a:ea typeface="SimSun" panose="02010600030101010101" pitchFamily="2" charset="-122"/>
              </a:rPr>
              <a:t>antes</a:t>
            </a:r>
            <a:r>
              <a:rPr lang="pt-BR" altLang="zh-CN" sz="2000" b="1" dirty="0">
                <a:effectLst/>
                <a:ea typeface="SimSun" panose="02010600030101010101" pitchFamily="2" charset="-122"/>
              </a:rPr>
              <a:t> do programa principal (no mesmo arquivo)</a:t>
            </a:r>
            <a:r>
              <a:rPr lang="pt-BR" altLang="zh-CN" sz="2000" dirty="0">
                <a:effectLst/>
                <a:ea typeface="SimSun" panose="02010600030101010101" pitchFamily="2" charset="-122"/>
              </a:rPr>
              <a:t> </a:t>
            </a:r>
          </a:p>
          <a:p>
            <a:pPr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zh-CN" sz="2000" dirty="0">
                <a:effectLst/>
                <a:ea typeface="SimSun" panose="02010600030101010101" pitchFamily="2" charset="-122"/>
              </a:rPr>
              <a:t>Exemplo: Função media2() escrita antes do programa principal.</a:t>
            </a:r>
            <a:r>
              <a:rPr lang="pt-BR" altLang="zh-CN" sz="2000" dirty="0">
                <a:ea typeface="SimSun" panose="02010600030101010101" pitchFamily="2" charset="-122"/>
              </a:rPr>
              <a:t> </a:t>
            </a:r>
          </a:p>
          <a:p>
            <a:pPr marL="0" indent="0">
              <a:buNone/>
              <a:defRPr/>
            </a:pPr>
            <a:r>
              <a:rPr lang="pt-BR" altLang="zh-CN" sz="2000" dirty="0">
                <a:ea typeface="SimSun" panose="02010600030101010101" pitchFamily="2" charset="-122"/>
              </a:rPr>
              <a:t>float media2(float a, float b){  // função</a:t>
            </a:r>
          </a:p>
          <a:p>
            <a:pPr marL="0" indent="0">
              <a:buNone/>
              <a:defRPr/>
            </a:pPr>
            <a:r>
              <a:rPr lang="pt-BR" altLang="zh-CN" sz="2000" dirty="0">
                <a:ea typeface="SimSun" panose="02010600030101010101" pitchFamily="2" charset="-122"/>
              </a:rPr>
              <a:t>	  float </a:t>
            </a:r>
            <a:r>
              <a:rPr lang="pt-BR" altLang="zh-CN" sz="2000" dirty="0" err="1">
                <a:ea typeface="SimSun" panose="02010600030101010101" pitchFamily="2" charset="-122"/>
              </a:rPr>
              <a:t>med</a:t>
            </a:r>
            <a:r>
              <a:rPr lang="pt-BR" altLang="zh-CN" sz="2000" dirty="0">
                <a:ea typeface="SimSun" panose="02010600030101010101" pitchFamily="2" charset="-122"/>
              </a:rPr>
              <a:t>;</a:t>
            </a:r>
          </a:p>
          <a:p>
            <a:pPr marL="0" indent="0">
              <a:buNone/>
              <a:defRPr/>
            </a:pPr>
            <a:r>
              <a:rPr lang="pt-BR" altLang="zh-CN" sz="2000" dirty="0">
                <a:ea typeface="SimSun" panose="02010600030101010101" pitchFamily="2" charset="-122"/>
              </a:rPr>
              <a:t>	  </a:t>
            </a:r>
            <a:r>
              <a:rPr lang="pt-BR" altLang="zh-CN" sz="2000" dirty="0" err="1">
                <a:ea typeface="SimSun" panose="02010600030101010101" pitchFamily="2" charset="-122"/>
              </a:rPr>
              <a:t>med</a:t>
            </a:r>
            <a:r>
              <a:rPr lang="pt-BR" altLang="zh-CN" sz="2000" dirty="0">
                <a:ea typeface="SimSun" panose="02010600030101010101" pitchFamily="2" charset="-122"/>
              </a:rPr>
              <a:t> = (a + b) / 2.0;</a:t>
            </a:r>
          </a:p>
          <a:p>
            <a:pPr marL="0" indent="0">
              <a:buNone/>
              <a:defRPr/>
            </a:pPr>
            <a:r>
              <a:rPr lang="pt-BR" altLang="zh-CN" sz="2000" dirty="0">
                <a:ea typeface="SimSun" panose="02010600030101010101" pitchFamily="2" charset="-122"/>
              </a:rPr>
              <a:t>	  </a:t>
            </a:r>
            <a:r>
              <a:rPr lang="pt-BR" altLang="zh-CN" sz="2000" dirty="0" err="1">
                <a:ea typeface="SimSun" panose="02010600030101010101" pitchFamily="2" charset="-122"/>
              </a:rPr>
              <a:t>return</a:t>
            </a:r>
            <a:r>
              <a:rPr lang="pt-BR" altLang="zh-CN" sz="2000" dirty="0">
                <a:ea typeface="SimSun" panose="02010600030101010101" pitchFamily="2" charset="-122"/>
              </a:rPr>
              <a:t>(</a:t>
            </a:r>
            <a:r>
              <a:rPr lang="pt-BR" altLang="zh-CN" sz="2000" dirty="0" err="1">
                <a:ea typeface="SimSun" panose="02010600030101010101" pitchFamily="2" charset="-122"/>
              </a:rPr>
              <a:t>med</a:t>
            </a:r>
            <a:r>
              <a:rPr lang="pt-BR" altLang="zh-CN" sz="2000" dirty="0">
                <a:ea typeface="SimSun" panose="02010600030101010101" pitchFamily="2" charset="-122"/>
              </a:rPr>
              <a:t>);</a:t>
            </a:r>
          </a:p>
          <a:p>
            <a:pPr marL="0" indent="0">
              <a:buNone/>
              <a:defRPr/>
            </a:pPr>
            <a:r>
              <a:rPr lang="pt-BR" altLang="zh-CN" sz="2000" dirty="0">
                <a:ea typeface="SimSun" panose="02010600030101010101" pitchFamily="2" charset="-122"/>
              </a:rPr>
              <a:t>	}</a:t>
            </a:r>
          </a:p>
          <a:p>
            <a:pPr marL="0" indent="0">
              <a:buNone/>
              <a:defRPr/>
            </a:pPr>
            <a:r>
              <a:rPr lang="pt-BR" altLang="zh-CN" sz="2000" dirty="0">
                <a:ea typeface="SimSun" panose="02010600030101010101" pitchFamily="2" charset="-122"/>
              </a:rPr>
              <a:t>void </a:t>
            </a:r>
            <a:r>
              <a:rPr lang="pt-BR" altLang="zh-CN" sz="2000" dirty="0" err="1">
                <a:ea typeface="SimSun" panose="02010600030101010101" pitchFamily="2" charset="-122"/>
              </a:rPr>
              <a:t>main</a:t>
            </a:r>
            <a:r>
              <a:rPr lang="pt-BR" altLang="zh-CN" sz="2000" dirty="0">
                <a:ea typeface="SimSun" panose="02010600030101010101" pitchFamily="2" charset="-122"/>
              </a:rPr>
              <a:t>(){                    // programa principal</a:t>
            </a:r>
          </a:p>
          <a:p>
            <a:pPr marL="0" indent="0">
              <a:buNone/>
              <a:defRPr/>
            </a:pPr>
            <a:r>
              <a:rPr lang="pt-BR" altLang="zh-CN" sz="2000" dirty="0">
                <a:ea typeface="SimSun" panose="02010600030101010101" pitchFamily="2" charset="-122"/>
              </a:rPr>
              <a:t>  	  float num_1, num_2, </a:t>
            </a:r>
            <a:r>
              <a:rPr lang="pt-BR" altLang="zh-CN" sz="2000" dirty="0" err="1">
                <a:ea typeface="SimSun" panose="02010600030101010101" pitchFamily="2" charset="-122"/>
              </a:rPr>
              <a:t>med</a:t>
            </a:r>
            <a:r>
              <a:rPr lang="pt-BR" altLang="zh-CN" sz="2000" dirty="0">
                <a:ea typeface="SimSun" panose="02010600030101010101" pitchFamily="2" charset="-122"/>
              </a:rPr>
              <a:t>;</a:t>
            </a:r>
          </a:p>
          <a:p>
            <a:pPr marL="0" indent="0">
              <a:buNone/>
              <a:defRPr/>
            </a:pPr>
            <a:r>
              <a:rPr lang="pt-BR" altLang="zh-CN" sz="2000" dirty="0">
                <a:ea typeface="SimSun" panose="02010600030101010101" pitchFamily="2" charset="-122"/>
              </a:rPr>
              <a:t>  	  </a:t>
            </a:r>
            <a:r>
              <a:rPr lang="pt-BR" altLang="zh-CN" sz="2000" dirty="0" err="1">
                <a:ea typeface="SimSun" panose="02010600030101010101" pitchFamily="2" charset="-122"/>
              </a:rPr>
              <a:t>puts</a:t>
            </a:r>
            <a:r>
              <a:rPr lang="pt-BR" altLang="zh-CN" sz="2000" dirty="0">
                <a:ea typeface="SimSun" panose="02010600030101010101" pitchFamily="2" charset="-122"/>
              </a:rPr>
              <a:t>(”Digite dois números:”);</a:t>
            </a:r>
          </a:p>
          <a:p>
            <a:pPr marL="0" indent="0">
              <a:buNone/>
              <a:defRPr/>
            </a:pPr>
            <a:r>
              <a:rPr lang="pt-BR" altLang="zh-CN" sz="2000" dirty="0">
                <a:ea typeface="SimSun" panose="02010600030101010101" pitchFamily="2" charset="-122"/>
              </a:rPr>
              <a:t>  	  </a:t>
            </a:r>
            <a:r>
              <a:rPr lang="pt-BR" altLang="zh-CN" sz="2000" dirty="0" err="1">
                <a:ea typeface="SimSun" panose="02010600030101010101" pitchFamily="2" charset="-122"/>
              </a:rPr>
              <a:t>scanf</a:t>
            </a:r>
            <a:r>
              <a:rPr lang="pt-BR" altLang="zh-CN" sz="2000" dirty="0">
                <a:ea typeface="SimSun" panose="02010600030101010101" pitchFamily="2" charset="-122"/>
              </a:rPr>
              <a:t>(”%f %f”, &amp;num_1, &amp;num_2);</a:t>
            </a:r>
          </a:p>
          <a:p>
            <a:pPr marL="0" indent="0">
              <a:buNone/>
              <a:defRPr/>
            </a:pPr>
            <a:r>
              <a:rPr lang="pt-BR" altLang="zh-CN" sz="2000" dirty="0">
                <a:ea typeface="SimSun" panose="02010600030101010101" pitchFamily="2" charset="-122"/>
              </a:rPr>
              <a:t>        </a:t>
            </a:r>
            <a:r>
              <a:rPr lang="pt-BR" altLang="zh-CN" sz="2000" dirty="0" err="1">
                <a:ea typeface="SimSun" panose="02010600030101010101" pitchFamily="2" charset="-122"/>
              </a:rPr>
              <a:t>med</a:t>
            </a:r>
            <a:r>
              <a:rPr lang="pt-BR" altLang="zh-CN" sz="2000" dirty="0">
                <a:ea typeface="SimSun" panose="02010600030101010101" pitchFamily="2" charset="-122"/>
              </a:rPr>
              <a:t> = media2(num_1, num_2);    // chamada da função </a:t>
            </a:r>
          </a:p>
          <a:p>
            <a:pPr marL="0" indent="0">
              <a:buNone/>
              <a:defRPr/>
            </a:pPr>
            <a:r>
              <a:rPr lang="pt-BR" altLang="zh-CN" sz="2000" dirty="0">
                <a:ea typeface="SimSun" panose="02010600030101010101" pitchFamily="2" charset="-122"/>
              </a:rPr>
              <a:t>  	  </a:t>
            </a:r>
            <a:r>
              <a:rPr lang="pt-BR" altLang="zh-CN" sz="2000" dirty="0" err="1">
                <a:ea typeface="SimSun" panose="02010600030101010101" pitchFamily="2" charset="-122"/>
              </a:rPr>
              <a:t>printf</a:t>
            </a:r>
            <a:r>
              <a:rPr lang="pt-BR" altLang="zh-CN" sz="2000" dirty="0">
                <a:ea typeface="SimSun" panose="02010600030101010101" pitchFamily="2" charset="-122"/>
              </a:rPr>
              <a:t>(”\</a:t>
            </a:r>
            <a:r>
              <a:rPr lang="pt-BR" altLang="zh-CN" sz="2000" dirty="0" err="1">
                <a:ea typeface="SimSun" panose="02010600030101010101" pitchFamily="2" charset="-122"/>
              </a:rPr>
              <a:t>nA</a:t>
            </a:r>
            <a:r>
              <a:rPr lang="pt-BR" altLang="zh-CN" sz="2000" dirty="0">
                <a:ea typeface="SimSun" panose="02010600030101010101" pitchFamily="2" charset="-122"/>
              </a:rPr>
              <a:t> media destes números e´ %f”, </a:t>
            </a:r>
            <a:r>
              <a:rPr lang="pt-BR" altLang="zh-CN" sz="2000" dirty="0" err="1">
                <a:ea typeface="SimSun" panose="02010600030101010101" pitchFamily="2" charset="-122"/>
              </a:rPr>
              <a:t>med</a:t>
            </a:r>
            <a:r>
              <a:rPr lang="pt-BR" altLang="zh-CN" sz="2000" dirty="0">
                <a:ea typeface="SimSun" panose="02010600030101010101" pitchFamily="2" charset="-122"/>
              </a:rPr>
              <a:t>);</a:t>
            </a:r>
          </a:p>
          <a:p>
            <a:pPr marL="0" indent="0">
              <a:buNone/>
              <a:defRPr/>
            </a:pPr>
            <a:r>
              <a:rPr lang="pt-BR" altLang="zh-CN" sz="2000" dirty="0">
                <a:ea typeface="SimSun" panose="02010600030101010101" pitchFamily="2" charset="-122"/>
              </a:rPr>
              <a:t>} 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DD1DE4C-979D-8274-08C8-2D2468FC1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4FCA555-548E-4FEA-B81F-EE031D8E75A8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10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170" name="Rectangle 2">
            <a:extLst>
              <a:ext uri="{FF2B5EF4-FFF2-40B4-BE49-F238E27FC236}">
                <a16:creationId xmlns:a16="http://schemas.microsoft.com/office/drawing/2014/main" id="{6823872E-021C-C501-263F-B45B31AB15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pt-BR" sz="3000" dirty="0"/>
              <a:t>5.1 – Funções:</a:t>
            </a:r>
            <a:r>
              <a:rPr lang="pt-BR" altLang="zh-CN" sz="3000" dirty="0"/>
              <a:t> Localização das Funções</a:t>
            </a:r>
            <a:endParaRPr lang="pt-BR" altLang="pt-BR" sz="3000" dirty="0"/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5E53D2DB-4E39-AA24-78CE-E6381C9343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pt-BR" altLang="zh-CN" sz="2400" dirty="0">
                <a:effectLst/>
                <a:ea typeface="SimSun" panose="02010600030101010101" pitchFamily="2" charset="-122"/>
              </a:rPr>
              <a:t>Corpo da função </a:t>
            </a:r>
            <a:r>
              <a:rPr lang="pt-BR" altLang="zh-CN" sz="2400" b="1" i="1" dirty="0">
                <a:effectLst/>
                <a:ea typeface="SimSun" panose="02010600030101010101" pitchFamily="2" charset="-122"/>
              </a:rPr>
              <a:t>depois</a:t>
            </a:r>
            <a:r>
              <a:rPr lang="pt-BR" altLang="zh-CN" sz="2400" dirty="0">
                <a:effectLst/>
                <a:ea typeface="SimSun" panose="02010600030101010101" pitchFamily="2" charset="-122"/>
              </a:rPr>
              <a:t> do programa principal (no mesmo arquivo) </a:t>
            </a:r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zh-CN" sz="2400" dirty="0">
                <a:effectLst/>
                <a:ea typeface="SimSun" panose="02010600030101010101" pitchFamily="2" charset="-122"/>
              </a:rPr>
              <a:t>   Quando escrevemos a definição de uma função </a:t>
            </a:r>
            <a:r>
              <a:rPr lang="pt-BR" altLang="zh-CN" sz="2400" b="1" dirty="0">
                <a:effectLst/>
                <a:ea typeface="SimSun" panose="02010600030101010101" pitchFamily="2" charset="-122"/>
              </a:rPr>
              <a:t>depois</a:t>
            </a:r>
            <a:r>
              <a:rPr lang="pt-BR" altLang="zh-CN" sz="2400" dirty="0">
                <a:effectLst/>
                <a:ea typeface="SimSun" panose="02010600030101010101" pitchFamily="2" charset="-122"/>
              </a:rPr>
              <a:t> do programa principal e no mesmo arquivo deste, devemos incluir um </a:t>
            </a:r>
            <a:r>
              <a:rPr lang="pt-BR" altLang="zh-CN" sz="2400" b="1" dirty="0">
                <a:effectLst/>
                <a:ea typeface="SimSun" panose="02010600030101010101" pitchFamily="2" charset="-122"/>
              </a:rPr>
              <a:t>protótipo</a:t>
            </a:r>
            <a:r>
              <a:rPr lang="pt-BR" altLang="zh-CN" sz="2400" dirty="0">
                <a:effectLst/>
                <a:ea typeface="SimSun" panose="02010600030101010101" pitchFamily="2" charset="-122"/>
              </a:rPr>
              <a:t> da função chamada. </a:t>
            </a:r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zh-CN" sz="2400" dirty="0">
                <a:effectLst/>
                <a:ea typeface="SimSun" panose="02010600030101010101" pitchFamily="2" charset="-122"/>
              </a:rPr>
              <a:t>   Um protótipo é uma instrução que define o nome da função, seu tipo de retorno e a quantidade e o tipo dos argumentos da função. </a:t>
            </a:r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zh-CN" sz="2400" dirty="0">
                <a:effectLst/>
                <a:ea typeface="SimSun" panose="02010600030101010101" pitchFamily="2" charset="-122"/>
              </a:rPr>
              <a:t>O protótipo de uma função indica ao compilador quais são as funções usadas no programa principal os tipo.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776FFD40-078A-F38A-406C-4C0FDEA1F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4330BB9-23BD-4A3E-9A69-F7376A0B4506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11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338" name="Rectangle 2">
            <a:extLst>
              <a:ext uri="{FF2B5EF4-FFF2-40B4-BE49-F238E27FC236}">
                <a16:creationId xmlns:a16="http://schemas.microsoft.com/office/drawing/2014/main" id="{9E3B32CE-382E-323B-10D8-DECAB59B30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5.1 – Funções: Localização das Funções </a:t>
            </a:r>
            <a:endParaRPr lang="pt-BR" altLang="pt-BR" sz="3000" dirty="0"/>
          </a:p>
        </p:txBody>
      </p:sp>
      <p:sp>
        <p:nvSpPr>
          <p:cNvPr id="1550339" name="Rectangle 3">
            <a:extLst>
              <a:ext uri="{FF2B5EF4-FFF2-40B4-BE49-F238E27FC236}">
                <a16:creationId xmlns:a16="http://schemas.microsoft.com/office/drawing/2014/main" id="{42DE0AA1-DE16-C141-3E56-F49D2C76B6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defRPr/>
            </a:pPr>
            <a:r>
              <a:rPr lang="pt-BR" altLang="zh-CN" sz="2600" dirty="0">
                <a:effectLst/>
                <a:ea typeface="SimSun" panose="02010600030101010101" pitchFamily="2" charset="-122"/>
              </a:rPr>
              <a:t>Corpo da função </a:t>
            </a:r>
            <a:r>
              <a:rPr lang="pt-BR" altLang="zh-CN" sz="2600" i="1" dirty="0">
                <a:effectLst/>
                <a:ea typeface="SimSun" panose="02010600030101010101" pitchFamily="2" charset="-122"/>
              </a:rPr>
              <a:t>depois</a:t>
            </a:r>
            <a:r>
              <a:rPr lang="pt-BR" altLang="zh-CN" sz="2600" dirty="0">
                <a:effectLst/>
                <a:ea typeface="SimSun" panose="02010600030101010101" pitchFamily="2" charset="-122"/>
              </a:rPr>
              <a:t> do programa principal (no mesmo arquivo)</a:t>
            </a:r>
            <a:r>
              <a:rPr lang="pt-BR" altLang="zh-CN" sz="2600" dirty="0">
                <a:ea typeface="SimSun" panose="02010600030101010101" pitchFamily="2" charset="-122"/>
              </a:rPr>
              <a:t>  </a:t>
            </a:r>
          </a:p>
          <a:p>
            <a:pPr algn="l" eaLnBrk="1" hangingPunct="1">
              <a:buFont typeface="Wingdings" panose="05000000000000000000" pitchFamily="2" charset="2"/>
              <a:buChar char="n"/>
              <a:defRPr/>
            </a:pPr>
            <a:r>
              <a:rPr lang="pt-BR" altLang="zh-CN" sz="2600" dirty="0">
                <a:effectLst/>
                <a:ea typeface="SimSun" panose="02010600030101010101" pitchFamily="2" charset="-122"/>
              </a:rPr>
              <a:t>A sintaxe geral para isto é a seguinte: </a:t>
            </a:r>
          </a:p>
          <a:p>
            <a:pPr marL="0" indent="0">
              <a:spcAft>
                <a:spcPct val="0"/>
              </a:spcAft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void </a:t>
            </a:r>
            <a:r>
              <a:rPr lang="pt-BR" altLang="zh-CN" sz="2400" dirty="0" err="1">
                <a:ea typeface="SimSun" panose="02010600030101010101" pitchFamily="2" charset="-122"/>
              </a:rPr>
              <a:t>main</a:t>
            </a:r>
            <a:r>
              <a:rPr lang="pt-BR" altLang="zh-CN" sz="2400" dirty="0">
                <a:ea typeface="SimSun" panose="02010600030101010101" pitchFamily="2" charset="-122"/>
              </a:rPr>
              <a:t>()</a:t>
            </a:r>
          </a:p>
          <a:p>
            <a:pPr marL="0" indent="0">
              <a:spcAft>
                <a:spcPct val="0"/>
              </a:spcAft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{                // programa principal</a:t>
            </a:r>
          </a:p>
          <a:p>
            <a:pPr marL="0" indent="0">
              <a:spcAft>
                <a:spcPct val="0"/>
              </a:spcAft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  tipo </a:t>
            </a:r>
            <a:r>
              <a:rPr lang="pt-BR" altLang="zh-CN" sz="2400" dirty="0" err="1">
                <a:ea typeface="SimSun" panose="02010600030101010101" pitchFamily="2" charset="-122"/>
              </a:rPr>
              <a:t>nomef</a:t>
            </a:r>
            <a:r>
              <a:rPr lang="pt-BR" altLang="zh-CN" sz="2400" dirty="0">
                <a:ea typeface="SimSun" panose="02010600030101010101" pitchFamily="2" charset="-122"/>
              </a:rPr>
              <a:t>(...);          // protótipo da função</a:t>
            </a:r>
          </a:p>
          <a:p>
            <a:pPr marL="0" indent="0">
              <a:spcAft>
                <a:spcPct val="0"/>
              </a:spcAft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  ...</a:t>
            </a:r>
          </a:p>
          <a:p>
            <a:pPr marL="0" indent="0">
              <a:spcAft>
                <a:spcPct val="0"/>
              </a:spcAft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  var = </a:t>
            </a:r>
            <a:r>
              <a:rPr lang="pt-BR" altLang="zh-CN" sz="2400" dirty="0" err="1">
                <a:ea typeface="SimSun" panose="02010600030101010101" pitchFamily="2" charset="-122"/>
              </a:rPr>
              <a:t>nomef</a:t>
            </a:r>
            <a:r>
              <a:rPr lang="pt-BR" altLang="zh-CN" sz="2400" dirty="0">
                <a:ea typeface="SimSun" panose="02010600030101010101" pitchFamily="2" charset="-122"/>
              </a:rPr>
              <a:t>(...)          // chamada a função</a:t>
            </a:r>
          </a:p>
          <a:p>
            <a:pPr marL="0" indent="0">
              <a:spcAft>
                <a:spcPct val="0"/>
              </a:spcAft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  ...</a:t>
            </a:r>
          </a:p>
          <a:p>
            <a:pPr marL="0" indent="0">
              <a:spcAft>
                <a:spcPct val="0"/>
              </a:spcAft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}</a:t>
            </a:r>
          </a:p>
          <a:p>
            <a:pPr marL="0" indent="0">
              <a:spcAft>
                <a:spcPct val="0"/>
              </a:spcAft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tipo </a:t>
            </a:r>
            <a:r>
              <a:rPr lang="pt-BR" altLang="zh-CN" sz="2400" dirty="0" err="1">
                <a:ea typeface="SimSun" panose="02010600030101010101" pitchFamily="2" charset="-122"/>
              </a:rPr>
              <a:t>nomef</a:t>
            </a:r>
            <a:r>
              <a:rPr lang="pt-BR" altLang="zh-CN" sz="2400" dirty="0">
                <a:ea typeface="SimSun" panose="02010600030101010101" pitchFamily="2" charset="-122"/>
              </a:rPr>
              <a:t>(...){            // definição da função</a:t>
            </a:r>
          </a:p>
          <a:p>
            <a:pPr marL="0" indent="0">
              <a:spcAft>
                <a:spcPct val="0"/>
              </a:spcAft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  [corpo de função]</a:t>
            </a:r>
          </a:p>
          <a:p>
            <a:pPr marL="0" indent="0">
              <a:spcAft>
                <a:spcPct val="0"/>
              </a:spcAft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} 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FC6031D-EC4B-525F-1924-EAB8B899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8682259-7A09-406D-8534-526A3DA56DEB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12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386" name="Rectangle 2">
            <a:extLst>
              <a:ext uri="{FF2B5EF4-FFF2-40B4-BE49-F238E27FC236}">
                <a16:creationId xmlns:a16="http://schemas.microsoft.com/office/drawing/2014/main" id="{27052206-2C1B-1D0F-7255-494E2012B7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5.1 – Funções: Localização das Funções </a:t>
            </a:r>
            <a:endParaRPr lang="pt-BR" altLang="pt-BR" sz="3000" dirty="0"/>
          </a:p>
        </p:txBody>
      </p:sp>
      <p:sp>
        <p:nvSpPr>
          <p:cNvPr id="1552387" name="Rectangle 3">
            <a:extLst>
              <a:ext uri="{FF2B5EF4-FFF2-40B4-BE49-F238E27FC236}">
                <a16:creationId xmlns:a16="http://schemas.microsoft.com/office/drawing/2014/main" id="{4080E195-D3F1-AE78-982E-84BC0E9670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5400" y="1268760"/>
            <a:ext cx="10515600" cy="4351338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pt-BR" altLang="zh-CN" sz="2200" dirty="0">
                <a:effectLst/>
                <a:ea typeface="SimSun" panose="02010600030101010101" pitchFamily="2" charset="-122"/>
              </a:rPr>
              <a:t>Corpo da função </a:t>
            </a:r>
            <a:r>
              <a:rPr lang="pt-BR" altLang="zh-CN" sz="2200" i="1" dirty="0">
                <a:effectLst/>
                <a:ea typeface="SimSun" panose="02010600030101010101" pitchFamily="2" charset="-122"/>
              </a:rPr>
              <a:t>depois</a:t>
            </a:r>
            <a:r>
              <a:rPr lang="pt-BR" altLang="zh-CN" sz="2200" dirty="0">
                <a:effectLst/>
                <a:ea typeface="SimSun" panose="02010600030101010101" pitchFamily="2" charset="-122"/>
              </a:rPr>
              <a:t> do programa principal (no mesmo arquivo)  </a:t>
            </a:r>
          </a:p>
          <a:p>
            <a:pPr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zh-CN" sz="2200" dirty="0">
                <a:effectLst/>
                <a:ea typeface="SimSun" panose="02010600030101010101" pitchFamily="2" charset="-122"/>
              </a:rPr>
              <a:t>Exemplo: Função media2() escrita depois do programa principal.</a:t>
            </a:r>
          </a:p>
          <a:p>
            <a:pPr marL="0" indent="0">
              <a:buNone/>
              <a:defRPr/>
            </a:pPr>
            <a:r>
              <a:rPr lang="pt-BR" altLang="zh-CN" sz="1800" dirty="0">
                <a:ea typeface="SimSun" panose="02010600030101010101" pitchFamily="2" charset="-122"/>
              </a:rPr>
              <a:t>void </a:t>
            </a:r>
            <a:r>
              <a:rPr lang="pt-BR" altLang="zh-CN" sz="1800" dirty="0" err="1">
                <a:ea typeface="SimSun" panose="02010600030101010101" pitchFamily="2" charset="-122"/>
              </a:rPr>
              <a:t>main</a:t>
            </a:r>
            <a:r>
              <a:rPr lang="pt-BR" altLang="zh-CN" sz="1800" dirty="0">
                <a:ea typeface="SimSun" panose="02010600030101010101" pitchFamily="2" charset="-122"/>
              </a:rPr>
              <a:t>(){                    // programa principal</a:t>
            </a:r>
          </a:p>
          <a:p>
            <a:pPr marL="0" indent="0">
              <a:buNone/>
              <a:defRPr/>
            </a:pPr>
            <a:r>
              <a:rPr lang="pt-BR" altLang="zh-CN" sz="1800" dirty="0">
                <a:ea typeface="SimSun" panose="02010600030101010101" pitchFamily="2" charset="-122"/>
              </a:rPr>
              <a:t>  	  float media2(</a:t>
            </a:r>
            <a:r>
              <a:rPr lang="pt-BR" altLang="zh-CN" sz="1800" dirty="0" err="1">
                <a:ea typeface="SimSun" panose="02010600030101010101" pitchFamily="2" charset="-122"/>
              </a:rPr>
              <a:t>float,float</a:t>
            </a:r>
            <a:r>
              <a:rPr lang="pt-BR" altLang="zh-CN" sz="1800" dirty="0">
                <a:ea typeface="SimSun" panose="02010600030101010101" pitchFamily="2" charset="-122"/>
              </a:rPr>
              <a:t>);    // protótipo de media2()</a:t>
            </a:r>
          </a:p>
          <a:p>
            <a:pPr marL="0" indent="0">
              <a:buNone/>
              <a:defRPr/>
            </a:pPr>
            <a:r>
              <a:rPr lang="pt-BR" altLang="zh-CN" sz="1800" dirty="0">
                <a:ea typeface="SimSun" panose="02010600030101010101" pitchFamily="2" charset="-122"/>
              </a:rPr>
              <a:t>  	  float num_1, num_2, </a:t>
            </a:r>
            <a:r>
              <a:rPr lang="pt-BR" altLang="zh-CN" sz="1800" dirty="0" err="1">
                <a:ea typeface="SimSun" panose="02010600030101010101" pitchFamily="2" charset="-122"/>
              </a:rPr>
              <a:t>med</a:t>
            </a:r>
            <a:r>
              <a:rPr lang="pt-BR" altLang="zh-CN" sz="1800" dirty="0">
                <a:ea typeface="SimSun" panose="02010600030101010101" pitchFamily="2" charset="-122"/>
              </a:rPr>
              <a:t>;</a:t>
            </a:r>
          </a:p>
          <a:p>
            <a:pPr marL="0" indent="0">
              <a:buNone/>
              <a:defRPr/>
            </a:pPr>
            <a:r>
              <a:rPr lang="pt-BR" altLang="zh-CN" sz="1800" dirty="0">
                <a:ea typeface="SimSun" panose="02010600030101010101" pitchFamily="2" charset="-122"/>
              </a:rPr>
              <a:t>  	  </a:t>
            </a:r>
            <a:r>
              <a:rPr lang="pt-BR" altLang="zh-CN" sz="1800" dirty="0" err="1">
                <a:ea typeface="SimSun" panose="02010600030101010101" pitchFamily="2" charset="-122"/>
              </a:rPr>
              <a:t>puts</a:t>
            </a:r>
            <a:r>
              <a:rPr lang="pt-BR" altLang="zh-CN" sz="1800" dirty="0">
                <a:ea typeface="SimSun" panose="02010600030101010101" pitchFamily="2" charset="-122"/>
              </a:rPr>
              <a:t>(”Digite dois números:”);</a:t>
            </a:r>
          </a:p>
          <a:p>
            <a:pPr marL="0" indent="0">
              <a:buNone/>
              <a:defRPr/>
            </a:pPr>
            <a:r>
              <a:rPr lang="pt-BR" altLang="zh-CN" sz="1800" dirty="0">
                <a:ea typeface="SimSun" panose="02010600030101010101" pitchFamily="2" charset="-122"/>
              </a:rPr>
              <a:t>  	  </a:t>
            </a:r>
            <a:r>
              <a:rPr lang="pt-BR" altLang="zh-CN" sz="1800" dirty="0" err="1">
                <a:ea typeface="SimSun" panose="02010600030101010101" pitchFamily="2" charset="-122"/>
              </a:rPr>
              <a:t>scanf</a:t>
            </a:r>
            <a:r>
              <a:rPr lang="pt-BR" altLang="zh-CN" sz="1800" dirty="0">
                <a:ea typeface="SimSun" panose="02010600030101010101" pitchFamily="2" charset="-122"/>
              </a:rPr>
              <a:t>(”%f %f”, &amp;num_1, &amp;num_2);</a:t>
            </a:r>
          </a:p>
          <a:p>
            <a:pPr marL="0" indent="0">
              <a:buNone/>
              <a:defRPr/>
            </a:pPr>
            <a:r>
              <a:rPr lang="pt-BR" altLang="zh-CN" sz="1800" dirty="0">
                <a:ea typeface="SimSun" panose="02010600030101010101" pitchFamily="2" charset="-122"/>
              </a:rPr>
              <a:t>        </a:t>
            </a:r>
            <a:r>
              <a:rPr lang="pt-BR" altLang="zh-CN" sz="1800" dirty="0" err="1">
                <a:ea typeface="SimSun" panose="02010600030101010101" pitchFamily="2" charset="-122"/>
              </a:rPr>
              <a:t>med</a:t>
            </a:r>
            <a:r>
              <a:rPr lang="pt-BR" altLang="zh-CN" sz="1800" dirty="0">
                <a:ea typeface="SimSun" panose="02010600030101010101" pitchFamily="2" charset="-122"/>
              </a:rPr>
              <a:t> = media2(num_1, num_2);    // chamada a função </a:t>
            </a:r>
          </a:p>
          <a:p>
            <a:pPr marL="0" indent="0">
              <a:buNone/>
              <a:defRPr/>
            </a:pPr>
            <a:r>
              <a:rPr lang="pt-BR" altLang="zh-CN" sz="1800" dirty="0">
                <a:ea typeface="SimSun" panose="02010600030101010101" pitchFamily="2" charset="-122"/>
              </a:rPr>
              <a:t>  	  </a:t>
            </a:r>
            <a:r>
              <a:rPr lang="pt-BR" altLang="zh-CN" sz="1800" dirty="0" err="1">
                <a:ea typeface="SimSun" panose="02010600030101010101" pitchFamily="2" charset="-122"/>
              </a:rPr>
              <a:t>printf</a:t>
            </a:r>
            <a:r>
              <a:rPr lang="pt-BR" altLang="zh-CN" sz="1800" dirty="0">
                <a:ea typeface="SimSun" panose="02010600030101010101" pitchFamily="2" charset="-122"/>
              </a:rPr>
              <a:t>(”\</a:t>
            </a:r>
            <a:r>
              <a:rPr lang="pt-BR" altLang="zh-CN" sz="1800" dirty="0" err="1">
                <a:ea typeface="SimSun" panose="02010600030101010101" pitchFamily="2" charset="-122"/>
              </a:rPr>
              <a:t>nA</a:t>
            </a:r>
            <a:r>
              <a:rPr lang="pt-BR" altLang="zh-CN" sz="1800" dirty="0">
                <a:ea typeface="SimSun" panose="02010600030101010101" pitchFamily="2" charset="-122"/>
              </a:rPr>
              <a:t> media destes números e´ %f”, </a:t>
            </a:r>
            <a:r>
              <a:rPr lang="pt-BR" altLang="zh-CN" sz="1800" dirty="0" err="1">
                <a:ea typeface="SimSun" panose="02010600030101010101" pitchFamily="2" charset="-122"/>
              </a:rPr>
              <a:t>med</a:t>
            </a:r>
            <a:r>
              <a:rPr lang="pt-BR" altLang="zh-CN" sz="1800" dirty="0">
                <a:ea typeface="SimSun" panose="02010600030101010101" pitchFamily="2" charset="-122"/>
              </a:rPr>
              <a:t>);</a:t>
            </a:r>
          </a:p>
          <a:p>
            <a:pPr marL="0" indent="0">
              <a:buNone/>
              <a:defRPr/>
            </a:pPr>
            <a:r>
              <a:rPr lang="pt-BR" altLang="zh-CN" sz="1800" dirty="0">
                <a:ea typeface="SimSun" panose="02010600030101010101" pitchFamily="2" charset="-122"/>
              </a:rPr>
              <a:t>}</a:t>
            </a:r>
          </a:p>
          <a:p>
            <a:pPr marL="0" indent="0">
              <a:buNone/>
              <a:defRPr/>
            </a:pPr>
            <a:r>
              <a:rPr lang="pt-BR" altLang="zh-CN" sz="1800" dirty="0">
                <a:ea typeface="SimSun" panose="02010600030101010101" pitchFamily="2" charset="-122"/>
              </a:rPr>
              <a:t>float media2(float a, float b){  // função media2()</a:t>
            </a:r>
          </a:p>
          <a:p>
            <a:pPr marL="0" indent="0">
              <a:buNone/>
              <a:defRPr/>
            </a:pPr>
            <a:r>
              <a:rPr lang="pt-BR" altLang="zh-CN" sz="1800" dirty="0">
                <a:ea typeface="SimSun" panose="02010600030101010101" pitchFamily="2" charset="-122"/>
              </a:rPr>
              <a:t>	  float </a:t>
            </a:r>
            <a:r>
              <a:rPr lang="pt-BR" altLang="zh-CN" sz="1800" dirty="0" err="1">
                <a:ea typeface="SimSun" panose="02010600030101010101" pitchFamily="2" charset="-122"/>
              </a:rPr>
              <a:t>med</a:t>
            </a:r>
            <a:r>
              <a:rPr lang="pt-BR" altLang="zh-CN" sz="1800" dirty="0">
                <a:ea typeface="SimSun" panose="02010600030101010101" pitchFamily="2" charset="-122"/>
              </a:rPr>
              <a:t>;</a:t>
            </a:r>
          </a:p>
          <a:p>
            <a:pPr marL="0" indent="0">
              <a:buNone/>
              <a:defRPr/>
            </a:pPr>
            <a:r>
              <a:rPr lang="pt-BR" altLang="zh-CN" sz="1800" dirty="0">
                <a:ea typeface="SimSun" panose="02010600030101010101" pitchFamily="2" charset="-122"/>
              </a:rPr>
              <a:t>	  </a:t>
            </a:r>
            <a:r>
              <a:rPr lang="pt-BR" altLang="zh-CN" sz="1800" dirty="0" err="1">
                <a:ea typeface="SimSun" panose="02010600030101010101" pitchFamily="2" charset="-122"/>
              </a:rPr>
              <a:t>med</a:t>
            </a:r>
            <a:r>
              <a:rPr lang="pt-BR" altLang="zh-CN" sz="1800" dirty="0">
                <a:ea typeface="SimSun" panose="02010600030101010101" pitchFamily="2" charset="-122"/>
              </a:rPr>
              <a:t> = (a + b) / 2.0;</a:t>
            </a:r>
          </a:p>
          <a:p>
            <a:pPr marL="0" indent="0">
              <a:buNone/>
              <a:defRPr/>
            </a:pPr>
            <a:r>
              <a:rPr lang="pt-BR" altLang="zh-CN" sz="1800" dirty="0">
                <a:ea typeface="SimSun" panose="02010600030101010101" pitchFamily="2" charset="-122"/>
              </a:rPr>
              <a:t>	  </a:t>
            </a:r>
            <a:r>
              <a:rPr lang="pt-BR" altLang="zh-CN" sz="1800" dirty="0" err="1">
                <a:ea typeface="SimSun" panose="02010600030101010101" pitchFamily="2" charset="-122"/>
              </a:rPr>
              <a:t>retur</a:t>
            </a:r>
            <a:r>
              <a:rPr lang="pt-BR" altLang="zh-CN" sz="1800" dirty="0">
                <a:ea typeface="SimSun" panose="02010600030101010101" pitchFamily="2" charset="-122"/>
              </a:rPr>
              <a:t> n(</a:t>
            </a:r>
            <a:r>
              <a:rPr lang="pt-BR" altLang="zh-CN" sz="1800" dirty="0" err="1">
                <a:ea typeface="SimSun" panose="02010600030101010101" pitchFamily="2" charset="-122"/>
              </a:rPr>
              <a:t>med</a:t>
            </a:r>
            <a:r>
              <a:rPr lang="pt-BR" altLang="zh-CN" sz="1800" dirty="0">
                <a:ea typeface="SimSun" panose="02010600030101010101" pitchFamily="2" charset="-122"/>
              </a:rPr>
              <a:t>);</a:t>
            </a:r>
          </a:p>
          <a:p>
            <a:pPr marL="0" indent="0">
              <a:buNone/>
              <a:defRPr/>
            </a:pPr>
            <a:r>
              <a:rPr lang="pt-BR" altLang="zh-CN" sz="1800" dirty="0">
                <a:ea typeface="SimSun" panose="02010600030101010101" pitchFamily="2" charset="-122"/>
              </a:rPr>
              <a:t>	} </a:t>
            </a: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182676B2-30E9-BFA7-9540-2EC52EB5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C58F0D3-91B9-4EA1-AFDB-E5AEF0132D13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13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52389" name="Text Box 5">
            <a:extLst>
              <a:ext uri="{FF2B5EF4-FFF2-40B4-BE49-F238E27FC236}">
                <a16:creationId xmlns:a16="http://schemas.microsoft.com/office/drawing/2014/main" id="{8BD25A82-8240-5761-379C-7E09FF6DE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5800" y="5629941"/>
            <a:ext cx="7777163" cy="923330"/>
          </a:xfrm>
          <a:prstGeom prst="rect">
            <a:avLst/>
          </a:prstGeom>
          <a:solidFill>
            <a:srgbClr val="B1B1D7"/>
          </a:solidFill>
          <a:ln w="57150" cmpd="thinThick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Observe que o protótipo de uma função nada mais é que a </a:t>
            </a:r>
            <a:r>
              <a:rPr lang="pt-BR" altLang="pt-BR" b="1"/>
              <a:t>declaração</a:t>
            </a:r>
            <a:r>
              <a:rPr lang="pt-BR" altLang="pt-BR"/>
              <a:t> da função sem o seu corpo. Observe ainda que na lista de argumentos do protótipo podem ser escritos apenas os </a:t>
            </a:r>
            <a:r>
              <a:rPr lang="pt-BR" altLang="pt-BR" b="1"/>
              <a:t>tipos</a:t>
            </a:r>
            <a:r>
              <a:rPr lang="pt-BR" altLang="pt-BR"/>
              <a:t> dos argumentos.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155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238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434" name="Rectangle 2">
            <a:extLst>
              <a:ext uri="{FF2B5EF4-FFF2-40B4-BE49-F238E27FC236}">
                <a16:creationId xmlns:a16="http://schemas.microsoft.com/office/drawing/2014/main" id="{3BD7A9C3-3320-D5C4-B4A9-0371BB720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5.1 – Funções: Localização das Funções </a:t>
            </a:r>
            <a:endParaRPr lang="pt-BR" altLang="pt-BR" sz="3000" dirty="0"/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1B72CF37-2F59-5865-6A0F-91283233FE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pt-BR" altLang="zh-CN" sz="2400" dirty="0">
                <a:effectLst/>
                <a:ea typeface="SimSun" panose="02010600030101010101" pitchFamily="2" charset="-122"/>
              </a:rPr>
              <a:t>Corpo da função escrito em arquivo separado</a:t>
            </a:r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zh-CN" sz="24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  Em C, como em muitas outras linguagens, é permitido que o usuário crie uma função em um arquivo e </a:t>
            </a:r>
            <a:r>
              <a:rPr lang="pt-BR" altLang="zh-CN" sz="2400" dirty="0">
                <a:effectLst/>
                <a:ea typeface="SimSun" panose="02010600030101010101" pitchFamily="2" charset="-122"/>
                <a:cs typeface="Arial" panose="020B0604020202020204" pitchFamily="34" charset="0"/>
              </a:rPr>
              <a:t>um</a:t>
            </a:r>
            <a:r>
              <a:rPr lang="pt-BR" altLang="zh-CN" sz="24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programa que a chame em outro arquivo distinto. </a:t>
            </a:r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zh-CN" sz="24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Esta </a:t>
            </a:r>
            <a:r>
              <a:rPr lang="pt-BR" altLang="zh-CN" sz="2400" dirty="0">
                <a:effectLst/>
                <a:ea typeface="SimSun" panose="02010600030101010101" pitchFamily="2" charset="-122"/>
                <a:cs typeface="Arial" panose="020B0604020202020204" pitchFamily="34" charset="0"/>
              </a:rPr>
              <a:t>facilidade</a:t>
            </a:r>
            <a:r>
              <a:rPr lang="pt-BR" altLang="zh-CN" sz="24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permite a criação de bibliotecas de usuário: um conjunto de arquivos contendo funções escritas pelo usuário. </a:t>
            </a:r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zh-CN" sz="24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Esta possibilidade é uma grande vantagem utilizada em larga escala por programadores profissionais. </a:t>
            </a:r>
            <a:endParaRPr lang="pt-BR" altLang="zh-CN" sz="2400" dirty="0">
              <a:effectLst/>
              <a:ea typeface="SimSun" panose="02010600030101010101" pitchFamily="2" charset="-122"/>
            </a:endParaRP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8DDFC436-2154-F7B3-CF14-F9C18D55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125BB18-49DE-4449-94B5-582D2A89DFEE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14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778" name="Rectangle 2">
            <a:extLst>
              <a:ext uri="{FF2B5EF4-FFF2-40B4-BE49-F238E27FC236}">
                <a16:creationId xmlns:a16="http://schemas.microsoft.com/office/drawing/2014/main" id="{6CF6AECA-79FD-F3CE-7F71-4842CEEF3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5.1 – Funções: Localização das Funções </a:t>
            </a:r>
            <a:endParaRPr lang="pt-BR" altLang="pt-BR" sz="3000" dirty="0"/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050B4729-847B-B7B5-A482-4E8CAED6D4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pt-BR" altLang="zh-CN" sz="2400">
                <a:effectLst/>
                <a:ea typeface="SimSun" panose="02010600030101010101" pitchFamily="2" charset="-122"/>
              </a:rPr>
              <a:t>Corpo da função escrito em arquivo separado</a:t>
            </a:r>
            <a:endParaRPr lang="pt-BR" altLang="zh-CN" sz="2400">
              <a:effectLst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zh-CN" sz="2400">
                <a:effectLst/>
                <a:ea typeface="SimSun" panose="02010600030101010101" pitchFamily="2" charset="-122"/>
              </a:rPr>
              <a:t>  Quando escrevemos a definição de uma função em arquivo separado do programa principal devemos incluir este arquivo no conjunto de arquivos de compilação do programa principal. </a:t>
            </a:r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zh-CN" sz="2400">
                <a:effectLst/>
                <a:ea typeface="SimSun" panose="02010600030101010101" pitchFamily="2" charset="-122"/>
              </a:rPr>
              <a:t>Esta inclusão é feita com a diretiva #include.  Esta diretiva, instrui o compilador para incluir na compilação do programa outros arquivos que contém a definição das funções de usuário e de biblioteca. 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082D730E-CE1E-74F8-F1C4-5443FB32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EEB0BD8-F9FE-49C8-AEA6-A62D1DAE81FB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15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82" name="Rectangle 2">
            <a:extLst>
              <a:ext uri="{FF2B5EF4-FFF2-40B4-BE49-F238E27FC236}">
                <a16:creationId xmlns:a16="http://schemas.microsoft.com/office/drawing/2014/main" id="{4E92CD47-D9D5-79EF-6D6F-9AF7438A5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5.1 – Funções: Localização das Funções </a:t>
            </a:r>
            <a:endParaRPr lang="pt-BR" altLang="pt-BR" sz="3000" dirty="0"/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005A3E2E-43DE-2FC8-89DF-BC33E71CA4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BR" altLang="zh-CN" b="1" dirty="0">
                <a:effectLst/>
                <a:ea typeface="SimSun" panose="02010600030101010101" pitchFamily="2" charset="-122"/>
              </a:rPr>
              <a:t>Corpo da função escrito em arquivo separado</a:t>
            </a:r>
          </a:p>
          <a:p>
            <a:pPr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pt-BR" altLang="zh-CN" b="1" dirty="0">
                <a:effectLst/>
                <a:ea typeface="SimSun" panose="02010600030101010101" pitchFamily="2" charset="-122"/>
              </a:rPr>
              <a:t>Sintaxe:</a:t>
            </a:r>
            <a:r>
              <a:rPr lang="pt-BR" altLang="zh-CN" dirty="0">
                <a:effectLst/>
                <a:ea typeface="SimSun" panose="02010600030101010101" pitchFamily="2" charset="-122"/>
              </a:rPr>
              <a:t> A sintaxe de inclusão de funções de usuário é a seguinte:</a:t>
            </a:r>
          </a:p>
          <a:p>
            <a:pPr marL="0" indent="0" algn="l" eaLnBrk="1" hangingPunct="1">
              <a:lnSpc>
                <a:spcPct val="80000"/>
              </a:lnSpc>
              <a:buNone/>
            </a:pPr>
            <a:r>
              <a:rPr lang="pt-BR" altLang="zh-CN" sz="2400" dirty="0">
                <a:effectLst/>
                <a:ea typeface="SimSun" panose="02010600030101010101" pitchFamily="2" charset="-122"/>
              </a:rPr>
              <a:t>#include ”</a:t>
            </a:r>
            <a:r>
              <a:rPr lang="pt-BR" altLang="zh-CN" sz="2400" i="1" dirty="0">
                <a:effectLst/>
                <a:ea typeface="SimSun" panose="02010600030101010101" pitchFamily="2" charset="-122"/>
              </a:rPr>
              <a:t>path</a:t>
            </a:r>
            <a:r>
              <a:rPr lang="pt-BR" altLang="zh-CN" sz="2400" dirty="0">
                <a:effectLst/>
                <a:ea typeface="SimSun" panose="02010600030101010101" pitchFamily="2" charset="-122"/>
              </a:rPr>
              <a:t>”         // inclusão da função</a:t>
            </a:r>
          </a:p>
          <a:p>
            <a:pPr marL="0" indent="0" algn="l" eaLnBrk="1" hangingPunct="1">
              <a:lnSpc>
                <a:spcPct val="80000"/>
              </a:lnSpc>
              <a:buNone/>
            </a:pPr>
            <a:r>
              <a:rPr lang="pt-BR" altLang="zh-CN" sz="2400" dirty="0">
                <a:effectLst/>
                <a:ea typeface="SimSun" panose="02010600030101010101" pitchFamily="2" charset="-122"/>
              </a:rPr>
              <a:t>void </a:t>
            </a:r>
            <a:r>
              <a:rPr lang="pt-BR" altLang="zh-CN" sz="2400" dirty="0" err="1">
                <a:effectLst/>
                <a:ea typeface="SimSun" panose="02010600030101010101" pitchFamily="2" charset="-122"/>
              </a:rPr>
              <a:t>main</a:t>
            </a:r>
            <a:r>
              <a:rPr lang="pt-BR" altLang="zh-CN" sz="2400" dirty="0">
                <a:effectLst/>
                <a:ea typeface="SimSun" panose="02010600030101010101" pitchFamily="2" charset="-122"/>
              </a:rPr>
              <a:t>(){            // programa principal</a:t>
            </a:r>
          </a:p>
          <a:p>
            <a:pPr marL="0" indent="0" algn="l" eaLnBrk="1" hangingPunct="1">
              <a:lnSpc>
                <a:spcPct val="80000"/>
              </a:lnSpc>
              <a:buNone/>
            </a:pPr>
            <a:r>
              <a:rPr lang="pt-BR" altLang="zh-CN" sz="2400" dirty="0">
                <a:effectLst/>
                <a:ea typeface="SimSun" panose="02010600030101010101" pitchFamily="2" charset="-122"/>
              </a:rPr>
              <a:t>...</a:t>
            </a:r>
          </a:p>
          <a:p>
            <a:pPr marL="0" indent="0" algn="l" eaLnBrk="1" hangingPunct="1">
              <a:lnSpc>
                <a:spcPct val="80000"/>
              </a:lnSpc>
              <a:buNone/>
            </a:pPr>
            <a:r>
              <a:rPr lang="pt-BR" altLang="zh-CN" sz="2400" dirty="0">
                <a:effectLst/>
                <a:ea typeface="SimSun" panose="02010600030101010101" pitchFamily="2" charset="-122"/>
              </a:rPr>
              <a:t>  var = </a:t>
            </a:r>
            <a:r>
              <a:rPr lang="pt-BR" altLang="zh-CN" sz="2400" dirty="0" err="1">
                <a:effectLst/>
                <a:ea typeface="SimSun" panose="02010600030101010101" pitchFamily="2" charset="-122"/>
              </a:rPr>
              <a:t>nomef</a:t>
            </a:r>
            <a:r>
              <a:rPr lang="pt-BR" altLang="zh-CN" sz="2400" dirty="0">
                <a:effectLst/>
                <a:ea typeface="SimSun" panose="02010600030101010101" pitchFamily="2" charset="-122"/>
              </a:rPr>
              <a:t>(...)      // chamada a função</a:t>
            </a:r>
          </a:p>
          <a:p>
            <a:pPr marL="0" indent="0" algn="l" eaLnBrk="1" hangingPunct="1">
              <a:lnSpc>
                <a:spcPct val="80000"/>
              </a:lnSpc>
              <a:buNone/>
            </a:pPr>
            <a:r>
              <a:rPr lang="pt-BR" altLang="zh-CN" sz="2400" dirty="0">
                <a:effectLst/>
                <a:ea typeface="SimSun" panose="02010600030101010101" pitchFamily="2" charset="-122"/>
              </a:rPr>
              <a:t>...</a:t>
            </a:r>
          </a:p>
          <a:p>
            <a:pPr marL="0" indent="0" algn="l" eaLnBrk="1" hangingPunct="1">
              <a:lnSpc>
                <a:spcPct val="80000"/>
              </a:lnSpc>
              <a:buNone/>
            </a:pPr>
            <a:r>
              <a:rPr lang="pt-BR" altLang="zh-CN" sz="2400" dirty="0">
                <a:effectLst/>
                <a:ea typeface="SimSun" panose="02010600030101010101" pitchFamily="2" charset="-122"/>
              </a:rPr>
              <a:t>}</a:t>
            </a: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63D42882-9E5B-9F7C-5329-ACA5A0A1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EECD849-D0F3-441A-BADA-83F771290798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16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56484" name="Text Box 4">
            <a:extLst>
              <a:ext uri="{FF2B5EF4-FFF2-40B4-BE49-F238E27FC236}">
                <a16:creationId xmlns:a16="http://schemas.microsoft.com/office/drawing/2014/main" id="{4C579C5F-10F0-6D36-2863-6E9B3E581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4508500"/>
            <a:ext cx="6696075" cy="646331"/>
          </a:xfrm>
          <a:prstGeom prst="rect">
            <a:avLst/>
          </a:prstGeom>
          <a:solidFill>
            <a:srgbClr val="A4A4D0"/>
          </a:solidFill>
          <a:ln w="57150" cmpd="thinThick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pt-BR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Na diretiva #include, indicamos entre aspas duplas o caminho de localização do arquivo onde está definida a função chamada </a:t>
            </a:r>
            <a:endParaRPr lang="pt-BR" altLang="pt-BR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530" name="Rectangle 2">
            <a:extLst>
              <a:ext uri="{FF2B5EF4-FFF2-40B4-BE49-F238E27FC236}">
                <a16:creationId xmlns:a16="http://schemas.microsoft.com/office/drawing/2014/main" id="{1CC599AA-815A-945A-D28C-5DC0D28BBD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5.1 – Funções: Localização das Funções </a:t>
            </a:r>
            <a:endParaRPr lang="pt-BR" altLang="pt-BR" sz="3000" dirty="0"/>
          </a:p>
        </p:txBody>
      </p:sp>
      <p:sp>
        <p:nvSpPr>
          <p:cNvPr id="1558531" name="Rectangle 3">
            <a:extLst>
              <a:ext uri="{FF2B5EF4-FFF2-40B4-BE49-F238E27FC236}">
                <a16:creationId xmlns:a16="http://schemas.microsoft.com/office/drawing/2014/main" id="{17476C31-63E1-E907-64C2-CBBA6B964C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pt-BR" altLang="zh-CN" b="1" dirty="0">
                <a:ea typeface="SimSun" panose="02010600030101010101" pitchFamily="2" charset="-122"/>
              </a:rPr>
              <a:t>Corpo da função escrito em arquivo separado</a:t>
            </a:r>
          </a:p>
          <a:p>
            <a:pPr algn="l" eaLnBrk="1" hangingPunct="1">
              <a:lnSpc>
                <a:spcPct val="80000"/>
              </a:lnSpc>
              <a:buFont typeface="Wingdings" panose="05000000000000000000" pitchFamily="2" charset="2"/>
              <a:buChar char="n"/>
              <a:defRPr/>
            </a:pPr>
            <a:r>
              <a:rPr lang="pt-BR" altLang="zh-CN" b="1" dirty="0">
                <a:ea typeface="SimSun" panose="02010600030101010101" pitchFamily="2" charset="-122"/>
              </a:rPr>
              <a:t>Exemplo:</a:t>
            </a:r>
            <a:r>
              <a:rPr lang="pt-BR" altLang="zh-CN" dirty="0">
                <a:ea typeface="SimSun" panose="02010600030101010101" pitchFamily="2" charset="-122"/>
              </a:rPr>
              <a:t> A função media2() está escrita em um arquivo separado.</a:t>
            </a:r>
          </a:p>
          <a:p>
            <a:pPr marL="0" indent="0" algn="l" eaLnBrk="1" hangingPunct="1">
              <a:lnSpc>
                <a:spcPct val="80000"/>
              </a:lnSpc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#include ”c:\</a:t>
            </a:r>
            <a:r>
              <a:rPr lang="pt-BR" altLang="zh-CN" sz="2400" dirty="0" err="1">
                <a:ea typeface="SimSun" panose="02010600030101010101" pitchFamily="2" charset="-122"/>
              </a:rPr>
              <a:t>tc</a:t>
            </a:r>
            <a:r>
              <a:rPr lang="pt-BR" altLang="zh-CN" sz="2400" dirty="0">
                <a:ea typeface="SimSun" panose="02010600030101010101" pitchFamily="2" charset="-122"/>
              </a:rPr>
              <a:t>\</a:t>
            </a:r>
            <a:r>
              <a:rPr lang="pt-BR" altLang="zh-CN" sz="2400" dirty="0" err="1">
                <a:ea typeface="SimSun" panose="02010600030101010101" pitchFamily="2" charset="-122"/>
              </a:rPr>
              <a:t>userbib</a:t>
            </a:r>
            <a:r>
              <a:rPr lang="pt-BR" altLang="zh-CN" sz="2400" dirty="0">
                <a:ea typeface="SimSun" panose="02010600030101010101" pitchFamily="2" charset="-122"/>
              </a:rPr>
              <a:t>\</a:t>
            </a:r>
            <a:r>
              <a:rPr lang="pt-BR" altLang="zh-CN" sz="2400" dirty="0" err="1">
                <a:ea typeface="SimSun" panose="02010600030101010101" pitchFamily="2" charset="-122"/>
              </a:rPr>
              <a:t>stat.h</a:t>
            </a:r>
            <a:r>
              <a:rPr lang="pt-BR" altLang="zh-CN" sz="2400" dirty="0">
                <a:ea typeface="SimSun" panose="02010600030101010101" pitchFamily="2" charset="-122"/>
              </a:rPr>
              <a:t>”     // inclusão da função</a:t>
            </a:r>
          </a:p>
          <a:p>
            <a:pPr marL="0" indent="0" algn="l" eaLnBrk="1" hangingPunct="1">
              <a:lnSpc>
                <a:spcPct val="80000"/>
              </a:lnSpc>
              <a:buNone/>
              <a:defRPr/>
            </a:pPr>
            <a:r>
              <a:rPr lang="pt-BR" altLang="zh-CN" sz="2400" dirty="0" err="1">
                <a:ea typeface="SimSun" panose="02010600030101010101" pitchFamily="2" charset="-122"/>
              </a:rPr>
              <a:t>void</a:t>
            </a:r>
            <a:r>
              <a:rPr lang="pt-BR" altLang="zh-CN" sz="2400" dirty="0">
                <a:ea typeface="SimSun" panose="02010600030101010101" pitchFamily="2" charset="-122"/>
              </a:rPr>
              <a:t> </a:t>
            </a:r>
            <a:r>
              <a:rPr lang="pt-BR" altLang="zh-CN" sz="2400" dirty="0" err="1">
                <a:ea typeface="SimSun" panose="02010600030101010101" pitchFamily="2" charset="-122"/>
              </a:rPr>
              <a:t>main</a:t>
            </a:r>
            <a:r>
              <a:rPr lang="pt-BR" altLang="zh-CN" sz="2400" dirty="0">
                <a:ea typeface="SimSun" panose="02010600030101010101" pitchFamily="2" charset="-122"/>
              </a:rPr>
              <a:t>(){                        // programa principal</a:t>
            </a:r>
          </a:p>
          <a:p>
            <a:pPr marL="0" indent="0" algn="l" eaLnBrk="1" hangingPunct="1">
              <a:lnSpc>
                <a:spcPct val="80000"/>
              </a:lnSpc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  	  </a:t>
            </a:r>
            <a:r>
              <a:rPr lang="pt-BR" altLang="zh-CN" sz="2400" dirty="0" err="1">
                <a:ea typeface="SimSun" panose="02010600030101010101" pitchFamily="2" charset="-122"/>
              </a:rPr>
              <a:t>float</a:t>
            </a:r>
            <a:r>
              <a:rPr lang="pt-BR" altLang="zh-CN" sz="2400" dirty="0">
                <a:ea typeface="SimSun" panose="02010600030101010101" pitchFamily="2" charset="-122"/>
              </a:rPr>
              <a:t> num_1, num_2, </a:t>
            </a:r>
            <a:r>
              <a:rPr lang="pt-BR" altLang="zh-CN" sz="2400" dirty="0" err="1">
                <a:ea typeface="SimSun" panose="02010600030101010101" pitchFamily="2" charset="-122"/>
              </a:rPr>
              <a:t>med</a:t>
            </a:r>
            <a:r>
              <a:rPr lang="pt-BR" altLang="zh-CN" sz="2400" dirty="0">
                <a:ea typeface="SimSun" panose="02010600030101010101" pitchFamily="2" charset="-122"/>
              </a:rPr>
              <a:t>;</a:t>
            </a:r>
          </a:p>
          <a:p>
            <a:pPr marL="0" indent="0" algn="l" eaLnBrk="1" hangingPunct="1">
              <a:lnSpc>
                <a:spcPct val="80000"/>
              </a:lnSpc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  	  </a:t>
            </a:r>
            <a:r>
              <a:rPr lang="pt-BR" altLang="zh-CN" sz="2400" dirty="0" err="1">
                <a:ea typeface="SimSun" panose="02010600030101010101" pitchFamily="2" charset="-122"/>
              </a:rPr>
              <a:t>puts</a:t>
            </a:r>
            <a:r>
              <a:rPr lang="pt-BR" altLang="zh-CN" sz="2400" dirty="0">
                <a:ea typeface="SimSun" panose="02010600030101010101" pitchFamily="2" charset="-122"/>
              </a:rPr>
              <a:t>(”Digite dois números:”);</a:t>
            </a:r>
          </a:p>
          <a:p>
            <a:pPr marL="0" indent="0" algn="l" eaLnBrk="1" hangingPunct="1">
              <a:lnSpc>
                <a:spcPct val="80000"/>
              </a:lnSpc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  	  </a:t>
            </a:r>
            <a:r>
              <a:rPr lang="pt-BR" altLang="zh-CN" sz="2400" dirty="0" err="1">
                <a:ea typeface="SimSun" panose="02010600030101010101" pitchFamily="2" charset="-122"/>
              </a:rPr>
              <a:t>scanf</a:t>
            </a:r>
            <a:r>
              <a:rPr lang="pt-BR" altLang="zh-CN" sz="2400" dirty="0">
                <a:ea typeface="SimSun" panose="02010600030101010101" pitchFamily="2" charset="-122"/>
              </a:rPr>
              <a:t>(”%f %f”, &amp;num_1, &amp;num_2);</a:t>
            </a:r>
          </a:p>
          <a:p>
            <a:pPr marL="0" indent="0" algn="l" eaLnBrk="1" hangingPunct="1">
              <a:lnSpc>
                <a:spcPct val="80000"/>
              </a:lnSpc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        </a:t>
            </a:r>
            <a:r>
              <a:rPr lang="pt-BR" altLang="zh-CN" sz="2400" dirty="0" err="1">
                <a:ea typeface="SimSun" panose="02010600030101010101" pitchFamily="2" charset="-122"/>
              </a:rPr>
              <a:t>med</a:t>
            </a:r>
            <a:r>
              <a:rPr lang="pt-BR" altLang="zh-CN" sz="2400" dirty="0">
                <a:ea typeface="SimSun" panose="02010600030101010101" pitchFamily="2" charset="-122"/>
              </a:rPr>
              <a:t> = media2(num_1, num_2);    // chamada a função </a:t>
            </a:r>
          </a:p>
          <a:p>
            <a:pPr marL="0" indent="0" algn="l" eaLnBrk="1" hangingPunct="1">
              <a:lnSpc>
                <a:spcPct val="80000"/>
              </a:lnSpc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  	  </a:t>
            </a:r>
            <a:r>
              <a:rPr lang="pt-BR" altLang="zh-CN" sz="2400" dirty="0" err="1">
                <a:ea typeface="SimSun" panose="02010600030101010101" pitchFamily="2" charset="-122"/>
              </a:rPr>
              <a:t>printf</a:t>
            </a:r>
            <a:r>
              <a:rPr lang="pt-BR" altLang="zh-CN" sz="2400" dirty="0">
                <a:ea typeface="SimSun" panose="02010600030101010101" pitchFamily="2" charset="-122"/>
              </a:rPr>
              <a:t>(”\</a:t>
            </a:r>
            <a:r>
              <a:rPr lang="pt-BR" altLang="zh-CN" sz="2400" dirty="0" err="1">
                <a:ea typeface="SimSun" panose="02010600030101010101" pitchFamily="2" charset="-122"/>
              </a:rPr>
              <a:t>nA</a:t>
            </a:r>
            <a:r>
              <a:rPr lang="pt-BR" altLang="zh-CN" sz="2400" dirty="0">
                <a:ea typeface="SimSun" panose="02010600030101010101" pitchFamily="2" charset="-122"/>
              </a:rPr>
              <a:t> media destes números e´ %f”, </a:t>
            </a:r>
            <a:r>
              <a:rPr lang="pt-BR" altLang="zh-CN" sz="2400" dirty="0" err="1">
                <a:ea typeface="SimSun" panose="02010600030101010101" pitchFamily="2" charset="-122"/>
              </a:rPr>
              <a:t>med</a:t>
            </a:r>
            <a:r>
              <a:rPr lang="pt-BR" altLang="zh-CN" sz="2400" dirty="0">
                <a:ea typeface="SimSun" panose="02010600030101010101" pitchFamily="2" charset="-122"/>
              </a:rPr>
              <a:t>);</a:t>
            </a:r>
          </a:p>
          <a:p>
            <a:pPr marL="0" indent="0" algn="l" eaLnBrk="1" hangingPunct="1">
              <a:lnSpc>
                <a:spcPct val="80000"/>
              </a:lnSpc>
              <a:buNone/>
              <a:defRPr/>
            </a:pPr>
            <a:r>
              <a:rPr lang="pt-BR" altLang="zh-CN" sz="2400" dirty="0">
                <a:ea typeface="SimSun" panose="02010600030101010101" pitchFamily="2" charset="-122"/>
              </a:rPr>
              <a:t>} 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9D8B93FA-9F62-4959-11F7-7EA59866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533117A-03D4-43CA-A472-D67918BDA629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17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578" name="Rectangle 2">
            <a:extLst>
              <a:ext uri="{FF2B5EF4-FFF2-40B4-BE49-F238E27FC236}">
                <a16:creationId xmlns:a16="http://schemas.microsoft.com/office/drawing/2014/main" id="{CB668BB3-3A57-BA22-5B55-51A9785B75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5.1 – Funções: Localização das Funções </a:t>
            </a:r>
            <a:endParaRPr lang="pt-BR" altLang="pt-BR" sz="3000" dirty="0"/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CA914D0D-4500-F922-620A-4BEADA45BA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BR" altLang="zh-CN" sz="2000" b="1">
                <a:effectLst/>
                <a:ea typeface="SimSun" panose="02010600030101010101" pitchFamily="2" charset="-122"/>
              </a:rPr>
              <a:t>Corpo da função escrito em arquivo separado</a:t>
            </a:r>
          </a:p>
          <a:p>
            <a:pPr algn="l" eaLnBrk="1" hangingPunct="1">
              <a:buFont typeface="Wingdings" panose="05000000000000000000" pitchFamily="2" charset="2"/>
              <a:buChar char="n"/>
            </a:pPr>
            <a:r>
              <a:rPr lang="pt-BR" altLang="zh-CN" sz="2000" b="1">
                <a:effectLst/>
                <a:ea typeface="SimSun" panose="02010600030101010101" pitchFamily="2" charset="-122"/>
              </a:rPr>
              <a:t>Observação: 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Um arquivo pode conter a definição de uma ou mais funções. Em geral, quando o arquivo possui apenas uma função ele é nomeado com o mesmo nome da função e extensão *.cpp ou *.c. </a:t>
            </a:r>
          </a:p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Por exemplo, poderíamos definir a função media() no arquivo media.cpp. </a:t>
            </a:r>
          </a:p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Quando um arquivo possui a definição de mais de uma função, ele é nomeado com a extensão *.h ou *.lib. </a:t>
            </a:r>
          </a:p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Por exemplo: poderíamos criar um conjunto de funções estatísticas chamadas media(), dsvpd(), moda(), max(), min(), etc. definindo-as em um arquivo chamado stat.h. 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C1715D03-1445-EA27-08EF-4A4B93EC2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5D8B1D1-7161-4057-8C53-F4F875F82809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18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>
            <a:extLst>
              <a:ext uri="{FF2B5EF4-FFF2-40B4-BE49-F238E27FC236}">
                <a16:creationId xmlns:a16="http://schemas.microsoft.com/office/drawing/2014/main" id="{6634B732-B668-7D0F-0506-ADB1B9C628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5.1 – Funções: </a:t>
            </a:r>
            <a:r>
              <a:rPr lang="pt-BR" altLang="pt-BR" sz="3000" dirty="0"/>
              <a:t>Hierarquia de Funções</a:t>
            </a: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7E652861-F93F-1793-15C0-079C7FD340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412876"/>
            <a:ext cx="8229600" cy="4608513"/>
          </a:xfrm>
        </p:spPr>
        <p:txBody>
          <a:bodyPr/>
          <a:lstStyle/>
          <a:p>
            <a:pPr marL="0" indent="357188" algn="just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Sempre é possível que um programa principal chame uma função que por sua vez chame outra função e assim sucessivamente. Quando isto acontece dizemos que a função chamadora tem hierarquia maior (ou superior) a função chamada. Ou que a função chamadora está em um nível hierárquico superior a função chamada.</a:t>
            </a:r>
          </a:p>
          <a:p>
            <a:pPr marL="822325" lvl="1" algn="just" eaLnBrk="1" hangingPunct="1"/>
            <a:r>
              <a:rPr lang="pt-BR" altLang="zh-CN" sz="1800">
                <a:effectLst/>
                <a:ea typeface="SimSun" panose="02010600030101010101" pitchFamily="2" charset="-122"/>
              </a:rPr>
              <a:t>Exemplo </a:t>
            </a:r>
            <a:r>
              <a:rPr lang="pt-BR" altLang="zh-CN" sz="1800">
                <a:effectLst/>
                <a:ea typeface="SimSun" panose="02010600030101010101" pitchFamily="2" charset="-122"/>
                <a:hlinkClick r:id="rId3" action="ppaction://hlinkfile"/>
              </a:rPr>
              <a:t>funcao1_media</a:t>
            </a:r>
            <a:endParaRPr lang="pt-BR" altLang="zh-CN" sz="1800">
              <a:effectLst/>
              <a:ea typeface="SimSun" panose="02010600030101010101" pitchFamily="2" charset="-122"/>
            </a:endParaRPr>
          </a:p>
          <a:p>
            <a:pPr marL="0" indent="357188" algn="just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Quando isto ocorre, devemos ter o cuidado de definir (ou incluir) as funções em ordem crescente de hierarquia, isto é, uma função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chamada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é escrita antes de uma função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chamadora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. Isto se deve ao fato de que o compilador deve conhecer uma função antes de que chamada seja compilada.</a:t>
            </a: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F545FC20-FCEB-930C-F09E-160132BD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37784C6-AA16-4A9E-BD74-6D34CC931365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19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A38F96EA-13A1-848A-45A8-CFD01EDDBB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5.2 – Variáveis Locais e Globais</a:t>
            </a:r>
            <a:endParaRPr lang="pt-BR" altLang="pt-BR" sz="3000" dirty="0"/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A523171F-6A8A-521A-9F23-DF2C0051A9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412876"/>
            <a:ext cx="8229600" cy="4608513"/>
          </a:xfrm>
        </p:spPr>
        <p:txBody>
          <a:bodyPr/>
          <a:lstStyle/>
          <a:p>
            <a:pPr marL="0" indent="357188" algn="l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Em C, uma variável só pode ser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usada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após ser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declarada.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Isto por que o processador deve reservar um local da memória para armazenar os valores atribuídos à variável. </a:t>
            </a:r>
          </a:p>
          <a:p>
            <a:pPr marL="0" indent="357188" algn="l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Porém o local, do programa, onde uma variável é declarada define ainda seu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escopo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de validade.</a:t>
            </a:r>
          </a:p>
          <a:p>
            <a:pPr marL="0" indent="357188" algn="just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 Uma variável pode ser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local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,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global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ou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formal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de acordo com o local de declaração.</a:t>
            </a:r>
            <a:r>
              <a:rPr lang="pt-BR" altLang="zh-CN">
                <a:effectLst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9757857F-65AA-E6D1-4177-6E7E992C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EAD4ED7-94B6-4E13-BF2C-FB33BE9AB0FB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20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Estrela: 5 Pontas 1">
            <a:extLst>
              <a:ext uri="{FF2B5EF4-FFF2-40B4-BE49-F238E27FC236}">
                <a16:creationId xmlns:a16="http://schemas.microsoft.com/office/drawing/2014/main" id="{D1685286-EDFA-0D41-F196-85CF7ECAA202}"/>
              </a:ext>
            </a:extLst>
          </p:cNvPr>
          <p:cNvSpPr/>
          <p:nvPr/>
        </p:nvSpPr>
        <p:spPr bwMode="auto">
          <a:xfrm>
            <a:off x="5951984" y="3861048"/>
            <a:ext cx="1656184" cy="958691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>
            <a:extLst>
              <a:ext uri="{FF2B5EF4-FFF2-40B4-BE49-F238E27FC236}">
                <a16:creationId xmlns:a16="http://schemas.microsoft.com/office/drawing/2014/main" id="{B17900AA-6C64-2273-1929-0C8E801269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5.2 – Variáveis Locais e Globais</a:t>
            </a:r>
            <a:endParaRPr lang="pt-BR" altLang="pt-BR" sz="3000" dirty="0"/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8330EBA0-5551-C7E9-7CC3-DAF923D6AD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412876"/>
            <a:ext cx="8229600" cy="4608513"/>
          </a:xfrm>
        </p:spPr>
        <p:txBody>
          <a:bodyPr/>
          <a:lstStyle/>
          <a:p>
            <a:pPr marL="0" indent="357188" eaLnBrk="1" hangingPunct="1"/>
            <a:r>
              <a:rPr lang="pt-BR" altLang="zh-CN" b="1">
                <a:effectLst/>
                <a:ea typeface="SimSun" panose="02010600030101010101" pitchFamily="2" charset="-122"/>
              </a:rPr>
              <a:t>Variáveis Locais: </a:t>
            </a:r>
          </a:p>
          <a:p>
            <a:pPr marL="0" indent="357188" algn="just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Uma variável é dita </a:t>
            </a:r>
            <a:r>
              <a:rPr lang="pt-BR" altLang="zh-CN" sz="2000" i="1">
                <a:effectLst/>
                <a:ea typeface="SimSun" panose="02010600030101010101" pitchFamily="2" charset="-122"/>
              </a:rPr>
              <a:t>local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, se for declarada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dentro do bloco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de uma função. </a:t>
            </a:r>
          </a:p>
          <a:p>
            <a:pPr marL="0" indent="357188" algn="just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Uma variável local tem validade apenas dentro do bloco onde é declarada. Isto significa que podem ser apenas acessadas e modificadas dentro de um bloco. </a:t>
            </a:r>
          </a:p>
          <a:p>
            <a:pPr marL="0" indent="357188" algn="just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O espaço de memória alocado para esta variável é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criado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quando a execução do bloco é iniciada e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destruído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quando encerrado. </a:t>
            </a:r>
          </a:p>
          <a:p>
            <a:pPr marL="0" indent="357188" algn="just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Assim, variáveis de mesmo nome, mas declaradas em blocos distintos, são para todos os efeitos, variáveis distintas.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3EE5590-81F0-EF63-B10A-E069C2C9B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B8B900C-AF2C-4581-99AA-BB034DCA9761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21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>
            <a:extLst>
              <a:ext uri="{FF2B5EF4-FFF2-40B4-BE49-F238E27FC236}">
                <a16:creationId xmlns:a16="http://schemas.microsoft.com/office/drawing/2014/main" id="{58183B99-FB7E-4715-0D7E-13DA3B347D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5.2 – Variáveis Locais e Globais</a:t>
            </a:r>
            <a:endParaRPr lang="pt-BR" altLang="pt-BR" sz="3000" dirty="0"/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7C7F8CF5-4EEA-C6A7-9661-15EF69B62E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412876"/>
            <a:ext cx="8229600" cy="4608513"/>
          </a:xfrm>
        </p:spPr>
        <p:txBody>
          <a:bodyPr/>
          <a:lstStyle/>
          <a:p>
            <a:pPr marL="0" indent="357188" eaLnBrk="1" hangingPunct="1">
              <a:lnSpc>
                <a:spcPct val="90000"/>
              </a:lnSpc>
            </a:pPr>
            <a:r>
              <a:rPr lang="pt-BR" altLang="zh-CN" b="1">
                <a:effectLst/>
                <a:ea typeface="SimSun" panose="02010600030101010101" pitchFamily="2" charset="-122"/>
              </a:rPr>
              <a:t>Variáveis Locais: </a:t>
            </a:r>
          </a:p>
          <a:p>
            <a:pPr marL="0" indent="357188" algn="l"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pt-BR" altLang="zh-CN" b="1">
                <a:effectLst/>
                <a:ea typeface="SimSun" panose="02010600030101010101" pitchFamily="2" charset="-122"/>
              </a:rPr>
              <a:t>Exemplo:</a:t>
            </a:r>
            <a:r>
              <a:rPr lang="pt-BR" altLang="zh-CN" sz="2800">
                <a:effectLst/>
                <a:ea typeface="SimSun" panose="02010600030101010101" pitchFamily="2" charset="-122"/>
              </a:rPr>
              <a:t> </a:t>
            </a:r>
          </a:p>
          <a:p>
            <a:pPr marL="0" indent="357188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zh-CN" sz="2000">
                <a:effectLst/>
                <a:ea typeface="SimSun" panose="02010600030101010101" pitchFamily="2" charset="-122"/>
              </a:rPr>
              <a:t>float media2(float a, float b){</a:t>
            </a:r>
          </a:p>
          <a:p>
            <a:pPr marL="0" indent="357188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zh-CN" sz="2000">
                <a:effectLst/>
                <a:ea typeface="SimSun" panose="02010600030101010101" pitchFamily="2" charset="-122"/>
              </a:rPr>
              <a:t>	  float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med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;</a:t>
            </a:r>
          </a:p>
          <a:p>
            <a:pPr marL="0" indent="357188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zh-CN" sz="2000">
                <a:effectLst/>
                <a:ea typeface="SimSun" panose="02010600030101010101" pitchFamily="2" charset="-122"/>
              </a:rPr>
              <a:t>	  med = (a + b) / 2.0;</a:t>
            </a:r>
          </a:p>
          <a:p>
            <a:pPr marL="0" indent="357188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zh-CN" sz="2000">
                <a:effectLst/>
                <a:ea typeface="SimSun" panose="02010600030101010101" pitchFamily="2" charset="-122"/>
              </a:rPr>
              <a:t>	  return(med);</a:t>
            </a:r>
          </a:p>
          <a:p>
            <a:pPr marL="0" indent="357188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zh-CN" sz="2000">
                <a:effectLst/>
                <a:ea typeface="SimSun" panose="02010600030101010101" pitchFamily="2" charset="-122"/>
              </a:rPr>
              <a:t>	}</a:t>
            </a:r>
          </a:p>
          <a:p>
            <a:pPr marL="0" indent="357188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zh-CN" sz="2000">
                <a:effectLst/>
                <a:ea typeface="SimSun" panose="02010600030101010101" pitchFamily="2" charset="-122"/>
              </a:rPr>
              <a:t>void main(){   </a:t>
            </a:r>
          </a:p>
          <a:p>
            <a:pPr marL="0" indent="357188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zh-CN" sz="2000">
                <a:effectLst/>
                <a:ea typeface="SimSun" panose="02010600030101010101" pitchFamily="2" charset="-122"/>
              </a:rPr>
              <a:t>  	  float num_1, num_2,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med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;</a:t>
            </a:r>
          </a:p>
          <a:p>
            <a:pPr marL="0" indent="357188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zh-CN" sz="2000">
                <a:effectLst/>
                <a:ea typeface="SimSun" panose="02010600030101010101" pitchFamily="2" charset="-122"/>
              </a:rPr>
              <a:t>  	  puts(”Digite dois números:”);</a:t>
            </a:r>
          </a:p>
          <a:p>
            <a:pPr marL="0" indent="357188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zh-CN" sz="2000">
                <a:effectLst/>
                <a:ea typeface="SimSun" panose="02010600030101010101" pitchFamily="2" charset="-122"/>
              </a:rPr>
              <a:t>  	  scanf(”%f %f”, &amp;num_1, &amp;num_2);</a:t>
            </a:r>
          </a:p>
          <a:p>
            <a:pPr marL="0" indent="357188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zh-CN" sz="2000">
                <a:effectLst/>
                <a:ea typeface="SimSun" panose="02010600030101010101" pitchFamily="2" charset="-122"/>
              </a:rPr>
              <a:t>        med = media2(num_1, num_2); </a:t>
            </a:r>
          </a:p>
          <a:p>
            <a:pPr marL="0" indent="357188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zh-CN" sz="2000">
                <a:effectLst/>
                <a:ea typeface="SimSun" panose="02010600030101010101" pitchFamily="2" charset="-122"/>
              </a:rPr>
              <a:t>  	  printf(”\nA media destes números e´ %f”, med);</a:t>
            </a:r>
          </a:p>
          <a:p>
            <a:pPr marL="0" indent="357188"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zh-CN" sz="2000">
                <a:effectLst/>
                <a:ea typeface="SimSun" panose="02010600030101010101" pitchFamily="2" charset="-122"/>
              </a:rPr>
              <a:t>} </a:t>
            </a:r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CDC2F96A-F1F6-0BF6-F632-12EED9069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7209BE8-A40D-4AD3-8A53-E08981B3D061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22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70820" name="Text Box 4">
            <a:extLst>
              <a:ext uri="{FF2B5EF4-FFF2-40B4-BE49-F238E27FC236}">
                <a16:creationId xmlns:a16="http://schemas.microsoft.com/office/drawing/2014/main" id="{6A0BBE2D-6080-DE46-8597-59C1C629C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1" y="2133601"/>
            <a:ext cx="4448175" cy="1978025"/>
          </a:xfrm>
          <a:prstGeom prst="rect">
            <a:avLst/>
          </a:prstGeom>
          <a:solidFill>
            <a:srgbClr val="A4A4D0"/>
          </a:solidFill>
          <a:ln w="57150" cmpd="thinThick" algn="ctr">
            <a:solidFill>
              <a:srgbClr val="A5002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defRPr/>
            </a:pPr>
            <a:r>
              <a:rPr lang="pt-BR" altLang="zh-CN" sz="2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No exemplo, </a:t>
            </a:r>
            <a:r>
              <a:rPr lang="pt-BR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med</a:t>
            </a:r>
            <a:r>
              <a:rPr lang="pt-BR" altLang="zh-CN" sz="2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 é uma </a:t>
            </a:r>
            <a:r>
              <a:rPr lang="pt-BR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variável local</a:t>
            </a:r>
            <a:r>
              <a:rPr lang="pt-BR" altLang="zh-CN" sz="2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 definida pela função media(). Outra variável </a:t>
            </a:r>
            <a:r>
              <a:rPr lang="pt-BR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med</a:t>
            </a:r>
            <a:r>
              <a:rPr lang="pt-BR" altLang="zh-CN" sz="2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 é também definida pela função main(). Para todos os efeitos estas variáveis são distintas.</a:t>
            </a:r>
            <a:r>
              <a:rPr lang="pt-BR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 </a:t>
            </a:r>
            <a:endParaRPr lang="pt-BR" altLang="pt-BR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570822" name="Freeform 6">
            <a:extLst>
              <a:ext uri="{FF2B5EF4-FFF2-40B4-BE49-F238E27FC236}">
                <a16:creationId xmlns:a16="http://schemas.microsoft.com/office/drawing/2014/main" id="{74A807C3-54D1-CFDC-09DE-3FFF5E5A6FE2}"/>
              </a:ext>
            </a:extLst>
          </p:cNvPr>
          <p:cNvSpPr>
            <a:spLocks/>
          </p:cNvSpPr>
          <p:nvPr/>
        </p:nvSpPr>
        <p:spPr bwMode="auto">
          <a:xfrm>
            <a:off x="4151313" y="1820864"/>
            <a:ext cx="3744912" cy="369332"/>
          </a:xfrm>
          <a:custGeom>
            <a:avLst/>
            <a:gdLst>
              <a:gd name="T0" fmla="*/ 2359 w 2359"/>
              <a:gd name="T1" fmla="*/ 242 h 605"/>
              <a:gd name="T2" fmla="*/ 1497 w 2359"/>
              <a:gd name="T3" fmla="*/ 60 h 605"/>
              <a:gd name="T4" fmla="*/ 0 w 2359"/>
              <a:gd name="T5" fmla="*/ 605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59" h="605">
                <a:moveTo>
                  <a:pt x="2359" y="242"/>
                </a:moveTo>
                <a:cubicBezTo>
                  <a:pt x="2124" y="121"/>
                  <a:pt x="1890" y="0"/>
                  <a:pt x="1497" y="60"/>
                </a:cubicBezTo>
                <a:cubicBezTo>
                  <a:pt x="1104" y="120"/>
                  <a:pt x="552" y="362"/>
                  <a:pt x="0" y="605"/>
                </a:cubicBezTo>
              </a:path>
            </a:pathLst>
          </a:custGeom>
          <a:noFill/>
          <a:ln w="28575" cap="flat" cmpd="sng">
            <a:solidFill>
              <a:schemeClr val="bg2"/>
            </a:solidFill>
            <a:prstDash val="solid"/>
            <a:round/>
            <a:headEnd type="oval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70823" name="Freeform 7">
            <a:extLst>
              <a:ext uri="{FF2B5EF4-FFF2-40B4-BE49-F238E27FC236}">
                <a16:creationId xmlns:a16="http://schemas.microsoft.com/office/drawing/2014/main" id="{CF7E9CAE-2A86-2EB1-4EC6-C6451E005445}"/>
              </a:ext>
            </a:extLst>
          </p:cNvPr>
          <p:cNvSpPr>
            <a:spLocks/>
          </p:cNvSpPr>
          <p:nvPr/>
        </p:nvSpPr>
        <p:spPr bwMode="auto">
          <a:xfrm>
            <a:off x="6311900" y="3113088"/>
            <a:ext cx="2089150" cy="369332"/>
          </a:xfrm>
          <a:custGeom>
            <a:avLst/>
            <a:gdLst>
              <a:gd name="T0" fmla="*/ 1316 w 1316"/>
              <a:gd name="T1" fmla="*/ 0 h 907"/>
              <a:gd name="T2" fmla="*/ 907 w 1316"/>
              <a:gd name="T3" fmla="*/ 771 h 907"/>
              <a:gd name="T4" fmla="*/ 0 w 1316"/>
              <a:gd name="T5" fmla="*/ 817 h 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16" h="907">
                <a:moveTo>
                  <a:pt x="1316" y="0"/>
                </a:moveTo>
                <a:cubicBezTo>
                  <a:pt x="1221" y="317"/>
                  <a:pt x="1126" y="635"/>
                  <a:pt x="907" y="771"/>
                </a:cubicBezTo>
                <a:cubicBezTo>
                  <a:pt x="688" y="907"/>
                  <a:pt x="344" y="862"/>
                  <a:pt x="0" y="817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oval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57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570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08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>
            <a:extLst>
              <a:ext uri="{FF2B5EF4-FFF2-40B4-BE49-F238E27FC236}">
                <a16:creationId xmlns:a16="http://schemas.microsoft.com/office/drawing/2014/main" id="{DA6D99E4-4178-0C7B-7C22-971152898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/>
              <a:t>5.2 – Variáveis Locais e Globais</a:t>
            </a:r>
            <a:endParaRPr lang="pt-BR" altLang="pt-BR" sz="3000"/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A7147C07-7CBD-C866-86C1-6CEE196DC8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412876"/>
            <a:ext cx="8229600" cy="4608513"/>
          </a:xfrm>
        </p:spPr>
        <p:txBody>
          <a:bodyPr/>
          <a:lstStyle/>
          <a:p>
            <a:pPr marL="0" indent="357188" eaLnBrk="1" hangingPunct="1"/>
            <a:r>
              <a:rPr lang="pt-BR" altLang="zh-CN" b="1">
                <a:effectLst/>
                <a:ea typeface="SimSun" panose="02010600030101010101" pitchFamily="2" charset="-122"/>
              </a:rPr>
              <a:t>Variáveis Formais:</a:t>
            </a:r>
          </a:p>
          <a:p>
            <a:pPr marL="0" indent="357188" algn="just" eaLnBrk="1" hangingPunct="1">
              <a:buFont typeface="Wingdings" panose="05000000000000000000" pitchFamily="2" charset="2"/>
              <a:buChar char="n"/>
            </a:pPr>
            <a:r>
              <a:rPr lang="pt-BR" altLang="zh-CN" b="1">
                <a:effectLst/>
                <a:ea typeface="SimSun" panose="02010600030101010101" pitchFamily="2" charset="-122"/>
              </a:rPr>
              <a:t> 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Uma  </a:t>
            </a:r>
            <a:r>
              <a:rPr lang="pt-BR" altLang="zh-CN" sz="2000" i="1">
                <a:effectLst/>
                <a:ea typeface="SimSun" panose="02010600030101010101" pitchFamily="2" charset="-122"/>
              </a:rPr>
              <a:t>variável formal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é uma variável local declarada na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lista de parâmetros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de uma função. Deste modo, tem validade apenas dentro da função onde é declarada, porém serve de suporte para os valores passados pelas funções. As variáveis formais na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declaração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da função e na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chamada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da função podem ter nomes distintos. A única exigência é de que sejam do mesmo tipo.  </a:t>
            </a:r>
          </a:p>
          <a:p>
            <a:pPr marL="0" indent="357188" algn="just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Por serem variáveis locais, os valores que uma função passa para outra não são alterados pela função chamada. Este tipo de passagem de argumentos é chamado de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passagem por valor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pois os valores das variáveis do programa chamador são copiados para as correspondentes variáveis da função chamada. 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BC77B424-20A4-BF3A-9821-77C97A947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06A7CDA-5F85-4B79-AC96-C136A65AF2F5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23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>
            <a:extLst>
              <a:ext uri="{FF2B5EF4-FFF2-40B4-BE49-F238E27FC236}">
                <a16:creationId xmlns:a16="http://schemas.microsoft.com/office/drawing/2014/main" id="{B2D41159-FD5B-E62B-FAEA-FB59FA1A52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5.2 – Variáveis Locais e Globais</a:t>
            </a:r>
            <a:endParaRPr lang="pt-BR" altLang="pt-BR" sz="3000" dirty="0"/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2B0B17EA-BDF1-D707-A2E1-2CC24E0B15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412876"/>
            <a:ext cx="8229600" cy="4608513"/>
          </a:xfrm>
        </p:spPr>
        <p:txBody>
          <a:bodyPr/>
          <a:lstStyle/>
          <a:p>
            <a:pPr marL="0" indent="357188" eaLnBrk="1" hangingPunct="1"/>
            <a:r>
              <a:rPr lang="pt-BR" altLang="zh-CN" b="1">
                <a:effectLst/>
                <a:ea typeface="SimSun" panose="02010600030101010101" pitchFamily="2" charset="-122"/>
              </a:rPr>
              <a:t>Variáveis Formais:</a:t>
            </a:r>
          </a:p>
          <a:p>
            <a:pPr marL="0" indent="357188" algn="just" eaLnBrk="1" hangingPunct="1">
              <a:buFont typeface="Wingdings" panose="05000000000000000000" pitchFamily="2" charset="2"/>
              <a:buChar char="n"/>
            </a:pPr>
            <a:r>
              <a:rPr lang="pt-BR" altLang="zh-CN">
                <a:effectLst/>
                <a:ea typeface="SimSun" panose="02010600030101010101" pitchFamily="2" charset="-122"/>
              </a:rPr>
              <a:t>No exemplo, </a:t>
            </a:r>
            <a:r>
              <a:rPr lang="pt-BR" altLang="zh-CN" b="1">
                <a:effectLst/>
                <a:ea typeface="SimSun" panose="02010600030101010101" pitchFamily="2" charset="-122"/>
              </a:rPr>
              <a:t>a</a:t>
            </a:r>
            <a:r>
              <a:rPr lang="pt-BR" altLang="zh-CN">
                <a:effectLst/>
                <a:ea typeface="SimSun" panose="02010600030101010101" pitchFamily="2" charset="-122"/>
              </a:rPr>
              <a:t> e </a:t>
            </a:r>
            <a:r>
              <a:rPr lang="pt-BR" altLang="zh-CN" b="1">
                <a:effectLst/>
                <a:ea typeface="SimSun" panose="02010600030101010101" pitchFamily="2" charset="-122"/>
              </a:rPr>
              <a:t>b</a:t>
            </a:r>
            <a:r>
              <a:rPr lang="pt-BR" altLang="zh-CN">
                <a:effectLst/>
                <a:ea typeface="SimSun" panose="02010600030101010101" pitchFamily="2" charset="-122"/>
              </a:rPr>
              <a:t> são parâmetros formais declarados na função media2(). Observe que a função é chamada com os valores de  num_1 e num_2. Mesmo que os valores de a e b fossem alterados os valores de num_1 e num_2 não seriam alterados. </a:t>
            </a: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62685BD9-0346-EF4B-A86C-656529A7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9DEC60E-B9AB-4A41-8FAB-193C5BFC6DF5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24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205" name="Text Box 4">
            <a:extLst>
              <a:ext uri="{FF2B5EF4-FFF2-40B4-BE49-F238E27FC236}">
                <a16:creationId xmlns:a16="http://schemas.microsoft.com/office/drawing/2014/main" id="{CC251775-AECB-C6F7-C726-D77CF1582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314" y="2924175"/>
            <a:ext cx="5400675" cy="3937000"/>
          </a:xfrm>
          <a:prstGeom prst="rect">
            <a:avLst/>
          </a:prstGeom>
          <a:solidFill>
            <a:srgbClr val="A4A4D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float x;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float media2(float </a:t>
            </a:r>
            <a:r>
              <a:rPr lang="pt-BR" altLang="pt-BR" b="1"/>
              <a:t>a</a:t>
            </a:r>
            <a:r>
              <a:rPr lang="pt-BR" altLang="pt-BR"/>
              <a:t>, float </a:t>
            </a:r>
            <a:r>
              <a:rPr lang="pt-BR" altLang="pt-BR" b="1"/>
              <a:t>b</a:t>
            </a:r>
            <a:r>
              <a:rPr lang="pt-BR" altLang="pt-BR"/>
              <a:t>){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	  float med;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	  med = (a + b) / 2.0;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	  return(med);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	}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void main(){   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  	  float </a:t>
            </a:r>
            <a:r>
              <a:rPr lang="pt-BR" altLang="pt-BR" b="1"/>
              <a:t>num_1</a:t>
            </a:r>
            <a:r>
              <a:rPr lang="pt-BR" altLang="pt-BR"/>
              <a:t>, </a:t>
            </a:r>
            <a:r>
              <a:rPr lang="pt-BR" altLang="pt-BR" b="1"/>
              <a:t>num_2</a:t>
            </a:r>
            <a:r>
              <a:rPr lang="pt-BR" altLang="pt-BR"/>
              <a:t>, med;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  	  puts(”Digite dois números:”);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  	  scanf(”%f %f”, &amp;num_1, &amp;num_2);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        med = media2(num_1, num_2); </a:t>
            </a: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  	  printf(”\nA media destes números e´ %f”, med);</a:t>
            </a:r>
            <a:endParaRPr lang="pt-BR" altLang="zh-CN">
              <a:ea typeface="SimSun" panose="02010600030101010101" pitchFamily="2" charset="-122"/>
            </a:endParaRP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>
                <a:ea typeface="SimSun" panose="02010600030101010101" pitchFamily="2" charset="-122"/>
              </a:rPr>
              <a:t>} </a:t>
            </a:r>
            <a:endParaRPr lang="pt-BR" altLang="pt-B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>
            <a:extLst>
              <a:ext uri="{FF2B5EF4-FFF2-40B4-BE49-F238E27FC236}">
                <a16:creationId xmlns:a16="http://schemas.microsoft.com/office/drawing/2014/main" id="{9044AEEA-8931-6884-5D97-F2B7854234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5.2 – Variáveis Locais e Globais</a:t>
            </a:r>
            <a:endParaRPr lang="pt-BR" altLang="pt-BR" sz="3000" dirty="0"/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D7238386-7C80-D269-3A80-1A2C61E15E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412876"/>
            <a:ext cx="8229600" cy="4608513"/>
          </a:xfrm>
        </p:spPr>
        <p:txBody>
          <a:bodyPr/>
          <a:lstStyle/>
          <a:p>
            <a:pPr marL="0" indent="357188" eaLnBrk="1" hangingPunct="1"/>
            <a:r>
              <a:rPr lang="pt-BR" altLang="zh-CN" b="1">
                <a:effectLst/>
                <a:ea typeface="SimSun" panose="02010600030101010101" pitchFamily="2" charset="-122"/>
              </a:rPr>
              <a:t>Variáveis Globais </a:t>
            </a:r>
          </a:p>
          <a:p>
            <a:pPr marL="0" indent="357188" algn="just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Uma variável é dita </a:t>
            </a:r>
            <a:r>
              <a:rPr lang="pt-BR" altLang="zh-CN" sz="2000" i="1">
                <a:effectLst/>
                <a:ea typeface="SimSun" panose="02010600030101010101" pitchFamily="2" charset="-122"/>
              </a:rPr>
              <a:t>global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se for declarada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fora do bloco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de uma função. </a:t>
            </a:r>
          </a:p>
          <a:p>
            <a:pPr marL="0" indent="357188" algn="just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Uma variável global tem validade no escopo de todas as funções, isto é,  pode ser acessadas e modificada por qualquer função.</a:t>
            </a:r>
          </a:p>
          <a:p>
            <a:pPr marL="0" indent="357188" algn="just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 O espaço de memória alocado para esta variável é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criado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no momento de sua declaração e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destruído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apenas quando o programa é encerrado. 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FE0B9617-7CC5-8C09-AA2F-12971321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AD2049B-303B-4913-BD74-5A5353D13F84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25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>
            <a:extLst>
              <a:ext uri="{FF2B5EF4-FFF2-40B4-BE49-F238E27FC236}">
                <a16:creationId xmlns:a16="http://schemas.microsoft.com/office/drawing/2014/main" id="{01567016-9969-171E-FAFA-E9A60DF9C6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5.2 – Variáveis Locais e Globais</a:t>
            </a:r>
            <a:endParaRPr lang="pt-BR" altLang="pt-BR" sz="3000" dirty="0"/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CC147C0B-DD94-B5CE-F01F-B26654F83D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412876"/>
            <a:ext cx="8229600" cy="4608513"/>
          </a:xfrm>
        </p:spPr>
        <p:txBody>
          <a:bodyPr>
            <a:normAutofit lnSpcReduction="10000"/>
          </a:bodyPr>
          <a:lstStyle/>
          <a:p>
            <a:pPr marL="0" indent="357188" eaLnBrk="1" hangingPunct="1"/>
            <a:r>
              <a:rPr lang="pt-BR" altLang="zh-CN" b="1">
                <a:effectLst/>
                <a:ea typeface="SimSun" panose="02010600030101010101" pitchFamily="2" charset="-122"/>
              </a:rPr>
              <a:t>Variáveis Globais </a:t>
            </a:r>
          </a:p>
          <a:p>
            <a:pPr marL="0" indent="357188" algn="l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pt-BR" altLang="zh-CN" b="1">
                <a:effectLst/>
                <a:ea typeface="SimSun" panose="02010600030101010101" pitchFamily="2" charset="-122"/>
              </a:rPr>
              <a:t>Exemplo:</a:t>
            </a:r>
            <a:endParaRPr lang="pt-BR" altLang="zh-CN">
              <a:effectLst/>
              <a:ea typeface="SimSun" panose="02010600030101010101" pitchFamily="2" charset="-122"/>
            </a:endParaRPr>
          </a:p>
          <a:p>
            <a:pPr marL="0" indent="357188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zh-CN">
                <a:effectLst/>
                <a:ea typeface="SimSun" panose="02010600030101010101" pitchFamily="2" charset="-122"/>
              </a:rPr>
              <a:t>float a, b, med;</a:t>
            </a:r>
          </a:p>
          <a:p>
            <a:pPr marL="0" indent="357188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zh-CN">
                <a:effectLst/>
                <a:ea typeface="SimSun" panose="02010600030101010101" pitchFamily="2" charset="-122"/>
              </a:rPr>
              <a:t>void media2(void){</a:t>
            </a:r>
          </a:p>
          <a:p>
            <a:pPr marL="0" indent="357188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zh-CN">
                <a:effectLst/>
                <a:ea typeface="SimSun" panose="02010600030101010101" pitchFamily="2" charset="-122"/>
              </a:rPr>
              <a:t>	med = (a + b) / 2.0;</a:t>
            </a:r>
          </a:p>
          <a:p>
            <a:pPr marL="0" indent="357188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zh-CN">
                <a:effectLst/>
                <a:ea typeface="SimSun" panose="02010600030101010101" pitchFamily="2" charset="-122"/>
              </a:rPr>
              <a:t>	}</a:t>
            </a:r>
          </a:p>
          <a:p>
            <a:pPr marL="0" indent="357188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zh-CN">
                <a:effectLst/>
                <a:ea typeface="SimSun" panose="02010600030101010101" pitchFamily="2" charset="-122"/>
              </a:rPr>
              <a:t>void main(){   </a:t>
            </a:r>
          </a:p>
          <a:p>
            <a:pPr marL="0" indent="357188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zh-CN">
                <a:effectLst/>
                <a:ea typeface="SimSun" panose="02010600030101010101" pitchFamily="2" charset="-122"/>
              </a:rPr>
              <a:t>  	  puts(”Digite dois números:”);</a:t>
            </a:r>
          </a:p>
          <a:p>
            <a:pPr marL="0" indent="357188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zh-CN">
                <a:effectLst/>
                <a:ea typeface="SimSun" panose="02010600030101010101" pitchFamily="2" charset="-122"/>
              </a:rPr>
              <a:t>  	  scanf(”%f %f”, &amp;a, &amp;b);</a:t>
            </a:r>
          </a:p>
          <a:p>
            <a:pPr marL="0" indent="357188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zh-CN">
                <a:effectLst/>
                <a:ea typeface="SimSun" panose="02010600030101010101" pitchFamily="2" charset="-122"/>
              </a:rPr>
              <a:t>          media2(); </a:t>
            </a:r>
          </a:p>
          <a:p>
            <a:pPr marL="0" indent="357188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zh-CN">
                <a:effectLst/>
                <a:ea typeface="SimSun" panose="02010600030101010101" pitchFamily="2" charset="-122"/>
              </a:rPr>
              <a:t>  	  printf(”\nA media destes números e´ %f”, med);</a:t>
            </a:r>
          </a:p>
          <a:p>
            <a:pPr marL="0" indent="357188" algn="l" eaLnBrk="1" hangingPunct="1">
              <a:spcBef>
                <a:spcPct val="0"/>
              </a:spcBef>
              <a:spcAft>
                <a:spcPct val="0"/>
              </a:spcAft>
            </a:pPr>
            <a:r>
              <a:rPr lang="pt-BR" altLang="zh-CN">
                <a:effectLst/>
                <a:ea typeface="SimSun" panose="02010600030101010101" pitchFamily="2" charset="-122"/>
              </a:rPr>
              <a:t>} </a:t>
            </a:r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66A2CD85-BB0A-22CF-72C2-03244E76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E18E854-FB71-4BDD-8F69-2EC3046BBDC1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26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80036" name="Text Box 4">
            <a:extLst>
              <a:ext uri="{FF2B5EF4-FFF2-40B4-BE49-F238E27FC236}">
                <a16:creationId xmlns:a16="http://schemas.microsoft.com/office/drawing/2014/main" id="{033EB3FE-25FB-41E7-8EC7-8528FEA11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1" y="4941888"/>
            <a:ext cx="7559675" cy="1522412"/>
          </a:xfrm>
          <a:prstGeom prst="rect">
            <a:avLst/>
          </a:prstGeom>
          <a:solidFill>
            <a:srgbClr val="A4A4D0"/>
          </a:solidFill>
          <a:ln w="57150" cmpd="thinThick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defRPr/>
            </a:pPr>
            <a:r>
              <a:rPr lang="pt-BR" altLang="zh-CN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No exemplo, </a:t>
            </a:r>
            <a:r>
              <a:rPr lang="pt-BR" altLang="zh-CN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a, b, </a:t>
            </a:r>
            <a:r>
              <a:rPr lang="pt-BR" altLang="zh-CN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med</a:t>
            </a:r>
            <a:r>
              <a:rPr lang="pt-BR" altLang="zh-CN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 são variáveis globais definidas </a:t>
            </a:r>
            <a:r>
              <a:rPr lang="pt-BR" altLang="zh-CN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fora</a:t>
            </a:r>
            <a:r>
              <a:rPr lang="pt-BR" altLang="zh-CN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 dos blocos das funções media() e </a:t>
            </a:r>
            <a:r>
              <a:rPr lang="pt-BR" altLang="zh-CN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main</a:t>
            </a:r>
            <a:r>
              <a:rPr lang="pt-BR" altLang="zh-CN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SimSun" panose="02010600030101010101" pitchFamily="2" charset="-122"/>
              </a:rPr>
              <a:t>(). Deste modo ambas as funções tem pleno acesso as variáveis, podendo ser acessadas e modificadas por quaisquer uma das funções. Assim não é necessário a passagem de parâmetros para a função.</a:t>
            </a:r>
            <a:endParaRPr lang="pt-BR" altLang="pt-BR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580037" name="Freeform 5">
            <a:extLst>
              <a:ext uri="{FF2B5EF4-FFF2-40B4-BE49-F238E27FC236}">
                <a16:creationId xmlns:a16="http://schemas.microsoft.com/office/drawing/2014/main" id="{03C3C202-B7D3-A4EE-77EB-E83683AEBC3F}"/>
              </a:ext>
            </a:extLst>
          </p:cNvPr>
          <p:cNvSpPr>
            <a:spLocks/>
          </p:cNvSpPr>
          <p:nvPr/>
        </p:nvSpPr>
        <p:spPr bwMode="auto">
          <a:xfrm>
            <a:off x="1774825" y="2276476"/>
            <a:ext cx="2736850" cy="369332"/>
          </a:xfrm>
          <a:custGeom>
            <a:avLst/>
            <a:gdLst>
              <a:gd name="T0" fmla="*/ 1399 w 1399"/>
              <a:gd name="T1" fmla="*/ 1769 h 1769"/>
              <a:gd name="T2" fmla="*/ 174 w 1399"/>
              <a:gd name="T3" fmla="*/ 726 h 1769"/>
              <a:gd name="T4" fmla="*/ 355 w 1399"/>
              <a:gd name="T5" fmla="*/ 0 h 17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99" h="1769">
                <a:moveTo>
                  <a:pt x="1399" y="1769"/>
                </a:moveTo>
                <a:cubicBezTo>
                  <a:pt x="873" y="1395"/>
                  <a:pt x="348" y="1021"/>
                  <a:pt x="174" y="726"/>
                </a:cubicBezTo>
                <a:cubicBezTo>
                  <a:pt x="0" y="431"/>
                  <a:pt x="177" y="215"/>
                  <a:pt x="355" y="0"/>
                </a:cubicBezTo>
              </a:path>
            </a:pathLst>
          </a:custGeom>
          <a:noFill/>
          <a:ln w="28575" cap="flat" cmpd="sng">
            <a:solidFill>
              <a:schemeClr val="bg2"/>
            </a:solidFill>
            <a:prstDash val="solid"/>
            <a:round/>
            <a:headEnd type="oval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80038" name="AutoShape 6">
            <a:extLst>
              <a:ext uri="{FF2B5EF4-FFF2-40B4-BE49-F238E27FC236}">
                <a16:creationId xmlns:a16="http://schemas.microsoft.com/office/drawing/2014/main" id="{8FBF9A8D-4493-7196-EB3F-C22D2120EF6C}"/>
              </a:ext>
            </a:extLst>
          </p:cNvPr>
          <p:cNvSpPr>
            <a:spLocks/>
          </p:cNvSpPr>
          <p:nvPr/>
        </p:nvSpPr>
        <p:spPr bwMode="auto">
          <a:xfrm rot="5400000">
            <a:off x="4490244" y="4817150"/>
            <a:ext cx="71438" cy="419338"/>
          </a:xfrm>
          <a:prstGeom prst="leftBrace">
            <a:avLst>
              <a:gd name="adj1" fmla="val 125925"/>
              <a:gd name="adj2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hangingPunct="1">
              <a:defRPr/>
            </a:pP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8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1580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8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0036" grpId="0" animBg="1"/>
      <p:bldP spid="158003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>
            <a:extLst>
              <a:ext uri="{FF2B5EF4-FFF2-40B4-BE49-F238E27FC236}">
                <a16:creationId xmlns:a16="http://schemas.microsoft.com/office/drawing/2014/main" id="{3AA0D1DE-62A4-7A53-B96D-3F6830872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5.3 – </a:t>
            </a:r>
            <a:r>
              <a:rPr lang="pt-BR" altLang="pt-BR" sz="3000" dirty="0"/>
              <a:t>Passagem de Parâmetros por Valor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598B63E2-5B5D-555F-5D03-69F0C52E06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412876"/>
            <a:ext cx="8229600" cy="4608513"/>
          </a:xfrm>
        </p:spPr>
        <p:txBody>
          <a:bodyPr/>
          <a:lstStyle/>
          <a:p>
            <a:pPr marL="0" indent="357188" algn="l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Quando são definidos parâmetros formais para uma função será preciso passar argumentos como parâmetro para que a função seja ativada. </a:t>
            </a:r>
          </a:p>
          <a:p>
            <a:pPr marL="0" indent="357188" algn="l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Esses argumentos podem ser passados para uma função de duas maneiras: por valor (ou por cópia) ou por referência (ou endereço). </a:t>
            </a:r>
          </a:p>
          <a:p>
            <a:pPr marL="0" indent="357188" algn="l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Nesse curso estudaremos apenas a passagem de parâmetro por valor.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8485D99C-CB36-80F5-1DE8-FE1666C32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9D53D22-DF57-4B1A-B4A0-B1A6D088A7EF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27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>
            <a:extLst>
              <a:ext uri="{FF2B5EF4-FFF2-40B4-BE49-F238E27FC236}">
                <a16:creationId xmlns:a16="http://schemas.microsoft.com/office/drawing/2014/main" id="{B2EBF444-0909-DC6D-5EE5-0D57AC930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5.3 – </a:t>
            </a:r>
            <a:r>
              <a:rPr lang="pt-BR" altLang="pt-BR" sz="3000" dirty="0"/>
              <a:t>Passagem de Parâmetros por Valor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C4752300-1C9D-EE88-53B9-5563B4125C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412876"/>
            <a:ext cx="8229600" cy="4608513"/>
          </a:xfrm>
        </p:spPr>
        <p:txBody>
          <a:bodyPr/>
          <a:lstStyle/>
          <a:p>
            <a:pPr marL="0" indent="357188" algn="l" eaLnBrk="1" hangingPunct="1">
              <a:buFont typeface="Wingdings" panose="05000000000000000000" pitchFamily="2" charset="2"/>
              <a:buChar char="n"/>
            </a:pPr>
            <a:endParaRPr lang="pt-BR" altLang="zh-CN" sz="2000">
              <a:effectLst/>
              <a:ea typeface="SimSun" panose="02010600030101010101" pitchFamily="2" charset="-122"/>
            </a:endParaRPr>
          </a:p>
          <a:p>
            <a:pPr marL="0" indent="357188" algn="l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Em C, essa é a forma padrão (default ) de passagem de parâmetro.</a:t>
            </a:r>
          </a:p>
          <a:p>
            <a:pPr marL="0" indent="357188" algn="l" eaLnBrk="1" hangingPunct="1"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 Ela funciona da seguinte maneira:</a:t>
            </a:r>
          </a:p>
          <a:p>
            <a:pPr marL="822325" lvl="1" eaLnBrk="1" hangingPunct="1"/>
            <a:r>
              <a:rPr lang="pt-BR" altLang="zh-CN" sz="1800">
                <a:effectLst/>
                <a:ea typeface="SimSun" panose="02010600030101010101" pitchFamily="2" charset="-122"/>
              </a:rPr>
              <a:t> quando um parâmetro é passado por valor, o valor do argumento do momento da ativação da função é avaliado e COPIADO para o parâmetro correspondente da lista de parâmetros da função.</a:t>
            </a:r>
          </a:p>
          <a:p>
            <a:pPr marL="822325" lvl="1" eaLnBrk="1" hangingPunct="1"/>
            <a:r>
              <a:rPr lang="pt-BR" altLang="zh-CN" sz="1800">
                <a:effectLst/>
                <a:ea typeface="SimSun" panose="02010600030101010101" pitchFamily="2" charset="-122"/>
              </a:rPr>
              <a:t> Ou seja, o argumento é apenas um valor de entrada para o parâmetro correspondente. </a:t>
            </a:r>
          </a:p>
          <a:p>
            <a:pPr marL="822325" lvl="1" eaLnBrk="1" hangingPunct="1"/>
            <a:r>
              <a:rPr lang="pt-BR" altLang="zh-CN" sz="1800">
                <a:effectLst/>
                <a:ea typeface="SimSun" panose="02010600030101010101" pitchFamily="2" charset="-122"/>
              </a:rPr>
              <a:t>Dessa forma, qualquer alteração feita, dentro da função, no parâmetro não vai afetar o argumento do programa chamador da função. Isto, porque, o que está sendo manipulado dentro da função é uma cópia do argumento.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802B208-89BA-C9A6-1CBD-FEC2C96AA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B0FC13D-9288-4B67-ADDD-5C6C946AB84C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28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970" name="Rectangle 2">
            <a:extLst>
              <a:ext uri="{FF2B5EF4-FFF2-40B4-BE49-F238E27FC236}">
                <a16:creationId xmlns:a16="http://schemas.microsoft.com/office/drawing/2014/main" id="{5D68D855-B886-822D-BDED-AE032A2099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altLang="zh-CN" sz="3000" dirty="0"/>
              <a:t>5.4 – Funções: Regra de Escopo para Variáveis </a:t>
            </a:r>
            <a:endParaRPr lang="pt-BR" altLang="pt-BR" sz="3000" dirty="0"/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C63EED6D-4337-20F2-3B39-B58B815A7B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412876"/>
            <a:ext cx="8229600" cy="4608513"/>
          </a:xfrm>
        </p:spPr>
        <p:txBody>
          <a:bodyPr/>
          <a:lstStyle/>
          <a:p>
            <a:pPr marL="0" indent="357188" algn="l"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As regras que regem onde uma variável é válida chamam-se regras de escopo da variável. Há mais alguns pontos que devem ser ressaltados:</a:t>
            </a:r>
          </a:p>
          <a:p>
            <a:pPr marL="0" indent="357188" algn="just"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A regra de escopo define o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âmbito de validade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 de variáveis. Em outras palavras define onde as variáveis e funções são reconhecidas. </a:t>
            </a:r>
          </a:p>
          <a:p>
            <a:pPr marL="0" indent="357188" algn="just"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Duas variáveis globais não podem ter o mesmo nome. O mesmo vale para duas variáveis locais de uma mesma função. </a:t>
            </a:r>
          </a:p>
          <a:p>
            <a:pPr marL="0" indent="357188" algn="just"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Duas variáveis locais, de funções diferentes, podem ter o mesmo nome sem perigo algum de conflito. Pois sua existência será em blocos diferentes.</a:t>
            </a:r>
          </a:p>
          <a:p>
            <a:pPr marL="0" indent="357188" algn="just"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pt-BR" altLang="zh-CN" sz="2000">
                <a:effectLst/>
                <a:ea typeface="SimSun" panose="02010600030101010101" pitchFamily="2" charset="-122"/>
              </a:rPr>
              <a:t>Se uma função declarar uma variável local com o mesmo nome de uma variável global, esta </a:t>
            </a:r>
            <a:r>
              <a:rPr lang="pt-BR" altLang="zh-CN" sz="2000" b="1">
                <a:effectLst/>
                <a:ea typeface="SimSun" panose="02010600030101010101" pitchFamily="2" charset="-122"/>
              </a:rPr>
              <a:t>variável local ocultará/substituirá aquela global, que não poderá mais ser acessada</a:t>
            </a:r>
            <a:r>
              <a:rPr lang="pt-BR" altLang="zh-CN" sz="2000">
                <a:effectLst/>
                <a:ea typeface="SimSun" panose="02010600030101010101" pitchFamily="2" charset="-122"/>
              </a:rPr>
              <a:t>.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3EE38B5F-31DB-81E9-2768-D47814D40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BDD7827-9EEB-469C-A433-B2E93A52AE36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29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BE60F-5B61-CF02-B6F3-FAAF03B3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sz="3000" dirty="0"/>
              <a:t>Exercícios</a:t>
            </a:r>
          </a:p>
        </p:txBody>
      </p:sp>
      <p:sp>
        <p:nvSpPr>
          <p:cNvPr id="63491" name="Espaço Reservado para Conteúdo 2">
            <a:extLst>
              <a:ext uri="{FF2B5EF4-FFF2-40B4-BE49-F238E27FC236}">
                <a16:creationId xmlns:a16="http://schemas.microsoft.com/office/drawing/2014/main" id="{A596044B-6549-B0E0-ABD9-F860B7E084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56792"/>
            <a:ext cx="10515600" cy="4351338"/>
          </a:xfrm>
        </p:spPr>
        <p:txBody>
          <a:bodyPr/>
          <a:lstStyle/>
          <a:p>
            <a:pPr algn="l">
              <a:buClrTx/>
              <a:buSzPct val="105000"/>
              <a:buFont typeface="Tahoma" panose="020B0604030504040204" pitchFamily="34" charset="0"/>
              <a:buAutoNum type="arabicPeriod"/>
            </a:pPr>
            <a:r>
              <a:rPr lang="pt-BR" altLang="pt-BR" dirty="0">
                <a:effectLst/>
              </a:rPr>
              <a:t>Faça um programa utilizando o conceito de funções antes do programa principal para realizar o cálculo do </a:t>
            </a:r>
            <a:r>
              <a:rPr lang="pt-BR" altLang="pt-BR" b="1" dirty="0">
                <a:effectLst/>
              </a:rPr>
              <a:t>volume do cubo: V=a</a:t>
            </a:r>
            <a:r>
              <a:rPr lang="pt-BR" altLang="pt-BR" b="1" baseline="30000" dirty="0">
                <a:effectLst/>
              </a:rPr>
              <a:t>3</a:t>
            </a:r>
            <a:r>
              <a:rPr lang="pt-BR" altLang="pt-BR" b="1" dirty="0">
                <a:effectLst/>
              </a:rPr>
              <a:t>.</a:t>
            </a:r>
            <a:endParaRPr lang="pt-BR" altLang="pt-BR" dirty="0">
              <a:effectLst/>
            </a:endParaRPr>
          </a:p>
          <a:p>
            <a:pPr algn="l">
              <a:buClrTx/>
              <a:buSzPct val="105000"/>
              <a:buFont typeface="Tahoma" panose="020B0604030504040204" pitchFamily="34" charset="0"/>
              <a:buAutoNum type="arabicPeriod"/>
            </a:pPr>
            <a:r>
              <a:rPr lang="pt-BR" altLang="pt-BR" dirty="0">
                <a:effectLst/>
              </a:rPr>
              <a:t>Faça um programa utilizando o conceito de funções depois do programa principal para realizar o cálculo do </a:t>
            </a:r>
            <a:r>
              <a:rPr lang="pt-BR" altLang="pt-BR" b="1" dirty="0">
                <a:effectLst/>
              </a:rPr>
              <a:t>volume do cubo: V=a</a:t>
            </a:r>
            <a:r>
              <a:rPr lang="pt-BR" altLang="pt-BR" b="1" baseline="30000" dirty="0">
                <a:effectLst/>
              </a:rPr>
              <a:t>3</a:t>
            </a:r>
            <a:r>
              <a:rPr lang="pt-BR" altLang="pt-BR" b="1" dirty="0">
                <a:effectLst/>
              </a:rPr>
              <a:t>.</a:t>
            </a:r>
            <a:endParaRPr lang="pt-BR" altLang="pt-BR" dirty="0">
              <a:effectLst/>
            </a:endParaRPr>
          </a:p>
          <a:p>
            <a:pPr algn="l">
              <a:buClrTx/>
              <a:buSzPct val="105000"/>
              <a:buFont typeface="Tahoma" panose="020B0604030504040204" pitchFamily="34" charset="0"/>
              <a:buAutoNum type="arabicPeriod"/>
            </a:pPr>
            <a:r>
              <a:rPr lang="pt-BR" altLang="pt-BR" b="1" dirty="0">
                <a:effectLst/>
              </a:rPr>
              <a:t> </a:t>
            </a:r>
            <a:r>
              <a:rPr lang="pt-BR" altLang="pt-BR" dirty="0">
                <a:effectLst/>
              </a:rPr>
              <a:t>Faça um programa utilizando o conceito de Corpo da função escrito em arquivo separado para realizar o cálculo do </a:t>
            </a:r>
            <a:r>
              <a:rPr lang="pt-BR" altLang="pt-BR" b="1" dirty="0">
                <a:effectLst/>
              </a:rPr>
              <a:t>volume do cubo: V=a</a:t>
            </a:r>
            <a:r>
              <a:rPr lang="pt-BR" altLang="pt-BR" b="1" baseline="30000" dirty="0">
                <a:effectLst/>
              </a:rPr>
              <a:t>3</a:t>
            </a:r>
            <a:r>
              <a:rPr lang="pt-BR" altLang="pt-BR" b="1" dirty="0">
                <a:effectLst/>
              </a:rPr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717A8F-1A33-8C1A-2205-DB5710E70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22873A1-BC64-4DA3-ABA8-55DE19D61BCD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30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3493" name="Retângulo 2">
            <a:extLst>
              <a:ext uri="{FF2B5EF4-FFF2-40B4-BE49-F238E27FC236}">
                <a16:creationId xmlns:a16="http://schemas.microsoft.com/office/drawing/2014/main" id="{278A7926-04A9-6AE0-8385-1F5BB9230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7608" y="4394026"/>
            <a:ext cx="8064500" cy="24193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57188"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float media2(float a, float b){</a:t>
            </a:r>
          </a:p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	  float </a:t>
            </a:r>
            <a:r>
              <a:rPr lang="pt-BR" altLang="zh-CN" sz="1400" b="1" dirty="0" err="1">
                <a:solidFill>
                  <a:schemeClr val="tx1"/>
                </a:solidFill>
                <a:ea typeface="SimSun" panose="02010600030101010101" pitchFamily="2" charset="-122"/>
              </a:rPr>
              <a:t>med</a:t>
            </a: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;</a:t>
            </a:r>
          </a:p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	  </a:t>
            </a:r>
            <a:r>
              <a:rPr lang="pt-BR" altLang="zh-CN" sz="1400" dirty="0" err="1">
                <a:solidFill>
                  <a:schemeClr val="tx1"/>
                </a:solidFill>
                <a:ea typeface="SimSun" panose="02010600030101010101" pitchFamily="2" charset="-122"/>
              </a:rPr>
              <a:t>med</a:t>
            </a: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 = (a + b) / 2.0;</a:t>
            </a:r>
          </a:p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	  </a:t>
            </a:r>
            <a:r>
              <a:rPr lang="pt-BR" altLang="zh-CN" sz="1400" dirty="0" err="1">
                <a:solidFill>
                  <a:schemeClr val="tx1"/>
                </a:solidFill>
                <a:ea typeface="SimSun" panose="02010600030101010101" pitchFamily="2" charset="-122"/>
              </a:rPr>
              <a:t>return</a:t>
            </a: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(</a:t>
            </a:r>
            <a:r>
              <a:rPr lang="pt-BR" altLang="zh-CN" sz="1400" dirty="0" err="1">
                <a:solidFill>
                  <a:schemeClr val="tx1"/>
                </a:solidFill>
                <a:ea typeface="SimSun" panose="02010600030101010101" pitchFamily="2" charset="-122"/>
              </a:rPr>
              <a:t>med</a:t>
            </a: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);</a:t>
            </a:r>
          </a:p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	}</a:t>
            </a:r>
          </a:p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void </a:t>
            </a:r>
            <a:r>
              <a:rPr lang="pt-BR" altLang="zh-CN" sz="1400" dirty="0" err="1">
                <a:solidFill>
                  <a:schemeClr val="tx1"/>
                </a:solidFill>
                <a:ea typeface="SimSun" panose="02010600030101010101" pitchFamily="2" charset="-122"/>
              </a:rPr>
              <a:t>main</a:t>
            </a: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(){   </a:t>
            </a:r>
          </a:p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  	  float num_1, num_2, </a:t>
            </a:r>
            <a:r>
              <a:rPr lang="pt-BR" altLang="zh-CN" sz="1400" b="1" dirty="0" err="1">
                <a:solidFill>
                  <a:schemeClr val="tx1"/>
                </a:solidFill>
                <a:ea typeface="SimSun" panose="02010600030101010101" pitchFamily="2" charset="-122"/>
              </a:rPr>
              <a:t>med</a:t>
            </a: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;</a:t>
            </a:r>
          </a:p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  	  </a:t>
            </a:r>
            <a:r>
              <a:rPr lang="pt-BR" altLang="zh-CN" sz="1400" dirty="0" err="1">
                <a:solidFill>
                  <a:schemeClr val="tx1"/>
                </a:solidFill>
                <a:ea typeface="SimSun" panose="02010600030101010101" pitchFamily="2" charset="-122"/>
              </a:rPr>
              <a:t>puts</a:t>
            </a: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(”Digite dois números:”);</a:t>
            </a:r>
          </a:p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  	  </a:t>
            </a:r>
            <a:r>
              <a:rPr lang="pt-BR" altLang="zh-CN" sz="1400" dirty="0" err="1">
                <a:solidFill>
                  <a:schemeClr val="tx1"/>
                </a:solidFill>
                <a:ea typeface="SimSun" panose="02010600030101010101" pitchFamily="2" charset="-122"/>
              </a:rPr>
              <a:t>scanf</a:t>
            </a: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(”%f %f”, &amp;num_1, &amp;num_2);</a:t>
            </a:r>
          </a:p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        </a:t>
            </a:r>
            <a:r>
              <a:rPr lang="pt-BR" altLang="zh-CN" sz="1400" dirty="0" err="1">
                <a:solidFill>
                  <a:schemeClr val="tx1"/>
                </a:solidFill>
                <a:ea typeface="SimSun" panose="02010600030101010101" pitchFamily="2" charset="-122"/>
              </a:rPr>
              <a:t>med</a:t>
            </a: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 = media2(num_1, num_2); </a:t>
            </a:r>
          </a:p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  	  </a:t>
            </a:r>
            <a:r>
              <a:rPr lang="pt-BR" altLang="zh-CN" sz="1400" dirty="0" err="1">
                <a:solidFill>
                  <a:schemeClr val="tx1"/>
                </a:solidFill>
                <a:ea typeface="SimSun" panose="02010600030101010101" pitchFamily="2" charset="-122"/>
              </a:rPr>
              <a:t>printf</a:t>
            </a: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(”\</a:t>
            </a:r>
            <a:r>
              <a:rPr lang="pt-BR" altLang="zh-CN" sz="1400" dirty="0" err="1">
                <a:solidFill>
                  <a:schemeClr val="tx1"/>
                </a:solidFill>
                <a:ea typeface="SimSun" panose="02010600030101010101" pitchFamily="2" charset="-122"/>
              </a:rPr>
              <a:t>nA</a:t>
            </a: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 media destes números e´ %f”, </a:t>
            </a:r>
            <a:r>
              <a:rPr lang="pt-BR" altLang="zh-CN" sz="1400" dirty="0" err="1">
                <a:solidFill>
                  <a:schemeClr val="tx1"/>
                </a:solidFill>
                <a:ea typeface="SimSun" panose="02010600030101010101" pitchFamily="2" charset="-122"/>
              </a:rPr>
              <a:t>med</a:t>
            </a: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);</a:t>
            </a:r>
          </a:p>
          <a:p>
            <a:pPr algn="l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zh-CN" sz="1400" dirty="0">
                <a:solidFill>
                  <a:schemeClr val="tx1"/>
                </a:solidFill>
                <a:ea typeface="SimSun" panose="02010600030101010101" pitchFamily="2" charset="-122"/>
              </a:rPr>
              <a:t>}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EA8C1-CC6F-176E-E709-E6D7FF0DB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endParaRPr lang="pt-BR" sz="30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C24C12-D66E-F342-4F85-CF1EDA316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Tx/>
              <a:buSzPct val="105000"/>
              <a:buFont typeface="+mj-lt"/>
              <a:buAutoNum type="arabicPeriod" startAt="4"/>
              <a:defRPr/>
            </a:pPr>
            <a:r>
              <a:rPr lang="pt-BR" dirty="0">
                <a:effectLst/>
              </a:rPr>
              <a:t>Faça um programa utilizando o conceito de funções </a:t>
            </a:r>
            <a:r>
              <a:rPr lang="pt-BR" b="1" dirty="0">
                <a:effectLst/>
              </a:rPr>
              <a:t>antes</a:t>
            </a:r>
            <a:r>
              <a:rPr lang="pt-BR" dirty="0">
                <a:effectLst/>
              </a:rPr>
              <a:t> do programa principal para realizar as </a:t>
            </a:r>
            <a:r>
              <a:rPr lang="pt-BR" b="1" dirty="0">
                <a:effectLst/>
              </a:rPr>
              <a:t>4 operações matemáticas. </a:t>
            </a:r>
            <a:r>
              <a:rPr lang="pt-BR" dirty="0">
                <a:effectLst/>
              </a:rPr>
              <a:t>Utilize a estrutura SWITCH...CASE para a escolha da opção.</a:t>
            </a:r>
          </a:p>
          <a:p>
            <a:pPr algn="just">
              <a:buClrTx/>
              <a:buSzPct val="105000"/>
              <a:buFont typeface="+mj-lt"/>
              <a:buAutoNum type="arabicPeriod" startAt="4"/>
              <a:defRPr/>
            </a:pPr>
            <a:r>
              <a:rPr lang="pt-BR" b="1" dirty="0">
                <a:effectLst/>
              </a:rPr>
              <a:t> </a:t>
            </a:r>
            <a:r>
              <a:rPr lang="pt-BR" dirty="0">
                <a:effectLst/>
              </a:rPr>
              <a:t>Faça um programa utilizando o conceito de funções </a:t>
            </a:r>
            <a:r>
              <a:rPr lang="pt-BR" b="1" dirty="0">
                <a:effectLst/>
              </a:rPr>
              <a:t>depois</a:t>
            </a:r>
            <a:r>
              <a:rPr lang="pt-BR" dirty="0">
                <a:effectLst/>
              </a:rPr>
              <a:t> do programa principal para realizar </a:t>
            </a:r>
            <a:r>
              <a:rPr lang="pt-BR" b="1" dirty="0">
                <a:effectLst/>
              </a:rPr>
              <a:t>as 4 operações matemáticas</a:t>
            </a:r>
            <a:r>
              <a:rPr lang="pt-BR" dirty="0">
                <a:effectLst/>
              </a:rPr>
              <a:t>. Utilize a estrutura IF...ELSE para a escolha da opção.</a:t>
            </a:r>
          </a:p>
          <a:p>
            <a:pPr algn="just">
              <a:buClrTx/>
              <a:buSzPct val="105000"/>
              <a:buFont typeface="+mj-lt"/>
              <a:buAutoNum type="arabicPeriod" startAt="4"/>
              <a:defRPr/>
            </a:pPr>
            <a:r>
              <a:rPr lang="pt-BR" dirty="0">
                <a:effectLst/>
              </a:rPr>
              <a:t> Faça um programa utilizando o conceito de </a:t>
            </a:r>
            <a:r>
              <a:rPr lang="pt-BR" b="1" dirty="0">
                <a:effectLst/>
              </a:rPr>
              <a:t>Corpo da função escrito em arquivo separado</a:t>
            </a:r>
            <a:r>
              <a:rPr lang="pt-BR" dirty="0">
                <a:effectLst/>
              </a:rPr>
              <a:t> para realizar </a:t>
            </a:r>
            <a:r>
              <a:rPr lang="pt-BR" b="1" dirty="0">
                <a:effectLst/>
              </a:rPr>
              <a:t>as 4 operações matemáticas.</a:t>
            </a:r>
            <a:endParaRPr lang="pt-BR" dirty="0">
              <a:effectLst/>
            </a:endParaRPr>
          </a:p>
          <a:p>
            <a:pPr>
              <a:defRPr/>
            </a:pPr>
            <a:r>
              <a:rPr lang="pt-BR" dirty="0">
                <a:effectLst/>
              </a:rPr>
              <a:t> </a:t>
            </a:r>
          </a:p>
          <a:p>
            <a:pPr>
              <a:defRPr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59331A-6290-7B47-DFAB-ADF7C94A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7EC3FD4-B4B5-4886-9CE8-68A4E8026C40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31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E043A-3202-B0D2-5016-6154BF170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sz="3000" dirty="0"/>
              <a:t>FUNÇÕES RECURSIVAS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1D6128-7AB0-6CC8-3103-081C34075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25A751-C421-741A-D9B8-CB27917F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5AC7E85-CCDD-47CE-A9FF-A6F3356B365A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32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>
            <a:extLst>
              <a:ext uri="{FF2B5EF4-FFF2-40B4-BE49-F238E27FC236}">
                <a16:creationId xmlns:a16="http://schemas.microsoft.com/office/drawing/2014/main" id="{E1065FCB-0F3F-502E-E904-5866CBFC5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pt-BR" sz="3000" dirty="0" err="1"/>
              <a:t>Recursividade</a:t>
            </a:r>
            <a:endParaRPr lang="pt-BR" altLang="pt-BR" sz="3000" dirty="0"/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2C1F5870-4D50-1094-0175-83EBD3F8A6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12876"/>
            <a:ext cx="10946431" cy="4608513"/>
          </a:xfrm>
        </p:spPr>
        <p:txBody>
          <a:bodyPr>
            <a:normAutofit/>
          </a:bodyPr>
          <a:lstStyle/>
          <a:p>
            <a:pPr marL="0" indent="357188">
              <a:buFont typeface="Wingdings" panose="05000000000000000000" pitchFamily="2" charset="2"/>
              <a:buChar char="n"/>
            </a:pPr>
            <a:r>
              <a:rPr lang="pt-BR" altLang="zh-CN" sz="2400" b="1" dirty="0">
                <a:effectLst/>
                <a:ea typeface="SimSun" panose="02010600030101010101" pitchFamily="2" charset="-122"/>
              </a:rPr>
              <a:t>Recursão</a:t>
            </a:r>
            <a:r>
              <a:rPr lang="pt-BR" altLang="zh-CN" sz="2400" dirty="0">
                <a:effectLst/>
                <a:ea typeface="SimSun" panose="02010600030101010101" pitchFamily="2" charset="-122"/>
              </a:rPr>
              <a:t> é o processo pelo qual uma função chama a si mesma repetidamente um número finito de vezes. Este recurso é muito útil em alguns tipos de algoritmos chamados de </a:t>
            </a:r>
            <a:r>
              <a:rPr lang="pt-BR" altLang="zh-CN" sz="2400" b="1" dirty="0">
                <a:effectLst/>
                <a:ea typeface="SimSun" panose="02010600030101010101" pitchFamily="2" charset="-122"/>
              </a:rPr>
              <a:t>algoritmos recursivos</a:t>
            </a:r>
            <a:r>
              <a:rPr lang="pt-BR" altLang="zh-CN" sz="2400" dirty="0">
                <a:effectLst/>
                <a:ea typeface="SimSun" panose="02010600030101010101" pitchFamily="2" charset="-122"/>
              </a:rPr>
              <a:t>. </a:t>
            </a:r>
          </a:p>
          <a:p>
            <a:pPr marL="0" indent="357188">
              <a:buFont typeface="Wingdings" panose="05000000000000000000" pitchFamily="2" charset="2"/>
              <a:buChar char="n"/>
            </a:pPr>
            <a:r>
              <a:rPr lang="pt-BR" altLang="zh-CN" sz="2400" dirty="0">
                <a:effectLst/>
                <a:ea typeface="SimSun" panose="02010600030101010101" pitchFamily="2" charset="-122"/>
              </a:rPr>
              <a:t>Vejamos um exemplo </a:t>
            </a:r>
            <a:r>
              <a:rPr lang="pt-BR" altLang="zh-CN" sz="2400" i="1" dirty="0">
                <a:effectLst/>
                <a:ea typeface="SimSun" panose="02010600030101010101" pitchFamily="2" charset="-122"/>
              </a:rPr>
              <a:t>clássico</a:t>
            </a:r>
            <a:r>
              <a:rPr lang="pt-BR" altLang="zh-CN" sz="2400" dirty="0">
                <a:effectLst/>
                <a:ea typeface="SimSun" panose="02010600030101010101" pitchFamily="2" charset="-122"/>
              </a:rPr>
              <a:t> para esclarecermos o conceito: cálculo do </a:t>
            </a:r>
            <a:r>
              <a:rPr lang="pt-BR" altLang="zh-CN" sz="2400" b="1" dirty="0">
                <a:effectLst/>
                <a:ea typeface="SimSun" panose="02010600030101010101" pitchFamily="2" charset="-122"/>
              </a:rPr>
              <a:t>fatorial</a:t>
            </a:r>
            <a:r>
              <a:rPr lang="pt-BR" altLang="zh-CN" sz="2400" dirty="0">
                <a:effectLst/>
                <a:ea typeface="SimSun" panose="02010600030101010101" pitchFamily="2" charset="-122"/>
              </a:rPr>
              <a:t> de um número. A definição de fatorial é:</a:t>
            </a:r>
          </a:p>
          <a:p>
            <a:pPr marL="0" indent="357188"/>
            <a:r>
              <a:rPr lang="pt-BR" altLang="zh-CN" sz="2400" dirty="0">
                <a:effectLst/>
                <a:ea typeface="SimSun" panose="02010600030101010101" pitchFamily="2" charset="-122"/>
              </a:rPr>
              <a:t>n! = n . (n-1) . (n-2) . ... . 3 . 2 . 1</a:t>
            </a:r>
          </a:p>
          <a:p>
            <a:pPr marL="0" indent="357188"/>
            <a:r>
              <a:rPr lang="pt-BR" altLang="zh-CN" sz="2400" dirty="0">
                <a:effectLst/>
                <a:ea typeface="SimSun" panose="02010600030101010101" pitchFamily="2" charset="-122"/>
              </a:rPr>
              <a:t>	0! = 1</a:t>
            </a:r>
          </a:p>
          <a:p>
            <a:pPr marL="0" indent="357188"/>
            <a:r>
              <a:rPr lang="pt-BR" altLang="zh-CN" sz="2400" dirty="0">
                <a:effectLst/>
                <a:ea typeface="SimSun" panose="02010600030101010101" pitchFamily="2" charset="-122"/>
              </a:rPr>
              <a:t>, onde </a:t>
            </a:r>
            <a:r>
              <a:rPr lang="pt-BR" altLang="zh-CN" sz="2400" b="1" dirty="0">
                <a:effectLst/>
                <a:ea typeface="SimSun" panose="02010600030101010101" pitchFamily="2" charset="-122"/>
              </a:rPr>
              <a:t>n</a:t>
            </a:r>
            <a:r>
              <a:rPr lang="pt-BR" altLang="zh-CN" sz="2400" dirty="0">
                <a:effectLst/>
                <a:ea typeface="SimSun" panose="02010600030101010101" pitchFamily="2" charset="-122"/>
              </a:rPr>
              <a:t> é um número inteiro positivo.  Uma propriedade (facilmente verificável) dos fatoriais é que:  n! = n . (n-1)! 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C11557E8-E759-AC4A-D2E0-FDC29EA9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E2A7DDC-6F31-4142-BC23-1DFB3C26237A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33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>
            <a:extLst>
              <a:ext uri="{FF2B5EF4-FFF2-40B4-BE49-F238E27FC236}">
                <a16:creationId xmlns:a16="http://schemas.microsoft.com/office/drawing/2014/main" id="{B3F7B297-C294-A055-EEFD-F615913113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pt-BR" sz="3000" dirty="0" err="1"/>
              <a:t>Recursividade</a:t>
            </a:r>
            <a:endParaRPr lang="pt-BR" altLang="pt-BR" sz="3000" dirty="0"/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D0585330-2B7C-121E-97C7-81BCC85F32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57338"/>
            <a:ext cx="10874424" cy="4608512"/>
          </a:xfrm>
        </p:spPr>
        <p:txBody>
          <a:bodyPr>
            <a:normAutofit/>
          </a:bodyPr>
          <a:lstStyle/>
          <a:p>
            <a:pPr marL="0" indent="357188">
              <a:buFont typeface="Wingdings" panose="05000000000000000000" pitchFamily="2" charset="2"/>
              <a:buChar char="n"/>
            </a:pPr>
            <a:r>
              <a:rPr lang="pt-BR" altLang="zh-CN" sz="2400" dirty="0">
                <a:effectLst/>
                <a:ea typeface="SimSun" panose="02010600030101010101" pitchFamily="2" charset="-122"/>
              </a:rPr>
              <a:t>Esta propriedade é chamada de propriedade recursiva: o fatorial de um número pode ser calculado através do fatorial de seu antecessor. </a:t>
            </a:r>
          </a:p>
          <a:p>
            <a:pPr marL="0" indent="357188">
              <a:buFont typeface="Wingdings" panose="05000000000000000000" pitchFamily="2" charset="2"/>
              <a:buChar char="n"/>
            </a:pPr>
            <a:r>
              <a:rPr lang="pt-BR" altLang="zh-CN" sz="2400" dirty="0">
                <a:effectLst/>
                <a:ea typeface="SimSun" panose="02010600030101010101" pitchFamily="2" charset="-122"/>
              </a:rPr>
              <a:t>Podemos então, utilizar esta propriedade para escrevermos uma rotina recursiva para o cálculo de fatoriais. Para criarmos uma rotina recursiva, em C, basta criar uma chamada a própria função dentro dela mesma.</a:t>
            </a:r>
          </a:p>
          <a:p>
            <a:pPr marL="0" indent="357188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pt-BR" altLang="zh-CN" sz="2400" dirty="0">
                <a:effectLst/>
                <a:ea typeface="SimSun" panose="02010600030101010101" pitchFamily="2" charset="-122"/>
              </a:rPr>
              <a:t>A principal vantagem destes algoritmos é que algumas classes de algoritmos [de inteligência artificial, simulação numérica, busca e ordenação em árvore binária, etc.] são mais facilmente implementadas com o uso de rotinas recursivas.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00A7F8F8-0C41-03AB-4BDA-78C4D3098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8731451-5A6C-4E3B-9B03-22A487E90FB7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34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>
            <a:extLst>
              <a:ext uri="{FF2B5EF4-FFF2-40B4-BE49-F238E27FC236}">
                <a16:creationId xmlns:a16="http://schemas.microsoft.com/office/drawing/2014/main" id="{EDAE10B5-0BAB-6640-3B5D-FAAF38921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pt-BR" sz="3000" dirty="0" err="1"/>
              <a:t>Recursividade</a:t>
            </a:r>
            <a:r>
              <a:rPr lang="en-US" altLang="pt-BR" sz="3000" dirty="0"/>
              <a:t>: </a:t>
            </a:r>
            <a:r>
              <a:rPr lang="en-US" altLang="pt-BR" sz="3000" dirty="0" err="1"/>
              <a:t>Fatorial</a:t>
            </a:r>
            <a:endParaRPr lang="pt-BR" altLang="pt-BR" sz="3000" dirty="0"/>
          </a:p>
        </p:txBody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418023A2-11B6-7B11-752E-1ADC1FC0B3F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484313"/>
            <a:ext cx="8291513" cy="4114800"/>
          </a:xfrm>
        </p:spPr>
        <p:txBody>
          <a:bodyPr/>
          <a:lstStyle/>
          <a:p>
            <a:pPr marL="93663" indent="263525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pt-BR" altLang="pt-BR" sz="2000" b="1">
              <a:effectLst/>
            </a:endParaRPr>
          </a:p>
          <a:p>
            <a:pPr marL="93663" indent="263525">
              <a:buFont typeface="Wingdings" panose="05000000000000000000" pitchFamily="2" charset="2"/>
              <a:buChar char="n"/>
            </a:pPr>
            <a:r>
              <a:rPr lang="pt-BR" altLang="pt-BR" sz="2000">
                <a:effectLst/>
              </a:rPr>
              <a:t>Uma função que calcule o fatorial de um número inteiro </a:t>
            </a:r>
            <a:r>
              <a:rPr lang="pt-BR" altLang="pt-BR" sz="2000" b="1">
                <a:effectLst/>
              </a:rPr>
              <a:t>n</a:t>
            </a:r>
            <a:r>
              <a:rPr lang="pt-BR" altLang="pt-BR" sz="2000">
                <a:effectLst/>
              </a:rPr>
              <a:t> é um bom exemplo de uma função recursiva: </a:t>
            </a:r>
            <a:endParaRPr lang="en-US" altLang="pt-BR" sz="2000">
              <a:effectLst/>
            </a:endParaRPr>
          </a:p>
        </p:txBody>
      </p:sp>
      <p:sp>
        <p:nvSpPr>
          <p:cNvPr id="5" name="Espaço Reservado para Número de Slide 6">
            <a:extLst>
              <a:ext uri="{FF2B5EF4-FFF2-40B4-BE49-F238E27FC236}">
                <a16:creationId xmlns:a16="http://schemas.microsoft.com/office/drawing/2014/main" id="{5A842D55-DF73-0450-D4C2-108DC6F8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D1671A1-7045-4990-8067-7E85E132004B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35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0661" name="Rectangle 4">
            <a:extLst>
              <a:ext uri="{FF2B5EF4-FFF2-40B4-BE49-F238E27FC236}">
                <a16:creationId xmlns:a16="http://schemas.microsoft.com/office/drawing/2014/main" id="{AADD324C-996C-6237-AC1C-7FEFEC5C6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2781300"/>
            <a:ext cx="8135937" cy="3671888"/>
          </a:xfrm>
          <a:prstGeom prst="rect">
            <a:avLst/>
          </a:prstGeom>
          <a:solidFill>
            <a:srgbClr val="FF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int fatorial(int n)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{  int resp;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  	if (n==1) return(1);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	printf(" %d x",n);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  	resp = fatorial(n-1) * n;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  return (resp);}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main()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{  int num,x;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  	printf("Digite um Numero: ");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	scanf("%d",&amp;num);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  	x=fatorial(num);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  	printf(" 1 = %d  (Fatorial Utilizando Metodo Recursivo).\n",x);</a:t>
            </a:r>
          </a:p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/>
              <a:t>  getch();}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8C8A342-DD0E-DCE8-59EB-C942ADB4A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503364"/>
            <a:ext cx="6400800" cy="5354637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/>
              <a:t>#include &lt;stdio.h&gt;</a:t>
            </a:r>
          </a:p>
          <a:p>
            <a:r>
              <a:rPr lang="pt-BR" altLang="pt-BR"/>
              <a:t>#include &lt;conio.h&gt;</a:t>
            </a:r>
          </a:p>
          <a:p>
            <a:r>
              <a:rPr lang="pt-BR" altLang="pt-BR"/>
              <a:t>float fatorial (float resposta)</a:t>
            </a:r>
          </a:p>
          <a:p>
            <a:r>
              <a:rPr lang="pt-BR" altLang="pt-BR"/>
              <a:t>{</a:t>
            </a:r>
          </a:p>
          <a:p>
            <a:r>
              <a:rPr lang="pt-BR" altLang="pt-BR"/>
              <a:t> if (resposta&lt;=1)</a:t>
            </a:r>
          </a:p>
          <a:p>
            <a:r>
              <a:rPr lang="pt-BR" altLang="pt-BR"/>
              <a:t>	return (1.0);</a:t>
            </a:r>
          </a:p>
          <a:p>
            <a:r>
              <a:rPr lang="pt-BR" altLang="pt-BR"/>
              <a:t>	else</a:t>
            </a:r>
          </a:p>
          <a:p>
            <a:r>
              <a:rPr lang="pt-BR" altLang="pt-BR"/>
              <a:t>	resposta = resposta*fatorial(resposta-1.0);</a:t>
            </a:r>
          </a:p>
          <a:p>
            <a:r>
              <a:rPr lang="pt-BR" altLang="pt-BR"/>
              <a:t>	return (resposta);</a:t>
            </a:r>
          </a:p>
          <a:p>
            <a:r>
              <a:rPr lang="pt-BR" altLang="pt-BR"/>
              <a:t>}</a:t>
            </a:r>
          </a:p>
          <a:p>
            <a:r>
              <a:rPr lang="pt-BR" altLang="pt-BR"/>
              <a:t>//	return (resposta*fatorial(resposta-1.0)); /* Chamada da própria função. */</a:t>
            </a:r>
          </a:p>
          <a:p>
            <a:r>
              <a:rPr lang="pt-BR" altLang="pt-BR"/>
              <a:t>int main ( )</a:t>
            </a:r>
          </a:p>
          <a:p>
            <a:r>
              <a:rPr lang="pt-BR" altLang="pt-BR"/>
              <a:t>{ </a:t>
            </a:r>
          </a:p>
          <a:p>
            <a:r>
              <a:rPr lang="pt-BR" altLang="pt-BR"/>
              <a:t>	float numero=5.0;</a:t>
            </a:r>
          </a:p>
          <a:p>
            <a:r>
              <a:rPr lang="pt-BR" altLang="pt-BR"/>
              <a:t>	float fat;</a:t>
            </a:r>
          </a:p>
          <a:p>
            <a:r>
              <a:rPr lang="pt-BR" altLang="pt-BR"/>
              <a:t>	fat=fatorial(numero);</a:t>
            </a:r>
          </a:p>
          <a:p>
            <a:r>
              <a:rPr lang="pt-BR" altLang="pt-BR"/>
              <a:t>	printf("O fatorial é:%15.01f \n",fat);</a:t>
            </a:r>
          </a:p>
          <a:p>
            <a:r>
              <a:rPr lang="pt-BR" altLang="pt-BR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>
            <a:extLst>
              <a:ext uri="{FF2B5EF4-FFF2-40B4-BE49-F238E27FC236}">
                <a16:creationId xmlns:a16="http://schemas.microsoft.com/office/drawing/2014/main" id="{5E8AE85C-7F42-53D3-DB49-40B40289C8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pt-BR" sz="3000" dirty="0" err="1"/>
              <a:t>Recursividade</a:t>
            </a:r>
            <a:endParaRPr lang="pt-BR" altLang="pt-BR" sz="3000" dirty="0"/>
          </a:p>
        </p:txBody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34C057FF-5EA7-6BD8-DB68-8AC0E1A058C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1484313"/>
            <a:ext cx="10442375" cy="4114800"/>
          </a:xfrm>
        </p:spPr>
        <p:txBody>
          <a:bodyPr>
            <a:normAutofit/>
          </a:bodyPr>
          <a:lstStyle/>
          <a:p>
            <a:pPr marL="93663" indent="263525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pt-BR" altLang="pt-BR" sz="2400" b="1" dirty="0">
              <a:effectLst/>
            </a:endParaRPr>
          </a:p>
          <a:p>
            <a:pPr marL="93663" indent="263525" algn="just">
              <a:buFont typeface="Wingdings" panose="05000000000000000000" pitchFamily="2" charset="2"/>
              <a:buChar char="n"/>
            </a:pPr>
            <a:r>
              <a:rPr lang="pt-BR" altLang="pt-BR" sz="2400" dirty="0">
                <a:effectLst/>
              </a:rPr>
              <a:t>Enquanto </a:t>
            </a:r>
            <a:r>
              <a:rPr lang="pt-BR" altLang="pt-BR" sz="2400" b="1" dirty="0">
                <a:effectLst/>
              </a:rPr>
              <a:t>n</a:t>
            </a:r>
            <a:r>
              <a:rPr lang="pt-BR" altLang="pt-BR" sz="2400" dirty="0">
                <a:effectLst/>
              </a:rPr>
              <a:t> não for igual a 1, a função fatorial chama a si mesma, cada vez com um valor menor. O </a:t>
            </a:r>
            <a:r>
              <a:rPr lang="pt-BR" altLang="pt-BR" sz="2400" b="1" dirty="0">
                <a:effectLst/>
              </a:rPr>
              <a:t>n==1</a:t>
            </a:r>
            <a:r>
              <a:rPr lang="pt-BR" altLang="pt-BR" sz="2400" dirty="0">
                <a:effectLst/>
              </a:rPr>
              <a:t> é critério de parada para esta função. </a:t>
            </a:r>
          </a:p>
          <a:p>
            <a:pPr marL="93663" indent="263525" algn="just">
              <a:buFont typeface="Wingdings" panose="05000000000000000000" pitchFamily="2" charset="2"/>
              <a:buChar char="n"/>
            </a:pPr>
            <a:r>
              <a:rPr lang="pt-BR" altLang="pt-BR" sz="2400" dirty="0">
                <a:effectLst/>
              </a:rPr>
              <a:t>Há certos algoritmos que são mais eficientes quando feitos de maneira recursiva, mas a recursividade é algo a ser evitado sempre que possível, pois, se usada incorretamente, </a:t>
            </a:r>
            <a:r>
              <a:rPr lang="pt-BR" altLang="pt-BR" sz="2400" b="1" dirty="0">
                <a:effectLst/>
              </a:rPr>
              <a:t>tende a consumir muita memória e ser lenta</a:t>
            </a:r>
            <a:r>
              <a:rPr lang="pt-BR" altLang="pt-BR" sz="2400" dirty="0">
                <a:effectLst/>
              </a:rPr>
              <a:t>. </a:t>
            </a:r>
          </a:p>
          <a:p>
            <a:pPr marL="93663" indent="263525" algn="just">
              <a:buFont typeface="Wingdings" panose="05000000000000000000" pitchFamily="2" charset="2"/>
              <a:buChar char="n"/>
            </a:pPr>
            <a:r>
              <a:rPr lang="pt-BR" altLang="pt-BR" sz="2400" dirty="0">
                <a:effectLst/>
              </a:rPr>
              <a:t>Lembre-se que memória é consumida cada vez que o computador faz uma chamada a uma função. Com funções recursivas a memória do computador pode se esgotar rapidamente. </a:t>
            </a:r>
            <a:endParaRPr lang="en-US" altLang="pt-BR" sz="2400" dirty="0">
              <a:effectLst/>
            </a:endParaRPr>
          </a:p>
        </p:txBody>
      </p:sp>
      <p:sp>
        <p:nvSpPr>
          <p:cNvPr id="5" name="Espaço Reservado para Número de Slide 6">
            <a:extLst>
              <a:ext uri="{FF2B5EF4-FFF2-40B4-BE49-F238E27FC236}">
                <a16:creationId xmlns:a16="http://schemas.microsoft.com/office/drawing/2014/main" id="{C12BBB56-C54C-EA0C-A113-E6CA050F5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D62A404-7B94-40EF-80E3-38003E57F917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36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2709" name="Text Box 4">
            <a:extLst>
              <a:ext uri="{FF2B5EF4-FFF2-40B4-BE49-F238E27FC236}">
                <a16:creationId xmlns:a16="http://schemas.microsoft.com/office/drawing/2014/main" id="{12D78231-C066-CB5B-2FAA-66DB1567E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1" y="5676901"/>
            <a:ext cx="19915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pt-BR">
                <a:solidFill>
                  <a:schemeClr val="tx1"/>
                </a:solidFill>
              </a:rPr>
              <a:t>Voltar para </a:t>
            </a:r>
            <a:r>
              <a:rPr lang="pt-BR" altLang="pt-BR">
                <a:solidFill>
                  <a:schemeClr val="tx1"/>
                </a:solidFill>
                <a:hlinkClick r:id="rId3" action="ppaction://hlinkpres?slideindex=1&amp;slidetitle=Unidade 2 – Alocação Dinâmica de Memória"/>
              </a:rPr>
              <a:t>aula 4</a:t>
            </a:r>
            <a:endParaRPr lang="pt-BR" altLang="pt-BR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A968B44-4B2D-0839-110D-811D7AA26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BD81BD6-0EE2-4AE6-9800-860A65BCFA2D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37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4755" name="Retângulo 2">
            <a:extLst>
              <a:ext uri="{FF2B5EF4-FFF2-40B4-BE49-F238E27FC236}">
                <a16:creationId xmlns:a16="http://schemas.microsoft.com/office/drawing/2014/main" id="{BC07E116-9E82-EBEF-A7AC-46C5C69BA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1222376"/>
            <a:ext cx="6084888" cy="55086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600"/>
              <a:t>#include &lt;stdio.h&gt;</a:t>
            </a:r>
          </a:p>
          <a:p>
            <a:r>
              <a:rPr lang="pt-BR" altLang="pt-BR" sz="1600"/>
              <a:t>#include &lt;conio.h&gt;</a:t>
            </a:r>
          </a:p>
          <a:p>
            <a:r>
              <a:rPr lang="pt-BR" altLang="pt-BR" sz="1600"/>
              <a:t>int fatorial(int n){</a:t>
            </a:r>
          </a:p>
          <a:p>
            <a:r>
              <a:rPr lang="pt-BR" altLang="pt-BR" sz="1600"/>
              <a:t>  int t,resp=1;</a:t>
            </a:r>
          </a:p>
          <a:p>
            <a:r>
              <a:rPr lang="pt-BR" altLang="pt-BR" sz="1600"/>
              <a:t>  if (n==1)  {</a:t>
            </a:r>
          </a:p>
          <a:p>
            <a:r>
              <a:rPr lang="pt-BR" altLang="pt-BR" sz="1600"/>
              <a:t>     return 1;}</a:t>
            </a:r>
          </a:p>
          <a:p>
            <a:r>
              <a:rPr lang="pt-BR" altLang="pt-BR" sz="1600"/>
              <a:t>  else  	{</a:t>
            </a:r>
          </a:p>
          <a:p>
            <a:r>
              <a:rPr lang="pt-BR" altLang="pt-BR" sz="1600"/>
              <a:t>	  for (t=n;t!=0;t--)  </a:t>
            </a:r>
          </a:p>
          <a:p>
            <a:r>
              <a:rPr lang="pt-BR" altLang="pt-BR" sz="1600"/>
              <a:t>	  {</a:t>
            </a:r>
          </a:p>
          <a:p>
            <a:r>
              <a:rPr lang="pt-BR" altLang="pt-BR" sz="1600"/>
              <a:t>	  resp = resp * t;</a:t>
            </a:r>
          </a:p>
          <a:p>
            <a:r>
              <a:rPr lang="pt-BR" altLang="pt-BR" sz="1600"/>
              <a:t> 	 printf(" %d x",t);</a:t>
            </a:r>
          </a:p>
          <a:p>
            <a:r>
              <a:rPr lang="pt-BR" altLang="pt-BR" sz="1600"/>
              <a:t> 	} 	}	</a:t>
            </a:r>
          </a:p>
          <a:p>
            <a:r>
              <a:rPr lang="pt-BR" altLang="pt-BR" sz="1600"/>
              <a:t>  return (resp);</a:t>
            </a:r>
          </a:p>
          <a:p>
            <a:r>
              <a:rPr lang="pt-BR" altLang="pt-BR" sz="1600"/>
              <a:t>}</a:t>
            </a:r>
          </a:p>
          <a:p>
            <a:r>
              <a:rPr lang="pt-BR" altLang="pt-BR" sz="1600"/>
              <a:t>int main()</a:t>
            </a:r>
          </a:p>
          <a:p>
            <a:r>
              <a:rPr lang="pt-BR" altLang="pt-BR" sz="1600"/>
              <a:t>{</a:t>
            </a:r>
          </a:p>
          <a:p>
            <a:r>
              <a:rPr lang="pt-BR" altLang="pt-BR" sz="1600"/>
              <a:t>  int num,x;</a:t>
            </a:r>
          </a:p>
          <a:p>
            <a:r>
              <a:rPr lang="pt-BR" altLang="pt-BR" sz="1600"/>
              <a:t>  printf("Digite um Numero: ");</a:t>
            </a:r>
          </a:p>
          <a:p>
            <a:r>
              <a:rPr lang="pt-BR" altLang="pt-BR" sz="1600"/>
              <a:t> // scanf("%d",&amp;num);</a:t>
            </a:r>
          </a:p>
          <a:p>
            <a:r>
              <a:rPr lang="pt-BR" altLang="pt-BR" sz="1600"/>
              <a:t>  x=fatorial(5);</a:t>
            </a:r>
          </a:p>
          <a:p>
            <a:r>
              <a:rPr lang="pt-BR" altLang="pt-BR" sz="1600"/>
              <a:t>  printf("= %d (Fatorial Metodo Convencional) .\n",x);</a:t>
            </a:r>
          </a:p>
          <a:p>
            <a:r>
              <a:rPr lang="pt-BR" altLang="pt-BR" sz="1600"/>
              <a:t>}</a:t>
            </a:r>
          </a:p>
        </p:txBody>
      </p:sp>
      <p:sp>
        <p:nvSpPr>
          <p:cNvPr id="74756" name="Rectangle 2">
            <a:extLst>
              <a:ext uri="{FF2B5EF4-FFF2-40B4-BE49-F238E27FC236}">
                <a16:creationId xmlns:a16="http://schemas.microsoft.com/office/drawing/2014/main" id="{692323CA-31AE-6081-2D3C-6D854930B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741364"/>
            <a:ext cx="8229600" cy="96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spcBef>
                <a:spcPct val="20000"/>
              </a:spcBef>
              <a:spcAft>
                <a:spcPct val="5000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defRPr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5000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16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pt-BR" sz="2000" b="1"/>
              <a:t>Fatorial NÃO recursivo</a:t>
            </a:r>
            <a:endParaRPr lang="pt-BR" altLang="pt-BR" sz="2000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>
            <a:extLst>
              <a:ext uri="{FF2B5EF4-FFF2-40B4-BE49-F238E27FC236}">
                <a16:creationId xmlns:a16="http://schemas.microsoft.com/office/drawing/2014/main" id="{48199264-A029-55AA-AF64-1357D94AB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pt-BR" sz="3000" dirty="0"/>
              <a:t>5.2 – </a:t>
            </a:r>
            <a:r>
              <a:rPr lang="en-US" altLang="pt-BR" sz="3000" dirty="0" err="1"/>
              <a:t>Recursividade</a:t>
            </a:r>
            <a:r>
              <a:rPr lang="en-US" altLang="pt-BR" sz="3000" dirty="0"/>
              <a:t> – Série de Fibonacci</a:t>
            </a:r>
            <a:endParaRPr lang="pt-BR" altLang="pt-BR" sz="3000" dirty="0"/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982FB896-A973-4E92-39A3-D195C5D7005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484314"/>
            <a:ext cx="8291513" cy="4752975"/>
          </a:xfrm>
        </p:spPr>
        <p:txBody>
          <a:bodyPr/>
          <a:lstStyle/>
          <a:p>
            <a:pPr algn="just">
              <a:defRPr/>
            </a:pPr>
            <a:r>
              <a:rPr lang="pt-BR" sz="2000" dirty="0">
                <a:effectLst/>
              </a:rPr>
              <a:t>É uma sequência formada pela soma </a:t>
            </a:r>
            <a:r>
              <a:rPr lang="pt-BR" sz="2000" dirty="0" err="1">
                <a:effectLst/>
              </a:rPr>
              <a:t>deo</a:t>
            </a:r>
            <a:r>
              <a:rPr lang="pt-BR" sz="2000" dirty="0">
                <a:effectLst/>
              </a:rPr>
              <a:t> cada numeral com o numeral que o antecede. No caso do 1, repete-se esse numeral e soma-se, ou seja, 1 + 1 = 2.</a:t>
            </a:r>
          </a:p>
          <a:p>
            <a:pPr>
              <a:defRPr/>
            </a:pPr>
            <a:r>
              <a:rPr lang="pt-BR" sz="2000" dirty="0">
                <a:effectLst/>
              </a:rPr>
              <a:t>De seguida soma-se o resultado com o numeral que o antecede, ou seja, 2 + 1 = 3 e assim sucessivamente, numa sequência infinita:</a:t>
            </a:r>
          </a:p>
        </p:txBody>
      </p:sp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02FFEF99-486D-FC27-FBBC-22EE6797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097AEE1-BF71-4FC0-869A-E38165517027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38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5781" name="Retângulo 1">
            <a:extLst>
              <a:ext uri="{FF2B5EF4-FFF2-40B4-BE49-F238E27FC236}">
                <a16:creationId xmlns:a16="http://schemas.microsoft.com/office/drawing/2014/main" id="{A37C8E2A-556A-6508-AF4E-5422DBF0E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896" y="3308192"/>
            <a:ext cx="2133600" cy="341632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1 + 1 = 2</a:t>
            </a:r>
          </a:p>
          <a:p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2 + 1 = 3</a:t>
            </a:r>
          </a:p>
          <a:p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3 + 2 = 5</a:t>
            </a:r>
            <a:b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5 + 3 = 8</a:t>
            </a:r>
            <a:b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8 + 5 = 13</a:t>
            </a:r>
            <a:b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13 + 8 = 21</a:t>
            </a:r>
            <a:b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21 + 13 = 34</a:t>
            </a:r>
            <a:b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34 + 21 = 55           55 + 34 = 89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2">
            <a:extLst>
              <a:ext uri="{FF2B5EF4-FFF2-40B4-BE49-F238E27FC236}">
                <a16:creationId xmlns:a16="http://schemas.microsoft.com/office/drawing/2014/main" id="{51DC6B5D-061D-7556-C64B-C5B730D0E7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pt-BR" sz="3000" dirty="0"/>
              <a:t>3.2 – </a:t>
            </a:r>
            <a:r>
              <a:rPr lang="en-US" altLang="pt-BR" sz="3000" dirty="0" err="1"/>
              <a:t>Recursividade</a:t>
            </a:r>
            <a:r>
              <a:rPr lang="en-US" altLang="pt-BR" sz="3000" dirty="0"/>
              <a:t> – Série de Fibonacci</a:t>
            </a:r>
            <a:endParaRPr lang="pt-BR" altLang="pt-BR" sz="3000" dirty="0"/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290D788E-ADF0-3261-DED2-DA997592388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631950" y="1268414"/>
            <a:ext cx="9036050" cy="4752975"/>
          </a:xfrm>
        </p:spPr>
        <p:txBody>
          <a:bodyPr>
            <a:normAutofit fontScale="92500" lnSpcReduction="10000"/>
          </a:bodyPr>
          <a:lstStyle/>
          <a:p>
            <a:pPr marL="93663" indent="263525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pt-BR" altLang="pt-BR" sz="1600" dirty="0">
              <a:effectLst/>
            </a:endParaRP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#include &lt;</a:t>
            </a:r>
            <a:r>
              <a:rPr lang="en-US" altLang="pt-BR" sz="2000" dirty="0" err="1">
                <a:effectLst/>
              </a:rPr>
              <a:t>stdio.h</a:t>
            </a:r>
            <a:r>
              <a:rPr lang="en-US" altLang="pt-BR" sz="2000" dirty="0">
                <a:effectLst/>
              </a:rPr>
              <a:t>&gt;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#include &lt;</a:t>
            </a:r>
            <a:r>
              <a:rPr lang="en-US" altLang="pt-BR" sz="2000" dirty="0" err="1">
                <a:effectLst/>
              </a:rPr>
              <a:t>conio.h</a:t>
            </a:r>
            <a:r>
              <a:rPr lang="en-US" altLang="pt-BR" sz="2000" dirty="0">
                <a:effectLst/>
              </a:rPr>
              <a:t>&gt;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void </a:t>
            </a:r>
            <a:r>
              <a:rPr lang="en-US" altLang="pt-BR" sz="2000" dirty="0" err="1">
                <a:effectLst/>
              </a:rPr>
              <a:t>fibo</a:t>
            </a:r>
            <a:r>
              <a:rPr lang="en-US" altLang="pt-BR" sz="2000" dirty="0">
                <a:effectLst/>
              </a:rPr>
              <a:t> (int ant, int </a:t>
            </a:r>
            <a:r>
              <a:rPr lang="en-US" altLang="pt-BR" sz="2000" dirty="0" err="1">
                <a:effectLst/>
              </a:rPr>
              <a:t>prox</a:t>
            </a:r>
            <a:r>
              <a:rPr lang="en-US" altLang="pt-BR" sz="2000" dirty="0">
                <a:effectLst/>
              </a:rPr>
              <a:t>, int n) {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</a:t>
            </a:r>
            <a:r>
              <a:rPr lang="en-US" altLang="pt-BR" sz="2000" dirty="0" err="1">
                <a:effectLst/>
              </a:rPr>
              <a:t>printf</a:t>
            </a:r>
            <a:r>
              <a:rPr lang="en-US" altLang="pt-BR" sz="2000" dirty="0">
                <a:effectLst/>
              </a:rPr>
              <a:t>("\</a:t>
            </a:r>
            <a:r>
              <a:rPr lang="en-US" altLang="pt-BR" sz="2000" dirty="0" err="1">
                <a:effectLst/>
              </a:rPr>
              <a:t>tFibo</a:t>
            </a:r>
            <a:r>
              <a:rPr lang="en-US" altLang="pt-BR" sz="2000" dirty="0">
                <a:effectLst/>
              </a:rPr>
              <a:t>:%d", ant);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if (n &gt; 1){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   </a:t>
            </a:r>
            <a:r>
              <a:rPr lang="en-US" altLang="pt-BR" sz="2000" dirty="0" err="1">
                <a:effectLst/>
              </a:rPr>
              <a:t>printf</a:t>
            </a:r>
            <a:r>
              <a:rPr lang="en-US" altLang="pt-BR" sz="2000" dirty="0">
                <a:effectLst/>
              </a:rPr>
              <a:t>( "\</a:t>
            </a:r>
            <a:r>
              <a:rPr lang="en-US" altLang="pt-BR" sz="2000" dirty="0" err="1">
                <a:effectLst/>
              </a:rPr>
              <a:t>nAnterior</a:t>
            </a:r>
            <a:r>
              <a:rPr lang="en-US" altLang="pt-BR" sz="2000" dirty="0">
                <a:effectLst/>
              </a:rPr>
              <a:t> = %d  Proximo = %d  n = %d",</a:t>
            </a:r>
            <a:r>
              <a:rPr lang="en-US" altLang="pt-BR" sz="2000" dirty="0" err="1">
                <a:effectLst/>
              </a:rPr>
              <a:t>ant,prox,n</a:t>
            </a:r>
            <a:r>
              <a:rPr lang="en-US" altLang="pt-BR" sz="2000" dirty="0">
                <a:effectLst/>
              </a:rPr>
              <a:t>);	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   </a:t>
            </a:r>
            <a:r>
              <a:rPr lang="en-US" altLang="pt-BR" sz="2000" dirty="0" err="1">
                <a:effectLst/>
              </a:rPr>
              <a:t>fibo</a:t>
            </a:r>
            <a:r>
              <a:rPr lang="en-US" altLang="pt-BR" sz="2000" dirty="0">
                <a:effectLst/>
              </a:rPr>
              <a:t>(</a:t>
            </a:r>
            <a:r>
              <a:rPr lang="en-US" altLang="pt-BR" sz="2000" dirty="0" err="1">
                <a:effectLst/>
              </a:rPr>
              <a:t>prox</a:t>
            </a:r>
            <a:r>
              <a:rPr lang="en-US" altLang="pt-BR" sz="2000" dirty="0">
                <a:effectLst/>
              </a:rPr>
              <a:t>, </a:t>
            </a:r>
            <a:r>
              <a:rPr lang="en-US" altLang="pt-BR" sz="2000" dirty="0" err="1">
                <a:effectLst/>
              </a:rPr>
              <a:t>ant+prox</a:t>
            </a:r>
            <a:r>
              <a:rPr lang="en-US" altLang="pt-BR" sz="2000" dirty="0">
                <a:effectLst/>
              </a:rPr>
              <a:t>, n-1); 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	}  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}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main(){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int num;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</a:t>
            </a:r>
            <a:r>
              <a:rPr lang="en-US" altLang="pt-BR" sz="2000" dirty="0" err="1">
                <a:effectLst/>
              </a:rPr>
              <a:t>printf</a:t>
            </a:r>
            <a:r>
              <a:rPr lang="en-US" altLang="pt-BR" sz="2000" dirty="0">
                <a:effectLst/>
              </a:rPr>
              <a:t>("</a:t>
            </a:r>
            <a:r>
              <a:rPr lang="en-US" altLang="pt-BR" sz="2000" dirty="0" err="1">
                <a:effectLst/>
              </a:rPr>
              <a:t>Digite</a:t>
            </a:r>
            <a:r>
              <a:rPr lang="en-US" altLang="pt-BR" sz="2000" dirty="0">
                <a:effectLst/>
              </a:rPr>
              <a:t> a </a:t>
            </a:r>
            <a:r>
              <a:rPr lang="en-US" altLang="pt-BR" sz="2000" dirty="0" err="1">
                <a:effectLst/>
              </a:rPr>
              <a:t>quantidade</a:t>
            </a:r>
            <a:r>
              <a:rPr lang="en-US" altLang="pt-BR" sz="2000" dirty="0">
                <a:effectLst/>
              </a:rPr>
              <a:t> de </a:t>
            </a:r>
            <a:r>
              <a:rPr lang="en-US" altLang="pt-BR" sz="2000" dirty="0" err="1">
                <a:effectLst/>
              </a:rPr>
              <a:t>numeros</a:t>
            </a:r>
            <a:r>
              <a:rPr lang="en-US" altLang="pt-BR" sz="2000" dirty="0">
                <a:effectLst/>
              </a:rPr>
              <a:t> para o Fibonacci: ");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</a:t>
            </a:r>
            <a:r>
              <a:rPr lang="en-US" altLang="pt-BR" sz="2000" dirty="0" err="1">
                <a:effectLst/>
              </a:rPr>
              <a:t>scanf</a:t>
            </a:r>
            <a:r>
              <a:rPr lang="en-US" altLang="pt-BR" sz="2000" dirty="0">
                <a:effectLst/>
              </a:rPr>
              <a:t>("%d", &amp;num);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</a:t>
            </a:r>
            <a:r>
              <a:rPr lang="en-US" altLang="pt-BR" sz="2000" dirty="0" err="1">
                <a:effectLst/>
              </a:rPr>
              <a:t>printf</a:t>
            </a:r>
            <a:r>
              <a:rPr lang="en-US" altLang="pt-BR" sz="2000" dirty="0">
                <a:effectLst/>
              </a:rPr>
              <a:t>("\n ######Teste de Mesa ######\n\n");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</a:t>
            </a:r>
            <a:r>
              <a:rPr lang="en-US" altLang="pt-BR" sz="2000" dirty="0" err="1">
                <a:effectLst/>
              </a:rPr>
              <a:t>fibo</a:t>
            </a:r>
            <a:r>
              <a:rPr lang="en-US" altLang="pt-BR" sz="2000" dirty="0">
                <a:effectLst/>
              </a:rPr>
              <a:t> (1, 1, num);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</a:t>
            </a:r>
            <a:r>
              <a:rPr lang="en-US" altLang="pt-BR" sz="2000" dirty="0" err="1">
                <a:effectLst/>
              </a:rPr>
              <a:t>getch</a:t>
            </a:r>
            <a:r>
              <a:rPr lang="en-US" altLang="pt-BR" sz="2000" dirty="0">
                <a:effectLst/>
              </a:rPr>
              <a:t>();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return (0);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}</a:t>
            </a:r>
          </a:p>
        </p:txBody>
      </p:sp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1DAC0071-C85A-DD53-55D6-1CB1028B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FA7B320-F20E-44BE-A7DA-F69F18B20952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39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2">
            <a:extLst>
              <a:ext uri="{FF2B5EF4-FFF2-40B4-BE49-F238E27FC236}">
                <a16:creationId xmlns:a16="http://schemas.microsoft.com/office/drawing/2014/main" id="{33E35565-FF6B-7A86-5760-A79BCA96BA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pt-BR" sz="3000" dirty="0"/>
              <a:t>3.2 –Série de Fibonacci NÃO </a:t>
            </a:r>
            <a:r>
              <a:rPr lang="en-US" altLang="pt-BR" sz="3000" dirty="0" err="1"/>
              <a:t>Recursiva</a:t>
            </a:r>
            <a:endParaRPr lang="pt-BR" altLang="pt-BR" sz="3000" dirty="0"/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C8863281-87C3-B02B-1315-8ABA515223D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484314"/>
            <a:ext cx="8291513" cy="4752975"/>
          </a:xfrm>
        </p:spPr>
        <p:txBody>
          <a:bodyPr>
            <a:normAutofit lnSpcReduction="10000"/>
          </a:bodyPr>
          <a:lstStyle/>
          <a:p>
            <a:pPr marL="93663" indent="263525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pt-BR" altLang="pt-BR" sz="1600" dirty="0">
              <a:effectLst/>
            </a:endParaRP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#include &lt;</a:t>
            </a:r>
            <a:r>
              <a:rPr lang="en-US" altLang="pt-BR" sz="2000" dirty="0" err="1">
                <a:effectLst/>
              </a:rPr>
              <a:t>stdio.h</a:t>
            </a:r>
            <a:r>
              <a:rPr lang="en-US" altLang="pt-BR" sz="2000" dirty="0">
                <a:effectLst/>
              </a:rPr>
              <a:t>&gt;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#include &lt;</a:t>
            </a:r>
            <a:r>
              <a:rPr lang="en-US" altLang="pt-BR" sz="2000" dirty="0" err="1">
                <a:effectLst/>
              </a:rPr>
              <a:t>conio.h</a:t>
            </a:r>
            <a:r>
              <a:rPr lang="en-US" altLang="pt-BR" sz="2000" dirty="0">
                <a:effectLst/>
              </a:rPr>
              <a:t>&gt;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main(){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int i,f1=0, f2=1, f3, num;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</a:t>
            </a:r>
            <a:r>
              <a:rPr lang="en-US" altLang="pt-BR" sz="2000" dirty="0" err="1">
                <a:effectLst/>
              </a:rPr>
              <a:t>printf</a:t>
            </a:r>
            <a:r>
              <a:rPr lang="en-US" altLang="pt-BR" sz="2000" dirty="0">
                <a:effectLst/>
              </a:rPr>
              <a:t>("</a:t>
            </a:r>
            <a:r>
              <a:rPr lang="en-US" altLang="pt-BR" sz="2000" dirty="0" err="1">
                <a:effectLst/>
              </a:rPr>
              <a:t>Digite</a:t>
            </a:r>
            <a:r>
              <a:rPr lang="en-US" altLang="pt-BR" sz="2000" dirty="0">
                <a:effectLst/>
              </a:rPr>
              <a:t> a </a:t>
            </a:r>
            <a:r>
              <a:rPr lang="en-US" altLang="pt-BR" sz="2000" dirty="0" err="1">
                <a:effectLst/>
              </a:rPr>
              <a:t>quantidade</a:t>
            </a:r>
            <a:r>
              <a:rPr lang="en-US" altLang="pt-BR" sz="2000" dirty="0">
                <a:effectLst/>
              </a:rPr>
              <a:t> de </a:t>
            </a:r>
            <a:r>
              <a:rPr lang="en-US" altLang="pt-BR" sz="2000" dirty="0" err="1">
                <a:effectLst/>
              </a:rPr>
              <a:t>numeros</a:t>
            </a:r>
            <a:r>
              <a:rPr lang="en-US" altLang="pt-BR" sz="2000" dirty="0">
                <a:effectLst/>
              </a:rPr>
              <a:t> para o Fibonacci: ");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</a:t>
            </a:r>
            <a:r>
              <a:rPr lang="en-US" altLang="pt-BR" sz="2000" dirty="0" err="1">
                <a:effectLst/>
              </a:rPr>
              <a:t>scanf</a:t>
            </a:r>
            <a:r>
              <a:rPr lang="en-US" altLang="pt-BR" sz="2000" dirty="0">
                <a:effectLst/>
              </a:rPr>
              <a:t>("%d", &amp;num);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</a:t>
            </a:r>
            <a:r>
              <a:rPr lang="en-US" altLang="pt-BR" sz="2000" dirty="0" err="1">
                <a:effectLst/>
              </a:rPr>
              <a:t>printf</a:t>
            </a:r>
            <a:r>
              <a:rPr lang="en-US" altLang="pt-BR" sz="2000" dirty="0">
                <a:effectLst/>
              </a:rPr>
              <a:t>("\n ######Teste de Mesa ######\n\n");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  </a:t>
            </a:r>
            <a:r>
              <a:rPr lang="en-US" altLang="pt-BR" sz="2000" dirty="0" err="1">
                <a:effectLst/>
              </a:rPr>
              <a:t>printf</a:t>
            </a:r>
            <a:r>
              <a:rPr lang="en-US" altLang="pt-BR" sz="2000" dirty="0">
                <a:effectLst/>
              </a:rPr>
              <a:t> ("  %d", f2);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for (</a:t>
            </a:r>
            <a:r>
              <a:rPr lang="en-US" altLang="pt-BR" sz="2000" dirty="0" err="1">
                <a:effectLst/>
              </a:rPr>
              <a:t>i</a:t>
            </a:r>
            <a:r>
              <a:rPr lang="en-US" altLang="pt-BR" sz="2000" dirty="0">
                <a:effectLst/>
              </a:rPr>
              <a:t>=1; </a:t>
            </a:r>
            <a:r>
              <a:rPr lang="en-US" altLang="pt-BR" sz="2000" dirty="0" err="1">
                <a:effectLst/>
              </a:rPr>
              <a:t>i</a:t>
            </a:r>
            <a:r>
              <a:rPr lang="en-US" altLang="pt-BR" sz="2000" dirty="0">
                <a:effectLst/>
              </a:rPr>
              <a:t>&lt;num; </a:t>
            </a:r>
            <a:r>
              <a:rPr lang="en-US" altLang="pt-BR" sz="2000" dirty="0" err="1">
                <a:effectLst/>
              </a:rPr>
              <a:t>i</a:t>
            </a:r>
            <a:r>
              <a:rPr lang="en-US" altLang="pt-BR" sz="2000" dirty="0">
                <a:effectLst/>
              </a:rPr>
              <a:t>++)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	{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		f3 = f2 + f1;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		</a:t>
            </a:r>
            <a:r>
              <a:rPr lang="en-US" altLang="pt-BR" sz="2000" dirty="0" err="1">
                <a:effectLst/>
              </a:rPr>
              <a:t>printf</a:t>
            </a:r>
            <a:r>
              <a:rPr lang="en-US" altLang="pt-BR" sz="2000" dirty="0">
                <a:effectLst/>
              </a:rPr>
              <a:t> ("  %d", f3);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		f1 = f2;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		f2 = f3;		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	}</a:t>
            </a:r>
          </a:p>
          <a:p>
            <a:pPr marL="93663" indent="0" algn="l">
              <a:lnSpc>
                <a:spcPct val="80000"/>
              </a:lnSpc>
              <a:spcBef>
                <a:spcPct val="0"/>
              </a:spcBef>
              <a:spcAft>
                <a:spcPct val="15000"/>
              </a:spcAft>
              <a:buNone/>
            </a:pPr>
            <a:r>
              <a:rPr lang="en-US" altLang="pt-BR" sz="2000" dirty="0">
                <a:effectLst/>
              </a:rPr>
              <a:t>}</a:t>
            </a:r>
          </a:p>
        </p:txBody>
      </p:sp>
      <p:sp>
        <p:nvSpPr>
          <p:cNvPr id="4" name="Espaço Reservado para Número de Slide 6">
            <a:extLst>
              <a:ext uri="{FF2B5EF4-FFF2-40B4-BE49-F238E27FC236}">
                <a16:creationId xmlns:a16="http://schemas.microsoft.com/office/drawing/2014/main" id="{2CBC3CB6-E32E-7E77-6159-AA03B6443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9CAD447-1A04-4787-8D95-E64F92F5C03E}" type="slidenum">
              <a:rPr lang="pt-BR" altLang="pt-BR">
                <a:solidFill>
                  <a:srgbClr val="000000"/>
                </a:solidFill>
                <a:latin typeface="Arial" panose="020B0604020202020204" pitchFamily="34" charset="0"/>
              </a:rPr>
              <a:pPr/>
              <a:t>40</a:t>
            </a:fld>
            <a:endParaRPr lang="pt-BR" altLang="pt-BR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31A93D2CB35614FA45893B80519B5BE" ma:contentTypeVersion="7" ma:contentTypeDescription="Crie um novo documento." ma:contentTypeScope="" ma:versionID="d5819fe5c110c5934286adf054d8c361">
  <xsd:schema xmlns:xsd="http://www.w3.org/2001/XMLSchema" xmlns:xs="http://www.w3.org/2001/XMLSchema" xmlns:p="http://schemas.microsoft.com/office/2006/metadata/properties" xmlns:ns2="d4266379-08b9-4d9e-9b69-a807b6d0c153" targetNamespace="http://schemas.microsoft.com/office/2006/metadata/properties" ma:root="true" ma:fieldsID="e76dccc702da44555f125f79004340bd" ns2:_="">
    <xsd:import namespace="d4266379-08b9-4d9e-9b69-a807b6d0c1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266379-08b9-4d9e-9b69-a807b6d0c1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F9B9905-B05B-4236-ADF2-4324EF4760FC}"/>
</file>

<file path=customXml/itemProps2.xml><?xml version="1.0" encoding="utf-8"?>
<ds:datastoreItem xmlns:ds="http://schemas.openxmlformats.org/officeDocument/2006/customXml" ds:itemID="{83149A1A-DDB3-409C-B5FA-A14727BE5BCE}"/>
</file>

<file path=customXml/itemProps3.xml><?xml version="1.0" encoding="utf-8"?>
<ds:datastoreItem xmlns:ds="http://schemas.openxmlformats.org/officeDocument/2006/customXml" ds:itemID="{F32C30E9-7E2E-405A-851E-171CDE53521D}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32286</TotalTime>
  <Words>4448</Words>
  <Application>Microsoft Office PowerPoint</Application>
  <PresentationFormat>Widescreen</PresentationFormat>
  <Paragraphs>468</Paragraphs>
  <Slides>40</Slides>
  <Notes>36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8" baseType="lpstr">
      <vt:lpstr>SimSun</vt:lpstr>
      <vt:lpstr>Arial</vt:lpstr>
      <vt:lpstr>Calibri</vt:lpstr>
      <vt:lpstr>Calibri Light</vt:lpstr>
      <vt:lpstr>Tahoma</vt:lpstr>
      <vt:lpstr>Times New Roman</vt:lpstr>
      <vt:lpstr>Wingdings</vt:lpstr>
      <vt:lpstr>Tema do Office 2013 - 2022</vt:lpstr>
      <vt:lpstr>Linguagem de Programação C</vt:lpstr>
      <vt:lpstr>Programação A</vt:lpstr>
      <vt:lpstr>5.1 – Funções</vt:lpstr>
      <vt:lpstr>5.1 – Funções: Estrutura das Funções de Usuário </vt:lpstr>
      <vt:lpstr>5.1 – Funções: Estrutura das Funções de Usuário </vt:lpstr>
      <vt:lpstr>5.1 – Funções: Definição de Funções </vt:lpstr>
      <vt:lpstr>5.1 – Funções: Definição de Funções </vt:lpstr>
      <vt:lpstr>5.1 – Funções: Localização das Funções </vt:lpstr>
      <vt:lpstr>5.1 – Funções: Localização das Funções</vt:lpstr>
      <vt:lpstr>5.1 – Funções: Localização das Funções</vt:lpstr>
      <vt:lpstr>5.1 – Funções: Localização das Funções</vt:lpstr>
      <vt:lpstr>5.1 – Funções: Localização das Funções </vt:lpstr>
      <vt:lpstr>5.1 – Funções: Localização das Funções </vt:lpstr>
      <vt:lpstr>5.1 – Funções: Localização das Funções </vt:lpstr>
      <vt:lpstr>5.1 – Funções: Localização das Funções </vt:lpstr>
      <vt:lpstr>5.1 – Funções: Localização das Funções </vt:lpstr>
      <vt:lpstr>5.1 – Funções: Localização das Funções </vt:lpstr>
      <vt:lpstr>5.1 – Funções: Localização das Funções </vt:lpstr>
      <vt:lpstr>5.1 – Funções: Hierarquia de Funções</vt:lpstr>
      <vt:lpstr>5.2 – Variáveis Locais e Globais</vt:lpstr>
      <vt:lpstr>5.2 – Variáveis Locais e Globais</vt:lpstr>
      <vt:lpstr>5.2 – Variáveis Locais e Globais</vt:lpstr>
      <vt:lpstr>5.2 – Variáveis Locais e Globais</vt:lpstr>
      <vt:lpstr>5.2 – Variáveis Locais e Globais</vt:lpstr>
      <vt:lpstr>5.2 – Variáveis Locais e Globais</vt:lpstr>
      <vt:lpstr>5.2 – Variáveis Locais e Globais</vt:lpstr>
      <vt:lpstr>5.3 – Passagem de Parâmetros por Valor</vt:lpstr>
      <vt:lpstr>5.3 – Passagem de Parâmetros por Valor</vt:lpstr>
      <vt:lpstr>5.4 – Funções: Regra de Escopo para Variáveis </vt:lpstr>
      <vt:lpstr>Exercícios</vt:lpstr>
      <vt:lpstr>Apresentação do PowerPoint</vt:lpstr>
      <vt:lpstr>FUNÇÕES RECURSIVAS</vt:lpstr>
      <vt:lpstr>Recursividade</vt:lpstr>
      <vt:lpstr>Recursividade</vt:lpstr>
      <vt:lpstr>Recursividade: Fatorial</vt:lpstr>
      <vt:lpstr>Recursividade</vt:lpstr>
      <vt:lpstr>Apresentação do PowerPoint</vt:lpstr>
      <vt:lpstr>5.2 – Recursividade – Série de Fibonacci</vt:lpstr>
      <vt:lpstr>3.2 – Recursividade – Série de Fibonacci</vt:lpstr>
      <vt:lpstr>3.2 –Série de Fibonacci NÃO Recursiva</vt:lpstr>
    </vt:vector>
  </TitlesOfParts>
  <Company>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INSTITUTO TECNOLOGICO DE AERO</dc:creator>
  <cp:lastModifiedBy>Pedro Carlos Euphrásio</cp:lastModifiedBy>
  <cp:revision>830</cp:revision>
  <dcterms:created xsi:type="dcterms:W3CDTF">2003-07-17T00:20:49Z</dcterms:created>
  <dcterms:modified xsi:type="dcterms:W3CDTF">2025-10-14T19:33:25Z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0x010100C31A93D2CB35614FA45893B80519B5BE</vt:lpwstr>
  </property>
</Properties>
</file>