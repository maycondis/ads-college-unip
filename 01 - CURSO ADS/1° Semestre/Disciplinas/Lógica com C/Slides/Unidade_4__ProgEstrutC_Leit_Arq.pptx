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5"/>
  </p:notesMasterIdLst>
  <p:handoutMasterIdLst>
    <p:handoutMasterId r:id="rId36"/>
  </p:handoutMasterIdLst>
  <p:sldIdLst>
    <p:sldId id="899" r:id="rId2"/>
    <p:sldId id="922" r:id="rId3"/>
    <p:sldId id="900" r:id="rId4"/>
    <p:sldId id="901" r:id="rId5"/>
    <p:sldId id="902" r:id="rId6"/>
    <p:sldId id="919" r:id="rId7"/>
    <p:sldId id="903" r:id="rId8"/>
    <p:sldId id="904" r:id="rId9"/>
    <p:sldId id="905" r:id="rId10"/>
    <p:sldId id="906" r:id="rId11"/>
    <p:sldId id="907" r:id="rId12"/>
    <p:sldId id="908" r:id="rId13"/>
    <p:sldId id="909" r:id="rId14"/>
    <p:sldId id="910" r:id="rId15"/>
    <p:sldId id="911" r:id="rId16"/>
    <p:sldId id="912" r:id="rId17"/>
    <p:sldId id="913" r:id="rId18"/>
    <p:sldId id="914" r:id="rId19"/>
    <p:sldId id="915" r:id="rId20"/>
    <p:sldId id="916" r:id="rId21"/>
    <p:sldId id="917" r:id="rId22"/>
    <p:sldId id="918" r:id="rId23"/>
    <p:sldId id="920" r:id="rId24"/>
    <p:sldId id="921" r:id="rId25"/>
    <p:sldId id="923" r:id="rId26"/>
    <p:sldId id="924" r:id="rId27"/>
    <p:sldId id="925" r:id="rId28"/>
    <p:sldId id="926" r:id="rId29"/>
    <p:sldId id="927" r:id="rId30"/>
    <p:sldId id="928" r:id="rId31"/>
    <p:sldId id="929" r:id="rId32"/>
    <p:sldId id="930" r:id="rId33"/>
    <p:sldId id="931"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9999"/>
    <a:srgbClr val="009900"/>
    <a:srgbClr val="00E7E2"/>
    <a:srgbClr val="00B0AC"/>
    <a:srgbClr val="BDD2E9"/>
    <a:srgbClr val="A4A4D0"/>
    <a:srgbClr val="ECF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4" autoAdjust="0"/>
    <p:restoredTop sz="94394" autoAdjust="0"/>
  </p:normalViewPr>
  <p:slideViewPr>
    <p:cSldViewPr>
      <p:cViewPr varScale="1">
        <p:scale>
          <a:sx n="75" d="100"/>
          <a:sy n="75" d="100"/>
        </p:scale>
        <p:origin x="946" y="62"/>
      </p:cViewPr>
      <p:guideLst>
        <p:guide orient="horz" pos="2160"/>
        <p:guide pos="384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75" d="100"/>
        <a:sy n="75" d="100"/>
      </p:scale>
      <p:origin x="0" y="3030"/>
    </p:cViewPr>
  </p:sorterViewPr>
  <p:notesViewPr>
    <p:cSldViewPr>
      <p:cViewPr varScale="1">
        <p:scale>
          <a:sx n="53" d="100"/>
          <a:sy n="53" d="100"/>
        </p:scale>
        <p:origin x="-184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2F15AF1-84D6-50B7-F09B-D133FB19480A}"/>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22531" name="Rectangle 3">
            <a:extLst>
              <a:ext uri="{FF2B5EF4-FFF2-40B4-BE49-F238E27FC236}">
                <a16:creationId xmlns:a16="http://schemas.microsoft.com/office/drawing/2014/main" id="{210716E3-2AFB-3A03-4167-6AACCC557BB6}"/>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effectLst/>
                <a:latin typeface="Times New Roman" pitchFamily="18" charset="0"/>
              </a:defRPr>
            </a:lvl1pPr>
          </a:lstStyle>
          <a:p>
            <a:pPr>
              <a:defRPr/>
            </a:pPr>
            <a:endParaRPr lang="en-US"/>
          </a:p>
        </p:txBody>
      </p:sp>
      <p:sp>
        <p:nvSpPr>
          <p:cNvPr id="22532" name="Rectangle 4">
            <a:extLst>
              <a:ext uri="{FF2B5EF4-FFF2-40B4-BE49-F238E27FC236}">
                <a16:creationId xmlns:a16="http://schemas.microsoft.com/office/drawing/2014/main" id="{1B73B5EC-AB8E-7945-44F2-580DBE7373D4}"/>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22533" name="Rectangle 5">
            <a:extLst>
              <a:ext uri="{FF2B5EF4-FFF2-40B4-BE49-F238E27FC236}">
                <a16:creationId xmlns:a16="http://schemas.microsoft.com/office/drawing/2014/main" id="{EADA20A6-40AF-1A2E-FC68-2776C6F283BD}"/>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Times New Roman" panose="02020603050405020304" pitchFamily="18" charset="0"/>
              </a:defRPr>
            </a:lvl1pPr>
          </a:lstStyle>
          <a:p>
            <a:pPr>
              <a:defRPr/>
            </a:pPr>
            <a:fld id="{CE7C1173-DD59-4B75-B33F-E6E1B29B26A3}" type="slidenum">
              <a:rPr lang="en-US" altLang="pt-BR"/>
              <a:pPr>
                <a:defRPr/>
              </a:pPr>
              <a:t>‹nº›</a:t>
            </a:fld>
            <a:endParaRPr lang="en-US" alt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28E273D-18BF-C12C-B8BF-3045FDEC811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32771" name="Rectangle 3">
            <a:extLst>
              <a:ext uri="{FF2B5EF4-FFF2-40B4-BE49-F238E27FC236}">
                <a16:creationId xmlns:a16="http://schemas.microsoft.com/office/drawing/2014/main" id="{CDC3CAC4-5983-0A5D-BACC-EDDFC2BA43F2}"/>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effectLst/>
                <a:latin typeface="Times New Roman" pitchFamily="18" charset="0"/>
              </a:defRPr>
            </a:lvl1pPr>
          </a:lstStyle>
          <a:p>
            <a:pPr>
              <a:defRPr/>
            </a:pPr>
            <a:endParaRPr lang="en-US"/>
          </a:p>
        </p:txBody>
      </p:sp>
      <p:sp>
        <p:nvSpPr>
          <p:cNvPr id="2052" name="Rectangle 4">
            <a:extLst>
              <a:ext uri="{FF2B5EF4-FFF2-40B4-BE49-F238E27FC236}">
                <a16:creationId xmlns:a16="http://schemas.microsoft.com/office/drawing/2014/main" id="{CF5CDBB8-B9A3-3808-35AA-1D9F99E012AF}"/>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a:extLst>
              <a:ext uri="{FF2B5EF4-FFF2-40B4-BE49-F238E27FC236}">
                <a16:creationId xmlns:a16="http://schemas.microsoft.com/office/drawing/2014/main" id="{3BFA1AFF-7C6A-7879-4E73-3D3577E91C90}"/>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a:extLst>
              <a:ext uri="{FF2B5EF4-FFF2-40B4-BE49-F238E27FC236}">
                <a16:creationId xmlns:a16="http://schemas.microsoft.com/office/drawing/2014/main" id="{51451EE2-CE16-CDC6-C9CA-C2DE358D5079}"/>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32775" name="Rectangle 7">
            <a:extLst>
              <a:ext uri="{FF2B5EF4-FFF2-40B4-BE49-F238E27FC236}">
                <a16:creationId xmlns:a16="http://schemas.microsoft.com/office/drawing/2014/main" id="{6550878F-4716-3A0B-A58E-1B4D6919F78C}"/>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Times New Roman" panose="02020603050405020304" pitchFamily="18" charset="0"/>
              </a:defRPr>
            </a:lvl1pPr>
          </a:lstStyle>
          <a:p>
            <a:pPr>
              <a:defRPr/>
            </a:pPr>
            <a:fld id="{29449EF3-F1E8-4C72-A14A-EC951237C182}" type="slidenum">
              <a:rPr lang="en-US" altLang="pt-BR"/>
              <a:pPr>
                <a:defRPr/>
              </a:pPr>
              <a:t>‹nº›</a:t>
            </a:fld>
            <a:endParaRPr lang="en-US" altLang="pt-B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1E03A89F-74DF-609B-6375-3D92E779C5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946E899-A72F-469C-98C7-0DD908C0E9A1}" type="slidenum">
              <a:rPr lang="en-US" altLang="pt-BR">
                <a:latin typeface="Times New Roman" panose="02020603050405020304" pitchFamily="18" charset="0"/>
              </a:rPr>
              <a:pPr/>
              <a:t>1</a:t>
            </a:fld>
            <a:endParaRPr lang="en-US" altLang="pt-BR">
              <a:latin typeface="Times New Roman" panose="02020603050405020304" pitchFamily="18" charset="0"/>
            </a:endParaRPr>
          </a:p>
        </p:txBody>
      </p:sp>
      <p:sp>
        <p:nvSpPr>
          <p:cNvPr id="5123" name="Rectangle 2">
            <a:extLst>
              <a:ext uri="{FF2B5EF4-FFF2-40B4-BE49-F238E27FC236}">
                <a16:creationId xmlns:a16="http://schemas.microsoft.com/office/drawing/2014/main" id="{5B8190B3-DF1F-4CE1-AD78-2C07FA311E53}"/>
              </a:ext>
            </a:extLst>
          </p:cNvPr>
          <p:cNvSpPr>
            <a:spLocks noGrp="1" noRot="1" noChangeAspect="1" noChangeArrowheads="1" noTextEdit="1"/>
          </p:cNvSpPr>
          <p:nvPr>
            <p:ph type="sldImg"/>
          </p:nvPr>
        </p:nvSpPr>
        <p:spPr>
          <a:xfrm>
            <a:off x="381000" y="685800"/>
            <a:ext cx="6096000" cy="3429000"/>
          </a:xfrm>
          <a:ln/>
        </p:spPr>
      </p:sp>
      <p:sp>
        <p:nvSpPr>
          <p:cNvPr id="5124" name="Rectangle 3">
            <a:extLst>
              <a:ext uri="{FF2B5EF4-FFF2-40B4-BE49-F238E27FC236}">
                <a16:creationId xmlns:a16="http://schemas.microsoft.com/office/drawing/2014/main" id="{2F71EDF3-CFA0-6105-5315-7C5E3B81DE9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97871602-BA16-E537-410C-23DD7A03088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88911C2-AEC8-471D-88AD-A722CADE1923}" type="slidenum">
              <a:rPr lang="en-US" altLang="pt-BR">
                <a:latin typeface="Times New Roman" panose="02020603050405020304" pitchFamily="18" charset="0"/>
              </a:rPr>
              <a:pPr/>
              <a:t>2</a:t>
            </a:fld>
            <a:endParaRPr lang="en-US" altLang="pt-BR">
              <a:latin typeface="Times New Roman" panose="02020603050405020304" pitchFamily="18" charset="0"/>
            </a:endParaRPr>
          </a:p>
        </p:txBody>
      </p:sp>
      <p:sp>
        <p:nvSpPr>
          <p:cNvPr id="7171" name="Rectangle 2">
            <a:extLst>
              <a:ext uri="{FF2B5EF4-FFF2-40B4-BE49-F238E27FC236}">
                <a16:creationId xmlns:a16="http://schemas.microsoft.com/office/drawing/2014/main" id="{6080B454-72EB-D286-8C23-89E493D27735}"/>
              </a:ext>
            </a:extLst>
          </p:cNvPr>
          <p:cNvSpPr>
            <a:spLocks noGrp="1" noRot="1" noChangeAspect="1" noChangeArrowheads="1" noTextEdit="1"/>
          </p:cNvSpPr>
          <p:nvPr>
            <p:ph type="sldImg"/>
          </p:nvPr>
        </p:nvSpPr>
        <p:spPr>
          <a:xfrm>
            <a:off x="381000" y="685800"/>
            <a:ext cx="6096000" cy="3429000"/>
          </a:xfrm>
          <a:ln/>
        </p:spPr>
      </p:sp>
      <p:sp>
        <p:nvSpPr>
          <p:cNvPr id="7172" name="Rectangle 3">
            <a:extLst>
              <a:ext uri="{FF2B5EF4-FFF2-40B4-BE49-F238E27FC236}">
                <a16:creationId xmlns:a16="http://schemas.microsoft.com/office/drawing/2014/main" id="{DB2189BB-FE48-6591-880D-33980157AAE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8DDD6586-1D4B-5EBF-2C12-C36890C47CE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53BEC4D-FDE1-44BE-8BF6-A271EBE4EB97}" type="slidenum">
              <a:rPr lang="en-US" altLang="pt-BR">
                <a:latin typeface="Times New Roman" panose="02020603050405020304" pitchFamily="18" charset="0"/>
              </a:rPr>
              <a:pPr/>
              <a:t>3</a:t>
            </a:fld>
            <a:endParaRPr lang="en-US" altLang="pt-BR">
              <a:latin typeface="Times New Roman" panose="02020603050405020304" pitchFamily="18" charset="0"/>
            </a:endParaRPr>
          </a:p>
        </p:txBody>
      </p:sp>
      <p:sp>
        <p:nvSpPr>
          <p:cNvPr id="9219" name="Rectangle 2">
            <a:extLst>
              <a:ext uri="{FF2B5EF4-FFF2-40B4-BE49-F238E27FC236}">
                <a16:creationId xmlns:a16="http://schemas.microsoft.com/office/drawing/2014/main" id="{82DBD962-5FAB-F7F7-ECC9-0E3506EAFEC2}"/>
              </a:ext>
            </a:extLst>
          </p:cNvPr>
          <p:cNvSpPr>
            <a:spLocks noGrp="1" noRot="1" noChangeAspect="1" noChangeArrowheads="1" noTextEdit="1"/>
          </p:cNvSpPr>
          <p:nvPr>
            <p:ph type="sldImg"/>
          </p:nvPr>
        </p:nvSpPr>
        <p:spPr>
          <a:xfrm>
            <a:off x="381000" y="685800"/>
            <a:ext cx="6096000" cy="3429000"/>
          </a:xfrm>
          <a:ln/>
        </p:spPr>
      </p:sp>
      <p:sp>
        <p:nvSpPr>
          <p:cNvPr id="9220" name="Rectangle 3">
            <a:extLst>
              <a:ext uri="{FF2B5EF4-FFF2-40B4-BE49-F238E27FC236}">
                <a16:creationId xmlns:a16="http://schemas.microsoft.com/office/drawing/2014/main" id="{D37CED2A-5CA4-4EC7-C475-D80610EA247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0884082B-E275-E62C-141C-6F8BC58F9C7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9F10F9A-243C-44B8-820B-6AE542074A2D}" type="slidenum">
              <a:rPr lang="en-US" altLang="pt-BR">
                <a:latin typeface="Times New Roman" panose="02020603050405020304" pitchFamily="18" charset="0"/>
              </a:rPr>
              <a:pPr/>
              <a:t>4</a:t>
            </a:fld>
            <a:endParaRPr lang="en-US" altLang="pt-BR">
              <a:latin typeface="Times New Roman" panose="02020603050405020304" pitchFamily="18" charset="0"/>
            </a:endParaRPr>
          </a:p>
        </p:txBody>
      </p:sp>
      <p:sp>
        <p:nvSpPr>
          <p:cNvPr id="11267" name="Rectangle 2">
            <a:extLst>
              <a:ext uri="{FF2B5EF4-FFF2-40B4-BE49-F238E27FC236}">
                <a16:creationId xmlns:a16="http://schemas.microsoft.com/office/drawing/2014/main" id="{FC1B9A45-4AAD-02F7-D56B-52F6F61FCFC7}"/>
              </a:ext>
            </a:extLst>
          </p:cNvPr>
          <p:cNvSpPr>
            <a:spLocks noGrp="1" noRot="1" noChangeAspect="1" noChangeArrowheads="1" noTextEdit="1"/>
          </p:cNvSpPr>
          <p:nvPr>
            <p:ph type="sldImg"/>
          </p:nvPr>
        </p:nvSpPr>
        <p:spPr>
          <a:xfrm>
            <a:off x="381000" y="685800"/>
            <a:ext cx="6096000" cy="3429000"/>
          </a:xfrm>
          <a:ln/>
        </p:spPr>
      </p:sp>
      <p:sp>
        <p:nvSpPr>
          <p:cNvPr id="11268" name="Rectangle 3">
            <a:extLst>
              <a:ext uri="{FF2B5EF4-FFF2-40B4-BE49-F238E27FC236}">
                <a16:creationId xmlns:a16="http://schemas.microsoft.com/office/drawing/2014/main" id="{45237579-8603-6A0E-D336-1DB8FB1B16D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3C4FBFD7-CDFE-2AD4-E749-40EFB898F6A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C8FEBA7-B878-4833-AB55-3BF8F67F06E5}" type="slidenum">
              <a:rPr lang="en-US" altLang="pt-BR">
                <a:latin typeface="Times New Roman" panose="02020603050405020304" pitchFamily="18" charset="0"/>
              </a:rPr>
              <a:pPr/>
              <a:t>5</a:t>
            </a:fld>
            <a:endParaRPr lang="en-US" altLang="pt-BR">
              <a:latin typeface="Times New Roman" panose="02020603050405020304" pitchFamily="18" charset="0"/>
            </a:endParaRPr>
          </a:p>
        </p:txBody>
      </p:sp>
      <p:sp>
        <p:nvSpPr>
          <p:cNvPr id="13315" name="Rectangle 2">
            <a:extLst>
              <a:ext uri="{FF2B5EF4-FFF2-40B4-BE49-F238E27FC236}">
                <a16:creationId xmlns:a16="http://schemas.microsoft.com/office/drawing/2014/main" id="{D1A085D3-4856-4927-400A-F7B2531FE786}"/>
              </a:ext>
            </a:extLst>
          </p:cNvPr>
          <p:cNvSpPr>
            <a:spLocks noGrp="1" noRot="1" noChangeAspect="1" noChangeArrowheads="1" noTextEdit="1"/>
          </p:cNvSpPr>
          <p:nvPr>
            <p:ph type="sldImg"/>
          </p:nvPr>
        </p:nvSpPr>
        <p:spPr>
          <a:xfrm>
            <a:off x="381000" y="685800"/>
            <a:ext cx="6096000" cy="3429000"/>
          </a:xfrm>
          <a:ln/>
        </p:spPr>
      </p:sp>
      <p:sp>
        <p:nvSpPr>
          <p:cNvPr id="13316" name="Rectangle 3">
            <a:extLst>
              <a:ext uri="{FF2B5EF4-FFF2-40B4-BE49-F238E27FC236}">
                <a16:creationId xmlns:a16="http://schemas.microsoft.com/office/drawing/2014/main" id="{FED94A5A-76C0-1F42-42BF-69ABF6976DD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5B08D3D3-D122-7514-49DD-45759E5927F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C3293B6-555D-4073-B8F1-811BE5AEEC70}" type="slidenum">
              <a:rPr lang="en-US" altLang="pt-BR">
                <a:latin typeface="Times New Roman" panose="02020603050405020304" pitchFamily="18" charset="0"/>
              </a:rPr>
              <a:pPr/>
              <a:t>6</a:t>
            </a:fld>
            <a:endParaRPr lang="en-US" altLang="pt-BR">
              <a:latin typeface="Times New Roman" panose="02020603050405020304" pitchFamily="18" charset="0"/>
            </a:endParaRPr>
          </a:p>
        </p:txBody>
      </p:sp>
      <p:sp>
        <p:nvSpPr>
          <p:cNvPr id="15363" name="Rectangle 2">
            <a:extLst>
              <a:ext uri="{FF2B5EF4-FFF2-40B4-BE49-F238E27FC236}">
                <a16:creationId xmlns:a16="http://schemas.microsoft.com/office/drawing/2014/main" id="{54C5CC87-DDF4-A0CC-B8EB-804B94E9872D}"/>
              </a:ext>
            </a:extLst>
          </p:cNvPr>
          <p:cNvSpPr>
            <a:spLocks noGrp="1" noRot="1" noChangeAspect="1" noChangeArrowheads="1" noTextEdit="1"/>
          </p:cNvSpPr>
          <p:nvPr>
            <p:ph type="sldImg"/>
          </p:nvPr>
        </p:nvSpPr>
        <p:spPr>
          <a:xfrm>
            <a:off x="381000" y="685800"/>
            <a:ext cx="6096000" cy="3429000"/>
          </a:xfrm>
          <a:ln/>
        </p:spPr>
      </p:sp>
      <p:sp>
        <p:nvSpPr>
          <p:cNvPr id="15364" name="Rectangle 3">
            <a:extLst>
              <a:ext uri="{FF2B5EF4-FFF2-40B4-BE49-F238E27FC236}">
                <a16:creationId xmlns:a16="http://schemas.microsoft.com/office/drawing/2014/main" id="{9F8D8290-4537-0478-9FF8-2FE43428F10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2A651B24-EB74-78AD-4039-C1FFEDA7B27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BA64E40-FC3A-4951-93C0-AE902ADC5FF7}" type="slidenum">
              <a:rPr lang="en-US" altLang="pt-BR">
                <a:latin typeface="Times New Roman" panose="02020603050405020304" pitchFamily="18" charset="0"/>
              </a:rPr>
              <a:pPr/>
              <a:t>7</a:t>
            </a:fld>
            <a:endParaRPr lang="en-US" altLang="pt-BR">
              <a:latin typeface="Times New Roman" panose="02020603050405020304" pitchFamily="18" charset="0"/>
            </a:endParaRPr>
          </a:p>
        </p:txBody>
      </p:sp>
      <p:sp>
        <p:nvSpPr>
          <p:cNvPr id="17411" name="Rectangle 2">
            <a:extLst>
              <a:ext uri="{FF2B5EF4-FFF2-40B4-BE49-F238E27FC236}">
                <a16:creationId xmlns:a16="http://schemas.microsoft.com/office/drawing/2014/main" id="{5A964F75-63BB-7F1E-539A-26721B9B6D80}"/>
              </a:ext>
            </a:extLst>
          </p:cNvPr>
          <p:cNvSpPr>
            <a:spLocks noGrp="1" noRot="1" noChangeAspect="1" noChangeArrowheads="1" noTextEdit="1"/>
          </p:cNvSpPr>
          <p:nvPr>
            <p:ph type="sldImg"/>
          </p:nvPr>
        </p:nvSpPr>
        <p:spPr>
          <a:xfrm>
            <a:off x="381000" y="685800"/>
            <a:ext cx="6096000" cy="3429000"/>
          </a:xfrm>
          <a:ln/>
        </p:spPr>
      </p:sp>
      <p:sp>
        <p:nvSpPr>
          <p:cNvPr id="17412" name="Rectangle 3">
            <a:extLst>
              <a:ext uri="{FF2B5EF4-FFF2-40B4-BE49-F238E27FC236}">
                <a16:creationId xmlns:a16="http://schemas.microsoft.com/office/drawing/2014/main" id="{FC9E0AA6-7AEF-A5DD-51C6-076F22BE065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3E7D71F9-4572-E539-C59D-B1FBEE5A8D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D77A6F7-2326-4AD6-BCDE-1C6CAA097259}" type="slidenum">
              <a:rPr lang="en-US" altLang="pt-BR">
                <a:latin typeface="Times New Roman" panose="02020603050405020304" pitchFamily="18" charset="0"/>
              </a:rPr>
              <a:pPr/>
              <a:t>8</a:t>
            </a:fld>
            <a:endParaRPr lang="en-US" altLang="pt-BR">
              <a:latin typeface="Times New Roman" panose="02020603050405020304" pitchFamily="18" charset="0"/>
            </a:endParaRPr>
          </a:p>
        </p:txBody>
      </p:sp>
      <p:sp>
        <p:nvSpPr>
          <p:cNvPr id="19459" name="Rectangle 2">
            <a:extLst>
              <a:ext uri="{FF2B5EF4-FFF2-40B4-BE49-F238E27FC236}">
                <a16:creationId xmlns:a16="http://schemas.microsoft.com/office/drawing/2014/main" id="{8E2C0E91-73F3-8F51-1555-6AFA179C962F}"/>
              </a:ext>
            </a:extLst>
          </p:cNvPr>
          <p:cNvSpPr>
            <a:spLocks noGrp="1" noRot="1" noChangeAspect="1" noChangeArrowheads="1" noTextEdit="1"/>
          </p:cNvSpPr>
          <p:nvPr>
            <p:ph type="sldImg"/>
          </p:nvPr>
        </p:nvSpPr>
        <p:spPr>
          <a:xfrm>
            <a:off x="381000" y="685800"/>
            <a:ext cx="6096000" cy="3429000"/>
          </a:xfrm>
          <a:ln/>
        </p:spPr>
      </p:sp>
      <p:sp>
        <p:nvSpPr>
          <p:cNvPr id="19460" name="Rectangle 3">
            <a:extLst>
              <a:ext uri="{FF2B5EF4-FFF2-40B4-BE49-F238E27FC236}">
                <a16:creationId xmlns:a16="http://schemas.microsoft.com/office/drawing/2014/main" id="{C31B65CD-6CD2-3678-C614-E094735D80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126912A9-7CA6-C499-AB71-725A6944B59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A6D6262-0E89-4B34-800A-D392FD7A7C7A}" type="slidenum">
              <a:rPr lang="en-US" altLang="pt-BR">
                <a:latin typeface="Times New Roman" panose="02020603050405020304" pitchFamily="18" charset="0"/>
              </a:rPr>
              <a:pPr/>
              <a:t>9</a:t>
            </a:fld>
            <a:endParaRPr lang="en-US" altLang="pt-BR">
              <a:latin typeface="Times New Roman" panose="02020603050405020304" pitchFamily="18" charset="0"/>
            </a:endParaRPr>
          </a:p>
        </p:txBody>
      </p:sp>
      <p:sp>
        <p:nvSpPr>
          <p:cNvPr id="21507" name="Rectangle 2">
            <a:extLst>
              <a:ext uri="{FF2B5EF4-FFF2-40B4-BE49-F238E27FC236}">
                <a16:creationId xmlns:a16="http://schemas.microsoft.com/office/drawing/2014/main" id="{C13CB806-D26B-EA75-7ED8-CF89DB6017AF}"/>
              </a:ext>
            </a:extLst>
          </p:cNvPr>
          <p:cNvSpPr>
            <a:spLocks noGrp="1" noRot="1" noChangeAspect="1" noChangeArrowheads="1" noTextEdit="1"/>
          </p:cNvSpPr>
          <p:nvPr>
            <p:ph type="sldImg"/>
          </p:nvPr>
        </p:nvSpPr>
        <p:spPr>
          <a:xfrm>
            <a:off x="381000" y="685800"/>
            <a:ext cx="6096000" cy="3429000"/>
          </a:xfrm>
          <a:ln/>
        </p:spPr>
      </p:sp>
      <p:sp>
        <p:nvSpPr>
          <p:cNvPr id="21508" name="Rectangle 3">
            <a:extLst>
              <a:ext uri="{FF2B5EF4-FFF2-40B4-BE49-F238E27FC236}">
                <a16:creationId xmlns:a16="http://schemas.microsoft.com/office/drawing/2014/main" id="{43B1926B-4757-8EA1-1D89-AEDBD861576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4BEABCE5-B835-336C-1F05-1568DBB10E4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F1FDE6D-C30B-42CB-8D40-763CB0374F5B}" type="slidenum">
              <a:rPr lang="en-US" altLang="pt-BR">
                <a:latin typeface="Times New Roman" panose="02020603050405020304" pitchFamily="18" charset="0"/>
              </a:rPr>
              <a:pPr/>
              <a:t>10</a:t>
            </a:fld>
            <a:endParaRPr lang="en-US" altLang="pt-BR">
              <a:latin typeface="Times New Roman" panose="02020603050405020304" pitchFamily="18" charset="0"/>
            </a:endParaRPr>
          </a:p>
        </p:txBody>
      </p:sp>
      <p:sp>
        <p:nvSpPr>
          <p:cNvPr id="23555" name="Rectangle 2">
            <a:extLst>
              <a:ext uri="{FF2B5EF4-FFF2-40B4-BE49-F238E27FC236}">
                <a16:creationId xmlns:a16="http://schemas.microsoft.com/office/drawing/2014/main" id="{88D26544-B004-A010-5617-B15BB3B212D3}"/>
              </a:ext>
            </a:extLst>
          </p:cNvPr>
          <p:cNvSpPr>
            <a:spLocks noGrp="1" noRot="1" noChangeAspect="1" noChangeArrowheads="1" noTextEdit="1"/>
          </p:cNvSpPr>
          <p:nvPr>
            <p:ph type="sldImg"/>
          </p:nvPr>
        </p:nvSpPr>
        <p:spPr>
          <a:xfrm>
            <a:off x="381000" y="685800"/>
            <a:ext cx="6096000" cy="3429000"/>
          </a:xfrm>
          <a:ln/>
        </p:spPr>
      </p:sp>
      <p:sp>
        <p:nvSpPr>
          <p:cNvPr id="23556" name="Rectangle 3">
            <a:extLst>
              <a:ext uri="{FF2B5EF4-FFF2-40B4-BE49-F238E27FC236}">
                <a16:creationId xmlns:a16="http://schemas.microsoft.com/office/drawing/2014/main" id="{5D1F725B-97CF-CCFF-374D-4FAAAF00340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E2E817D4-45FE-82BC-2ED3-86FA94DDEDA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64077DF-3232-44DD-B421-1B6C28D98AF2}" type="slidenum">
              <a:rPr lang="en-US" altLang="pt-BR">
                <a:latin typeface="Times New Roman" panose="02020603050405020304" pitchFamily="18" charset="0"/>
              </a:rPr>
              <a:pPr/>
              <a:t>11</a:t>
            </a:fld>
            <a:endParaRPr lang="en-US" altLang="pt-BR">
              <a:latin typeface="Times New Roman" panose="02020603050405020304" pitchFamily="18" charset="0"/>
            </a:endParaRPr>
          </a:p>
        </p:txBody>
      </p:sp>
      <p:sp>
        <p:nvSpPr>
          <p:cNvPr id="25603" name="Rectangle 2">
            <a:extLst>
              <a:ext uri="{FF2B5EF4-FFF2-40B4-BE49-F238E27FC236}">
                <a16:creationId xmlns:a16="http://schemas.microsoft.com/office/drawing/2014/main" id="{800FE2AD-9836-D970-5DB2-7B94866F2009}"/>
              </a:ext>
            </a:extLst>
          </p:cNvPr>
          <p:cNvSpPr>
            <a:spLocks noGrp="1" noRot="1" noChangeAspect="1" noChangeArrowheads="1" noTextEdit="1"/>
          </p:cNvSpPr>
          <p:nvPr>
            <p:ph type="sldImg"/>
          </p:nvPr>
        </p:nvSpPr>
        <p:spPr>
          <a:xfrm>
            <a:off x="381000" y="685800"/>
            <a:ext cx="6096000" cy="3429000"/>
          </a:xfrm>
          <a:ln/>
        </p:spPr>
      </p:sp>
      <p:sp>
        <p:nvSpPr>
          <p:cNvPr id="25604" name="Rectangle 3">
            <a:extLst>
              <a:ext uri="{FF2B5EF4-FFF2-40B4-BE49-F238E27FC236}">
                <a16:creationId xmlns:a16="http://schemas.microsoft.com/office/drawing/2014/main" id="{DB748DC9-A4F7-98A1-A78E-EC8CC46FD77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5E6B7CEB-A0E6-B11B-8330-83C3C74E8B4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8BB64ED-9C82-4A71-A0F2-EDD7AB14751D}" type="slidenum">
              <a:rPr lang="en-US" altLang="pt-BR">
                <a:latin typeface="Times New Roman" panose="02020603050405020304" pitchFamily="18" charset="0"/>
              </a:rPr>
              <a:pPr/>
              <a:t>12</a:t>
            </a:fld>
            <a:endParaRPr lang="en-US" altLang="pt-BR">
              <a:latin typeface="Times New Roman" panose="02020603050405020304" pitchFamily="18" charset="0"/>
            </a:endParaRPr>
          </a:p>
        </p:txBody>
      </p:sp>
      <p:sp>
        <p:nvSpPr>
          <p:cNvPr id="27651" name="Rectangle 2">
            <a:extLst>
              <a:ext uri="{FF2B5EF4-FFF2-40B4-BE49-F238E27FC236}">
                <a16:creationId xmlns:a16="http://schemas.microsoft.com/office/drawing/2014/main" id="{F797B0CA-34DA-A45B-997B-9201699486ED}"/>
              </a:ext>
            </a:extLst>
          </p:cNvPr>
          <p:cNvSpPr>
            <a:spLocks noGrp="1" noRot="1" noChangeAspect="1" noChangeArrowheads="1" noTextEdit="1"/>
          </p:cNvSpPr>
          <p:nvPr>
            <p:ph type="sldImg"/>
          </p:nvPr>
        </p:nvSpPr>
        <p:spPr>
          <a:xfrm>
            <a:off x="381000" y="685800"/>
            <a:ext cx="6096000" cy="3429000"/>
          </a:xfrm>
          <a:ln/>
        </p:spPr>
      </p:sp>
      <p:sp>
        <p:nvSpPr>
          <p:cNvPr id="27652" name="Rectangle 3">
            <a:extLst>
              <a:ext uri="{FF2B5EF4-FFF2-40B4-BE49-F238E27FC236}">
                <a16:creationId xmlns:a16="http://schemas.microsoft.com/office/drawing/2014/main" id="{B00F4A8E-031F-B831-B1FC-C6A1CF302AE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DA6BB504-AEF5-6D31-BFED-BC4272229E1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56B2FE4-8653-4BF4-A03A-C14E92E46F8A}" type="slidenum">
              <a:rPr lang="en-US" altLang="pt-BR">
                <a:latin typeface="Times New Roman" panose="02020603050405020304" pitchFamily="18" charset="0"/>
              </a:rPr>
              <a:pPr/>
              <a:t>13</a:t>
            </a:fld>
            <a:endParaRPr lang="en-US" altLang="pt-BR">
              <a:latin typeface="Times New Roman" panose="02020603050405020304" pitchFamily="18" charset="0"/>
            </a:endParaRPr>
          </a:p>
        </p:txBody>
      </p:sp>
      <p:sp>
        <p:nvSpPr>
          <p:cNvPr id="29699" name="Rectangle 2">
            <a:extLst>
              <a:ext uri="{FF2B5EF4-FFF2-40B4-BE49-F238E27FC236}">
                <a16:creationId xmlns:a16="http://schemas.microsoft.com/office/drawing/2014/main" id="{21C584B4-C2DE-C6FE-4F26-E3A324D8F17E}"/>
              </a:ext>
            </a:extLst>
          </p:cNvPr>
          <p:cNvSpPr>
            <a:spLocks noGrp="1" noRot="1" noChangeAspect="1" noChangeArrowheads="1" noTextEdit="1"/>
          </p:cNvSpPr>
          <p:nvPr>
            <p:ph type="sldImg"/>
          </p:nvPr>
        </p:nvSpPr>
        <p:spPr>
          <a:xfrm>
            <a:off x="381000" y="685800"/>
            <a:ext cx="6096000" cy="3429000"/>
          </a:xfrm>
          <a:ln/>
        </p:spPr>
      </p:sp>
      <p:sp>
        <p:nvSpPr>
          <p:cNvPr id="29700" name="Rectangle 3">
            <a:extLst>
              <a:ext uri="{FF2B5EF4-FFF2-40B4-BE49-F238E27FC236}">
                <a16:creationId xmlns:a16="http://schemas.microsoft.com/office/drawing/2014/main" id="{84937EF3-6D79-C185-6ED8-EC36CBFA17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542DDABC-661C-71A1-4F40-A23059C275B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2288B35-E689-4F3A-B457-9508323E79F4}" type="slidenum">
              <a:rPr lang="en-US" altLang="pt-BR">
                <a:latin typeface="Times New Roman" panose="02020603050405020304" pitchFamily="18" charset="0"/>
              </a:rPr>
              <a:pPr/>
              <a:t>14</a:t>
            </a:fld>
            <a:endParaRPr lang="en-US" altLang="pt-BR">
              <a:latin typeface="Times New Roman" panose="02020603050405020304" pitchFamily="18" charset="0"/>
            </a:endParaRPr>
          </a:p>
        </p:txBody>
      </p:sp>
      <p:sp>
        <p:nvSpPr>
          <p:cNvPr id="31747" name="Rectangle 2">
            <a:extLst>
              <a:ext uri="{FF2B5EF4-FFF2-40B4-BE49-F238E27FC236}">
                <a16:creationId xmlns:a16="http://schemas.microsoft.com/office/drawing/2014/main" id="{6600B073-7BB7-13C5-18D7-8DDFBC9C4E2B}"/>
              </a:ext>
            </a:extLst>
          </p:cNvPr>
          <p:cNvSpPr>
            <a:spLocks noGrp="1" noRot="1" noChangeAspect="1" noChangeArrowheads="1" noTextEdit="1"/>
          </p:cNvSpPr>
          <p:nvPr>
            <p:ph type="sldImg"/>
          </p:nvPr>
        </p:nvSpPr>
        <p:spPr>
          <a:xfrm>
            <a:off x="381000" y="685800"/>
            <a:ext cx="6096000" cy="3429000"/>
          </a:xfrm>
          <a:ln/>
        </p:spPr>
      </p:sp>
      <p:sp>
        <p:nvSpPr>
          <p:cNvPr id="31748" name="Rectangle 3">
            <a:extLst>
              <a:ext uri="{FF2B5EF4-FFF2-40B4-BE49-F238E27FC236}">
                <a16:creationId xmlns:a16="http://schemas.microsoft.com/office/drawing/2014/main" id="{97CF0C62-8C83-02AB-EDD1-E794DB47D63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742F39FE-D85A-7E3F-D66D-DB935A1683E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9F25458-0E60-4386-838D-3B140BFF2353}" type="slidenum">
              <a:rPr lang="en-US" altLang="pt-BR">
                <a:latin typeface="Times New Roman" panose="02020603050405020304" pitchFamily="18" charset="0"/>
              </a:rPr>
              <a:pPr/>
              <a:t>15</a:t>
            </a:fld>
            <a:endParaRPr lang="en-US" altLang="pt-BR">
              <a:latin typeface="Times New Roman" panose="02020603050405020304" pitchFamily="18" charset="0"/>
            </a:endParaRPr>
          </a:p>
        </p:txBody>
      </p:sp>
      <p:sp>
        <p:nvSpPr>
          <p:cNvPr id="33795" name="Rectangle 2">
            <a:extLst>
              <a:ext uri="{FF2B5EF4-FFF2-40B4-BE49-F238E27FC236}">
                <a16:creationId xmlns:a16="http://schemas.microsoft.com/office/drawing/2014/main" id="{3FFD993D-DCD7-F9F2-A9C4-DDD3D488711D}"/>
              </a:ext>
            </a:extLst>
          </p:cNvPr>
          <p:cNvSpPr>
            <a:spLocks noGrp="1" noRot="1" noChangeAspect="1" noChangeArrowheads="1" noTextEdit="1"/>
          </p:cNvSpPr>
          <p:nvPr>
            <p:ph type="sldImg"/>
          </p:nvPr>
        </p:nvSpPr>
        <p:spPr>
          <a:xfrm>
            <a:off x="381000" y="685800"/>
            <a:ext cx="6096000" cy="3429000"/>
          </a:xfrm>
          <a:ln/>
        </p:spPr>
      </p:sp>
      <p:sp>
        <p:nvSpPr>
          <p:cNvPr id="33796" name="Rectangle 3">
            <a:extLst>
              <a:ext uri="{FF2B5EF4-FFF2-40B4-BE49-F238E27FC236}">
                <a16:creationId xmlns:a16="http://schemas.microsoft.com/office/drawing/2014/main" id="{81077B1A-6ED8-5DEC-D487-5E2923BC111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8B30BC8B-0EC8-125D-1553-B4D25021E63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CAE674F-1115-4C31-A9E4-4A6440E11C49}" type="slidenum">
              <a:rPr lang="en-US" altLang="pt-BR">
                <a:latin typeface="Times New Roman" panose="02020603050405020304" pitchFamily="18" charset="0"/>
              </a:rPr>
              <a:pPr/>
              <a:t>16</a:t>
            </a:fld>
            <a:endParaRPr lang="en-US" altLang="pt-BR">
              <a:latin typeface="Times New Roman" panose="02020603050405020304" pitchFamily="18" charset="0"/>
            </a:endParaRPr>
          </a:p>
        </p:txBody>
      </p:sp>
      <p:sp>
        <p:nvSpPr>
          <p:cNvPr id="35843" name="Rectangle 2">
            <a:extLst>
              <a:ext uri="{FF2B5EF4-FFF2-40B4-BE49-F238E27FC236}">
                <a16:creationId xmlns:a16="http://schemas.microsoft.com/office/drawing/2014/main" id="{D0D91FAD-01A7-9C23-58CA-B157D3676D3E}"/>
              </a:ext>
            </a:extLst>
          </p:cNvPr>
          <p:cNvSpPr>
            <a:spLocks noGrp="1" noRot="1" noChangeAspect="1" noChangeArrowheads="1" noTextEdit="1"/>
          </p:cNvSpPr>
          <p:nvPr>
            <p:ph type="sldImg"/>
          </p:nvPr>
        </p:nvSpPr>
        <p:spPr>
          <a:xfrm>
            <a:off x="381000" y="685800"/>
            <a:ext cx="6096000" cy="3429000"/>
          </a:xfrm>
          <a:ln/>
        </p:spPr>
      </p:sp>
      <p:sp>
        <p:nvSpPr>
          <p:cNvPr id="35844" name="Rectangle 3">
            <a:extLst>
              <a:ext uri="{FF2B5EF4-FFF2-40B4-BE49-F238E27FC236}">
                <a16:creationId xmlns:a16="http://schemas.microsoft.com/office/drawing/2014/main" id="{FC2361C1-1CE7-D585-816C-384E7070DB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737FF5BF-6078-15B9-1EE7-0E42D58776E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7F62B5B-FE9E-4B93-84AB-63F048849AD7}" type="slidenum">
              <a:rPr lang="en-US" altLang="pt-BR">
                <a:latin typeface="Times New Roman" panose="02020603050405020304" pitchFamily="18" charset="0"/>
              </a:rPr>
              <a:pPr/>
              <a:t>17</a:t>
            </a:fld>
            <a:endParaRPr lang="en-US" altLang="pt-BR">
              <a:latin typeface="Times New Roman" panose="02020603050405020304" pitchFamily="18" charset="0"/>
            </a:endParaRPr>
          </a:p>
        </p:txBody>
      </p:sp>
      <p:sp>
        <p:nvSpPr>
          <p:cNvPr id="37891" name="Rectangle 2">
            <a:extLst>
              <a:ext uri="{FF2B5EF4-FFF2-40B4-BE49-F238E27FC236}">
                <a16:creationId xmlns:a16="http://schemas.microsoft.com/office/drawing/2014/main" id="{35B6A03C-760B-CB91-4469-BF7D933CD0D5}"/>
              </a:ext>
            </a:extLst>
          </p:cNvPr>
          <p:cNvSpPr>
            <a:spLocks noGrp="1" noRot="1" noChangeAspect="1" noChangeArrowheads="1" noTextEdit="1"/>
          </p:cNvSpPr>
          <p:nvPr>
            <p:ph type="sldImg"/>
          </p:nvPr>
        </p:nvSpPr>
        <p:spPr>
          <a:xfrm>
            <a:off x="381000" y="685800"/>
            <a:ext cx="6096000" cy="3429000"/>
          </a:xfrm>
          <a:ln/>
        </p:spPr>
      </p:sp>
      <p:sp>
        <p:nvSpPr>
          <p:cNvPr id="37892" name="Rectangle 3">
            <a:extLst>
              <a:ext uri="{FF2B5EF4-FFF2-40B4-BE49-F238E27FC236}">
                <a16:creationId xmlns:a16="http://schemas.microsoft.com/office/drawing/2014/main" id="{36AF8C65-5364-C2D2-E5A2-43A6822644C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D4F54C65-AC83-50B5-63AB-CF25E941B2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414DBED-EE19-494A-B67C-2BB6B4528F03}" type="slidenum">
              <a:rPr lang="en-US" altLang="pt-BR">
                <a:latin typeface="Times New Roman" panose="02020603050405020304" pitchFamily="18" charset="0"/>
              </a:rPr>
              <a:pPr/>
              <a:t>18</a:t>
            </a:fld>
            <a:endParaRPr lang="en-US" altLang="pt-BR">
              <a:latin typeface="Times New Roman" panose="02020603050405020304" pitchFamily="18" charset="0"/>
            </a:endParaRPr>
          </a:p>
        </p:txBody>
      </p:sp>
      <p:sp>
        <p:nvSpPr>
          <p:cNvPr id="39939" name="Rectangle 2">
            <a:extLst>
              <a:ext uri="{FF2B5EF4-FFF2-40B4-BE49-F238E27FC236}">
                <a16:creationId xmlns:a16="http://schemas.microsoft.com/office/drawing/2014/main" id="{C12853AD-53E5-F6A8-9C38-61F14B060FAF}"/>
              </a:ext>
            </a:extLst>
          </p:cNvPr>
          <p:cNvSpPr>
            <a:spLocks noGrp="1" noRot="1" noChangeAspect="1" noChangeArrowheads="1" noTextEdit="1"/>
          </p:cNvSpPr>
          <p:nvPr>
            <p:ph type="sldImg"/>
          </p:nvPr>
        </p:nvSpPr>
        <p:spPr>
          <a:xfrm>
            <a:off x="381000" y="685800"/>
            <a:ext cx="6096000" cy="3429000"/>
          </a:xfrm>
          <a:ln/>
        </p:spPr>
      </p:sp>
      <p:sp>
        <p:nvSpPr>
          <p:cNvPr id="39940" name="Rectangle 3">
            <a:extLst>
              <a:ext uri="{FF2B5EF4-FFF2-40B4-BE49-F238E27FC236}">
                <a16:creationId xmlns:a16="http://schemas.microsoft.com/office/drawing/2014/main" id="{81761EEC-5876-05C8-63F1-DA5ED40E871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B3C4F2F-339D-C126-D640-CC4D895830B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8A10EA7-FD69-46B3-A3CA-21C51F88D2B1}" type="slidenum">
              <a:rPr lang="en-US" altLang="pt-BR">
                <a:latin typeface="Times New Roman" panose="02020603050405020304" pitchFamily="18" charset="0"/>
              </a:rPr>
              <a:pPr/>
              <a:t>19</a:t>
            </a:fld>
            <a:endParaRPr lang="en-US" altLang="pt-BR">
              <a:latin typeface="Times New Roman" panose="02020603050405020304" pitchFamily="18" charset="0"/>
            </a:endParaRPr>
          </a:p>
        </p:txBody>
      </p:sp>
      <p:sp>
        <p:nvSpPr>
          <p:cNvPr id="41987" name="Rectangle 2">
            <a:extLst>
              <a:ext uri="{FF2B5EF4-FFF2-40B4-BE49-F238E27FC236}">
                <a16:creationId xmlns:a16="http://schemas.microsoft.com/office/drawing/2014/main" id="{CDD8F25C-AB2D-3E8E-4915-4952F6524340}"/>
              </a:ext>
            </a:extLst>
          </p:cNvPr>
          <p:cNvSpPr>
            <a:spLocks noGrp="1" noRot="1" noChangeAspect="1" noChangeArrowheads="1" noTextEdit="1"/>
          </p:cNvSpPr>
          <p:nvPr>
            <p:ph type="sldImg"/>
          </p:nvPr>
        </p:nvSpPr>
        <p:spPr>
          <a:xfrm>
            <a:off x="381000" y="685800"/>
            <a:ext cx="6096000" cy="3429000"/>
          </a:xfrm>
          <a:ln/>
        </p:spPr>
      </p:sp>
      <p:sp>
        <p:nvSpPr>
          <p:cNvPr id="41988" name="Rectangle 3">
            <a:extLst>
              <a:ext uri="{FF2B5EF4-FFF2-40B4-BE49-F238E27FC236}">
                <a16:creationId xmlns:a16="http://schemas.microsoft.com/office/drawing/2014/main" id="{1BB48372-0746-508F-E31D-84729696F54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C6111C32-A8DA-4D48-ECCF-886243E26A7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0F1BAF6-01E5-436F-9F7D-74E61EDE035A}" type="slidenum">
              <a:rPr lang="en-US" altLang="pt-BR">
                <a:latin typeface="Times New Roman" panose="02020603050405020304" pitchFamily="18" charset="0"/>
              </a:rPr>
              <a:pPr/>
              <a:t>20</a:t>
            </a:fld>
            <a:endParaRPr lang="en-US" altLang="pt-BR">
              <a:latin typeface="Times New Roman" panose="02020603050405020304" pitchFamily="18" charset="0"/>
            </a:endParaRPr>
          </a:p>
        </p:txBody>
      </p:sp>
      <p:sp>
        <p:nvSpPr>
          <p:cNvPr id="44035" name="Rectangle 2">
            <a:extLst>
              <a:ext uri="{FF2B5EF4-FFF2-40B4-BE49-F238E27FC236}">
                <a16:creationId xmlns:a16="http://schemas.microsoft.com/office/drawing/2014/main" id="{35C28C64-B047-B503-D79D-DAE907079784}"/>
              </a:ext>
            </a:extLst>
          </p:cNvPr>
          <p:cNvSpPr>
            <a:spLocks noGrp="1" noRot="1" noChangeAspect="1" noChangeArrowheads="1" noTextEdit="1"/>
          </p:cNvSpPr>
          <p:nvPr>
            <p:ph type="sldImg"/>
          </p:nvPr>
        </p:nvSpPr>
        <p:spPr>
          <a:xfrm>
            <a:off x="381000" y="685800"/>
            <a:ext cx="6096000" cy="3429000"/>
          </a:xfrm>
          <a:ln/>
        </p:spPr>
      </p:sp>
      <p:sp>
        <p:nvSpPr>
          <p:cNvPr id="44036" name="Rectangle 3">
            <a:extLst>
              <a:ext uri="{FF2B5EF4-FFF2-40B4-BE49-F238E27FC236}">
                <a16:creationId xmlns:a16="http://schemas.microsoft.com/office/drawing/2014/main" id="{420B7156-556C-49F3-E5FB-AFEF1BC32A2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DC5D70C6-1B36-01B4-C870-CE3CB3444F3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C46AC54-E58A-49E2-9E3A-EE015F2AF1EE}" type="slidenum">
              <a:rPr lang="en-US" altLang="pt-BR">
                <a:latin typeface="Times New Roman" panose="02020603050405020304" pitchFamily="18" charset="0"/>
              </a:rPr>
              <a:pPr/>
              <a:t>21</a:t>
            </a:fld>
            <a:endParaRPr lang="en-US" altLang="pt-BR">
              <a:latin typeface="Times New Roman" panose="02020603050405020304" pitchFamily="18" charset="0"/>
            </a:endParaRPr>
          </a:p>
        </p:txBody>
      </p:sp>
      <p:sp>
        <p:nvSpPr>
          <p:cNvPr id="46083" name="Rectangle 2">
            <a:extLst>
              <a:ext uri="{FF2B5EF4-FFF2-40B4-BE49-F238E27FC236}">
                <a16:creationId xmlns:a16="http://schemas.microsoft.com/office/drawing/2014/main" id="{DA5FC053-2530-0C24-B0FE-C1820E86B317}"/>
              </a:ext>
            </a:extLst>
          </p:cNvPr>
          <p:cNvSpPr>
            <a:spLocks noGrp="1" noRot="1" noChangeAspect="1" noChangeArrowheads="1" noTextEdit="1"/>
          </p:cNvSpPr>
          <p:nvPr>
            <p:ph type="sldImg"/>
          </p:nvPr>
        </p:nvSpPr>
        <p:spPr>
          <a:xfrm>
            <a:off x="381000" y="685800"/>
            <a:ext cx="6096000" cy="3429000"/>
          </a:xfrm>
          <a:ln/>
        </p:spPr>
      </p:sp>
      <p:sp>
        <p:nvSpPr>
          <p:cNvPr id="46084" name="Rectangle 3">
            <a:extLst>
              <a:ext uri="{FF2B5EF4-FFF2-40B4-BE49-F238E27FC236}">
                <a16:creationId xmlns:a16="http://schemas.microsoft.com/office/drawing/2014/main" id="{EF3EA694-53A3-64B3-46D2-FFE70B8E955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3BDD0564-3116-DD24-0405-7C67AD68326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4DAD2E9-C17A-4FB1-865A-9A9090831B8F}" type="slidenum">
              <a:rPr lang="en-US" altLang="pt-BR">
                <a:latin typeface="Times New Roman" panose="02020603050405020304" pitchFamily="18" charset="0"/>
              </a:rPr>
              <a:pPr/>
              <a:t>22</a:t>
            </a:fld>
            <a:endParaRPr lang="en-US" altLang="pt-BR">
              <a:latin typeface="Times New Roman" panose="02020603050405020304" pitchFamily="18" charset="0"/>
            </a:endParaRPr>
          </a:p>
        </p:txBody>
      </p:sp>
      <p:sp>
        <p:nvSpPr>
          <p:cNvPr id="48131" name="Rectangle 2">
            <a:extLst>
              <a:ext uri="{FF2B5EF4-FFF2-40B4-BE49-F238E27FC236}">
                <a16:creationId xmlns:a16="http://schemas.microsoft.com/office/drawing/2014/main" id="{E24AACC9-A701-2A93-710E-6FA66120BD0E}"/>
              </a:ext>
            </a:extLst>
          </p:cNvPr>
          <p:cNvSpPr>
            <a:spLocks noGrp="1" noRot="1" noChangeAspect="1" noChangeArrowheads="1" noTextEdit="1"/>
          </p:cNvSpPr>
          <p:nvPr>
            <p:ph type="sldImg"/>
          </p:nvPr>
        </p:nvSpPr>
        <p:spPr>
          <a:xfrm>
            <a:off x="381000" y="685800"/>
            <a:ext cx="6096000" cy="3429000"/>
          </a:xfrm>
          <a:ln/>
        </p:spPr>
      </p:sp>
      <p:sp>
        <p:nvSpPr>
          <p:cNvPr id="48132" name="Rectangle 3">
            <a:extLst>
              <a:ext uri="{FF2B5EF4-FFF2-40B4-BE49-F238E27FC236}">
                <a16:creationId xmlns:a16="http://schemas.microsoft.com/office/drawing/2014/main" id="{02670696-7D77-18EE-7206-1A9019BBF3F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914400" y="2130426"/>
            <a:ext cx="10363200" cy="1470025"/>
          </a:xfrm>
        </p:spPr>
        <p:txBody>
          <a:bodyPr/>
          <a:lstStyle/>
          <a:p>
            <a:r>
              <a:rPr lang="pt-BR"/>
              <a:t>Clique para editar o título mestre</a:t>
            </a:r>
          </a:p>
        </p:txBody>
      </p:sp>
      <p:sp>
        <p:nvSpPr>
          <p:cNvPr id="3" name="Subtítulo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t-BR"/>
              <a:t>Clique para editar o estilo do subtítulo mestre</a:t>
            </a:r>
          </a:p>
        </p:txBody>
      </p:sp>
      <p:sp>
        <p:nvSpPr>
          <p:cNvPr id="4" name="Rectangle 4">
            <a:extLst>
              <a:ext uri="{FF2B5EF4-FFF2-40B4-BE49-F238E27FC236}">
                <a16:creationId xmlns:a16="http://schemas.microsoft.com/office/drawing/2014/main" id="{26EDB119-66B1-B692-7505-D85E9DB2017B}"/>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B1EC70C1-D226-E9E9-D371-1D9F1F068B15}"/>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7DBB0388-1BB4-31F8-8338-A9020D679CF6}"/>
              </a:ext>
            </a:extLst>
          </p:cNvPr>
          <p:cNvSpPr>
            <a:spLocks noGrp="1" noChangeArrowheads="1"/>
          </p:cNvSpPr>
          <p:nvPr>
            <p:ph type="sldNum" sz="quarter" idx="12"/>
          </p:nvPr>
        </p:nvSpPr>
        <p:spPr>
          <a:ln/>
        </p:spPr>
        <p:txBody>
          <a:bodyPr/>
          <a:lstStyle>
            <a:lvl1pPr>
              <a:defRPr/>
            </a:lvl1pPr>
          </a:lstStyle>
          <a:p>
            <a:pPr>
              <a:defRPr/>
            </a:pPr>
            <a:fld id="{403D6BB3-7F25-4F2A-8258-B456491B4EE3}" type="slidenum">
              <a:rPr lang="pt-BR" altLang="pt-BR"/>
              <a:pPr>
                <a:defRPr/>
              </a:pPr>
              <a:t>‹nº›</a:t>
            </a:fld>
            <a:endParaRPr lang="pt-BR" altLang="pt-BR"/>
          </a:p>
        </p:txBody>
      </p:sp>
    </p:spTree>
    <p:extLst>
      <p:ext uri="{BB962C8B-B14F-4D97-AF65-F5344CB8AC3E}">
        <p14:creationId xmlns:p14="http://schemas.microsoft.com/office/powerpoint/2010/main" val="22824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09DB84AB-2556-8AB6-28C4-B7FA4C9B79EA}"/>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C668E6A3-EB4E-CB61-E897-1A532A90FC10}"/>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1BB3A5AA-20E4-EFDE-6795-32ACA0E950F2}"/>
              </a:ext>
            </a:extLst>
          </p:cNvPr>
          <p:cNvSpPr>
            <a:spLocks noGrp="1" noChangeArrowheads="1"/>
          </p:cNvSpPr>
          <p:nvPr>
            <p:ph type="sldNum" sz="quarter" idx="12"/>
          </p:nvPr>
        </p:nvSpPr>
        <p:spPr>
          <a:ln/>
        </p:spPr>
        <p:txBody>
          <a:bodyPr/>
          <a:lstStyle>
            <a:lvl1pPr>
              <a:defRPr/>
            </a:lvl1pPr>
          </a:lstStyle>
          <a:p>
            <a:pPr>
              <a:defRPr/>
            </a:pPr>
            <a:fld id="{3C09F0CB-83E3-4229-A8AF-4A40962CED14}" type="slidenum">
              <a:rPr lang="pt-BR" altLang="pt-BR"/>
              <a:pPr>
                <a:defRPr/>
              </a:pPr>
              <a:t>‹nº›</a:t>
            </a:fld>
            <a:endParaRPr lang="pt-BR" altLang="pt-BR"/>
          </a:p>
        </p:txBody>
      </p:sp>
    </p:spTree>
    <p:extLst>
      <p:ext uri="{BB962C8B-B14F-4D97-AF65-F5344CB8AC3E}">
        <p14:creationId xmlns:p14="http://schemas.microsoft.com/office/powerpoint/2010/main" val="7517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963084" y="4406901"/>
            <a:ext cx="10363200" cy="1362075"/>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BR"/>
              <a:t>Clique para editar o texto mestre</a:t>
            </a:r>
          </a:p>
        </p:txBody>
      </p:sp>
      <p:sp>
        <p:nvSpPr>
          <p:cNvPr id="4" name="Rectangle 4">
            <a:extLst>
              <a:ext uri="{FF2B5EF4-FFF2-40B4-BE49-F238E27FC236}">
                <a16:creationId xmlns:a16="http://schemas.microsoft.com/office/drawing/2014/main" id="{B70D96A8-2008-CE89-7338-B1CE8694DD98}"/>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A0BABEDA-7B3A-7C99-E78F-2687FFFE7807}"/>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9C10E89A-9CE8-39A1-8BCC-A74735215C5A}"/>
              </a:ext>
            </a:extLst>
          </p:cNvPr>
          <p:cNvSpPr>
            <a:spLocks noGrp="1" noChangeArrowheads="1"/>
          </p:cNvSpPr>
          <p:nvPr>
            <p:ph type="sldNum" sz="quarter" idx="12"/>
          </p:nvPr>
        </p:nvSpPr>
        <p:spPr>
          <a:ln/>
        </p:spPr>
        <p:txBody>
          <a:bodyPr/>
          <a:lstStyle>
            <a:lvl1pPr>
              <a:defRPr/>
            </a:lvl1pPr>
          </a:lstStyle>
          <a:p>
            <a:pPr>
              <a:defRPr/>
            </a:pPr>
            <a:fld id="{24D51FBC-D558-4C07-80CD-DE6E684B6FE5}" type="slidenum">
              <a:rPr lang="pt-BR" altLang="pt-BR"/>
              <a:pPr>
                <a:defRPr/>
              </a:pPr>
              <a:t>‹nº›</a:t>
            </a:fld>
            <a:endParaRPr lang="pt-BR" altLang="pt-BR"/>
          </a:p>
        </p:txBody>
      </p:sp>
    </p:spTree>
    <p:extLst>
      <p:ext uri="{BB962C8B-B14F-4D97-AF65-F5344CB8AC3E}">
        <p14:creationId xmlns:p14="http://schemas.microsoft.com/office/powerpoint/2010/main" val="222756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609600" y="1412875"/>
            <a:ext cx="53848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97600" y="1412875"/>
            <a:ext cx="53848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a:extLst>
              <a:ext uri="{FF2B5EF4-FFF2-40B4-BE49-F238E27FC236}">
                <a16:creationId xmlns:a16="http://schemas.microsoft.com/office/drawing/2014/main" id="{19B7085B-1C91-CD38-C34A-82E3D9EE1C09}"/>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53FD9BB6-14BF-BB79-AFF0-0285C0C63D0E}"/>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AF98249F-75AD-1849-55C1-BA957B133D2A}"/>
              </a:ext>
            </a:extLst>
          </p:cNvPr>
          <p:cNvSpPr>
            <a:spLocks noGrp="1" noChangeArrowheads="1"/>
          </p:cNvSpPr>
          <p:nvPr>
            <p:ph type="sldNum" sz="quarter" idx="12"/>
          </p:nvPr>
        </p:nvSpPr>
        <p:spPr>
          <a:ln/>
        </p:spPr>
        <p:txBody>
          <a:bodyPr/>
          <a:lstStyle>
            <a:lvl1pPr>
              <a:defRPr/>
            </a:lvl1pPr>
          </a:lstStyle>
          <a:p>
            <a:pPr>
              <a:defRPr/>
            </a:pPr>
            <a:fld id="{C7726DDF-3B41-4DFB-82B0-8CC33BF811DD}" type="slidenum">
              <a:rPr lang="pt-BR" altLang="pt-BR"/>
              <a:pPr>
                <a:defRPr/>
              </a:pPr>
              <a:t>‹nº›</a:t>
            </a:fld>
            <a:endParaRPr lang="pt-BR" altLang="pt-BR"/>
          </a:p>
        </p:txBody>
      </p:sp>
    </p:spTree>
    <p:extLst>
      <p:ext uri="{BB962C8B-B14F-4D97-AF65-F5344CB8AC3E}">
        <p14:creationId xmlns:p14="http://schemas.microsoft.com/office/powerpoint/2010/main" val="3483991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10972800" cy="1143000"/>
          </a:xfrm>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a:extLst>
              <a:ext uri="{FF2B5EF4-FFF2-40B4-BE49-F238E27FC236}">
                <a16:creationId xmlns:a16="http://schemas.microsoft.com/office/drawing/2014/main" id="{1BC39E76-B005-8A69-470C-2A8E60304BA5}"/>
              </a:ext>
            </a:extLst>
          </p:cNvPr>
          <p:cNvSpPr>
            <a:spLocks noGrp="1" noChangeArrowheads="1"/>
          </p:cNvSpPr>
          <p:nvPr>
            <p:ph type="dt" sz="half" idx="10"/>
          </p:nvPr>
        </p:nvSpPr>
        <p:spPr>
          <a:ln/>
        </p:spPr>
        <p:txBody>
          <a:bodyPr/>
          <a:lstStyle>
            <a:lvl1pPr>
              <a:defRPr/>
            </a:lvl1pPr>
          </a:lstStyle>
          <a:p>
            <a:pPr>
              <a:defRPr/>
            </a:pPr>
            <a:endParaRPr lang="pt-BR"/>
          </a:p>
        </p:txBody>
      </p:sp>
      <p:sp>
        <p:nvSpPr>
          <p:cNvPr id="8" name="Rectangle 5">
            <a:extLst>
              <a:ext uri="{FF2B5EF4-FFF2-40B4-BE49-F238E27FC236}">
                <a16:creationId xmlns:a16="http://schemas.microsoft.com/office/drawing/2014/main" id="{CAACFAD9-6F0A-96C0-5618-354F70501F4A}"/>
              </a:ext>
            </a:extLst>
          </p:cNvPr>
          <p:cNvSpPr>
            <a:spLocks noGrp="1" noChangeArrowheads="1"/>
          </p:cNvSpPr>
          <p:nvPr>
            <p:ph type="ftr" sz="quarter" idx="11"/>
          </p:nvPr>
        </p:nvSpPr>
        <p:spPr>
          <a:ln/>
        </p:spPr>
        <p:txBody>
          <a:bodyPr/>
          <a:lstStyle>
            <a:lvl1pPr>
              <a:defRPr/>
            </a:lvl1pPr>
          </a:lstStyle>
          <a:p>
            <a:pPr>
              <a:defRPr/>
            </a:pPr>
            <a:endParaRPr lang="pt-BR"/>
          </a:p>
        </p:txBody>
      </p:sp>
      <p:sp>
        <p:nvSpPr>
          <p:cNvPr id="9" name="Rectangle 6">
            <a:extLst>
              <a:ext uri="{FF2B5EF4-FFF2-40B4-BE49-F238E27FC236}">
                <a16:creationId xmlns:a16="http://schemas.microsoft.com/office/drawing/2014/main" id="{55885FD7-46F9-CA6F-8203-75340D8F48AE}"/>
              </a:ext>
            </a:extLst>
          </p:cNvPr>
          <p:cNvSpPr>
            <a:spLocks noGrp="1" noChangeArrowheads="1"/>
          </p:cNvSpPr>
          <p:nvPr>
            <p:ph type="sldNum" sz="quarter" idx="12"/>
          </p:nvPr>
        </p:nvSpPr>
        <p:spPr>
          <a:ln/>
        </p:spPr>
        <p:txBody>
          <a:bodyPr/>
          <a:lstStyle>
            <a:lvl1pPr>
              <a:defRPr/>
            </a:lvl1pPr>
          </a:lstStyle>
          <a:p>
            <a:pPr>
              <a:defRPr/>
            </a:pPr>
            <a:fld id="{1CC52A3F-A077-40A0-B4B0-3F4CC12B8DDF}" type="slidenum">
              <a:rPr lang="pt-BR" altLang="pt-BR"/>
              <a:pPr>
                <a:defRPr/>
              </a:pPr>
              <a:t>‹nº›</a:t>
            </a:fld>
            <a:endParaRPr lang="pt-BR" altLang="pt-BR"/>
          </a:p>
        </p:txBody>
      </p:sp>
    </p:spTree>
    <p:extLst>
      <p:ext uri="{BB962C8B-B14F-4D97-AF65-F5344CB8AC3E}">
        <p14:creationId xmlns:p14="http://schemas.microsoft.com/office/powerpoint/2010/main" val="699989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Rectangle 4">
            <a:extLst>
              <a:ext uri="{FF2B5EF4-FFF2-40B4-BE49-F238E27FC236}">
                <a16:creationId xmlns:a16="http://schemas.microsoft.com/office/drawing/2014/main" id="{3D18FAD4-8242-BF00-A0D7-D73577463061}"/>
              </a:ext>
            </a:extLst>
          </p:cNvPr>
          <p:cNvSpPr>
            <a:spLocks noGrp="1" noChangeArrowheads="1"/>
          </p:cNvSpPr>
          <p:nvPr>
            <p:ph type="dt" sz="half" idx="10"/>
          </p:nvPr>
        </p:nvSpPr>
        <p:spPr>
          <a:ln/>
        </p:spPr>
        <p:txBody>
          <a:bodyPr/>
          <a:lstStyle>
            <a:lvl1pPr>
              <a:defRPr/>
            </a:lvl1pPr>
          </a:lstStyle>
          <a:p>
            <a:pPr>
              <a:defRPr/>
            </a:pPr>
            <a:endParaRPr lang="pt-BR"/>
          </a:p>
        </p:txBody>
      </p:sp>
      <p:sp>
        <p:nvSpPr>
          <p:cNvPr id="4" name="Rectangle 5">
            <a:extLst>
              <a:ext uri="{FF2B5EF4-FFF2-40B4-BE49-F238E27FC236}">
                <a16:creationId xmlns:a16="http://schemas.microsoft.com/office/drawing/2014/main" id="{1D732A7C-99CE-FC5A-8231-81079149866C}"/>
              </a:ext>
            </a:extLst>
          </p:cNvPr>
          <p:cNvSpPr>
            <a:spLocks noGrp="1" noChangeArrowheads="1"/>
          </p:cNvSpPr>
          <p:nvPr>
            <p:ph type="ftr" sz="quarter" idx="11"/>
          </p:nvPr>
        </p:nvSpPr>
        <p:spPr>
          <a:ln/>
        </p:spPr>
        <p:txBody>
          <a:bodyPr/>
          <a:lstStyle>
            <a:lvl1pPr>
              <a:defRPr/>
            </a:lvl1pPr>
          </a:lstStyle>
          <a:p>
            <a:pPr>
              <a:defRPr/>
            </a:pPr>
            <a:endParaRPr lang="pt-BR"/>
          </a:p>
        </p:txBody>
      </p:sp>
      <p:sp>
        <p:nvSpPr>
          <p:cNvPr id="5" name="Rectangle 6">
            <a:extLst>
              <a:ext uri="{FF2B5EF4-FFF2-40B4-BE49-F238E27FC236}">
                <a16:creationId xmlns:a16="http://schemas.microsoft.com/office/drawing/2014/main" id="{2D60ED97-C439-34B5-653B-C53E34C33493}"/>
              </a:ext>
            </a:extLst>
          </p:cNvPr>
          <p:cNvSpPr>
            <a:spLocks noGrp="1" noChangeArrowheads="1"/>
          </p:cNvSpPr>
          <p:nvPr>
            <p:ph type="sldNum" sz="quarter" idx="12"/>
          </p:nvPr>
        </p:nvSpPr>
        <p:spPr>
          <a:ln/>
        </p:spPr>
        <p:txBody>
          <a:bodyPr/>
          <a:lstStyle>
            <a:lvl1pPr>
              <a:defRPr/>
            </a:lvl1pPr>
          </a:lstStyle>
          <a:p>
            <a:pPr>
              <a:defRPr/>
            </a:pPr>
            <a:fld id="{6EC06B68-756E-404F-8E2F-5BA25A2E84BF}" type="slidenum">
              <a:rPr lang="pt-BR" altLang="pt-BR"/>
              <a:pPr>
                <a:defRPr/>
              </a:pPr>
              <a:t>‹nº›</a:t>
            </a:fld>
            <a:endParaRPr lang="pt-BR" altLang="pt-BR"/>
          </a:p>
        </p:txBody>
      </p:sp>
    </p:spTree>
    <p:extLst>
      <p:ext uri="{BB962C8B-B14F-4D97-AF65-F5344CB8AC3E}">
        <p14:creationId xmlns:p14="http://schemas.microsoft.com/office/powerpoint/2010/main" val="485231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58DFD6F-2D6A-F8AA-49AF-4F4DAED5F4FB}"/>
              </a:ext>
            </a:extLst>
          </p:cNvPr>
          <p:cNvSpPr>
            <a:spLocks noGrp="1" noChangeArrowheads="1"/>
          </p:cNvSpPr>
          <p:nvPr>
            <p:ph type="dt" sz="half" idx="10"/>
          </p:nvPr>
        </p:nvSpPr>
        <p:spPr>
          <a:ln/>
        </p:spPr>
        <p:txBody>
          <a:bodyPr/>
          <a:lstStyle>
            <a:lvl1pPr>
              <a:defRPr/>
            </a:lvl1pPr>
          </a:lstStyle>
          <a:p>
            <a:pPr>
              <a:defRPr/>
            </a:pPr>
            <a:endParaRPr lang="pt-BR"/>
          </a:p>
        </p:txBody>
      </p:sp>
      <p:sp>
        <p:nvSpPr>
          <p:cNvPr id="3" name="Rectangle 5">
            <a:extLst>
              <a:ext uri="{FF2B5EF4-FFF2-40B4-BE49-F238E27FC236}">
                <a16:creationId xmlns:a16="http://schemas.microsoft.com/office/drawing/2014/main" id="{65C18BEE-3DDA-DEE7-FF43-07945565D04F}"/>
              </a:ext>
            </a:extLst>
          </p:cNvPr>
          <p:cNvSpPr>
            <a:spLocks noGrp="1" noChangeArrowheads="1"/>
          </p:cNvSpPr>
          <p:nvPr>
            <p:ph type="ftr" sz="quarter" idx="11"/>
          </p:nvPr>
        </p:nvSpPr>
        <p:spPr>
          <a:ln/>
        </p:spPr>
        <p:txBody>
          <a:bodyPr/>
          <a:lstStyle>
            <a:lvl1pPr>
              <a:defRPr/>
            </a:lvl1pPr>
          </a:lstStyle>
          <a:p>
            <a:pPr>
              <a:defRPr/>
            </a:pPr>
            <a:endParaRPr lang="pt-BR"/>
          </a:p>
        </p:txBody>
      </p:sp>
      <p:sp>
        <p:nvSpPr>
          <p:cNvPr id="4" name="Rectangle 6">
            <a:extLst>
              <a:ext uri="{FF2B5EF4-FFF2-40B4-BE49-F238E27FC236}">
                <a16:creationId xmlns:a16="http://schemas.microsoft.com/office/drawing/2014/main" id="{CEFBB7BC-7662-A493-FB5E-EEDB563247A8}"/>
              </a:ext>
            </a:extLst>
          </p:cNvPr>
          <p:cNvSpPr>
            <a:spLocks noGrp="1" noChangeArrowheads="1"/>
          </p:cNvSpPr>
          <p:nvPr>
            <p:ph type="sldNum" sz="quarter" idx="12"/>
          </p:nvPr>
        </p:nvSpPr>
        <p:spPr>
          <a:ln/>
        </p:spPr>
        <p:txBody>
          <a:bodyPr/>
          <a:lstStyle>
            <a:lvl1pPr>
              <a:defRPr/>
            </a:lvl1pPr>
          </a:lstStyle>
          <a:p>
            <a:pPr>
              <a:defRPr/>
            </a:pPr>
            <a:fld id="{8E140628-55E1-434C-A2F3-C260D42CDF75}" type="slidenum">
              <a:rPr lang="pt-BR" altLang="pt-BR"/>
              <a:pPr>
                <a:defRPr/>
              </a:pPr>
              <a:t>‹nº›</a:t>
            </a:fld>
            <a:endParaRPr lang="pt-BR" altLang="pt-BR"/>
          </a:p>
        </p:txBody>
      </p:sp>
    </p:spTree>
    <p:extLst>
      <p:ext uri="{BB962C8B-B14F-4D97-AF65-F5344CB8AC3E}">
        <p14:creationId xmlns:p14="http://schemas.microsoft.com/office/powerpoint/2010/main" val="1328386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3050"/>
            <a:ext cx="4011084" cy="1162050"/>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Rectangle 4">
            <a:extLst>
              <a:ext uri="{FF2B5EF4-FFF2-40B4-BE49-F238E27FC236}">
                <a16:creationId xmlns:a16="http://schemas.microsoft.com/office/drawing/2014/main" id="{D43A9EF2-19FB-E096-AEDE-3A4D7EB613B5}"/>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E13EC6E9-8B91-52A6-5050-3A9EA1871905}"/>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034F16FC-7237-A275-1F37-D67352BA84EA}"/>
              </a:ext>
            </a:extLst>
          </p:cNvPr>
          <p:cNvSpPr>
            <a:spLocks noGrp="1" noChangeArrowheads="1"/>
          </p:cNvSpPr>
          <p:nvPr>
            <p:ph type="sldNum" sz="quarter" idx="12"/>
          </p:nvPr>
        </p:nvSpPr>
        <p:spPr>
          <a:ln/>
        </p:spPr>
        <p:txBody>
          <a:bodyPr/>
          <a:lstStyle>
            <a:lvl1pPr>
              <a:defRPr/>
            </a:lvl1pPr>
          </a:lstStyle>
          <a:p>
            <a:pPr>
              <a:defRPr/>
            </a:pPr>
            <a:fld id="{3AAC2B8E-5696-45C7-A982-574D987DACE5}" type="slidenum">
              <a:rPr lang="pt-BR" altLang="pt-BR"/>
              <a:pPr>
                <a:defRPr/>
              </a:pPr>
              <a:t>‹nº›</a:t>
            </a:fld>
            <a:endParaRPr lang="pt-BR" altLang="pt-BR"/>
          </a:p>
        </p:txBody>
      </p:sp>
    </p:spTree>
    <p:extLst>
      <p:ext uri="{BB962C8B-B14F-4D97-AF65-F5344CB8AC3E}">
        <p14:creationId xmlns:p14="http://schemas.microsoft.com/office/powerpoint/2010/main" val="1931797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389717" y="4800600"/>
            <a:ext cx="7315200" cy="566738"/>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Rectangle 4">
            <a:extLst>
              <a:ext uri="{FF2B5EF4-FFF2-40B4-BE49-F238E27FC236}">
                <a16:creationId xmlns:a16="http://schemas.microsoft.com/office/drawing/2014/main" id="{1042973B-BAFC-40A9-E3E5-1BCAC939EAD3}"/>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ACA1779E-4A66-822F-757D-1A0B76C318B5}"/>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5E28F795-2174-207C-668B-11A8D627CFA0}"/>
              </a:ext>
            </a:extLst>
          </p:cNvPr>
          <p:cNvSpPr>
            <a:spLocks noGrp="1" noChangeArrowheads="1"/>
          </p:cNvSpPr>
          <p:nvPr>
            <p:ph type="sldNum" sz="quarter" idx="12"/>
          </p:nvPr>
        </p:nvSpPr>
        <p:spPr>
          <a:ln/>
        </p:spPr>
        <p:txBody>
          <a:bodyPr/>
          <a:lstStyle>
            <a:lvl1pPr>
              <a:defRPr/>
            </a:lvl1pPr>
          </a:lstStyle>
          <a:p>
            <a:pPr>
              <a:defRPr/>
            </a:pPr>
            <a:fld id="{01019257-04A9-43D6-873E-06BEF4F314A7}" type="slidenum">
              <a:rPr lang="pt-BR" altLang="pt-BR"/>
              <a:pPr>
                <a:defRPr/>
              </a:pPr>
              <a:t>‹nº›</a:t>
            </a:fld>
            <a:endParaRPr lang="pt-BR" altLang="pt-BR"/>
          </a:p>
        </p:txBody>
      </p:sp>
    </p:spTree>
    <p:extLst>
      <p:ext uri="{BB962C8B-B14F-4D97-AF65-F5344CB8AC3E}">
        <p14:creationId xmlns:p14="http://schemas.microsoft.com/office/powerpoint/2010/main" val="312104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3010442C-FD1D-209A-8818-2FF8F31F711B}"/>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C87C574D-E178-6B5D-E6E3-54BEA064D16D}"/>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323E9B05-9201-ED01-7DCC-D032E6464175}"/>
              </a:ext>
            </a:extLst>
          </p:cNvPr>
          <p:cNvSpPr>
            <a:spLocks noGrp="1" noChangeArrowheads="1"/>
          </p:cNvSpPr>
          <p:nvPr>
            <p:ph type="sldNum" sz="quarter" idx="12"/>
          </p:nvPr>
        </p:nvSpPr>
        <p:spPr>
          <a:ln/>
        </p:spPr>
        <p:txBody>
          <a:bodyPr/>
          <a:lstStyle>
            <a:lvl1pPr>
              <a:defRPr/>
            </a:lvl1pPr>
          </a:lstStyle>
          <a:p>
            <a:pPr>
              <a:defRPr/>
            </a:pPr>
            <a:fld id="{996A3118-18DA-4448-B1A0-CDD97E9A47E1}" type="slidenum">
              <a:rPr lang="pt-BR" altLang="pt-BR"/>
              <a:pPr>
                <a:defRPr/>
              </a:pPr>
              <a:t>‹nº›</a:t>
            </a:fld>
            <a:endParaRPr lang="pt-BR" altLang="pt-BR"/>
          </a:p>
        </p:txBody>
      </p:sp>
    </p:spTree>
    <p:extLst>
      <p:ext uri="{BB962C8B-B14F-4D97-AF65-F5344CB8AC3E}">
        <p14:creationId xmlns:p14="http://schemas.microsoft.com/office/powerpoint/2010/main" val="2630598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39200" y="381000"/>
            <a:ext cx="2743200" cy="564038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609600" y="381000"/>
            <a:ext cx="8026400" cy="564038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3C5B9A25-E61F-F41C-C7E0-202D9EBF2E11}"/>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7CFB8F52-E9C5-50F9-EA6D-ADD0C946C778}"/>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5BDF7C75-2285-F3E1-5D04-CC35936F5AA5}"/>
              </a:ext>
            </a:extLst>
          </p:cNvPr>
          <p:cNvSpPr>
            <a:spLocks noGrp="1" noChangeArrowheads="1"/>
          </p:cNvSpPr>
          <p:nvPr>
            <p:ph type="sldNum" sz="quarter" idx="12"/>
          </p:nvPr>
        </p:nvSpPr>
        <p:spPr>
          <a:ln/>
        </p:spPr>
        <p:txBody>
          <a:bodyPr/>
          <a:lstStyle>
            <a:lvl1pPr>
              <a:defRPr/>
            </a:lvl1pPr>
          </a:lstStyle>
          <a:p>
            <a:pPr>
              <a:defRPr/>
            </a:pPr>
            <a:fld id="{41413B0B-3CCA-4D89-9413-A988934982C0}" type="slidenum">
              <a:rPr lang="pt-BR" altLang="pt-BR"/>
              <a:pPr>
                <a:defRPr/>
              </a:pPr>
              <a:t>‹nº›</a:t>
            </a:fld>
            <a:endParaRPr lang="pt-BR" altLang="pt-BR"/>
          </a:p>
        </p:txBody>
      </p:sp>
    </p:spTree>
    <p:extLst>
      <p:ext uri="{BB962C8B-B14F-4D97-AF65-F5344CB8AC3E}">
        <p14:creationId xmlns:p14="http://schemas.microsoft.com/office/powerpoint/2010/main" val="95483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ítulo, text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09600" y="381000"/>
            <a:ext cx="10972800" cy="1371600"/>
          </a:xfrm>
        </p:spPr>
        <p:txBody>
          <a:bodyPr/>
          <a:lstStyle/>
          <a:p>
            <a:r>
              <a:rPr lang="pt-BR"/>
              <a:t>Clique para editar o título mestre</a:t>
            </a:r>
          </a:p>
        </p:txBody>
      </p:sp>
      <p:sp>
        <p:nvSpPr>
          <p:cNvPr id="3" name="Espaço Reservado para Texto 2"/>
          <p:cNvSpPr>
            <a:spLocks noGrp="1"/>
          </p:cNvSpPr>
          <p:nvPr>
            <p:ph type="body" sz="half" idx="1"/>
          </p:nvPr>
        </p:nvSpPr>
        <p:spPr>
          <a:xfrm>
            <a:off x="609600" y="1412875"/>
            <a:ext cx="5384800" cy="4608513"/>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97600" y="1412875"/>
            <a:ext cx="5384800" cy="4608513"/>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a:extLst>
              <a:ext uri="{FF2B5EF4-FFF2-40B4-BE49-F238E27FC236}">
                <a16:creationId xmlns:a16="http://schemas.microsoft.com/office/drawing/2014/main" id="{A49A6D2C-6339-E1AD-61DA-D892C4249843}"/>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BC1D488D-E207-FBAB-370E-3B227E8FD2BF}"/>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9CDD19C5-CE8F-C61A-F0DA-4FAA99874568}"/>
              </a:ext>
            </a:extLst>
          </p:cNvPr>
          <p:cNvSpPr>
            <a:spLocks noGrp="1" noChangeArrowheads="1"/>
          </p:cNvSpPr>
          <p:nvPr>
            <p:ph type="sldNum" sz="quarter" idx="12"/>
          </p:nvPr>
        </p:nvSpPr>
        <p:spPr>
          <a:ln/>
        </p:spPr>
        <p:txBody>
          <a:bodyPr/>
          <a:lstStyle>
            <a:lvl1pPr>
              <a:defRPr/>
            </a:lvl1pPr>
          </a:lstStyle>
          <a:p>
            <a:pPr>
              <a:defRPr/>
            </a:pPr>
            <a:fld id="{C7B6FE23-778C-48A6-B27C-B959CC6E21FF}" type="slidenum">
              <a:rPr lang="pt-BR" altLang="pt-BR"/>
              <a:pPr>
                <a:defRPr/>
              </a:pPr>
              <a:t>‹nº›</a:t>
            </a:fld>
            <a:endParaRPr lang="pt-BR" altLang="pt-BR"/>
          </a:p>
        </p:txBody>
      </p:sp>
    </p:spTree>
    <p:extLst>
      <p:ext uri="{BB962C8B-B14F-4D97-AF65-F5344CB8AC3E}">
        <p14:creationId xmlns:p14="http://schemas.microsoft.com/office/powerpoint/2010/main" val="2686172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083C0F6F-C093-7014-497C-FA36572890DB}"/>
              </a:ext>
            </a:extLst>
          </p:cNvPr>
          <p:cNvSpPr>
            <a:spLocks noGrp="1" noChangeArrowheads="1"/>
          </p:cNvSpPr>
          <p:nvPr>
            <p:ph type="title"/>
          </p:nvPr>
        </p:nvSpPr>
        <p:spPr bwMode="auto">
          <a:xfrm>
            <a:off x="609600" y="381000"/>
            <a:ext cx="10972800" cy="1371600"/>
          </a:xfrm>
          <a:prstGeom prst="rect">
            <a:avLst/>
          </a:prstGeom>
          <a:noFill/>
          <a:ln>
            <a:noFill/>
          </a:ln>
          <a:effectLst/>
        </p:spPr>
        <p:txBody>
          <a:bodyPr vert="horz" wrap="square" lIns="91440" tIns="45720" rIns="91440" bIns="45720" numCol="1" anchor="ctr" anchorCtr="0" compatLnSpc="1">
            <a:prstTxWarp prst="textNoShape">
              <a:avLst/>
            </a:prstTxWarp>
          </a:bodyPr>
          <a:lstStyle/>
          <a:p>
            <a:pPr lvl="0"/>
            <a:r>
              <a:rPr lang="pt-BR"/>
              <a:t>Clique para editar o estilo do título mestre</a:t>
            </a:r>
          </a:p>
        </p:txBody>
      </p:sp>
      <p:sp>
        <p:nvSpPr>
          <p:cNvPr id="338947" name="Rectangle 3">
            <a:extLst>
              <a:ext uri="{FF2B5EF4-FFF2-40B4-BE49-F238E27FC236}">
                <a16:creationId xmlns:a16="http://schemas.microsoft.com/office/drawing/2014/main" id="{20FCC83F-622A-FD9C-1FC6-9EE2D55AFDD6}"/>
              </a:ext>
            </a:extLst>
          </p:cNvPr>
          <p:cNvSpPr>
            <a:spLocks noGrp="1" noChangeArrowheads="1"/>
          </p:cNvSpPr>
          <p:nvPr>
            <p:ph type="body" idx="1"/>
          </p:nvPr>
        </p:nvSpPr>
        <p:spPr bwMode="auto">
          <a:xfrm>
            <a:off x="609600" y="1412875"/>
            <a:ext cx="10972800" cy="4608513"/>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338948" name="Rectangle 4">
            <a:extLst>
              <a:ext uri="{FF2B5EF4-FFF2-40B4-BE49-F238E27FC236}">
                <a16:creationId xmlns:a16="http://schemas.microsoft.com/office/drawing/2014/main" id="{215092F8-34B4-C8AB-AF0A-827BD641C39F}"/>
              </a:ext>
            </a:extLst>
          </p:cNvPr>
          <p:cNvSpPr>
            <a:spLocks noGrp="1" noChangeArrowheads="1"/>
          </p:cNvSpPr>
          <p:nvPr>
            <p:ph type="dt" sz="half" idx="2"/>
          </p:nvPr>
        </p:nvSpPr>
        <p:spPr bwMode="auto">
          <a:xfrm>
            <a:off x="609600" y="6245225"/>
            <a:ext cx="3278717"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effectLst>
                  <a:outerShdw blurRad="38100" dist="38100" dir="2700000" algn="tl">
                    <a:srgbClr val="C0C0C0"/>
                  </a:outerShdw>
                </a:effectLst>
                <a:latin typeface="Arial" charset="0"/>
              </a:defRPr>
            </a:lvl1pPr>
          </a:lstStyle>
          <a:p>
            <a:pPr>
              <a:defRPr/>
            </a:pPr>
            <a:endParaRPr lang="pt-BR"/>
          </a:p>
        </p:txBody>
      </p:sp>
      <p:sp>
        <p:nvSpPr>
          <p:cNvPr id="338949" name="Rectangle 5">
            <a:extLst>
              <a:ext uri="{FF2B5EF4-FFF2-40B4-BE49-F238E27FC236}">
                <a16:creationId xmlns:a16="http://schemas.microsoft.com/office/drawing/2014/main" id="{6F0DBB2A-6987-AE08-B2DA-DD5F4B150D6C}"/>
              </a:ext>
            </a:extLst>
          </p:cNvPr>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effectLst>
                  <a:outerShdw blurRad="38100" dist="38100" dir="2700000" algn="tl">
                    <a:srgbClr val="C0C0C0"/>
                  </a:outerShdw>
                </a:effectLst>
                <a:latin typeface="Arial" charset="0"/>
              </a:defRPr>
            </a:lvl1pPr>
          </a:lstStyle>
          <a:p>
            <a:pPr>
              <a:defRPr/>
            </a:pPr>
            <a:endParaRPr lang="pt-BR"/>
          </a:p>
        </p:txBody>
      </p:sp>
      <p:sp>
        <p:nvSpPr>
          <p:cNvPr id="338950" name="Rectangle 6">
            <a:extLst>
              <a:ext uri="{FF2B5EF4-FFF2-40B4-BE49-F238E27FC236}">
                <a16:creationId xmlns:a16="http://schemas.microsoft.com/office/drawing/2014/main" id="{D4630E94-75E5-3112-D9C2-6AA4CD01CA8B}"/>
              </a:ext>
            </a:extLst>
          </p:cNvPr>
          <p:cNvSpPr>
            <a:spLocks noGrp="1" noChangeArrowheads="1"/>
          </p:cNvSpPr>
          <p:nvPr>
            <p:ph type="sldNum" sz="quarter" idx="4"/>
          </p:nvPr>
        </p:nvSpPr>
        <p:spPr bwMode="auto">
          <a:xfrm>
            <a:off x="8737600" y="6245225"/>
            <a:ext cx="28448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smtClean="0">
                <a:solidFill>
                  <a:srgbClr val="000000"/>
                </a:solidFill>
                <a:effectLst>
                  <a:outerShdw blurRad="38100" dist="38100" dir="2700000" algn="tl">
                    <a:srgbClr val="C0C0C0"/>
                  </a:outerShdw>
                </a:effectLst>
                <a:latin typeface="Arial" panose="020B0604020202020204" pitchFamily="34" charset="0"/>
              </a:defRPr>
            </a:lvl1pPr>
          </a:lstStyle>
          <a:p>
            <a:pPr>
              <a:defRPr/>
            </a:pPr>
            <a:fld id="{2F18BC77-D341-4AB3-A3DA-2D59D3666EFC}" type="slidenum">
              <a:rPr lang="pt-BR" altLang="pt-BR"/>
              <a:pPr>
                <a:defRPr/>
              </a:pPr>
              <a:t>‹nº›</a:t>
            </a:fld>
            <a:endParaRPr lang="pt-BR" altLang="pt-BR"/>
          </a:p>
        </p:txBody>
      </p:sp>
      <p:sp>
        <p:nvSpPr>
          <p:cNvPr id="338951" name="Rectangle 7">
            <a:extLst>
              <a:ext uri="{FF2B5EF4-FFF2-40B4-BE49-F238E27FC236}">
                <a16:creationId xmlns:a16="http://schemas.microsoft.com/office/drawing/2014/main" id="{B55F5BFD-F62C-4EBD-5762-7157D3BD848B}"/>
              </a:ext>
            </a:extLst>
          </p:cNvPr>
          <p:cNvSpPr>
            <a:spLocks noChangeArrowheads="1"/>
          </p:cNvSpPr>
          <p:nvPr/>
        </p:nvSpPr>
        <p:spPr bwMode="auto">
          <a:xfrm>
            <a:off x="0" y="44624"/>
            <a:ext cx="12192000" cy="720000"/>
          </a:xfrm>
          <a:prstGeom prst="rect">
            <a:avLst/>
          </a:prstGeom>
          <a:solidFill>
            <a:schemeClr val="accent2"/>
          </a:solidFill>
          <a:ln>
            <a:noFill/>
          </a:ln>
          <a:effectLst/>
        </p:spPr>
        <p:txBody>
          <a:bodyPr anchor="ctr">
            <a:spAutoFit/>
          </a:bodyPr>
          <a:lstStyle/>
          <a:p>
            <a:pPr eaLnBrk="1" hangingPunct="1">
              <a:defRPr/>
            </a:pPr>
            <a:endParaRPr lang="pt-BR">
              <a:effectLst>
                <a:outerShdw blurRad="38100" dist="38100" dir="2700000" algn="tl">
                  <a:srgbClr val="000000">
                    <a:alpha val="43137"/>
                  </a:srgbClr>
                </a:outerShdw>
              </a:effectLst>
            </a:endParaRPr>
          </a:p>
        </p:txBody>
      </p:sp>
      <p:sp>
        <p:nvSpPr>
          <p:cNvPr id="338958" name="Text Box 14">
            <a:extLst>
              <a:ext uri="{FF2B5EF4-FFF2-40B4-BE49-F238E27FC236}">
                <a16:creationId xmlns:a16="http://schemas.microsoft.com/office/drawing/2014/main" id="{85D7A855-72EB-B30E-6C8F-16281E50E481}"/>
              </a:ext>
            </a:extLst>
          </p:cNvPr>
          <p:cNvSpPr txBox="1">
            <a:spLocks noChangeArrowheads="1"/>
          </p:cNvSpPr>
          <p:nvPr userDrawn="1"/>
        </p:nvSpPr>
        <p:spPr bwMode="auto">
          <a:xfrm>
            <a:off x="4944534" y="6523039"/>
            <a:ext cx="1215397" cy="276999"/>
          </a:xfrm>
          <a:prstGeom prst="rect">
            <a:avLst/>
          </a:prstGeom>
          <a:noFill/>
          <a:ln>
            <a:noFill/>
          </a:ln>
          <a:effectLst/>
        </p:spPr>
        <p:txBody>
          <a:bodyPr wrap="none">
            <a:spAutoFit/>
          </a:bodyPr>
          <a:lstStyle/>
          <a:p>
            <a:pPr eaLnBrk="1" hangingPunct="1">
              <a:defRPr/>
            </a:pPr>
            <a:r>
              <a:rPr lang="en-US" sz="1200">
                <a:solidFill>
                  <a:srgbClr val="A4A4D0"/>
                </a:solidFill>
                <a:effectLst>
                  <a:outerShdw blurRad="38100" dist="38100" dir="2700000" algn="tl">
                    <a:srgbClr val="C0C0C0"/>
                  </a:outerShdw>
                </a:effectLst>
              </a:rPr>
              <a:t>Programação A</a:t>
            </a:r>
            <a:endParaRPr lang="pt-BR" sz="1200">
              <a:solidFill>
                <a:srgbClr val="A4A4D0"/>
              </a:solidFill>
              <a:effectLst>
                <a:outerShdw blurRad="38100" dist="38100" dir="2700000" algn="tl">
                  <a:srgbClr val="C0C0C0"/>
                </a:outerShdw>
              </a:effectLst>
            </a:endParaRPr>
          </a:p>
        </p:txBody>
      </p:sp>
      <p:sp>
        <p:nvSpPr>
          <p:cNvPr id="1033" name="Rectangle 13">
            <a:extLst>
              <a:ext uri="{FF2B5EF4-FFF2-40B4-BE49-F238E27FC236}">
                <a16:creationId xmlns:a16="http://schemas.microsoft.com/office/drawing/2014/main" id="{DAD8EFFA-A0CE-0A39-DA0C-8BD451F7784C}"/>
              </a:ext>
            </a:extLst>
          </p:cNvPr>
          <p:cNvSpPr>
            <a:spLocks noChangeArrowheads="1"/>
          </p:cNvSpPr>
          <p:nvPr userDrawn="1"/>
        </p:nvSpPr>
        <p:spPr bwMode="auto">
          <a:xfrm>
            <a:off x="2639484" y="44451"/>
            <a:ext cx="9457267" cy="646113"/>
          </a:xfrm>
          <a:prstGeom prst="rect">
            <a:avLst/>
          </a:prstGeom>
          <a:noFill/>
          <a:ln>
            <a:noFill/>
          </a:ln>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defRPr/>
            </a:pPr>
            <a:r>
              <a:rPr lang="pt-BR" altLang="pt-BR" b="1" dirty="0">
                <a:effectLst>
                  <a:outerShdw blurRad="38100" dist="38100" dir="2700000" algn="tl">
                    <a:srgbClr val="000000">
                      <a:alpha val="43137"/>
                    </a:srgbClr>
                  </a:outerShdw>
                </a:effectLst>
              </a:rPr>
              <a:t>CURSO SUPERIOR DE TECNOLOGIA EM ANÁLISE </a:t>
            </a:r>
          </a:p>
          <a:p>
            <a:pPr algn="ctr" eaLnBrk="1" hangingPunct="1">
              <a:defRPr/>
            </a:pPr>
            <a:r>
              <a:rPr lang="pt-BR" altLang="pt-BR" b="1" dirty="0">
                <a:effectLst>
                  <a:outerShdw blurRad="38100" dist="38100" dir="2700000" algn="tl">
                    <a:srgbClr val="000000">
                      <a:alpha val="43137"/>
                    </a:srgbClr>
                  </a:outerShdw>
                </a:effectLst>
              </a:rPr>
              <a:t>E DESENVOLVIMENTO DE SISTEMAS</a:t>
            </a:r>
          </a:p>
        </p:txBody>
      </p:sp>
      <p:sp>
        <p:nvSpPr>
          <p:cNvPr id="338960" name="Line 16">
            <a:extLst>
              <a:ext uri="{FF2B5EF4-FFF2-40B4-BE49-F238E27FC236}">
                <a16:creationId xmlns:a16="http://schemas.microsoft.com/office/drawing/2014/main" id="{B75A88C3-B7B3-5A53-D5F9-C00B90E4E2CF}"/>
              </a:ext>
            </a:extLst>
          </p:cNvPr>
          <p:cNvSpPr>
            <a:spLocks noChangeShapeType="1"/>
          </p:cNvSpPr>
          <p:nvPr userDrawn="1"/>
        </p:nvSpPr>
        <p:spPr bwMode="auto">
          <a:xfrm>
            <a:off x="0" y="739775"/>
            <a:ext cx="12192000" cy="0"/>
          </a:xfrm>
          <a:prstGeom prst="line">
            <a:avLst/>
          </a:prstGeom>
          <a:noFill/>
          <a:ln w="76200">
            <a:solidFill>
              <a:srgbClr val="000000"/>
            </a:solidFill>
            <a:round/>
            <a:headEnd/>
            <a:tailEnd/>
          </a:ln>
          <a:effectLst/>
        </p:spPr>
        <p:txBody>
          <a:bodyPr>
            <a:spAutoFit/>
          </a:bodyPr>
          <a:lstStyle/>
          <a:p>
            <a:pPr eaLnBrk="1" hangingPunct="1">
              <a:defRPr/>
            </a:pPr>
            <a:endParaRPr lang="pt-BR">
              <a:effectLst>
                <a:outerShdw blurRad="38100" dist="38100" dir="2700000" algn="tl">
                  <a:srgbClr val="000000">
                    <a:alpha val="43137"/>
                  </a:srgbClr>
                </a:outerShdw>
              </a:effectLst>
            </a:endParaRPr>
          </a:p>
        </p:txBody>
      </p:sp>
      <p:pic>
        <p:nvPicPr>
          <p:cNvPr id="1035" name="Picture 18">
            <a:extLst>
              <a:ext uri="{FF2B5EF4-FFF2-40B4-BE49-F238E27FC236}">
                <a16:creationId xmlns:a16="http://schemas.microsoft.com/office/drawing/2014/main" id="{1841CA09-EA8E-7A0B-EEFB-ACF708769CAE}"/>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14288"/>
            <a:ext cx="2446867"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2pPr>
      <a:lvl3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3pPr>
      <a:lvl4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4pPr>
      <a:lvl5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5pPr>
      <a:lvl6pPr marL="4572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6pPr>
      <a:lvl7pPr marL="9144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7pPr>
      <a:lvl8pPr marL="13716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8pPr>
      <a:lvl9pPr marL="18288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9pPr>
    </p:titleStyle>
    <p:bodyStyle>
      <a:lvl1pPr marL="342900" indent="-342900" algn="ctr" rtl="0" eaLnBrk="0" fontAlgn="base" hangingPunct="0">
        <a:spcBef>
          <a:spcPct val="20000"/>
        </a:spcBef>
        <a:spcAft>
          <a:spcPct val="50000"/>
        </a:spcAft>
        <a:buClr>
          <a:schemeClr val="hlink"/>
        </a:buClr>
        <a:buSzPct val="65000"/>
        <a:buFont typeface="Wingdings" panose="05000000000000000000" pitchFamily="2" charset="2"/>
        <a:defRPr>
          <a:solidFill>
            <a:srgbClr val="000000"/>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50000"/>
        </a:spcAft>
        <a:buClr>
          <a:schemeClr val="fo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063EDF0C-21FB-5909-5B3A-49E01778962B}"/>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4109E73-118D-4093-8BA2-BD9FB82992D9}" type="slidenum">
              <a:rPr lang="pt-BR" altLang="pt-BR" smtClean="0">
                <a:solidFill>
                  <a:srgbClr val="000000"/>
                </a:solidFill>
                <a:latin typeface="Arial" panose="020B0604020202020204" pitchFamily="34" charset="0"/>
              </a:rPr>
              <a:pPr>
                <a:defRPr/>
              </a:pPr>
              <a:t>1</a:t>
            </a:fld>
            <a:endParaRPr lang="pt-BR" altLang="pt-BR">
              <a:solidFill>
                <a:srgbClr val="000000"/>
              </a:solidFill>
              <a:latin typeface="Arial" panose="020B0604020202020204" pitchFamily="34" charset="0"/>
            </a:endParaRPr>
          </a:p>
        </p:txBody>
      </p:sp>
      <p:sp>
        <p:nvSpPr>
          <p:cNvPr id="4099" name="Rectangle 2">
            <a:extLst>
              <a:ext uri="{FF2B5EF4-FFF2-40B4-BE49-F238E27FC236}">
                <a16:creationId xmlns:a16="http://schemas.microsoft.com/office/drawing/2014/main" id="{E3E67502-C042-4DB5-806B-2E5A484CCE1E}"/>
              </a:ext>
            </a:extLst>
          </p:cNvPr>
          <p:cNvSpPr>
            <a:spLocks noGrp="1" noChangeArrowheads="1"/>
          </p:cNvSpPr>
          <p:nvPr>
            <p:ph type="title"/>
          </p:nvPr>
        </p:nvSpPr>
        <p:spPr>
          <a:xfrm>
            <a:off x="1981200" y="333375"/>
            <a:ext cx="8229600" cy="1371600"/>
          </a:xfrm>
        </p:spPr>
        <p:txBody>
          <a:bodyPr/>
          <a:lstStyle/>
          <a:p>
            <a:br>
              <a:rPr lang="pt-BR" altLang="pt-BR">
                <a:effectLst/>
              </a:rPr>
            </a:br>
            <a:r>
              <a:rPr lang="pt-BR" altLang="pt-BR">
                <a:effectLst/>
              </a:rPr>
              <a:t>Linguagem de Programação C</a:t>
            </a:r>
          </a:p>
        </p:txBody>
      </p:sp>
      <p:sp>
        <p:nvSpPr>
          <p:cNvPr id="4100" name="Rectangle 3">
            <a:extLst>
              <a:ext uri="{FF2B5EF4-FFF2-40B4-BE49-F238E27FC236}">
                <a16:creationId xmlns:a16="http://schemas.microsoft.com/office/drawing/2014/main" id="{8A6C6D1F-948D-E672-9F03-43D76F0D5410}"/>
              </a:ext>
            </a:extLst>
          </p:cNvPr>
          <p:cNvSpPr>
            <a:spLocks noGrp="1" noChangeArrowheads="1"/>
          </p:cNvSpPr>
          <p:nvPr>
            <p:ph type="body" sz="half" idx="1"/>
          </p:nvPr>
        </p:nvSpPr>
        <p:spPr>
          <a:xfrm>
            <a:off x="1981201" y="1484313"/>
            <a:ext cx="8291513" cy="4114800"/>
          </a:xfrm>
        </p:spPr>
        <p:txBody>
          <a:bodyPr/>
          <a:lstStyle/>
          <a:p>
            <a:pPr marL="93663" indent="263525">
              <a:spcBef>
                <a:spcPct val="0"/>
              </a:spcBef>
              <a:spcAft>
                <a:spcPct val="0"/>
              </a:spcAft>
              <a:buClrTx/>
              <a:buSzTx/>
            </a:pPr>
            <a:endParaRPr lang="pt-BR" altLang="pt-BR" b="1" dirty="0">
              <a:effectLst/>
            </a:endParaRPr>
          </a:p>
          <a:p>
            <a:pPr marL="93663" indent="263525" algn="l">
              <a:spcBef>
                <a:spcPct val="0"/>
              </a:spcBef>
              <a:spcAft>
                <a:spcPct val="0"/>
              </a:spcAft>
              <a:buClrTx/>
              <a:buSzTx/>
            </a:pPr>
            <a:r>
              <a:rPr lang="pt-BR" altLang="pt-BR" b="1" dirty="0">
                <a:effectLst/>
              </a:rPr>
              <a:t>Unidade 4 – Entrada e Saída por arquivos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BA1B415F-B6EC-78EC-D308-CDD91CB972C7}"/>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9CA8EEF9-632D-45DA-9BB7-334F9BC7C159}" type="slidenum">
              <a:rPr lang="pt-BR" altLang="pt-BR" smtClean="0">
                <a:solidFill>
                  <a:srgbClr val="000000"/>
                </a:solidFill>
                <a:latin typeface="Arial" panose="020B0604020202020204" pitchFamily="34" charset="0"/>
              </a:rPr>
              <a:pPr>
                <a:defRPr/>
              </a:pPr>
              <a:t>2</a:t>
            </a:fld>
            <a:endParaRPr lang="pt-BR" altLang="pt-BR">
              <a:solidFill>
                <a:srgbClr val="000000"/>
              </a:solidFill>
              <a:latin typeface="Arial" panose="020B0604020202020204" pitchFamily="34" charset="0"/>
            </a:endParaRPr>
          </a:p>
        </p:txBody>
      </p:sp>
      <p:sp>
        <p:nvSpPr>
          <p:cNvPr id="6147" name="Rectangle 2">
            <a:extLst>
              <a:ext uri="{FF2B5EF4-FFF2-40B4-BE49-F238E27FC236}">
                <a16:creationId xmlns:a16="http://schemas.microsoft.com/office/drawing/2014/main" id="{3D77F45B-FF1D-9EB0-EB77-E63F6D693C1D}"/>
              </a:ext>
            </a:extLst>
          </p:cNvPr>
          <p:cNvSpPr>
            <a:spLocks noGrp="1" noChangeArrowheads="1"/>
          </p:cNvSpPr>
          <p:nvPr>
            <p:ph type="title"/>
          </p:nvPr>
        </p:nvSpPr>
        <p:spPr>
          <a:xfrm>
            <a:off x="1981200" y="333375"/>
            <a:ext cx="8229600" cy="1371600"/>
          </a:xfrm>
        </p:spPr>
        <p:txBody>
          <a:bodyPr/>
          <a:lstStyle/>
          <a:p>
            <a:r>
              <a:rPr lang="pt-BR" altLang="pt-BR" dirty="0">
                <a:effectLst/>
              </a:rPr>
              <a:t>Unidade 4 – Entrada e Saída por arquivos</a:t>
            </a:r>
          </a:p>
        </p:txBody>
      </p:sp>
      <p:sp>
        <p:nvSpPr>
          <p:cNvPr id="6148" name="Rectangle 3">
            <a:extLst>
              <a:ext uri="{FF2B5EF4-FFF2-40B4-BE49-F238E27FC236}">
                <a16:creationId xmlns:a16="http://schemas.microsoft.com/office/drawing/2014/main" id="{AC653369-DF96-F4DA-7028-E836E4129AC5}"/>
              </a:ext>
            </a:extLst>
          </p:cNvPr>
          <p:cNvSpPr>
            <a:spLocks noGrp="1" noChangeArrowheads="1"/>
          </p:cNvSpPr>
          <p:nvPr>
            <p:ph type="body" sz="half" idx="1"/>
          </p:nvPr>
        </p:nvSpPr>
        <p:spPr>
          <a:xfrm>
            <a:off x="1981201" y="1484313"/>
            <a:ext cx="8291513" cy="4114800"/>
          </a:xfrm>
        </p:spPr>
        <p:txBody>
          <a:bodyPr/>
          <a:lstStyle/>
          <a:p>
            <a:pPr marL="93663" indent="263525">
              <a:spcBef>
                <a:spcPct val="0"/>
              </a:spcBef>
              <a:spcAft>
                <a:spcPct val="0"/>
              </a:spcAft>
              <a:buClrTx/>
              <a:buSzTx/>
            </a:pPr>
            <a:r>
              <a:rPr lang="pt-BR" altLang="pt-BR" b="1" dirty="0">
                <a:effectLst/>
              </a:rPr>
              <a:t>      4.1 -</a:t>
            </a:r>
            <a:r>
              <a:rPr lang="en-US" altLang="pt-BR" b="1" dirty="0" err="1">
                <a:effectLst/>
              </a:rPr>
              <a:t>Funções</a:t>
            </a:r>
            <a:r>
              <a:rPr lang="en-US" altLang="pt-BR" b="1" dirty="0">
                <a:effectLst/>
              </a:rPr>
              <a:t> para </a:t>
            </a:r>
            <a:r>
              <a:rPr lang="en-US" altLang="pt-BR" b="1" dirty="0" err="1">
                <a:effectLst/>
              </a:rPr>
              <a:t>leitura</a:t>
            </a:r>
            <a:r>
              <a:rPr lang="en-US" altLang="pt-BR" b="1" dirty="0">
                <a:effectLst/>
              </a:rPr>
              <a:t> e </a:t>
            </a:r>
            <a:r>
              <a:rPr lang="en-US" altLang="pt-BR" b="1" dirty="0" err="1">
                <a:effectLst/>
              </a:rPr>
              <a:t>gravação</a:t>
            </a:r>
            <a:r>
              <a:rPr lang="en-US" altLang="pt-BR" b="1" dirty="0">
                <a:effectLst/>
              </a:rPr>
              <a:t> de </a:t>
            </a:r>
            <a:r>
              <a:rPr lang="en-US" altLang="pt-BR" b="1" dirty="0" err="1">
                <a:effectLst/>
              </a:rPr>
              <a:t>arquivos</a:t>
            </a:r>
            <a:r>
              <a:rPr lang="en-US" altLang="pt-BR" b="1" dirty="0">
                <a:effectLst/>
              </a:rPr>
              <a:t> da </a:t>
            </a:r>
            <a:r>
              <a:rPr lang="en-US" altLang="pt-BR" b="1" dirty="0" err="1">
                <a:effectLst/>
              </a:rPr>
              <a:t>biblioteca</a:t>
            </a:r>
            <a:r>
              <a:rPr lang="en-US" altLang="pt-BR" b="1" dirty="0">
                <a:effectLst/>
              </a:rPr>
              <a:t> da </a:t>
            </a:r>
            <a:r>
              <a:rPr lang="en-US" altLang="pt-BR" b="1" dirty="0" err="1">
                <a:effectLst/>
              </a:rPr>
              <a:t>linguagem</a:t>
            </a:r>
            <a:r>
              <a:rPr lang="en-US" altLang="pt-BR" b="1" dirty="0">
                <a:effectLst/>
              </a:rPr>
              <a:t> C</a:t>
            </a:r>
            <a:endParaRPr lang="pt-BR" altLang="pt-BR" b="1" dirty="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6">
            <a:extLst>
              <a:ext uri="{FF2B5EF4-FFF2-40B4-BE49-F238E27FC236}">
                <a16:creationId xmlns:a16="http://schemas.microsoft.com/office/drawing/2014/main" id="{49BC5B3B-A090-3B7E-9D41-DCBBCB04929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07F6DC58-EEA7-4F1B-8757-F878B3E01D89}" type="slidenum">
              <a:rPr lang="pt-BR" altLang="pt-BR" smtClean="0">
                <a:solidFill>
                  <a:srgbClr val="000000"/>
                </a:solidFill>
                <a:latin typeface="Arial" panose="020B0604020202020204" pitchFamily="34" charset="0"/>
              </a:rPr>
              <a:pPr>
                <a:defRPr/>
              </a:pPr>
              <a:t>3</a:t>
            </a:fld>
            <a:endParaRPr lang="pt-BR" altLang="pt-BR">
              <a:solidFill>
                <a:srgbClr val="000000"/>
              </a:solidFill>
              <a:latin typeface="Arial" panose="020B0604020202020204" pitchFamily="34" charset="0"/>
            </a:endParaRPr>
          </a:p>
        </p:txBody>
      </p:sp>
      <p:sp>
        <p:nvSpPr>
          <p:cNvPr id="8195" name="Rectangle 2">
            <a:extLst>
              <a:ext uri="{FF2B5EF4-FFF2-40B4-BE49-F238E27FC236}">
                <a16:creationId xmlns:a16="http://schemas.microsoft.com/office/drawing/2014/main" id="{FB971136-876F-496A-524E-A0F295262850}"/>
              </a:ext>
            </a:extLst>
          </p:cNvPr>
          <p:cNvSpPr>
            <a:spLocks noGrp="1" noChangeArrowheads="1"/>
          </p:cNvSpPr>
          <p:nvPr>
            <p:ph type="title"/>
          </p:nvPr>
        </p:nvSpPr>
        <p:spPr/>
        <p:txBody>
          <a:bodyPr/>
          <a:lstStyle/>
          <a:p>
            <a:r>
              <a:rPr lang="pt-BR" altLang="pt-BR" dirty="0">
                <a:effectLst/>
              </a:rPr>
              <a:t>Unidade 4 – Entrada e Saída por arquivos</a:t>
            </a:r>
          </a:p>
        </p:txBody>
      </p:sp>
      <p:sp>
        <p:nvSpPr>
          <p:cNvPr id="8196" name="Rectangle 3">
            <a:extLst>
              <a:ext uri="{FF2B5EF4-FFF2-40B4-BE49-F238E27FC236}">
                <a16:creationId xmlns:a16="http://schemas.microsoft.com/office/drawing/2014/main" id="{BA9F4116-8F73-2A58-D40A-1DCA4A077723}"/>
              </a:ext>
            </a:extLst>
          </p:cNvPr>
          <p:cNvSpPr>
            <a:spLocks noGrp="1" noChangeArrowheads="1"/>
          </p:cNvSpPr>
          <p:nvPr>
            <p:ph type="body" sz="half" idx="1"/>
          </p:nvPr>
        </p:nvSpPr>
        <p:spPr>
          <a:xfrm>
            <a:off x="479376" y="1484313"/>
            <a:ext cx="11593287" cy="4114800"/>
          </a:xfrm>
        </p:spPr>
        <p:txBody>
          <a:bodyPr/>
          <a:lstStyle/>
          <a:p>
            <a:pPr marL="93663" indent="263525">
              <a:spcBef>
                <a:spcPct val="0"/>
              </a:spcBef>
              <a:spcAft>
                <a:spcPct val="0"/>
              </a:spcAft>
              <a:buClrTx/>
              <a:buSzTx/>
            </a:pPr>
            <a:r>
              <a:rPr lang="pt-BR" altLang="pt-BR" b="1" dirty="0">
                <a:effectLst/>
              </a:rPr>
              <a:t> 4.1 -</a:t>
            </a:r>
            <a:r>
              <a:rPr lang="en-US" altLang="pt-BR" b="1" dirty="0" err="1">
                <a:effectLst/>
              </a:rPr>
              <a:t>Funções</a:t>
            </a:r>
            <a:r>
              <a:rPr lang="en-US" altLang="pt-BR" b="1" dirty="0">
                <a:effectLst/>
              </a:rPr>
              <a:t> para </a:t>
            </a:r>
            <a:r>
              <a:rPr lang="en-US" altLang="pt-BR" b="1" dirty="0" err="1">
                <a:effectLst/>
              </a:rPr>
              <a:t>leitura</a:t>
            </a:r>
            <a:r>
              <a:rPr lang="en-US" altLang="pt-BR" b="1" dirty="0">
                <a:effectLst/>
              </a:rPr>
              <a:t> e </a:t>
            </a:r>
            <a:r>
              <a:rPr lang="en-US" altLang="pt-BR" b="1" dirty="0" err="1">
                <a:effectLst/>
              </a:rPr>
              <a:t>gravação</a:t>
            </a:r>
            <a:r>
              <a:rPr lang="en-US" altLang="pt-BR" b="1" dirty="0">
                <a:effectLst/>
              </a:rPr>
              <a:t> de </a:t>
            </a:r>
            <a:r>
              <a:rPr lang="en-US" altLang="pt-BR" b="1" dirty="0" err="1">
                <a:effectLst/>
              </a:rPr>
              <a:t>arquivos</a:t>
            </a:r>
            <a:r>
              <a:rPr lang="en-US" altLang="pt-BR" b="1" dirty="0">
                <a:effectLst/>
              </a:rPr>
              <a:t> da </a:t>
            </a:r>
            <a:r>
              <a:rPr lang="en-US" altLang="pt-BR" b="1" dirty="0" err="1">
                <a:effectLst/>
              </a:rPr>
              <a:t>biblioteca</a:t>
            </a:r>
            <a:r>
              <a:rPr lang="en-US" altLang="pt-BR" b="1" dirty="0">
                <a:effectLst/>
              </a:rPr>
              <a:t> da </a:t>
            </a:r>
            <a:r>
              <a:rPr lang="en-US" altLang="pt-BR" b="1" dirty="0" err="1">
                <a:effectLst/>
              </a:rPr>
              <a:t>linguagem</a:t>
            </a:r>
            <a:r>
              <a:rPr lang="en-US" altLang="pt-BR" b="1" dirty="0">
                <a:effectLst/>
              </a:rPr>
              <a:t> C</a:t>
            </a:r>
          </a:p>
          <a:p>
            <a:pPr marL="93663" indent="263525">
              <a:buFont typeface="Wingdings" panose="05000000000000000000" pitchFamily="2" charset="2"/>
              <a:buChar char="n"/>
            </a:pPr>
            <a:r>
              <a:rPr lang="pt-BR" altLang="pt-BR" sz="2000" dirty="0">
                <a:effectLst/>
              </a:rPr>
              <a:t>Para tratar de arquivos a linguagem C fornece um nível de abstração entre o programador e o dispositivo que estiver sendo usado. Esta abstração é chamada fila de bytes e o dispositivo normalmente é o arquivo.</a:t>
            </a:r>
          </a:p>
          <a:p>
            <a:pPr marL="93663" indent="263525">
              <a:buFont typeface="Wingdings" panose="05000000000000000000" pitchFamily="2" charset="2"/>
              <a:buChar char="n"/>
            </a:pPr>
            <a:r>
              <a:rPr lang="pt-BR" altLang="pt-BR" sz="2000" dirty="0">
                <a:effectLst/>
              </a:rPr>
              <a:t>Existe um sistema </a:t>
            </a:r>
            <a:r>
              <a:rPr lang="pt-BR" altLang="pt-BR" sz="2000" i="1" dirty="0" err="1">
                <a:effectLst/>
              </a:rPr>
              <a:t>bufferizado</a:t>
            </a:r>
            <a:r>
              <a:rPr lang="pt-BR" altLang="pt-BR" sz="2000" dirty="0">
                <a:effectLst/>
              </a:rPr>
              <a:t> de acesso ao arquivo, onde um ponteiro de arquivo define vários aspectos do arquivo, como nome, status e posição corrente, além de ter a fila associada a ele.</a:t>
            </a:r>
          </a:p>
          <a:p>
            <a:pPr marL="93663" indent="263525">
              <a:buFont typeface="Wingdings" panose="05000000000000000000" pitchFamily="2" charset="2"/>
              <a:buChar char="n"/>
            </a:pPr>
            <a:r>
              <a:rPr lang="pt-BR" altLang="pt-BR" sz="2000" dirty="0">
                <a:effectLst/>
              </a:rPr>
              <a:t>Veja o exemplo:</a:t>
            </a:r>
            <a:endParaRPr lang="pt-BR" altLang="pt-BR" sz="1600" dirty="0">
              <a:effectLst/>
            </a:endParaRPr>
          </a:p>
        </p:txBody>
      </p:sp>
      <p:sp>
        <p:nvSpPr>
          <p:cNvPr id="8197" name="Rectangle 4">
            <a:extLst>
              <a:ext uri="{FF2B5EF4-FFF2-40B4-BE49-F238E27FC236}">
                <a16:creationId xmlns:a16="http://schemas.microsoft.com/office/drawing/2014/main" id="{0A11300B-FD8E-5AD3-A543-D43552801FE3}"/>
              </a:ext>
            </a:extLst>
          </p:cNvPr>
          <p:cNvSpPr>
            <a:spLocks noChangeArrowheads="1"/>
          </p:cNvSpPr>
          <p:nvPr/>
        </p:nvSpPr>
        <p:spPr bwMode="auto">
          <a:xfrm>
            <a:off x="4440239" y="4724400"/>
            <a:ext cx="3011487" cy="36988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a:solidFill>
                  <a:schemeClr val="tx1"/>
                </a:solidFill>
              </a:rPr>
              <a:t>entrada e saida arquivo.cpp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055C4BEE-00C9-C3DF-370C-ED2882C6BBD3}"/>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E855DB4F-3219-447D-8B8A-1DBC0C551EB6}" type="slidenum">
              <a:rPr lang="pt-BR" altLang="pt-BR" smtClean="0">
                <a:solidFill>
                  <a:srgbClr val="000000"/>
                </a:solidFill>
                <a:latin typeface="Arial" panose="020B0604020202020204" pitchFamily="34" charset="0"/>
              </a:rPr>
              <a:pPr>
                <a:defRPr/>
              </a:pPr>
              <a:t>4</a:t>
            </a:fld>
            <a:endParaRPr lang="pt-BR" altLang="pt-BR">
              <a:solidFill>
                <a:srgbClr val="000000"/>
              </a:solidFill>
              <a:latin typeface="Arial" panose="020B0604020202020204" pitchFamily="34" charset="0"/>
            </a:endParaRPr>
          </a:p>
        </p:txBody>
      </p:sp>
      <p:sp>
        <p:nvSpPr>
          <p:cNvPr id="10243" name="Rectangle 2">
            <a:extLst>
              <a:ext uri="{FF2B5EF4-FFF2-40B4-BE49-F238E27FC236}">
                <a16:creationId xmlns:a16="http://schemas.microsoft.com/office/drawing/2014/main" id="{0A22C612-0996-8B67-6C69-956162A9E0FC}"/>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58147" name="Rectangle 3">
            <a:extLst>
              <a:ext uri="{FF2B5EF4-FFF2-40B4-BE49-F238E27FC236}">
                <a16:creationId xmlns:a16="http://schemas.microsoft.com/office/drawing/2014/main" id="{6733C379-F28B-CCE1-A1BA-F040AB4ADA2C}"/>
              </a:ext>
            </a:extLst>
          </p:cNvPr>
          <p:cNvSpPr>
            <a:spLocks noGrp="1" noChangeArrowheads="1"/>
          </p:cNvSpPr>
          <p:nvPr>
            <p:ph type="body" sz="half" idx="1"/>
          </p:nvPr>
        </p:nvSpPr>
        <p:spPr>
          <a:xfrm>
            <a:off x="1055440" y="1484313"/>
            <a:ext cx="10526959" cy="4114800"/>
          </a:xfrm>
        </p:spPr>
        <p:txBody>
          <a:bodyPr/>
          <a:lstStyle/>
          <a:p>
            <a:pPr marL="93663" indent="263525">
              <a:lnSpc>
                <a:spcPct val="90000"/>
              </a:lnSpc>
              <a:spcBef>
                <a:spcPct val="0"/>
              </a:spcBef>
              <a:spcAft>
                <a:spcPct val="0"/>
              </a:spcAft>
              <a:buClrTx/>
              <a:buSzTx/>
              <a:defRPr/>
            </a:pPr>
            <a:endParaRPr lang="en-US" altLang="pt-BR" b="1" dirty="0">
              <a:effectLst/>
            </a:endParaRPr>
          </a:p>
          <a:p>
            <a:pPr marL="93663" indent="263525">
              <a:lnSpc>
                <a:spcPct val="90000"/>
              </a:lnSpc>
              <a:buFont typeface="Wingdings" panose="05000000000000000000" pitchFamily="2" charset="2"/>
              <a:buChar char="n"/>
              <a:defRPr/>
            </a:pPr>
            <a:r>
              <a:rPr lang="pt-BR" altLang="pt-BR" sz="2000" dirty="0">
                <a:effectLst/>
              </a:rPr>
              <a:t>Veja abaixo algumas instruções para leitura e gravação de arquivos:</a:t>
            </a:r>
          </a:p>
          <a:p>
            <a:pPr marL="93663" indent="263525">
              <a:lnSpc>
                <a:spcPct val="90000"/>
              </a:lnSpc>
              <a:buFont typeface="Wingdings" panose="05000000000000000000" pitchFamily="2" charset="2"/>
              <a:buChar char="n"/>
              <a:defRPr/>
            </a:pPr>
            <a:r>
              <a:rPr lang="pt-BR" altLang="pt-BR" sz="2000" dirty="0">
                <a:effectLst/>
              </a:rPr>
              <a:t>FILE:  tipo arquivo </a:t>
            </a:r>
          </a:p>
          <a:p>
            <a:pPr marL="93663" indent="263525">
              <a:lnSpc>
                <a:spcPct val="90000"/>
              </a:lnSpc>
              <a:buFont typeface="Wingdings" panose="05000000000000000000" pitchFamily="2" charset="2"/>
              <a:buChar char="n"/>
              <a:defRPr/>
            </a:pPr>
            <a:r>
              <a:rPr lang="pt-BR" altLang="pt-BR" sz="2000" b="1" dirty="0" err="1">
                <a:effectLst/>
              </a:rPr>
              <a:t>fprintf</a:t>
            </a:r>
            <a:r>
              <a:rPr lang="pt-BR" altLang="pt-BR" sz="2000" b="1" dirty="0">
                <a:effectLst/>
              </a:rPr>
              <a:t>():</a:t>
            </a:r>
            <a:r>
              <a:rPr lang="pt-BR" altLang="pt-BR" sz="2000" dirty="0">
                <a:effectLst/>
              </a:rPr>
              <a:t> funciona como a função </a:t>
            </a:r>
            <a:r>
              <a:rPr lang="pt-BR" altLang="pt-BR" sz="2000" b="1" dirty="0" err="1">
                <a:effectLst/>
              </a:rPr>
              <a:t>printf</a:t>
            </a:r>
            <a:r>
              <a:rPr lang="pt-BR" altLang="pt-BR" sz="2000" b="1" dirty="0">
                <a:effectLst/>
              </a:rPr>
              <a:t>()</a:t>
            </a:r>
            <a:r>
              <a:rPr lang="pt-BR" altLang="pt-BR" sz="2000" dirty="0">
                <a:effectLst/>
              </a:rPr>
              <a:t>. A diferença é que a saída de </a:t>
            </a:r>
            <a:r>
              <a:rPr lang="pt-BR" altLang="pt-BR" sz="2000" b="1" dirty="0" err="1">
                <a:effectLst/>
              </a:rPr>
              <a:t>fprintf</a:t>
            </a:r>
            <a:r>
              <a:rPr lang="pt-BR" altLang="pt-BR" sz="2000" b="1" dirty="0">
                <a:effectLst/>
              </a:rPr>
              <a:t>()</a:t>
            </a:r>
            <a:r>
              <a:rPr lang="pt-BR" altLang="pt-BR" sz="2000" dirty="0">
                <a:effectLst/>
              </a:rPr>
              <a:t> é um arquivo e não a tela do computador. Protótipo: </a:t>
            </a:r>
          </a:p>
          <a:p>
            <a:pPr marL="93663" indent="263525">
              <a:lnSpc>
                <a:spcPct val="90000"/>
              </a:lnSpc>
              <a:defRPr/>
            </a:pPr>
            <a:r>
              <a:rPr lang="pt-BR" altLang="pt-BR" sz="1600" dirty="0">
                <a:effectLst/>
              </a:rPr>
              <a:t>               </a:t>
            </a:r>
            <a:r>
              <a:rPr lang="en-US" altLang="pt-BR" sz="1600" dirty="0">
                <a:effectLst/>
              </a:rPr>
              <a:t>int </a:t>
            </a:r>
            <a:r>
              <a:rPr lang="en-US" altLang="pt-BR" sz="1600" dirty="0" err="1">
                <a:effectLst/>
              </a:rPr>
              <a:t>fprintf</a:t>
            </a:r>
            <a:r>
              <a:rPr lang="en-US" altLang="pt-BR" sz="1600" dirty="0">
                <a:effectLst/>
              </a:rPr>
              <a:t> (FILE *</a:t>
            </a:r>
            <a:r>
              <a:rPr lang="en-US" altLang="pt-BR" sz="1600" dirty="0" err="1">
                <a:effectLst/>
              </a:rPr>
              <a:t>fp,char</a:t>
            </a:r>
            <a:r>
              <a:rPr lang="en-US" altLang="pt-BR" sz="1600" dirty="0">
                <a:effectLst/>
              </a:rPr>
              <a:t> *str,...);</a:t>
            </a:r>
            <a:r>
              <a:rPr lang="pt-BR" altLang="pt-BR" sz="1600" dirty="0"/>
              <a:t> </a:t>
            </a:r>
            <a:endParaRPr lang="pt-BR" altLang="pt-BR" sz="2000" dirty="0">
              <a:effectLst/>
            </a:endParaRPr>
          </a:p>
          <a:p>
            <a:pPr marL="93663" indent="263525">
              <a:lnSpc>
                <a:spcPct val="90000"/>
              </a:lnSpc>
              <a:buFont typeface="Wingdings" panose="05000000000000000000" pitchFamily="2" charset="2"/>
              <a:buChar char="n"/>
              <a:defRPr/>
            </a:pPr>
            <a:r>
              <a:rPr lang="pt-BR" altLang="pt-BR" sz="2000" dirty="0" err="1">
                <a:effectLst/>
              </a:rPr>
              <a:t>fscanf</a:t>
            </a:r>
            <a:r>
              <a:rPr lang="pt-BR" altLang="pt-BR" sz="2000" dirty="0">
                <a:effectLst/>
              </a:rPr>
              <a:t>: lê os dados no arquivo </a:t>
            </a:r>
          </a:p>
          <a:p>
            <a:pPr marL="93663" indent="263525">
              <a:lnSpc>
                <a:spcPct val="90000"/>
              </a:lnSpc>
              <a:buFont typeface="Wingdings" panose="05000000000000000000" pitchFamily="2" charset="2"/>
              <a:buChar char="n"/>
              <a:defRPr/>
            </a:pPr>
            <a:r>
              <a:rPr lang="pt-BR" altLang="pt-BR" sz="2000" dirty="0" err="1">
                <a:effectLst/>
              </a:rPr>
              <a:t>fopen</a:t>
            </a:r>
            <a:r>
              <a:rPr lang="pt-BR" altLang="pt-BR" sz="2000" dirty="0">
                <a:effectLst/>
              </a:rPr>
              <a:t>: função de abertura de arquivos. </a:t>
            </a:r>
          </a:p>
          <a:p>
            <a:pPr marL="93663" indent="263525">
              <a:lnSpc>
                <a:spcPct val="90000"/>
              </a:lnSpc>
              <a:buFont typeface="Wingdings" panose="05000000000000000000" pitchFamily="2" charset="2"/>
              <a:buChar char="n"/>
              <a:defRPr/>
            </a:pPr>
            <a:r>
              <a:rPr lang="pt-BR" altLang="pt-BR" sz="2000" dirty="0" err="1">
                <a:effectLst/>
              </a:rPr>
              <a:t>fclose</a:t>
            </a:r>
            <a:r>
              <a:rPr lang="pt-BR" altLang="pt-BR" sz="2000" dirty="0">
                <a:effectLst/>
              </a:rPr>
              <a:t>: função de fechamento de arquivos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ço Reservado para Número de Slide 6">
            <a:extLst>
              <a:ext uri="{FF2B5EF4-FFF2-40B4-BE49-F238E27FC236}">
                <a16:creationId xmlns:a16="http://schemas.microsoft.com/office/drawing/2014/main" id="{45CBFBC7-88B4-0E3C-1FC7-C64CA9675642}"/>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B0F0E2BC-B5F4-4D6E-9377-6D192F77B0B7}" type="slidenum">
              <a:rPr lang="pt-BR" altLang="pt-BR" smtClean="0">
                <a:solidFill>
                  <a:srgbClr val="000000"/>
                </a:solidFill>
                <a:latin typeface="Arial" panose="020B0604020202020204" pitchFamily="34" charset="0"/>
              </a:rPr>
              <a:pPr>
                <a:defRPr/>
              </a:pPr>
              <a:t>5</a:t>
            </a:fld>
            <a:endParaRPr lang="pt-BR" altLang="pt-BR">
              <a:solidFill>
                <a:srgbClr val="000000"/>
              </a:solidFill>
              <a:latin typeface="Arial" panose="020B0604020202020204" pitchFamily="34" charset="0"/>
            </a:endParaRPr>
          </a:p>
        </p:txBody>
      </p:sp>
      <p:sp>
        <p:nvSpPr>
          <p:cNvPr id="12291" name="Rectangle 2">
            <a:extLst>
              <a:ext uri="{FF2B5EF4-FFF2-40B4-BE49-F238E27FC236}">
                <a16:creationId xmlns:a16="http://schemas.microsoft.com/office/drawing/2014/main" id="{441FFDD4-772A-3198-D08F-8D2368A3A8CE}"/>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92963" name="Rectangle 3">
            <a:extLst>
              <a:ext uri="{FF2B5EF4-FFF2-40B4-BE49-F238E27FC236}">
                <a16:creationId xmlns:a16="http://schemas.microsoft.com/office/drawing/2014/main" id="{9E860C89-E48E-BC41-4268-FCB46CB57905}"/>
              </a:ext>
            </a:extLst>
          </p:cNvPr>
          <p:cNvSpPr>
            <a:spLocks noGrp="1" noChangeArrowheads="1"/>
          </p:cNvSpPr>
          <p:nvPr>
            <p:ph type="body" sz="half" idx="1"/>
          </p:nvPr>
        </p:nvSpPr>
        <p:spPr>
          <a:xfrm>
            <a:off x="911424" y="1484313"/>
            <a:ext cx="10873207" cy="4114800"/>
          </a:xfrm>
        </p:spPr>
        <p:txBody>
          <a:bodyPr/>
          <a:lstStyle/>
          <a:p>
            <a:pPr marL="93663" indent="263525">
              <a:spcBef>
                <a:spcPct val="0"/>
              </a:spcBef>
              <a:spcAft>
                <a:spcPct val="0"/>
              </a:spcAft>
              <a:buClrTx/>
              <a:buSzTx/>
              <a:defRPr/>
            </a:pPr>
            <a:endParaRPr lang="en-US" altLang="pt-BR" b="1" dirty="0">
              <a:effectLst/>
            </a:endParaRPr>
          </a:p>
          <a:p>
            <a:pPr marL="93663" indent="263525">
              <a:buFont typeface="Wingdings" panose="05000000000000000000" pitchFamily="2" charset="2"/>
              <a:buChar char="n"/>
              <a:defRPr/>
            </a:pPr>
            <a:r>
              <a:rPr lang="pt-BR" altLang="pt-BR" sz="2000" b="1" dirty="0" err="1">
                <a:effectLst/>
              </a:rPr>
              <a:t>fscanf</a:t>
            </a:r>
            <a:r>
              <a:rPr lang="pt-BR" altLang="pt-BR" sz="2000" b="1" dirty="0">
                <a:effectLst/>
              </a:rPr>
              <a:t>: </a:t>
            </a:r>
            <a:r>
              <a:rPr lang="pt-BR" altLang="pt-BR" sz="2000" dirty="0">
                <a:effectLst/>
              </a:rPr>
              <a:t>funciona como a função </a:t>
            </a:r>
            <a:r>
              <a:rPr lang="pt-BR" altLang="pt-BR" sz="2000" b="1" dirty="0" err="1">
                <a:effectLst/>
              </a:rPr>
              <a:t>scanf</a:t>
            </a:r>
            <a:r>
              <a:rPr lang="pt-BR" altLang="pt-BR" sz="2000" b="1" dirty="0">
                <a:effectLst/>
              </a:rPr>
              <a:t>()</a:t>
            </a:r>
            <a:r>
              <a:rPr lang="pt-BR" altLang="pt-BR" sz="2000" dirty="0">
                <a:effectLst/>
              </a:rPr>
              <a:t>. A diferença é que </a:t>
            </a:r>
            <a:r>
              <a:rPr lang="pt-BR" altLang="pt-BR" sz="2000" b="1" dirty="0" err="1">
                <a:effectLst/>
              </a:rPr>
              <a:t>fscanf</a:t>
            </a:r>
            <a:r>
              <a:rPr lang="pt-BR" altLang="pt-BR" sz="2000" b="1" dirty="0">
                <a:effectLst/>
              </a:rPr>
              <a:t>()</a:t>
            </a:r>
            <a:r>
              <a:rPr lang="pt-BR" altLang="pt-BR" sz="2000" dirty="0">
                <a:effectLst/>
              </a:rPr>
              <a:t> lê de um arquivo e não do teclado do computador. Protótipo: </a:t>
            </a:r>
            <a:endParaRPr lang="en-US" altLang="pt-BR" sz="2000" dirty="0">
              <a:effectLst/>
            </a:endParaRPr>
          </a:p>
          <a:p>
            <a:pPr marL="93663" indent="263525">
              <a:defRPr/>
            </a:pPr>
            <a:r>
              <a:rPr lang="en-US" altLang="pt-BR" sz="2000" dirty="0">
                <a:effectLst/>
              </a:rPr>
              <a:t>int </a:t>
            </a:r>
            <a:r>
              <a:rPr lang="en-US" altLang="pt-BR" sz="2000" dirty="0" err="1">
                <a:effectLst/>
              </a:rPr>
              <a:t>fscanf</a:t>
            </a:r>
            <a:r>
              <a:rPr lang="en-US" altLang="pt-BR" sz="2000" dirty="0">
                <a:effectLst/>
              </a:rPr>
              <a:t> (FILE *</a:t>
            </a:r>
            <a:r>
              <a:rPr lang="en-US" altLang="pt-BR" sz="2000" dirty="0" err="1">
                <a:effectLst/>
              </a:rPr>
              <a:t>fp,char</a:t>
            </a:r>
            <a:r>
              <a:rPr lang="en-US" altLang="pt-BR" sz="2000" dirty="0">
                <a:effectLst/>
              </a:rPr>
              <a:t> *str,...);</a:t>
            </a:r>
          </a:p>
          <a:p>
            <a:pPr marL="93663" indent="263525">
              <a:buFont typeface="Wingdings" panose="05000000000000000000" pitchFamily="2" charset="2"/>
              <a:buChar char="n"/>
              <a:defRPr/>
            </a:pPr>
            <a:r>
              <a:rPr lang="pt-BR" altLang="pt-BR" sz="2000" dirty="0">
                <a:effectLst/>
              </a:rPr>
              <a:t>Como já poderíamos esperar, a única diferença do protótipo de </a:t>
            </a:r>
            <a:r>
              <a:rPr lang="pt-BR" altLang="pt-BR" sz="2000" b="1" dirty="0" err="1">
                <a:effectLst/>
              </a:rPr>
              <a:t>fscanf</a:t>
            </a:r>
            <a:r>
              <a:rPr lang="pt-BR" altLang="pt-BR" sz="2000" b="1" dirty="0">
                <a:effectLst/>
              </a:rPr>
              <a:t>()</a:t>
            </a:r>
            <a:r>
              <a:rPr lang="pt-BR" altLang="pt-BR" sz="2000" dirty="0">
                <a:effectLst/>
              </a:rPr>
              <a:t> para o de </a:t>
            </a:r>
            <a:r>
              <a:rPr lang="pt-BR" altLang="pt-BR" sz="2000" b="1" dirty="0" err="1">
                <a:effectLst/>
              </a:rPr>
              <a:t>scanf</a:t>
            </a:r>
            <a:r>
              <a:rPr lang="pt-BR" altLang="pt-BR" sz="2000" b="1" dirty="0">
                <a:effectLst/>
              </a:rPr>
              <a:t>()</a:t>
            </a:r>
            <a:r>
              <a:rPr lang="pt-BR" altLang="pt-BR" sz="2000" dirty="0">
                <a:effectLst/>
              </a:rPr>
              <a:t> é a especificação do arquivo destino através do ponteiro de arquivo.</a:t>
            </a:r>
            <a:r>
              <a:rPr lang="pt-BR" altLang="pt-BR" sz="2000"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3822C324-5CA0-FC85-C65F-DB226F5AB85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6D324C5-1F6F-444F-9F2D-FD1628FF9AD1}" type="slidenum">
              <a:rPr lang="pt-BR" altLang="pt-BR" smtClean="0">
                <a:solidFill>
                  <a:srgbClr val="000000"/>
                </a:solidFill>
                <a:latin typeface="Arial" panose="020B0604020202020204" pitchFamily="34" charset="0"/>
              </a:rPr>
              <a:pPr>
                <a:defRPr/>
              </a:pPr>
              <a:t>6</a:t>
            </a:fld>
            <a:endParaRPr lang="pt-BR" altLang="pt-BR">
              <a:solidFill>
                <a:srgbClr val="000000"/>
              </a:solidFill>
              <a:latin typeface="Arial" panose="020B0604020202020204" pitchFamily="34" charset="0"/>
            </a:endParaRPr>
          </a:p>
        </p:txBody>
      </p:sp>
      <p:sp>
        <p:nvSpPr>
          <p:cNvPr id="14339" name="Rectangle 2">
            <a:extLst>
              <a:ext uri="{FF2B5EF4-FFF2-40B4-BE49-F238E27FC236}">
                <a16:creationId xmlns:a16="http://schemas.microsoft.com/office/drawing/2014/main" id="{3F7F8FF8-16C2-6A81-DB05-97257E7B0194}"/>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58147" name="Rectangle 3">
            <a:extLst>
              <a:ext uri="{FF2B5EF4-FFF2-40B4-BE49-F238E27FC236}">
                <a16:creationId xmlns:a16="http://schemas.microsoft.com/office/drawing/2014/main" id="{D5B1EEC5-05FA-FB71-969C-50C5ABD633B7}"/>
              </a:ext>
            </a:extLst>
          </p:cNvPr>
          <p:cNvSpPr>
            <a:spLocks noGrp="1" noChangeArrowheads="1"/>
          </p:cNvSpPr>
          <p:nvPr>
            <p:ph type="body" sz="half" idx="1"/>
          </p:nvPr>
        </p:nvSpPr>
        <p:spPr>
          <a:xfrm>
            <a:off x="839416" y="1484313"/>
            <a:ext cx="10742983" cy="4114800"/>
          </a:xfrm>
        </p:spPr>
        <p:txBody>
          <a:bodyPr/>
          <a:lstStyle/>
          <a:p>
            <a:pPr marL="93663" indent="263525">
              <a:lnSpc>
                <a:spcPct val="90000"/>
              </a:lnSpc>
              <a:spcBef>
                <a:spcPct val="0"/>
              </a:spcBef>
              <a:spcAft>
                <a:spcPct val="0"/>
              </a:spcAft>
              <a:buClrTx/>
              <a:buSzTx/>
              <a:defRPr/>
            </a:pPr>
            <a:endParaRPr lang="en-US" altLang="pt-BR" b="1" dirty="0">
              <a:effectLst/>
            </a:endParaRPr>
          </a:p>
          <a:p>
            <a:pPr algn="just">
              <a:buClrTx/>
              <a:buSzPct val="100000"/>
              <a:buFont typeface="Wingdings" panose="05000000000000000000" pitchFamily="2" charset="2"/>
              <a:buChar char="q"/>
              <a:defRPr/>
            </a:pPr>
            <a:r>
              <a:rPr lang="pt-BR" sz="2000" dirty="0">
                <a:effectLst/>
              </a:rPr>
              <a:t>ATENÇÃO: a leitura em arquivo de variáveis do tipo </a:t>
            </a:r>
            <a:r>
              <a:rPr lang="pt-BR" sz="2000" dirty="0" err="1">
                <a:effectLst/>
              </a:rPr>
              <a:t>string</a:t>
            </a:r>
            <a:r>
              <a:rPr lang="pt-BR" sz="2000" dirty="0">
                <a:effectLst/>
              </a:rPr>
              <a:t> deve utilizar o comando </a:t>
            </a:r>
            <a:r>
              <a:rPr lang="pt-BR" sz="2000" b="1" dirty="0" err="1">
                <a:effectLst/>
              </a:rPr>
              <a:t>gets</a:t>
            </a:r>
            <a:r>
              <a:rPr lang="pt-BR" sz="2000" b="1" dirty="0">
                <a:effectLst/>
              </a:rPr>
              <a:t>(f[i].</a:t>
            </a:r>
            <a:r>
              <a:rPr lang="pt-BR" sz="2000" b="1" dirty="0" err="1">
                <a:effectLst/>
              </a:rPr>
              <a:t>nome,NULL,fp</a:t>
            </a:r>
            <a:r>
              <a:rPr lang="pt-BR" sz="2000" b="1" dirty="0">
                <a:effectLst/>
              </a:rPr>
              <a:t>);</a:t>
            </a:r>
          </a:p>
          <a:p>
            <a:pPr marL="714375" indent="-271463" algn="just">
              <a:buClrTx/>
              <a:buSzPct val="100000"/>
              <a:buFont typeface="Wingdings" panose="05000000000000000000" pitchFamily="2" charset="2"/>
              <a:buChar char="ü"/>
              <a:defRPr/>
            </a:pPr>
            <a:r>
              <a:rPr lang="pt-BR" sz="2000" b="1" dirty="0">
                <a:effectLst/>
              </a:rPr>
              <a:t> </a:t>
            </a:r>
            <a:r>
              <a:rPr lang="pt-BR" sz="2000" dirty="0">
                <a:effectLst/>
              </a:rPr>
              <a:t>onde o </a:t>
            </a:r>
            <a:r>
              <a:rPr lang="pt-BR" sz="2000" b="1" dirty="0">
                <a:effectLst/>
              </a:rPr>
              <a:t>f[i].nome</a:t>
            </a:r>
            <a:r>
              <a:rPr lang="pt-BR" sz="2000" dirty="0">
                <a:effectLst/>
              </a:rPr>
              <a:t> é o nome da variável da STRUCT; </a:t>
            </a:r>
          </a:p>
          <a:p>
            <a:pPr marL="714375" indent="-271463" algn="just">
              <a:buClrTx/>
              <a:buSzPct val="100000"/>
              <a:buFont typeface="Wingdings" panose="05000000000000000000" pitchFamily="2" charset="2"/>
              <a:buChar char="ü"/>
              <a:defRPr/>
            </a:pPr>
            <a:r>
              <a:rPr lang="pt-BR" sz="2000" b="1" dirty="0" err="1">
                <a:effectLst/>
              </a:rPr>
              <a:t>Null</a:t>
            </a:r>
            <a:r>
              <a:rPr lang="pt-BR" sz="2000" b="1" dirty="0">
                <a:effectLst/>
              </a:rPr>
              <a:t> </a:t>
            </a:r>
            <a:r>
              <a:rPr lang="pt-BR" sz="2000" dirty="0">
                <a:effectLst/>
              </a:rPr>
              <a:t> é o critério de parada para a leitura da variável (para de ler quando encontra o “/0”, e,</a:t>
            </a:r>
          </a:p>
          <a:p>
            <a:pPr marL="714375" indent="-271463" algn="just">
              <a:buClrTx/>
              <a:buSzPct val="100000"/>
              <a:buFont typeface="Wingdings" panose="05000000000000000000" pitchFamily="2" charset="2"/>
              <a:buChar char="ü"/>
              <a:defRPr/>
            </a:pPr>
            <a:r>
              <a:rPr lang="pt-BR" sz="2000" dirty="0">
                <a:effectLst/>
              </a:rPr>
              <a:t> </a:t>
            </a:r>
            <a:r>
              <a:rPr lang="pt-BR" sz="2000" b="1" dirty="0" err="1">
                <a:effectLst/>
              </a:rPr>
              <a:t>fp</a:t>
            </a:r>
            <a:r>
              <a:rPr lang="pt-BR" sz="2000" dirty="0">
                <a:effectLst/>
              </a:rPr>
              <a:t> é o ponteiro que está apontando para o arquivo.</a:t>
            </a:r>
          </a:p>
          <a:p>
            <a:pPr marL="93663" indent="263525">
              <a:lnSpc>
                <a:spcPct val="90000"/>
              </a:lnSpc>
              <a:buFont typeface="Wingdings" panose="05000000000000000000" pitchFamily="2" charset="2"/>
              <a:buChar char="n"/>
              <a:defRPr/>
            </a:pPr>
            <a:endParaRPr lang="pt-BR" altLang="pt-BR" sz="2000" dirty="0">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0FD99296-5D30-79BA-BB2A-DD4894D20BB0}"/>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007FFDBE-C7F2-4F0E-9CEE-55318019B6F7}" type="slidenum">
              <a:rPr lang="pt-BR" altLang="pt-BR" smtClean="0">
                <a:solidFill>
                  <a:srgbClr val="000000"/>
                </a:solidFill>
                <a:latin typeface="Arial" panose="020B0604020202020204" pitchFamily="34" charset="0"/>
              </a:rPr>
              <a:pPr>
                <a:defRPr/>
              </a:pPr>
              <a:t>7</a:t>
            </a:fld>
            <a:endParaRPr lang="pt-BR" altLang="pt-BR">
              <a:solidFill>
                <a:srgbClr val="000000"/>
              </a:solidFill>
              <a:latin typeface="Arial" panose="020B0604020202020204" pitchFamily="34" charset="0"/>
            </a:endParaRPr>
          </a:p>
        </p:txBody>
      </p:sp>
      <p:sp>
        <p:nvSpPr>
          <p:cNvPr id="16387" name="Rectangle 2">
            <a:extLst>
              <a:ext uri="{FF2B5EF4-FFF2-40B4-BE49-F238E27FC236}">
                <a16:creationId xmlns:a16="http://schemas.microsoft.com/office/drawing/2014/main" id="{11DEEC02-F4AD-A9DB-6276-C70B237D1700}"/>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6388" name="Rectangle 3">
            <a:extLst>
              <a:ext uri="{FF2B5EF4-FFF2-40B4-BE49-F238E27FC236}">
                <a16:creationId xmlns:a16="http://schemas.microsoft.com/office/drawing/2014/main" id="{5C0F0F51-A6B6-6577-D206-7BBBB9F3699F}"/>
              </a:ext>
            </a:extLst>
          </p:cNvPr>
          <p:cNvSpPr>
            <a:spLocks noGrp="1" noChangeArrowheads="1"/>
          </p:cNvSpPr>
          <p:nvPr>
            <p:ph type="body" sz="half" idx="1"/>
          </p:nvPr>
        </p:nvSpPr>
        <p:spPr>
          <a:xfrm>
            <a:off x="839416" y="1484313"/>
            <a:ext cx="10801199" cy="4114800"/>
          </a:xfrm>
        </p:spPr>
        <p:txBody>
          <a:bodyPr/>
          <a:lstStyle/>
          <a:p>
            <a:pPr marL="93663" indent="263525">
              <a:spcBef>
                <a:spcPct val="0"/>
              </a:spcBef>
              <a:spcAft>
                <a:spcPct val="0"/>
              </a:spcAft>
              <a:buClrTx/>
              <a:buSzTx/>
            </a:pPr>
            <a:endParaRPr lang="en-US" altLang="pt-BR" b="1" dirty="0">
              <a:effectLst/>
            </a:endParaRPr>
          </a:p>
          <a:p>
            <a:pPr marL="93663" indent="263525">
              <a:buFont typeface="Wingdings" panose="05000000000000000000" pitchFamily="2" charset="2"/>
              <a:buChar char="n"/>
            </a:pPr>
            <a:r>
              <a:rPr lang="pt-BR" altLang="pt-BR" sz="2000" b="1" dirty="0" err="1">
                <a:effectLst/>
              </a:rPr>
              <a:t>fopen</a:t>
            </a:r>
            <a:r>
              <a:rPr lang="pt-BR" altLang="pt-BR" sz="2000" dirty="0">
                <a:effectLst/>
              </a:rPr>
              <a:t>: esta é a função de abertura de arquivos. Seu protótipo é: FILE *</a:t>
            </a:r>
            <a:r>
              <a:rPr lang="pt-BR" altLang="pt-BR" sz="2000" dirty="0" err="1">
                <a:effectLst/>
              </a:rPr>
              <a:t>fopen</a:t>
            </a:r>
            <a:r>
              <a:rPr lang="pt-BR" altLang="pt-BR" sz="2000" dirty="0">
                <a:effectLst/>
              </a:rPr>
              <a:t> (char *</a:t>
            </a:r>
            <a:r>
              <a:rPr lang="pt-BR" altLang="pt-BR" sz="2000" dirty="0" err="1">
                <a:effectLst/>
              </a:rPr>
              <a:t>nome_do_arquivo,char</a:t>
            </a:r>
            <a:r>
              <a:rPr lang="pt-BR" altLang="pt-BR" sz="2000" dirty="0">
                <a:effectLst/>
              </a:rPr>
              <a:t> *modo);</a:t>
            </a:r>
          </a:p>
          <a:p>
            <a:pPr marL="93663" indent="263525">
              <a:buFont typeface="Wingdings" panose="05000000000000000000" pitchFamily="2" charset="2"/>
              <a:buChar char="n"/>
            </a:pPr>
            <a:r>
              <a:rPr lang="pt-BR" altLang="pt-BR" sz="2000" dirty="0">
                <a:effectLst/>
              </a:rPr>
              <a:t>O </a:t>
            </a:r>
            <a:r>
              <a:rPr lang="pt-BR" altLang="pt-BR" sz="2000" dirty="0" err="1">
                <a:effectLst/>
              </a:rPr>
              <a:t>nome_do_arquivo</a:t>
            </a:r>
            <a:r>
              <a:rPr lang="pt-BR" altLang="pt-BR" sz="2000" dirty="0">
                <a:effectLst/>
              </a:rPr>
              <a:t> determina qual arquivo deverá ser aberto. Este nome deve ser válido no sistema operacional que estiver sendo utilizado. O modo de abertura diz à função </a:t>
            </a:r>
            <a:r>
              <a:rPr lang="pt-BR" altLang="pt-BR" sz="2000" b="1" dirty="0" err="1">
                <a:effectLst/>
              </a:rPr>
              <a:t>fopen</a:t>
            </a:r>
            <a:r>
              <a:rPr lang="pt-BR" altLang="pt-BR" sz="2000" b="1" dirty="0">
                <a:effectLst/>
              </a:rPr>
              <a:t>()</a:t>
            </a:r>
            <a:r>
              <a:rPr lang="pt-BR" altLang="pt-BR" sz="2000" dirty="0">
                <a:effectLst/>
              </a:rPr>
              <a:t> que tipo de uso você vai fazer do arquivo.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spaço Reservado para Número de Slide 6">
            <a:extLst>
              <a:ext uri="{FF2B5EF4-FFF2-40B4-BE49-F238E27FC236}">
                <a16:creationId xmlns:a16="http://schemas.microsoft.com/office/drawing/2014/main" id="{7D0A3D61-0FAE-698E-34B4-B00814B8D985}"/>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BE4D0F1-C5B9-4C7C-88AE-22D20DFB5EF6}" type="slidenum">
              <a:rPr lang="pt-BR" altLang="pt-BR" smtClean="0">
                <a:solidFill>
                  <a:srgbClr val="000000"/>
                </a:solidFill>
                <a:latin typeface="Arial" panose="020B0604020202020204" pitchFamily="34" charset="0"/>
              </a:rPr>
              <a:pPr>
                <a:defRPr/>
              </a:pPr>
              <a:t>8</a:t>
            </a:fld>
            <a:endParaRPr lang="pt-BR" altLang="pt-BR">
              <a:solidFill>
                <a:srgbClr val="000000"/>
              </a:solidFill>
              <a:latin typeface="Arial" panose="020B0604020202020204" pitchFamily="34" charset="0"/>
            </a:endParaRPr>
          </a:p>
        </p:txBody>
      </p:sp>
      <p:sp>
        <p:nvSpPr>
          <p:cNvPr id="18435" name="Rectangle 2">
            <a:extLst>
              <a:ext uri="{FF2B5EF4-FFF2-40B4-BE49-F238E27FC236}">
                <a16:creationId xmlns:a16="http://schemas.microsoft.com/office/drawing/2014/main" id="{0FC4F2BB-D472-188C-DEBE-17181B066744}"/>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8436" name="Rectangle 3">
            <a:extLst>
              <a:ext uri="{FF2B5EF4-FFF2-40B4-BE49-F238E27FC236}">
                <a16:creationId xmlns:a16="http://schemas.microsoft.com/office/drawing/2014/main" id="{6FBF70E1-8195-4F38-FB63-D29C22114443}"/>
              </a:ext>
            </a:extLst>
          </p:cNvPr>
          <p:cNvSpPr>
            <a:spLocks noGrp="1" noChangeArrowheads="1"/>
          </p:cNvSpPr>
          <p:nvPr>
            <p:ph type="body" sz="half" idx="1"/>
          </p:nvPr>
        </p:nvSpPr>
        <p:spPr>
          <a:xfrm>
            <a:off x="1981201" y="1484313"/>
            <a:ext cx="8291513" cy="4114800"/>
          </a:xfrm>
        </p:spPr>
        <p:txBody>
          <a:bodyPr/>
          <a:lstStyle/>
          <a:p>
            <a:pPr marL="93663" indent="-7938">
              <a:spcBef>
                <a:spcPct val="0"/>
              </a:spcBef>
              <a:spcAft>
                <a:spcPct val="0"/>
              </a:spcAft>
              <a:buClrTx/>
              <a:buSzTx/>
            </a:pPr>
            <a:r>
              <a:rPr lang="pt-BR" altLang="pt-BR" sz="2000">
                <a:effectLst/>
              </a:rPr>
              <a:t>A tabela abaixo mostra os valores de modo válidos</a:t>
            </a:r>
            <a:r>
              <a:rPr lang="pt-BR" altLang="pt-BR" sz="1600">
                <a:effectLst/>
              </a:rPr>
              <a:t>:</a:t>
            </a:r>
            <a:endParaRPr lang="pt-BR" altLang="pt-BR" sz="2000">
              <a:effectLst/>
            </a:endParaRPr>
          </a:p>
        </p:txBody>
      </p:sp>
      <p:graphicFrame>
        <p:nvGraphicFramePr>
          <p:cNvPr id="1166657" name="Group 321">
            <a:extLst>
              <a:ext uri="{FF2B5EF4-FFF2-40B4-BE49-F238E27FC236}">
                <a16:creationId xmlns:a16="http://schemas.microsoft.com/office/drawing/2014/main" id="{8E8C49F8-58F6-7F72-C105-C4D57DFD9C9E}"/>
              </a:ext>
            </a:extLst>
          </p:cNvPr>
          <p:cNvGraphicFramePr>
            <a:graphicFrameLocks noGrp="1"/>
          </p:cNvGraphicFramePr>
          <p:nvPr>
            <p:ph sz="half" idx="2"/>
            <p:extLst>
              <p:ext uri="{D42A27DB-BD31-4B8C-83A1-F6EECF244321}">
                <p14:modId xmlns:p14="http://schemas.microsoft.com/office/powerpoint/2010/main" val="4210395093"/>
              </p:ext>
            </p:extLst>
          </p:nvPr>
        </p:nvGraphicFramePr>
        <p:xfrm>
          <a:off x="546337" y="1997036"/>
          <a:ext cx="11161240" cy="4479964"/>
        </p:xfrm>
        <a:graphic>
          <a:graphicData uri="http://schemas.openxmlformats.org/drawingml/2006/table">
            <a:tbl>
              <a:tblPr/>
              <a:tblGrid>
                <a:gridCol w="800931">
                  <a:extLst>
                    <a:ext uri="{9D8B030D-6E8A-4147-A177-3AD203B41FA5}">
                      <a16:colId xmlns:a16="http://schemas.microsoft.com/office/drawing/2014/main" val="20000"/>
                    </a:ext>
                  </a:extLst>
                </a:gridCol>
                <a:gridCol w="10360309">
                  <a:extLst>
                    <a:ext uri="{9D8B030D-6E8A-4147-A177-3AD203B41FA5}">
                      <a16:colId xmlns:a16="http://schemas.microsoft.com/office/drawing/2014/main" val="20001"/>
                    </a:ext>
                  </a:extLst>
                </a:gridCol>
              </a:tblGrid>
              <a:tr h="365682">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a:t>
                      </a:r>
                      <a:endParaRPr kumimoji="0" lang="en-US" altLang="pt-BR"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Abre um arquivo texto para leitura. O arquivo deve existir antes de ser aberto.</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0"/>
                  </a:ext>
                </a:extLst>
              </a:tr>
              <a:tr h="639989">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"w"</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Abrir um arquivo texto para gravação. Se o arquivo não existir, ele será criado. Se já existir, o conteúdo anterior será destruído.</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1"/>
                  </a:ext>
                </a:extLst>
              </a:tr>
              <a:tr h="914296">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a:t>
                      </a:r>
                      <a:endParaRPr kumimoji="0" lang="en-US" altLang="pt-BR"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Abrir um arquivo texto para gravação. Os dados serão adicionados no fim do arquivo ("append"), se ele já existir, ou um novo arquivo será criado, no caso de arquivo não existente anteriormente.</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2"/>
                  </a:ext>
                </a:extLst>
              </a:tr>
              <a:tr h="639989">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"rb"</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Abre um arquivo binário para leitura. Igual ao modo "r" anterior, só que o arquivo é binário.</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3"/>
                  </a:ext>
                </a:extLst>
              </a:tr>
              <a:tr h="639989">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"wb"</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Cria um arquivo binário para escrita, como no modo "w" anterior, só que o arquivo é binário.</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4"/>
                  </a:ext>
                </a:extLst>
              </a:tr>
              <a:tr h="639989">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Acrescenta dados binários no fim do arquivo, como no modo "a" anterior, só que o arquivo é binário.</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5"/>
                  </a:ext>
                </a:extLst>
              </a:tr>
              <a:tr h="639989">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a:t>
                      </a:r>
                      <a:endParaRPr kumimoji="0" lang="en-US" altLang="pt-BR" sz="18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Abre</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um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arquivo</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texto</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para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leitura</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e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gravação</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O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arquivo</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existir</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e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pode</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ser</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18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modificado</a:t>
                      </a:r>
                      <a:r>
                        <a:rPr kumimoji="0" lang="en-US" altLang="pt-BR"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pt-BR"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T="45688" marB="4568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spaço Reservado para Número de Slide 6">
            <a:extLst>
              <a:ext uri="{FF2B5EF4-FFF2-40B4-BE49-F238E27FC236}">
                <a16:creationId xmlns:a16="http://schemas.microsoft.com/office/drawing/2014/main" id="{E89D1218-F139-B6F8-A5A0-331E1DDEC15A}"/>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3F8681E2-DC89-4ED5-AE66-99238E69FFC0}" type="slidenum">
              <a:rPr lang="pt-BR" altLang="pt-BR" smtClean="0">
                <a:solidFill>
                  <a:srgbClr val="000000"/>
                </a:solidFill>
                <a:latin typeface="Arial" panose="020B0604020202020204" pitchFamily="34" charset="0"/>
              </a:rPr>
              <a:pPr>
                <a:defRPr/>
              </a:pPr>
              <a:t>9</a:t>
            </a:fld>
            <a:endParaRPr lang="pt-BR" altLang="pt-BR">
              <a:solidFill>
                <a:srgbClr val="000000"/>
              </a:solidFill>
              <a:latin typeface="Arial" panose="020B0604020202020204" pitchFamily="34" charset="0"/>
            </a:endParaRPr>
          </a:p>
        </p:txBody>
      </p:sp>
      <p:sp>
        <p:nvSpPr>
          <p:cNvPr id="20483" name="Rectangle 2">
            <a:extLst>
              <a:ext uri="{FF2B5EF4-FFF2-40B4-BE49-F238E27FC236}">
                <a16:creationId xmlns:a16="http://schemas.microsoft.com/office/drawing/2014/main" id="{C76DB6DC-C649-4981-D63F-A771AA79DCA2}"/>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20484" name="Rectangle 3">
            <a:extLst>
              <a:ext uri="{FF2B5EF4-FFF2-40B4-BE49-F238E27FC236}">
                <a16:creationId xmlns:a16="http://schemas.microsoft.com/office/drawing/2014/main" id="{30DA4456-B4D0-997C-0526-B0F03814E34C}"/>
              </a:ext>
            </a:extLst>
          </p:cNvPr>
          <p:cNvSpPr>
            <a:spLocks noGrp="1" noChangeArrowheads="1"/>
          </p:cNvSpPr>
          <p:nvPr>
            <p:ph type="body" sz="half" idx="1"/>
          </p:nvPr>
        </p:nvSpPr>
        <p:spPr>
          <a:xfrm>
            <a:off x="1981201" y="1484313"/>
            <a:ext cx="8291513" cy="4114800"/>
          </a:xfrm>
        </p:spPr>
        <p:txBody>
          <a:bodyPr/>
          <a:lstStyle/>
          <a:p>
            <a:pPr marL="93663" indent="-7938">
              <a:spcBef>
                <a:spcPct val="0"/>
              </a:spcBef>
              <a:spcAft>
                <a:spcPct val="0"/>
              </a:spcAft>
              <a:buClrTx/>
              <a:buSzTx/>
            </a:pPr>
            <a:r>
              <a:rPr lang="pt-BR" altLang="pt-BR" sz="2000">
                <a:effectLst/>
              </a:rPr>
              <a:t>A tabela abaixo mostra os valores de modo válidos (continuação)</a:t>
            </a:r>
            <a:r>
              <a:rPr lang="pt-BR" altLang="pt-BR" sz="1600">
                <a:effectLst/>
              </a:rPr>
              <a:t>:</a:t>
            </a:r>
            <a:endParaRPr lang="pt-BR" altLang="pt-BR" sz="2000">
              <a:effectLst/>
            </a:endParaRPr>
          </a:p>
        </p:txBody>
      </p:sp>
      <p:graphicFrame>
        <p:nvGraphicFramePr>
          <p:cNvPr id="1168439" name="Group 55">
            <a:extLst>
              <a:ext uri="{FF2B5EF4-FFF2-40B4-BE49-F238E27FC236}">
                <a16:creationId xmlns:a16="http://schemas.microsoft.com/office/drawing/2014/main" id="{97381D5A-DD82-0141-88A3-8ADAE56EC8A7}"/>
              </a:ext>
            </a:extLst>
          </p:cNvPr>
          <p:cNvGraphicFramePr>
            <a:graphicFrameLocks noGrp="1"/>
          </p:cNvGraphicFramePr>
          <p:nvPr>
            <p:ph sz="half" idx="2"/>
            <p:extLst>
              <p:ext uri="{D42A27DB-BD31-4B8C-83A1-F6EECF244321}">
                <p14:modId xmlns:p14="http://schemas.microsoft.com/office/powerpoint/2010/main" val="1499810394"/>
              </p:ext>
            </p:extLst>
          </p:nvPr>
        </p:nvGraphicFramePr>
        <p:xfrm>
          <a:off x="695400" y="2268538"/>
          <a:ext cx="10972800" cy="3810000"/>
        </p:xfrm>
        <a:graphic>
          <a:graphicData uri="http://schemas.openxmlformats.org/drawingml/2006/table">
            <a:tbl>
              <a:tblPr/>
              <a:tblGrid>
                <a:gridCol w="1106756">
                  <a:extLst>
                    <a:ext uri="{9D8B030D-6E8A-4147-A177-3AD203B41FA5}">
                      <a16:colId xmlns:a16="http://schemas.microsoft.com/office/drawing/2014/main" val="20000"/>
                    </a:ext>
                  </a:extLst>
                </a:gridCol>
                <a:gridCol w="9866044">
                  <a:extLst>
                    <a:ext uri="{9D8B030D-6E8A-4147-A177-3AD203B41FA5}">
                      <a16:colId xmlns:a16="http://schemas.microsoft.com/office/drawing/2014/main" val="20001"/>
                    </a:ext>
                  </a:extLst>
                </a:gridCol>
              </a:tblGrid>
              <a:tr h="428625">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"w+"</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Cria um arquivo texto para leitura e gravação. Se o arquivo existir, o conteúdo anterior será destruído. Se não existir, será criado.</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0"/>
                  </a:ext>
                </a:extLst>
              </a:tr>
              <a:tr h="428625">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Abre um arquivo texto para gravação e leitura. Os dados serão adicionados no fim do arquivo se ele já existir, ou um novo arquivo será criado, no caso de arquivo não existente anteriormente.</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1"/>
                  </a:ext>
                </a:extLst>
              </a:tr>
              <a:tr h="260350">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"r+b"</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Abre um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arquivo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binário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para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leitura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e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escrita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O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mesmo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que "r+"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acima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só</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que o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arquivo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é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binário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pt-BR" sz="20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2"/>
                  </a:ext>
                </a:extLst>
              </a:tr>
              <a:tr h="260350">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"w+b"</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Cria um arquivo binário para leitura e escrita. O mesmo que "w+" acima, só que o arquivo é binário.</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3"/>
                  </a:ext>
                </a:extLst>
              </a:tr>
              <a:tr h="260350">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"a+b"</a:t>
                      </a:r>
                      <a:endParaRPr kumimoji="0" lang="en-US" altLang="pt-BR" sz="20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just">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lgn="l">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lgn="l">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lgn="l">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Acrescenta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dados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ou</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cria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uma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arquivo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binário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para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leitura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e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escrita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O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mesmo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que "a+"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acima</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só</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que o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arquivo</a:t>
                      </a:r>
                      <a:r>
                        <a:rPr kumimoji="0" lang="en-US" altLang="pt-BR"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é </a:t>
                      </a:r>
                      <a:r>
                        <a:rPr kumimoji="0" lang="en-US" altLang="pt-BR" sz="2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binário</a:t>
                      </a:r>
                      <a:endParaRPr kumimoji="0" lang="en-US" altLang="pt-BR" sz="20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A9BA7F02-6B0D-2774-E3F3-B329698156EB}"/>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870A5E8E-3836-4177-B22A-F360805D61F3}" type="slidenum">
              <a:rPr lang="pt-BR" altLang="pt-BR" smtClean="0">
                <a:solidFill>
                  <a:srgbClr val="000000"/>
                </a:solidFill>
                <a:latin typeface="Arial" panose="020B0604020202020204" pitchFamily="34" charset="0"/>
              </a:rPr>
              <a:pPr>
                <a:defRPr/>
              </a:pPr>
              <a:t>10</a:t>
            </a:fld>
            <a:endParaRPr lang="pt-BR" altLang="pt-BR">
              <a:solidFill>
                <a:srgbClr val="000000"/>
              </a:solidFill>
              <a:latin typeface="Arial" panose="020B0604020202020204" pitchFamily="34" charset="0"/>
            </a:endParaRPr>
          </a:p>
        </p:txBody>
      </p:sp>
      <p:sp>
        <p:nvSpPr>
          <p:cNvPr id="22531" name="Rectangle 2">
            <a:extLst>
              <a:ext uri="{FF2B5EF4-FFF2-40B4-BE49-F238E27FC236}">
                <a16:creationId xmlns:a16="http://schemas.microsoft.com/office/drawing/2014/main" id="{C497955D-1880-453D-27BA-4C89840A21DE}"/>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70435" name="Rectangle 3">
            <a:extLst>
              <a:ext uri="{FF2B5EF4-FFF2-40B4-BE49-F238E27FC236}">
                <a16:creationId xmlns:a16="http://schemas.microsoft.com/office/drawing/2014/main" id="{51BF8540-D107-6AE6-118B-F509D0DFC6BB}"/>
              </a:ext>
            </a:extLst>
          </p:cNvPr>
          <p:cNvSpPr>
            <a:spLocks noGrp="1" noChangeArrowheads="1"/>
          </p:cNvSpPr>
          <p:nvPr>
            <p:ph type="body" sz="half" idx="1"/>
          </p:nvPr>
        </p:nvSpPr>
        <p:spPr>
          <a:xfrm>
            <a:off x="695400" y="1484313"/>
            <a:ext cx="11161239" cy="4114800"/>
          </a:xfrm>
        </p:spPr>
        <p:txBody>
          <a:bodyPr/>
          <a:lstStyle/>
          <a:p>
            <a:pPr marL="93663" indent="-7938" algn="just">
              <a:buFont typeface="Wingdings" panose="05000000000000000000" pitchFamily="2" charset="2"/>
              <a:buChar char="n"/>
              <a:defRPr/>
            </a:pPr>
            <a:r>
              <a:rPr lang="pt-BR" altLang="pt-BR" sz="2000" dirty="0">
                <a:effectLst/>
              </a:rPr>
              <a:t>   Poderíamos então, para abrir um arquivo binário para escrita, escrever:</a:t>
            </a:r>
            <a:r>
              <a:rPr lang="pt-BR" altLang="pt-BR" sz="1600" dirty="0">
                <a:effectLst/>
              </a:rPr>
              <a:t> </a:t>
            </a:r>
          </a:p>
          <a:p>
            <a:pPr marL="93663" indent="-7938" algn="just">
              <a:spcAft>
                <a:spcPct val="0"/>
              </a:spcAft>
              <a:defRPr/>
            </a:pPr>
            <a:r>
              <a:rPr lang="pt-BR" altLang="pt-BR" dirty="0">
                <a:effectLst/>
              </a:rPr>
              <a:t>FILE *</a:t>
            </a:r>
            <a:r>
              <a:rPr lang="pt-BR" altLang="pt-BR" dirty="0" err="1">
                <a:effectLst/>
              </a:rPr>
              <a:t>fp</a:t>
            </a:r>
            <a:r>
              <a:rPr lang="pt-BR" altLang="pt-BR" dirty="0">
                <a:effectLst/>
              </a:rPr>
              <a:t>;		/* Declaração da estrutura</a:t>
            </a:r>
          </a:p>
          <a:p>
            <a:pPr marL="93663" indent="-7938" algn="just">
              <a:spcBef>
                <a:spcPct val="0"/>
              </a:spcBef>
              <a:spcAft>
                <a:spcPct val="0"/>
              </a:spcAft>
              <a:defRPr/>
            </a:pPr>
            <a:r>
              <a:rPr lang="pt-BR" altLang="pt-BR" dirty="0" err="1">
                <a:effectLst/>
              </a:rPr>
              <a:t>fp</a:t>
            </a:r>
            <a:r>
              <a:rPr lang="pt-BR" altLang="pt-BR" dirty="0">
                <a:effectLst/>
              </a:rPr>
              <a:t>=</a:t>
            </a:r>
            <a:r>
              <a:rPr lang="pt-BR" altLang="pt-BR" dirty="0" err="1">
                <a:effectLst/>
              </a:rPr>
              <a:t>fopen</a:t>
            </a:r>
            <a:r>
              <a:rPr lang="pt-BR" altLang="pt-BR" dirty="0">
                <a:effectLst/>
              </a:rPr>
              <a:t> ("exemplo.bin","</a:t>
            </a:r>
            <a:r>
              <a:rPr lang="pt-BR" altLang="pt-BR" dirty="0" err="1">
                <a:effectLst/>
              </a:rPr>
              <a:t>wb</a:t>
            </a:r>
            <a:r>
              <a:rPr lang="pt-BR" altLang="pt-BR" dirty="0">
                <a:effectLst/>
              </a:rPr>
              <a:t>");  // o arquivo se chama </a:t>
            </a:r>
            <a:r>
              <a:rPr lang="pt-BR" altLang="pt-BR" dirty="0" err="1">
                <a:effectLst/>
              </a:rPr>
              <a:t>exemplo.bin</a:t>
            </a:r>
            <a:r>
              <a:rPr lang="pt-BR" altLang="pt-BR" dirty="0">
                <a:effectLst/>
              </a:rPr>
              <a:t> e está localizado no diretório corrente </a:t>
            </a:r>
          </a:p>
          <a:p>
            <a:pPr marL="93663" indent="-7938" algn="just">
              <a:spcBef>
                <a:spcPct val="0"/>
              </a:spcBef>
              <a:spcAft>
                <a:spcPct val="0"/>
              </a:spcAft>
              <a:defRPr/>
            </a:pPr>
            <a:r>
              <a:rPr lang="pt-BR" altLang="pt-BR" dirty="0">
                <a:effectLst/>
              </a:rPr>
              <a:t>if (!</a:t>
            </a:r>
            <a:r>
              <a:rPr lang="pt-BR" altLang="pt-BR" dirty="0" err="1">
                <a:effectLst/>
              </a:rPr>
              <a:t>fp</a:t>
            </a:r>
            <a:r>
              <a:rPr lang="pt-BR" altLang="pt-BR" dirty="0">
                <a:effectLst/>
              </a:rPr>
              <a:t>)      </a:t>
            </a:r>
          </a:p>
          <a:p>
            <a:pPr marL="93663" indent="-7938" algn="just">
              <a:spcBef>
                <a:spcPct val="0"/>
              </a:spcBef>
              <a:spcAft>
                <a:spcPct val="0"/>
              </a:spcAft>
              <a:defRPr/>
            </a:pPr>
            <a:r>
              <a:rPr lang="pt-BR" altLang="pt-BR" dirty="0" err="1">
                <a:effectLst/>
              </a:rPr>
              <a:t>printf</a:t>
            </a:r>
            <a:r>
              <a:rPr lang="pt-BR" altLang="pt-BR" dirty="0">
                <a:effectLst/>
              </a:rPr>
              <a:t> ("Erro na abertura do arquivo.");</a:t>
            </a:r>
            <a:r>
              <a:rPr lang="pt-BR" altLang="pt-BR" dirty="0"/>
              <a:t> </a:t>
            </a:r>
            <a:endParaRPr lang="pt-BR" altLang="pt-BR" dirty="0">
              <a:effectLst/>
            </a:endParaRPr>
          </a:p>
          <a:p>
            <a:pPr marL="93663" indent="-7938" algn="just">
              <a:buFont typeface="Wingdings" panose="05000000000000000000" pitchFamily="2" charset="2"/>
              <a:buChar char="n"/>
              <a:defRPr/>
            </a:pPr>
            <a:r>
              <a:rPr lang="pt-BR" altLang="pt-BR" sz="2000" dirty="0">
                <a:effectLst/>
              </a:rPr>
              <a:t>   A condição </a:t>
            </a:r>
            <a:r>
              <a:rPr lang="pt-BR" altLang="pt-BR" sz="2000" b="1" dirty="0">
                <a:effectLst/>
              </a:rPr>
              <a:t>!</a:t>
            </a:r>
            <a:r>
              <a:rPr lang="pt-BR" altLang="pt-BR" sz="2000" b="1" dirty="0" err="1">
                <a:effectLst/>
              </a:rPr>
              <a:t>fp</a:t>
            </a:r>
            <a:r>
              <a:rPr lang="pt-BR" altLang="pt-BR" sz="2000" dirty="0">
                <a:effectLst/>
              </a:rPr>
              <a:t> testa se o arquivo foi aberto com sucesso porque no caso de um erro a função </a:t>
            </a:r>
            <a:r>
              <a:rPr lang="pt-BR" altLang="pt-BR" sz="2000" b="1" dirty="0" err="1">
                <a:effectLst/>
              </a:rPr>
              <a:t>fopen</a:t>
            </a:r>
            <a:r>
              <a:rPr lang="pt-BR" altLang="pt-BR" sz="2000" b="1" dirty="0">
                <a:effectLst/>
              </a:rPr>
              <a:t>()</a:t>
            </a:r>
            <a:r>
              <a:rPr lang="pt-BR" altLang="pt-BR" sz="2000" dirty="0">
                <a:effectLst/>
              </a:rPr>
              <a:t> retorna um ponteiro nulo (</a:t>
            </a:r>
            <a:r>
              <a:rPr lang="pt-BR" altLang="pt-BR" sz="2000" b="1" dirty="0">
                <a:effectLst/>
              </a:rPr>
              <a:t>NULL</a:t>
            </a:r>
            <a:r>
              <a:rPr lang="pt-BR" altLang="pt-BR" sz="2000" dirty="0">
                <a:effectLst/>
              </a:rPr>
              <a:t>). </a:t>
            </a:r>
          </a:p>
          <a:p>
            <a:pPr marL="93663" indent="-7938" algn="just">
              <a:buFont typeface="Wingdings" panose="05000000000000000000" pitchFamily="2" charset="2"/>
              <a:buChar char="n"/>
              <a:defRPr/>
            </a:pPr>
            <a:r>
              <a:rPr lang="pt-BR" altLang="pt-BR" sz="2000" dirty="0">
                <a:effectLst/>
              </a:rPr>
              <a:t>    Uma vez aberto um arquivo, vamos poder ler ou escrever nele utilizando as funções que serão apresentadas</a:t>
            </a:r>
            <a:r>
              <a:rPr lang="pt-BR" altLang="pt-BR" sz="1600" dirty="0"/>
              <a:t>.</a:t>
            </a:r>
            <a:r>
              <a:rPr lang="pt-BR" altLang="pt-BR" sz="2000" dirty="0">
                <a:effectLst/>
              </a:rPr>
              <a:t> </a:t>
            </a:r>
          </a:p>
          <a:p>
            <a:pPr marL="93663" indent="-7938" algn="just">
              <a:spcBef>
                <a:spcPct val="0"/>
              </a:spcBef>
              <a:spcAft>
                <a:spcPct val="0"/>
              </a:spcAft>
              <a:buClrTx/>
              <a:buSzTx/>
              <a:buFontTx/>
              <a:buChar char="•"/>
              <a:defRPr/>
            </a:pPr>
            <a:endParaRPr lang="pt-BR" altLang="pt-BR" sz="2000" dirty="0">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2C6FFE7D-F346-6A6D-D2D5-12F45255153D}"/>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64CA1AE1-B2EF-4B8E-99F7-E70E5ADDB836}" type="slidenum">
              <a:rPr lang="pt-BR" altLang="pt-BR" smtClean="0">
                <a:solidFill>
                  <a:srgbClr val="000000"/>
                </a:solidFill>
                <a:latin typeface="Arial" panose="020B0604020202020204" pitchFamily="34" charset="0"/>
              </a:rPr>
              <a:pPr>
                <a:defRPr/>
              </a:pPr>
              <a:t>11</a:t>
            </a:fld>
            <a:endParaRPr lang="pt-BR" altLang="pt-BR">
              <a:solidFill>
                <a:srgbClr val="000000"/>
              </a:solidFill>
              <a:latin typeface="Arial" panose="020B0604020202020204" pitchFamily="34" charset="0"/>
            </a:endParaRPr>
          </a:p>
        </p:txBody>
      </p:sp>
      <p:sp>
        <p:nvSpPr>
          <p:cNvPr id="24579" name="Rectangle 2">
            <a:extLst>
              <a:ext uri="{FF2B5EF4-FFF2-40B4-BE49-F238E27FC236}">
                <a16:creationId xmlns:a16="http://schemas.microsoft.com/office/drawing/2014/main" id="{202B10C6-06AD-834A-B2A6-5136F4C85B43}"/>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24580" name="Rectangle 3">
            <a:extLst>
              <a:ext uri="{FF2B5EF4-FFF2-40B4-BE49-F238E27FC236}">
                <a16:creationId xmlns:a16="http://schemas.microsoft.com/office/drawing/2014/main" id="{A18D60B7-64ED-F901-450D-BAEB43923EF7}"/>
              </a:ext>
            </a:extLst>
          </p:cNvPr>
          <p:cNvSpPr>
            <a:spLocks noGrp="1" noChangeArrowheads="1"/>
          </p:cNvSpPr>
          <p:nvPr>
            <p:ph type="body" sz="half" idx="1"/>
          </p:nvPr>
        </p:nvSpPr>
        <p:spPr>
          <a:xfrm>
            <a:off x="609600" y="1484313"/>
            <a:ext cx="11247039" cy="4114800"/>
          </a:xfrm>
        </p:spPr>
        <p:txBody>
          <a:bodyPr/>
          <a:lstStyle/>
          <a:p>
            <a:pPr marL="93663" indent="263525">
              <a:lnSpc>
                <a:spcPct val="80000"/>
              </a:lnSpc>
              <a:spcBef>
                <a:spcPct val="0"/>
              </a:spcBef>
              <a:spcAft>
                <a:spcPct val="0"/>
              </a:spcAft>
              <a:buClrTx/>
              <a:buSzTx/>
            </a:pPr>
            <a:r>
              <a:rPr lang="pt-BR" altLang="pt-BR" sz="2000" b="1" dirty="0" err="1">
                <a:effectLst/>
              </a:rPr>
              <a:t>fclose</a:t>
            </a:r>
            <a:r>
              <a:rPr lang="pt-BR" altLang="pt-BR" sz="2000" dirty="0">
                <a:effectLst/>
              </a:rPr>
              <a:t>:</a:t>
            </a:r>
          </a:p>
          <a:p>
            <a:pPr marL="93663" indent="263525" algn="just">
              <a:lnSpc>
                <a:spcPct val="80000"/>
              </a:lnSpc>
              <a:buFont typeface="Wingdings" panose="05000000000000000000" pitchFamily="2" charset="2"/>
              <a:buChar char="n"/>
            </a:pPr>
            <a:r>
              <a:rPr lang="pt-BR" altLang="pt-BR" sz="2000" dirty="0">
                <a:effectLst/>
              </a:rPr>
              <a:t>Quando acabamos de usar um arquivo que abrimos, devemos fechá-lo. Para tanto usa-se a função </a:t>
            </a:r>
            <a:r>
              <a:rPr lang="pt-BR" altLang="pt-BR" sz="2000" b="1" dirty="0" err="1">
                <a:effectLst/>
              </a:rPr>
              <a:t>fclose</a:t>
            </a:r>
            <a:r>
              <a:rPr lang="pt-BR" altLang="pt-BR" sz="2000" b="1" dirty="0">
                <a:effectLst/>
              </a:rPr>
              <a:t>()</a:t>
            </a:r>
            <a:r>
              <a:rPr lang="pt-BR" altLang="pt-BR" sz="2000" dirty="0">
                <a:effectLst/>
              </a:rPr>
              <a:t>: </a:t>
            </a:r>
          </a:p>
          <a:p>
            <a:pPr marL="93663" indent="263525" algn="just">
              <a:lnSpc>
                <a:spcPct val="80000"/>
              </a:lnSpc>
            </a:pPr>
            <a:r>
              <a:rPr lang="pt-BR" altLang="pt-BR" sz="2000" dirty="0">
                <a:effectLst/>
              </a:rPr>
              <a:t>int </a:t>
            </a:r>
            <a:r>
              <a:rPr lang="pt-BR" altLang="pt-BR" sz="2000" dirty="0" err="1">
                <a:effectLst/>
              </a:rPr>
              <a:t>fclose</a:t>
            </a:r>
            <a:r>
              <a:rPr lang="pt-BR" altLang="pt-BR" sz="2000" dirty="0">
                <a:effectLst/>
              </a:rPr>
              <a:t> (FILE *</a:t>
            </a:r>
            <a:r>
              <a:rPr lang="pt-BR" altLang="pt-BR" sz="2000" dirty="0" err="1">
                <a:effectLst/>
              </a:rPr>
              <a:t>fp</a:t>
            </a:r>
            <a:r>
              <a:rPr lang="pt-BR" altLang="pt-BR" sz="2000" dirty="0">
                <a:effectLst/>
              </a:rPr>
              <a:t>); </a:t>
            </a:r>
          </a:p>
          <a:p>
            <a:pPr marL="93663" indent="263525" algn="just">
              <a:lnSpc>
                <a:spcPct val="80000"/>
              </a:lnSpc>
              <a:buFont typeface="Wingdings" panose="05000000000000000000" pitchFamily="2" charset="2"/>
              <a:buChar char="n"/>
            </a:pPr>
            <a:r>
              <a:rPr lang="pt-BR" altLang="pt-BR" sz="2000" dirty="0">
                <a:effectLst/>
              </a:rPr>
              <a:t>O ponteiro </a:t>
            </a:r>
            <a:r>
              <a:rPr lang="pt-BR" altLang="pt-BR" sz="2000" b="1" dirty="0" err="1">
                <a:effectLst/>
              </a:rPr>
              <a:t>fp</a:t>
            </a:r>
            <a:r>
              <a:rPr lang="pt-BR" altLang="pt-BR" sz="2000" dirty="0">
                <a:effectLst/>
              </a:rPr>
              <a:t> passado à função </a:t>
            </a:r>
            <a:r>
              <a:rPr lang="pt-BR" altLang="pt-BR" sz="2000" b="1" dirty="0" err="1">
                <a:effectLst/>
              </a:rPr>
              <a:t>fclose</a:t>
            </a:r>
            <a:r>
              <a:rPr lang="pt-BR" altLang="pt-BR" sz="2000" b="1" dirty="0">
                <a:effectLst/>
              </a:rPr>
              <a:t>()</a:t>
            </a:r>
            <a:r>
              <a:rPr lang="pt-BR" altLang="pt-BR" sz="2000" dirty="0">
                <a:effectLst/>
              </a:rPr>
              <a:t> determina o arquivo a ser fechado. A função retorna zero no caso de sucesso. </a:t>
            </a:r>
          </a:p>
          <a:p>
            <a:pPr marL="93663" indent="263525" algn="just">
              <a:lnSpc>
                <a:spcPct val="80000"/>
              </a:lnSpc>
              <a:buFont typeface="Wingdings" panose="05000000000000000000" pitchFamily="2" charset="2"/>
              <a:buChar char="n"/>
            </a:pPr>
            <a:r>
              <a:rPr lang="pt-BR" altLang="pt-BR" sz="2000" dirty="0">
                <a:effectLst/>
              </a:rPr>
              <a:t>Fechar um arquivo faz com que qualquer </a:t>
            </a:r>
            <a:r>
              <a:rPr lang="pt-BR" altLang="pt-BR" sz="2000" dirty="0" err="1">
                <a:effectLst/>
              </a:rPr>
              <a:t>caracter</a:t>
            </a:r>
            <a:r>
              <a:rPr lang="pt-BR" altLang="pt-BR" sz="2000" dirty="0">
                <a:effectLst/>
              </a:rPr>
              <a:t> que tenha permanecido no "buffer" associado ao fluxo de saída seja gravado. </a:t>
            </a:r>
          </a:p>
          <a:p>
            <a:pPr marL="93663" indent="263525" algn="just">
              <a:lnSpc>
                <a:spcPct val="80000"/>
              </a:lnSpc>
              <a:buFont typeface="Wingdings" panose="05000000000000000000" pitchFamily="2" charset="2"/>
              <a:buChar char="n"/>
            </a:pPr>
            <a:r>
              <a:rPr lang="pt-BR" altLang="pt-BR" sz="2000" dirty="0">
                <a:effectLst/>
              </a:rPr>
              <a:t>Mas, o que é este "buffer"? </a:t>
            </a:r>
          </a:p>
          <a:p>
            <a:pPr marL="822325" lvl="1" algn="just">
              <a:spcBef>
                <a:spcPts val="600"/>
              </a:spcBef>
              <a:spcAft>
                <a:spcPts val="600"/>
              </a:spcAft>
            </a:pPr>
            <a:r>
              <a:rPr lang="pt-BR" altLang="pt-BR" sz="2000" dirty="0">
                <a:effectLst/>
              </a:rPr>
              <a:t>Quando você envia caracteres para serem gravados em um arquivo, estes caracteres são armazenados temporariamente em uma área de memória (o "buffer") em vez de serem escritos em disco imediatamente. </a:t>
            </a:r>
          </a:p>
          <a:p>
            <a:pPr marL="822325" lvl="1" algn="just">
              <a:spcBef>
                <a:spcPts val="600"/>
              </a:spcBef>
              <a:spcAft>
                <a:spcPts val="600"/>
              </a:spcAft>
            </a:pPr>
            <a:r>
              <a:rPr lang="pt-BR" altLang="pt-BR" sz="2000" dirty="0">
                <a:effectLst/>
              </a:rPr>
              <a:t>Quando o "buffer" estiver cheio, seu conteúdo é escrito no disco de uma vez.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A91BC79D-1ED9-55E9-FADB-A3ED5D5984EA}"/>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F5A5781A-E9AB-48F5-BB1F-84CEF99337C6}" type="slidenum">
              <a:rPr lang="pt-BR" altLang="pt-BR" smtClean="0">
                <a:solidFill>
                  <a:srgbClr val="000000"/>
                </a:solidFill>
                <a:latin typeface="Arial" panose="020B0604020202020204" pitchFamily="34" charset="0"/>
              </a:rPr>
              <a:pPr>
                <a:defRPr/>
              </a:pPr>
              <a:t>12</a:t>
            </a:fld>
            <a:endParaRPr lang="pt-BR" altLang="pt-BR">
              <a:solidFill>
                <a:srgbClr val="000000"/>
              </a:solidFill>
              <a:latin typeface="Arial" panose="020B0604020202020204" pitchFamily="34" charset="0"/>
            </a:endParaRPr>
          </a:p>
        </p:txBody>
      </p:sp>
      <p:sp>
        <p:nvSpPr>
          <p:cNvPr id="26627" name="Rectangle 2">
            <a:extLst>
              <a:ext uri="{FF2B5EF4-FFF2-40B4-BE49-F238E27FC236}">
                <a16:creationId xmlns:a16="http://schemas.microsoft.com/office/drawing/2014/main" id="{559EE70A-545D-B03E-C1BC-109A24C11992}"/>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26628" name="Rectangle 3">
            <a:extLst>
              <a:ext uri="{FF2B5EF4-FFF2-40B4-BE49-F238E27FC236}">
                <a16:creationId xmlns:a16="http://schemas.microsoft.com/office/drawing/2014/main" id="{80044A99-6907-56F6-9CD8-9EF98D426DC4}"/>
              </a:ext>
            </a:extLst>
          </p:cNvPr>
          <p:cNvSpPr>
            <a:spLocks noGrp="1" noChangeArrowheads="1"/>
          </p:cNvSpPr>
          <p:nvPr>
            <p:ph type="body" sz="half" idx="1"/>
          </p:nvPr>
        </p:nvSpPr>
        <p:spPr>
          <a:xfrm>
            <a:off x="609600" y="1484313"/>
            <a:ext cx="11247039" cy="4114800"/>
          </a:xfrm>
        </p:spPr>
        <p:txBody>
          <a:bodyPr/>
          <a:lstStyle/>
          <a:p>
            <a:pPr marL="93663" indent="263525">
              <a:spcBef>
                <a:spcPct val="0"/>
              </a:spcBef>
              <a:spcAft>
                <a:spcPct val="0"/>
              </a:spcAft>
              <a:buClrTx/>
              <a:buSzTx/>
            </a:pPr>
            <a:r>
              <a:rPr lang="pt-BR" altLang="pt-BR" sz="2000" b="1" dirty="0" err="1">
                <a:effectLst/>
              </a:rPr>
              <a:t>fclose</a:t>
            </a:r>
            <a:r>
              <a:rPr lang="pt-BR" altLang="pt-BR" sz="2000" b="1" dirty="0">
                <a:effectLst/>
              </a:rPr>
              <a:t>:</a:t>
            </a:r>
          </a:p>
          <a:p>
            <a:pPr marL="93663" indent="263525" algn="just">
              <a:buFont typeface="Wingdings" panose="05000000000000000000" pitchFamily="2" charset="2"/>
              <a:buChar char="n"/>
            </a:pPr>
            <a:r>
              <a:rPr lang="pt-BR" altLang="pt-BR" sz="2000" dirty="0">
                <a:effectLst/>
              </a:rPr>
              <a:t>A razão para se fazer isto tem a ver com a eficiência nas leituras e gravações de arquivos. Se, para cada </a:t>
            </a:r>
            <a:r>
              <a:rPr lang="pt-BR" altLang="pt-BR" sz="2000" dirty="0" err="1">
                <a:effectLst/>
              </a:rPr>
              <a:t>caracter</a:t>
            </a:r>
            <a:r>
              <a:rPr lang="pt-BR" altLang="pt-BR" sz="2000" dirty="0">
                <a:effectLst/>
              </a:rPr>
              <a:t> que fôssemos gravar, tivéssemos que posicionar a cabeça de gravação em um ponto específico do disco, apenas para gravar aquele </a:t>
            </a:r>
            <a:r>
              <a:rPr lang="pt-BR" altLang="pt-BR" sz="2000" dirty="0" err="1">
                <a:effectLst/>
              </a:rPr>
              <a:t>caracter</a:t>
            </a:r>
            <a:r>
              <a:rPr lang="pt-BR" altLang="pt-BR" sz="2000" dirty="0">
                <a:effectLst/>
              </a:rPr>
              <a:t>, as gravações seriam muito lentas. </a:t>
            </a:r>
          </a:p>
          <a:p>
            <a:pPr marL="93663" indent="263525" algn="just">
              <a:buFont typeface="Wingdings" panose="05000000000000000000" pitchFamily="2" charset="2"/>
              <a:buChar char="n"/>
            </a:pPr>
            <a:r>
              <a:rPr lang="pt-BR" altLang="pt-BR" sz="2000" dirty="0">
                <a:effectLst/>
              </a:rPr>
              <a:t>Assim estas gravações só serão efetuadas quando houver um volume razoável de informações a serem gravadas ou quando o arquivo for fechado.</a:t>
            </a:r>
          </a:p>
          <a:p>
            <a:pPr marL="93663" indent="263525" algn="just">
              <a:buFont typeface="Wingdings" panose="05000000000000000000" pitchFamily="2" charset="2"/>
              <a:buChar char="n"/>
            </a:pPr>
            <a:r>
              <a:rPr lang="pt-BR" altLang="pt-BR" sz="2000" dirty="0">
                <a:effectLst/>
              </a:rPr>
              <a:t>A função </a:t>
            </a:r>
            <a:r>
              <a:rPr lang="pt-BR" altLang="pt-BR" sz="2000" dirty="0" err="1">
                <a:effectLst/>
              </a:rPr>
              <a:t>exit</a:t>
            </a:r>
            <a:r>
              <a:rPr lang="pt-BR" altLang="pt-BR" sz="2000" dirty="0">
                <a:effectLst/>
              </a:rPr>
              <a:t>() fecha todos os arquivos que um programa tiver aberto.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206C41FA-600C-1C75-1141-A6B6FE51ABD6}"/>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1900D0A1-2DC9-48C3-B43E-023980C6E940}" type="slidenum">
              <a:rPr lang="pt-BR" altLang="pt-BR" smtClean="0">
                <a:solidFill>
                  <a:srgbClr val="000000"/>
                </a:solidFill>
                <a:latin typeface="Arial" panose="020B0604020202020204" pitchFamily="34" charset="0"/>
              </a:rPr>
              <a:pPr>
                <a:defRPr/>
              </a:pPr>
              <a:t>13</a:t>
            </a:fld>
            <a:endParaRPr lang="pt-BR" altLang="pt-BR">
              <a:solidFill>
                <a:srgbClr val="000000"/>
              </a:solidFill>
              <a:latin typeface="Arial" panose="020B0604020202020204" pitchFamily="34" charset="0"/>
            </a:endParaRPr>
          </a:p>
        </p:txBody>
      </p:sp>
      <p:sp>
        <p:nvSpPr>
          <p:cNvPr id="28675" name="Rectangle 2">
            <a:extLst>
              <a:ext uri="{FF2B5EF4-FFF2-40B4-BE49-F238E27FC236}">
                <a16:creationId xmlns:a16="http://schemas.microsoft.com/office/drawing/2014/main" id="{D1B891F6-87D1-2D1F-7093-A5A8410B20A0}"/>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76579" name="Rectangle 3">
            <a:extLst>
              <a:ext uri="{FF2B5EF4-FFF2-40B4-BE49-F238E27FC236}">
                <a16:creationId xmlns:a16="http://schemas.microsoft.com/office/drawing/2014/main" id="{D79CA011-8166-067F-B9B7-EA35123A3AEC}"/>
              </a:ext>
            </a:extLst>
          </p:cNvPr>
          <p:cNvSpPr>
            <a:spLocks noGrp="1" noChangeArrowheads="1"/>
          </p:cNvSpPr>
          <p:nvPr>
            <p:ph type="body" sz="half" idx="1"/>
          </p:nvPr>
        </p:nvSpPr>
        <p:spPr>
          <a:xfrm>
            <a:off x="983432" y="1484313"/>
            <a:ext cx="10598967" cy="4114800"/>
          </a:xfrm>
        </p:spPr>
        <p:txBody>
          <a:bodyPr/>
          <a:lstStyle/>
          <a:p>
            <a:pPr marL="93663" indent="263525">
              <a:defRPr/>
            </a:pPr>
            <a:r>
              <a:rPr lang="pt-BR" altLang="pt-BR" sz="2000" b="1" dirty="0">
                <a:effectLst/>
              </a:rPr>
              <a:t>Lendo e Escrevendo Caracteres em Arquivos</a:t>
            </a:r>
          </a:p>
          <a:p>
            <a:pPr marL="93663" indent="263525" algn="just">
              <a:buFont typeface="Wingdings" panose="05000000000000000000" pitchFamily="2" charset="2"/>
              <a:buChar char="n"/>
              <a:defRPr/>
            </a:pPr>
            <a:r>
              <a:rPr lang="pt-BR" altLang="pt-BR" sz="2000" b="1" dirty="0" err="1">
                <a:effectLst/>
              </a:rPr>
              <a:t>putc</a:t>
            </a:r>
            <a:r>
              <a:rPr lang="pt-BR" altLang="pt-BR" sz="2000" b="1" dirty="0">
                <a:effectLst/>
              </a:rPr>
              <a:t>: a</a:t>
            </a:r>
            <a:r>
              <a:rPr lang="pt-BR" altLang="pt-BR" sz="2000" dirty="0">
                <a:effectLst/>
              </a:rPr>
              <a:t> função </a:t>
            </a:r>
            <a:r>
              <a:rPr lang="pt-BR" altLang="pt-BR" sz="2000" dirty="0" err="1">
                <a:effectLst/>
              </a:rPr>
              <a:t>putc</a:t>
            </a:r>
            <a:r>
              <a:rPr lang="pt-BR" altLang="pt-BR" sz="2000" dirty="0">
                <a:effectLst/>
              </a:rPr>
              <a:t> é utilizada na escrita de arquivo. Seu protótipo é: </a:t>
            </a:r>
            <a:endParaRPr lang="en-US" altLang="pt-BR" sz="2000" dirty="0">
              <a:effectLst/>
            </a:endParaRPr>
          </a:p>
          <a:p>
            <a:pPr marL="93663" indent="263525" algn="just">
              <a:defRPr/>
            </a:pPr>
            <a:r>
              <a:rPr lang="en-US" altLang="pt-BR" sz="2000" dirty="0">
                <a:effectLst/>
              </a:rPr>
              <a:t>int </a:t>
            </a:r>
            <a:r>
              <a:rPr lang="en-US" altLang="pt-BR" sz="2000" dirty="0" err="1">
                <a:effectLst/>
              </a:rPr>
              <a:t>putc</a:t>
            </a:r>
            <a:r>
              <a:rPr lang="en-US" altLang="pt-BR" sz="2000" dirty="0">
                <a:effectLst/>
              </a:rPr>
              <a:t> (int </a:t>
            </a:r>
            <a:r>
              <a:rPr lang="en-US" altLang="pt-BR" sz="2000" dirty="0" err="1">
                <a:effectLst/>
              </a:rPr>
              <a:t>ch,FILE</a:t>
            </a:r>
            <a:r>
              <a:rPr lang="en-US" altLang="pt-BR" sz="2000" dirty="0">
                <a:effectLst/>
              </a:rPr>
              <a:t> *</a:t>
            </a:r>
            <a:r>
              <a:rPr lang="en-US" altLang="pt-BR" sz="2000" dirty="0" err="1">
                <a:effectLst/>
              </a:rPr>
              <a:t>fp</a:t>
            </a:r>
            <a:r>
              <a:rPr lang="en-US" altLang="pt-BR" sz="2000" dirty="0">
                <a:effectLst/>
              </a:rPr>
              <a:t>);</a:t>
            </a:r>
            <a:r>
              <a:rPr lang="pt-BR" altLang="pt-BR" sz="2000" dirty="0">
                <a:effectLst/>
              </a:rPr>
              <a:t> escreve um caractere no arquivo.</a:t>
            </a:r>
          </a:p>
          <a:p>
            <a:pPr marL="93663" indent="263525" algn="just">
              <a:buFont typeface="Wingdings" panose="05000000000000000000" pitchFamily="2" charset="2"/>
              <a:buChar char="n"/>
              <a:defRPr/>
            </a:pPr>
            <a:r>
              <a:rPr lang="pt-BR" altLang="pt-BR" sz="2000" dirty="0">
                <a:effectLst/>
              </a:rPr>
              <a:t>O programa a seguir lê uma </a:t>
            </a:r>
            <a:r>
              <a:rPr lang="pt-BR" altLang="pt-BR" sz="2000" dirty="0" err="1">
                <a:effectLst/>
              </a:rPr>
              <a:t>string</a:t>
            </a:r>
            <a:r>
              <a:rPr lang="pt-BR" altLang="pt-BR" sz="2000" dirty="0">
                <a:effectLst/>
              </a:rPr>
              <a:t> do teclado e escreve-a, caractere por caractere em um arquivo em disco (o arquivo.txt, que será aberto no diretório corrente).</a:t>
            </a:r>
            <a:r>
              <a:rPr lang="pt-BR" altLang="pt-BR" sz="16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6">
            <a:extLst>
              <a:ext uri="{FF2B5EF4-FFF2-40B4-BE49-F238E27FC236}">
                <a16:creationId xmlns:a16="http://schemas.microsoft.com/office/drawing/2014/main" id="{CD970891-AA5F-AAB0-DC2E-48B66FF7D95F}"/>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0EF4283-7AE1-4253-BF87-A589D06AEA6B}" type="slidenum">
              <a:rPr lang="pt-BR" altLang="pt-BR" smtClean="0">
                <a:solidFill>
                  <a:srgbClr val="000000"/>
                </a:solidFill>
                <a:latin typeface="Arial" panose="020B0604020202020204" pitchFamily="34" charset="0"/>
              </a:rPr>
              <a:pPr>
                <a:defRPr/>
              </a:pPr>
              <a:t>14</a:t>
            </a:fld>
            <a:endParaRPr lang="pt-BR" altLang="pt-BR">
              <a:solidFill>
                <a:srgbClr val="000000"/>
              </a:solidFill>
              <a:latin typeface="Arial" panose="020B0604020202020204" pitchFamily="34" charset="0"/>
            </a:endParaRPr>
          </a:p>
        </p:txBody>
      </p:sp>
      <p:sp>
        <p:nvSpPr>
          <p:cNvPr id="30723" name="Rectangle 2">
            <a:extLst>
              <a:ext uri="{FF2B5EF4-FFF2-40B4-BE49-F238E27FC236}">
                <a16:creationId xmlns:a16="http://schemas.microsoft.com/office/drawing/2014/main" id="{846C052E-67AD-E5D6-204A-400801268803}"/>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30724" name="Rectangle 3">
            <a:extLst>
              <a:ext uri="{FF2B5EF4-FFF2-40B4-BE49-F238E27FC236}">
                <a16:creationId xmlns:a16="http://schemas.microsoft.com/office/drawing/2014/main" id="{3E80EA9B-FC39-505B-F597-DC0122758DBA}"/>
              </a:ext>
            </a:extLst>
          </p:cNvPr>
          <p:cNvSpPr>
            <a:spLocks noGrp="1" noChangeArrowheads="1"/>
          </p:cNvSpPr>
          <p:nvPr>
            <p:ph type="body" sz="half" idx="1"/>
          </p:nvPr>
        </p:nvSpPr>
        <p:spPr>
          <a:xfrm>
            <a:off x="1981201" y="1484313"/>
            <a:ext cx="8291513" cy="4114800"/>
          </a:xfrm>
        </p:spPr>
        <p:txBody>
          <a:bodyPr/>
          <a:lstStyle/>
          <a:p>
            <a:pPr marL="93663" indent="-7938" algn="l">
              <a:lnSpc>
                <a:spcPct val="90000"/>
              </a:lnSpc>
              <a:spcBef>
                <a:spcPct val="0"/>
              </a:spcBef>
              <a:spcAft>
                <a:spcPct val="0"/>
              </a:spcAft>
              <a:buClrTx/>
              <a:buSzTx/>
            </a:pPr>
            <a:r>
              <a:rPr lang="en-US" altLang="pt-BR" sz="2000" dirty="0">
                <a:effectLst/>
              </a:rPr>
              <a:t>int main()</a:t>
            </a:r>
          </a:p>
          <a:p>
            <a:pPr marL="93663" indent="-7938" algn="l">
              <a:lnSpc>
                <a:spcPct val="90000"/>
              </a:lnSpc>
              <a:spcBef>
                <a:spcPct val="0"/>
              </a:spcBef>
              <a:spcAft>
                <a:spcPct val="0"/>
              </a:spcAft>
              <a:buClrTx/>
              <a:buSzTx/>
            </a:pPr>
            <a:r>
              <a:rPr lang="en-US" altLang="pt-BR" sz="2000" dirty="0">
                <a:effectLst/>
              </a:rPr>
              <a:t>{</a:t>
            </a:r>
          </a:p>
          <a:p>
            <a:pPr marL="93663" indent="-7938" algn="l">
              <a:lnSpc>
                <a:spcPct val="90000"/>
              </a:lnSpc>
              <a:spcBef>
                <a:spcPct val="0"/>
              </a:spcBef>
              <a:spcAft>
                <a:spcPct val="0"/>
              </a:spcAft>
              <a:buClrTx/>
              <a:buSzTx/>
            </a:pPr>
            <a:r>
              <a:rPr lang="en-US" altLang="pt-BR" sz="2000" dirty="0">
                <a:effectLst/>
              </a:rPr>
              <a:t> FILE *</a:t>
            </a:r>
            <a:r>
              <a:rPr lang="en-US" altLang="pt-BR" sz="2000" dirty="0" err="1">
                <a:effectLst/>
              </a:rPr>
              <a:t>fp</a:t>
            </a:r>
            <a:r>
              <a:rPr lang="en-US" altLang="pt-BR" sz="2000" dirty="0">
                <a:effectLst/>
              </a:rPr>
              <a:t>;</a:t>
            </a:r>
          </a:p>
          <a:p>
            <a:pPr marL="93663" indent="-7938" algn="l">
              <a:lnSpc>
                <a:spcPct val="90000"/>
              </a:lnSpc>
              <a:spcBef>
                <a:spcPct val="0"/>
              </a:spcBef>
              <a:spcAft>
                <a:spcPct val="0"/>
              </a:spcAft>
              <a:buClrTx/>
              <a:buSzTx/>
            </a:pPr>
            <a:r>
              <a:rPr lang="en-US" altLang="pt-BR" sz="2000" dirty="0">
                <a:effectLst/>
              </a:rPr>
              <a:t> char string[100];</a:t>
            </a:r>
          </a:p>
          <a:p>
            <a:pPr marL="93663" indent="-7938" algn="l">
              <a:lnSpc>
                <a:spcPct val="90000"/>
              </a:lnSpc>
              <a:spcBef>
                <a:spcPct val="0"/>
              </a:spcBef>
              <a:spcAft>
                <a:spcPct val="0"/>
              </a:spcAft>
              <a:buClrTx/>
              <a:buSzTx/>
            </a:pPr>
            <a:r>
              <a:rPr lang="en-US" altLang="pt-BR" sz="2000" dirty="0">
                <a:effectLst/>
              </a:rPr>
              <a:t> int </a:t>
            </a:r>
            <a:r>
              <a:rPr lang="en-US" altLang="pt-BR" sz="2000" dirty="0" err="1">
                <a:effectLst/>
              </a:rPr>
              <a:t>i</a:t>
            </a:r>
            <a:r>
              <a:rPr lang="en-US" altLang="pt-BR" sz="2000" dirty="0">
                <a:effectLst/>
              </a:rPr>
              <a:t>;</a:t>
            </a:r>
          </a:p>
          <a:p>
            <a:pPr marL="93663" indent="-7938" algn="l">
              <a:lnSpc>
                <a:spcPct val="90000"/>
              </a:lnSpc>
              <a:spcBef>
                <a:spcPct val="0"/>
              </a:spcBef>
              <a:spcAft>
                <a:spcPct val="0"/>
              </a:spcAft>
              <a:buClrTx/>
              <a:buSzTx/>
            </a:pPr>
            <a:r>
              <a:rPr lang="en-US" altLang="pt-BR" sz="2000" dirty="0">
                <a:effectLst/>
              </a:rPr>
              <a:t> </a:t>
            </a:r>
            <a:r>
              <a:rPr lang="en-US" altLang="pt-BR" sz="2000" dirty="0" err="1">
                <a:effectLst/>
              </a:rPr>
              <a:t>fp</a:t>
            </a:r>
            <a:r>
              <a:rPr lang="en-US" altLang="pt-BR" sz="2000" dirty="0">
                <a:effectLst/>
              </a:rPr>
              <a:t> = </a:t>
            </a:r>
            <a:r>
              <a:rPr lang="en-US" altLang="pt-BR" sz="2000" dirty="0" err="1">
                <a:effectLst/>
              </a:rPr>
              <a:t>fopen</a:t>
            </a:r>
            <a:r>
              <a:rPr lang="en-US" altLang="pt-BR" sz="2000" dirty="0">
                <a:effectLst/>
              </a:rPr>
              <a:t>("</a:t>
            </a:r>
            <a:r>
              <a:rPr lang="en-US" altLang="pt-BR" sz="2000" dirty="0" err="1">
                <a:effectLst/>
              </a:rPr>
              <a:t>arquivo.txt","w</a:t>
            </a:r>
            <a:r>
              <a:rPr lang="en-US" altLang="pt-BR" sz="2000" dirty="0">
                <a:effectLst/>
              </a:rPr>
              <a:t>");   /* </a:t>
            </a:r>
            <a:r>
              <a:rPr lang="en-US" altLang="pt-BR" sz="2000" dirty="0" err="1">
                <a:effectLst/>
              </a:rPr>
              <a:t>Arquivo</a:t>
            </a:r>
            <a:r>
              <a:rPr lang="en-US" altLang="pt-BR" sz="2000" dirty="0">
                <a:effectLst/>
              </a:rPr>
              <a:t> ASCII, para </a:t>
            </a:r>
            <a:r>
              <a:rPr lang="en-US" altLang="pt-BR" sz="2000" dirty="0" err="1">
                <a:effectLst/>
              </a:rPr>
              <a:t>escrita</a:t>
            </a:r>
            <a:r>
              <a:rPr lang="en-US" altLang="pt-BR" sz="2000" dirty="0">
                <a:effectLst/>
              </a:rPr>
              <a:t> */</a:t>
            </a:r>
          </a:p>
          <a:p>
            <a:pPr marL="93663" indent="-7938" algn="l">
              <a:lnSpc>
                <a:spcPct val="90000"/>
              </a:lnSpc>
              <a:spcBef>
                <a:spcPct val="0"/>
              </a:spcBef>
              <a:spcAft>
                <a:spcPct val="0"/>
              </a:spcAft>
              <a:buClrTx/>
              <a:buSzTx/>
            </a:pPr>
            <a:r>
              <a:rPr lang="en-US" altLang="pt-BR" sz="2000" dirty="0">
                <a:effectLst/>
              </a:rPr>
              <a:t> if(!</a:t>
            </a:r>
            <a:r>
              <a:rPr lang="en-US" altLang="pt-BR" sz="2000" dirty="0" err="1">
                <a:effectLst/>
              </a:rPr>
              <a:t>fp</a:t>
            </a:r>
            <a:r>
              <a:rPr lang="en-US" altLang="pt-BR" sz="2000" dirty="0">
                <a:effectLst/>
              </a:rPr>
              <a:t>)</a:t>
            </a:r>
          </a:p>
          <a:p>
            <a:pPr marL="93663" indent="-7938" algn="l">
              <a:lnSpc>
                <a:spcPct val="90000"/>
              </a:lnSpc>
              <a:spcBef>
                <a:spcPct val="0"/>
              </a:spcBef>
              <a:spcAft>
                <a:spcPct val="0"/>
              </a:spcAft>
              <a:buClrTx/>
              <a:buSzTx/>
            </a:pPr>
            <a:r>
              <a:rPr lang="en-US" altLang="pt-BR" sz="2000" dirty="0">
                <a:effectLst/>
              </a:rPr>
              <a:t> {    </a:t>
            </a:r>
            <a:r>
              <a:rPr lang="en-US" altLang="pt-BR" sz="2000" dirty="0" err="1">
                <a:effectLst/>
              </a:rPr>
              <a:t>printf</a:t>
            </a:r>
            <a:r>
              <a:rPr lang="en-US" altLang="pt-BR" sz="2000" dirty="0">
                <a:effectLst/>
              </a:rPr>
              <a:t>( "Erro </a:t>
            </a:r>
            <a:r>
              <a:rPr lang="en-US" altLang="pt-BR" sz="2000" dirty="0" err="1">
                <a:effectLst/>
              </a:rPr>
              <a:t>na</a:t>
            </a:r>
            <a:r>
              <a:rPr lang="en-US" altLang="pt-BR" sz="2000" dirty="0">
                <a:effectLst/>
              </a:rPr>
              <a:t> </a:t>
            </a:r>
            <a:r>
              <a:rPr lang="en-US" altLang="pt-BR" sz="2000" dirty="0" err="1">
                <a:effectLst/>
              </a:rPr>
              <a:t>abertura</a:t>
            </a:r>
            <a:r>
              <a:rPr lang="en-US" altLang="pt-BR" sz="2000" dirty="0">
                <a:effectLst/>
              </a:rPr>
              <a:t> do </a:t>
            </a:r>
            <a:r>
              <a:rPr lang="en-US" altLang="pt-BR" sz="2000" dirty="0" err="1">
                <a:effectLst/>
              </a:rPr>
              <a:t>arquivo</a:t>
            </a:r>
            <a:r>
              <a:rPr lang="en-US" altLang="pt-BR" sz="2000" dirty="0">
                <a:effectLst/>
              </a:rPr>
              <a:t>");</a:t>
            </a:r>
          </a:p>
          <a:p>
            <a:pPr marL="93663" indent="-7938" algn="l">
              <a:lnSpc>
                <a:spcPct val="90000"/>
              </a:lnSpc>
              <a:spcBef>
                <a:spcPct val="0"/>
              </a:spcBef>
              <a:spcAft>
                <a:spcPct val="0"/>
              </a:spcAft>
              <a:buClrTx/>
              <a:buSzTx/>
            </a:pPr>
            <a:r>
              <a:rPr lang="en-US" altLang="pt-BR" sz="2000" dirty="0">
                <a:effectLst/>
              </a:rPr>
              <a:t>    exit(0); }</a:t>
            </a:r>
          </a:p>
          <a:p>
            <a:pPr marL="93663" indent="-7938" algn="l">
              <a:lnSpc>
                <a:spcPct val="90000"/>
              </a:lnSpc>
              <a:spcBef>
                <a:spcPct val="0"/>
              </a:spcBef>
              <a:spcAft>
                <a:spcPct val="0"/>
              </a:spcAft>
              <a:buClrTx/>
              <a:buSzTx/>
            </a:pPr>
            <a:r>
              <a:rPr lang="en-US" altLang="pt-BR" sz="2000" dirty="0" err="1">
                <a:effectLst/>
              </a:rPr>
              <a:t>printf</a:t>
            </a:r>
            <a:r>
              <a:rPr lang="en-US" altLang="pt-BR" sz="2000" dirty="0">
                <a:effectLst/>
              </a:rPr>
              <a:t>("Entre com a string a ser </a:t>
            </a:r>
            <a:r>
              <a:rPr lang="en-US" altLang="pt-BR" sz="2000" dirty="0" err="1">
                <a:effectLst/>
              </a:rPr>
              <a:t>gravada</a:t>
            </a:r>
            <a:r>
              <a:rPr lang="en-US" altLang="pt-BR" sz="2000" dirty="0">
                <a:effectLst/>
              </a:rPr>
              <a:t> no </a:t>
            </a:r>
            <a:r>
              <a:rPr lang="en-US" altLang="pt-BR" sz="2000" dirty="0" err="1">
                <a:effectLst/>
              </a:rPr>
              <a:t>arquivo</a:t>
            </a:r>
            <a:r>
              <a:rPr lang="en-US" altLang="pt-BR" sz="2000" dirty="0">
                <a:effectLst/>
              </a:rPr>
              <a:t>:");</a:t>
            </a:r>
          </a:p>
          <a:p>
            <a:pPr marL="93663" indent="-7938" algn="l">
              <a:lnSpc>
                <a:spcPct val="90000"/>
              </a:lnSpc>
              <a:spcBef>
                <a:spcPct val="0"/>
              </a:spcBef>
              <a:spcAft>
                <a:spcPct val="0"/>
              </a:spcAft>
              <a:buClrTx/>
              <a:buSzTx/>
            </a:pPr>
            <a:r>
              <a:rPr lang="en-US" altLang="pt-BR" sz="2000" dirty="0">
                <a:effectLst/>
              </a:rPr>
              <a:t> gets(string);</a:t>
            </a:r>
          </a:p>
          <a:p>
            <a:pPr marL="93663" indent="-7938" algn="l">
              <a:lnSpc>
                <a:spcPct val="90000"/>
              </a:lnSpc>
              <a:spcBef>
                <a:spcPct val="0"/>
              </a:spcBef>
              <a:spcAft>
                <a:spcPct val="0"/>
              </a:spcAft>
              <a:buClrTx/>
              <a:buSzTx/>
            </a:pPr>
            <a:r>
              <a:rPr lang="en-US" altLang="pt-BR" sz="2000" dirty="0">
                <a:effectLst/>
              </a:rPr>
              <a:t> for(</a:t>
            </a:r>
            <a:r>
              <a:rPr lang="en-US" altLang="pt-BR" sz="2000" dirty="0" err="1">
                <a:effectLst/>
              </a:rPr>
              <a:t>i</a:t>
            </a:r>
            <a:r>
              <a:rPr lang="en-US" altLang="pt-BR" sz="2000" dirty="0">
                <a:effectLst/>
              </a:rPr>
              <a:t>=0; string[</a:t>
            </a:r>
            <a:r>
              <a:rPr lang="en-US" altLang="pt-BR" sz="2000" dirty="0" err="1">
                <a:effectLst/>
              </a:rPr>
              <a:t>i</a:t>
            </a:r>
            <a:r>
              <a:rPr lang="en-US" altLang="pt-BR" sz="2000" dirty="0">
                <a:effectLst/>
              </a:rPr>
              <a:t>]; </a:t>
            </a:r>
            <a:r>
              <a:rPr lang="en-US" altLang="pt-BR" sz="2000" dirty="0" err="1">
                <a:effectLst/>
              </a:rPr>
              <a:t>i</a:t>
            </a:r>
            <a:r>
              <a:rPr lang="en-US" altLang="pt-BR" sz="2000" dirty="0">
                <a:effectLst/>
              </a:rPr>
              <a:t>++) </a:t>
            </a:r>
          </a:p>
          <a:p>
            <a:pPr marL="93663" indent="-7938" algn="l">
              <a:lnSpc>
                <a:spcPct val="90000"/>
              </a:lnSpc>
              <a:spcBef>
                <a:spcPct val="0"/>
              </a:spcBef>
              <a:spcAft>
                <a:spcPct val="0"/>
              </a:spcAft>
              <a:buClrTx/>
              <a:buSzTx/>
            </a:pPr>
            <a:r>
              <a:rPr lang="en-US" altLang="pt-BR" sz="2000" dirty="0">
                <a:effectLst/>
              </a:rPr>
              <a:t> </a:t>
            </a:r>
            <a:r>
              <a:rPr lang="en-US" altLang="pt-BR" sz="2000" b="1" dirty="0" err="1">
                <a:effectLst/>
              </a:rPr>
              <a:t>putc</a:t>
            </a:r>
            <a:r>
              <a:rPr lang="en-US" altLang="pt-BR" sz="2000" dirty="0">
                <a:effectLst/>
              </a:rPr>
              <a:t>(string[</a:t>
            </a:r>
            <a:r>
              <a:rPr lang="en-US" altLang="pt-BR" sz="2000" dirty="0" err="1">
                <a:effectLst/>
              </a:rPr>
              <a:t>i</a:t>
            </a:r>
            <a:r>
              <a:rPr lang="en-US" altLang="pt-BR" sz="2000" dirty="0">
                <a:effectLst/>
              </a:rPr>
              <a:t>], </a:t>
            </a:r>
            <a:r>
              <a:rPr lang="en-US" altLang="pt-BR" sz="2000" dirty="0" err="1">
                <a:effectLst/>
              </a:rPr>
              <a:t>fp</a:t>
            </a:r>
            <a:r>
              <a:rPr lang="en-US" altLang="pt-BR" sz="2000" dirty="0">
                <a:effectLst/>
              </a:rPr>
              <a:t>); </a:t>
            </a:r>
            <a:r>
              <a:rPr lang="en-US" altLang="pt-BR" sz="1400" dirty="0">
                <a:effectLst/>
              </a:rPr>
              <a:t>// Grava a string, </a:t>
            </a:r>
            <a:r>
              <a:rPr lang="en-US" altLang="pt-BR" sz="1400" dirty="0" err="1">
                <a:effectLst/>
              </a:rPr>
              <a:t>caractere</a:t>
            </a:r>
            <a:r>
              <a:rPr lang="en-US" altLang="pt-BR" sz="1400" dirty="0">
                <a:effectLst/>
              </a:rPr>
              <a:t> a </a:t>
            </a:r>
            <a:r>
              <a:rPr lang="en-US" altLang="pt-BR" sz="1400" dirty="0" err="1">
                <a:effectLst/>
              </a:rPr>
              <a:t>caractere</a:t>
            </a:r>
            <a:r>
              <a:rPr lang="en-US" altLang="pt-BR" sz="1400" dirty="0">
                <a:effectLst/>
              </a:rPr>
              <a:t> </a:t>
            </a:r>
          </a:p>
          <a:p>
            <a:pPr marL="93663" indent="-7938" algn="l">
              <a:lnSpc>
                <a:spcPct val="90000"/>
              </a:lnSpc>
              <a:spcBef>
                <a:spcPct val="0"/>
              </a:spcBef>
              <a:spcAft>
                <a:spcPct val="0"/>
              </a:spcAft>
              <a:buClrTx/>
              <a:buSzTx/>
            </a:pPr>
            <a:r>
              <a:rPr lang="en-US" altLang="pt-BR" sz="2000" dirty="0">
                <a:effectLst/>
              </a:rPr>
              <a:t> </a:t>
            </a:r>
            <a:r>
              <a:rPr lang="en-US" altLang="pt-BR" sz="2000" dirty="0" err="1">
                <a:effectLst/>
              </a:rPr>
              <a:t>fclose</a:t>
            </a:r>
            <a:r>
              <a:rPr lang="en-US" altLang="pt-BR" sz="2000" dirty="0">
                <a:effectLst/>
              </a:rPr>
              <a:t>(</a:t>
            </a:r>
            <a:r>
              <a:rPr lang="en-US" altLang="pt-BR" sz="2000" dirty="0" err="1">
                <a:effectLst/>
              </a:rPr>
              <a:t>fp</a:t>
            </a:r>
            <a:r>
              <a:rPr lang="en-US" altLang="pt-BR" sz="2000" dirty="0">
                <a:effectLst/>
              </a:rPr>
              <a:t>);</a:t>
            </a:r>
          </a:p>
          <a:p>
            <a:pPr marL="93663" indent="-7938" algn="l">
              <a:lnSpc>
                <a:spcPct val="90000"/>
              </a:lnSpc>
              <a:spcBef>
                <a:spcPct val="0"/>
              </a:spcBef>
              <a:spcAft>
                <a:spcPct val="0"/>
              </a:spcAft>
              <a:buClrTx/>
              <a:buSzTx/>
            </a:pPr>
            <a:r>
              <a:rPr lang="en-US" altLang="pt-BR" sz="2000" dirty="0">
                <a:effectLst/>
              </a:rPr>
              <a:t> return 0;</a:t>
            </a:r>
          </a:p>
          <a:p>
            <a:pPr marL="93663" indent="-7938" algn="l">
              <a:lnSpc>
                <a:spcPct val="90000"/>
              </a:lnSpc>
              <a:spcBef>
                <a:spcPct val="0"/>
              </a:spcBef>
              <a:spcAft>
                <a:spcPct val="0"/>
              </a:spcAft>
              <a:buClrTx/>
              <a:buSzTx/>
            </a:pPr>
            <a:r>
              <a:rPr lang="en-US" altLang="pt-BR" sz="2000" dirty="0">
                <a:effectLst/>
              </a:rPr>
              <a:t>}</a:t>
            </a:r>
          </a:p>
        </p:txBody>
      </p:sp>
      <p:sp>
        <p:nvSpPr>
          <p:cNvPr id="30725" name="Rectangle 4">
            <a:extLst>
              <a:ext uri="{FF2B5EF4-FFF2-40B4-BE49-F238E27FC236}">
                <a16:creationId xmlns:a16="http://schemas.microsoft.com/office/drawing/2014/main" id="{6310013D-5FD2-4518-F4F6-BA7F60E0F24E}"/>
              </a:ext>
            </a:extLst>
          </p:cNvPr>
          <p:cNvSpPr>
            <a:spLocks noChangeArrowheads="1"/>
          </p:cNvSpPr>
          <p:nvPr/>
        </p:nvSpPr>
        <p:spPr bwMode="auto">
          <a:xfrm>
            <a:off x="4510088" y="5876926"/>
            <a:ext cx="314009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dirty="0">
                <a:solidFill>
                  <a:schemeClr val="tx1"/>
                </a:solidFill>
              </a:rPr>
              <a:t>entrada e </a:t>
            </a:r>
            <a:r>
              <a:rPr lang="pt-BR" altLang="pt-BR" dirty="0" err="1">
                <a:solidFill>
                  <a:schemeClr val="tx1"/>
                </a:solidFill>
              </a:rPr>
              <a:t>saida</a:t>
            </a:r>
            <a:r>
              <a:rPr lang="pt-BR" altLang="pt-BR" dirty="0">
                <a:solidFill>
                  <a:schemeClr val="tx1"/>
                </a:solidFill>
              </a:rPr>
              <a:t> arquivo4.cpp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44FA1F49-F463-B136-C328-BEA00A8EC9A3}"/>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663B8B35-86B7-4EA4-AA17-83230E29B250}" type="slidenum">
              <a:rPr lang="pt-BR" altLang="pt-BR" smtClean="0">
                <a:solidFill>
                  <a:srgbClr val="000000"/>
                </a:solidFill>
                <a:latin typeface="Arial" panose="020B0604020202020204" pitchFamily="34" charset="0"/>
              </a:rPr>
              <a:pPr>
                <a:defRPr/>
              </a:pPr>
              <a:t>15</a:t>
            </a:fld>
            <a:endParaRPr lang="pt-BR" altLang="pt-BR">
              <a:solidFill>
                <a:srgbClr val="000000"/>
              </a:solidFill>
              <a:latin typeface="Arial" panose="020B0604020202020204" pitchFamily="34" charset="0"/>
            </a:endParaRPr>
          </a:p>
        </p:txBody>
      </p:sp>
      <p:sp>
        <p:nvSpPr>
          <p:cNvPr id="32771" name="Rectangle 2">
            <a:extLst>
              <a:ext uri="{FF2B5EF4-FFF2-40B4-BE49-F238E27FC236}">
                <a16:creationId xmlns:a16="http://schemas.microsoft.com/office/drawing/2014/main" id="{BD29F81A-108E-86A2-5A76-76E0283B6268}"/>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32772" name="Rectangle 3">
            <a:extLst>
              <a:ext uri="{FF2B5EF4-FFF2-40B4-BE49-F238E27FC236}">
                <a16:creationId xmlns:a16="http://schemas.microsoft.com/office/drawing/2014/main" id="{E74B47E8-703C-CC62-AD90-E6A2479A538E}"/>
              </a:ext>
            </a:extLst>
          </p:cNvPr>
          <p:cNvSpPr>
            <a:spLocks noGrp="1" noChangeArrowheads="1"/>
          </p:cNvSpPr>
          <p:nvPr>
            <p:ph type="body" sz="half" idx="1"/>
          </p:nvPr>
        </p:nvSpPr>
        <p:spPr>
          <a:xfrm>
            <a:off x="1055440" y="1484313"/>
            <a:ext cx="10081119" cy="4114800"/>
          </a:xfrm>
        </p:spPr>
        <p:txBody>
          <a:bodyPr/>
          <a:lstStyle/>
          <a:p>
            <a:pPr marL="93663" indent="263525">
              <a:spcBef>
                <a:spcPct val="0"/>
              </a:spcBef>
              <a:spcAft>
                <a:spcPct val="0"/>
              </a:spcAft>
              <a:buClrTx/>
              <a:buSzTx/>
            </a:pPr>
            <a:endParaRPr lang="en-US" altLang="pt-BR" b="1" dirty="0">
              <a:effectLst/>
            </a:endParaRPr>
          </a:p>
          <a:p>
            <a:pPr marL="93663" indent="263525">
              <a:buFont typeface="Wingdings" panose="05000000000000000000" pitchFamily="2" charset="2"/>
              <a:buChar char="n"/>
            </a:pPr>
            <a:r>
              <a:rPr lang="pt-BR" altLang="pt-BR" sz="2000" b="1" dirty="0" err="1">
                <a:effectLst/>
              </a:rPr>
              <a:t>getc</a:t>
            </a:r>
            <a:endParaRPr lang="pt-BR" altLang="pt-BR" sz="2000" b="1" dirty="0">
              <a:effectLst/>
            </a:endParaRPr>
          </a:p>
          <a:p>
            <a:pPr marL="93663" indent="263525"/>
            <a:r>
              <a:rPr lang="pt-BR" altLang="pt-BR" sz="2000" dirty="0">
                <a:effectLst/>
              </a:rPr>
              <a:t>Retorna um caractere lido do arquivo. Protótipo: </a:t>
            </a:r>
          </a:p>
          <a:p>
            <a:pPr marL="93663" indent="263525" algn="l"/>
            <a:r>
              <a:rPr lang="pt-BR" altLang="pt-BR" sz="2000" dirty="0">
                <a:effectLst/>
              </a:rPr>
              <a:t> int </a:t>
            </a:r>
            <a:r>
              <a:rPr lang="pt-BR" altLang="pt-BR" sz="2000" dirty="0" err="1">
                <a:effectLst/>
              </a:rPr>
              <a:t>getc</a:t>
            </a:r>
            <a:r>
              <a:rPr lang="pt-BR" altLang="pt-BR" sz="2000" dirty="0">
                <a:effectLst/>
              </a:rPr>
              <a:t> (FILE *</a:t>
            </a:r>
            <a:r>
              <a:rPr lang="pt-BR" altLang="pt-BR" sz="2000" dirty="0" err="1">
                <a:effectLst/>
              </a:rPr>
              <a:t>fp</a:t>
            </a:r>
            <a:r>
              <a:rPr lang="pt-BR" altLang="pt-BR" sz="2000" dirty="0">
                <a:effectLst/>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6">
            <a:extLst>
              <a:ext uri="{FF2B5EF4-FFF2-40B4-BE49-F238E27FC236}">
                <a16:creationId xmlns:a16="http://schemas.microsoft.com/office/drawing/2014/main" id="{1F423D0E-7D36-24DF-C717-26F7A512A38F}"/>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23AC981B-7B4C-42F3-8279-4A4B85564B61}" type="slidenum">
              <a:rPr lang="pt-BR" altLang="pt-BR" smtClean="0">
                <a:solidFill>
                  <a:srgbClr val="000000"/>
                </a:solidFill>
                <a:latin typeface="Arial" panose="020B0604020202020204" pitchFamily="34" charset="0"/>
              </a:rPr>
              <a:pPr>
                <a:defRPr/>
              </a:pPr>
              <a:t>16</a:t>
            </a:fld>
            <a:endParaRPr lang="pt-BR" altLang="pt-BR">
              <a:solidFill>
                <a:srgbClr val="000000"/>
              </a:solidFill>
              <a:latin typeface="Arial" panose="020B0604020202020204" pitchFamily="34" charset="0"/>
            </a:endParaRPr>
          </a:p>
        </p:txBody>
      </p:sp>
      <p:sp>
        <p:nvSpPr>
          <p:cNvPr id="34819" name="Rectangle 2">
            <a:extLst>
              <a:ext uri="{FF2B5EF4-FFF2-40B4-BE49-F238E27FC236}">
                <a16:creationId xmlns:a16="http://schemas.microsoft.com/office/drawing/2014/main" id="{73CD6D78-E0C7-0555-3E24-0A6A7423860A}"/>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82723" name="Rectangle 3">
            <a:extLst>
              <a:ext uri="{FF2B5EF4-FFF2-40B4-BE49-F238E27FC236}">
                <a16:creationId xmlns:a16="http://schemas.microsoft.com/office/drawing/2014/main" id="{59927DA7-85C1-69B4-FB3C-CEFF11A67B29}"/>
              </a:ext>
            </a:extLst>
          </p:cNvPr>
          <p:cNvSpPr>
            <a:spLocks noGrp="1" noChangeArrowheads="1"/>
          </p:cNvSpPr>
          <p:nvPr>
            <p:ph type="body" sz="half" idx="1"/>
          </p:nvPr>
        </p:nvSpPr>
        <p:spPr>
          <a:xfrm>
            <a:off x="911424" y="1484313"/>
            <a:ext cx="10729191" cy="4114800"/>
          </a:xfrm>
        </p:spPr>
        <p:txBody>
          <a:bodyPr/>
          <a:lstStyle/>
          <a:p>
            <a:pPr marL="93663" indent="263525">
              <a:defRPr/>
            </a:pPr>
            <a:r>
              <a:rPr lang="pt-BR" altLang="pt-BR" sz="2000" b="1" dirty="0" err="1">
                <a:effectLst/>
              </a:rPr>
              <a:t>Feof</a:t>
            </a:r>
            <a:r>
              <a:rPr lang="pt-BR" altLang="pt-BR" sz="2000" b="1" dirty="0">
                <a:effectLst/>
              </a:rPr>
              <a:t> e o EOF</a:t>
            </a:r>
          </a:p>
          <a:p>
            <a:pPr marL="93663" indent="263525" algn="just">
              <a:defRPr/>
            </a:pPr>
            <a:r>
              <a:rPr lang="pt-BR" altLang="pt-BR" sz="2000" dirty="0">
                <a:effectLst/>
              </a:rPr>
              <a:t>EOF ("</a:t>
            </a:r>
            <a:r>
              <a:rPr lang="pt-BR" altLang="pt-BR" sz="2000" dirty="0" err="1">
                <a:effectLst/>
              </a:rPr>
              <a:t>End</a:t>
            </a:r>
            <a:r>
              <a:rPr lang="pt-BR" altLang="pt-BR" sz="2000" dirty="0">
                <a:effectLst/>
              </a:rPr>
              <a:t> </a:t>
            </a:r>
            <a:r>
              <a:rPr lang="pt-BR" altLang="pt-BR" sz="2000" dirty="0" err="1">
                <a:effectLst/>
              </a:rPr>
              <a:t>of</a:t>
            </a:r>
            <a:r>
              <a:rPr lang="pt-BR" altLang="pt-BR" sz="2000" dirty="0">
                <a:effectLst/>
              </a:rPr>
              <a:t> file") indica o fim de um arquivo. Às vezes, é necessário verificar se um arquivo chegou ao fim. Para isto podemos usar a função </a:t>
            </a:r>
            <a:r>
              <a:rPr lang="pt-BR" altLang="pt-BR" sz="2000" b="1" dirty="0" err="1">
                <a:effectLst/>
              </a:rPr>
              <a:t>feof</a:t>
            </a:r>
            <a:r>
              <a:rPr lang="pt-BR" altLang="pt-BR" sz="2000" b="1" dirty="0">
                <a:effectLst/>
              </a:rPr>
              <a:t>()</a:t>
            </a:r>
            <a:r>
              <a:rPr lang="pt-BR" altLang="pt-BR" sz="2000" dirty="0">
                <a:effectLst/>
              </a:rPr>
              <a:t>. Ela retorna não-zero se o arquivo chegou ao EOF, caso contrário retorna zero</a:t>
            </a:r>
          </a:p>
          <a:p>
            <a:pPr marL="93663" indent="263525" algn="just">
              <a:buFont typeface="Wingdings" panose="05000000000000000000" pitchFamily="2" charset="2"/>
              <a:buChar char="n"/>
              <a:defRPr/>
            </a:pPr>
            <a:r>
              <a:rPr lang="pt-BR" altLang="pt-BR" sz="2000" dirty="0">
                <a:effectLst/>
              </a:rPr>
              <a:t>Outra forma de se verificar se o final do arquivo foi atingido é comparar o caractere lido por </a:t>
            </a:r>
            <a:r>
              <a:rPr lang="pt-BR" altLang="pt-BR" sz="2000" dirty="0" err="1">
                <a:effectLst/>
              </a:rPr>
              <a:t>getc</a:t>
            </a:r>
            <a:r>
              <a:rPr lang="pt-BR" altLang="pt-BR" sz="2000" dirty="0">
                <a:effectLst/>
              </a:rPr>
              <a:t> com EOF. </a:t>
            </a:r>
          </a:p>
          <a:p>
            <a:pPr marL="93663" indent="263525" algn="just">
              <a:buFont typeface="Wingdings" panose="05000000000000000000" pitchFamily="2" charset="2"/>
              <a:buChar char="n"/>
              <a:defRPr/>
            </a:pPr>
            <a:r>
              <a:rPr lang="pt-BR" altLang="pt-BR" sz="2000" dirty="0">
                <a:effectLst/>
              </a:rPr>
              <a:t>O programa a seguir abre um arquivo já existente e o lê, </a:t>
            </a:r>
            <a:r>
              <a:rPr lang="pt-BR" altLang="pt-BR" sz="2000" dirty="0" err="1">
                <a:effectLst/>
              </a:rPr>
              <a:t>caracter</a:t>
            </a:r>
            <a:r>
              <a:rPr lang="pt-BR" altLang="pt-BR" sz="2000" dirty="0">
                <a:effectLst/>
              </a:rPr>
              <a:t> por </a:t>
            </a:r>
            <a:r>
              <a:rPr lang="pt-BR" altLang="pt-BR" sz="2000" dirty="0" err="1">
                <a:effectLst/>
              </a:rPr>
              <a:t>caracter</a:t>
            </a:r>
            <a:r>
              <a:rPr lang="pt-BR" altLang="pt-BR" sz="2000" dirty="0">
                <a:effectLst/>
              </a:rPr>
              <a:t>, até que o final do arquivo seja atingido. Os caracteres lidos são apresentados na tela:</a:t>
            </a:r>
            <a:r>
              <a:rPr lang="pt-BR" altLang="pt-BR" sz="2000" dirty="0"/>
              <a:t> </a:t>
            </a:r>
          </a:p>
        </p:txBody>
      </p:sp>
      <p:sp>
        <p:nvSpPr>
          <p:cNvPr id="34821" name="Rectangle 4">
            <a:extLst>
              <a:ext uri="{FF2B5EF4-FFF2-40B4-BE49-F238E27FC236}">
                <a16:creationId xmlns:a16="http://schemas.microsoft.com/office/drawing/2014/main" id="{C5500992-2A4E-8F6C-32F0-0D18EA43E4B4}"/>
              </a:ext>
            </a:extLst>
          </p:cNvPr>
          <p:cNvSpPr>
            <a:spLocks noChangeArrowheads="1"/>
          </p:cNvSpPr>
          <p:nvPr/>
        </p:nvSpPr>
        <p:spPr bwMode="auto">
          <a:xfrm>
            <a:off x="5735638" y="5373688"/>
            <a:ext cx="314009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a:solidFill>
                  <a:schemeClr val="tx1"/>
                </a:solidFill>
              </a:rPr>
              <a:t>entrada e saida arquivo6.cpp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6">
            <a:extLst>
              <a:ext uri="{FF2B5EF4-FFF2-40B4-BE49-F238E27FC236}">
                <a16:creationId xmlns:a16="http://schemas.microsoft.com/office/drawing/2014/main" id="{27F8D852-1655-61F7-B893-44864354120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1499E6EF-151C-439F-BBD6-21BC8CF21173}" type="slidenum">
              <a:rPr lang="pt-BR" altLang="pt-BR" smtClean="0">
                <a:solidFill>
                  <a:srgbClr val="000000"/>
                </a:solidFill>
                <a:latin typeface="Arial" panose="020B0604020202020204" pitchFamily="34" charset="0"/>
              </a:rPr>
              <a:pPr>
                <a:defRPr/>
              </a:pPr>
              <a:t>17</a:t>
            </a:fld>
            <a:endParaRPr lang="pt-BR" altLang="pt-BR">
              <a:solidFill>
                <a:srgbClr val="000000"/>
              </a:solidFill>
              <a:latin typeface="Arial" panose="020B0604020202020204" pitchFamily="34" charset="0"/>
            </a:endParaRPr>
          </a:p>
        </p:txBody>
      </p:sp>
      <p:sp>
        <p:nvSpPr>
          <p:cNvPr id="36867" name="Rectangle 2">
            <a:extLst>
              <a:ext uri="{FF2B5EF4-FFF2-40B4-BE49-F238E27FC236}">
                <a16:creationId xmlns:a16="http://schemas.microsoft.com/office/drawing/2014/main" id="{82208E61-34FA-BB98-C966-E64079E949E1}"/>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84771" name="Rectangle 3">
            <a:extLst>
              <a:ext uri="{FF2B5EF4-FFF2-40B4-BE49-F238E27FC236}">
                <a16:creationId xmlns:a16="http://schemas.microsoft.com/office/drawing/2014/main" id="{3BDED556-A85D-D757-2171-8BF9839A830F}"/>
              </a:ext>
            </a:extLst>
          </p:cNvPr>
          <p:cNvSpPr>
            <a:spLocks noGrp="1" noChangeArrowheads="1"/>
          </p:cNvSpPr>
          <p:nvPr>
            <p:ph type="body" sz="half" idx="1"/>
          </p:nvPr>
        </p:nvSpPr>
        <p:spPr>
          <a:xfrm>
            <a:off x="911424" y="1484313"/>
            <a:ext cx="10801199" cy="4114800"/>
          </a:xfrm>
        </p:spPr>
        <p:txBody>
          <a:bodyPr/>
          <a:lstStyle/>
          <a:p>
            <a:pPr marL="93663" indent="263525" algn="l">
              <a:lnSpc>
                <a:spcPct val="80000"/>
              </a:lnSpc>
              <a:defRPr/>
            </a:pPr>
            <a:r>
              <a:rPr lang="pt-BR" altLang="pt-BR" sz="2000" b="1" dirty="0">
                <a:effectLst/>
              </a:rPr>
              <a:t>EOF</a:t>
            </a:r>
          </a:p>
          <a:p>
            <a:pPr marL="93663" indent="263525" algn="l">
              <a:spcBef>
                <a:spcPct val="0"/>
              </a:spcBef>
              <a:spcAft>
                <a:spcPct val="0"/>
              </a:spcAft>
              <a:defRPr/>
            </a:pPr>
            <a:r>
              <a:rPr lang="pt-BR" altLang="pt-BR" sz="2000" dirty="0">
                <a:effectLst/>
              </a:rPr>
              <a:t>#include &lt;</a:t>
            </a:r>
            <a:r>
              <a:rPr lang="pt-BR" altLang="pt-BR" sz="2000" dirty="0" err="1">
                <a:effectLst/>
              </a:rPr>
              <a:t>stdio.h</a:t>
            </a:r>
            <a:r>
              <a:rPr lang="pt-BR" altLang="pt-BR" sz="2000" dirty="0">
                <a:effectLst/>
              </a:rPr>
              <a:t>&gt;</a:t>
            </a:r>
          </a:p>
          <a:p>
            <a:pPr marL="93663" indent="263525" algn="l">
              <a:spcBef>
                <a:spcPct val="0"/>
              </a:spcBef>
              <a:spcAft>
                <a:spcPct val="0"/>
              </a:spcAft>
              <a:defRPr/>
            </a:pPr>
            <a:r>
              <a:rPr lang="pt-BR" altLang="pt-BR" sz="2000" dirty="0">
                <a:effectLst/>
              </a:rPr>
              <a:t>#include &lt;</a:t>
            </a:r>
            <a:r>
              <a:rPr lang="pt-BR" altLang="pt-BR" sz="2000" dirty="0" err="1">
                <a:effectLst/>
              </a:rPr>
              <a:t>stdlib.h</a:t>
            </a:r>
            <a:r>
              <a:rPr lang="pt-BR" altLang="pt-BR" sz="2000" dirty="0">
                <a:effectLst/>
              </a:rPr>
              <a:t>&gt;</a:t>
            </a:r>
          </a:p>
          <a:p>
            <a:pPr marL="93663" indent="263525" algn="l">
              <a:spcBef>
                <a:spcPct val="0"/>
              </a:spcBef>
              <a:spcAft>
                <a:spcPct val="0"/>
              </a:spcAft>
              <a:defRPr/>
            </a:pPr>
            <a:r>
              <a:rPr lang="pt-BR" altLang="pt-BR" sz="2000" dirty="0">
                <a:effectLst/>
              </a:rPr>
              <a:t>int </a:t>
            </a:r>
            <a:r>
              <a:rPr lang="pt-BR" altLang="pt-BR" sz="2000" dirty="0" err="1">
                <a:effectLst/>
              </a:rPr>
              <a:t>main</a:t>
            </a:r>
            <a:r>
              <a:rPr lang="pt-BR" altLang="pt-BR" sz="2000" dirty="0">
                <a:effectLst/>
              </a:rPr>
              <a:t>()</a:t>
            </a:r>
          </a:p>
          <a:p>
            <a:pPr marL="93663" indent="263525" algn="l">
              <a:spcBef>
                <a:spcPct val="0"/>
              </a:spcBef>
              <a:spcAft>
                <a:spcPct val="0"/>
              </a:spcAft>
              <a:defRPr/>
            </a:pPr>
            <a:r>
              <a:rPr lang="pt-BR" altLang="pt-BR" sz="2000" dirty="0">
                <a:effectLst/>
              </a:rPr>
              <a:t>{</a:t>
            </a:r>
          </a:p>
          <a:p>
            <a:pPr marL="93663" indent="263525" algn="l">
              <a:spcBef>
                <a:spcPct val="0"/>
              </a:spcBef>
              <a:spcAft>
                <a:spcPct val="0"/>
              </a:spcAft>
              <a:defRPr/>
            </a:pPr>
            <a:r>
              <a:rPr lang="pt-BR" altLang="pt-BR" sz="2000" dirty="0">
                <a:effectLst/>
              </a:rPr>
              <a:t>FILE *</a:t>
            </a:r>
            <a:r>
              <a:rPr lang="pt-BR" altLang="pt-BR" sz="2000" dirty="0" err="1">
                <a:effectLst/>
              </a:rPr>
              <a:t>fp</a:t>
            </a:r>
            <a:r>
              <a:rPr lang="pt-BR" altLang="pt-BR" sz="2000" dirty="0">
                <a:effectLst/>
              </a:rPr>
              <a:t>;</a:t>
            </a:r>
          </a:p>
          <a:p>
            <a:pPr marL="93663" indent="263525" algn="l">
              <a:spcBef>
                <a:spcPct val="0"/>
              </a:spcBef>
              <a:spcAft>
                <a:spcPct val="0"/>
              </a:spcAft>
              <a:defRPr/>
            </a:pPr>
            <a:r>
              <a:rPr lang="pt-BR" altLang="pt-BR" sz="2000" dirty="0">
                <a:effectLst/>
              </a:rPr>
              <a:t>char c;</a:t>
            </a:r>
          </a:p>
          <a:p>
            <a:pPr marL="93663" indent="263525" algn="l">
              <a:spcBef>
                <a:spcPct val="0"/>
              </a:spcBef>
              <a:spcAft>
                <a:spcPct val="0"/>
              </a:spcAft>
              <a:defRPr/>
            </a:pPr>
            <a:r>
              <a:rPr lang="pt-BR" altLang="pt-BR" sz="2000" dirty="0" err="1">
                <a:effectLst/>
              </a:rPr>
              <a:t>fp</a:t>
            </a:r>
            <a:r>
              <a:rPr lang="pt-BR" altLang="pt-BR" sz="2000" dirty="0">
                <a:effectLst/>
              </a:rPr>
              <a:t> = </a:t>
            </a:r>
            <a:r>
              <a:rPr lang="pt-BR" altLang="pt-BR" sz="2000" dirty="0" err="1">
                <a:effectLst/>
              </a:rPr>
              <a:t>fopen</a:t>
            </a:r>
            <a:r>
              <a:rPr lang="pt-BR" altLang="pt-BR" sz="2000" dirty="0">
                <a:effectLst/>
              </a:rPr>
              <a:t>("arquivo.</a:t>
            </a:r>
            <a:r>
              <a:rPr lang="pt-BR" altLang="pt-BR" sz="2000" dirty="0" err="1">
                <a:effectLst/>
              </a:rPr>
              <a:t>txt</a:t>
            </a:r>
            <a:r>
              <a:rPr lang="pt-BR" altLang="pt-BR" sz="2000" dirty="0">
                <a:effectLst/>
              </a:rPr>
              <a:t>","r");   /* Arquivo ASCII, para leitura */</a:t>
            </a:r>
          </a:p>
          <a:p>
            <a:pPr marL="93663" indent="263525" algn="l">
              <a:spcBef>
                <a:spcPct val="0"/>
              </a:spcBef>
              <a:spcAft>
                <a:spcPct val="0"/>
              </a:spcAft>
              <a:defRPr/>
            </a:pPr>
            <a:r>
              <a:rPr lang="pt-BR" altLang="pt-BR" sz="2000" dirty="0">
                <a:effectLst/>
              </a:rPr>
              <a:t>if(!</a:t>
            </a:r>
            <a:r>
              <a:rPr lang="pt-BR" altLang="pt-BR" sz="2000" dirty="0" err="1">
                <a:effectLst/>
              </a:rPr>
              <a:t>fp</a:t>
            </a:r>
            <a:r>
              <a:rPr lang="pt-BR" altLang="pt-BR" sz="2000" dirty="0">
                <a:effectLst/>
              </a:rPr>
              <a:t>)</a:t>
            </a:r>
          </a:p>
          <a:p>
            <a:pPr marL="93663" indent="263525" algn="l">
              <a:spcBef>
                <a:spcPct val="0"/>
              </a:spcBef>
              <a:spcAft>
                <a:spcPct val="0"/>
              </a:spcAft>
              <a:defRPr/>
            </a:pPr>
            <a:r>
              <a:rPr lang="pt-BR" altLang="pt-BR" sz="2000" dirty="0">
                <a:effectLst/>
              </a:rPr>
              <a:t>{  </a:t>
            </a:r>
            <a:r>
              <a:rPr lang="pt-BR" altLang="pt-BR" sz="2000" dirty="0" err="1">
                <a:effectLst/>
              </a:rPr>
              <a:t>printf</a:t>
            </a:r>
            <a:r>
              <a:rPr lang="pt-BR" altLang="pt-BR" sz="2000" dirty="0">
                <a:effectLst/>
              </a:rPr>
              <a:t>( "Erro na abertura do arquivo");</a:t>
            </a:r>
          </a:p>
          <a:p>
            <a:pPr marL="93663" indent="263525" algn="l">
              <a:spcBef>
                <a:spcPct val="0"/>
              </a:spcBef>
              <a:spcAft>
                <a:spcPct val="0"/>
              </a:spcAft>
              <a:defRPr/>
            </a:pPr>
            <a:r>
              <a:rPr lang="pt-BR" altLang="pt-BR" sz="2000" dirty="0">
                <a:effectLst/>
              </a:rPr>
              <a:t>    </a:t>
            </a:r>
            <a:r>
              <a:rPr lang="pt-BR" altLang="pt-BR" sz="2000" dirty="0" err="1">
                <a:effectLst/>
              </a:rPr>
              <a:t>exit</a:t>
            </a:r>
            <a:r>
              <a:rPr lang="pt-BR" altLang="pt-BR" sz="2000" dirty="0">
                <a:effectLst/>
              </a:rPr>
              <a:t>(0);}</a:t>
            </a:r>
          </a:p>
          <a:p>
            <a:pPr marL="93663" indent="263525" algn="l">
              <a:spcBef>
                <a:spcPct val="0"/>
              </a:spcBef>
              <a:spcAft>
                <a:spcPct val="0"/>
              </a:spcAft>
              <a:defRPr/>
            </a:pPr>
            <a:r>
              <a:rPr lang="pt-BR" altLang="pt-BR" sz="2000" dirty="0" err="1">
                <a:effectLst/>
              </a:rPr>
              <a:t>while</a:t>
            </a:r>
            <a:r>
              <a:rPr lang="pt-BR" altLang="pt-BR" sz="2000" dirty="0">
                <a:effectLst/>
              </a:rPr>
              <a:t>((c = </a:t>
            </a:r>
            <a:r>
              <a:rPr lang="pt-BR" altLang="pt-BR" sz="2000" dirty="0" err="1">
                <a:effectLst/>
              </a:rPr>
              <a:t>getc</a:t>
            </a:r>
            <a:r>
              <a:rPr lang="pt-BR" altLang="pt-BR" sz="2000" dirty="0">
                <a:effectLst/>
              </a:rPr>
              <a:t>(</a:t>
            </a:r>
            <a:r>
              <a:rPr lang="pt-BR" altLang="pt-BR" sz="2000" dirty="0" err="1">
                <a:effectLst/>
              </a:rPr>
              <a:t>fp</a:t>
            </a:r>
            <a:r>
              <a:rPr lang="pt-BR" altLang="pt-BR" sz="2000" dirty="0">
                <a:effectLst/>
              </a:rPr>
              <a:t>) ) != EOF) </a:t>
            </a:r>
            <a:r>
              <a:rPr lang="pt-BR" altLang="pt-BR" dirty="0">
                <a:effectLst/>
              </a:rPr>
              <a:t>/*Enquanto não chegar ao final do arquivo</a:t>
            </a:r>
          </a:p>
          <a:p>
            <a:pPr marL="93663" indent="263525" algn="l">
              <a:spcBef>
                <a:spcPct val="0"/>
              </a:spcBef>
              <a:spcAft>
                <a:spcPct val="0"/>
              </a:spcAft>
              <a:defRPr/>
            </a:pPr>
            <a:r>
              <a:rPr lang="pt-BR" altLang="pt-BR" sz="2000" dirty="0">
                <a:effectLst/>
              </a:rPr>
              <a:t>    </a:t>
            </a:r>
            <a:r>
              <a:rPr lang="pt-BR" altLang="pt-BR" sz="2000" dirty="0" err="1">
                <a:effectLst/>
              </a:rPr>
              <a:t>printf</a:t>
            </a:r>
            <a:r>
              <a:rPr lang="pt-BR" altLang="pt-BR" sz="2000" dirty="0">
                <a:effectLst/>
              </a:rPr>
              <a:t>("%c", c);                 /* imprime o </a:t>
            </a:r>
            <a:r>
              <a:rPr lang="pt-BR" altLang="pt-BR" sz="2000" dirty="0" err="1">
                <a:effectLst/>
              </a:rPr>
              <a:t>caracter</a:t>
            </a:r>
            <a:r>
              <a:rPr lang="pt-BR" altLang="pt-BR" sz="2000" dirty="0">
                <a:effectLst/>
              </a:rPr>
              <a:t> lido */</a:t>
            </a:r>
          </a:p>
          <a:p>
            <a:pPr marL="93663" indent="263525" algn="l">
              <a:spcBef>
                <a:spcPct val="0"/>
              </a:spcBef>
              <a:spcAft>
                <a:spcPct val="0"/>
              </a:spcAft>
              <a:defRPr/>
            </a:pPr>
            <a:r>
              <a:rPr lang="pt-BR" altLang="pt-BR" sz="2000" dirty="0" err="1">
                <a:effectLst/>
              </a:rPr>
              <a:t>fclose</a:t>
            </a:r>
            <a:r>
              <a:rPr lang="pt-BR" altLang="pt-BR" sz="2000" dirty="0">
                <a:effectLst/>
              </a:rPr>
              <a:t>(</a:t>
            </a:r>
            <a:r>
              <a:rPr lang="pt-BR" altLang="pt-BR" sz="2000" dirty="0" err="1">
                <a:effectLst/>
              </a:rPr>
              <a:t>fp</a:t>
            </a:r>
            <a:r>
              <a:rPr lang="pt-BR" altLang="pt-BR" sz="2000" dirty="0">
                <a:effectLst/>
              </a:rPr>
              <a:t>);</a:t>
            </a:r>
          </a:p>
          <a:p>
            <a:pPr marL="93663" indent="263525" algn="l">
              <a:spcBef>
                <a:spcPct val="0"/>
              </a:spcBef>
              <a:spcAft>
                <a:spcPct val="0"/>
              </a:spcAft>
              <a:defRPr/>
            </a:pPr>
            <a:r>
              <a:rPr lang="pt-BR" altLang="pt-BR" sz="2000" dirty="0" err="1">
                <a:effectLst/>
              </a:rPr>
              <a:t>return</a:t>
            </a:r>
            <a:r>
              <a:rPr lang="pt-BR" altLang="pt-BR" sz="2000" dirty="0">
                <a:effectLst/>
              </a:rPr>
              <a:t> 0;}</a:t>
            </a:r>
          </a:p>
          <a:p>
            <a:pPr marL="93663" indent="263525" algn="l">
              <a:spcBef>
                <a:spcPct val="0"/>
              </a:spcBef>
              <a:spcAft>
                <a:spcPct val="0"/>
              </a:spcAft>
              <a:defRPr/>
            </a:pPr>
            <a:endParaRPr lang="pt-BR" altLang="pt-BR" sz="2000" dirty="0"/>
          </a:p>
        </p:txBody>
      </p:sp>
      <p:sp>
        <p:nvSpPr>
          <p:cNvPr id="36869" name="Rectangle 4">
            <a:extLst>
              <a:ext uri="{FF2B5EF4-FFF2-40B4-BE49-F238E27FC236}">
                <a16:creationId xmlns:a16="http://schemas.microsoft.com/office/drawing/2014/main" id="{BD54DCB0-C86A-99E8-E2D3-E75A19260A44}"/>
              </a:ext>
            </a:extLst>
          </p:cNvPr>
          <p:cNvSpPr>
            <a:spLocks noChangeArrowheads="1"/>
          </p:cNvSpPr>
          <p:nvPr/>
        </p:nvSpPr>
        <p:spPr bwMode="auto">
          <a:xfrm>
            <a:off x="4510088" y="5876926"/>
            <a:ext cx="3137847"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a:solidFill>
                  <a:schemeClr val="tx1"/>
                </a:solidFill>
              </a:rPr>
              <a:t>entrada e saida arquivo4.cpp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6">
            <a:extLst>
              <a:ext uri="{FF2B5EF4-FFF2-40B4-BE49-F238E27FC236}">
                <a16:creationId xmlns:a16="http://schemas.microsoft.com/office/drawing/2014/main" id="{68F8A28E-88A9-749E-1757-029CA16C369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BF4B513C-F28D-4E8C-AE0A-365855B15835}" type="slidenum">
              <a:rPr lang="pt-BR" altLang="pt-BR" smtClean="0">
                <a:solidFill>
                  <a:srgbClr val="000000"/>
                </a:solidFill>
                <a:latin typeface="Arial" panose="020B0604020202020204" pitchFamily="34" charset="0"/>
              </a:rPr>
              <a:pPr>
                <a:defRPr/>
              </a:pPr>
              <a:t>18</a:t>
            </a:fld>
            <a:endParaRPr lang="pt-BR" altLang="pt-BR">
              <a:solidFill>
                <a:srgbClr val="000000"/>
              </a:solidFill>
              <a:latin typeface="Arial" panose="020B0604020202020204" pitchFamily="34" charset="0"/>
            </a:endParaRPr>
          </a:p>
        </p:txBody>
      </p:sp>
      <p:sp>
        <p:nvSpPr>
          <p:cNvPr id="38915" name="Rectangle 2">
            <a:extLst>
              <a:ext uri="{FF2B5EF4-FFF2-40B4-BE49-F238E27FC236}">
                <a16:creationId xmlns:a16="http://schemas.microsoft.com/office/drawing/2014/main" id="{C9224A93-6509-F5A4-8667-EC718344BE89}"/>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1186819" name="Rectangle 3">
            <a:extLst>
              <a:ext uri="{FF2B5EF4-FFF2-40B4-BE49-F238E27FC236}">
                <a16:creationId xmlns:a16="http://schemas.microsoft.com/office/drawing/2014/main" id="{B0574211-6734-BF9A-4A33-B3D7479D3AF8}"/>
              </a:ext>
            </a:extLst>
          </p:cNvPr>
          <p:cNvSpPr>
            <a:spLocks noGrp="1" noChangeArrowheads="1"/>
          </p:cNvSpPr>
          <p:nvPr>
            <p:ph type="body" sz="half" idx="1"/>
          </p:nvPr>
        </p:nvSpPr>
        <p:spPr>
          <a:xfrm>
            <a:off x="695400" y="1484314"/>
            <a:ext cx="11377263" cy="4968875"/>
          </a:xfrm>
        </p:spPr>
        <p:txBody>
          <a:bodyPr/>
          <a:lstStyle/>
          <a:p>
            <a:pPr marL="93663" indent="263525" algn="just">
              <a:buFont typeface="Wingdings" panose="05000000000000000000" pitchFamily="2" charset="2"/>
              <a:buChar char="n"/>
              <a:defRPr/>
            </a:pPr>
            <a:r>
              <a:rPr lang="pt-BR" altLang="pt-BR" sz="2000" dirty="0">
                <a:effectLst/>
              </a:rPr>
              <a:t>A seguir é apresentado um programa onde várias operações com arquivos são realizadas, usando as funções vistas. </a:t>
            </a:r>
          </a:p>
          <a:p>
            <a:pPr marL="93663" indent="263525" algn="just">
              <a:buFont typeface="Wingdings" panose="05000000000000000000" pitchFamily="2" charset="2"/>
              <a:buChar char="n"/>
              <a:defRPr/>
            </a:pPr>
            <a:r>
              <a:rPr lang="pt-BR" altLang="pt-BR" sz="2000" dirty="0">
                <a:effectLst/>
              </a:rPr>
              <a:t>Primeiro o arquivo é aberto para a escrita, e imprime-se algo nele. Em seguida, o arquivo é fechado e novamente aberto para a leitura. </a:t>
            </a:r>
          </a:p>
          <a:p>
            <a:pPr marL="93663" indent="263525" algn="just">
              <a:buFont typeface="Wingdings" panose="05000000000000000000" pitchFamily="2" charset="2"/>
              <a:buChar char="n"/>
              <a:defRPr/>
            </a:pPr>
            <a:r>
              <a:rPr lang="en-US" altLang="pt-BR" sz="2000" dirty="0" err="1">
                <a:effectLst/>
              </a:rPr>
              <a:t>Verifique</a:t>
            </a:r>
            <a:r>
              <a:rPr lang="en-US" altLang="pt-BR" sz="2000" dirty="0">
                <a:effectLst/>
              </a:rPr>
              <a:t> o </a:t>
            </a:r>
            <a:r>
              <a:rPr lang="en-US" altLang="pt-BR" sz="2000" dirty="0" err="1">
                <a:effectLst/>
              </a:rPr>
              <a:t>progama</a:t>
            </a:r>
            <a:r>
              <a:rPr lang="en-US" altLang="pt-BR" sz="2000" dirty="0">
                <a:effectLst/>
              </a:rPr>
              <a:t> “</a:t>
            </a:r>
            <a:r>
              <a:rPr lang="pt-BR" altLang="pt-BR" sz="2000" b="1" dirty="0">
                <a:effectLst/>
              </a:rPr>
              <a:t>entrada e </a:t>
            </a:r>
            <a:r>
              <a:rPr lang="pt-BR" altLang="pt-BR" sz="2000" b="1" dirty="0" err="1">
                <a:effectLst/>
              </a:rPr>
              <a:t>saida</a:t>
            </a:r>
            <a:r>
              <a:rPr lang="pt-BR" altLang="pt-BR" sz="2000" b="1" dirty="0">
                <a:effectLst/>
              </a:rPr>
              <a:t> arquivo5.cpp</a:t>
            </a:r>
            <a:r>
              <a:rPr lang="pt-BR" altLang="pt-BR" sz="2000" dirty="0"/>
              <a:t>”</a:t>
            </a:r>
          </a:p>
          <a:p>
            <a:pPr marL="93663" indent="263525" algn="just">
              <a:buFont typeface="Wingdings" panose="05000000000000000000" pitchFamily="2" charset="2"/>
              <a:buChar char="n"/>
              <a:defRPr/>
            </a:pPr>
            <a:r>
              <a:rPr lang="pt-BR" altLang="pt-BR" sz="2000" dirty="0" err="1">
                <a:effectLst/>
              </a:rPr>
              <a:t>Obs</a:t>
            </a:r>
            <a:r>
              <a:rPr lang="pt-BR" altLang="pt-BR" sz="2000" dirty="0">
                <a:effectLst/>
              </a:rPr>
              <a:t>: função </a:t>
            </a:r>
            <a:r>
              <a:rPr lang="pt-BR" altLang="pt-BR" sz="2000" dirty="0" err="1">
                <a:effectLst/>
              </a:rPr>
              <a:t>strcat</a:t>
            </a:r>
            <a:r>
              <a:rPr lang="pt-BR" altLang="pt-BR" sz="2000" dirty="0">
                <a:effectLst/>
              </a:rPr>
              <a:t>:</a:t>
            </a:r>
          </a:p>
          <a:p>
            <a:pPr marL="93663" indent="263525" algn="just">
              <a:defRPr/>
            </a:pPr>
            <a:r>
              <a:rPr lang="pt-BR" altLang="pt-BR" sz="2000" dirty="0">
                <a:effectLst/>
              </a:rPr>
              <a:t>A função </a:t>
            </a:r>
            <a:r>
              <a:rPr lang="pt-BR" altLang="pt-BR" sz="2000" b="1" dirty="0" err="1">
                <a:effectLst/>
              </a:rPr>
              <a:t>strcat</a:t>
            </a:r>
            <a:r>
              <a:rPr lang="pt-BR" altLang="pt-BR" sz="2000" b="1" dirty="0">
                <a:effectLst/>
              </a:rPr>
              <a:t>() </a:t>
            </a:r>
            <a:r>
              <a:rPr lang="pt-BR" altLang="pt-BR" sz="2000" dirty="0">
                <a:effectLst/>
              </a:rPr>
              <a:t>tem a seguinte forma geral: </a:t>
            </a:r>
            <a:r>
              <a:rPr lang="pt-BR" altLang="pt-BR" sz="2000" i="1" dirty="0" err="1">
                <a:effectLst/>
              </a:rPr>
              <a:t>strcat</a:t>
            </a:r>
            <a:r>
              <a:rPr lang="pt-BR" altLang="pt-BR" sz="2000" i="1" dirty="0">
                <a:effectLst/>
              </a:rPr>
              <a:t> (</a:t>
            </a:r>
            <a:r>
              <a:rPr lang="pt-BR" altLang="pt-BR" sz="2000" i="1" dirty="0" err="1">
                <a:effectLst/>
              </a:rPr>
              <a:t>string_destino,string_origem</a:t>
            </a:r>
            <a:r>
              <a:rPr lang="pt-BR" altLang="pt-BR" sz="2000" i="1" dirty="0">
                <a:effectLst/>
              </a:rPr>
              <a:t>);</a:t>
            </a:r>
          </a:p>
          <a:p>
            <a:pPr marL="93663" indent="263525" algn="just">
              <a:defRPr/>
            </a:pPr>
            <a:r>
              <a:rPr lang="pt-BR" altLang="pt-BR" sz="2000" dirty="0">
                <a:effectLst/>
              </a:rPr>
              <a:t>A </a:t>
            </a:r>
            <a:r>
              <a:rPr lang="pt-BR" altLang="pt-BR" sz="2000" dirty="0" err="1">
                <a:effectLst/>
              </a:rPr>
              <a:t>string</a:t>
            </a:r>
            <a:r>
              <a:rPr lang="pt-BR" altLang="pt-BR" sz="2000" dirty="0">
                <a:effectLst/>
              </a:rPr>
              <a:t> de origem permanecerá inalterada e será anexada ao fim da </a:t>
            </a:r>
            <a:r>
              <a:rPr lang="pt-BR" altLang="pt-BR" sz="2000" dirty="0" err="1">
                <a:effectLst/>
              </a:rPr>
              <a:t>string</a:t>
            </a:r>
            <a:r>
              <a:rPr lang="pt-BR" altLang="pt-BR" sz="2000" dirty="0">
                <a:effectLst/>
              </a:rPr>
              <a:t> de destino. </a:t>
            </a:r>
          </a:p>
        </p:txBody>
      </p:sp>
      <p:sp>
        <p:nvSpPr>
          <p:cNvPr id="38917" name="Rectangle 4">
            <a:extLst>
              <a:ext uri="{FF2B5EF4-FFF2-40B4-BE49-F238E27FC236}">
                <a16:creationId xmlns:a16="http://schemas.microsoft.com/office/drawing/2014/main" id="{25CEDC27-FDAF-2DB0-44A2-F2ACFC0A5BEB}"/>
              </a:ext>
            </a:extLst>
          </p:cNvPr>
          <p:cNvSpPr>
            <a:spLocks noChangeArrowheads="1"/>
          </p:cNvSpPr>
          <p:nvPr/>
        </p:nvSpPr>
        <p:spPr bwMode="auto">
          <a:xfrm>
            <a:off x="4556126" y="5797551"/>
            <a:ext cx="3141663"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spcBef>
                <a:spcPct val="0"/>
              </a:spcBef>
              <a:spcAft>
                <a:spcPct val="0"/>
              </a:spcAft>
              <a:buClrTx/>
              <a:buSzTx/>
              <a:buFontTx/>
              <a:buNone/>
            </a:pPr>
            <a:r>
              <a:rPr lang="pt-BR" altLang="pt-BR">
                <a:solidFill>
                  <a:schemeClr val="tx1"/>
                </a:solidFill>
              </a:rPr>
              <a:t>entrada e saida arquivo5.cpp</a:t>
            </a:r>
          </a:p>
          <a:p>
            <a:pPr>
              <a:spcBef>
                <a:spcPct val="0"/>
              </a:spcBef>
              <a:spcAft>
                <a:spcPct val="0"/>
              </a:spcAft>
              <a:buClrTx/>
              <a:buSzTx/>
              <a:buFontTx/>
              <a:buNone/>
            </a:pPr>
            <a:r>
              <a:rPr lang="pt-BR" altLang="pt-BR">
                <a:solidFill>
                  <a:schemeClr val="tx1"/>
                </a:solidFill>
              </a:rPr>
              <a:t>Strcat.cpp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6">
            <a:extLst>
              <a:ext uri="{FF2B5EF4-FFF2-40B4-BE49-F238E27FC236}">
                <a16:creationId xmlns:a16="http://schemas.microsoft.com/office/drawing/2014/main" id="{2D747F29-23EB-EBE9-4488-BCED110E742E}"/>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26A8E32D-FDD8-4A45-A03D-481D8FF90766}" type="slidenum">
              <a:rPr lang="pt-BR" altLang="pt-BR" smtClean="0">
                <a:solidFill>
                  <a:srgbClr val="000000"/>
                </a:solidFill>
                <a:latin typeface="Arial" panose="020B0604020202020204" pitchFamily="34" charset="0"/>
              </a:rPr>
              <a:pPr>
                <a:defRPr/>
              </a:pPr>
              <a:t>19</a:t>
            </a:fld>
            <a:endParaRPr lang="pt-BR" altLang="pt-BR">
              <a:solidFill>
                <a:srgbClr val="000000"/>
              </a:solidFill>
              <a:latin typeface="Arial" panose="020B0604020202020204" pitchFamily="34" charset="0"/>
            </a:endParaRPr>
          </a:p>
        </p:txBody>
      </p:sp>
      <p:sp>
        <p:nvSpPr>
          <p:cNvPr id="40963" name="Rectangle 2">
            <a:extLst>
              <a:ext uri="{FF2B5EF4-FFF2-40B4-BE49-F238E27FC236}">
                <a16:creationId xmlns:a16="http://schemas.microsoft.com/office/drawing/2014/main" id="{5627CF25-C1A1-3201-B500-32CBB87F654B}"/>
              </a:ext>
            </a:extLst>
          </p:cNvPr>
          <p:cNvSpPr>
            <a:spLocks noGrp="1" noChangeArrowheads="1"/>
          </p:cNvSpPr>
          <p:nvPr>
            <p:ph type="title"/>
          </p:nvPr>
        </p:nvSpPr>
        <p:spPr/>
        <p:txBody>
          <a:bodyPr/>
          <a:lstStyle/>
          <a:p>
            <a:r>
              <a:rPr lang="pt-BR" altLang="pt-BR" dirty="0">
                <a:effectLst/>
              </a:rPr>
              <a:t> 4.1 -</a:t>
            </a:r>
            <a:r>
              <a:rPr lang="en-US" altLang="pt-BR" dirty="0" err="1">
                <a:effectLst/>
              </a:rPr>
              <a:t>Funções</a:t>
            </a:r>
            <a:r>
              <a:rPr lang="en-US" altLang="pt-BR" dirty="0">
                <a:effectLst/>
              </a:rPr>
              <a:t> para </a:t>
            </a:r>
            <a:r>
              <a:rPr lang="en-US" altLang="pt-BR" dirty="0" err="1">
                <a:effectLst/>
              </a:rPr>
              <a:t>leitura</a:t>
            </a:r>
            <a:r>
              <a:rPr lang="en-US" altLang="pt-BR" dirty="0">
                <a:effectLst/>
              </a:rPr>
              <a:t> e </a:t>
            </a:r>
            <a:r>
              <a:rPr lang="en-US" altLang="pt-BR" dirty="0" err="1">
                <a:effectLst/>
              </a:rPr>
              <a:t>gravação</a:t>
            </a:r>
            <a:r>
              <a:rPr lang="en-US" altLang="pt-BR" dirty="0">
                <a:effectLst/>
              </a:rPr>
              <a:t> de </a:t>
            </a:r>
            <a:r>
              <a:rPr lang="en-US" altLang="pt-BR" dirty="0" err="1">
                <a:effectLst/>
              </a:rPr>
              <a:t>arquivos</a:t>
            </a:r>
            <a:r>
              <a:rPr lang="en-US" altLang="pt-BR" dirty="0">
                <a:effectLst/>
              </a:rPr>
              <a:t> da </a:t>
            </a:r>
            <a:r>
              <a:rPr lang="en-US" altLang="pt-BR" dirty="0" err="1">
                <a:effectLst/>
              </a:rPr>
              <a:t>biblioteca</a:t>
            </a:r>
            <a:r>
              <a:rPr lang="en-US" altLang="pt-BR" dirty="0">
                <a:effectLst/>
              </a:rPr>
              <a:t> da </a:t>
            </a:r>
            <a:r>
              <a:rPr lang="en-US" altLang="pt-BR" dirty="0" err="1">
                <a:effectLst/>
              </a:rPr>
              <a:t>linguagem</a:t>
            </a:r>
            <a:r>
              <a:rPr lang="en-US" altLang="pt-BR" dirty="0">
                <a:effectLst/>
              </a:rPr>
              <a:t> C</a:t>
            </a:r>
            <a:endParaRPr lang="pt-BR" altLang="pt-BR" dirty="0">
              <a:effectLst/>
            </a:endParaRPr>
          </a:p>
        </p:txBody>
      </p:sp>
      <p:sp>
        <p:nvSpPr>
          <p:cNvPr id="40964" name="Rectangle 3">
            <a:extLst>
              <a:ext uri="{FF2B5EF4-FFF2-40B4-BE49-F238E27FC236}">
                <a16:creationId xmlns:a16="http://schemas.microsoft.com/office/drawing/2014/main" id="{6E9C49CA-08B5-31BE-F9C5-961EC3A4DF01}"/>
              </a:ext>
            </a:extLst>
          </p:cNvPr>
          <p:cNvSpPr>
            <a:spLocks noGrp="1" noChangeArrowheads="1"/>
          </p:cNvSpPr>
          <p:nvPr>
            <p:ph type="body" sz="half" idx="1"/>
          </p:nvPr>
        </p:nvSpPr>
        <p:spPr>
          <a:xfrm>
            <a:off x="609600" y="1484313"/>
            <a:ext cx="11103023" cy="4114800"/>
          </a:xfrm>
        </p:spPr>
        <p:txBody>
          <a:bodyPr/>
          <a:lstStyle/>
          <a:p>
            <a:pPr marL="93663" indent="263525" algn="l"/>
            <a:r>
              <a:rPr lang="pt-BR" altLang="pt-BR" sz="2000" b="1" dirty="0">
                <a:effectLst/>
              </a:rPr>
              <a:t>Arquivos pré-definidos</a:t>
            </a:r>
          </a:p>
          <a:p>
            <a:pPr marL="93663" indent="263525" algn="l">
              <a:buFont typeface="Wingdings" panose="05000000000000000000" pitchFamily="2" charset="2"/>
              <a:buChar char="n"/>
            </a:pPr>
            <a:r>
              <a:rPr lang="pt-BR" altLang="pt-BR" sz="2000" dirty="0">
                <a:effectLst/>
              </a:rPr>
              <a:t>Quando se começa a execução de um programa, o sistema automaticamente abre alguns arquivos pré-definidos: </a:t>
            </a:r>
          </a:p>
          <a:p>
            <a:pPr marL="93663" indent="263525" algn="l"/>
            <a:r>
              <a:rPr lang="pt-BR" altLang="pt-BR" sz="2000" b="1" dirty="0" err="1">
                <a:effectLst/>
              </a:rPr>
              <a:t>stdin</a:t>
            </a:r>
            <a:r>
              <a:rPr lang="pt-BR" altLang="pt-BR" sz="2000" b="1" dirty="0">
                <a:effectLst/>
              </a:rPr>
              <a:t>: </a:t>
            </a:r>
            <a:r>
              <a:rPr lang="pt-BR" altLang="pt-BR" sz="2000" dirty="0">
                <a:effectLst/>
              </a:rPr>
              <a:t>dispositivo de entrada padrão (geralmente o teclado) </a:t>
            </a:r>
          </a:p>
          <a:p>
            <a:pPr marL="93663" indent="263525" algn="l"/>
            <a:r>
              <a:rPr lang="pt-BR" altLang="pt-BR" sz="2000" b="1" dirty="0" err="1">
                <a:effectLst/>
              </a:rPr>
              <a:t>stdout</a:t>
            </a:r>
            <a:r>
              <a:rPr lang="pt-BR" altLang="pt-BR" sz="2000" b="1" dirty="0">
                <a:effectLst/>
              </a:rPr>
              <a:t>: </a:t>
            </a:r>
            <a:r>
              <a:rPr lang="pt-BR" altLang="pt-BR" sz="2000" dirty="0">
                <a:effectLst/>
              </a:rPr>
              <a:t>dispositivo de saída padrão (geralmente o vídeo) </a:t>
            </a:r>
          </a:p>
          <a:p>
            <a:pPr marL="93663" indent="263525" algn="l"/>
            <a:r>
              <a:rPr lang="pt-BR" altLang="pt-BR" sz="2000" b="1" dirty="0" err="1">
                <a:effectLst/>
              </a:rPr>
              <a:t>stderr</a:t>
            </a:r>
            <a:r>
              <a:rPr lang="pt-BR" altLang="pt-BR" sz="2000" b="1" dirty="0">
                <a:effectLst/>
              </a:rPr>
              <a:t>:</a:t>
            </a:r>
            <a:r>
              <a:rPr lang="pt-BR" altLang="pt-BR" sz="2000" dirty="0">
                <a:effectLst/>
              </a:rPr>
              <a:t> dispositivo de saída de erro padrão (geralmente o vídeo) </a:t>
            </a:r>
          </a:p>
          <a:p>
            <a:pPr marL="93663" indent="263525" algn="l"/>
            <a:r>
              <a:rPr lang="pt-BR" altLang="pt-BR" sz="2000" b="1" dirty="0" err="1">
                <a:effectLst/>
              </a:rPr>
              <a:t>stdaux</a:t>
            </a:r>
            <a:r>
              <a:rPr lang="pt-BR" altLang="pt-BR" sz="2000" b="1" dirty="0">
                <a:effectLst/>
              </a:rPr>
              <a:t>:</a:t>
            </a:r>
            <a:r>
              <a:rPr lang="pt-BR" altLang="pt-BR" sz="2000" dirty="0">
                <a:effectLst/>
              </a:rPr>
              <a:t> dispositivo de saída auxiliar (em muitos sistemas, associado à porta serial) </a:t>
            </a:r>
          </a:p>
          <a:p>
            <a:pPr marL="93663" indent="263525" algn="l"/>
            <a:r>
              <a:rPr lang="pt-BR" altLang="pt-BR" sz="2000" b="1" dirty="0" err="1">
                <a:effectLst/>
              </a:rPr>
              <a:t>stdprn</a:t>
            </a:r>
            <a:r>
              <a:rPr lang="pt-BR" altLang="pt-BR" sz="2000" b="1" dirty="0">
                <a:effectLst/>
              </a:rPr>
              <a:t> : </a:t>
            </a:r>
            <a:r>
              <a:rPr lang="pt-BR" altLang="pt-BR" sz="2000" dirty="0">
                <a:effectLst/>
              </a:rPr>
              <a:t>dispositivo de impressão padrão (em muitos sistemas, associado à porta paralela) </a:t>
            </a:r>
          </a:p>
        </p:txBody>
      </p:sp>
      <p:sp>
        <p:nvSpPr>
          <p:cNvPr id="40965" name="Rectangle 4">
            <a:extLst>
              <a:ext uri="{FF2B5EF4-FFF2-40B4-BE49-F238E27FC236}">
                <a16:creationId xmlns:a16="http://schemas.microsoft.com/office/drawing/2014/main" id="{63AEA5E5-1BA2-EE48-50D7-1269C5F476E9}"/>
              </a:ext>
            </a:extLst>
          </p:cNvPr>
          <p:cNvSpPr>
            <a:spLocks noChangeArrowheads="1"/>
          </p:cNvSpPr>
          <p:nvPr/>
        </p:nvSpPr>
        <p:spPr bwMode="auto">
          <a:xfrm>
            <a:off x="1811338" y="5956300"/>
            <a:ext cx="8532812"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just"/>
            <a:r>
              <a:rPr lang="pt-BR" altLang="pt-BR">
                <a:solidFill>
                  <a:schemeClr val="tx1"/>
                </a:solidFill>
              </a:rPr>
              <a:t>Cada uma destas constantes pode ser utilizada como um ponteiro para FILE, para acessar os periféricos associados a eles.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B45DDB41-757F-2202-6914-61D4FE9AB9C6}"/>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EE40AB63-14EB-46E0-A7EE-DA620EAFF321}" type="slidenum">
              <a:rPr lang="pt-BR" altLang="pt-BR" smtClean="0">
                <a:solidFill>
                  <a:srgbClr val="000000"/>
                </a:solidFill>
                <a:latin typeface="Arial" panose="020B0604020202020204" pitchFamily="34" charset="0"/>
              </a:rPr>
              <a:pPr>
                <a:defRPr/>
              </a:pPr>
              <a:t>20</a:t>
            </a:fld>
            <a:endParaRPr lang="pt-BR" altLang="pt-BR">
              <a:solidFill>
                <a:srgbClr val="000000"/>
              </a:solidFill>
              <a:latin typeface="Arial" panose="020B0604020202020204" pitchFamily="34" charset="0"/>
            </a:endParaRPr>
          </a:p>
        </p:txBody>
      </p:sp>
      <p:sp>
        <p:nvSpPr>
          <p:cNvPr id="1217538" name="Rectangle 2">
            <a:extLst>
              <a:ext uri="{FF2B5EF4-FFF2-40B4-BE49-F238E27FC236}">
                <a16:creationId xmlns:a16="http://schemas.microsoft.com/office/drawing/2014/main" id="{76D9215E-209B-BC7D-2971-66054EF7EBCD}"/>
              </a:ext>
            </a:extLst>
          </p:cNvPr>
          <p:cNvSpPr>
            <a:spLocks noGrp="1" noChangeArrowheads="1"/>
          </p:cNvSpPr>
          <p:nvPr>
            <p:ph type="title"/>
          </p:nvPr>
        </p:nvSpPr>
        <p:spPr/>
        <p:txBody>
          <a:bodyPr/>
          <a:lstStyle/>
          <a:p>
            <a:pPr>
              <a:defRPr/>
            </a:pPr>
            <a:r>
              <a:rPr lang="pt-BR" altLang="pt-BR"/>
              <a:t>Exercícios</a:t>
            </a:r>
          </a:p>
        </p:txBody>
      </p:sp>
      <p:sp>
        <p:nvSpPr>
          <p:cNvPr id="1217539" name="Rectangle 3">
            <a:extLst>
              <a:ext uri="{FF2B5EF4-FFF2-40B4-BE49-F238E27FC236}">
                <a16:creationId xmlns:a16="http://schemas.microsoft.com/office/drawing/2014/main" id="{F34DC7BC-FD22-DA3D-5B14-5B03239B202F}"/>
              </a:ext>
            </a:extLst>
          </p:cNvPr>
          <p:cNvSpPr>
            <a:spLocks noGrp="1" noChangeArrowheads="1"/>
          </p:cNvSpPr>
          <p:nvPr>
            <p:ph type="body" idx="1"/>
          </p:nvPr>
        </p:nvSpPr>
        <p:spPr>
          <a:xfrm>
            <a:off x="2008982" y="1811673"/>
            <a:ext cx="8229600" cy="4608512"/>
          </a:xfrm>
        </p:spPr>
        <p:txBody>
          <a:bodyPr/>
          <a:lstStyle/>
          <a:p>
            <a:pPr algn="l">
              <a:spcBef>
                <a:spcPct val="0"/>
              </a:spcBef>
              <a:spcAft>
                <a:spcPct val="0"/>
              </a:spcAft>
              <a:defRPr/>
            </a:pPr>
            <a:r>
              <a:rPr lang="pt-BR" altLang="pt-BR" dirty="0" err="1"/>
              <a:t>int</a:t>
            </a:r>
            <a:r>
              <a:rPr lang="pt-BR" altLang="pt-BR" dirty="0"/>
              <a:t> </a:t>
            </a:r>
            <a:r>
              <a:rPr lang="pt-BR" altLang="pt-BR" dirty="0" err="1"/>
              <a:t>main</a:t>
            </a:r>
            <a:r>
              <a:rPr lang="pt-BR" altLang="pt-BR" dirty="0"/>
              <a:t> ()</a:t>
            </a:r>
          </a:p>
          <a:p>
            <a:pPr algn="l">
              <a:spcBef>
                <a:spcPct val="0"/>
              </a:spcBef>
              <a:spcAft>
                <a:spcPct val="0"/>
              </a:spcAft>
              <a:defRPr/>
            </a:pPr>
            <a:r>
              <a:rPr lang="pt-BR" altLang="pt-BR" dirty="0"/>
              <a:t>{</a:t>
            </a:r>
          </a:p>
          <a:p>
            <a:pPr algn="l">
              <a:spcBef>
                <a:spcPct val="0"/>
              </a:spcBef>
              <a:spcAft>
                <a:spcPct val="0"/>
              </a:spcAft>
              <a:defRPr/>
            </a:pPr>
            <a:r>
              <a:rPr lang="pt-BR" altLang="pt-BR" dirty="0" err="1"/>
              <a:t>int</a:t>
            </a:r>
            <a:r>
              <a:rPr lang="pt-BR" altLang="pt-BR" dirty="0"/>
              <a:t> i=1;//inicialização de variável</a:t>
            </a:r>
          </a:p>
          <a:p>
            <a:pPr algn="l">
              <a:spcBef>
                <a:spcPct val="0"/>
              </a:spcBef>
              <a:spcAft>
                <a:spcPct val="0"/>
              </a:spcAft>
              <a:defRPr/>
            </a:pPr>
            <a:r>
              <a:rPr lang="pt-BR" altLang="pt-BR" dirty="0" err="1"/>
              <a:t>float</a:t>
            </a:r>
            <a:r>
              <a:rPr lang="pt-BR" altLang="pt-BR" dirty="0"/>
              <a:t> x;</a:t>
            </a:r>
          </a:p>
          <a:p>
            <a:pPr algn="l">
              <a:spcBef>
                <a:spcPct val="0"/>
              </a:spcBef>
              <a:spcAft>
                <a:spcPct val="0"/>
              </a:spcAft>
              <a:defRPr/>
            </a:pPr>
            <a:r>
              <a:rPr lang="pt-BR" altLang="pt-BR" dirty="0"/>
              <a:t>do</a:t>
            </a:r>
          </a:p>
          <a:p>
            <a:pPr algn="l">
              <a:spcBef>
                <a:spcPct val="0"/>
              </a:spcBef>
              <a:spcAft>
                <a:spcPct val="0"/>
              </a:spcAft>
              <a:defRPr/>
            </a:pPr>
            <a:r>
              <a:rPr lang="pt-BR" altLang="pt-BR" dirty="0"/>
              <a:t>   {</a:t>
            </a:r>
          </a:p>
          <a:p>
            <a:pPr algn="l">
              <a:spcBef>
                <a:spcPct val="0"/>
              </a:spcBef>
              <a:spcAft>
                <a:spcPct val="0"/>
              </a:spcAft>
              <a:defRPr/>
            </a:pPr>
            <a:r>
              <a:rPr lang="pt-BR" altLang="pt-BR" dirty="0"/>
              <a:t>   x=</a:t>
            </a:r>
            <a:r>
              <a:rPr lang="pt-BR" altLang="pt-BR" dirty="0" err="1"/>
              <a:t>sqrt</a:t>
            </a:r>
            <a:r>
              <a:rPr lang="pt-BR" altLang="pt-BR" dirty="0"/>
              <a:t>(i);</a:t>
            </a:r>
          </a:p>
          <a:p>
            <a:pPr algn="l">
              <a:spcBef>
                <a:spcPct val="0"/>
              </a:spcBef>
              <a:spcAft>
                <a:spcPct val="0"/>
              </a:spcAft>
              <a:defRPr/>
            </a:pPr>
            <a:r>
              <a:rPr lang="pt-BR" altLang="pt-BR" dirty="0"/>
              <a:t>   </a:t>
            </a:r>
            <a:r>
              <a:rPr lang="pt-BR" altLang="pt-BR" dirty="0" err="1"/>
              <a:t>printf</a:t>
            </a:r>
            <a:r>
              <a:rPr lang="pt-BR" altLang="pt-BR" dirty="0"/>
              <a:t>("\%</a:t>
            </a:r>
            <a:r>
              <a:rPr lang="pt-BR" altLang="pt-BR" dirty="0" err="1"/>
              <a:t>f",x</a:t>
            </a:r>
            <a:r>
              <a:rPr lang="pt-BR" altLang="pt-BR" dirty="0"/>
              <a:t>);</a:t>
            </a:r>
          </a:p>
          <a:p>
            <a:pPr algn="l">
              <a:spcBef>
                <a:spcPct val="0"/>
              </a:spcBef>
              <a:spcAft>
                <a:spcPct val="0"/>
              </a:spcAft>
              <a:defRPr/>
            </a:pPr>
            <a:r>
              <a:rPr lang="pt-BR" altLang="pt-BR" dirty="0"/>
              <a:t>   i=i+2;</a:t>
            </a:r>
          </a:p>
          <a:p>
            <a:pPr algn="l">
              <a:spcBef>
                <a:spcPct val="0"/>
              </a:spcBef>
              <a:spcAft>
                <a:spcPct val="0"/>
              </a:spcAft>
              <a:defRPr/>
            </a:pPr>
            <a:r>
              <a:rPr lang="pt-BR" altLang="pt-BR" dirty="0"/>
              <a:t>   }</a:t>
            </a:r>
          </a:p>
          <a:p>
            <a:pPr algn="l">
              <a:spcBef>
                <a:spcPct val="0"/>
              </a:spcBef>
              <a:spcAft>
                <a:spcPct val="0"/>
              </a:spcAft>
              <a:defRPr/>
            </a:pPr>
            <a:r>
              <a:rPr lang="pt-BR" altLang="pt-BR" dirty="0" err="1"/>
              <a:t>while</a:t>
            </a:r>
            <a:r>
              <a:rPr lang="pt-BR" altLang="pt-BR" dirty="0"/>
              <a:t> (i&lt;=50);</a:t>
            </a:r>
          </a:p>
          <a:p>
            <a:pPr algn="l">
              <a:spcBef>
                <a:spcPct val="0"/>
              </a:spcBef>
              <a:spcAft>
                <a:spcPct val="0"/>
              </a:spcAft>
              <a:defRPr/>
            </a:pPr>
            <a:r>
              <a:rPr lang="pt-BR" altLang="pt-BR" dirty="0" err="1"/>
              <a:t>printf</a:t>
            </a:r>
            <a:r>
              <a:rPr lang="pt-BR" altLang="pt-BR" dirty="0"/>
              <a:t>("\n");</a:t>
            </a:r>
          </a:p>
          <a:p>
            <a:pPr algn="l">
              <a:spcBef>
                <a:spcPct val="0"/>
              </a:spcBef>
              <a:spcAft>
                <a:spcPct val="0"/>
              </a:spcAft>
              <a:defRPr/>
            </a:pPr>
            <a:r>
              <a:rPr lang="pt-BR" altLang="pt-BR" dirty="0"/>
              <a:t>system("PAUSE");</a:t>
            </a:r>
          </a:p>
          <a:p>
            <a:pPr algn="l">
              <a:spcBef>
                <a:spcPct val="0"/>
              </a:spcBef>
              <a:spcAft>
                <a:spcPct val="0"/>
              </a:spcAft>
              <a:defRPr/>
            </a:pPr>
            <a:r>
              <a:rPr lang="pt-BR" altLang="pt-BR" dirty="0"/>
              <a:t>}</a:t>
            </a:r>
          </a:p>
        </p:txBody>
      </p:sp>
      <p:sp>
        <p:nvSpPr>
          <p:cNvPr id="1217540" name="Rectangle 4">
            <a:extLst>
              <a:ext uri="{FF2B5EF4-FFF2-40B4-BE49-F238E27FC236}">
                <a16:creationId xmlns:a16="http://schemas.microsoft.com/office/drawing/2014/main" id="{E138F985-0029-B3E6-82E9-9F79B2AB2430}"/>
              </a:ext>
            </a:extLst>
          </p:cNvPr>
          <p:cNvSpPr>
            <a:spLocks noChangeArrowheads="1"/>
          </p:cNvSpPr>
          <p:nvPr/>
        </p:nvSpPr>
        <p:spPr bwMode="auto">
          <a:xfrm>
            <a:off x="1914525" y="1484314"/>
            <a:ext cx="7461250" cy="369887"/>
          </a:xfrm>
          <a:prstGeom prst="rect">
            <a:avLst/>
          </a:prstGeom>
          <a:noFill/>
          <a:ln>
            <a:noFill/>
          </a:ln>
          <a:effectLst/>
        </p:spPr>
        <p:txBody>
          <a:bodyPr wrap="none">
            <a:spAutoFit/>
          </a:bodyPr>
          <a:lstStyle/>
          <a:p>
            <a:pPr>
              <a:defRPr/>
            </a:pPr>
            <a:r>
              <a:rPr lang="pt-BR" altLang="pt-BR" dirty="0">
                <a:solidFill>
                  <a:srgbClr val="000000"/>
                </a:solidFill>
                <a:effectLst>
                  <a:outerShdw blurRad="38100" dist="38100" dir="2700000" algn="tl">
                    <a:srgbClr val="C0C0C0"/>
                  </a:outerShdw>
                </a:effectLst>
              </a:rPr>
              <a:t>1- Modifique o programa abaixo para imprimir os dados em um arquivo</a:t>
            </a:r>
          </a:p>
        </p:txBody>
      </p:sp>
      <p:sp>
        <p:nvSpPr>
          <p:cNvPr id="43014" name="Text Box 5">
            <a:extLst>
              <a:ext uri="{FF2B5EF4-FFF2-40B4-BE49-F238E27FC236}">
                <a16:creationId xmlns:a16="http://schemas.microsoft.com/office/drawing/2014/main" id="{8961CA79-C6C4-70AD-04A5-D5369740D960}"/>
              </a:ext>
            </a:extLst>
          </p:cNvPr>
          <p:cNvSpPr txBox="1">
            <a:spLocks noChangeArrowheads="1"/>
          </p:cNvSpPr>
          <p:nvPr/>
        </p:nvSpPr>
        <p:spPr bwMode="auto">
          <a:xfrm>
            <a:off x="1878013" y="6316664"/>
            <a:ext cx="1631950" cy="369887"/>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a:t>Exercicio1.cpp</a:t>
            </a:r>
          </a:p>
        </p:txBody>
      </p:sp>
      <p:sp>
        <p:nvSpPr>
          <p:cNvPr id="43015" name="Retângulo 1">
            <a:extLst>
              <a:ext uri="{FF2B5EF4-FFF2-40B4-BE49-F238E27FC236}">
                <a16:creationId xmlns:a16="http://schemas.microsoft.com/office/drawing/2014/main" id="{0D2A62BA-F568-12F6-3234-DC5F54E29908}"/>
              </a:ext>
            </a:extLst>
          </p:cNvPr>
          <p:cNvSpPr>
            <a:spLocks noChangeArrowheads="1"/>
          </p:cNvSpPr>
          <p:nvPr/>
        </p:nvSpPr>
        <p:spPr bwMode="auto">
          <a:xfrm>
            <a:off x="6240016" y="2923471"/>
            <a:ext cx="56515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dirty="0"/>
              <a:t>	FILE *</a:t>
            </a:r>
            <a:r>
              <a:rPr lang="pt-BR" altLang="pt-BR" dirty="0" err="1"/>
              <a:t>fp</a:t>
            </a:r>
            <a:r>
              <a:rPr lang="pt-BR" altLang="pt-BR" dirty="0"/>
              <a:t>;</a:t>
            </a:r>
          </a:p>
          <a:p>
            <a:pPr algn="l">
              <a:spcBef>
                <a:spcPct val="0"/>
              </a:spcBef>
              <a:spcAft>
                <a:spcPct val="0"/>
              </a:spcAft>
              <a:buClrTx/>
              <a:buSzTx/>
              <a:buFontTx/>
              <a:buNone/>
            </a:pPr>
            <a:r>
              <a:rPr lang="pt-BR" altLang="pt-BR" dirty="0"/>
              <a:t>    </a:t>
            </a:r>
            <a:r>
              <a:rPr lang="pt-BR" altLang="pt-BR" dirty="0" err="1"/>
              <a:t>fp</a:t>
            </a:r>
            <a:r>
              <a:rPr lang="pt-BR" altLang="pt-BR" dirty="0"/>
              <a:t> = </a:t>
            </a:r>
            <a:r>
              <a:rPr lang="pt-BR" altLang="pt-BR" dirty="0" err="1"/>
              <a:t>fopen</a:t>
            </a:r>
            <a:r>
              <a:rPr lang="pt-BR" altLang="pt-BR" dirty="0"/>
              <a:t>("vetor.</a:t>
            </a:r>
            <a:r>
              <a:rPr lang="pt-BR" altLang="pt-BR" dirty="0" err="1"/>
              <a:t>txt</a:t>
            </a:r>
            <a:r>
              <a:rPr lang="pt-BR" altLang="pt-BR" dirty="0"/>
              <a:t>","w");</a:t>
            </a:r>
          </a:p>
          <a:p>
            <a:pPr algn="l">
              <a:spcBef>
                <a:spcPct val="0"/>
              </a:spcBef>
              <a:spcAft>
                <a:spcPct val="0"/>
              </a:spcAft>
              <a:buClrTx/>
              <a:buSzTx/>
              <a:buFontTx/>
              <a:buNone/>
            </a:pPr>
            <a:r>
              <a:rPr lang="pt-BR" altLang="pt-BR" dirty="0"/>
              <a:t>    </a:t>
            </a:r>
            <a:r>
              <a:rPr lang="pt-BR" altLang="pt-BR" dirty="0" err="1"/>
              <a:t>if</a:t>
            </a:r>
            <a:r>
              <a:rPr lang="pt-BR" altLang="pt-BR" dirty="0"/>
              <a:t>(!</a:t>
            </a:r>
            <a:r>
              <a:rPr lang="pt-BR" altLang="pt-BR" dirty="0" err="1"/>
              <a:t>fp</a:t>
            </a:r>
            <a:r>
              <a:rPr lang="pt-BR" altLang="pt-BR" dirty="0"/>
              <a:t>)</a:t>
            </a:r>
          </a:p>
          <a:p>
            <a:pPr algn="l">
              <a:spcBef>
                <a:spcPct val="0"/>
              </a:spcBef>
              <a:spcAft>
                <a:spcPct val="0"/>
              </a:spcAft>
              <a:buClrTx/>
              <a:buSzTx/>
              <a:buFontTx/>
              <a:buNone/>
            </a:pPr>
            <a:r>
              <a:rPr lang="pt-BR" altLang="pt-BR" dirty="0"/>
              <a:t>           {</a:t>
            </a:r>
          </a:p>
          <a:p>
            <a:pPr algn="l">
              <a:spcBef>
                <a:spcPct val="0"/>
              </a:spcBef>
              <a:spcAft>
                <a:spcPct val="0"/>
              </a:spcAft>
              <a:buClrTx/>
              <a:buSzTx/>
              <a:buFontTx/>
              <a:buNone/>
            </a:pPr>
            <a:r>
              <a:rPr lang="pt-BR" altLang="pt-BR" dirty="0"/>
              <a:t>               </a:t>
            </a:r>
            <a:r>
              <a:rPr lang="pt-BR" altLang="pt-BR" dirty="0" err="1"/>
              <a:t>printf</a:t>
            </a:r>
            <a:r>
              <a:rPr lang="pt-BR" altLang="pt-BR" dirty="0"/>
              <a:t>( "Erro na abertura do arquivo");</a:t>
            </a:r>
          </a:p>
          <a:p>
            <a:pPr algn="l">
              <a:spcBef>
                <a:spcPct val="0"/>
              </a:spcBef>
              <a:spcAft>
                <a:spcPct val="0"/>
              </a:spcAft>
              <a:buClrTx/>
              <a:buSzTx/>
              <a:buFontTx/>
              <a:buNone/>
            </a:pPr>
            <a:r>
              <a:rPr lang="pt-BR" altLang="pt-BR" dirty="0"/>
              <a:t>               </a:t>
            </a:r>
            <a:r>
              <a:rPr lang="pt-BR" altLang="pt-BR" dirty="0" err="1"/>
              <a:t>exit</a:t>
            </a:r>
            <a:r>
              <a:rPr lang="pt-BR" altLang="pt-BR" dirty="0"/>
              <a:t>(0);</a:t>
            </a:r>
          </a:p>
          <a:p>
            <a:pPr algn="l">
              <a:spcBef>
                <a:spcPct val="0"/>
              </a:spcBef>
              <a:spcAft>
                <a:spcPct val="0"/>
              </a:spcAft>
              <a:buClrTx/>
              <a:buSzTx/>
              <a:buFontTx/>
              <a:buNone/>
            </a:pPr>
            <a:r>
              <a:rPr lang="pt-BR" altLang="pt-BR" dirty="0"/>
              <a:t>            }</a:t>
            </a:r>
          </a:p>
          <a:p>
            <a:pPr algn="l">
              <a:spcBef>
                <a:spcPct val="0"/>
              </a:spcBef>
              <a:spcAft>
                <a:spcPct val="0"/>
              </a:spcAft>
              <a:buClrTx/>
              <a:buSzTx/>
              <a:buFontTx/>
              <a:buNone/>
            </a:pPr>
            <a:r>
              <a:rPr lang="pt-BR" altLang="pt-BR" dirty="0" err="1"/>
              <a:t>fprintf</a:t>
            </a:r>
            <a:r>
              <a:rPr lang="pt-BR" altLang="pt-BR" dirty="0"/>
              <a:t>(</a:t>
            </a:r>
            <a:r>
              <a:rPr lang="pt-BR" altLang="pt-BR" dirty="0" err="1"/>
              <a:t>fp</a:t>
            </a:r>
            <a:r>
              <a:rPr lang="pt-BR" altLang="pt-BR" dirty="0"/>
              <a:t>,"\n vetor vogal[%d]=%c",</a:t>
            </a:r>
            <a:r>
              <a:rPr lang="pt-BR" altLang="pt-BR" dirty="0" err="1"/>
              <a:t>i,vogal</a:t>
            </a:r>
            <a:r>
              <a:rPr lang="pt-BR" altLang="pt-BR" dirty="0"/>
              <a:t>[i]);</a:t>
            </a:r>
          </a:p>
          <a:p>
            <a:pPr algn="l">
              <a:spcBef>
                <a:spcPct val="0"/>
              </a:spcBef>
              <a:spcAft>
                <a:spcPct val="0"/>
              </a:spcAft>
              <a:buClrTx/>
              <a:buSzTx/>
              <a:buFontTx/>
              <a:buNone/>
            </a:pPr>
            <a:r>
              <a:rPr lang="pt-BR" altLang="pt-BR" dirty="0"/>
              <a:t>   </a:t>
            </a:r>
            <a:r>
              <a:rPr lang="pt-BR" altLang="pt-BR" dirty="0" err="1"/>
              <a:t>fclose</a:t>
            </a:r>
            <a:r>
              <a:rPr lang="pt-BR" altLang="pt-BR" dirty="0"/>
              <a:t>(</a:t>
            </a:r>
            <a:r>
              <a:rPr lang="pt-BR" altLang="pt-BR" dirty="0" err="1"/>
              <a:t>fp</a:t>
            </a:r>
            <a:r>
              <a:rPr lang="pt-BR" altLang="pt-BR"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5B9C891E-B66D-C2A5-6420-E7990CC31AB5}"/>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016665F-DF58-4A45-842F-1F88B124ACD0}" type="slidenum">
              <a:rPr lang="pt-BR" altLang="pt-BR" smtClean="0">
                <a:solidFill>
                  <a:srgbClr val="000000"/>
                </a:solidFill>
                <a:latin typeface="Arial" panose="020B0604020202020204" pitchFamily="34" charset="0"/>
              </a:rPr>
              <a:pPr>
                <a:defRPr/>
              </a:pPr>
              <a:t>21</a:t>
            </a:fld>
            <a:endParaRPr lang="pt-BR" altLang="pt-BR">
              <a:solidFill>
                <a:srgbClr val="000000"/>
              </a:solidFill>
              <a:latin typeface="Arial" panose="020B0604020202020204" pitchFamily="34" charset="0"/>
            </a:endParaRPr>
          </a:p>
        </p:txBody>
      </p:sp>
      <p:sp>
        <p:nvSpPr>
          <p:cNvPr id="1219586" name="Rectangle 2">
            <a:extLst>
              <a:ext uri="{FF2B5EF4-FFF2-40B4-BE49-F238E27FC236}">
                <a16:creationId xmlns:a16="http://schemas.microsoft.com/office/drawing/2014/main" id="{E7F6CF7E-5953-8512-8669-822B26515728}"/>
              </a:ext>
            </a:extLst>
          </p:cNvPr>
          <p:cNvSpPr>
            <a:spLocks noGrp="1" noChangeArrowheads="1"/>
          </p:cNvSpPr>
          <p:nvPr>
            <p:ph type="title"/>
          </p:nvPr>
        </p:nvSpPr>
        <p:spPr/>
        <p:txBody>
          <a:bodyPr/>
          <a:lstStyle/>
          <a:p>
            <a:pPr>
              <a:defRPr/>
            </a:pPr>
            <a:r>
              <a:rPr lang="pt-BR" altLang="pt-BR"/>
              <a:t>Exercícios</a:t>
            </a:r>
          </a:p>
        </p:txBody>
      </p:sp>
      <p:sp>
        <p:nvSpPr>
          <p:cNvPr id="1219588" name="Rectangle 4">
            <a:extLst>
              <a:ext uri="{FF2B5EF4-FFF2-40B4-BE49-F238E27FC236}">
                <a16:creationId xmlns:a16="http://schemas.microsoft.com/office/drawing/2014/main" id="{A7D1006E-55E5-1FB8-0498-4879401DEA42}"/>
              </a:ext>
            </a:extLst>
          </p:cNvPr>
          <p:cNvSpPr>
            <a:spLocks noGrp="1" noChangeArrowheads="1"/>
          </p:cNvSpPr>
          <p:nvPr>
            <p:ph type="body" idx="1"/>
          </p:nvPr>
        </p:nvSpPr>
        <p:spPr/>
        <p:txBody>
          <a:bodyPr/>
          <a:lstStyle/>
          <a:p>
            <a:pPr>
              <a:defRPr/>
            </a:pPr>
            <a:r>
              <a:rPr lang="pt-BR" altLang="pt-BR" b="1"/>
              <a:t>2- Utilize o arquivo gerado no programa anterior para fazer um programa para realizar a leitura dos dados gerados</a:t>
            </a:r>
          </a:p>
        </p:txBody>
      </p:sp>
      <p:sp>
        <p:nvSpPr>
          <p:cNvPr id="45061" name="Text Box 5">
            <a:extLst>
              <a:ext uri="{FF2B5EF4-FFF2-40B4-BE49-F238E27FC236}">
                <a16:creationId xmlns:a16="http://schemas.microsoft.com/office/drawing/2014/main" id="{3B4EC386-DA1B-D87A-3566-36CE902771BD}"/>
              </a:ext>
            </a:extLst>
          </p:cNvPr>
          <p:cNvSpPr txBox="1">
            <a:spLocks noChangeArrowheads="1"/>
          </p:cNvSpPr>
          <p:nvPr/>
        </p:nvSpPr>
        <p:spPr bwMode="auto">
          <a:xfrm>
            <a:off x="4171950" y="5892800"/>
            <a:ext cx="1631950" cy="369888"/>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a:t>Exercicio2.cpp</a:t>
            </a:r>
          </a:p>
        </p:txBody>
      </p:sp>
      <p:sp>
        <p:nvSpPr>
          <p:cNvPr id="45062" name="Retângulo 1">
            <a:extLst>
              <a:ext uri="{FF2B5EF4-FFF2-40B4-BE49-F238E27FC236}">
                <a16:creationId xmlns:a16="http://schemas.microsoft.com/office/drawing/2014/main" id="{7465A603-ED57-3C91-3898-DE16D32B82ED}"/>
              </a:ext>
            </a:extLst>
          </p:cNvPr>
          <p:cNvSpPr>
            <a:spLocks noChangeArrowheads="1"/>
          </p:cNvSpPr>
          <p:nvPr/>
        </p:nvSpPr>
        <p:spPr bwMode="auto">
          <a:xfrm>
            <a:off x="3554896" y="2564904"/>
            <a:ext cx="4572000" cy="2032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dirty="0" err="1">
                <a:solidFill>
                  <a:schemeClr val="tx1"/>
                </a:solidFill>
              </a:rPr>
              <a:t>fp</a:t>
            </a:r>
            <a:r>
              <a:rPr lang="pt-BR" altLang="pt-BR" dirty="0">
                <a:solidFill>
                  <a:schemeClr val="tx1"/>
                </a:solidFill>
              </a:rPr>
              <a:t>=</a:t>
            </a:r>
            <a:r>
              <a:rPr lang="pt-BR" altLang="pt-BR" dirty="0" err="1">
                <a:solidFill>
                  <a:schemeClr val="tx1"/>
                </a:solidFill>
              </a:rPr>
              <a:t>fopen</a:t>
            </a:r>
            <a:r>
              <a:rPr lang="pt-BR" altLang="pt-BR" dirty="0">
                <a:solidFill>
                  <a:schemeClr val="tx1"/>
                </a:solidFill>
              </a:rPr>
              <a:t>("exercicio.</a:t>
            </a:r>
            <a:r>
              <a:rPr lang="pt-BR" altLang="pt-BR" dirty="0" err="1">
                <a:solidFill>
                  <a:schemeClr val="tx1"/>
                </a:solidFill>
              </a:rPr>
              <a:t>txt</a:t>
            </a:r>
            <a:r>
              <a:rPr lang="pt-BR" altLang="pt-BR" dirty="0">
                <a:solidFill>
                  <a:schemeClr val="tx1"/>
                </a:solidFill>
              </a:rPr>
              <a:t>","r");</a:t>
            </a:r>
          </a:p>
          <a:p>
            <a:pPr algn="l">
              <a:spcBef>
                <a:spcPct val="0"/>
              </a:spcBef>
              <a:spcAft>
                <a:spcPct val="0"/>
              </a:spcAft>
              <a:buClrTx/>
              <a:buSzTx/>
              <a:buFontTx/>
              <a:buNone/>
            </a:pPr>
            <a:r>
              <a:rPr lang="pt-BR" altLang="pt-BR" dirty="0" err="1">
                <a:solidFill>
                  <a:schemeClr val="tx1"/>
                </a:solidFill>
              </a:rPr>
              <a:t>while</a:t>
            </a:r>
            <a:r>
              <a:rPr lang="pt-BR" altLang="pt-BR" dirty="0">
                <a:solidFill>
                  <a:schemeClr val="tx1"/>
                </a:solidFill>
              </a:rPr>
              <a:t>(!</a:t>
            </a:r>
            <a:r>
              <a:rPr lang="pt-BR" altLang="pt-BR" dirty="0" err="1">
                <a:solidFill>
                  <a:schemeClr val="tx1"/>
                </a:solidFill>
              </a:rPr>
              <a:t>feof</a:t>
            </a:r>
            <a:r>
              <a:rPr lang="pt-BR" altLang="pt-BR" dirty="0">
                <a:solidFill>
                  <a:schemeClr val="tx1"/>
                </a:solidFill>
              </a:rPr>
              <a:t>(</a:t>
            </a:r>
            <a:r>
              <a:rPr lang="pt-BR" altLang="pt-BR" dirty="0" err="1">
                <a:solidFill>
                  <a:schemeClr val="tx1"/>
                </a:solidFill>
              </a:rPr>
              <a:t>fp</a:t>
            </a:r>
            <a:r>
              <a:rPr lang="pt-BR" altLang="pt-BR" dirty="0">
                <a:solidFill>
                  <a:schemeClr val="tx1"/>
                </a:solidFill>
              </a:rPr>
              <a:t>))</a:t>
            </a:r>
          </a:p>
          <a:p>
            <a:pPr algn="l">
              <a:spcBef>
                <a:spcPct val="0"/>
              </a:spcBef>
              <a:spcAft>
                <a:spcPct val="0"/>
              </a:spcAft>
              <a:buClrTx/>
              <a:buSzTx/>
              <a:buFontTx/>
              <a:buNone/>
            </a:pPr>
            <a:r>
              <a:rPr lang="pt-BR" altLang="pt-BR" dirty="0">
                <a:solidFill>
                  <a:schemeClr val="tx1"/>
                </a:solidFill>
              </a:rPr>
              <a:t>{</a:t>
            </a:r>
          </a:p>
          <a:p>
            <a:pPr algn="l">
              <a:spcBef>
                <a:spcPct val="0"/>
              </a:spcBef>
              <a:spcAft>
                <a:spcPct val="0"/>
              </a:spcAft>
              <a:buClrTx/>
              <a:buSzTx/>
              <a:buFontTx/>
              <a:buNone/>
            </a:pPr>
            <a:r>
              <a:rPr lang="pt-BR" altLang="pt-BR" dirty="0" err="1">
                <a:solidFill>
                  <a:schemeClr val="tx1"/>
                </a:solidFill>
              </a:rPr>
              <a:t>fscanf</a:t>
            </a:r>
            <a:r>
              <a:rPr lang="pt-BR" altLang="pt-BR" dirty="0">
                <a:solidFill>
                  <a:schemeClr val="tx1"/>
                </a:solidFill>
              </a:rPr>
              <a:t>(</a:t>
            </a:r>
            <a:r>
              <a:rPr lang="pt-BR" altLang="pt-BR" dirty="0" err="1">
                <a:solidFill>
                  <a:schemeClr val="tx1"/>
                </a:solidFill>
              </a:rPr>
              <a:t>fp</a:t>
            </a:r>
            <a:r>
              <a:rPr lang="pt-BR" altLang="pt-BR" dirty="0">
                <a:solidFill>
                  <a:schemeClr val="tx1"/>
                </a:solidFill>
              </a:rPr>
              <a:t>,"%f ",&amp;x);</a:t>
            </a:r>
          </a:p>
          <a:p>
            <a:pPr algn="l">
              <a:spcBef>
                <a:spcPct val="0"/>
              </a:spcBef>
              <a:spcAft>
                <a:spcPct val="0"/>
              </a:spcAft>
              <a:buClrTx/>
              <a:buSzTx/>
              <a:buFontTx/>
              <a:buNone/>
            </a:pPr>
            <a:r>
              <a:rPr lang="pt-BR" altLang="pt-BR" dirty="0" err="1">
                <a:solidFill>
                  <a:schemeClr val="tx1"/>
                </a:solidFill>
              </a:rPr>
              <a:t>printf</a:t>
            </a:r>
            <a:r>
              <a:rPr lang="pt-BR" altLang="pt-BR" dirty="0">
                <a:solidFill>
                  <a:schemeClr val="tx1"/>
                </a:solidFill>
              </a:rPr>
              <a:t>("\</a:t>
            </a:r>
            <a:r>
              <a:rPr lang="pt-BR" altLang="pt-BR" dirty="0" err="1">
                <a:solidFill>
                  <a:schemeClr val="tx1"/>
                </a:solidFill>
              </a:rPr>
              <a:t>n%f</a:t>
            </a:r>
            <a:r>
              <a:rPr lang="pt-BR" altLang="pt-BR" dirty="0">
                <a:solidFill>
                  <a:schemeClr val="tx1"/>
                </a:solidFill>
              </a:rPr>
              <a:t>",x);</a:t>
            </a:r>
          </a:p>
          <a:p>
            <a:pPr algn="l">
              <a:spcBef>
                <a:spcPct val="0"/>
              </a:spcBef>
              <a:spcAft>
                <a:spcPct val="0"/>
              </a:spcAft>
              <a:buClrTx/>
              <a:buSzTx/>
              <a:buFontTx/>
              <a:buNone/>
            </a:pPr>
            <a:r>
              <a:rPr lang="pt-BR" altLang="pt-BR" dirty="0">
                <a:solidFill>
                  <a:schemeClr val="tx1"/>
                </a:solidFill>
              </a:rPr>
              <a:t>}</a:t>
            </a:r>
          </a:p>
          <a:p>
            <a:pPr algn="l">
              <a:spcBef>
                <a:spcPct val="0"/>
              </a:spcBef>
              <a:spcAft>
                <a:spcPct val="0"/>
              </a:spcAft>
              <a:buClrTx/>
              <a:buSzTx/>
              <a:buFontTx/>
              <a:buNone/>
            </a:pPr>
            <a:r>
              <a:rPr lang="pt-BR" altLang="pt-BR" dirty="0" err="1">
                <a:solidFill>
                  <a:schemeClr val="tx1"/>
                </a:solidFill>
              </a:rPr>
              <a:t>fclose</a:t>
            </a:r>
            <a:r>
              <a:rPr lang="pt-BR" altLang="pt-BR" dirty="0">
                <a:solidFill>
                  <a:schemeClr val="tx1"/>
                </a:solidFill>
              </a:rPr>
              <a:t>(</a:t>
            </a:r>
            <a:r>
              <a:rPr lang="pt-BR" altLang="pt-BR" dirty="0" err="1">
                <a:solidFill>
                  <a:schemeClr val="tx1"/>
                </a:solidFill>
              </a:rPr>
              <a:t>fp</a:t>
            </a:r>
            <a:r>
              <a:rPr lang="pt-BR" altLang="pt-BR" dirty="0">
                <a:solidFill>
                  <a:schemeClr val="tx1"/>
                </a:solidFil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EC350211-D5F3-55CC-4DB2-39AFD4972C9E}"/>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CF47BE39-3C8C-432B-BDFD-0E0014CAC4B1}" type="slidenum">
              <a:rPr lang="pt-BR" altLang="pt-BR" smtClean="0">
                <a:solidFill>
                  <a:srgbClr val="000000"/>
                </a:solidFill>
                <a:latin typeface="Arial" panose="020B0604020202020204" pitchFamily="34" charset="0"/>
              </a:rPr>
              <a:pPr>
                <a:defRPr/>
              </a:pPr>
              <a:t>22</a:t>
            </a:fld>
            <a:endParaRPr lang="pt-BR" altLang="pt-BR">
              <a:solidFill>
                <a:srgbClr val="000000"/>
              </a:solidFill>
              <a:latin typeface="Arial" panose="020B0604020202020204" pitchFamily="34" charset="0"/>
            </a:endParaRPr>
          </a:p>
        </p:txBody>
      </p:sp>
      <p:sp>
        <p:nvSpPr>
          <p:cNvPr id="1224706" name="Rectangle 2">
            <a:extLst>
              <a:ext uri="{FF2B5EF4-FFF2-40B4-BE49-F238E27FC236}">
                <a16:creationId xmlns:a16="http://schemas.microsoft.com/office/drawing/2014/main" id="{957505A4-A414-A029-E08C-D78FA3DB78DC}"/>
              </a:ext>
            </a:extLst>
          </p:cNvPr>
          <p:cNvSpPr>
            <a:spLocks noGrp="1" noChangeArrowheads="1"/>
          </p:cNvSpPr>
          <p:nvPr>
            <p:ph type="title"/>
          </p:nvPr>
        </p:nvSpPr>
        <p:spPr/>
        <p:txBody>
          <a:bodyPr/>
          <a:lstStyle/>
          <a:p>
            <a:pPr>
              <a:defRPr/>
            </a:pPr>
            <a:r>
              <a:rPr lang="pt-BR" altLang="pt-BR"/>
              <a:t>Exercícios</a:t>
            </a:r>
          </a:p>
        </p:txBody>
      </p:sp>
      <p:sp>
        <p:nvSpPr>
          <p:cNvPr id="1224707" name="Rectangle 3">
            <a:extLst>
              <a:ext uri="{FF2B5EF4-FFF2-40B4-BE49-F238E27FC236}">
                <a16:creationId xmlns:a16="http://schemas.microsoft.com/office/drawing/2014/main" id="{6C66E604-CBCD-8E48-3F74-ECF0A36DD505}"/>
              </a:ext>
            </a:extLst>
          </p:cNvPr>
          <p:cNvSpPr>
            <a:spLocks noGrp="1" noChangeArrowheads="1"/>
          </p:cNvSpPr>
          <p:nvPr>
            <p:ph type="body" idx="1"/>
          </p:nvPr>
        </p:nvSpPr>
        <p:spPr/>
        <p:txBody>
          <a:bodyPr/>
          <a:lstStyle/>
          <a:p>
            <a:pPr marL="0" indent="0">
              <a:defRPr/>
            </a:pPr>
            <a:r>
              <a:rPr lang="pt-BR" altLang="pt-BR" b="1" dirty="0"/>
              <a:t>3- Modifique o programa calculadora.cpp para imprimir em arquivo</a:t>
            </a:r>
          </a:p>
          <a:p>
            <a:pPr marL="0" indent="0">
              <a:defRPr/>
            </a:pPr>
            <a:r>
              <a:rPr lang="pt-BR" altLang="pt-BR" b="1" dirty="0"/>
              <a:t>4- Após a modificação acima altere o programa para que ele pergunte ao usuário se deseja realizar uma nova operação.</a:t>
            </a:r>
          </a:p>
          <a:p>
            <a:pPr marL="0" indent="0">
              <a:defRPr/>
            </a:pPr>
            <a:endParaRPr lang="pt-BR" altLang="pt-BR" b="1" dirty="0"/>
          </a:p>
          <a:p>
            <a:pPr marL="0" indent="0">
              <a:defRPr/>
            </a:pPr>
            <a:endParaRPr lang="pt-BR" altLang="pt-BR" dirty="0"/>
          </a:p>
        </p:txBody>
      </p:sp>
      <p:sp>
        <p:nvSpPr>
          <p:cNvPr id="47109" name="Text Box 4">
            <a:extLst>
              <a:ext uri="{FF2B5EF4-FFF2-40B4-BE49-F238E27FC236}">
                <a16:creationId xmlns:a16="http://schemas.microsoft.com/office/drawing/2014/main" id="{0A11C3E2-3722-A86F-9EA8-D604AF7BCFC5}"/>
              </a:ext>
            </a:extLst>
          </p:cNvPr>
          <p:cNvSpPr txBox="1">
            <a:spLocks noChangeArrowheads="1"/>
          </p:cNvSpPr>
          <p:nvPr/>
        </p:nvSpPr>
        <p:spPr bwMode="auto">
          <a:xfrm>
            <a:off x="2784475" y="5892801"/>
            <a:ext cx="4129088" cy="646113"/>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a:t>Calculadora case em arquivo.cpp</a:t>
            </a:r>
          </a:p>
          <a:p>
            <a:pPr algn="l">
              <a:spcBef>
                <a:spcPct val="0"/>
              </a:spcBef>
              <a:spcAft>
                <a:spcPct val="0"/>
              </a:spcAft>
              <a:buClrTx/>
              <a:buSzTx/>
              <a:buFontTx/>
              <a:buNone/>
            </a:pPr>
            <a:r>
              <a:rPr lang="pt-BR" altLang="pt-BR"/>
              <a:t>Calculadora case em arquivo while.cpp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43A483-9A26-8EE9-D8FE-B25C239686B9}"/>
              </a:ext>
            </a:extLst>
          </p:cNvPr>
          <p:cNvSpPr>
            <a:spLocks noGrp="1"/>
          </p:cNvSpPr>
          <p:nvPr>
            <p:ph type="title"/>
          </p:nvPr>
        </p:nvSpPr>
        <p:spPr>
          <a:xfrm>
            <a:off x="1981200" y="692150"/>
            <a:ext cx="8229600" cy="1176338"/>
          </a:xfrm>
        </p:spPr>
        <p:txBody>
          <a:bodyPr/>
          <a:lstStyle/>
          <a:p>
            <a:pPr>
              <a:defRPr/>
            </a:pPr>
            <a:r>
              <a:rPr lang="pt-BR" dirty="0">
                <a:effectLst/>
              </a:rPr>
              <a:t>Conceitos de estruturas de dados (</a:t>
            </a:r>
            <a:r>
              <a:rPr lang="pt-BR" dirty="0" err="1">
                <a:effectLst/>
              </a:rPr>
              <a:t>Struct</a:t>
            </a:r>
            <a:r>
              <a:rPr lang="pt-BR" dirty="0">
                <a:effectLst/>
              </a:rPr>
              <a:t>), escrita e leitura em arquivos.</a:t>
            </a:r>
            <a:endParaRPr lang="pt-BR" dirty="0"/>
          </a:p>
        </p:txBody>
      </p:sp>
      <p:sp>
        <p:nvSpPr>
          <p:cNvPr id="3" name="Espaço Reservado para Conteúdo 2">
            <a:extLst>
              <a:ext uri="{FF2B5EF4-FFF2-40B4-BE49-F238E27FC236}">
                <a16:creationId xmlns:a16="http://schemas.microsoft.com/office/drawing/2014/main" id="{58494FF8-FD86-C1DF-7BC3-6F53EE446E39}"/>
              </a:ext>
            </a:extLst>
          </p:cNvPr>
          <p:cNvSpPr>
            <a:spLocks noGrp="1"/>
          </p:cNvSpPr>
          <p:nvPr>
            <p:ph idx="1"/>
          </p:nvPr>
        </p:nvSpPr>
        <p:spPr/>
        <p:txBody>
          <a:bodyPr/>
          <a:lstStyle/>
          <a:p>
            <a:pPr marL="0" indent="457200" algn="just">
              <a:defRPr/>
            </a:pPr>
            <a:endParaRPr lang="pt-BR" dirty="0">
              <a:effectLst/>
            </a:endParaRPr>
          </a:p>
          <a:p>
            <a:pPr marL="285750" indent="-285750" algn="just">
              <a:buClrTx/>
              <a:buSzPct val="105000"/>
              <a:buFont typeface="Wingdings" panose="05000000000000000000" pitchFamily="2" charset="2"/>
              <a:buChar char="q"/>
              <a:defRPr/>
            </a:pPr>
            <a:r>
              <a:rPr lang="pt-BR" dirty="0">
                <a:effectLst/>
              </a:rPr>
              <a:t>Crie uma estrutura de dados com os seguintes campos:</a:t>
            </a:r>
          </a:p>
          <a:p>
            <a:pPr marL="0" lvl="1" indent="457200" algn="just">
              <a:defRPr/>
            </a:pPr>
            <a:r>
              <a:rPr lang="pt-BR" dirty="0">
                <a:effectLst/>
              </a:rPr>
              <a:t>Matrícula (variável do tipo </a:t>
            </a:r>
            <a:r>
              <a:rPr lang="pt-BR" dirty="0" err="1">
                <a:effectLst/>
              </a:rPr>
              <a:t>int</a:t>
            </a:r>
            <a:r>
              <a:rPr lang="pt-BR" dirty="0">
                <a:effectLst/>
              </a:rPr>
              <a:t>)</a:t>
            </a:r>
          </a:p>
          <a:p>
            <a:pPr marL="0" lvl="1" indent="457200" algn="just">
              <a:defRPr/>
            </a:pPr>
            <a:r>
              <a:rPr lang="pt-BR" dirty="0">
                <a:effectLst/>
              </a:rPr>
              <a:t>Nome do </a:t>
            </a:r>
            <a:r>
              <a:rPr lang="pt-BR" dirty="0" err="1">
                <a:effectLst/>
              </a:rPr>
              <a:t>Funcionario</a:t>
            </a:r>
            <a:r>
              <a:rPr lang="pt-BR" dirty="0">
                <a:effectLst/>
              </a:rPr>
              <a:t> (variável do tipo </a:t>
            </a:r>
            <a:r>
              <a:rPr lang="pt-BR" dirty="0" err="1">
                <a:effectLst/>
              </a:rPr>
              <a:t>string</a:t>
            </a:r>
            <a:r>
              <a:rPr lang="pt-BR" dirty="0">
                <a:effectLst/>
              </a:rPr>
              <a:t>)</a:t>
            </a:r>
          </a:p>
          <a:p>
            <a:pPr marL="0" lvl="1" indent="457200" algn="just">
              <a:defRPr/>
            </a:pPr>
            <a:r>
              <a:rPr lang="pt-BR" dirty="0">
                <a:effectLst/>
              </a:rPr>
              <a:t>Salario (variável do tipo </a:t>
            </a:r>
            <a:r>
              <a:rPr lang="pt-BR" dirty="0" err="1">
                <a:effectLst/>
              </a:rPr>
              <a:t>float</a:t>
            </a:r>
            <a:r>
              <a:rPr lang="pt-BR" dirty="0">
                <a:effectLst/>
              </a:rPr>
              <a:t>)</a:t>
            </a:r>
          </a:p>
          <a:p>
            <a:pPr marL="0" lvl="1" indent="457200" algn="just">
              <a:defRPr/>
            </a:pPr>
            <a:r>
              <a:rPr lang="pt-BR" dirty="0">
                <a:effectLst/>
              </a:rPr>
              <a:t>Endereço do funcionário contendo o nome da rua (variável do tipo </a:t>
            </a:r>
            <a:r>
              <a:rPr lang="pt-BR" dirty="0" err="1">
                <a:effectLst/>
              </a:rPr>
              <a:t>string</a:t>
            </a:r>
            <a:r>
              <a:rPr lang="pt-BR" dirty="0">
                <a:effectLst/>
              </a:rPr>
              <a:t>)</a:t>
            </a:r>
          </a:p>
          <a:p>
            <a:pPr marL="0" lvl="1" indent="457200" algn="just">
              <a:defRPr/>
            </a:pPr>
            <a:r>
              <a:rPr lang="pt-BR" dirty="0">
                <a:effectLst/>
              </a:rPr>
              <a:t>Numero da casa (variável do tipo </a:t>
            </a:r>
            <a:r>
              <a:rPr lang="pt-BR" dirty="0" err="1">
                <a:effectLst/>
              </a:rPr>
              <a:t>int</a:t>
            </a:r>
            <a:r>
              <a:rPr lang="pt-BR" dirty="0">
                <a:effectLst/>
              </a:rPr>
              <a:t>)</a:t>
            </a:r>
          </a:p>
          <a:p>
            <a:pPr marL="285750" indent="-285750" algn="just">
              <a:buClrTx/>
              <a:buSzPct val="100000"/>
              <a:buFont typeface="Wingdings" panose="05000000000000000000" pitchFamily="2" charset="2"/>
              <a:buChar char="q"/>
              <a:defRPr/>
            </a:pPr>
            <a:r>
              <a:rPr lang="pt-BR" dirty="0">
                <a:effectLst/>
              </a:rPr>
              <a:t>Essa estrutura deverá cadastrar dois funcionários diferentes;</a:t>
            </a:r>
          </a:p>
          <a:p>
            <a:pPr marL="285750" indent="-285750" algn="just">
              <a:buClrTx/>
              <a:buSzPct val="100000"/>
              <a:buFont typeface="Wingdings" panose="05000000000000000000" pitchFamily="2" charset="2"/>
              <a:buChar char="q"/>
              <a:defRPr/>
            </a:pPr>
            <a:r>
              <a:rPr lang="pt-BR" dirty="0">
                <a:effectLst/>
              </a:rPr>
              <a:t>Deverá salvar os dados em arquivo.</a:t>
            </a:r>
          </a:p>
          <a:p>
            <a:pPr marL="285750" indent="-285750" algn="just">
              <a:buClrTx/>
              <a:buSzPct val="100000"/>
              <a:buFont typeface="Wingdings" panose="05000000000000000000" pitchFamily="2" charset="2"/>
              <a:buChar char="q"/>
              <a:defRPr/>
            </a:pPr>
            <a:r>
              <a:rPr lang="pt-BR" dirty="0">
                <a:effectLst/>
              </a:rPr>
              <a:t>Deverá realizar a leitura dos dados no arquivo em imprimi-los na tela.</a:t>
            </a:r>
          </a:p>
          <a:p>
            <a:pPr marL="0" lvl="1" indent="0" algn="just">
              <a:buNone/>
              <a:defRPr/>
            </a:pPr>
            <a:endParaRPr lang="pt-BR" dirty="0">
              <a:effectLst/>
            </a:endParaRPr>
          </a:p>
        </p:txBody>
      </p:sp>
      <p:sp>
        <p:nvSpPr>
          <p:cNvPr id="4" name="Espaço Reservado para Número de Slide 3">
            <a:extLst>
              <a:ext uri="{FF2B5EF4-FFF2-40B4-BE49-F238E27FC236}">
                <a16:creationId xmlns:a16="http://schemas.microsoft.com/office/drawing/2014/main" id="{2BF6039C-0C62-B693-9DB9-F70591280A13}"/>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8E6EAF7-7D31-402C-A0C5-AB3E8332CE59}" type="slidenum">
              <a:rPr lang="pt-BR" altLang="pt-BR" smtClean="0">
                <a:solidFill>
                  <a:srgbClr val="000000"/>
                </a:solidFill>
                <a:latin typeface="Arial" panose="020B0604020202020204" pitchFamily="34" charset="0"/>
              </a:rPr>
              <a:pPr>
                <a:defRPr/>
              </a:pPr>
              <a:t>23</a:t>
            </a:fld>
            <a:endParaRPr lang="pt-BR" altLang="pt-BR">
              <a:solidFill>
                <a:srgbClr val="00000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FBECA2-234E-E533-F9F7-35A8B15082DA}"/>
              </a:ext>
            </a:extLst>
          </p:cNvPr>
          <p:cNvSpPr>
            <a:spLocks noGrp="1"/>
          </p:cNvSpPr>
          <p:nvPr>
            <p:ph type="title"/>
          </p:nvPr>
        </p:nvSpPr>
        <p:spPr/>
        <p:txBody>
          <a:bodyPr/>
          <a:lstStyle/>
          <a:p>
            <a:pPr>
              <a:defRPr/>
            </a:pPr>
            <a:endParaRPr lang="pt-BR" dirty="0"/>
          </a:p>
        </p:txBody>
      </p:sp>
      <p:sp>
        <p:nvSpPr>
          <p:cNvPr id="3" name="Espaço Reservado para Conteúdo 2">
            <a:extLst>
              <a:ext uri="{FF2B5EF4-FFF2-40B4-BE49-F238E27FC236}">
                <a16:creationId xmlns:a16="http://schemas.microsoft.com/office/drawing/2014/main" id="{FDEA9801-9823-4232-B3BB-F21595593C57}"/>
              </a:ext>
            </a:extLst>
          </p:cNvPr>
          <p:cNvSpPr>
            <a:spLocks noGrp="1"/>
          </p:cNvSpPr>
          <p:nvPr>
            <p:ph idx="1"/>
          </p:nvPr>
        </p:nvSpPr>
        <p:spPr/>
        <p:txBody>
          <a:bodyPr/>
          <a:lstStyle/>
          <a:p>
            <a:pPr marL="0" indent="0" algn="just">
              <a:buClrTx/>
              <a:buSzPct val="100000"/>
              <a:defRPr/>
            </a:pPr>
            <a:r>
              <a:rPr lang="pt-BR" dirty="0">
                <a:effectLst/>
              </a:rPr>
              <a:t>ATENÇÃO: A LEITURA EM ARQUIVO DE VARIÁVEIS DO TIPO STRING DEVE UTILIZAR O COMANDO </a:t>
            </a:r>
            <a:r>
              <a:rPr lang="pt-BR" b="1" dirty="0" err="1">
                <a:effectLst/>
              </a:rPr>
              <a:t>gets</a:t>
            </a:r>
            <a:r>
              <a:rPr lang="pt-BR" b="1" dirty="0">
                <a:effectLst/>
              </a:rPr>
              <a:t>(f[i].</a:t>
            </a:r>
            <a:r>
              <a:rPr lang="pt-BR" b="1" dirty="0" err="1">
                <a:effectLst/>
              </a:rPr>
              <a:t>nome,NULL,fp</a:t>
            </a:r>
            <a:r>
              <a:rPr lang="pt-BR" b="1" dirty="0">
                <a:effectLst/>
              </a:rPr>
              <a:t>); </a:t>
            </a:r>
          </a:p>
          <a:p>
            <a:pPr marL="285750" indent="342900" algn="just">
              <a:buClrTx/>
              <a:buSzPct val="100000"/>
              <a:buFont typeface="Wingdings" panose="05000000000000000000" pitchFamily="2" charset="2"/>
              <a:buChar char="ü"/>
              <a:defRPr/>
            </a:pPr>
            <a:r>
              <a:rPr lang="pt-BR" dirty="0">
                <a:effectLst/>
              </a:rPr>
              <a:t>	onde o </a:t>
            </a:r>
            <a:r>
              <a:rPr lang="pt-BR" b="1" dirty="0">
                <a:effectLst/>
              </a:rPr>
              <a:t>f[i].nome</a:t>
            </a:r>
            <a:r>
              <a:rPr lang="pt-BR" dirty="0">
                <a:effectLst/>
              </a:rPr>
              <a:t> é o nome da variável da STRUCT;</a:t>
            </a:r>
          </a:p>
          <a:p>
            <a:pPr marL="285750" indent="342900" algn="just">
              <a:buClrTx/>
              <a:buSzPct val="100000"/>
              <a:buFont typeface="Wingdings" panose="05000000000000000000" pitchFamily="2" charset="2"/>
              <a:buChar char="ü"/>
              <a:defRPr/>
            </a:pPr>
            <a:r>
              <a:rPr lang="pt-BR" dirty="0">
                <a:effectLst/>
              </a:rPr>
              <a:t> </a:t>
            </a:r>
            <a:r>
              <a:rPr lang="pt-BR" b="1" dirty="0" err="1">
                <a:effectLst/>
              </a:rPr>
              <a:t>Null</a:t>
            </a:r>
            <a:r>
              <a:rPr lang="pt-BR" b="1" dirty="0">
                <a:effectLst/>
              </a:rPr>
              <a:t> </a:t>
            </a:r>
            <a:r>
              <a:rPr lang="pt-BR" dirty="0">
                <a:effectLst/>
              </a:rPr>
              <a:t> é o critério de parada para a leitura da variável (para de ler quando encontra o “/0”, e</a:t>
            </a:r>
          </a:p>
          <a:p>
            <a:pPr marL="285750" indent="342900" algn="just">
              <a:buClrTx/>
              <a:buSzPct val="100000"/>
              <a:buFont typeface="Wingdings" panose="05000000000000000000" pitchFamily="2" charset="2"/>
              <a:buChar char="ü"/>
              <a:defRPr/>
            </a:pPr>
            <a:r>
              <a:rPr lang="pt-BR" dirty="0">
                <a:effectLst/>
              </a:rPr>
              <a:t> </a:t>
            </a:r>
            <a:r>
              <a:rPr lang="pt-BR" b="1" dirty="0" err="1">
                <a:effectLst/>
              </a:rPr>
              <a:t>fp</a:t>
            </a:r>
            <a:r>
              <a:rPr lang="pt-BR" dirty="0">
                <a:effectLst/>
              </a:rPr>
              <a:t> é o ponteiro que está apontando para o arquivo.</a:t>
            </a:r>
          </a:p>
          <a:p>
            <a:pPr marL="285750" indent="-285750" algn="just">
              <a:buClrTx/>
              <a:buSzPct val="100000"/>
              <a:buFont typeface="Wingdings" panose="05000000000000000000" pitchFamily="2" charset="2"/>
              <a:buChar char="q"/>
              <a:defRPr/>
            </a:pPr>
            <a:r>
              <a:rPr lang="pt-BR" dirty="0">
                <a:effectLst/>
              </a:rPr>
              <a:t>SUGESTÕES PARA ESSE EXERCÍCIO:</a:t>
            </a:r>
          </a:p>
          <a:p>
            <a:pPr marL="685800" lvl="1" algn="just">
              <a:buClrTx/>
              <a:buSzPct val="100000"/>
              <a:buFont typeface="Wingdings" panose="05000000000000000000" pitchFamily="2" charset="2"/>
              <a:buChar char="ü"/>
              <a:defRPr/>
            </a:pPr>
            <a:r>
              <a:rPr lang="pt-BR" dirty="0">
                <a:effectLst/>
              </a:rPr>
              <a:t>Faça primeiro um programa para realizar a leitura de apenas um registro da estrutura com todos os campos;</a:t>
            </a:r>
          </a:p>
          <a:p>
            <a:pPr marL="685800" lvl="1" algn="just">
              <a:buClrTx/>
              <a:buSzPct val="100000"/>
              <a:buFont typeface="Wingdings" panose="05000000000000000000" pitchFamily="2" charset="2"/>
              <a:buChar char="ü"/>
              <a:defRPr/>
            </a:pPr>
            <a:r>
              <a:rPr lang="pt-BR" dirty="0">
                <a:effectLst/>
              </a:rPr>
              <a:t>Faça a escrita em arquivo de apenas uma variável.</a:t>
            </a:r>
          </a:p>
          <a:p>
            <a:pPr marL="685800" lvl="1" algn="just">
              <a:buClrTx/>
              <a:buSzPct val="100000"/>
              <a:buFont typeface="Wingdings" panose="05000000000000000000" pitchFamily="2" charset="2"/>
              <a:buChar char="ü"/>
              <a:defRPr/>
            </a:pPr>
            <a:r>
              <a:rPr lang="pt-BR" dirty="0">
                <a:effectLst/>
              </a:rPr>
              <a:t>Faça a leitura em arquivo de apenas uma variável.</a:t>
            </a:r>
          </a:p>
          <a:p>
            <a:pPr marL="285750" indent="-285750" algn="just">
              <a:buClrTx/>
              <a:buSzPct val="100000"/>
              <a:buFont typeface="Wingdings" panose="05000000000000000000" pitchFamily="2" charset="2"/>
              <a:buChar char="q"/>
              <a:defRPr/>
            </a:pPr>
            <a:endParaRPr lang="pt-BR" dirty="0"/>
          </a:p>
        </p:txBody>
      </p:sp>
      <p:sp>
        <p:nvSpPr>
          <p:cNvPr id="4" name="Espaço Reservado para Número de Slide 3">
            <a:extLst>
              <a:ext uri="{FF2B5EF4-FFF2-40B4-BE49-F238E27FC236}">
                <a16:creationId xmlns:a16="http://schemas.microsoft.com/office/drawing/2014/main" id="{6AAF9AB1-51C5-E5B9-1B65-FE85F948D0C1}"/>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89DBF37D-28F2-4A5A-B0E2-025B55D8CFE7}" type="slidenum">
              <a:rPr lang="pt-BR" altLang="pt-BR" smtClean="0">
                <a:solidFill>
                  <a:srgbClr val="000000"/>
                </a:solidFill>
                <a:latin typeface="Arial" panose="020B0604020202020204" pitchFamily="34" charset="0"/>
              </a:rPr>
              <a:pPr>
                <a:defRPr/>
              </a:pPr>
              <a:t>24</a:t>
            </a:fld>
            <a:endParaRPr lang="pt-BR" altLang="pt-BR">
              <a:solidFill>
                <a:srgbClr val="000000"/>
              </a:solidFill>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91DCC5-BD65-8449-9F77-0637AC168767}"/>
              </a:ext>
            </a:extLst>
          </p:cNvPr>
          <p:cNvSpPr>
            <a:spLocks noGrp="1"/>
          </p:cNvSpPr>
          <p:nvPr>
            <p:ph type="title"/>
          </p:nvPr>
        </p:nvSpPr>
        <p:spPr/>
        <p:txBody>
          <a:bodyPr/>
          <a:lstStyle/>
          <a:p>
            <a:r>
              <a:rPr lang="pt-BR" dirty="0"/>
              <a:t>Página 159 do livro</a:t>
            </a:r>
          </a:p>
        </p:txBody>
      </p:sp>
      <p:sp>
        <p:nvSpPr>
          <p:cNvPr id="3" name="Espaço Reservado para Conteúdo 2">
            <a:extLst>
              <a:ext uri="{FF2B5EF4-FFF2-40B4-BE49-F238E27FC236}">
                <a16:creationId xmlns:a16="http://schemas.microsoft.com/office/drawing/2014/main" id="{5B443810-EDC9-EEC8-1C5E-853D477C42D8}"/>
              </a:ext>
            </a:extLst>
          </p:cNvPr>
          <p:cNvSpPr>
            <a:spLocks noGrp="1"/>
          </p:cNvSpPr>
          <p:nvPr>
            <p:ph idx="1"/>
          </p:nvPr>
        </p:nvSpPr>
        <p:spPr/>
        <p:txBody>
          <a:bodyPr/>
          <a:lstStyle/>
          <a:p>
            <a:r>
              <a:rPr lang="pt-BR" dirty="0"/>
              <a:t>As </a:t>
            </a:r>
            <a:r>
              <a:rPr lang="pt-BR" dirty="0" err="1"/>
              <a:t>funções</a:t>
            </a:r>
            <a:r>
              <a:rPr lang="pt-BR" dirty="0"/>
              <a:t> </a:t>
            </a:r>
            <a:r>
              <a:rPr lang="pt-BR" dirty="0" err="1"/>
              <a:t>específicas</a:t>
            </a:r>
            <a:r>
              <a:rPr lang="pt-BR" dirty="0"/>
              <a:t> para se trabalhar com arquivos </a:t>
            </a:r>
            <a:r>
              <a:rPr lang="pt-BR" dirty="0" err="1"/>
              <a:t>são</a:t>
            </a:r>
            <a:r>
              <a:rPr lang="pt-BR" dirty="0"/>
              <a:t>:</a:t>
            </a:r>
          </a:p>
          <a:p>
            <a:pPr algn="just"/>
            <a:r>
              <a:rPr lang="pt-BR" dirty="0" err="1"/>
              <a:t>fopen</a:t>
            </a:r>
            <a:r>
              <a:rPr lang="pt-BR" dirty="0"/>
              <a:t>( ) – abre um arquivo para trabalho;</a:t>
            </a:r>
          </a:p>
          <a:p>
            <a:pPr algn="just"/>
            <a:r>
              <a:rPr lang="pt-BR" dirty="0"/>
              <a:t> </a:t>
            </a:r>
            <a:r>
              <a:rPr lang="pt-BR" dirty="0" err="1"/>
              <a:t>fclose</a:t>
            </a:r>
            <a:r>
              <a:rPr lang="pt-BR" dirty="0"/>
              <a:t>( ) – fecha o arquivo; </a:t>
            </a:r>
          </a:p>
          <a:p>
            <a:pPr algn="just"/>
            <a:r>
              <a:rPr lang="pt-BR" dirty="0" err="1"/>
              <a:t>putc</a:t>
            </a:r>
            <a:r>
              <a:rPr lang="pt-BR" dirty="0"/>
              <a:t>( ) – escreve um caractere no arquivo aberto;</a:t>
            </a:r>
          </a:p>
          <a:p>
            <a:pPr algn="just"/>
            <a:r>
              <a:rPr lang="pt-BR" dirty="0"/>
              <a:t> </a:t>
            </a:r>
            <a:r>
              <a:rPr lang="pt-BR" dirty="0" err="1"/>
              <a:t>fputc</a:t>
            </a:r>
            <a:r>
              <a:rPr lang="pt-BR" dirty="0"/>
              <a:t>( ) – mesma </a:t>
            </a:r>
            <a:r>
              <a:rPr lang="pt-BR" dirty="0" err="1"/>
              <a:t>função</a:t>
            </a:r>
            <a:r>
              <a:rPr lang="pt-BR" dirty="0"/>
              <a:t> de </a:t>
            </a:r>
            <a:r>
              <a:rPr lang="pt-BR" dirty="0" err="1"/>
              <a:t>putc</a:t>
            </a:r>
            <a:r>
              <a:rPr lang="pt-BR" dirty="0"/>
              <a:t>( );</a:t>
            </a:r>
          </a:p>
          <a:p>
            <a:pPr algn="just"/>
            <a:r>
              <a:rPr lang="pt-BR" dirty="0"/>
              <a:t> </a:t>
            </a:r>
            <a:r>
              <a:rPr lang="pt-BR" dirty="0" err="1"/>
              <a:t>getc</a:t>
            </a:r>
            <a:r>
              <a:rPr lang="pt-BR" dirty="0"/>
              <a:t>( ) – </a:t>
            </a:r>
            <a:r>
              <a:rPr lang="pt-BR" dirty="0" err="1"/>
              <a:t>le</a:t>
            </a:r>
            <a:r>
              <a:rPr lang="pt-BR" dirty="0"/>
              <a:t>̂ um caractere do arquivo de trabalho; </a:t>
            </a:r>
          </a:p>
          <a:p>
            <a:pPr algn="just"/>
            <a:r>
              <a:rPr lang="pt-BR" dirty="0" err="1"/>
              <a:t>fgetc</a:t>
            </a:r>
            <a:r>
              <a:rPr lang="pt-BR" dirty="0"/>
              <a:t>( ) – mesma </a:t>
            </a:r>
            <a:r>
              <a:rPr lang="pt-BR" dirty="0" err="1"/>
              <a:t>função</a:t>
            </a:r>
            <a:r>
              <a:rPr lang="pt-BR" dirty="0"/>
              <a:t> de </a:t>
            </a:r>
            <a:r>
              <a:rPr lang="pt-BR" dirty="0" err="1"/>
              <a:t>getc</a:t>
            </a:r>
            <a:r>
              <a:rPr lang="pt-BR" dirty="0"/>
              <a:t>( );</a:t>
            </a:r>
          </a:p>
          <a:p>
            <a:pPr algn="just"/>
            <a:r>
              <a:rPr lang="pt-BR" dirty="0"/>
              <a:t> </a:t>
            </a:r>
            <a:r>
              <a:rPr lang="pt-BR" dirty="0" err="1"/>
              <a:t>fseek</a:t>
            </a:r>
            <a:r>
              <a:rPr lang="pt-BR" dirty="0"/>
              <a:t>( ) – posiciona o ponteiro de arquivo em um byte </a:t>
            </a:r>
            <a:r>
              <a:rPr lang="pt-BR" dirty="0" err="1"/>
              <a:t>específico</a:t>
            </a:r>
            <a:r>
              <a:rPr lang="pt-BR" dirty="0"/>
              <a:t>; </a:t>
            </a:r>
          </a:p>
          <a:p>
            <a:pPr algn="just"/>
            <a:r>
              <a:rPr lang="pt-BR" dirty="0" err="1"/>
              <a:t>rewind</a:t>
            </a:r>
            <a:r>
              <a:rPr lang="pt-BR" dirty="0"/>
              <a:t>( ) – posiciona o ponteiro de arquivo no </a:t>
            </a:r>
            <a:r>
              <a:rPr lang="pt-BR" dirty="0" err="1"/>
              <a:t>início</a:t>
            </a:r>
            <a:r>
              <a:rPr lang="pt-BR" dirty="0"/>
              <a:t> deste;</a:t>
            </a:r>
          </a:p>
          <a:p>
            <a:pPr algn="just"/>
            <a:r>
              <a:rPr lang="pt-BR" dirty="0"/>
              <a:t> </a:t>
            </a:r>
            <a:r>
              <a:rPr lang="pt-BR" dirty="0" err="1"/>
              <a:t>fprintf</a:t>
            </a:r>
            <a:r>
              <a:rPr lang="pt-BR" dirty="0"/>
              <a:t>( ) – idem ao </a:t>
            </a:r>
            <a:r>
              <a:rPr lang="pt-BR" dirty="0" err="1"/>
              <a:t>printf</a:t>
            </a:r>
            <a:r>
              <a:rPr lang="pt-BR" dirty="0"/>
              <a:t> na </a:t>
            </a:r>
            <a:r>
              <a:rPr lang="pt-BR" dirty="0" err="1"/>
              <a:t>saída-padrão</a:t>
            </a:r>
            <a:r>
              <a:rPr lang="pt-BR" dirty="0"/>
              <a:t>; </a:t>
            </a:r>
          </a:p>
          <a:p>
            <a:pPr algn="just"/>
            <a:r>
              <a:rPr lang="pt-BR" dirty="0" err="1"/>
              <a:t>fscanf</a:t>
            </a:r>
            <a:r>
              <a:rPr lang="pt-BR" dirty="0"/>
              <a:t>( ) – idem ao </a:t>
            </a:r>
            <a:r>
              <a:rPr lang="pt-BR" dirty="0" err="1"/>
              <a:t>scanf</a:t>
            </a:r>
            <a:r>
              <a:rPr lang="pt-BR" dirty="0"/>
              <a:t> na </a:t>
            </a:r>
            <a:r>
              <a:rPr lang="pt-BR" dirty="0" err="1"/>
              <a:t>entrada-padrão</a:t>
            </a:r>
            <a:r>
              <a:rPr lang="pt-BR" dirty="0"/>
              <a:t>.</a:t>
            </a:r>
          </a:p>
        </p:txBody>
      </p:sp>
      <p:sp>
        <p:nvSpPr>
          <p:cNvPr id="4" name="Espaço Reservado para Número de Slide 3">
            <a:extLst>
              <a:ext uri="{FF2B5EF4-FFF2-40B4-BE49-F238E27FC236}">
                <a16:creationId xmlns:a16="http://schemas.microsoft.com/office/drawing/2014/main" id="{08356072-C654-BC38-08D4-5731092784F2}"/>
              </a:ext>
            </a:extLst>
          </p:cNvPr>
          <p:cNvSpPr>
            <a:spLocks noGrp="1"/>
          </p:cNvSpPr>
          <p:nvPr>
            <p:ph type="sldNum" sz="quarter" idx="12"/>
          </p:nvPr>
        </p:nvSpPr>
        <p:spPr/>
        <p:txBody>
          <a:bodyPr/>
          <a:lstStyle/>
          <a:p>
            <a:pPr>
              <a:defRPr/>
            </a:pPr>
            <a:fld id="{3C09F0CB-83E3-4229-A8AF-4A40962CED14}" type="slidenum">
              <a:rPr lang="pt-BR" altLang="pt-BR" smtClean="0"/>
              <a:pPr>
                <a:defRPr/>
              </a:pPr>
              <a:t>25</a:t>
            </a:fld>
            <a:endParaRPr lang="pt-BR" altLang="pt-BR"/>
          </a:p>
        </p:txBody>
      </p:sp>
    </p:spTree>
    <p:extLst>
      <p:ext uri="{BB962C8B-B14F-4D97-AF65-F5344CB8AC3E}">
        <p14:creationId xmlns:p14="http://schemas.microsoft.com/office/powerpoint/2010/main" val="3725021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91DCC5-BD65-8449-9F77-0637AC168767}"/>
              </a:ext>
            </a:extLst>
          </p:cNvPr>
          <p:cNvSpPr>
            <a:spLocks noGrp="1"/>
          </p:cNvSpPr>
          <p:nvPr>
            <p:ph type="title"/>
          </p:nvPr>
        </p:nvSpPr>
        <p:spPr/>
        <p:txBody>
          <a:bodyPr/>
          <a:lstStyle/>
          <a:p>
            <a:r>
              <a:rPr lang="pt-BR" dirty="0"/>
              <a:t>Página 160 do livro</a:t>
            </a:r>
          </a:p>
        </p:txBody>
      </p:sp>
      <p:sp>
        <p:nvSpPr>
          <p:cNvPr id="3" name="Espaço Reservado para Conteúdo 2">
            <a:extLst>
              <a:ext uri="{FF2B5EF4-FFF2-40B4-BE49-F238E27FC236}">
                <a16:creationId xmlns:a16="http://schemas.microsoft.com/office/drawing/2014/main" id="{5B443810-EDC9-EEC8-1C5E-853D477C42D8}"/>
              </a:ext>
            </a:extLst>
          </p:cNvPr>
          <p:cNvSpPr>
            <a:spLocks noGrp="1"/>
          </p:cNvSpPr>
          <p:nvPr>
            <p:ph idx="1"/>
          </p:nvPr>
        </p:nvSpPr>
        <p:spPr/>
        <p:txBody>
          <a:bodyPr/>
          <a:lstStyle/>
          <a:p>
            <a:r>
              <a:rPr lang="pt-BR" dirty="0"/>
              <a:t>As </a:t>
            </a:r>
            <a:r>
              <a:rPr lang="pt-BR" dirty="0" err="1"/>
              <a:t>funções</a:t>
            </a:r>
            <a:r>
              <a:rPr lang="pt-BR" dirty="0"/>
              <a:t> </a:t>
            </a:r>
            <a:r>
              <a:rPr lang="pt-BR" dirty="0" err="1"/>
              <a:t>específicas</a:t>
            </a:r>
            <a:r>
              <a:rPr lang="pt-BR" dirty="0"/>
              <a:t> para se trabalhar com arquivos </a:t>
            </a:r>
            <a:r>
              <a:rPr lang="pt-BR" dirty="0" err="1"/>
              <a:t>são</a:t>
            </a:r>
            <a:r>
              <a:rPr lang="pt-BR" dirty="0"/>
              <a:t>:</a:t>
            </a:r>
          </a:p>
          <a:p>
            <a:pPr algn="just"/>
            <a:r>
              <a:rPr lang="pt-BR" dirty="0"/>
              <a:t>O arquivo de </a:t>
            </a:r>
            <a:r>
              <a:rPr lang="pt-BR" dirty="0" err="1"/>
              <a:t>cabeçalho</a:t>
            </a:r>
            <a:r>
              <a:rPr lang="pt-BR" dirty="0"/>
              <a:t> </a:t>
            </a:r>
            <a:r>
              <a:rPr lang="pt-BR" dirty="0" err="1"/>
              <a:t>stdio.h</a:t>
            </a:r>
            <a:r>
              <a:rPr lang="pt-BR" dirty="0"/>
              <a:t> define </a:t>
            </a:r>
            <a:r>
              <a:rPr lang="pt-BR" dirty="0" err="1"/>
              <a:t>várias</a:t>
            </a:r>
            <a:r>
              <a:rPr lang="pt-BR" dirty="0"/>
              <a:t> macros para o uso de arquivos, como NULL, FOPEN_MAX, SEEK_SET, EOF, SEEK_CUR e SEEK_END, descritas a seguir:</a:t>
            </a:r>
          </a:p>
          <a:p>
            <a:pPr algn="just"/>
            <a:r>
              <a:rPr lang="pt-BR" dirty="0"/>
              <a:t>NULL definirá um ponteiro nulo no que diz respeito ao arquivo; </a:t>
            </a:r>
          </a:p>
          <a:p>
            <a:pPr algn="just"/>
            <a:r>
              <a:rPr lang="pt-BR" dirty="0"/>
              <a:t>FOPEN_MAX define o </a:t>
            </a:r>
            <a:r>
              <a:rPr lang="pt-BR" dirty="0" err="1"/>
              <a:t>número</a:t>
            </a:r>
            <a:r>
              <a:rPr lang="pt-BR" dirty="0"/>
              <a:t> de arquivos que podem ser abertos simultaneamente; </a:t>
            </a:r>
          </a:p>
          <a:p>
            <a:pPr algn="just"/>
            <a:r>
              <a:rPr lang="pt-BR" dirty="0"/>
              <a:t>SEEK_SET, SEEK_CUR e SEEK_END </a:t>
            </a:r>
            <a:r>
              <a:rPr lang="pt-BR" dirty="0" err="1"/>
              <a:t>são</a:t>
            </a:r>
            <a:r>
              <a:rPr lang="pt-BR" dirty="0"/>
              <a:t> utilizados com a </a:t>
            </a:r>
            <a:r>
              <a:rPr lang="pt-BR" dirty="0" err="1"/>
              <a:t>função</a:t>
            </a:r>
            <a:r>
              <a:rPr lang="pt-BR" dirty="0"/>
              <a:t> </a:t>
            </a:r>
            <a:r>
              <a:rPr lang="pt-BR" dirty="0" err="1"/>
              <a:t>fseek</a:t>
            </a:r>
            <a:r>
              <a:rPr lang="pt-BR" dirty="0"/>
              <a:t>( ) para se acessar aleatoriamente determinado arquivo;</a:t>
            </a:r>
          </a:p>
          <a:p>
            <a:pPr algn="just"/>
            <a:r>
              <a:rPr lang="pt-BR" dirty="0"/>
              <a:t> EOF retorna -1 quando uma </a:t>
            </a:r>
            <a:r>
              <a:rPr lang="pt-BR" dirty="0" err="1"/>
              <a:t>função</a:t>
            </a:r>
            <a:r>
              <a:rPr lang="pt-BR" dirty="0"/>
              <a:t> atinge o final do arquivo.</a:t>
            </a:r>
          </a:p>
          <a:p>
            <a:endParaRPr lang="pt-BR" dirty="0"/>
          </a:p>
        </p:txBody>
      </p:sp>
      <p:sp>
        <p:nvSpPr>
          <p:cNvPr id="4" name="Espaço Reservado para Número de Slide 3">
            <a:extLst>
              <a:ext uri="{FF2B5EF4-FFF2-40B4-BE49-F238E27FC236}">
                <a16:creationId xmlns:a16="http://schemas.microsoft.com/office/drawing/2014/main" id="{08356072-C654-BC38-08D4-5731092784F2}"/>
              </a:ext>
            </a:extLst>
          </p:cNvPr>
          <p:cNvSpPr>
            <a:spLocks noGrp="1"/>
          </p:cNvSpPr>
          <p:nvPr>
            <p:ph type="sldNum" sz="quarter" idx="12"/>
          </p:nvPr>
        </p:nvSpPr>
        <p:spPr/>
        <p:txBody>
          <a:bodyPr/>
          <a:lstStyle/>
          <a:p>
            <a:pPr>
              <a:defRPr/>
            </a:pPr>
            <a:fld id="{3C09F0CB-83E3-4229-A8AF-4A40962CED14}" type="slidenum">
              <a:rPr lang="pt-BR" altLang="pt-BR" smtClean="0"/>
              <a:pPr>
                <a:defRPr/>
              </a:pPr>
              <a:t>26</a:t>
            </a:fld>
            <a:endParaRPr lang="pt-BR" altLang="pt-BR"/>
          </a:p>
        </p:txBody>
      </p:sp>
    </p:spTree>
    <p:extLst>
      <p:ext uri="{BB962C8B-B14F-4D97-AF65-F5344CB8AC3E}">
        <p14:creationId xmlns:p14="http://schemas.microsoft.com/office/powerpoint/2010/main" val="2620995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D12D81-2797-70F4-9794-661E664B19E4}"/>
              </a:ext>
            </a:extLst>
          </p:cNvPr>
          <p:cNvSpPr>
            <a:spLocks noGrp="1"/>
          </p:cNvSpPr>
          <p:nvPr>
            <p:ph type="title"/>
          </p:nvPr>
        </p:nvSpPr>
        <p:spPr/>
        <p:txBody>
          <a:bodyPr/>
          <a:lstStyle/>
          <a:p>
            <a:r>
              <a:rPr lang="pt-BR" dirty="0"/>
              <a:t>162</a:t>
            </a:r>
          </a:p>
        </p:txBody>
      </p:sp>
      <p:sp>
        <p:nvSpPr>
          <p:cNvPr id="3" name="Espaço Reservado para Conteúdo 2">
            <a:extLst>
              <a:ext uri="{FF2B5EF4-FFF2-40B4-BE49-F238E27FC236}">
                <a16:creationId xmlns:a16="http://schemas.microsoft.com/office/drawing/2014/main" id="{07B774D9-518E-6A79-1852-8FCC7939949C}"/>
              </a:ext>
            </a:extLst>
          </p:cNvPr>
          <p:cNvSpPr>
            <a:spLocks noGrp="1"/>
          </p:cNvSpPr>
          <p:nvPr>
            <p:ph idx="1"/>
          </p:nvPr>
        </p:nvSpPr>
        <p:spPr/>
        <p:txBody>
          <a:bodyPr/>
          <a:lstStyle/>
          <a:p>
            <a:pPr algn="just"/>
            <a:r>
              <a:rPr lang="pt-BR" dirty="0"/>
              <a:t>Essa </a:t>
            </a:r>
            <a:r>
              <a:rPr lang="pt-BR" dirty="0" err="1"/>
              <a:t>operação</a:t>
            </a:r>
            <a:r>
              <a:rPr lang="pt-BR" dirty="0"/>
              <a:t> sobrescreve o </a:t>
            </a:r>
            <a:r>
              <a:rPr lang="pt-BR" dirty="0" err="1"/>
              <a:t>conteúdo</a:t>
            </a:r>
            <a:r>
              <a:rPr lang="pt-BR" dirty="0"/>
              <a:t> </a:t>
            </a:r>
            <a:r>
              <a:rPr lang="pt-BR" dirty="0" err="1"/>
              <a:t>ja</a:t>
            </a:r>
            <a:r>
              <a:rPr lang="pt-BR" dirty="0"/>
              <a:t>́ existente no arquivo.</a:t>
            </a:r>
          </a:p>
          <a:p>
            <a:pPr algn="just"/>
            <a:r>
              <a:rPr lang="pt-BR" dirty="0"/>
              <a:t> Em primeiro lugar, precisamos abrir o arquivo em modo que permita a escrita, e em seguida gravar o texto digitado pelo </a:t>
            </a:r>
            <a:r>
              <a:rPr lang="pt-BR" dirty="0" err="1"/>
              <a:t>usuário</a:t>
            </a:r>
            <a:r>
              <a:rPr lang="pt-BR" dirty="0"/>
              <a:t>:</a:t>
            </a:r>
          </a:p>
          <a:p>
            <a:endParaRPr lang="pt-BR" dirty="0"/>
          </a:p>
        </p:txBody>
      </p:sp>
      <p:sp>
        <p:nvSpPr>
          <p:cNvPr id="4" name="Espaço Reservado para Número de Slide 3">
            <a:extLst>
              <a:ext uri="{FF2B5EF4-FFF2-40B4-BE49-F238E27FC236}">
                <a16:creationId xmlns:a16="http://schemas.microsoft.com/office/drawing/2014/main" id="{4BAF05DE-020D-6007-6D51-0783EA79720D}"/>
              </a:ext>
            </a:extLst>
          </p:cNvPr>
          <p:cNvSpPr>
            <a:spLocks noGrp="1"/>
          </p:cNvSpPr>
          <p:nvPr>
            <p:ph type="sldNum" sz="quarter" idx="12"/>
          </p:nvPr>
        </p:nvSpPr>
        <p:spPr/>
        <p:txBody>
          <a:bodyPr/>
          <a:lstStyle/>
          <a:p>
            <a:pPr>
              <a:defRPr/>
            </a:pPr>
            <a:fld id="{3C09F0CB-83E3-4229-A8AF-4A40962CED14}" type="slidenum">
              <a:rPr lang="pt-BR" altLang="pt-BR" smtClean="0"/>
              <a:pPr>
                <a:defRPr/>
              </a:pPr>
              <a:t>27</a:t>
            </a:fld>
            <a:endParaRPr lang="pt-BR" altLang="pt-BR"/>
          </a:p>
        </p:txBody>
      </p:sp>
      <p:sp>
        <p:nvSpPr>
          <p:cNvPr id="6" name="CaixaDeTexto 5">
            <a:extLst>
              <a:ext uri="{FF2B5EF4-FFF2-40B4-BE49-F238E27FC236}">
                <a16:creationId xmlns:a16="http://schemas.microsoft.com/office/drawing/2014/main" id="{47657CB2-D14E-ED08-4CE0-5FCDE24C3DC9}"/>
              </a:ext>
            </a:extLst>
          </p:cNvPr>
          <p:cNvSpPr txBox="1"/>
          <p:nvPr/>
        </p:nvSpPr>
        <p:spPr>
          <a:xfrm>
            <a:off x="1752600" y="2492896"/>
            <a:ext cx="8686800" cy="4278094"/>
          </a:xfrm>
          <a:prstGeom prst="rect">
            <a:avLst/>
          </a:prstGeom>
          <a:solidFill>
            <a:schemeClr val="bg1">
              <a:lumMod val="50000"/>
            </a:schemeClr>
          </a:solidFill>
        </p:spPr>
        <p:txBody>
          <a:bodyPr wrap="square">
            <a:spAutoFit/>
          </a:bodyPr>
          <a:lstStyle/>
          <a:p>
            <a:r>
              <a:rPr lang="pt-BR" sz="1600" dirty="0"/>
              <a:t>#include &lt;</a:t>
            </a:r>
            <a:r>
              <a:rPr lang="pt-BR" sz="1600" dirty="0" err="1"/>
              <a:t>stdio.h</a:t>
            </a:r>
            <a:r>
              <a:rPr lang="pt-BR" sz="1600" dirty="0"/>
              <a:t>&gt; </a:t>
            </a:r>
          </a:p>
          <a:p>
            <a:r>
              <a:rPr lang="pt-BR" sz="1600" dirty="0"/>
              <a:t>#include &lt;</a:t>
            </a:r>
            <a:r>
              <a:rPr lang="pt-BR" sz="1600" dirty="0" err="1"/>
              <a:t>stdlib.h</a:t>
            </a:r>
            <a:r>
              <a:rPr lang="pt-BR" sz="1600" dirty="0"/>
              <a:t>&gt;</a:t>
            </a:r>
          </a:p>
          <a:p>
            <a:r>
              <a:rPr lang="pt-BR" sz="1600" dirty="0" err="1"/>
              <a:t>main</a:t>
            </a:r>
            <a:r>
              <a:rPr lang="pt-BR" sz="1600" dirty="0"/>
              <a:t>() {</a:t>
            </a:r>
          </a:p>
          <a:p>
            <a:r>
              <a:rPr lang="pt-BR" sz="1600" dirty="0"/>
              <a:t>FILE * arquivo; </a:t>
            </a:r>
          </a:p>
          <a:p>
            <a:r>
              <a:rPr lang="pt-BR" sz="1600" dirty="0"/>
              <a:t>char mensagem[80]; </a:t>
            </a:r>
          </a:p>
          <a:p>
            <a:r>
              <a:rPr lang="pt-BR" sz="1600" dirty="0" err="1"/>
              <a:t>printf</a:t>
            </a:r>
            <a:r>
              <a:rPr lang="pt-BR" sz="1600" dirty="0"/>
              <a:t>(“Entre o texto: \n”); </a:t>
            </a:r>
          </a:p>
          <a:p>
            <a:r>
              <a:rPr lang="pt-BR" sz="1600" dirty="0" err="1"/>
              <a:t>gets</a:t>
            </a:r>
            <a:r>
              <a:rPr lang="pt-BR" sz="1600" dirty="0"/>
              <a:t>(mensagem);</a:t>
            </a:r>
          </a:p>
          <a:p>
            <a:r>
              <a:rPr lang="pt-BR" sz="1600" dirty="0" err="1"/>
              <a:t>if</a:t>
            </a:r>
            <a:r>
              <a:rPr lang="pt-BR" sz="1600" dirty="0"/>
              <a:t>((arquivo = </a:t>
            </a:r>
            <a:r>
              <a:rPr lang="pt-BR" sz="1600" dirty="0" err="1"/>
              <a:t>fopen</a:t>
            </a:r>
            <a:r>
              <a:rPr lang="pt-BR" sz="1600" dirty="0"/>
              <a:t>(“arquivo.</a:t>
            </a:r>
            <a:r>
              <a:rPr lang="pt-BR" sz="1600" dirty="0" err="1"/>
              <a:t>txt</a:t>
            </a:r>
            <a:r>
              <a:rPr lang="pt-BR" sz="1600" dirty="0"/>
              <a:t>”,”w”)) == NULL) // </a:t>
            </a:r>
            <a:r>
              <a:rPr lang="pt-BR" sz="1600" dirty="0" err="1"/>
              <a:t>mode</a:t>
            </a:r>
            <a:r>
              <a:rPr lang="pt-BR" sz="1600" dirty="0"/>
              <a:t> de escrita ativo</a:t>
            </a:r>
          </a:p>
          <a:p>
            <a:r>
              <a:rPr lang="pt-BR" sz="1600" dirty="0"/>
              <a:t> {</a:t>
            </a:r>
          </a:p>
          <a:p>
            <a:r>
              <a:rPr lang="pt-BR" sz="1600" dirty="0"/>
              <a:t>	</a:t>
            </a:r>
            <a:r>
              <a:rPr lang="pt-BR" sz="1600" dirty="0" err="1"/>
              <a:t>printf</a:t>
            </a:r>
            <a:r>
              <a:rPr lang="pt-BR" sz="1600" dirty="0"/>
              <a:t>(“Erro de abertura! \n”);</a:t>
            </a:r>
          </a:p>
          <a:p>
            <a:r>
              <a:rPr lang="pt-BR" sz="1600" dirty="0"/>
              <a:t> }</a:t>
            </a:r>
          </a:p>
          <a:p>
            <a:r>
              <a:rPr lang="pt-BR" sz="1600" dirty="0" err="1"/>
              <a:t>else</a:t>
            </a:r>
            <a:r>
              <a:rPr lang="pt-BR" sz="1600" dirty="0"/>
              <a:t> {</a:t>
            </a:r>
          </a:p>
          <a:p>
            <a:r>
              <a:rPr lang="pt-BR" sz="1600" dirty="0" err="1"/>
              <a:t>fprintf</a:t>
            </a:r>
            <a:r>
              <a:rPr lang="pt-BR" sz="1600" dirty="0"/>
              <a:t>(arquivo, “%s \n”, mensagem);</a:t>
            </a:r>
          </a:p>
          <a:p>
            <a:r>
              <a:rPr lang="pt-BR" sz="1600" dirty="0"/>
              <a:t> </a:t>
            </a:r>
            <a:r>
              <a:rPr lang="pt-BR" sz="1600" dirty="0" err="1"/>
              <a:t>fclose</a:t>
            </a:r>
            <a:r>
              <a:rPr lang="pt-BR" sz="1600" dirty="0"/>
              <a:t>(arquivo);</a:t>
            </a:r>
          </a:p>
          <a:p>
            <a:r>
              <a:rPr lang="pt-BR" sz="1600" dirty="0"/>
              <a:t>}</a:t>
            </a:r>
          </a:p>
          <a:p>
            <a:r>
              <a:rPr lang="pt-BR" sz="1600" dirty="0"/>
              <a:t>system(“pause”);</a:t>
            </a:r>
          </a:p>
          <a:p>
            <a:r>
              <a:rPr lang="pt-BR" sz="1600" dirty="0"/>
              <a:t> }</a:t>
            </a:r>
          </a:p>
        </p:txBody>
      </p:sp>
    </p:spTree>
    <p:extLst>
      <p:ext uri="{BB962C8B-B14F-4D97-AF65-F5344CB8AC3E}">
        <p14:creationId xmlns:p14="http://schemas.microsoft.com/office/powerpoint/2010/main" val="159711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D12D81-2797-70F4-9794-661E664B19E4}"/>
              </a:ext>
            </a:extLst>
          </p:cNvPr>
          <p:cNvSpPr>
            <a:spLocks noGrp="1"/>
          </p:cNvSpPr>
          <p:nvPr>
            <p:ph type="title"/>
          </p:nvPr>
        </p:nvSpPr>
        <p:spPr/>
        <p:txBody>
          <a:bodyPr/>
          <a:lstStyle/>
          <a:p>
            <a:r>
              <a:rPr lang="pt-BR" dirty="0"/>
              <a:t>165 Leitura dos caracteres do arquivo</a:t>
            </a:r>
          </a:p>
        </p:txBody>
      </p:sp>
      <p:sp>
        <p:nvSpPr>
          <p:cNvPr id="3" name="Espaço Reservado para Conteúdo 2">
            <a:extLst>
              <a:ext uri="{FF2B5EF4-FFF2-40B4-BE49-F238E27FC236}">
                <a16:creationId xmlns:a16="http://schemas.microsoft.com/office/drawing/2014/main" id="{07B774D9-518E-6A79-1852-8FCC7939949C}"/>
              </a:ext>
            </a:extLst>
          </p:cNvPr>
          <p:cNvSpPr>
            <a:spLocks noGrp="1"/>
          </p:cNvSpPr>
          <p:nvPr>
            <p:ph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BAF05DE-020D-6007-6D51-0783EA79720D}"/>
              </a:ext>
            </a:extLst>
          </p:cNvPr>
          <p:cNvSpPr>
            <a:spLocks noGrp="1"/>
          </p:cNvSpPr>
          <p:nvPr>
            <p:ph type="sldNum" sz="quarter" idx="12"/>
          </p:nvPr>
        </p:nvSpPr>
        <p:spPr/>
        <p:txBody>
          <a:bodyPr/>
          <a:lstStyle/>
          <a:p>
            <a:pPr>
              <a:defRPr/>
            </a:pPr>
            <a:fld id="{3C09F0CB-83E3-4229-A8AF-4A40962CED14}" type="slidenum">
              <a:rPr lang="pt-BR" altLang="pt-BR" smtClean="0"/>
              <a:pPr>
                <a:defRPr/>
              </a:pPr>
              <a:t>28</a:t>
            </a:fld>
            <a:endParaRPr lang="pt-BR" altLang="pt-BR"/>
          </a:p>
        </p:txBody>
      </p:sp>
      <p:sp>
        <p:nvSpPr>
          <p:cNvPr id="6" name="CaixaDeTexto 5">
            <a:extLst>
              <a:ext uri="{FF2B5EF4-FFF2-40B4-BE49-F238E27FC236}">
                <a16:creationId xmlns:a16="http://schemas.microsoft.com/office/drawing/2014/main" id="{47657CB2-D14E-ED08-4CE0-5FCDE24C3DC9}"/>
              </a:ext>
            </a:extLst>
          </p:cNvPr>
          <p:cNvSpPr txBox="1"/>
          <p:nvPr/>
        </p:nvSpPr>
        <p:spPr>
          <a:xfrm>
            <a:off x="1919536" y="1387819"/>
            <a:ext cx="8686800" cy="5262979"/>
          </a:xfrm>
          <a:prstGeom prst="rect">
            <a:avLst/>
          </a:prstGeom>
          <a:solidFill>
            <a:schemeClr val="bg1">
              <a:lumMod val="50000"/>
            </a:schemeClr>
          </a:solidFill>
        </p:spPr>
        <p:txBody>
          <a:bodyPr wrap="square">
            <a:spAutoFit/>
          </a:bodyPr>
          <a:lstStyle/>
          <a:p>
            <a:r>
              <a:rPr lang="pt-BR" sz="1600" dirty="0"/>
              <a:t>#include &lt;</a:t>
            </a:r>
            <a:r>
              <a:rPr lang="pt-BR" sz="1600" dirty="0" err="1"/>
              <a:t>stdio.h</a:t>
            </a:r>
            <a:r>
              <a:rPr lang="pt-BR" sz="1600" dirty="0"/>
              <a:t>&gt; </a:t>
            </a:r>
          </a:p>
          <a:p>
            <a:r>
              <a:rPr lang="pt-BR" sz="1600" dirty="0"/>
              <a:t>#include &lt;</a:t>
            </a:r>
            <a:r>
              <a:rPr lang="pt-BR" sz="1600" dirty="0" err="1"/>
              <a:t>stdlib.h</a:t>
            </a:r>
            <a:r>
              <a:rPr lang="pt-BR" sz="1600" dirty="0"/>
              <a:t>&gt;</a:t>
            </a:r>
          </a:p>
          <a:p>
            <a:r>
              <a:rPr lang="pt-BR" sz="1600" dirty="0" err="1"/>
              <a:t>main</a:t>
            </a:r>
            <a:r>
              <a:rPr lang="pt-BR" sz="1600" dirty="0"/>
              <a:t>() {</a:t>
            </a:r>
          </a:p>
          <a:p>
            <a:r>
              <a:rPr lang="pt-BR" sz="1600" dirty="0"/>
              <a:t>char buffer[128];</a:t>
            </a:r>
          </a:p>
          <a:p>
            <a:r>
              <a:rPr lang="pt-BR" sz="1600" dirty="0"/>
              <a:t> FILE *arquivo;</a:t>
            </a:r>
          </a:p>
          <a:p>
            <a:r>
              <a:rPr lang="pt-BR" sz="1600" dirty="0" err="1"/>
              <a:t>if</a:t>
            </a:r>
            <a:r>
              <a:rPr lang="pt-BR" sz="1600" dirty="0"/>
              <a:t>((arquivo = </a:t>
            </a:r>
            <a:r>
              <a:rPr lang="pt-BR" sz="1600" dirty="0" err="1"/>
              <a:t>fopen</a:t>
            </a:r>
            <a:r>
              <a:rPr lang="pt-BR" sz="1600" dirty="0"/>
              <a:t>("arquivo.</a:t>
            </a:r>
            <a:r>
              <a:rPr lang="pt-BR" sz="1600" dirty="0" err="1"/>
              <a:t>txt</a:t>
            </a:r>
            <a:r>
              <a:rPr lang="pt-BR" sz="1600" dirty="0"/>
              <a:t>","r")) == NULL) </a:t>
            </a:r>
          </a:p>
          <a:p>
            <a:r>
              <a:rPr lang="pt-BR" sz="1600" dirty="0"/>
              <a:t>	{</a:t>
            </a:r>
          </a:p>
          <a:p>
            <a:r>
              <a:rPr lang="pt-BR" sz="1600" dirty="0"/>
              <a:t>	</a:t>
            </a:r>
            <a:r>
              <a:rPr lang="pt-BR" sz="1600" dirty="0" err="1"/>
              <a:t>printf</a:t>
            </a:r>
            <a:r>
              <a:rPr lang="pt-BR" sz="1600" dirty="0"/>
              <a:t>("Erro de abertura! \n");</a:t>
            </a:r>
          </a:p>
          <a:p>
            <a:r>
              <a:rPr lang="pt-BR" sz="1600" dirty="0"/>
              <a:t>	} </a:t>
            </a:r>
          </a:p>
          <a:p>
            <a:r>
              <a:rPr lang="pt-BR" sz="1600" dirty="0" err="1"/>
              <a:t>else</a:t>
            </a:r>
            <a:r>
              <a:rPr lang="pt-BR" sz="1600" dirty="0"/>
              <a:t> </a:t>
            </a:r>
          </a:p>
          <a:p>
            <a:r>
              <a:rPr lang="pt-BR" sz="1600" dirty="0"/>
              <a:t>	{</a:t>
            </a:r>
          </a:p>
          <a:p>
            <a:r>
              <a:rPr lang="pt-BR" sz="1600" dirty="0"/>
              <a:t>	</a:t>
            </a:r>
            <a:r>
              <a:rPr lang="pt-BR" sz="1600" dirty="0" err="1"/>
              <a:t>fgets</a:t>
            </a:r>
            <a:r>
              <a:rPr lang="pt-BR" sz="1600" dirty="0"/>
              <a:t>(buffer, 80, arquivo);</a:t>
            </a:r>
          </a:p>
          <a:p>
            <a:r>
              <a:rPr lang="pt-BR" sz="1600" dirty="0"/>
              <a:t>	</a:t>
            </a:r>
            <a:r>
              <a:rPr lang="pt-BR" sz="1600" dirty="0" err="1"/>
              <a:t>while</a:t>
            </a:r>
            <a:r>
              <a:rPr lang="pt-BR" sz="1600" dirty="0"/>
              <a:t>(!</a:t>
            </a:r>
            <a:r>
              <a:rPr lang="pt-BR" sz="1600" dirty="0" err="1"/>
              <a:t>feof</a:t>
            </a:r>
            <a:r>
              <a:rPr lang="pt-BR" sz="1600" dirty="0"/>
              <a:t>(arquivo))</a:t>
            </a:r>
          </a:p>
          <a:p>
            <a:r>
              <a:rPr lang="pt-BR" sz="1600" dirty="0"/>
              <a:t>		{</a:t>
            </a:r>
          </a:p>
          <a:p>
            <a:r>
              <a:rPr lang="pt-BR" sz="1600" dirty="0"/>
              <a:t>		</a:t>
            </a:r>
            <a:r>
              <a:rPr lang="pt-BR" sz="1600" dirty="0" err="1"/>
              <a:t>printf</a:t>
            </a:r>
            <a:r>
              <a:rPr lang="pt-BR" sz="1600" dirty="0"/>
              <a:t>("%s", buffer);</a:t>
            </a:r>
          </a:p>
          <a:p>
            <a:r>
              <a:rPr lang="pt-BR" sz="1600" dirty="0"/>
              <a:t> 		</a:t>
            </a:r>
            <a:r>
              <a:rPr lang="pt-BR" sz="1600" dirty="0" err="1"/>
              <a:t>fgets</a:t>
            </a:r>
            <a:r>
              <a:rPr lang="pt-BR" sz="1600" dirty="0"/>
              <a:t>(buffer, 80, arquivo);</a:t>
            </a:r>
          </a:p>
          <a:p>
            <a:r>
              <a:rPr lang="pt-BR" sz="1600" dirty="0"/>
              <a:t>		} </a:t>
            </a:r>
          </a:p>
          <a:p>
            <a:r>
              <a:rPr lang="pt-BR" sz="1600" dirty="0"/>
              <a:t>	</a:t>
            </a:r>
            <a:r>
              <a:rPr lang="pt-BR" sz="1600" dirty="0" err="1"/>
              <a:t>fclose</a:t>
            </a:r>
            <a:r>
              <a:rPr lang="pt-BR" sz="1600" dirty="0"/>
              <a:t>(arquivo);</a:t>
            </a:r>
          </a:p>
          <a:p>
            <a:r>
              <a:rPr lang="pt-BR" sz="1600" dirty="0"/>
              <a:t>	} </a:t>
            </a:r>
          </a:p>
          <a:p>
            <a:r>
              <a:rPr lang="pt-BR" sz="1600" dirty="0"/>
              <a:t>system("pause");</a:t>
            </a:r>
          </a:p>
          <a:p>
            <a:r>
              <a:rPr lang="pt-BR" sz="1600" dirty="0"/>
              <a:t>}</a:t>
            </a:r>
          </a:p>
        </p:txBody>
      </p:sp>
    </p:spTree>
    <p:extLst>
      <p:ext uri="{BB962C8B-B14F-4D97-AF65-F5344CB8AC3E}">
        <p14:creationId xmlns:p14="http://schemas.microsoft.com/office/powerpoint/2010/main" val="2053928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D12D81-2797-70F4-9794-661E664B19E4}"/>
              </a:ext>
            </a:extLst>
          </p:cNvPr>
          <p:cNvSpPr>
            <a:spLocks noGrp="1"/>
          </p:cNvSpPr>
          <p:nvPr>
            <p:ph type="title"/>
          </p:nvPr>
        </p:nvSpPr>
        <p:spPr/>
        <p:txBody>
          <a:bodyPr/>
          <a:lstStyle/>
          <a:p>
            <a:r>
              <a:rPr lang="pt-BR" dirty="0"/>
              <a:t>174 escrita e leitura dos caracteres do </a:t>
            </a:r>
            <a:r>
              <a:rPr lang="pt-BR"/>
              <a:t>arquivo variáveis bin</a:t>
            </a:r>
            <a:endParaRPr lang="pt-BR" dirty="0"/>
          </a:p>
        </p:txBody>
      </p:sp>
      <p:sp>
        <p:nvSpPr>
          <p:cNvPr id="3" name="Espaço Reservado para Conteúdo 2">
            <a:extLst>
              <a:ext uri="{FF2B5EF4-FFF2-40B4-BE49-F238E27FC236}">
                <a16:creationId xmlns:a16="http://schemas.microsoft.com/office/drawing/2014/main" id="{07B774D9-518E-6A79-1852-8FCC7939949C}"/>
              </a:ext>
            </a:extLst>
          </p:cNvPr>
          <p:cNvSpPr>
            <a:spLocks noGrp="1"/>
          </p:cNvSpPr>
          <p:nvPr>
            <p:ph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BAF05DE-020D-6007-6D51-0783EA79720D}"/>
              </a:ext>
            </a:extLst>
          </p:cNvPr>
          <p:cNvSpPr>
            <a:spLocks noGrp="1"/>
          </p:cNvSpPr>
          <p:nvPr>
            <p:ph type="sldNum" sz="quarter" idx="12"/>
          </p:nvPr>
        </p:nvSpPr>
        <p:spPr/>
        <p:txBody>
          <a:bodyPr/>
          <a:lstStyle/>
          <a:p>
            <a:pPr>
              <a:defRPr/>
            </a:pPr>
            <a:fld id="{3C09F0CB-83E3-4229-A8AF-4A40962CED14}" type="slidenum">
              <a:rPr lang="pt-BR" altLang="pt-BR" smtClean="0"/>
              <a:pPr>
                <a:defRPr/>
              </a:pPr>
              <a:t>29</a:t>
            </a:fld>
            <a:endParaRPr lang="pt-BR" altLang="pt-BR"/>
          </a:p>
        </p:txBody>
      </p:sp>
      <p:sp>
        <p:nvSpPr>
          <p:cNvPr id="6" name="CaixaDeTexto 5">
            <a:extLst>
              <a:ext uri="{FF2B5EF4-FFF2-40B4-BE49-F238E27FC236}">
                <a16:creationId xmlns:a16="http://schemas.microsoft.com/office/drawing/2014/main" id="{47657CB2-D14E-ED08-4CE0-5FCDE24C3DC9}"/>
              </a:ext>
            </a:extLst>
          </p:cNvPr>
          <p:cNvSpPr txBox="1"/>
          <p:nvPr/>
        </p:nvSpPr>
        <p:spPr>
          <a:xfrm>
            <a:off x="1919536" y="1387818"/>
            <a:ext cx="8686800" cy="5509200"/>
          </a:xfrm>
          <a:prstGeom prst="rect">
            <a:avLst/>
          </a:prstGeom>
          <a:solidFill>
            <a:schemeClr val="bg1">
              <a:lumMod val="50000"/>
            </a:schemeClr>
          </a:solidFill>
        </p:spPr>
        <p:txBody>
          <a:bodyPr wrap="square">
            <a:spAutoFit/>
          </a:bodyPr>
          <a:lstStyle/>
          <a:p>
            <a:r>
              <a:rPr lang="pt-BR" sz="1600" dirty="0"/>
              <a:t>#include &lt;</a:t>
            </a:r>
            <a:r>
              <a:rPr lang="pt-BR" sz="1600" dirty="0" err="1"/>
              <a:t>stdio.h</a:t>
            </a:r>
            <a:r>
              <a:rPr lang="pt-BR" sz="1600" dirty="0"/>
              <a:t>&gt;</a:t>
            </a:r>
          </a:p>
          <a:p>
            <a:r>
              <a:rPr lang="pt-BR" sz="1600" dirty="0"/>
              <a:t>#include &lt;</a:t>
            </a:r>
            <a:r>
              <a:rPr lang="pt-BR" sz="1600" dirty="0" err="1"/>
              <a:t>stdlib.h</a:t>
            </a:r>
            <a:r>
              <a:rPr lang="pt-BR" sz="1600" dirty="0"/>
              <a:t>&gt;</a:t>
            </a:r>
          </a:p>
          <a:p>
            <a:r>
              <a:rPr lang="pt-BR" sz="1600" dirty="0" err="1"/>
              <a:t>struct</a:t>
            </a:r>
            <a:r>
              <a:rPr lang="pt-BR" sz="1600" dirty="0"/>
              <a:t> {</a:t>
            </a:r>
          </a:p>
          <a:p>
            <a:r>
              <a:rPr lang="pt-BR" sz="1600" dirty="0"/>
              <a:t> char nome[30];</a:t>
            </a:r>
          </a:p>
          <a:p>
            <a:r>
              <a:rPr lang="pt-BR" sz="1600" dirty="0"/>
              <a:t> </a:t>
            </a:r>
            <a:r>
              <a:rPr lang="pt-BR" sz="1600" dirty="0" err="1"/>
              <a:t>int</a:t>
            </a:r>
            <a:r>
              <a:rPr lang="pt-BR" sz="1600" dirty="0"/>
              <a:t> idade; } p;</a:t>
            </a:r>
          </a:p>
          <a:p>
            <a:r>
              <a:rPr lang="pt-BR" sz="1600" dirty="0" err="1"/>
              <a:t>main</a:t>
            </a:r>
            <a:r>
              <a:rPr lang="pt-BR" sz="1600" dirty="0"/>
              <a:t>() {</a:t>
            </a:r>
          </a:p>
          <a:p>
            <a:endParaRPr lang="pt-BR" sz="1600" dirty="0"/>
          </a:p>
          <a:p>
            <a:r>
              <a:rPr lang="pt-BR" sz="1600" dirty="0"/>
              <a:t>FILE *f;</a:t>
            </a:r>
          </a:p>
          <a:p>
            <a:r>
              <a:rPr lang="pt-BR" sz="1600" dirty="0" err="1"/>
              <a:t>strcpy</a:t>
            </a:r>
            <a:r>
              <a:rPr lang="pt-BR" sz="1600" dirty="0"/>
              <a:t>(</a:t>
            </a:r>
            <a:r>
              <a:rPr lang="pt-BR" sz="1600" dirty="0" err="1"/>
              <a:t>p.nome</a:t>
            </a:r>
            <a:r>
              <a:rPr lang="pt-BR" sz="1600" dirty="0"/>
              <a:t>, "Paulo");</a:t>
            </a:r>
          </a:p>
          <a:p>
            <a:r>
              <a:rPr lang="pt-BR" sz="1600" dirty="0" err="1"/>
              <a:t>p.idade</a:t>
            </a:r>
            <a:r>
              <a:rPr lang="pt-BR" sz="1600" dirty="0"/>
              <a:t>=15;</a:t>
            </a:r>
          </a:p>
          <a:p>
            <a:r>
              <a:rPr lang="pt-BR" sz="1600" dirty="0"/>
              <a:t>f = </a:t>
            </a:r>
            <a:r>
              <a:rPr lang="pt-BR" sz="1600" dirty="0" err="1"/>
              <a:t>fopen</a:t>
            </a:r>
            <a:r>
              <a:rPr lang="pt-BR" sz="1600" dirty="0"/>
              <a:t>("teste2.dat", "</a:t>
            </a:r>
            <a:r>
              <a:rPr lang="pt-BR" sz="1600" dirty="0" err="1"/>
              <a:t>wb</a:t>
            </a:r>
            <a:r>
              <a:rPr lang="pt-BR" sz="1600" dirty="0"/>
              <a:t>");</a:t>
            </a:r>
          </a:p>
          <a:p>
            <a:r>
              <a:rPr lang="pt-BR" sz="1600" dirty="0" err="1"/>
              <a:t>fwrite</a:t>
            </a:r>
            <a:r>
              <a:rPr lang="pt-BR" sz="1600" dirty="0"/>
              <a:t>(&amp;p, 1, </a:t>
            </a:r>
            <a:r>
              <a:rPr lang="pt-BR" sz="1600" dirty="0" err="1"/>
              <a:t>sizeof</a:t>
            </a:r>
            <a:r>
              <a:rPr lang="pt-BR" sz="1600" dirty="0"/>
              <a:t>(p), f);</a:t>
            </a:r>
          </a:p>
          <a:p>
            <a:r>
              <a:rPr lang="pt-BR" sz="1600" dirty="0"/>
              <a:t>  </a:t>
            </a:r>
            <a:r>
              <a:rPr lang="pt-BR" sz="1600" dirty="0" err="1"/>
              <a:t>fclose</a:t>
            </a:r>
            <a:r>
              <a:rPr lang="pt-BR" sz="1600" dirty="0"/>
              <a:t>(f);</a:t>
            </a:r>
          </a:p>
          <a:p>
            <a:endParaRPr lang="pt-BR" sz="1600" dirty="0"/>
          </a:p>
          <a:p>
            <a:r>
              <a:rPr lang="pt-BR" sz="1600" dirty="0"/>
              <a:t>f = </a:t>
            </a:r>
            <a:r>
              <a:rPr lang="pt-BR" sz="1600" dirty="0" err="1"/>
              <a:t>fopen</a:t>
            </a:r>
            <a:r>
              <a:rPr lang="pt-BR" sz="1600" dirty="0"/>
              <a:t>("teste2.dat", "</a:t>
            </a:r>
            <a:r>
              <a:rPr lang="pt-BR" sz="1600" dirty="0" err="1"/>
              <a:t>rb</a:t>
            </a:r>
            <a:r>
              <a:rPr lang="pt-BR" sz="1600" dirty="0"/>
              <a:t>");</a:t>
            </a:r>
          </a:p>
          <a:p>
            <a:r>
              <a:rPr lang="pt-BR" sz="1600" dirty="0" err="1"/>
              <a:t>fread</a:t>
            </a:r>
            <a:r>
              <a:rPr lang="pt-BR" sz="1600" dirty="0"/>
              <a:t>(&amp;</a:t>
            </a:r>
            <a:r>
              <a:rPr lang="pt-BR" sz="1600" dirty="0" err="1"/>
              <a:t>p.nome</a:t>
            </a:r>
            <a:r>
              <a:rPr lang="pt-BR" sz="1600" dirty="0"/>
              <a:t>, 1, </a:t>
            </a:r>
            <a:r>
              <a:rPr lang="pt-BR" sz="1600" dirty="0" err="1"/>
              <a:t>sizeof</a:t>
            </a:r>
            <a:r>
              <a:rPr lang="pt-BR" sz="1600" dirty="0"/>
              <a:t>(p), f);</a:t>
            </a:r>
          </a:p>
          <a:p>
            <a:r>
              <a:rPr lang="pt-BR" sz="1600" dirty="0" err="1"/>
              <a:t>fread</a:t>
            </a:r>
            <a:r>
              <a:rPr lang="pt-BR" sz="1600" dirty="0"/>
              <a:t>(&amp;</a:t>
            </a:r>
            <a:r>
              <a:rPr lang="pt-BR" sz="1600" dirty="0" err="1"/>
              <a:t>p.idade</a:t>
            </a:r>
            <a:r>
              <a:rPr lang="pt-BR" sz="1600" dirty="0"/>
              <a:t>, 1, </a:t>
            </a:r>
            <a:r>
              <a:rPr lang="pt-BR" sz="1600" dirty="0" err="1"/>
              <a:t>sizeof</a:t>
            </a:r>
            <a:r>
              <a:rPr lang="pt-BR" sz="1600" dirty="0"/>
              <a:t>(p), f);</a:t>
            </a:r>
          </a:p>
          <a:p>
            <a:r>
              <a:rPr lang="pt-BR" sz="1600" dirty="0" err="1"/>
              <a:t>printf</a:t>
            </a:r>
            <a:r>
              <a:rPr lang="pt-BR" sz="1600" dirty="0"/>
              <a:t>(" %s \n", </a:t>
            </a:r>
            <a:r>
              <a:rPr lang="pt-BR" sz="1600" dirty="0" err="1"/>
              <a:t>p.nome</a:t>
            </a:r>
            <a:r>
              <a:rPr lang="pt-BR" sz="1600" dirty="0"/>
              <a:t>);</a:t>
            </a:r>
          </a:p>
          <a:p>
            <a:r>
              <a:rPr lang="pt-BR" sz="1600" dirty="0" err="1"/>
              <a:t>printf</a:t>
            </a:r>
            <a:r>
              <a:rPr lang="pt-BR" sz="1600" dirty="0"/>
              <a:t>(" %d \n", </a:t>
            </a:r>
            <a:r>
              <a:rPr lang="pt-BR" sz="1600" dirty="0" err="1"/>
              <a:t>p.idade</a:t>
            </a:r>
            <a:r>
              <a:rPr lang="pt-BR" sz="1600" dirty="0"/>
              <a:t>);</a:t>
            </a:r>
          </a:p>
          <a:p>
            <a:r>
              <a:rPr lang="pt-BR" sz="1600" dirty="0"/>
              <a:t>  </a:t>
            </a:r>
            <a:r>
              <a:rPr lang="pt-BR" sz="1600" dirty="0" err="1"/>
              <a:t>fclose</a:t>
            </a:r>
            <a:r>
              <a:rPr lang="pt-BR" sz="1600" dirty="0"/>
              <a:t>(f);</a:t>
            </a:r>
          </a:p>
          <a:p>
            <a:r>
              <a:rPr lang="pt-BR" sz="1600" dirty="0"/>
              <a:t>system("pause");</a:t>
            </a:r>
          </a:p>
          <a:p>
            <a:r>
              <a:rPr lang="pt-BR" sz="1600" dirty="0"/>
              <a:t>}</a:t>
            </a:r>
          </a:p>
        </p:txBody>
      </p:sp>
    </p:spTree>
    <p:extLst>
      <p:ext uri="{BB962C8B-B14F-4D97-AF65-F5344CB8AC3E}">
        <p14:creationId xmlns:p14="http://schemas.microsoft.com/office/powerpoint/2010/main" val="3228444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858540-65C2-DFC8-7605-9EC348274C5F}"/>
              </a:ext>
            </a:extLst>
          </p:cNvPr>
          <p:cNvSpPr>
            <a:spLocks noGrp="1"/>
          </p:cNvSpPr>
          <p:nvPr>
            <p:ph type="title"/>
          </p:nvPr>
        </p:nvSpPr>
        <p:spPr/>
        <p:txBody>
          <a:bodyPr/>
          <a:lstStyle/>
          <a:p>
            <a:r>
              <a:rPr lang="pt-BR" dirty="0"/>
              <a:t>Para auxílio ao PIM</a:t>
            </a:r>
          </a:p>
        </p:txBody>
      </p:sp>
      <p:sp>
        <p:nvSpPr>
          <p:cNvPr id="3" name="Espaço Reservado para Conteúdo 2">
            <a:extLst>
              <a:ext uri="{FF2B5EF4-FFF2-40B4-BE49-F238E27FC236}">
                <a16:creationId xmlns:a16="http://schemas.microsoft.com/office/drawing/2014/main" id="{A9BD38AA-B7C0-457C-A81F-3176682093E0}"/>
              </a:ext>
            </a:extLst>
          </p:cNvPr>
          <p:cNvSpPr>
            <a:spLocks noGrp="1"/>
          </p:cNvSpPr>
          <p:nvPr>
            <p:ph idx="1"/>
          </p:nvPr>
        </p:nvSpPr>
        <p:spPr/>
        <p:txBody>
          <a:bodyPr/>
          <a:lstStyle/>
          <a:p>
            <a:r>
              <a:rPr lang="pt-BR" dirty="0"/>
              <a:t>Escrita e leitura em arquivo com variáveis</a:t>
            </a:r>
          </a:p>
        </p:txBody>
      </p:sp>
      <p:sp>
        <p:nvSpPr>
          <p:cNvPr id="4" name="Espaço Reservado para Número de Slide 3">
            <a:extLst>
              <a:ext uri="{FF2B5EF4-FFF2-40B4-BE49-F238E27FC236}">
                <a16:creationId xmlns:a16="http://schemas.microsoft.com/office/drawing/2014/main" id="{AAEC3EBF-902E-DC94-9C4F-D7516F491824}"/>
              </a:ext>
            </a:extLst>
          </p:cNvPr>
          <p:cNvSpPr>
            <a:spLocks noGrp="1"/>
          </p:cNvSpPr>
          <p:nvPr>
            <p:ph type="sldNum" sz="quarter" idx="12"/>
          </p:nvPr>
        </p:nvSpPr>
        <p:spPr/>
        <p:txBody>
          <a:bodyPr/>
          <a:lstStyle/>
          <a:p>
            <a:pPr>
              <a:defRPr/>
            </a:pPr>
            <a:fld id="{3C09F0CB-83E3-4229-A8AF-4A40962CED14}" type="slidenum">
              <a:rPr lang="pt-BR" altLang="pt-BR" smtClean="0"/>
              <a:pPr>
                <a:defRPr/>
              </a:pPr>
              <a:t>30</a:t>
            </a:fld>
            <a:endParaRPr lang="pt-BR" altLang="pt-BR"/>
          </a:p>
        </p:txBody>
      </p:sp>
      <p:sp>
        <p:nvSpPr>
          <p:cNvPr id="6" name="CaixaDeTexto 5">
            <a:extLst>
              <a:ext uri="{FF2B5EF4-FFF2-40B4-BE49-F238E27FC236}">
                <a16:creationId xmlns:a16="http://schemas.microsoft.com/office/drawing/2014/main" id="{0010A3DE-274B-C095-B470-E0CB7BE8AD59}"/>
              </a:ext>
            </a:extLst>
          </p:cNvPr>
          <p:cNvSpPr txBox="1"/>
          <p:nvPr/>
        </p:nvSpPr>
        <p:spPr>
          <a:xfrm>
            <a:off x="1701801" y="1848307"/>
            <a:ext cx="4592320" cy="5078313"/>
          </a:xfrm>
          <a:prstGeom prst="rect">
            <a:avLst/>
          </a:prstGeom>
          <a:noFill/>
        </p:spPr>
        <p:txBody>
          <a:bodyPr wrap="square">
            <a:spAutoFit/>
          </a:bodyPr>
          <a:lstStyle/>
          <a:p>
            <a:r>
              <a:rPr lang="pt-BR" sz="1200" dirty="0">
                <a:solidFill>
                  <a:srgbClr val="002060"/>
                </a:solidFill>
              </a:rPr>
              <a:t>include &lt;</a:t>
            </a:r>
            <a:r>
              <a:rPr lang="pt-BR" sz="1200" dirty="0" err="1">
                <a:solidFill>
                  <a:srgbClr val="002060"/>
                </a:solidFill>
              </a:rPr>
              <a:t>stdio.h</a:t>
            </a:r>
            <a:r>
              <a:rPr lang="pt-BR" sz="1200" dirty="0">
                <a:solidFill>
                  <a:srgbClr val="002060"/>
                </a:solidFill>
              </a:rPr>
              <a:t>&gt;</a:t>
            </a:r>
          </a:p>
          <a:p>
            <a:r>
              <a:rPr lang="pt-BR" sz="1200" dirty="0">
                <a:solidFill>
                  <a:srgbClr val="002060"/>
                </a:solidFill>
              </a:rPr>
              <a:t>#include &lt;</a:t>
            </a:r>
            <a:r>
              <a:rPr lang="pt-BR" sz="1200" dirty="0" err="1">
                <a:solidFill>
                  <a:srgbClr val="002060"/>
                </a:solidFill>
              </a:rPr>
              <a:t>string.h</a:t>
            </a:r>
            <a:r>
              <a:rPr lang="pt-BR" sz="1200" dirty="0">
                <a:solidFill>
                  <a:srgbClr val="002060"/>
                </a:solidFill>
              </a:rPr>
              <a:t>&gt;</a:t>
            </a:r>
          </a:p>
          <a:p>
            <a:r>
              <a:rPr lang="pt-BR" sz="1200" dirty="0" err="1">
                <a:solidFill>
                  <a:srgbClr val="002060"/>
                </a:solidFill>
              </a:rPr>
              <a:t>int</a:t>
            </a:r>
            <a:r>
              <a:rPr lang="pt-BR" sz="1200" dirty="0">
                <a:solidFill>
                  <a:srgbClr val="002060"/>
                </a:solidFill>
              </a:rPr>
              <a:t> </a:t>
            </a:r>
            <a:r>
              <a:rPr lang="pt-BR" sz="1200" dirty="0" err="1">
                <a:solidFill>
                  <a:srgbClr val="002060"/>
                </a:solidFill>
              </a:rPr>
              <a:t>main</a:t>
            </a:r>
            <a:r>
              <a:rPr lang="pt-BR" sz="1200" dirty="0">
                <a:solidFill>
                  <a:srgbClr val="002060"/>
                </a:solidFill>
              </a:rPr>
              <a:t>() {</a:t>
            </a:r>
          </a:p>
          <a:p>
            <a:r>
              <a:rPr lang="pt-BR" sz="1200" dirty="0">
                <a:solidFill>
                  <a:srgbClr val="002060"/>
                </a:solidFill>
              </a:rPr>
              <a:t>    FILE *arquivo;</a:t>
            </a:r>
          </a:p>
          <a:p>
            <a:r>
              <a:rPr lang="pt-BR" sz="1200" dirty="0">
                <a:solidFill>
                  <a:srgbClr val="002060"/>
                </a:solidFill>
              </a:rPr>
              <a:t>    char str1[50], str2[50];</a:t>
            </a:r>
          </a:p>
          <a:p>
            <a:r>
              <a:rPr lang="pt-BR" sz="1200" dirty="0">
                <a:solidFill>
                  <a:srgbClr val="002060"/>
                </a:solidFill>
              </a:rPr>
              <a:t>    </a:t>
            </a:r>
            <a:r>
              <a:rPr lang="pt-BR" sz="1200" dirty="0" err="1">
                <a:solidFill>
                  <a:srgbClr val="002060"/>
                </a:solidFill>
              </a:rPr>
              <a:t>int</a:t>
            </a:r>
            <a:r>
              <a:rPr lang="pt-BR" sz="1200" dirty="0">
                <a:solidFill>
                  <a:srgbClr val="002060"/>
                </a:solidFill>
              </a:rPr>
              <a:t> num;</a:t>
            </a:r>
          </a:p>
          <a:p>
            <a:r>
              <a:rPr lang="pt-BR" sz="1200" dirty="0">
                <a:solidFill>
                  <a:srgbClr val="002060"/>
                </a:solidFill>
              </a:rPr>
              <a:t>    // Abrindo o arquivo para escrita</a:t>
            </a:r>
          </a:p>
          <a:p>
            <a:r>
              <a:rPr lang="pt-BR" sz="1200" dirty="0">
                <a:solidFill>
                  <a:srgbClr val="002060"/>
                </a:solidFill>
              </a:rPr>
              <a:t>    arquivo = </a:t>
            </a:r>
            <a:r>
              <a:rPr lang="pt-BR" sz="1200" dirty="0" err="1">
                <a:solidFill>
                  <a:srgbClr val="002060"/>
                </a:solidFill>
              </a:rPr>
              <a:t>fopen</a:t>
            </a:r>
            <a:r>
              <a:rPr lang="pt-BR" sz="1200" dirty="0">
                <a:solidFill>
                  <a:srgbClr val="002060"/>
                </a:solidFill>
              </a:rPr>
              <a:t>("dados.txt", "w");</a:t>
            </a:r>
          </a:p>
          <a:p>
            <a:r>
              <a:rPr lang="pt-BR" sz="1200" dirty="0">
                <a:solidFill>
                  <a:srgbClr val="002060"/>
                </a:solidFill>
              </a:rPr>
              <a:t>    </a:t>
            </a:r>
            <a:r>
              <a:rPr lang="pt-BR" sz="1200" dirty="0" err="1">
                <a:solidFill>
                  <a:srgbClr val="002060"/>
                </a:solidFill>
              </a:rPr>
              <a:t>if</a:t>
            </a:r>
            <a:r>
              <a:rPr lang="pt-BR" sz="1200" dirty="0">
                <a:solidFill>
                  <a:srgbClr val="002060"/>
                </a:solidFill>
              </a:rPr>
              <a:t> (arquivo == NULL) {</a:t>
            </a:r>
          </a:p>
          <a:p>
            <a:r>
              <a:rPr lang="pt-BR" sz="1200" dirty="0">
                <a:solidFill>
                  <a:srgbClr val="002060"/>
                </a:solidFill>
              </a:rPr>
              <a:t>        </a:t>
            </a:r>
            <a:r>
              <a:rPr lang="pt-BR" sz="1200" dirty="0" err="1">
                <a:solidFill>
                  <a:srgbClr val="002060"/>
                </a:solidFill>
              </a:rPr>
              <a:t>printf</a:t>
            </a:r>
            <a:r>
              <a:rPr lang="pt-BR" sz="1200" dirty="0">
                <a:solidFill>
                  <a:srgbClr val="002060"/>
                </a:solidFill>
              </a:rPr>
              <a:t>("Erro ao abrir o arquivo para escrita!\n");</a:t>
            </a:r>
          </a:p>
          <a:p>
            <a:r>
              <a:rPr lang="pt-BR" sz="1200" dirty="0">
                <a:solidFill>
                  <a:srgbClr val="002060"/>
                </a:solidFill>
              </a:rPr>
              <a:t>        </a:t>
            </a:r>
            <a:r>
              <a:rPr lang="pt-BR" sz="1200" dirty="0" err="1">
                <a:solidFill>
                  <a:srgbClr val="002060"/>
                </a:solidFill>
              </a:rPr>
              <a:t>return</a:t>
            </a:r>
            <a:r>
              <a:rPr lang="pt-BR" sz="1200" dirty="0">
                <a:solidFill>
                  <a:srgbClr val="002060"/>
                </a:solidFill>
              </a:rPr>
              <a:t> 1;</a:t>
            </a:r>
          </a:p>
          <a:p>
            <a:r>
              <a:rPr lang="pt-BR" sz="1200" dirty="0">
                <a:solidFill>
                  <a:srgbClr val="002060"/>
                </a:solidFill>
              </a:rPr>
              <a:t>    }</a:t>
            </a:r>
          </a:p>
          <a:p>
            <a:r>
              <a:rPr lang="pt-BR" sz="1200" dirty="0">
                <a:solidFill>
                  <a:srgbClr val="002060"/>
                </a:solidFill>
              </a:rPr>
              <a:t>    // Atribuindo valores às variáveis</a:t>
            </a:r>
          </a:p>
          <a:p>
            <a:r>
              <a:rPr lang="pt-BR" sz="1200" dirty="0">
                <a:solidFill>
                  <a:srgbClr val="002060"/>
                </a:solidFill>
              </a:rPr>
              <a:t>    </a:t>
            </a:r>
            <a:r>
              <a:rPr lang="pt-BR" sz="1200" dirty="0" err="1">
                <a:solidFill>
                  <a:srgbClr val="002060"/>
                </a:solidFill>
              </a:rPr>
              <a:t>strcpy</a:t>
            </a:r>
            <a:r>
              <a:rPr lang="pt-BR" sz="1200" dirty="0">
                <a:solidFill>
                  <a:srgbClr val="002060"/>
                </a:solidFill>
              </a:rPr>
              <a:t>(str1, "</a:t>
            </a:r>
            <a:r>
              <a:rPr lang="pt-BR" sz="1200" dirty="0" err="1">
                <a:solidFill>
                  <a:srgbClr val="002060"/>
                </a:solidFill>
              </a:rPr>
              <a:t>Hello</a:t>
            </a:r>
            <a:r>
              <a:rPr lang="pt-BR" sz="1200" dirty="0">
                <a:solidFill>
                  <a:srgbClr val="002060"/>
                </a:solidFill>
              </a:rPr>
              <a:t>");</a:t>
            </a:r>
          </a:p>
          <a:p>
            <a:r>
              <a:rPr lang="pt-BR" sz="1200" dirty="0">
                <a:solidFill>
                  <a:srgbClr val="002060"/>
                </a:solidFill>
              </a:rPr>
              <a:t>    </a:t>
            </a:r>
            <a:r>
              <a:rPr lang="pt-BR" sz="1200" dirty="0" err="1">
                <a:solidFill>
                  <a:srgbClr val="002060"/>
                </a:solidFill>
              </a:rPr>
              <a:t>strcpy</a:t>
            </a:r>
            <a:r>
              <a:rPr lang="pt-BR" sz="1200" dirty="0">
                <a:solidFill>
                  <a:srgbClr val="002060"/>
                </a:solidFill>
              </a:rPr>
              <a:t>(str2, "World");</a:t>
            </a:r>
          </a:p>
          <a:p>
            <a:r>
              <a:rPr lang="pt-BR" sz="1200" dirty="0">
                <a:solidFill>
                  <a:srgbClr val="002060"/>
                </a:solidFill>
              </a:rPr>
              <a:t>    num = 123;</a:t>
            </a:r>
          </a:p>
          <a:p>
            <a:r>
              <a:rPr lang="pt-BR" sz="1200" dirty="0">
                <a:solidFill>
                  <a:srgbClr val="002060"/>
                </a:solidFill>
              </a:rPr>
              <a:t>    // Escrevendo as variáveis no arquivo</a:t>
            </a:r>
          </a:p>
          <a:p>
            <a:r>
              <a:rPr lang="pt-BR" sz="1200" dirty="0">
                <a:solidFill>
                  <a:srgbClr val="002060"/>
                </a:solidFill>
              </a:rPr>
              <a:t>    </a:t>
            </a:r>
            <a:r>
              <a:rPr lang="pt-BR" sz="1200" dirty="0" err="1">
                <a:solidFill>
                  <a:srgbClr val="002060"/>
                </a:solidFill>
              </a:rPr>
              <a:t>fprintf</a:t>
            </a:r>
            <a:r>
              <a:rPr lang="pt-BR" sz="1200" dirty="0">
                <a:solidFill>
                  <a:srgbClr val="002060"/>
                </a:solidFill>
              </a:rPr>
              <a:t>(arquivo, "%s %s %d\n", str1, str2, num);</a:t>
            </a:r>
          </a:p>
          <a:p>
            <a:r>
              <a:rPr lang="pt-BR" sz="1200" dirty="0">
                <a:solidFill>
                  <a:srgbClr val="002060"/>
                </a:solidFill>
              </a:rPr>
              <a:t>    // Fechando o arquivo após a escrita</a:t>
            </a:r>
          </a:p>
          <a:p>
            <a:r>
              <a:rPr lang="pt-BR" sz="1200" dirty="0">
                <a:solidFill>
                  <a:srgbClr val="002060"/>
                </a:solidFill>
              </a:rPr>
              <a:t>    </a:t>
            </a:r>
            <a:r>
              <a:rPr lang="pt-BR" sz="1200" dirty="0" err="1">
                <a:solidFill>
                  <a:srgbClr val="002060"/>
                </a:solidFill>
              </a:rPr>
              <a:t>fclose</a:t>
            </a:r>
            <a:r>
              <a:rPr lang="pt-BR" sz="1200" dirty="0">
                <a:solidFill>
                  <a:srgbClr val="002060"/>
                </a:solidFill>
              </a:rPr>
              <a:t>(arquivo);</a:t>
            </a:r>
          </a:p>
          <a:p>
            <a:r>
              <a:rPr lang="pt-BR" sz="1200" dirty="0">
                <a:solidFill>
                  <a:srgbClr val="002060"/>
                </a:solidFill>
              </a:rPr>
              <a:t>    // Abrindo o arquivo para leitura</a:t>
            </a:r>
          </a:p>
          <a:p>
            <a:r>
              <a:rPr lang="pt-BR" sz="1200" dirty="0">
                <a:solidFill>
                  <a:srgbClr val="002060"/>
                </a:solidFill>
              </a:rPr>
              <a:t>    arquivo = </a:t>
            </a:r>
            <a:r>
              <a:rPr lang="pt-BR" sz="1200" dirty="0" err="1">
                <a:solidFill>
                  <a:srgbClr val="002060"/>
                </a:solidFill>
              </a:rPr>
              <a:t>fopen</a:t>
            </a:r>
            <a:r>
              <a:rPr lang="pt-BR" sz="1200" dirty="0">
                <a:solidFill>
                  <a:srgbClr val="002060"/>
                </a:solidFill>
              </a:rPr>
              <a:t>("dados.txt", "r");</a:t>
            </a:r>
          </a:p>
          <a:p>
            <a:r>
              <a:rPr lang="pt-BR" sz="1200" dirty="0">
                <a:solidFill>
                  <a:srgbClr val="002060"/>
                </a:solidFill>
              </a:rPr>
              <a:t>    </a:t>
            </a:r>
            <a:r>
              <a:rPr lang="pt-BR" sz="1200" dirty="0" err="1">
                <a:solidFill>
                  <a:srgbClr val="002060"/>
                </a:solidFill>
              </a:rPr>
              <a:t>if</a:t>
            </a:r>
            <a:r>
              <a:rPr lang="pt-BR" sz="1200" dirty="0">
                <a:solidFill>
                  <a:srgbClr val="002060"/>
                </a:solidFill>
              </a:rPr>
              <a:t> (arquivo == NULL) {</a:t>
            </a:r>
          </a:p>
          <a:p>
            <a:r>
              <a:rPr lang="pt-BR" sz="1200" dirty="0">
                <a:solidFill>
                  <a:srgbClr val="002060"/>
                </a:solidFill>
              </a:rPr>
              <a:t>        </a:t>
            </a:r>
            <a:r>
              <a:rPr lang="pt-BR" sz="1200" dirty="0" err="1">
                <a:solidFill>
                  <a:srgbClr val="002060"/>
                </a:solidFill>
              </a:rPr>
              <a:t>printf</a:t>
            </a:r>
            <a:r>
              <a:rPr lang="pt-BR" sz="1200" dirty="0">
                <a:solidFill>
                  <a:srgbClr val="002060"/>
                </a:solidFill>
              </a:rPr>
              <a:t>("Erro ao abrir o arquivo para leitura!\n");</a:t>
            </a:r>
          </a:p>
          <a:p>
            <a:r>
              <a:rPr lang="pt-BR" sz="1200" dirty="0">
                <a:solidFill>
                  <a:srgbClr val="002060"/>
                </a:solidFill>
              </a:rPr>
              <a:t>        </a:t>
            </a:r>
            <a:r>
              <a:rPr lang="pt-BR" sz="1200" dirty="0" err="1">
                <a:solidFill>
                  <a:srgbClr val="002060"/>
                </a:solidFill>
              </a:rPr>
              <a:t>return</a:t>
            </a:r>
            <a:r>
              <a:rPr lang="pt-BR" sz="1200" dirty="0">
                <a:solidFill>
                  <a:srgbClr val="002060"/>
                </a:solidFill>
              </a:rPr>
              <a:t> 1;</a:t>
            </a:r>
          </a:p>
          <a:p>
            <a:r>
              <a:rPr lang="pt-BR" sz="1200" dirty="0">
                <a:solidFill>
                  <a:srgbClr val="002060"/>
                </a:solidFill>
              </a:rPr>
              <a:t>    }</a:t>
            </a:r>
          </a:p>
          <a:p>
            <a:endParaRPr lang="pt-BR" sz="1200" dirty="0">
              <a:solidFill>
                <a:srgbClr val="002060"/>
              </a:solidFill>
            </a:endParaRPr>
          </a:p>
        </p:txBody>
      </p:sp>
      <p:sp>
        <p:nvSpPr>
          <p:cNvPr id="7" name="CaixaDeTexto 6">
            <a:extLst>
              <a:ext uri="{FF2B5EF4-FFF2-40B4-BE49-F238E27FC236}">
                <a16:creationId xmlns:a16="http://schemas.microsoft.com/office/drawing/2014/main" id="{000E4D2C-0864-D3B1-82FF-4DEBA5D02966}"/>
              </a:ext>
            </a:extLst>
          </p:cNvPr>
          <p:cNvSpPr txBox="1"/>
          <p:nvPr/>
        </p:nvSpPr>
        <p:spPr>
          <a:xfrm>
            <a:off x="6014721" y="3140968"/>
            <a:ext cx="4592320" cy="2492990"/>
          </a:xfrm>
          <a:prstGeom prst="rect">
            <a:avLst/>
          </a:prstGeom>
          <a:noFill/>
        </p:spPr>
        <p:txBody>
          <a:bodyPr wrap="square">
            <a:spAutoFit/>
          </a:bodyPr>
          <a:lstStyle/>
          <a:p>
            <a:endParaRPr lang="pt-BR" sz="1200" dirty="0">
              <a:solidFill>
                <a:srgbClr val="002060"/>
              </a:solidFill>
            </a:endParaRPr>
          </a:p>
          <a:p>
            <a:r>
              <a:rPr lang="pt-BR" sz="1200" dirty="0">
                <a:solidFill>
                  <a:srgbClr val="002060"/>
                </a:solidFill>
              </a:rPr>
              <a:t>    // Lendo as variáveis do arquivo</a:t>
            </a:r>
          </a:p>
          <a:p>
            <a:r>
              <a:rPr lang="pt-BR" sz="1200" dirty="0">
                <a:solidFill>
                  <a:srgbClr val="002060"/>
                </a:solidFill>
              </a:rPr>
              <a:t>    </a:t>
            </a:r>
            <a:r>
              <a:rPr lang="pt-BR" sz="1200" dirty="0" err="1">
                <a:solidFill>
                  <a:srgbClr val="002060"/>
                </a:solidFill>
              </a:rPr>
              <a:t>fscanf</a:t>
            </a:r>
            <a:r>
              <a:rPr lang="pt-BR" sz="1200" dirty="0">
                <a:solidFill>
                  <a:srgbClr val="002060"/>
                </a:solidFill>
              </a:rPr>
              <a:t>(arquivo, "%s %s %d", str1, str2, &amp;num);</a:t>
            </a:r>
          </a:p>
          <a:p>
            <a:endParaRPr lang="pt-BR" sz="1200" dirty="0">
              <a:solidFill>
                <a:srgbClr val="002060"/>
              </a:solidFill>
            </a:endParaRPr>
          </a:p>
          <a:p>
            <a:r>
              <a:rPr lang="pt-BR" sz="1200" dirty="0">
                <a:solidFill>
                  <a:srgbClr val="002060"/>
                </a:solidFill>
              </a:rPr>
              <a:t>    // Exibindo as variáveis lidas na tela</a:t>
            </a:r>
          </a:p>
          <a:p>
            <a:r>
              <a:rPr lang="pt-BR" sz="1200" dirty="0">
                <a:solidFill>
                  <a:srgbClr val="002060"/>
                </a:solidFill>
              </a:rPr>
              <a:t>    </a:t>
            </a:r>
            <a:r>
              <a:rPr lang="pt-BR" sz="1200" dirty="0" err="1">
                <a:solidFill>
                  <a:srgbClr val="002060"/>
                </a:solidFill>
              </a:rPr>
              <a:t>printf</a:t>
            </a:r>
            <a:r>
              <a:rPr lang="pt-BR" sz="1200" dirty="0">
                <a:solidFill>
                  <a:srgbClr val="002060"/>
                </a:solidFill>
              </a:rPr>
              <a:t>("Valores lidos do arquivo: %s %s %d\n", str1, str2, num);</a:t>
            </a:r>
          </a:p>
          <a:p>
            <a:endParaRPr lang="pt-BR" sz="1200" dirty="0">
              <a:solidFill>
                <a:srgbClr val="002060"/>
              </a:solidFill>
            </a:endParaRPr>
          </a:p>
          <a:p>
            <a:r>
              <a:rPr lang="pt-BR" sz="1200" dirty="0">
                <a:solidFill>
                  <a:srgbClr val="002060"/>
                </a:solidFill>
              </a:rPr>
              <a:t>    // Fechando o arquivo após a leitura</a:t>
            </a:r>
          </a:p>
          <a:p>
            <a:r>
              <a:rPr lang="pt-BR" sz="1200" dirty="0">
                <a:solidFill>
                  <a:srgbClr val="002060"/>
                </a:solidFill>
              </a:rPr>
              <a:t>    </a:t>
            </a:r>
            <a:r>
              <a:rPr lang="pt-BR" sz="1200" dirty="0" err="1">
                <a:solidFill>
                  <a:srgbClr val="002060"/>
                </a:solidFill>
              </a:rPr>
              <a:t>fclose</a:t>
            </a:r>
            <a:r>
              <a:rPr lang="pt-BR" sz="1200" dirty="0">
                <a:solidFill>
                  <a:srgbClr val="002060"/>
                </a:solidFill>
              </a:rPr>
              <a:t>(arquivo);</a:t>
            </a:r>
          </a:p>
          <a:p>
            <a:endParaRPr lang="pt-BR" sz="1200" dirty="0">
              <a:solidFill>
                <a:srgbClr val="002060"/>
              </a:solidFill>
            </a:endParaRPr>
          </a:p>
          <a:p>
            <a:r>
              <a:rPr lang="pt-BR" sz="1200" dirty="0">
                <a:solidFill>
                  <a:srgbClr val="002060"/>
                </a:solidFill>
              </a:rPr>
              <a:t>    </a:t>
            </a:r>
            <a:r>
              <a:rPr lang="pt-BR" sz="1200" dirty="0" err="1">
                <a:solidFill>
                  <a:srgbClr val="002060"/>
                </a:solidFill>
              </a:rPr>
              <a:t>return</a:t>
            </a:r>
            <a:r>
              <a:rPr lang="pt-BR" sz="1200" dirty="0">
                <a:solidFill>
                  <a:srgbClr val="002060"/>
                </a:solidFill>
              </a:rPr>
              <a:t> 0;</a:t>
            </a:r>
          </a:p>
          <a:p>
            <a:r>
              <a:rPr lang="pt-BR" sz="1200" dirty="0">
                <a:solidFill>
                  <a:srgbClr val="002060"/>
                </a:solidFill>
              </a:rPr>
              <a:t>}</a:t>
            </a:r>
          </a:p>
        </p:txBody>
      </p:sp>
    </p:spTree>
    <p:extLst>
      <p:ext uri="{BB962C8B-B14F-4D97-AF65-F5344CB8AC3E}">
        <p14:creationId xmlns:p14="http://schemas.microsoft.com/office/powerpoint/2010/main" val="1693403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FFE1E-33DA-F6D1-1042-339A57E763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D0C925-1F23-4C9B-8A6C-5E00455C93A5}"/>
              </a:ext>
            </a:extLst>
          </p:cNvPr>
          <p:cNvSpPr>
            <a:spLocks noGrp="1"/>
          </p:cNvSpPr>
          <p:nvPr>
            <p:ph type="title"/>
          </p:nvPr>
        </p:nvSpPr>
        <p:spPr/>
        <p:txBody>
          <a:bodyPr/>
          <a:lstStyle/>
          <a:p>
            <a:r>
              <a:rPr lang="pt-BR" dirty="0"/>
              <a:t>Para auxílio ao PIM</a:t>
            </a:r>
          </a:p>
        </p:txBody>
      </p:sp>
      <p:sp>
        <p:nvSpPr>
          <p:cNvPr id="3" name="Espaço Reservado para Conteúdo 2">
            <a:extLst>
              <a:ext uri="{FF2B5EF4-FFF2-40B4-BE49-F238E27FC236}">
                <a16:creationId xmlns:a16="http://schemas.microsoft.com/office/drawing/2014/main" id="{7DA87E9C-3EF0-501F-D6AD-A4C653DF0D8C}"/>
              </a:ext>
            </a:extLst>
          </p:cNvPr>
          <p:cNvSpPr>
            <a:spLocks noGrp="1"/>
          </p:cNvSpPr>
          <p:nvPr>
            <p:ph idx="1"/>
          </p:nvPr>
        </p:nvSpPr>
        <p:spPr/>
        <p:txBody>
          <a:bodyPr/>
          <a:lstStyle/>
          <a:p>
            <a:r>
              <a:rPr lang="pt-BR" dirty="0"/>
              <a:t>Escrita e leitura em arquivo com </a:t>
            </a:r>
            <a:r>
              <a:rPr lang="pt-BR" dirty="0" err="1"/>
              <a:t>struct</a:t>
            </a:r>
            <a:endParaRPr lang="pt-BR" dirty="0"/>
          </a:p>
        </p:txBody>
      </p:sp>
      <p:sp>
        <p:nvSpPr>
          <p:cNvPr id="4" name="Espaço Reservado para Número de Slide 3">
            <a:extLst>
              <a:ext uri="{FF2B5EF4-FFF2-40B4-BE49-F238E27FC236}">
                <a16:creationId xmlns:a16="http://schemas.microsoft.com/office/drawing/2014/main" id="{06DB3A4D-3C48-9ADB-2D8C-8B1F33ECA353}"/>
              </a:ext>
            </a:extLst>
          </p:cNvPr>
          <p:cNvSpPr>
            <a:spLocks noGrp="1"/>
          </p:cNvSpPr>
          <p:nvPr>
            <p:ph type="sldNum" sz="quarter" idx="12"/>
          </p:nvPr>
        </p:nvSpPr>
        <p:spPr/>
        <p:txBody>
          <a:bodyPr/>
          <a:lstStyle/>
          <a:p>
            <a:pPr>
              <a:defRPr/>
            </a:pPr>
            <a:fld id="{3C09F0CB-83E3-4229-A8AF-4A40962CED14}" type="slidenum">
              <a:rPr lang="pt-BR" altLang="pt-BR" smtClean="0"/>
              <a:pPr>
                <a:defRPr/>
              </a:pPr>
              <a:t>31</a:t>
            </a:fld>
            <a:endParaRPr lang="pt-BR" altLang="pt-BR"/>
          </a:p>
        </p:txBody>
      </p:sp>
      <p:sp>
        <p:nvSpPr>
          <p:cNvPr id="8" name="CaixaDeTexto 7">
            <a:extLst>
              <a:ext uri="{FF2B5EF4-FFF2-40B4-BE49-F238E27FC236}">
                <a16:creationId xmlns:a16="http://schemas.microsoft.com/office/drawing/2014/main" id="{BDF0F0D4-1DF6-9E6A-26E5-B000EE9CB3A7}"/>
              </a:ext>
            </a:extLst>
          </p:cNvPr>
          <p:cNvSpPr txBox="1"/>
          <p:nvPr/>
        </p:nvSpPr>
        <p:spPr>
          <a:xfrm>
            <a:off x="1818641" y="2204864"/>
            <a:ext cx="4592320" cy="4339650"/>
          </a:xfrm>
          <a:prstGeom prst="rect">
            <a:avLst/>
          </a:prstGeom>
          <a:noFill/>
        </p:spPr>
        <p:txBody>
          <a:bodyPr wrap="square">
            <a:spAutoFit/>
          </a:bodyPr>
          <a:lstStyle/>
          <a:p>
            <a:r>
              <a:rPr lang="pt-BR" sz="1200" dirty="0">
                <a:solidFill>
                  <a:srgbClr val="000000"/>
                </a:solidFill>
              </a:rPr>
              <a:t>#include &lt;</a:t>
            </a:r>
            <a:r>
              <a:rPr lang="pt-BR" sz="1200" dirty="0" err="1">
                <a:solidFill>
                  <a:srgbClr val="000000"/>
                </a:solidFill>
              </a:rPr>
              <a:t>stdio.h</a:t>
            </a:r>
            <a:r>
              <a:rPr lang="pt-BR" sz="1200" dirty="0">
                <a:solidFill>
                  <a:srgbClr val="000000"/>
                </a:solidFill>
              </a:rPr>
              <a:t>&gt;</a:t>
            </a:r>
          </a:p>
          <a:p>
            <a:r>
              <a:rPr lang="pt-BR" sz="1200" dirty="0">
                <a:solidFill>
                  <a:srgbClr val="000000"/>
                </a:solidFill>
              </a:rPr>
              <a:t>#include &lt;</a:t>
            </a:r>
            <a:r>
              <a:rPr lang="pt-BR" sz="1200" dirty="0" err="1">
                <a:solidFill>
                  <a:srgbClr val="000000"/>
                </a:solidFill>
              </a:rPr>
              <a:t>string.h</a:t>
            </a:r>
            <a:r>
              <a:rPr lang="pt-BR" sz="1200" dirty="0">
                <a:solidFill>
                  <a:srgbClr val="000000"/>
                </a:solidFill>
              </a:rPr>
              <a:t>&gt;</a:t>
            </a:r>
          </a:p>
          <a:p>
            <a:r>
              <a:rPr lang="pt-BR" sz="1200" dirty="0">
                <a:solidFill>
                  <a:srgbClr val="000000"/>
                </a:solidFill>
              </a:rPr>
              <a:t>#include &lt;</a:t>
            </a:r>
            <a:r>
              <a:rPr lang="pt-BR" sz="1200" dirty="0" err="1">
                <a:solidFill>
                  <a:srgbClr val="000000"/>
                </a:solidFill>
              </a:rPr>
              <a:t>locale.h</a:t>
            </a:r>
            <a:r>
              <a:rPr lang="pt-BR" sz="1200" dirty="0">
                <a:solidFill>
                  <a:srgbClr val="000000"/>
                </a:solidFill>
              </a:rPr>
              <a:t>&gt;</a:t>
            </a:r>
          </a:p>
          <a:p>
            <a:r>
              <a:rPr lang="pt-BR" sz="1200" dirty="0">
                <a:solidFill>
                  <a:srgbClr val="000000"/>
                </a:solidFill>
              </a:rPr>
              <a:t>// Definição da </a:t>
            </a:r>
            <a:r>
              <a:rPr lang="pt-BR" sz="1200" dirty="0" err="1">
                <a:solidFill>
                  <a:srgbClr val="000000"/>
                </a:solidFill>
              </a:rPr>
              <a:t>struct</a:t>
            </a:r>
            <a:endParaRPr lang="pt-BR" sz="1200" dirty="0">
              <a:solidFill>
                <a:srgbClr val="000000"/>
              </a:solidFill>
            </a:endParaRPr>
          </a:p>
          <a:p>
            <a:r>
              <a:rPr lang="pt-BR" sz="1200" dirty="0" err="1">
                <a:solidFill>
                  <a:srgbClr val="000000"/>
                </a:solidFill>
              </a:rPr>
              <a:t>struct</a:t>
            </a:r>
            <a:r>
              <a:rPr lang="pt-BR" sz="1200" dirty="0">
                <a:solidFill>
                  <a:srgbClr val="000000"/>
                </a:solidFill>
              </a:rPr>
              <a:t> Pessoa {</a:t>
            </a:r>
          </a:p>
          <a:p>
            <a:r>
              <a:rPr lang="pt-BR" sz="1200" dirty="0">
                <a:solidFill>
                  <a:srgbClr val="000000"/>
                </a:solidFill>
              </a:rPr>
              <a:t>    char nome[50];</a:t>
            </a:r>
          </a:p>
          <a:p>
            <a:r>
              <a:rPr lang="pt-BR" sz="1200" dirty="0">
                <a:solidFill>
                  <a:srgbClr val="000000"/>
                </a:solidFill>
              </a:rPr>
              <a:t>    </a:t>
            </a:r>
            <a:r>
              <a:rPr lang="pt-BR" sz="1200" dirty="0" err="1">
                <a:solidFill>
                  <a:srgbClr val="000000"/>
                </a:solidFill>
              </a:rPr>
              <a:t>int</a:t>
            </a:r>
            <a:r>
              <a:rPr lang="pt-BR" sz="1200" dirty="0">
                <a:solidFill>
                  <a:srgbClr val="000000"/>
                </a:solidFill>
              </a:rPr>
              <a:t> idade;</a:t>
            </a:r>
          </a:p>
          <a:p>
            <a:r>
              <a:rPr lang="pt-BR" sz="1200" dirty="0">
                <a:solidFill>
                  <a:srgbClr val="000000"/>
                </a:solidFill>
              </a:rPr>
              <a:t>    </a:t>
            </a:r>
            <a:r>
              <a:rPr lang="pt-BR" sz="1200" dirty="0" err="1">
                <a:solidFill>
                  <a:srgbClr val="000000"/>
                </a:solidFill>
              </a:rPr>
              <a:t>float</a:t>
            </a:r>
            <a:r>
              <a:rPr lang="pt-BR" sz="1200" dirty="0">
                <a:solidFill>
                  <a:srgbClr val="000000"/>
                </a:solidFill>
              </a:rPr>
              <a:t> altura;</a:t>
            </a:r>
          </a:p>
          <a:p>
            <a:r>
              <a:rPr lang="pt-BR" sz="1200" dirty="0">
                <a:solidFill>
                  <a:srgbClr val="000000"/>
                </a:solidFill>
              </a:rPr>
              <a:t>};</a:t>
            </a:r>
          </a:p>
          <a:p>
            <a:r>
              <a:rPr lang="pt-BR" sz="1200" dirty="0" err="1">
                <a:solidFill>
                  <a:srgbClr val="000000"/>
                </a:solidFill>
              </a:rPr>
              <a:t>int</a:t>
            </a:r>
            <a:r>
              <a:rPr lang="pt-BR" sz="1200" dirty="0">
                <a:solidFill>
                  <a:srgbClr val="000000"/>
                </a:solidFill>
              </a:rPr>
              <a:t> </a:t>
            </a:r>
            <a:r>
              <a:rPr lang="pt-BR" sz="1200" dirty="0" err="1">
                <a:solidFill>
                  <a:srgbClr val="000000"/>
                </a:solidFill>
              </a:rPr>
              <a:t>main</a:t>
            </a:r>
            <a:r>
              <a:rPr lang="pt-BR" sz="1200" dirty="0">
                <a:solidFill>
                  <a:srgbClr val="000000"/>
                </a:solidFill>
              </a:rPr>
              <a:t>() {</a:t>
            </a:r>
          </a:p>
          <a:p>
            <a:r>
              <a:rPr lang="pt-BR" sz="1200" dirty="0">
                <a:solidFill>
                  <a:srgbClr val="000000"/>
                </a:solidFill>
              </a:rPr>
              <a:t>    FILE *arquivo;</a:t>
            </a:r>
          </a:p>
          <a:p>
            <a:r>
              <a:rPr lang="pt-BR" sz="1200" dirty="0">
                <a:solidFill>
                  <a:srgbClr val="000000"/>
                </a:solidFill>
              </a:rPr>
              <a:t>    </a:t>
            </a:r>
            <a:r>
              <a:rPr lang="pt-BR" sz="1200" dirty="0" err="1">
                <a:solidFill>
                  <a:srgbClr val="000000"/>
                </a:solidFill>
              </a:rPr>
              <a:t>struct</a:t>
            </a:r>
            <a:r>
              <a:rPr lang="pt-BR" sz="1200" dirty="0">
                <a:solidFill>
                  <a:srgbClr val="000000"/>
                </a:solidFill>
              </a:rPr>
              <a:t> Pessoa </a:t>
            </a:r>
            <a:r>
              <a:rPr lang="pt-BR" sz="1200" dirty="0" err="1">
                <a:solidFill>
                  <a:srgbClr val="000000"/>
                </a:solidFill>
              </a:rPr>
              <a:t>pessoa</a:t>
            </a:r>
            <a:r>
              <a:rPr lang="pt-BR" sz="1200" dirty="0">
                <a:solidFill>
                  <a:srgbClr val="000000"/>
                </a:solidFill>
              </a:rPr>
              <a:t>;</a:t>
            </a:r>
          </a:p>
          <a:p>
            <a:r>
              <a:rPr lang="pt-BR" sz="1200" dirty="0" err="1">
                <a:solidFill>
                  <a:srgbClr val="000000"/>
                </a:solidFill>
              </a:rPr>
              <a:t>setlocale</a:t>
            </a:r>
            <a:r>
              <a:rPr lang="pt-BR" sz="1200" dirty="0">
                <a:solidFill>
                  <a:srgbClr val="000000"/>
                </a:solidFill>
              </a:rPr>
              <a:t>(LC_ALL,"");</a:t>
            </a:r>
          </a:p>
          <a:p>
            <a:r>
              <a:rPr lang="pt-BR" sz="1200" dirty="0">
                <a:solidFill>
                  <a:srgbClr val="000000"/>
                </a:solidFill>
              </a:rPr>
              <a:t>    // Atribuindo valores à </a:t>
            </a:r>
            <a:r>
              <a:rPr lang="pt-BR" sz="1200" dirty="0" err="1">
                <a:solidFill>
                  <a:srgbClr val="000000"/>
                </a:solidFill>
              </a:rPr>
              <a:t>struct</a:t>
            </a:r>
            <a:endParaRPr lang="pt-BR" sz="1200" dirty="0">
              <a:solidFill>
                <a:srgbClr val="000000"/>
              </a:solidFill>
            </a:endParaRPr>
          </a:p>
          <a:p>
            <a:r>
              <a:rPr lang="pt-BR" sz="1200" dirty="0">
                <a:solidFill>
                  <a:srgbClr val="000000"/>
                </a:solidFill>
              </a:rPr>
              <a:t>    </a:t>
            </a:r>
            <a:r>
              <a:rPr lang="pt-BR" sz="1200" dirty="0" err="1">
                <a:solidFill>
                  <a:srgbClr val="000000"/>
                </a:solidFill>
              </a:rPr>
              <a:t>strcpy</a:t>
            </a:r>
            <a:r>
              <a:rPr lang="pt-BR" sz="1200" dirty="0">
                <a:solidFill>
                  <a:srgbClr val="000000"/>
                </a:solidFill>
              </a:rPr>
              <a:t>(</a:t>
            </a:r>
            <a:r>
              <a:rPr lang="pt-BR" sz="1200" dirty="0" err="1">
                <a:solidFill>
                  <a:srgbClr val="000000"/>
                </a:solidFill>
              </a:rPr>
              <a:t>pessoa.nome</a:t>
            </a:r>
            <a:r>
              <a:rPr lang="pt-BR" sz="1200" dirty="0">
                <a:solidFill>
                  <a:srgbClr val="000000"/>
                </a:solidFill>
              </a:rPr>
              <a:t>, "João");</a:t>
            </a:r>
          </a:p>
          <a:p>
            <a:r>
              <a:rPr lang="pt-BR" sz="1200" dirty="0">
                <a:solidFill>
                  <a:srgbClr val="000000"/>
                </a:solidFill>
              </a:rPr>
              <a:t>    </a:t>
            </a:r>
            <a:r>
              <a:rPr lang="pt-BR" sz="1200" dirty="0" err="1">
                <a:solidFill>
                  <a:srgbClr val="000000"/>
                </a:solidFill>
              </a:rPr>
              <a:t>pessoa.idade</a:t>
            </a:r>
            <a:r>
              <a:rPr lang="pt-BR" sz="1200" dirty="0">
                <a:solidFill>
                  <a:srgbClr val="000000"/>
                </a:solidFill>
              </a:rPr>
              <a:t> = 30;</a:t>
            </a:r>
          </a:p>
          <a:p>
            <a:r>
              <a:rPr lang="pt-BR" sz="1200" dirty="0">
                <a:solidFill>
                  <a:srgbClr val="000000"/>
                </a:solidFill>
              </a:rPr>
              <a:t>    </a:t>
            </a:r>
            <a:r>
              <a:rPr lang="pt-BR" sz="1200" dirty="0" err="1">
                <a:solidFill>
                  <a:srgbClr val="000000"/>
                </a:solidFill>
              </a:rPr>
              <a:t>pessoa.altura</a:t>
            </a:r>
            <a:r>
              <a:rPr lang="pt-BR" sz="1200" dirty="0">
                <a:solidFill>
                  <a:srgbClr val="000000"/>
                </a:solidFill>
              </a:rPr>
              <a:t> = 1.75;</a:t>
            </a:r>
          </a:p>
          <a:p>
            <a:r>
              <a:rPr lang="pt-BR" sz="1200" dirty="0">
                <a:solidFill>
                  <a:srgbClr val="000000"/>
                </a:solidFill>
              </a:rPr>
              <a:t>    // Abrindo o arquivo para escrita em modo binário</a:t>
            </a:r>
          </a:p>
          <a:p>
            <a:r>
              <a:rPr lang="pt-BR" sz="1200" dirty="0">
                <a:solidFill>
                  <a:srgbClr val="000000"/>
                </a:solidFill>
              </a:rPr>
              <a:t>    arquivo = </a:t>
            </a:r>
            <a:r>
              <a:rPr lang="pt-BR" sz="1200" dirty="0" err="1">
                <a:solidFill>
                  <a:srgbClr val="000000"/>
                </a:solidFill>
              </a:rPr>
              <a:t>fopen</a:t>
            </a:r>
            <a:r>
              <a:rPr lang="pt-BR" sz="1200" dirty="0">
                <a:solidFill>
                  <a:srgbClr val="000000"/>
                </a:solidFill>
              </a:rPr>
              <a:t>("</a:t>
            </a:r>
            <a:r>
              <a:rPr lang="pt-BR" sz="1200" dirty="0" err="1">
                <a:solidFill>
                  <a:srgbClr val="000000"/>
                </a:solidFill>
              </a:rPr>
              <a:t>pessoa.bin</a:t>
            </a:r>
            <a:r>
              <a:rPr lang="pt-BR" sz="1200" dirty="0">
                <a:solidFill>
                  <a:srgbClr val="000000"/>
                </a:solidFill>
              </a:rPr>
              <a:t>", "</a:t>
            </a:r>
            <a:r>
              <a:rPr lang="pt-BR" sz="1200" dirty="0" err="1">
                <a:solidFill>
                  <a:srgbClr val="000000"/>
                </a:solidFill>
              </a:rPr>
              <a:t>wb</a:t>
            </a:r>
            <a:r>
              <a:rPr lang="pt-BR" sz="1200" dirty="0">
                <a:solidFill>
                  <a:srgbClr val="000000"/>
                </a:solidFill>
              </a:rPr>
              <a:t>");</a:t>
            </a:r>
          </a:p>
          <a:p>
            <a:r>
              <a:rPr lang="pt-BR" sz="1200" dirty="0">
                <a:solidFill>
                  <a:srgbClr val="000000"/>
                </a:solidFill>
              </a:rPr>
              <a:t>    </a:t>
            </a:r>
            <a:r>
              <a:rPr lang="pt-BR" sz="1200" dirty="0" err="1">
                <a:solidFill>
                  <a:srgbClr val="000000"/>
                </a:solidFill>
              </a:rPr>
              <a:t>if</a:t>
            </a:r>
            <a:r>
              <a:rPr lang="pt-BR" sz="1200" dirty="0">
                <a:solidFill>
                  <a:srgbClr val="000000"/>
                </a:solidFill>
              </a:rPr>
              <a:t> (arquivo == NULL) {</a:t>
            </a:r>
          </a:p>
          <a:p>
            <a:r>
              <a:rPr lang="pt-BR" sz="1200" dirty="0">
                <a:solidFill>
                  <a:srgbClr val="000000"/>
                </a:solidFill>
              </a:rPr>
              <a:t>        </a:t>
            </a:r>
            <a:r>
              <a:rPr lang="pt-BR" sz="1200" dirty="0" err="1">
                <a:solidFill>
                  <a:srgbClr val="000000"/>
                </a:solidFill>
              </a:rPr>
              <a:t>printf</a:t>
            </a:r>
            <a:r>
              <a:rPr lang="pt-BR" sz="1200" dirty="0">
                <a:solidFill>
                  <a:srgbClr val="000000"/>
                </a:solidFill>
              </a:rPr>
              <a:t>("Erro ao abrir o arquivo para escrita!\n");</a:t>
            </a:r>
          </a:p>
          <a:p>
            <a:r>
              <a:rPr lang="pt-BR" sz="1200" dirty="0">
                <a:solidFill>
                  <a:srgbClr val="000000"/>
                </a:solidFill>
              </a:rPr>
              <a:t>        </a:t>
            </a:r>
            <a:r>
              <a:rPr lang="pt-BR" sz="1200" dirty="0" err="1">
                <a:solidFill>
                  <a:srgbClr val="000000"/>
                </a:solidFill>
              </a:rPr>
              <a:t>return</a:t>
            </a:r>
            <a:r>
              <a:rPr lang="pt-BR" sz="1200" dirty="0">
                <a:solidFill>
                  <a:srgbClr val="000000"/>
                </a:solidFill>
              </a:rPr>
              <a:t> 1;</a:t>
            </a:r>
          </a:p>
          <a:p>
            <a:r>
              <a:rPr lang="pt-BR" sz="1200" dirty="0">
                <a:solidFill>
                  <a:srgbClr val="000000"/>
                </a:solidFill>
              </a:rPr>
              <a:t>    }</a:t>
            </a:r>
          </a:p>
        </p:txBody>
      </p:sp>
      <p:sp>
        <p:nvSpPr>
          <p:cNvPr id="10" name="CaixaDeTexto 9">
            <a:extLst>
              <a:ext uri="{FF2B5EF4-FFF2-40B4-BE49-F238E27FC236}">
                <a16:creationId xmlns:a16="http://schemas.microsoft.com/office/drawing/2014/main" id="{6EAFDC76-C17C-3093-959E-A5DC63414668}"/>
              </a:ext>
            </a:extLst>
          </p:cNvPr>
          <p:cNvSpPr txBox="1"/>
          <p:nvPr/>
        </p:nvSpPr>
        <p:spPr>
          <a:xfrm>
            <a:off x="6025977" y="1827829"/>
            <a:ext cx="4592320" cy="4893647"/>
          </a:xfrm>
          <a:prstGeom prst="rect">
            <a:avLst/>
          </a:prstGeom>
          <a:noFill/>
        </p:spPr>
        <p:txBody>
          <a:bodyPr wrap="square">
            <a:spAutoFit/>
          </a:bodyPr>
          <a:lstStyle/>
          <a:p>
            <a:r>
              <a:rPr lang="pt-BR" sz="1200" dirty="0">
                <a:solidFill>
                  <a:srgbClr val="000000"/>
                </a:solidFill>
              </a:rPr>
              <a:t> // Escrevendo a </a:t>
            </a:r>
            <a:r>
              <a:rPr lang="pt-BR" sz="1200" dirty="0" err="1">
                <a:solidFill>
                  <a:srgbClr val="000000"/>
                </a:solidFill>
              </a:rPr>
              <a:t>struct</a:t>
            </a:r>
            <a:r>
              <a:rPr lang="pt-BR" sz="1200" dirty="0">
                <a:solidFill>
                  <a:srgbClr val="000000"/>
                </a:solidFill>
              </a:rPr>
              <a:t> no arquivo</a:t>
            </a:r>
          </a:p>
          <a:p>
            <a:r>
              <a:rPr lang="pt-BR" sz="1200" dirty="0">
                <a:solidFill>
                  <a:srgbClr val="000000"/>
                </a:solidFill>
              </a:rPr>
              <a:t>    </a:t>
            </a:r>
            <a:r>
              <a:rPr lang="pt-BR" sz="1200" dirty="0" err="1">
                <a:solidFill>
                  <a:srgbClr val="000000"/>
                </a:solidFill>
              </a:rPr>
              <a:t>fwrite</a:t>
            </a:r>
            <a:r>
              <a:rPr lang="pt-BR" sz="1200" dirty="0">
                <a:solidFill>
                  <a:srgbClr val="000000"/>
                </a:solidFill>
              </a:rPr>
              <a:t>(&amp;pessoa, </a:t>
            </a:r>
            <a:r>
              <a:rPr lang="pt-BR" sz="1200" dirty="0" err="1">
                <a:solidFill>
                  <a:srgbClr val="000000"/>
                </a:solidFill>
              </a:rPr>
              <a:t>sizeof</a:t>
            </a:r>
            <a:r>
              <a:rPr lang="pt-BR" sz="1200" dirty="0">
                <a:solidFill>
                  <a:srgbClr val="000000"/>
                </a:solidFill>
              </a:rPr>
              <a:t>(</a:t>
            </a:r>
            <a:r>
              <a:rPr lang="pt-BR" sz="1200" dirty="0" err="1">
                <a:solidFill>
                  <a:srgbClr val="000000"/>
                </a:solidFill>
              </a:rPr>
              <a:t>struct</a:t>
            </a:r>
            <a:r>
              <a:rPr lang="pt-BR" sz="1200" dirty="0">
                <a:solidFill>
                  <a:srgbClr val="000000"/>
                </a:solidFill>
              </a:rPr>
              <a:t> Pessoa), 1, arquivo);</a:t>
            </a:r>
          </a:p>
          <a:p>
            <a:r>
              <a:rPr lang="pt-BR" sz="1200" dirty="0">
                <a:solidFill>
                  <a:srgbClr val="000000"/>
                </a:solidFill>
              </a:rPr>
              <a:t>    // Fechando o arquivo após a escrita</a:t>
            </a:r>
          </a:p>
          <a:p>
            <a:r>
              <a:rPr lang="pt-BR" sz="1200" dirty="0">
                <a:solidFill>
                  <a:srgbClr val="000000"/>
                </a:solidFill>
              </a:rPr>
              <a:t>    </a:t>
            </a:r>
            <a:r>
              <a:rPr lang="pt-BR" sz="1200" dirty="0" err="1">
                <a:solidFill>
                  <a:srgbClr val="000000"/>
                </a:solidFill>
              </a:rPr>
              <a:t>fclose</a:t>
            </a:r>
            <a:r>
              <a:rPr lang="pt-BR" sz="1200" dirty="0">
                <a:solidFill>
                  <a:srgbClr val="000000"/>
                </a:solidFill>
              </a:rPr>
              <a:t>(arquivo);</a:t>
            </a:r>
          </a:p>
          <a:p>
            <a:r>
              <a:rPr lang="pt-BR" sz="1200" dirty="0">
                <a:solidFill>
                  <a:srgbClr val="000000"/>
                </a:solidFill>
              </a:rPr>
              <a:t>    // Zerando os valores da </a:t>
            </a:r>
            <a:r>
              <a:rPr lang="pt-BR" sz="1200" dirty="0" err="1">
                <a:solidFill>
                  <a:srgbClr val="000000"/>
                </a:solidFill>
              </a:rPr>
              <a:t>struct</a:t>
            </a:r>
            <a:r>
              <a:rPr lang="pt-BR" sz="1200" dirty="0">
                <a:solidFill>
                  <a:srgbClr val="000000"/>
                </a:solidFill>
              </a:rPr>
              <a:t> para testar a leitura</a:t>
            </a:r>
          </a:p>
          <a:p>
            <a:r>
              <a:rPr lang="pt-BR" sz="1200" dirty="0">
                <a:solidFill>
                  <a:srgbClr val="000000"/>
                </a:solidFill>
              </a:rPr>
              <a:t>    </a:t>
            </a:r>
            <a:r>
              <a:rPr lang="pt-BR" sz="1200" dirty="0" err="1">
                <a:solidFill>
                  <a:srgbClr val="000000"/>
                </a:solidFill>
              </a:rPr>
              <a:t>memset</a:t>
            </a:r>
            <a:r>
              <a:rPr lang="pt-BR" sz="1200" dirty="0">
                <a:solidFill>
                  <a:srgbClr val="000000"/>
                </a:solidFill>
              </a:rPr>
              <a:t>(&amp;pessoa, 0, </a:t>
            </a:r>
            <a:r>
              <a:rPr lang="pt-BR" sz="1200" dirty="0" err="1">
                <a:solidFill>
                  <a:srgbClr val="000000"/>
                </a:solidFill>
              </a:rPr>
              <a:t>sizeof</a:t>
            </a:r>
            <a:r>
              <a:rPr lang="pt-BR" sz="1200" dirty="0">
                <a:solidFill>
                  <a:srgbClr val="000000"/>
                </a:solidFill>
              </a:rPr>
              <a:t>(</a:t>
            </a:r>
            <a:r>
              <a:rPr lang="pt-BR" sz="1200" dirty="0" err="1">
                <a:solidFill>
                  <a:srgbClr val="000000"/>
                </a:solidFill>
              </a:rPr>
              <a:t>struct</a:t>
            </a:r>
            <a:r>
              <a:rPr lang="pt-BR" sz="1200" dirty="0">
                <a:solidFill>
                  <a:srgbClr val="000000"/>
                </a:solidFill>
              </a:rPr>
              <a:t> Pessoa));</a:t>
            </a:r>
          </a:p>
          <a:p>
            <a:r>
              <a:rPr lang="pt-BR" sz="1200" dirty="0">
                <a:solidFill>
                  <a:srgbClr val="000000"/>
                </a:solidFill>
              </a:rPr>
              <a:t>    // Abrindo o arquivo para leitura em modo binário</a:t>
            </a:r>
          </a:p>
          <a:p>
            <a:r>
              <a:rPr lang="pt-BR" sz="1200" dirty="0">
                <a:solidFill>
                  <a:srgbClr val="000000"/>
                </a:solidFill>
              </a:rPr>
              <a:t>    arquivo = </a:t>
            </a:r>
            <a:r>
              <a:rPr lang="pt-BR" sz="1200" dirty="0" err="1">
                <a:solidFill>
                  <a:srgbClr val="000000"/>
                </a:solidFill>
              </a:rPr>
              <a:t>fopen</a:t>
            </a:r>
            <a:r>
              <a:rPr lang="pt-BR" sz="1200" dirty="0">
                <a:solidFill>
                  <a:srgbClr val="000000"/>
                </a:solidFill>
              </a:rPr>
              <a:t>("</a:t>
            </a:r>
            <a:r>
              <a:rPr lang="pt-BR" sz="1200" dirty="0" err="1">
                <a:solidFill>
                  <a:srgbClr val="000000"/>
                </a:solidFill>
              </a:rPr>
              <a:t>pessoa.bin</a:t>
            </a:r>
            <a:r>
              <a:rPr lang="pt-BR" sz="1200" dirty="0">
                <a:solidFill>
                  <a:srgbClr val="000000"/>
                </a:solidFill>
              </a:rPr>
              <a:t>", "</a:t>
            </a:r>
            <a:r>
              <a:rPr lang="pt-BR" sz="1200" dirty="0" err="1">
                <a:solidFill>
                  <a:srgbClr val="000000"/>
                </a:solidFill>
              </a:rPr>
              <a:t>rb</a:t>
            </a:r>
            <a:r>
              <a:rPr lang="pt-BR" sz="1200" dirty="0">
                <a:solidFill>
                  <a:srgbClr val="000000"/>
                </a:solidFill>
              </a:rPr>
              <a:t>");</a:t>
            </a:r>
          </a:p>
          <a:p>
            <a:r>
              <a:rPr lang="pt-BR" sz="1200" dirty="0">
                <a:solidFill>
                  <a:srgbClr val="000000"/>
                </a:solidFill>
              </a:rPr>
              <a:t>    </a:t>
            </a:r>
            <a:r>
              <a:rPr lang="pt-BR" sz="1200" dirty="0" err="1">
                <a:solidFill>
                  <a:srgbClr val="000000"/>
                </a:solidFill>
              </a:rPr>
              <a:t>if</a:t>
            </a:r>
            <a:r>
              <a:rPr lang="pt-BR" sz="1200" dirty="0">
                <a:solidFill>
                  <a:srgbClr val="000000"/>
                </a:solidFill>
              </a:rPr>
              <a:t> (arquivo == NULL) {</a:t>
            </a:r>
          </a:p>
          <a:p>
            <a:r>
              <a:rPr lang="pt-BR" sz="1200" dirty="0">
                <a:solidFill>
                  <a:srgbClr val="000000"/>
                </a:solidFill>
              </a:rPr>
              <a:t>        </a:t>
            </a:r>
            <a:r>
              <a:rPr lang="pt-BR" sz="1200" dirty="0" err="1">
                <a:solidFill>
                  <a:srgbClr val="000000"/>
                </a:solidFill>
              </a:rPr>
              <a:t>printf</a:t>
            </a:r>
            <a:r>
              <a:rPr lang="pt-BR" sz="1200" dirty="0">
                <a:solidFill>
                  <a:srgbClr val="000000"/>
                </a:solidFill>
              </a:rPr>
              <a:t>("Erro ao abrir o arquivo para leitura!\n");</a:t>
            </a:r>
          </a:p>
          <a:p>
            <a:r>
              <a:rPr lang="pt-BR" sz="1200" dirty="0">
                <a:solidFill>
                  <a:srgbClr val="000000"/>
                </a:solidFill>
              </a:rPr>
              <a:t>        </a:t>
            </a:r>
            <a:r>
              <a:rPr lang="pt-BR" sz="1200" dirty="0" err="1">
                <a:solidFill>
                  <a:srgbClr val="000000"/>
                </a:solidFill>
              </a:rPr>
              <a:t>return</a:t>
            </a:r>
            <a:r>
              <a:rPr lang="pt-BR" sz="1200" dirty="0">
                <a:solidFill>
                  <a:srgbClr val="000000"/>
                </a:solidFill>
              </a:rPr>
              <a:t> 1;</a:t>
            </a:r>
          </a:p>
          <a:p>
            <a:r>
              <a:rPr lang="pt-BR" sz="1200" dirty="0">
                <a:solidFill>
                  <a:srgbClr val="000000"/>
                </a:solidFill>
              </a:rPr>
              <a:t>    }</a:t>
            </a:r>
          </a:p>
          <a:p>
            <a:endParaRPr lang="pt-BR" sz="1200" dirty="0">
              <a:solidFill>
                <a:srgbClr val="000000"/>
              </a:solidFill>
            </a:endParaRPr>
          </a:p>
          <a:p>
            <a:r>
              <a:rPr lang="pt-BR" sz="1200" dirty="0">
                <a:solidFill>
                  <a:srgbClr val="000000"/>
                </a:solidFill>
              </a:rPr>
              <a:t>    // Lendo a </a:t>
            </a:r>
            <a:r>
              <a:rPr lang="pt-BR" sz="1200" dirty="0" err="1">
                <a:solidFill>
                  <a:srgbClr val="000000"/>
                </a:solidFill>
              </a:rPr>
              <a:t>struct</a:t>
            </a:r>
            <a:r>
              <a:rPr lang="pt-BR" sz="1200" dirty="0">
                <a:solidFill>
                  <a:srgbClr val="000000"/>
                </a:solidFill>
              </a:rPr>
              <a:t> do arquivo</a:t>
            </a:r>
          </a:p>
          <a:p>
            <a:r>
              <a:rPr lang="pt-BR" sz="1200" dirty="0">
                <a:solidFill>
                  <a:srgbClr val="000000"/>
                </a:solidFill>
              </a:rPr>
              <a:t>    </a:t>
            </a:r>
            <a:r>
              <a:rPr lang="pt-BR" sz="1200" dirty="0" err="1">
                <a:solidFill>
                  <a:srgbClr val="000000"/>
                </a:solidFill>
              </a:rPr>
              <a:t>fread</a:t>
            </a:r>
            <a:r>
              <a:rPr lang="pt-BR" sz="1200" dirty="0">
                <a:solidFill>
                  <a:srgbClr val="000000"/>
                </a:solidFill>
              </a:rPr>
              <a:t>(&amp;pessoa, </a:t>
            </a:r>
            <a:r>
              <a:rPr lang="pt-BR" sz="1200" dirty="0" err="1">
                <a:solidFill>
                  <a:srgbClr val="000000"/>
                </a:solidFill>
              </a:rPr>
              <a:t>sizeof</a:t>
            </a:r>
            <a:r>
              <a:rPr lang="pt-BR" sz="1200" dirty="0">
                <a:solidFill>
                  <a:srgbClr val="000000"/>
                </a:solidFill>
              </a:rPr>
              <a:t>(</a:t>
            </a:r>
            <a:r>
              <a:rPr lang="pt-BR" sz="1200" dirty="0" err="1">
                <a:solidFill>
                  <a:srgbClr val="000000"/>
                </a:solidFill>
              </a:rPr>
              <a:t>struct</a:t>
            </a:r>
            <a:r>
              <a:rPr lang="pt-BR" sz="1200" dirty="0">
                <a:solidFill>
                  <a:srgbClr val="000000"/>
                </a:solidFill>
              </a:rPr>
              <a:t> Pessoa), 1, arquivo);</a:t>
            </a:r>
          </a:p>
          <a:p>
            <a:endParaRPr lang="pt-BR" sz="1200" dirty="0">
              <a:solidFill>
                <a:srgbClr val="000000"/>
              </a:solidFill>
            </a:endParaRPr>
          </a:p>
          <a:p>
            <a:r>
              <a:rPr lang="pt-BR" sz="1200" dirty="0">
                <a:solidFill>
                  <a:srgbClr val="000000"/>
                </a:solidFill>
              </a:rPr>
              <a:t>    // Exibindo os dados lidos</a:t>
            </a:r>
          </a:p>
          <a:p>
            <a:r>
              <a:rPr lang="pt-BR" sz="1200" dirty="0">
                <a:solidFill>
                  <a:srgbClr val="000000"/>
                </a:solidFill>
              </a:rPr>
              <a:t>    </a:t>
            </a:r>
            <a:r>
              <a:rPr lang="pt-BR" sz="1200" dirty="0" err="1">
                <a:solidFill>
                  <a:srgbClr val="000000"/>
                </a:solidFill>
              </a:rPr>
              <a:t>printf</a:t>
            </a:r>
            <a:r>
              <a:rPr lang="pt-BR" sz="1200" dirty="0">
                <a:solidFill>
                  <a:srgbClr val="000000"/>
                </a:solidFill>
              </a:rPr>
              <a:t>("Nome: %s\n", </a:t>
            </a:r>
            <a:r>
              <a:rPr lang="pt-BR" sz="1200" dirty="0" err="1">
                <a:solidFill>
                  <a:srgbClr val="000000"/>
                </a:solidFill>
              </a:rPr>
              <a:t>pessoa.nome</a:t>
            </a:r>
            <a:r>
              <a:rPr lang="pt-BR" sz="1200" dirty="0">
                <a:solidFill>
                  <a:srgbClr val="000000"/>
                </a:solidFill>
              </a:rPr>
              <a:t>);</a:t>
            </a:r>
          </a:p>
          <a:p>
            <a:r>
              <a:rPr lang="pt-BR" sz="1200" dirty="0">
                <a:solidFill>
                  <a:srgbClr val="000000"/>
                </a:solidFill>
              </a:rPr>
              <a:t>    </a:t>
            </a:r>
            <a:r>
              <a:rPr lang="pt-BR" sz="1200" dirty="0" err="1">
                <a:solidFill>
                  <a:srgbClr val="000000"/>
                </a:solidFill>
              </a:rPr>
              <a:t>printf</a:t>
            </a:r>
            <a:r>
              <a:rPr lang="pt-BR" sz="1200" dirty="0">
                <a:solidFill>
                  <a:srgbClr val="000000"/>
                </a:solidFill>
              </a:rPr>
              <a:t>("Idade: %d\n", </a:t>
            </a:r>
            <a:r>
              <a:rPr lang="pt-BR" sz="1200" dirty="0" err="1">
                <a:solidFill>
                  <a:srgbClr val="000000"/>
                </a:solidFill>
              </a:rPr>
              <a:t>pessoa.idade</a:t>
            </a:r>
            <a:r>
              <a:rPr lang="pt-BR" sz="1200" dirty="0">
                <a:solidFill>
                  <a:srgbClr val="000000"/>
                </a:solidFill>
              </a:rPr>
              <a:t>);</a:t>
            </a:r>
          </a:p>
          <a:p>
            <a:r>
              <a:rPr lang="pt-BR" sz="1200" dirty="0">
                <a:solidFill>
                  <a:srgbClr val="000000"/>
                </a:solidFill>
              </a:rPr>
              <a:t>    </a:t>
            </a:r>
            <a:r>
              <a:rPr lang="pt-BR" sz="1200" dirty="0" err="1">
                <a:solidFill>
                  <a:srgbClr val="000000"/>
                </a:solidFill>
              </a:rPr>
              <a:t>printf</a:t>
            </a:r>
            <a:r>
              <a:rPr lang="pt-BR" sz="1200" dirty="0">
                <a:solidFill>
                  <a:srgbClr val="000000"/>
                </a:solidFill>
              </a:rPr>
              <a:t>("Altura: %.2f\n", </a:t>
            </a:r>
            <a:r>
              <a:rPr lang="pt-BR" sz="1200" dirty="0" err="1">
                <a:solidFill>
                  <a:srgbClr val="000000"/>
                </a:solidFill>
              </a:rPr>
              <a:t>pessoa.altura</a:t>
            </a:r>
            <a:r>
              <a:rPr lang="pt-BR" sz="1200" dirty="0">
                <a:solidFill>
                  <a:srgbClr val="000000"/>
                </a:solidFill>
              </a:rPr>
              <a:t>);</a:t>
            </a:r>
          </a:p>
          <a:p>
            <a:endParaRPr lang="pt-BR" sz="1200" dirty="0">
              <a:solidFill>
                <a:srgbClr val="000000"/>
              </a:solidFill>
            </a:endParaRPr>
          </a:p>
          <a:p>
            <a:r>
              <a:rPr lang="pt-BR" sz="1200" dirty="0">
                <a:solidFill>
                  <a:srgbClr val="000000"/>
                </a:solidFill>
              </a:rPr>
              <a:t>    // Fechando o arquivo após a leitura</a:t>
            </a:r>
          </a:p>
          <a:p>
            <a:r>
              <a:rPr lang="pt-BR" sz="1200" dirty="0">
                <a:solidFill>
                  <a:srgbClr val="000000"/>
                </a:solidFill>
              </a:rPr>
              <a:t>    </a:t>
            </a:r>
            <a:r>
              <a:rPr lang="pt-BR" sz="1200" dirty="0" err="1">
                <a:solidFill>
                  <a:srgbClr val="000000"/>
                </a:solidFill>
              </a:rPr>
              <a:t>fclose</a:t>
            </a:r>
            <a:r>
              <a:rPr lang="pt-BR" sz="1200" dirty="0">
                <a:solidFill>
                  <a:srgbClr val="000000"/>
                </a:solidFill>
              </a:rPr>
              <a:t>(arquivo);</a:t>
            </a:r>
          </a:p>
          <a:p>
            <a:endParaRPr lang="pt-BR" sz="1200" dirty="0">
              <a:solidFill>
                <a:srgbClr val="000000"/>
              </a:solidFill>
            </a:endParaRPr>
          </a:p>
          <a:p>
            <a:r>
              <a:rPr lang="pt-BR" sz="1200" dirty="0">
                <a:solidFill>
                  <a:srgbClr val="000000"/>
                </a:solidFill>
              </a:rPr>
              <a:t>    </a:t>
            </a:r>
            <a:r>
              <a:rPr lang="pt-BR" sz="1200" dirty="0" err="1">
                <a:solidFill>
                  <a:srgbClr val="000000"/>
                </a:solidFill>
              </a:rPr>
              <a:t>return</a:t>
            </a:r>
            <a:r>
              <a:rPr lang="pt-BR" sz="1200" dirty="0">
                <a:solidFill>
                  <a:srgbClr val="000000"/>
                </a:solidFill>
              </a:rPr>
              <a:t> 0;</a:t>
            </a:r>
          </a:p>
          <a:p>
            <a:r>
              <a:rPr lang="pt-BR" sz="1200" dirty="0">
                <a:solidFill>
                  <a:srgbClr val="000000"/>
                </a:solidFill>
              </a:rPr>
              <a:t>}</a:t>
            </a:r>
            <a:endParaRPr lang="pt-BR" sz="1200" dirty="0"/>
          </a:p>
        </p:txBody>
      </p:sp>
    </p:spTree>
    <p:extLst>
      <p:ext uri="{BB962C8B-B14F-4D97-AF65-F5344CB8AC3E}">
        <p14:creationId xmlns:p14="http://schemas.microsoft.com/office/powerpoint/2010/main" val="3614084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7FFF0A-6AD4-345E-E865-9FEF349FE2FF}"/>
              </a:ext>
            </a:extLst>
          </p:cNvPr>
          <p:cNvSpPr>
            <a:spLocks noGrp="1"/>
          </p:cNvSpPr>
          <p:nvPr>
            <p:ph type="ctrTitle"/>
          </p:nvPr>
        </p:nvSpPr>
        <p:spPr/>
        <p:txBody>
          <a:bodyPr/>
          <a:lstStyle/>
          <a:p>
            <a:r>
              <a:rPr lang="pt-BR" dirty="0"/>
              <a:t>Exemplo para o PIM</a:t>
            </a:r>
          </a:p>
        </p:txBody>
      </p:sp>
      <p:sp>
        <p:nvSpPr>
          <p:cNvPr id="3" name="Subtítulo 2">
            <a:extLst>
              <a:ext uri="{FF2B5EF4-FFF2-40B4-BE49-F238E27FC236}">
                <a16:creationId xmlns:a16="http://schemas.microsoft.com/office/drawing/2014/main" id="{5153AB96-6D38-E76B-9C73-954A91CAEDD6}"/>
              </a:ext>
            </a:extLst>
          </p:cNvPr>
          <p:cNvSpPr>
            <a:spLocks noGrp="1"/>
          </p:cNvSpPr>
          <p:nvPr>
            <p:ph type="subTitle" idx="1"/>
          </p:nvPr>
        </p:nvSpPr>
        <p:spPr/>
        <p:txBody>
          <a:bodyPr/>
          <a:lstStyle/>
          <a:p>
            <a:endParaRPr lang="pt-BR"/>
          </a:p>
        </p:txBody>
      </p:sp>
      <p:sp>
        <p:nvSpPr>
          <p:cNvPr id="4" name="Espaço Reservado para Número de Slide 3">
            <a:extLst>
              <a:ext uri="{FF2B5EF4-FFF2-40B4-BE49-F238E27FC236}">
                <a16:creationId xmlns:a16="http://schemas.microsoft.com/office/drawing/2014/main" id="{B6D16F90-7CEB-B27B-9D5F-C9FC243E42FA}"/>
              </a:ext>
            </a:extLst>
          </p:cNvPr>
          <p:cNvSpPr>
            <a:spLocks noGrp="1"/>
          </p:cNvSpPr>
          <p:nvPr>
            <p:ph type="sldNum" sz="quarter" idx="12"/>
          </p:nvPr>
        </p:nvSpPr>
        <p:spPr/>
        <p:txBody>
          <a:bodyPr/>
          <a:lstStyle/>
          <a:p>
            <a:pPr>
              <a:defRPr/>
            </a:pPr>
            <a:fld id="{403D6BB3-7F25-4F2A-8258-B456491B4EE3}" type="slidenum">
              <a:rPr lang="pt-BR" altLang="pt-BR" smtClean="0"/>
              <a:pPr>
                <a:defRPr/>
              </a:pPr>
              <a:t>32</a:t>
            </a:fld>
            <a:endParaRPr lang="pt-BR" altLang="pt-BR"/>
          </a:p>
        </p:txBody>
      </p:sp>
    </p:spTree>
    <p:extLst>
      <p:ext uri="{BB962C8B-B14F-4D97-AF65-F5344CB8AC3E}">
        <p14:creationId xmlns:p14="http://schemas.microsoft.com/office/powerpoint/2010/main" val="36465880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B2690272-F04F-5974-A245-29262971D1C0}"/>
              </a:ext>
            </a:extLst>
          </p:cNvPr>
          <p:cNvSpPr>
            <a:spLocks noGrp="1"/>
          </p:cNvSpPr>
          <p:nvPr>
            <p:ph type="sldNum" sz="quarter" idx="12"/>
          </p:nvPr>
        </p:nvSpPr>
        <p:spPr/>
        <p:txBody>
          <a:bodyPr/>
          <a:lstStyle/>
          <a:p>
            <a:pPr>
              <a:defRPr/>
            </a:pPr>
            <a:fld id="{8E140628-55E1-434C-A2F3-C260D42CDF75}" type="slidenum">
              <a:rPr lang="pt-BR" altLang="pt-BR" smtClean="0"/>
              <a:pPr>
                <a:defRPr/>
              </a:pPr>
              <a:t>33</a:t>
            </a:fld>
            <a:endParaRPr lang="pt-BR" altLang="pt-BR"/>
          </a:p>
        </p:txBody>
      </p:sp>
      <p:sp>
        <p:nvSpPr>
          <p:cNvPr id="4" name="CaixaDeTexto 3">
            <a:extLst>
              <a:ext uri="{FF2B5EF4-FFF2-40B4-BE49-F238E27FC236}">
                <a16:creationId xmlns:a16="http://schemas.microsoft.com/office/drawing/2014/main" id="{EB413843-83E8-24A9-089A-D3CAE094DD72}"/>
              </a:ext>
            </a:extLst>
          </p:cNvPr>
          <p:cNvSpPr txBox="1"/>
          <p:nvPr/>
        </p:nvSpPr>
        <p:spPr>
          <a:xfrm>
            <a:off x="1529075" y="851040"/>
            <a:ext cx="4644516" cy="5632311"/>
          </a:xfrm>
          <a:prstGeom prst="rect">
            <a:avLst/>
          </a:prstGeom>
          <a:noFill/>
        </p:spPr>
        <p:txBody>
          <a:bodyPr wrap="square">
            <a:spAutoFit/>
          </a:bodyPr>
          <a:lstStyle/>
          <a:p>
            <a:r>
              <a:rPr lang="pt-BR" sz="1200" dirty="0">
                <a:solidFill>
                  <a:srgbClr val="000000"/>
                </a:solidFill>
              </a:rPr>
              <a:t>#include &lt;</a:t>
            </a:r>
            <a:r>
              <a:rPr lang="pt-BR" sz="1200" dirty="0" err="1">
                <a:solidFill>
                  <a:srgbClr val="000000"/>
                </a:solidFill>
              </a:rPr>
              <a:t>stdio.h</a:t>
            </a:r>
            <a:r>
              <a:rPr lang="pt-BR" sz="1200" dirty="0">
                <a:solidFill>
                  <a:srgbClr val="000000"/>
                </a:solidFill>
              </a:rPr>
              <a:t>&gt;</a:t>
            </a:r>
          </a:p>
          <a:p>
            <a:r>
              <a:rPr lang="pt-BR" sz="1200" dirty="0">
                <a:solidFill>
                  <a:srgbClr val="000000"/>
                </a:solidFill>
              </a:rPr>
              <a:t>#include &lt;</a:t>
            </a:r>
            <a:r>
              <a:rPr lang="pt-BR" sz="1200" dirty="0" err="1">
                <a:solidFill>
                  <a:srgbClr val="000000"/>
                </a:solidFill>
              </a:rPr>
              <a:t>stdlib.h</a:t>
            </a:r>
            <a:r>
              <a:rPr lang="pt-BR" sz="1200" dirty="0">
                <a:solidFill>
                  <a:srgbClr val="000000"/>
                </a:solidFill>
              </a:rPr>
              <a:t>&gt;</a:t>
            </a:r>
          </a:p>
          <a:p>
            <a:r>
              <a:rPr lang="pt-BR" sz="1200" dirty="0">
                <a:solidFill>
                  <a:srgbClr val="000000"/>
                </a:solidFill>
              </a:rPr>
              <a:t>#include &lt;</a:t>
            </a:r>
            <a:r>
              <a:rPr lang="pt-BR" sz="1200" dirty="0" err="1">
                <a:solidFill>
                  <a:srgbClr val="000000"/>
                </a:solidFill>
              </a:rPr>
              <a:t>string.h</a:t>
            </a:r>
            <a:r>
              <a:rPr lang="pt-BR" sz="1200" dirty="0">
                <a:solidFill>
                  <a:srgbClr val="000000"/>
                </a:solidFill>
              </a:rPr>
              <a:t>&gt;</a:t>
            </a:r>
          </a:p>
          <a:p>
            <a:endParaRPr lang="pt-BR" sz="1200" dirty="0">
              <a:solidFill>
                <a:srgbClr val="000000"/>
              </a:solidFill>
            </a:endParaRPr>
          </a:p>
          <a:p>
            <a:r>
              <a:rPr lang="pt-BR" sz="1200" dirty="0">
                <a:solidFill>
                  <a:srgbClr val="000000"/>
                </a:solidFill>
              </a:rPr>
              <a:t>#define MAX_NOME 100</a:t>
            </a:r>
          </a:p>
          <a:p>
            <a:r>
              <a:rPr lang="pt-BR" sz="1200" dirty="0">
                <a:solidFill>
                  <a:srgbClr val="000000"/>
                </a:solidFill>
              </a:rPr>
              <a:t>#define MAX_RG 20</a:t>
            </a:r>
          </a:p>
          <a:p>
            <a:r>
              <a:rPr lang="pt-BR" sz="1200" dirty="0">
                <a:solidFill>
                  <a:srgbClr val="000000"/>
                </a:solidFill>
              </a:rPr>
              <a:t>#define MAX_CPF 20</a:t>
            </a:r>
          </a:p>
          <a:p>
            <a:r>
              <a:rPr lang="pt-BR" sz="1200" dirty="0">
                <a:solidFill>
                  <a:srgbClr val="000000"/>
                </a:solidFill>
              </a:rPr>
              <a:t>#define MAX_ENDERECO 200</a:t>
            </a:r>
          </a:p>
          <a:p>
            <a:endParaRPr lang="pt-BR" sz="1200" dirty="0">
              <a:solidFill>
                <a:srgbClr val="000000"/>
              </a:solidFill>
            </a:endParaRPr>
          </a:p>
          <a:p>
            <a:r>
              <a:rPr lang="pt-BR" sz="1200" dirty="0">
                <a:solidFill>
                  <a:srgbClr val="000000"/>
                </a:solidFill>
              </a:rPr>
              <a:t>int </a:t>
            </a:r>
            <a:r>
              <a:rPr lang="pt-BR" sz="1200" dirty="0" err="1">
                <a:solidFill>
                  <a:srgbClr val="000000"/>
                </a:solidFill>
              </a:rPr>
              <a:t>main</a:t>
            </a:r>
            <a:r>
              <a:rPr lang="pt-BR" sz="1200" dirty="0">
                <a:solidFill>
                  <a:srgbClr val="000000"/>
                </a:solidFill>
              </a:rPr>
              <a:t>() {</a:t>
            </a:r>
          </a:p>
          <a:p>
            <a:r>
              <a:rPr lang="pt-BR" sz="1200" dirty="0">
                <a:solidFill>
                  <a:srgbClr val="000000"/>
                </a:solidFill>
              </a:rPr>
              <a:t>    FILE *arquivo;</a:t>
            </a:r>
          </a:p>
          <a:p>
            <a:r>
              <a:rPr lang="pt-BR" sz="1200" dirty="0">
                <a:solidFill>
                  <a:srgbClr val="000000"/>
                </a:solidFill>
              </a:rPr>
              <a:t>    char nome[MAX_NOME];</a:t>
            </a:r>
          </a:p>
          <a:p>
            <a:r>
              <a:rPr lang="pt-BR" sz="1200" dirty="0">
                <a:solidFill>
                  <a:srgbClr val="000000"/>
                </a:solidFill>
              </a:rPr>
              <a:t>    char </a:t>
            </a:r>
            <a:r>
              <a:rPr lang="pt-BR" sz="1200" dirty="0" err="1">
                <a:solidFill>
                  <a:srgbClr val="000000"/>
                </a:solidFill>
              </a:rPr>
              <a:t>rg</a:t>
            </a:r>
            <a:r>
              <a:rPr lang="pt-BR" sz="1200" dirty="0">
                <a:solidFill>
                  <a:srgbClr val="000000"/>
                </a:solidFill>
              </a:rPr>
              <a:t>[MAX_RG];</a:t>
            </a:r>
          </a:p>
          <a:p>
            <a:r>
              <a:rPr lang="pt-BR" sz="1200" dirty="0">
                <a:solidFill>
                  <a:srgbClr val="000000"/>
                </a:solidFill>
              </a:rPr>
              <a:t>    char </a:t>
            </a:r>
            <a:r>
              <a:rPr lang="pt-BR" sz="1200" dirty="0" err="1">
                <a:solidFill>
                  <a:srgbClr val="000000"/>
                </a:solidFill>
              </a:rPr>
              <a:t>cpf</a:t>
            </a:r>
            <a:r>
              <a:rPr lang="pt-BR" sz="1200" dirty="0">
                <a:solidFill>
                  <a:srgbClr val="000000"/>
                </a:solidFill>
              </a:rPr>
              <a:t>[MAX_CPF];</a:t>
            </a:r>
          </a:p>
          <a:p>
            <a:r>
              <a:rPr lang="pt-BR" sz="1200" dirty="0">
                <a:solidFill>
                  <a:srgbClr val="000000"/>
                </a:solidFill>
              </a:rPr>
              <a:t>    char </a:t>
            </a:r>
            <a:r>
              <a:rPr lang="pt-BR" sz="1200" dirty="0" err="1">
                <a:solidFill>
                  <a:srgbClr val="000000"/>
                </a:solidFill>
              </a:rPr>
              <a:t>endereco</a:t>
            </a:r>
            <a:r>
              <a:rPr lang="pt-BR" sz="1200" dirty="0">
                <a:solidFill>
                  <a:srgbClr val="000000"/>
                </a:solidFill>
              </a:rPr>
              <a:t>[MAX_ENDERECO];</a:t>
            </a:r>
          </a:p>
          <a:p>
            <a:endParaRPr lang="pt-BR" sz="1200" dirty="0">
              <a:solidFill>
                <a:srgbClr val="000000"/>
              </a:solidFill>
            </a:endParaRPr>
          </a:p>
          <a:p>
            <a:r>
              <a:rPr lang="pt-BR" sz="1200" dirty="0">
                <a:solidFill>
                  <a:srgbClr val="000000"/>
                </a:solidFill>
              </a:rPr>
              <a:t>    // Abre o arquivo em modo de escrita (</a:t>
            </a:r>
            <a:r>
              <a:rPr lang="pt-BR" sz="1200" dirty="0" err="1">
                <a:solidFill>
                  <a:srgbClr val="000000"/>
                </a:solidFill>
              </a:rPr>
              <a:t>append</a:t>
            </a:r>
            <a:r>
              <a:rPr lang="pt-BR" sz="1200" dirty="0">
                <a:solidFill>
                  <a:srgbClr val="000000"/>
                </a:solidFill>
              </a:rPr>
              <a:t>)</a:t>
            </a:r>
          </a:p>
          <a:p>
            <a:r>
              <a:rPr lang="pt-BR" sz="1200" dirty="0">
                <a:solidFill>
                  <a:srgbClr val="000000"/>
                </a:solidFill>
              </a:rPr>
              <a:t>   // para não sobrescrever dados existentes</a:t>
            </a:r>
          </a:p>
          <a:p>
            <a:r>
              <a:rPr lang="pt-BR" sz="1200" dirty="0">
                <a:solidFill>
                  <a:srgbClr val="000000"/>
                </a:solidFill>
              </a:rPr>
              <a:t>    arquivo = </a:t>
            </a:r>
            <a:r>
              <a:rPr lang="pt-BR" sz="1200" dirty="0" err="1">
                <a:solidFill>
                  <a:srgbClr val="000000"/>
                </a:solidFill>
              </a:rPr>
              <a:t>fopen</a:t>
            </a:r>
            <a:r>
              <a:rPr lang="pt-BR" sz="1200" dirty="0">
                <a:solidFill>
                  <a:srgbClr val="000000"/>
                </a:solidFill>
              </a:rPr>
              <a:t>("clientes.csv", "a");</a:t>
            </a:r>
          </a:p>
          <a:p>
            <a:r>
              <a:rPr lang="pt-BR" sz="1200" dirty="0">
                <a:solidFill>
                  <a:srgbClr val="000000"/>
                </a:solidFill>
              </a:rPr>
              <a:t>    if (arquivo == NULL) {</a:t>
            </a:r>
          </a:p>
          <a:p>
            <a:r>
              <a:rPr lang="pt-BR" sz="1200" dirty="0">
                <a:solidFill>
                  <a:srgbClr val="000000"/>
                </a:solidFill>
              </a:rPr>
              <a:t>        </a:t>
            </a:r>
            <a:r>
              <a:rPr lang="pt-BR" sz="1200" dirty="0" err="1">
                <a:solidFill>
                  <a:srgbClr val="000000"/>
                </a:solidFill>
              </a:rPr>
              <a:t>printf</a:t>
            </a:r>
            <a:r>
              <a:rPr lang="pt-BR" sz="1200" dirty="0">
                <a:solidFill>
                  <a:srgbClr val="000000"/>
                </a:solidFill>
              </a:rPr>
              <a:t>("Erro ao abrir o arquivo!\n");</a:t>
            </a:r>
          </a:p>
          <a:p>
            <a:r>
              <a:rPr lang="pt-BR" sz="1200" dirty="0">
                <a:solidFill>
                  <a:srgbClr val="000000"/>
                </a:solidFill>
              </a:rPr>
              <a:t>        </a:t>
            </a:r>
            <a:r>
              <a:rPr lang="pt-BR" sz="1200" dirty="0" err="1">
                <a:solidFill>
                  <a:srgbClr val="000000"/>
                </a:solidFill>
              </a:rPr>
              <a:t>return</a:t>
            </a:r>
            <a:r>
              <a:rPr lang="pt-BR" sz="1200" dirty="0">
                <a:solidFill>
                  <a:srgbClr val="000000"/>
                </a:solidFill>
              </a:rPr>
              <a:t> 1;</a:t>
            </a:r>
          </a:p>
          <a:p>
            <a:r>
              <a:rPr lang="pt-BR" sz="1200" dirty="0">
                <a:solidFill>
                  <a:srgbClr val="000000"/>
                </a:solidFill>
              </a:rPr>
              <a:t>    }</a:t>
            </a:r>
          </a:p>
          <a:p>
            <a:endParaRPr lang="pt-BR" sz="1200" dirty="0">
              <a:solidFill>
                <a:srgbClr val="000000"/>
              </a:solidFill>
            </a:endParaRPr>
          </a:p>
          <a:p>
            <a:r>
              <a:rPr lang="pt-BR" sz="1200" dirty="0">
                <a:solidFill>
                  <a:srgbClr val="000000"/>
                </a:solidFill>
              </a:rPr>
              <a:t>    // Verifica se o arquivo está vazio para escrever o cabeçalho</a:t>
            </a:r>
          </a:p>
          <a:p>
            <a:r>
              <a:rPr lang="pt-BR" sz="1200" dirty="0">
                <a:solidFill>
                  <a:srgbClr val="000000"/>
                </a:solidFill>
              </a:rPr>
              <a:t>    </a:t>
            </a:r>
            <a:r>
              <a:rPr lang="pt-BR" sz="1200" dirty="0" err="1">
                <a:solidFill>
                  <a:srgbClr val="000000"/>
                </a:solidFill>
              </a:rPr>
              <a:t>fseek</a:t>
            </a:r>
            <a:r>
              <a:rPr lang="pt-BR" sz="1200" dirty="0">
                <a:solidFill>
                  <a:srgbClr val="000000"/>
                </a:solidFill>
              </a:rPr>
              <a:t>(arquivo, 0, SEEK_END);</a:t>
            </a:r>
          </a:p>
          <a:p>
            <a:r>
              <a:rPr lang="pt-BR" sz="1200" dirty="0">
                <a:solidFill>
                  <a:srgbClr val="000000"/>
                </a:solidFill>
              </a:rPr>
              <a:t>    if (</a:t>
            </a:r>
            <a:r>
              <a:rPr lang="pt-BR" sz="1200" dirty="0" err="1">
                <a:solidFill>
                  <a:srgbClr val="000000"/>
                </a:solidFill>
              </a:rPr>
              <a:t>ftell</a:t>
            </a:r>
            <a:r>
              <a:rPr lang="pt-BR" sz="1200" dirty="0">
                <a:solidFill>
                  <a:srgbClr val="000000"/>
                </a:solidFill>
              </a:rPr>
              <a:t>(arquivo) == 0) {</a:t>
            </a:r>
          </a:p>
          <a:p>
            <a:r>
              <a:rPr lang="pt-BR" sz="1200" dirty="0">
                <a:solidFill>
                  <a:srgbClr val="000000"/>
                </a:solidFill>
              </a:rPr>
              <a:t>        </a:t>
            </a:r>
            <a:r>
              <a:rPr lang="pt-BR" sz="1200" dirty="0" err="1">
                <a:solidFill>
                  <a:srgbClr val="000000"/>
                </a:solidFill>
              </a:rPr>
              <a:t>fprintf</a:t>
            </a:r>
            <a:r>
              <a:rPr lang="pt-BR" sz="1200" dirty="0">
                <a:solidFill>
                  <a:srgbClr val="000000"/>
                </a:solidFill>
              </a:rPr>
              <a:t>(arquivo, "</a:t>
            </a:r>
            <a:r>
              <a:rPr lang="pt-BR" sz="1200" dirty="0" err="1">
                <a:solidFill>
                  <a:srgbClr val="000000"/>
                </a:solidFill>
              </a:rPr>
              <a:t>Nome,RG,CPF,Endereco</a:t>
            </a:r>
            <a:r>
              <a:rPr lang="pt-BR" sz="1200" dirty="0">
                <a:solidFill>
                  <a:srgbClr val="000000"/>
                </a:solidFill>
              </a:rPr>
              <a:t>\n");</a:t>
            </a:r>
          </a:p>
          <a:p>
            <a:r>
              <a:rPr lang="pt-BR" sz="1200" dirty="0">
                <a:solidFill>
                  <a:srgbClr val="000000"/>
                </a:solidFill>
              </a:rPr>
              <a:t>    }</a:t>
            </a:r>
          </a:p>
          <a:p>
            <a:endParaRPr lang="pt-BR" sz="1200" dirty="0">
              <a:solidFill>
                <a:srgbClr val="000000"/>
              </a:solidFill>
            </a:endParaRPr>
          </a:p>
        </p:txBody>
      </p:sp>
      <p:sp>
        <p:nvSpPr>
          <p:cNvPr id="6" name="CaixaDeTexto 5">
            <a:extLst>
              <a:ext uri="{FF2B5EF4-FFF2-40B4-BE49-F238E27FC236}">
                <a16:creationId xmlns:a16="http://schemas.microsoft.com/office/drawing/2014/main" id="{6B5799BB-BCDB-4A03-505E-8229AC8F43BA}"/>
              </a:ext>
            </a:extLst>
          </p:cNvPr>
          <p:cNvSpPr txBox="1"/>
          <p:nvPr/>
        </p:nvSpPr>
        <p:spPr>
          <a:xfrm>
            <a:off x="5951984" y="1052737"/>
            <a:ext cx="4590852" cy="5078313"/>
          </a:xfrm>
          <a:prstGeom prst="rect">
            <a:avLst/>
          </a:prstGeom>
          <a:noFill/>
        </p:spPr>
        <p:txBody>
          <a:bodyPr wrap="square">
            <a:spAutoFit/>
          </a:bodyPr>
          <a:lstStyle/>
          <a:p>
            <a:r>
              <a:rPr lang="pt-BR" sz="1200" dirty="0">
                <a:solidFill>
                  <a:srgbClr val="000000"/>
                </a:solidFill>
              </a:rPr>
              <a:t> // Coleta os dados do cliente</a:t>
            </a:r>
          </a:p>
          <a:p>
            <a:r>
              <a:rPr lang="pt-BR" sz="1200" dirty="0">
                <a:solidFill>
                  <a:srgbClr val="000000"/>
                </a:solidFill>
              </a:rPr>
              <a:t>    </a:t>
            </a:r>
            <a:r>
              <a:rPr lang="pt-BR" sz="1200" dirty="0" err="1">
                <a:solidFill>
                  <a:srgbClr val="000000"/>
                </a:solidFill>
              </a:rPr>
              <a:t>printf</a:t>
            </a:r>
            <a:r>
              <a:rPr lang="pt-BR" sz="1200" dirty="0">
                <a:solidFill>
                  <a:srgbClr val="000000"/>
                </a:solidFill>
              </a:rPr>
              <a:t>("Digite o nome do cliente: ");</a:t>
            </a:r>
          </a:p>
          <a:p>
            <a:r>
              <a:rPr lang="pt-BR" sz="1200" dirty="0">
                <a:solidFill>
                  <a:srgbClr val="000000"/>
                </a:solidFill>
              </a:rPr>
              <a:t>    </a:t>
            </a:r>
            <a:r>
              <a:rPr lang="pt-BR" sz="1200" dirty="0" err="1">
                <a:solidFill>
                  <a:srgbClr val="000000"/>
                </a:solidFill>
              </a:rPr>
              <a:t>fgets</a:t>
            </a:r>
            <a:r>
              <a:rPr lang="pt-BR" sz="1200" dirty="0">
                <a:solidFill>
                  <a:srgbClr val="000000"/>
                </a:solidFill>
              </a:rPr>
              <a:t>(nome, </a:t>
            </a:r>
            <a:r>
              <a:rPr lang="pt-BR" sz="1200" dirty="0" err="1">
                <a:solidFill>
                  <a:srgbClr val="000000"/>
                </a:solidFill>
              </a:rPr>
              <a:t>sizeof</a:t>
            </a:r>
            <a:r>
              <a:rPr lang="pt-BR" sz="1200" dirty="0">
                <a:solidFill>
                  <a:srgbClr val="000000"/>
                </a:solidFill>
              </a:rPr>
              <a:t>(nome), </a:t>
            </a:r>
            <a:r>
              <a:rPr lang="pt-BR" sz="1200" dirty="0" err="1">
                <a:solidFill>
                  <a:srgbClr val="000000"/>
                </a:solidFill>
              </a:rPr>
              <a:t>stdin</a:t>
            </a:r>
            <a:r>
              <a:rPr lang="pt-BR" sz="1200" dirty="0">
                <a:solidFill>
                  <a:srgbClr val="000000"/>
                </a:solidFill>
              </a:rPr>
              <a:t>);</a:t>
            </a:r>
          </a:p>
          <a:p>
            <a:r>
              <a:rPr lang="pt-BR" sz="1200" dirty="0">
                <a:solidFill>
                  <a:srgbClr val="000000"/>
                </a:solidFill>
              </a:rPr>
              <a:t>    nome[</a:t>
            </a:r>
            <a:r>
              <a:rPr lang="pt-BR" sz="1200" dirty="0" err="1">
                <a:solidFill>
                  <a:srgbClr val="000000"/>
                </a:solidFill>
              </a:rPr>
              <a:t>strcspn</a:t>
            </a:r>
            <a:r>
              <a:rPr lang="pt-BR" sz="1200" dirty="0">
                <a:solidFill>
                  <a:srgbClr val="000000"/>
                </a:solidFill>
              </a:rPr>
              <a:t>(nome, "\n")] = '\0'; // Remove a nova linha</a:t>
            </a:r>
          </a:p>
          <a:p>
            <a:endParaRPr lang="pt-BR" sz="1200" dirty="0">
              <a:solidFill>
                <a:srgbClr val="000000"/>
              </a:solidFill>
            </a:endParaRPr>
          </a:p>
          <a:p>
            <a:r>
              <a:rPr lang="pt-BR" sz="1200" dirty="0">
                <a:solidFill>
                  <a:srgbClr val="000000"/>
                </a:solidFill>
              </a:rPr>
              <a:t>    </a:t>
            </a:r>
            <a:r>
              <a:rPr lang="pt-BR" sz="1200" dirty="0" err="1">
                <a:solidFill>
                  <a:srgbClr val="000000"/>
                </a:solidFill>
              </a:rPr>
              <a:t>printf</a:t>
            </a:r>
            <a:r>
              <a:rPr lang="pt-BR" sz="1200" dirty="0">
                <a:solidFill>
                  <a:srgbClr val="000000"/>
                </a:solidFill>
              </a:rPr>
              <a:t>("Digite o RG do cliente: ");</a:t>
            </a:r>
          </a:p>
          <a:p>
            <a:r>
              <a:rPr lang="pt-BR" sz="1200" dirty="0">
                <a:solidFill>
                  <a:srgbClr val="000000"/>
                </a:solidFill>
              </a:rPr>
              <a:t>    </a:t>
            </a:r>
            <a:r>
              <a:rPr lang="pt-BR" sz="1200" dirty="0" err="1">
                <a:solidFill>
                  <a:srgbClr val="000000"/>
                </a:solidFill>
              </a:rPr>
              <a:t>fgets</a:t>
            </a:r>
            <a:r>
              <a:rPr lang="pt-BR" sz="1200" dirty="0">
                <a:solidFill>
                  <a:srgbClr val="000000"/>
                </a:solidFill>
              </a:rPr>
              <a:t>(</a:t>
            </a:r>
            <a:r>
              <a:rPr lang="pt-BR" sz="1200" dirty="0" err="1">
                <a:solidFill>
                  <a:srgbClr val="000000"/>
                </a:solidFill>
              </a:rPr>
              <a:t>rg</a:t>
            </a:r>
            <a:r>
              <a:rPr lang="pt-BR" sz="1200" dirty="0">
                <a:solidFill>
                  <a:srgbClr val="000000"/>
                </a:solidFill>
              </a:rPr>
              <a:t>, </a:t>
            </a:r>
            <a:r>
              <a:rPr lang="pt-BR" sz="1200" dirty="0" err="1">
                <a:solidFill>
                  <a:srgbClr val="000000"/>
                </a:solidFill>
              </a:rPr>
              <a:t>sizeof</a:t>
            </a:r>
            <a:r>
              <a:rPr lang="pt-BR" sz="1200" dirty="0">
                <a:solidFill>
                  <a:srgbClr val="000000"/>
                </a:solidFill>
              </a:rPr>
              <a:t>(</a:t>
            </a:r>
            <a:r>
              <a:rPr lang="pt-BR" sz="1200" dirty="0" err="1">
                <a:solidFill>
                  <a:srgbClr val="000000"/>
                </a:solidFill>
              </a:rPr>
              <a:t>rg</a:t>
            </a:r>
            <a:r>
              <a:rPr lang="pt-BR" sz="1200" dirty="0">
                <a:solidFill>
                  <a:srgbClr val="000000"/>
                </a:solidFill>
              </a:rPr>
              <a:t>), </a:t>
            </a:r>
            <a:r>
              <a:rPr lang="pt-BR" sz="1200" dirty="0" err="1">
                <a:solidFill>
                  <a:srgbClr val="000000"/>
                </a:solidFill>
              </a:rPr>
              <a:t>stdin</a:t>
            </a:r>
            <a:r>
              <a:rPr lang="pt-BR" sz="1200" dirty="0">
                <a:solidFill>
                  <a:srgbClr val="000000"/>
                </a:solidFill>
              </a:rPr>
              <a:t>);</a:t>
            </a:r>
          </a:p>
          <a:p>
            <a:r>
              <a:rPr lang="pt-BR" sz="1200" dirty="0">
                <a:solidFill>
                  <a:srgbClr val="000000"/>
                </a:solidFill>
              </a:rPr>
              <a:t>    </a:t>
            </a:r>
            <a:r>
              <a:rPr lang="pt-BR" sz="1200" dirty="0" err="1">
                <a:solidFill>
                  <a:srgbClr val="000000"/>
                </a:solidFill>
              </a:rPr>
              <a:t>rg</a:t>
            </a:r>
            <a:r>
              <a:rPr lang="pt-BR" sz="1200" dirty="0">
                <a:solidFill>
                  <a:srgbClr val="000000"/>
                </a:solidFill>
              </a:rPr>
              <a:t>[</a:t>
            </a:r>
            <a:r>
              <a:rPr lang="pt-BR" sz="1200" dirty="0" err="1">
                <a:solidFill>
                  <a:srgbClr val="000000"/>
                </a:solidFill>
              </a:rPr>
              <a:t>strcspn</a:t>
            </a:r>
            <a:r>
              <a:rPr lang="pt-BR" sz="1200" dirty="0">
                <a:solidFill>
                  <a:srgbClr val="000000"/>
                </a:solidFill>
              </a:rPr>
              <a:t>(</a:t>
            </a:r>
            <a:r>
              <a:rPr lang="pt-BR" sz="1200" dirty="0" err="1">
                <a:solidFill>
                  <a:srgbClr val="000000"/>
                </a:solidFill>
              </a:rPr>
              <a:t>rg</a:t>
            </a:r>
            <a:r>
              <a:rPr lang="pt-BR" sz="1200" dirty="0">
                <a:solidFill>
                  <a:srgbClr val="000000"/>
                </a:solidFill>
              </a:rPr>
              <a:t>, "\n")] = '\0';</a:t>
            </a:r>
          </a:p>
          <a:p>
            <a:endParaRPr lang="pt-BR" sz="1200" dirty="0">
              <a:solidFill>
                <a:srgbClr val="000000"/>
              </a:solidFill>
            </a:endParaRPr>
          </a:p>
          <a:p>
            <a:r>
              <a:rPr lang="pt-BR" sz="1200" dirty="0">
                <a:solidFill>
                  <a:srgbClr val="000000"/>
                </a:solidFill>
              </a:rPr>
              <a:t>    </a:t>
            </a:r>
            <a:r>
              <a:rPr lang="pt-BR" sz="1200" dirty="0" err="1">
                <a:solidFill>
                  <a:srgbClr val="000000"/>
                </a:solidFill>
              </a:rPr>
              <a:t>printf</a:t>
            </a:r>
            <a:r>
              <a:rPr lang="pt-BR" sz="1200" dirty="0">
                <a:solidFill>
                  <a:srgbClr val="000000"/>
                </a:solidFill>
              </a:rPr>
              <a:t>("Digite o CPF do cliente: ");</a:t>
            </a:r>
          </a:p>
          <a:p>
            <a:r>
              <a:rPr lang="pt-BR" sz="1200" dirty="0">
                <a:solidFill>
                  <a:srgbClr val="000000"/>
                </a:solidFill>
              </a:rPr>
              <a:t>    </a:t>
            </a:r>
            <a:r>
              <a:rPr lang="pt-BR" sz="1200" dirty="0" err="1">
                <a:solidFill>
                  <a:srgbClr val="000000"/>
                </a:solidFill>
              </a:rPr>
              <a:t>fgets</a:t>
            </a:r>
            <a:r>
              <a:rPr lang="pt-BR" sz="1200" dirty="0">
                <a:solidFill>
                  <a:srgbClr val="000000"/>
                </a:solidFill>
              </a:rPr>
              <a:t>(</a:t>
            </a:r>
            <a:r>
              <a:rPr lang="pt-BR" sz="1200" dirty="0" err="1">
                <a:solidFill>
                  <a:srgbClr val="000000"/>
                </a:solidFill>
              </a:rPr>
              <a:t>cpf</a:t>
            </a:r>
            <a:r>
              <a:rPr lang="pt-BR" sz="1200" dirty="0">
                <a:solidFill>
                  <a:srgbClr val="000000"/>
                </a:solidFill>
              </a:rPr>
              <a:t>, </a:t>
            </a:r>
            <a:r>
              <a:rPr lang="pt-BR" sz="1200" dirty="0" err="1">
                <a:solidFill>
                  <a:srgbClr val="000000"/>
                </a:solidFill>
              </a:rPr>
              <a:t>sizeof</a:t>
            </a:r>
            <a:r>
              <a:rPr lang="pt-BR" sz="1200" dirty="0">
                <a:solidFill>
                  <a:srgbClr val="000000"/>
                </a:solidFill>
              </a:rPr>
              <a:t>(</a:t>
            </a:r>
            <a:r>
              <a:rPr lang="pt-BR" sz="1200" dirty="0" err="1">
                <a:solidFill>
                  <a:srgbClr val="000000"/>
                </a:solidFill>
              </a:rPr>
              <a:t>cpf</a:t>
            </a:r>
            <a:r>
              <a:rPr lang="pt-BR" sz="1200" dirty="0">
                <a:solidFill>
                  <a:srgbClr val="000000"/>
                </a:solidFill>
              </a:rPr>
              <a:t>), </a:t>
            </a:r>
            <a:r>
              <a:rPr lang="pt-BR" sz="1200" dirty="0" err="1">
                <a:solidFill>
                  <a:srgbClr val="000000"/>
                </a:solidFill>
              </a:rPr>
              <a:t>stdin</a:t>
            </a:r>
            <a:r>
              <a:rPr lang="pt-BR" sz="1200" dirty="0">
                <a:solidFill>
                  <a:srgbClr val="000000"/>
                </a:solidFill>
              </a:rPr>
              <a:t>);</a:t>
            </a:r>
          </a:p>
          <a:p>
            <a:r>
              <a:rPr lang="pt-BR" sz="1200" dirty="0">
                <a:solidFill>
                  <a:srgbClr val="000000"/>
                </a:solidFill>
              </a:rPr>
              <a:t>    </a:t>
            </a:r>
            <a:r>
              <a:rPr lang="pt-BR" sz="1200" dirty="0" err="1">
                <a:solidFill>
                  <a:srgbClr val="000000"/>
                </a:solidFill>
              </a:rPr>
              <a:t>cpf</a:t>
            </a:r>
            <a:r>
              <a:rPr lang="pt-BR" sz="1200" dirty="0">
                <a:solidFill>
                  <a:srgbClr val="000000"/>
                </a:solidFill>
              </a:rPr>
              <a:t>[</a:t>
            </a:r>
            <a:r>
              <a:rPr lang="pt-BR" sz="1200" dirty="0" err="1">
                <a:solidFill>
                  <a:srgbClr val="000000"/>
                </a:solidFill>
              </a:rPr>
              <a:t>strcspn</a:t>
            </a:r>
            <a:r>
              <a:rPr lang="pt-BR" sz="1200" dirty="0">
                <a:solidFill>
                  <a:srgbClr val="000000"/>
                </a:solidFill>
              </a:rPr>
              <a:t>(</a:t>
            </a:r>
            <a:r>
              <a:rPr lang="pt-BR" sz="1200" dirty="0" err="1">
                <a:solidFill>
                  <a:srgbClr val="000000"/>
                </a:solidFill>
              </a:rPr>
              <a:t>cpf</a:t>
            </a:r>
            <a:r>
              <a:rPr lang="pt-BR" sz="1200" dirty="0">
                <a:solidFill>
                  <a:srgbClr val="000000"/>
                </a:solidFill>
              </a:rPr>
              <a:t>, "\n")] = '\0';</a:t>
            </a:r>
          </a:p>
          <a:p>
            <a:endParaRPr lang="pt-BR" sz="1200" dirty="0">
              <a:solidFill>
                <a:srgbClr val="000000"/>
              </a:solidFill>
            </a:endParaRPr>
          </a:p>
          <a:p>
            <a:r>
              <a:rPr lang="pt-BR" sz="1200" dirty="0">
                <a:solidFill>
                  <a:srgbClr val="000000"/>
                </a:solidFill>
              </a:rPr>
              <a:t>    </a:t>
            </a:r>
            <a:r>
              <a:rPr lang="pt-BR" sz="1200" dirty="0" err="1">
                <a:solidFill>
                  <a:srgbClr val="000000"/>
                </a:solidFill>
              </a:rPr>
              <a:t>printf</a:t>
            </a:r>
            <a:r>
              <a:rPr lang="pt-BR" sz="1200" dirty="0">
                <a:solidFill>
                  <a:srgbClr val="000000"/>
                </a:solidFill>
              </a:rPr>
              <a:t>("Digite o </a:t>
            </a:r>
            <a:r>
              <a:rPr lang="pt-BR" sz="1200" dirty="0" err="1">
                <a:solidFill>
                  <a:srgbClr val="000000"/>
                </a:solidFill>
              </a:rPr>
              <a:t>endereco</a:t>
            </a:r>
            <a:r>
              <a:rPr lang="pt-BR" sz="1200" dirty="0">
                <a:solidFill>
                  <a:srgbClr val="000000"/>
                </a:solidFill>
              </a:rPr>
              <a:t> do cliente: ");</a:t>
            </a:r>
          </a:p>
          <a:p>
            <a:r>
              <a:rPr lang="pt-BR" sz="1200" dirty="0">
                <a:solidFill>
                  <a:srgbClr val="000000"/>
                </a:solidFill>
              </a:rPr>
              <a:t>    </a:t>
            </a:r>
            <a:r>
              <a:rPr lang="pt-BR" sz="1200" dirty="0" err="1">
                <a:solidFill>
                  <a:srgbClr val="000000"/>
                </a:solidFill>
              </a:rPr>
              <a:t>fgets</a:t>
            </a:r>
            <a:r>
              <a:rPr lang="pt-BR" sz="1200" dirty="0">
                <a:solidFill>
                  <a:srgbClr val="000000"/>
                </a:solidFill>
              </a:rPr>
              <a:t>(</a:t>
            </a:r>
            <a:r>
              <a:rPr lang="pt-BR" sz="1200" dirty="0" err="1">
                <a:solidFill>
                  <a:srgbClr val="000000"/>
                </a:solidFill>
              </a:rPr>
              <a:t>endereco</a:t>
            </a:r>
            <a:r>
              <a:rPr lang="pt-BR" sz="1200" dirty="0">
                <a:solidFill>
                  <a:srgbClr val="000000"/>
                </a:solidFill>
              </a:rPr>
              <a:t>, </a:t>
            </a:r>
            <a:r>
              <a:rPr lang="pt-BR" sz="1200" dirty="0" err="1">
                <a:solidFill>
                  <a:srgbClr val="000000"/>
                </a:solidFill>
              </a:rPr>
              <a:t>sizeof</a:t>
            </a:r>
            <a:r>
              <a:rPr lang="pt-BR" sz="1200" dirty="0">
                <a:solidFill>
                  <a:srgbClr val="000000"/>
                </a:solidFill>
              </a:rPr>
              <a:t>(</a:t>
            </a:r>
            <a:r>
              <a:rPr lang="pt-BR" sz="1200" dirty="0" err="1">
                <a:solidFill>
                  <a:srgbClr val="000000"/>
                </a:solidFill>
              </a:rPr>
              <a:t>endereco</a:t>
            </a:r>
            <a:r>
              <a:rPr lang="pt-BR" sz="1200" dirty="0">
                <a:solidFill>
                  <a:srgbClr val="000000"/>
                </a:solidFill>
              </a:rPr>
              <a:t>), </a:t>
            </a:r>
            <a:r>
              <a:rPr lang="pt-BR" sz="1200" dirty="0" err="1">
                <a:solidFill>
                  <a:srgbClr val="000000"/>
                </a:solidFill>
              </a:rPr>
              <a:t>stdin</a:t>
            </a:r>
            <a:r>
              <a:rPr lang="pt-BR" sz="1200" dirty="0">
                <a:solidFill>
                  <a:srgbClr val="000000"/>
                </a:solidFill>
              </a:rPr>
              <a:t>);</a:t>
            </a:r>
          </a:p>
          <a:p>
            <a:r>
              <a:rPr lang="pt-BR" sz="1200" dirty="0">
                <a:solidFill>
                  <a:srgbClr val="000000"/>
                </a:solidFill>
              </a:rPr>
              <a:t>    </a:t>
            </a:r>
            <a:r>
              <a:rPr lang="pt-BR" sz="1200" dirty="0" err="1">
                <a:solidFill>
                  <a:srgbClr val="000000"/>
                </a:solidFill>
              </a:rPr>
              <a:t>endereco</a:t>
            </a:r>
            <a:r>
              <a:rPr lang="pt-BR" sz="1200" dirty="0">
                <a:solidFill>
                  <a:srgbClr val="000000"/>
                </a:solidFill>
              </a:rPr>
              <a:t>[</a:t>
            </a:r>
            <a:r>
              <a:rPr lang="pt-BR" sz="1200" dirty="0" err="1">
                <a:solidFill>
                  <a:srgbClr val="000000"/>
                </a:solidFill>
              </a:rPr>
              <a:t>strcspn</a:t>
            </a:r>
            <a:r>
              <a:rPr lang="pt-BR" sz="1200" dirty="0">
                <a:solidFill>
                  <a:srgbClr val="000000"/>
                </a:solidFill>
              </a:rPr>
              <a:t>(</a:t>
            </a:r>
            <a:r>
              <a:rPr lang="pt-BR" sz="1200" dirty="0" err="1">
                <a:solidFill>
                  <a:srgbClr val="000000"/>
                </a:solidFill>
              </a:rPr>
              <a:t>endereco</a:t>
            </a:r>
            <a:r>
              <a:rPr lang="pt-BR" sz="1200" dirty="0">
                <a:solidFill>
                  <a:srgbClr val="000000"/>
                </a:solidFill>
              </a:rPr>
              <a:t>, "\n")] = '\0';</a:t>
            </a:r>
          </a:p>
          <a:p>
            <a:endParaRPr lang="pt-BR" sz="1200" dirty="0">
              <a:solidFill>
                <a:srgbClr val="000000"/>
              </a:solidFill>
            </a:endParaRPr>
          </a:p>
          <a:p>
            <a:r>
              <a:rPr lang="pt-BR" sz="1200" dirty="0">
                <a:solidFill>
                  <a:srgbClr val="000000"/>
                </a:solidFill>
              </a:rPr>
              <a:t>    // Escreve os dados no arquivo CSV</a:t>
            </a:r>
          </a:p>
          <a:p>
            <a:r>
              <a:rPr lang="pt-BR" sz="1200" dirty="0">
                <a:solidFill>
                  <a:srgbClr val="000000"/>
                </a:solidFill>
              </a:rPr>
              <a:t>    </a:t>
            </a:r>
            <a:r>
              <a:rPr lang="pt-BR" sz="1200" dirty="0" err="1">
                <a:solidFill>
                  <a:srgbClr val="000000"/>
                </a:solidFill>
              </a:rPr>
              <a:t>fprintf</a:t>
            </a:r>
            <a:r>
              <a:rPr lang="pt-BR" sz="1200" dirty="0">
                <a:solidFill>
                  <a:srgbClr val="000000"/>
                </a:solidFill>
              </a:rPr>
              <a:t>(arquivo, "\"%s\",\"%s\",\"%s\",\"%s\"\n", nome, </a:t>
            </a:r>
            <a:r>
              <a:rPr lang="pt-BR" sz="1200" dirty="0" err="1">
                <a:solidFill>
                  <a:srgbClr val="000000"/>
                </a:solidFill>
              </a:rPr>
              <a:t>rg</a:t>
            </a:r>
            <a:r>
              <a:rPr lang="pt-BR" sz="1200" dirty="0">
                <a:solidFill>
                  <a:srgbClr val="000000"/>
                </a:solidFill>
              </a:rPr>
              <a:t>, </a:t>
            </a:r>
            <a:r>
              <a:rPr lang="pt-BR" sz="1200" dirty="0" err="1">
                <a:solidFill>
                  <a:srgbClr val="000000"/>
                </a:solidFill>
              </a:rPr>
              <a:t>cpf</a:t>
            </a:r>
            <a:r>
              <a:rPr lang="pt-BR" sz="1200" dirty="0">
                <a:solidFill>
                  <a:srgbClr val="000000"/>
                </a:solidFill>
              </a:rPr>
              <a:t>, </a:t>
            </a:r>
            <a:r>
              <a:rPr lang="pt-BR" sz="1200" dirty="0" err="1">
                <a:solidFill>
                  <a:srgbClr val="000000"/>
                </a:solidFill>
              </a:rPr>
              <a:t>endereco</a:t>
            </a:r>
            <a:r>
              <a:rPr lang="pt-BR" sz="1200" dirty="0">
                <a:solidFill>
                  <a:srgbClr val="000000"/>
                </a:solidFill>
              </a:rPr>
              <a:t>);</a:t>
            </a:r>
          </a:p>
          <a:p>
            <a:endParaRPr lang="pt-BR" sz="1200" dirty="0">
              <a:solidFill>
                <a:srgbClr val="000000"/>
              </a:solidFill>
            </a:endParaRPr>
          </a:p>
          <a:p>
            <a:r>
              <a:rPr lang="pt-BR" sz="1200" dirty="0">
                <a:solidFill>
                  <a:srgbClr val="000000"/>
                </a:solidFill>
              </a:rPr>
              <a:t>    </a:t>
            </a:r>
            <a:r>
              <a:rPr lang="pt-BR" sz="1200" dirty="0" err="1">
                <a:solidFill>
                  <a:srgbClr val="000000"/>
                </a:solidFill>
              </a:rPr>
              <a:t>fclose</a:t>
            </a:r>
            <a:r>
              <a:rPr lang="pt-BR" sz="1200" dirty="0">
                <a:solidFill>
                  <a:srgbClr val="000000"/>
                </a:solidFill>
              </a:rPr>
              <a:t>(arquivo);</a:t>
            </a:r>
          </a:p>
          <a:p>
            <a:r>
              <a:rPr lang="pt-BR" sz="1200" dirty="0">
                <a:solidFill>
                  <a:srgbClr val="000000"/>
                </a:solidFill>
              </a:rPr>
              <a:t>    </a:t>
            </a:r>
            <a:r>
              <a:rPr lang="pt-BR" sz="1200" dirty="0" err="1">
                <a:solidFill>
                  <a:srgbClr val="000000"/>
                </a:solidFill>
              </a:rPr>
              <a:t>printf</a:t>
            </a:r>
            <a:r>
              <a:rPr lang="pt-BR" sz="1200" dirty="0">
                <a:solidFill>
                  <a:srgbClr val="000000"/>
                </a:solidFill>
              </a:rPr>
              <a:t>("Dados do cliente salvos com sucesso no arquivo 'clientes.csv'!\n");</a:t>
            </a:r>
          </a:p>
          <a:p>
            <a:endParaRPr lang="pt-BR" sz="1200" dirty="0">
              <a:solidFill>
                <a:srgbClr val="000000"/>
              </a:solidFill>
            </a:endParaRPr>
          </a:p>
          <a:p>
            <a:r>
              <a:rPr lang="pt-BR" sz="1200" dirty="0">
                <a:solidFill>
                  <a:srgbClr val="000000"/>
                </a:solidFill>
              </a:rPr>
              <a:t>    </a:t>
            </a:r>
            <a:r>
              <a:rPr lang="pt-BR" sz="1200" dirty="0" err="1">
                <a:solidFill>
                  <a:srgbClr val="000000"/>
                </a:solidFill>
              </a:rPr>
              <a:t>return</a:t>
            </a:r>
            <a:r>
              <a:rPr lang="pt-BR" sz="1200" dirty="0">
                <a:solidFill>
                  <a:srgbClr val="000000"/>
                </a:solidFill>
              </a:rPr>
              <a:t> 0;</a:t>
            </a:r>
          </a:p>
          <a:p>
            <a:r>
              <a:rPr lang="pt-BR" sz="1200" dirty="0">
                <a:solidFill>
                  <a:srgbClr val="000000"/>
                </a:solidFill>
              </a:rPr>
              <a:t>}</a:t>
            </a:r>
            <a:endParaRPr lang="pt-BR" sz="1200" dirty="0"/>
          </a:p>
        </p:txBody>
      </p:sp>
    </p:spTree>
    <p:extLst>
      <p:ext uri="{BB962C8B-B14F-4D97-AF65-F5344CB8AC3E}">
        <p14:creationId xmlns:p14="http://schemas.microsoft.com/office/powerpoint/2010/main" val="846326644"/>
      </p:ext>
    </p:extLst>
  </p:cSld>
  <p:clrMapOvr>
    <a:masterClrMapping/>
  </p:clrMapOvr>
</p:sld>
</file>

<file path=ppt/theme/theme1.xml><?xml version="1.0" encoding="utf-8"?>
<a:theme xmlns:a="http://schemas.openxmlformats.org/drawingml/2006/main" name="Texturizado">
  <a:themeElements>
    <a:clrScheme name="Texturizado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izado">
      <a:majorFont>
        <a:latin typeface="Tahoma"/>
        <a:ea typeface=""/>
        <a:cs typeface=""/>
      </a:majorFont>
      <a:minorFont>
        <a:latin typeface="Tahoma"/>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Tahoma" pitchFamily="34" charset="0"/>
          </a:defRPr>
        </a:defPPr>
      </a:lstStyle>
    </a:lnDef>
  </a:objectDefaults>
  <a:extraClrSchemeLst>
    <a:extraClrScheme>
      <a:clrScheme name="Texturizado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izado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izado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izado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izado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izado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izado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izado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31A93D2CB35614FA45893B80519B5BE" ma:contentTypeVersion="7" ma:contentTypeDescription="Crie um novo documento." ma:contentTypeScope="" ma:versionID="d5819fe5c110c5934286adf054d8c361">
  <xsd:schema xmlns:xsd="http://www.w3.org/2001/XMLSchema" xmlns:xs="http://www.w3.org/2001/XMLSchema" xmlns:p="http://schemas.microsoft.com/office/2006/metadata/properties" xmlns:ns2="d4266379-08b9-4d9e-9b69-a807b6d0c153" targetNamespace="http://schemas.microsoft.com/office/2006/metadata/properties" ma:root="true" ma:fieldsID="e76dccc702da44555f125f79004340bd" ns2:_="">
    <xsd:import namespace="d4266379-08b9-4d9e-9b69-a807b6d0c1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266379-08b9-4d9e-9b69-a807b6d0c1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DA2B1F-B017-4A88-BA4A-6DF51D813B70}"/>
</file>

<file path=customXml/itemProps2.xml><?xml version="1.0" encoding="utf-8"?>
<ds:datastoreItem xmlns:ds="http://schemas.openxmlformats.org/officeDocument/2006/customXml" ds:itemID="{80508845-5A9B-4C60-96B4-0D0AFD3F1469}"/>
</file>

<file path=customXml/itemProps3.xml><?xml version="1.0" encoding="utf-8"?>
<ds:datastoreItem xmlns:ds="http://schemas.openxmlformats.org/officeDocument/2006/customXml" ds:itemID="{AE796562-BEEC-48F3-9FFF-A000E7F40C55}"/>
</file>

<file path=docProps/app.xml><?xml version="1.0" encoding="utf-8"?>
<Properties xmlns="http://schemas.openxmlformats.org/officeDocument/2006/extended-properties" xmlns:vt="http://schemas.openxmlformats.org/officeDocument/2006/docPropsVTypes">
  <Template>Textured</Template>
  <TotalTime>30301</TotalTime>
  <Words>4267</Words>
  <Application>Microsoft Office PowerPoint</Application>
  <PresentationFormat>Widescreen</PresentationFormat>
  <Paragraphs>499</Paragraphs>
  <Slides>33</Slides>
  <Notes>22</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33</vt:i4>
      </vt:variant>
    </vt:vector>
  </HeadingPairs>
  <TitlesOfParts>
    <vt:vector size="38" baseType="lpstr">
      <vt:lpstr>Arial</vt:lpstr>
      <vt:lpstr>Tahoma</vt:lpstr>
      <vt:lpstr>Times New Roman</vt:lpstr>
      <vt:lpstr>Wingdings</vt:lpstr>
      <vt:lpstr>Texturizado</vt:lpstr>
      <vt:lpstr> Linguagem de Programação C</vt:lpstr>
      <vt:lpstr>Unidade 4 – Entrada e Saída por arquivos</vt:lpstr>
      <vt:lpstr>Unidade 4 – Entrada e Saída por arquivos</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 4.1 -Funções para leitura e gravação de arquivos da biblioteca da linguagem C</vt:lpstr>
      <vt:lpstr>Exercícios</vt:lpstr>
      <vt:lpstr>Exercícios</vt:lpstr>
      <vt:lpstr>Exercícios</vt:lpstr>
      <vt:lpstr>Conceitos de estruturas de dados (Struct), escrita e leitura em arquivos.</vt:lpstr>
      <vt:lpstr>Apresentação do PowerPoint</vt:lpstr>
      <vt:lpstr>Página 159 do livro</vt:lpstr>
      <vt:lpstr>Página 160 do livro</vt:lpstr>
      <vt:lpstr>162</vt:lpstr>
      <vt:lpstr>165 Leitura dos caracteres do arquivo</vt:lpstr>
      <vt:lpstr>174 escrita e leitura dos caracteres do arquivo variáveis bin</vt:lpstr>
      <vt:lpstr>Para auxílio ao PIM</vt:lpstr>
      <vt:lpstr>Para auxílio ao PIM</vt:lpstr>
      <vt:lpstr>Exemplo para o PIM</vt:lpstr>
      <vt:lpstr>Apresentação do PowerPoint</vt:lpstr>
    </vt:vector>
  </TitlesOfParts>
  <Company>ITA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INSTITUTO TECNOLOGICO DE AERO</dc:creator>
  <cp:lastModifiedBy>Pedro Carlos Euphrásio</cp:lastModifiedBy>
  <cp:revision>845</cp:revision>
  <cp:lastPrinted>2010-09-22T00:04:35Z</cp:lastPrinted>
  <dcterms:created xsi:type="dcterms:W3CDTF">2003-07-17T00:20:49Z</dcterms:created>
  <dcterms:modified xsi:type="dcterms:W3CDTF">2025-10-07T23:10:50Z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0x010100C31A93D2CB35614FA45893B80519B5BE</vt:lpwstr>
  </property>
</Properties>
</file>