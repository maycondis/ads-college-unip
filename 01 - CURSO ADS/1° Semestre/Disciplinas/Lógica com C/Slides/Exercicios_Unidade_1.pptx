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5"/>
  </p:notesMasterIdLst>
  <p:handoutMasterIdLst>
    <p:handoutMasterId r:id="rId46"/>
  </p:handoutMasterIdLst>
  <p:sldIdLst>
    <p:sldId id="1058" r:id="rId2"/>
    <p:sldId id="1080" r:id="rId3"/>
    <p:sldId id="1081" r:id="rId4"/>
    <p:sldId id="1056" r:id="rId5"/>
    <p:sldId id="797" r:id="rId6"/>
    <p:sldId id="827" r:id="rId7"/>
    <p:sldId id="820" r:id="rId8"/>
    <p:sldId id="821" r:id="rId9"/>
    <p:sldId id="1054" r:id="rId10"/>
    <p:sldId id="1055" r:id="rId11"/>
    <p:sldId id="818" r:id="rId12"/>
    <p:sldId id="962" r:id="rId13"/>
    <p:sldId id="1041" r:id="rId14"/>
    <p:sldId id="1042" r:id="rId15"/>
    <p:sldId id="1043" r:id="rId16"/>
    <p:sldId id="953" r:id="rId17"/>
    <p:sldId id="1052" r:id="rId18"/>
    <p:sldId id="809" r:id="rId19"/>
    <p:sldId id="810" r:id="rId20"/>
    <p:sldId id="811" r:id="rId21"/>
    <p:sldId id="1073" r:id="rId22"/>
    <p:sldId id="812" r:id="rId23"/>
    <p:sldId id="808" r:id="rId24"/>
    <p:sldId id="1074" r:id="rId25"/>
    <p:sldId id="866" r:id="rId26"/>
    <p:sldId id="1075" r:id="rId27"/>
    <p:sldId id="964" r:id="rId28"/>
    <p:sldId id="967" r:id="rId29"/>
    <p:sldId id="966" r:id="rId30"/>
    <p:sldId id="822" r:id="rId31"/>
    <p:sldId id="823" r:id="rId32"/>
    <p:sldId id="824" r:id="rId33"/>
    <p:sldId id="1076" r:id="rId34"/>
    <p:sldId id="1037" r:id="rId35"/>
    <p:sldId id="1077" r:id="rId36"/>
    <p:sldId id="1078" r:id="rId37"/>
    <p:sldId id="1079" r:id="rId38"/>
    <p:sldId id="868" r:id="rId39"/>
    <p:sldId id="873" r:id="rId40"/>
    <p:sldId id="874" r:id="rId41"/>
    <p:sldId id="875" r:id="rId42"/>
    <p:sldId id="876" r:id="rId43"/>
    <p:sldId id="1012" r:id="rId4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0000"/>
    <a:srgbClr val="009999"/>
    <a:srgbClr val="009900"/>
    <a:srgbClr val="00E7E2"/>
    <a:srgbClr val="00B0AC"/>
    <a:srgbClr val="BDD2E9"/>
    <a:srgbClr val="FF66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437" autoAdjust="0"/>
  </p:normalViewPr>
  <p:slideViewPr>
    <p:cSldViewPr>
      <p:cViewPr varScale="1">
        <p:scale>
          <a:sx n="70" d="100"/>
          <a:sy n="70" d="100"/>
        </p:scale>
        <p:origin x="1046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411"/>
    </p:cViewPr>
  </p:sorterViewPr>
  <p:notesViewPr>
    <p:cSldViewPr>
      <p:cViewPr varScale="1">
        <p:scale>
          <a:sx n="53" d="100"/>
          <a:sy n="53" d="100"/>
        </p:scale>
        <p:origin x="-18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C3E22C5-49E1-4DF9-A545-47B5ABA4B3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4C96268-F3F4-4C0C-89B6-86229C956B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78E64E3-BDC3-4441-B398-3532D9575F2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7F415B9C-90A4-4E66-BC5C-89CD68EDEA8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D2E1B55-8E05-40DE-8E40-0F12E932A46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64E1D65-247C-484B-856C-160A63D121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ECB6F90-5B74-4F9A-AAD0-FA3C91A4960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45E03E4-2B1D-447F-9D08-7BA3061BAD2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ABE83A7C-00F0-4571-ABA6-641FFB2F8F0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noProof="0"/>
              <a:t>Click to edit Master text styles</a:t>
            </a:r>
          </a:p>
          <a:p>
            <a:pPr lvl="1"/>
            <a:r>
              <a:rPr lang="en-US" altLang="pt-BR" noProof="0"/>
              <a:t>Second level</a:t>
            </a:r>
          </a:p>
          <a:p>
            <a:pPr lvl="2"/>
            <a:r>
              <a:rPr lang="en-US" altLang="pt-BR" noProof="0"/>
              <a:t>Third level</a:t>
            </a:r>
          </a:p>
          <a:p>
            <a:pPr lvl="3"/>
            <a:r>
              <a:rPr lang="en-US" altLang="pt-BR" noProof="0"/>
              <a:t>Fourth level</a:t>
            </a:r>
          </a:p>
          <a:p>
            <a:pPr lvl="4"/>
            <a:r>
              <a:rPr lang="en-US" altLang="pt-BR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AED54D6-B7D6-4FA9-8A90-C49ED5442B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48D815C7-6E7F-487A-A288-6610E6D1C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F18CBD4-2DB1-436D-B016-CD34C691980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18CBD4-2DB1-436D-B016-CD34C6919802}" type="slidenum">
              <a:rPr lang="en-US" altLang="pt-BR" smtClean="0"/>
              <a:pPr>
                <a:defRPr/>
              </a:pPr>
              <a:t>6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5978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EC40-F57B-2A8D-002C-74D0109E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6F64999C-363A-2F2D-CFBC-6905EAF90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222D7526-EFDD-1173-4F92-092BC83D7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9128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9ABB-AC2F-C9F5-57A9-71C87477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E700EBAE-564D-B22B-5AC2-55DD581941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2DAB332A-8E25-DA95-935E-474E3CA7C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8946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90BF4D33-AE30-4506-B311-89182C8985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E261758C-1AC3-4C3A-BF84-6C50DE7C3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61524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77408CCD-2654-4167-8B94-124C07F77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13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8847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77408CCD-2654-4167-8B94-124C07F77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14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7117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77408CCD-2654-4167-8B94-124C07F77D7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15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2192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F0D457FF-3D02-4624-A28E-AAD87FBE4F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6999198-D9E5-4D2D-AC32-780EF0F5F850}" type="slidenum">
              <a:rPr lang="en-US" altLang="pt-BR"/>
              <a:pPr algn="r" eaLnBrk="1" hangingPunct="1">
                <a:spcBef>
                  <a:spcPct val="0"/>
                </a:spcBef>
              </a:pPr>
              <a:t>16</a:t>
            </a:fld>
            <a:endParaRPr lang="en-US" altLang="pt-BR"/>
          </a:p>
        </p:txBody>
      </p:sp>
      <p:sp>
        <p:nvSpPr>
          <p:cNvPr id="247811" name="Rectangle 2">
            <a:extLst>
              <a:ext uri="{FF2B5EF4-FFF2-40B4-BE49-F238E27FC236}">
                <a16:creationId xmlns:a16="http://schemas.microsoft.com/office/drawing/2014/main" id="{510C2F4D-0722-4060-B061-1A61606C6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7812" name="Rectangle 3">
            <a:extLst>
              <a:ext uri="{FF2B5EF4-FFF2-40B4-BE49-F238E27FC236}">
                <a16:creationId xmlns:a16="http://schemas.microsoft.com/office/drawing/2014/main" id="{E752AA26-A1AC-4EF1-A208-6FF866ECB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3204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454E9-1658-9F1E-9A79-D5BB899D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>
            <a:extLst>
              <a:ext uri="{FF2B5EF4-FFF2-40B4-BE49-F238E27FC236}">
                <a16:creationId xmlns:a16="http://schemas.microsoft.com/office/drawing/2014/main" id="{CFFBAB39-ACB6-BC09-6187-E207784A2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7C86EE-CC00-48A0-B7B1-A4BAF96C1F83}" type="slidenum">
              <a:rPr lang="en-US" altLang="pt-BR" smtClean="0"/>
              <a:pPr>
                <a:spcBef>
                  <a:spcPct val="0"/>
                </a:spcBef>
              </a:pPr>
              <a:t>17</a:t>
            </a:fld>
            <a:endParaRPr lang="en-US" altLang="pt-BR"/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EBA1ACAA-CDCF-CB8F-40C8-096A53638C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6852" name="Rectangle 3">
            <a:extLst>
              <a:ext uri="{FF2B5EF4-FFF2-40B4-BE49-F238E27FC236}">
                <a16:creationId xmlns:a16="http://schemas.microsoft.com/office/drawing/2014/main" id="{F4B84309-74AE-3689-2EAE-4C49BCB32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99307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>
            <a:extLst>
              <a:ext uri="{FF2B5EF4-FFF2-40B4-BE49-F238E27FC236}">
                <a16:creationId xmlns:a16="http://schemas.microsoft.com/office/drawing/2014/main" id="{B4B54F7A-1DD1-4E2E-82D0-B8A820A799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AA0405-CA90-48E6-A0B8-7792B7A49DCB}" type="slidenum">
              <a:rPr lang="en-US" altLang="pt-BR" smtClean="0"/>
              <a:pPr>
                <a:spcBef>
                  <a:spcPct val="0"/>
                </a:spcBef>
              </a:pPr>
              <a:t>18</a:t>
            </a:fld>
            <a:endParaRPr lang="en-US" altLang="pt-BR"/>
          </a:p>
        </p:txBody>
      </p:sp>
      <p:sp>
        <p:nvSpPr>
          <p:cNvPr id="208899" name="Rectangle 2">
            <a:extLst>
              <a:ext uri="{FF2B5EF4-FFF2-40B4-BE49-F238E27FC236}">
                <a16:creationId xmlns:a16="http://schemas.microsoft.com/office/drawing/2014/main" id="{DBFBCD4C-A8C2-4EE7-8C1E-24829D4F3B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8900" name="Rectangle 3">
            <a:extLst>
              <a:ext uri="{FF2B5EF4-FFF2-40B4-BE49-F238E27FC236}">
                <a16:creationId xmlns:a16="http://schemas.microsoft.com/office/drawing/2014/main" id="{BBF6A017-5FE7-4A2E-BF1D-C59A48CAC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58331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>
            <a:extLst>
              <a:ext uri="{FF2B5EF4-FFF2-40B4-BE49-F238E27FC236}">
                <a16:creationId xmlns:a16="http://schemas.microsoft.com/office/drawing/2014/main" id="{A28BEE67-5655-4549-BD67-98EC9FBD5B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AB7B67-999A-4D9B-89DD-EB8F05289165}" type="slidenum">
              <a:rPr lang="en-US" altLang="pt-BR" smtClean="0"/>
              <a:pPr>
                <a:spcBef>
                  <a:spcPct val="0"/>
                </a:spcBef>
              </a:pPr>
              <a:t>19</a:t>
            </a:fld>
            <a:endParaRPr lang="en-US" altLang="pt-BR"/>
          </a:p>
        </p:txBody>
      </p:sp>
      <p:sp>
        <p:nvSpPr>
          <p:cNvPr id="210947" name="Rectangle 2">
            <a:extLst>
              <a:ext uri="{FF2B5EF4-FFF2-40B4-BE49-F238E27FC236}">
                <a16:creationId xmlns:a16="http://schemas.microsoft.com/office/drawing/2014/main" id="{68F9683C-D6CC-4C73-873D-D11B164A28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0948" name="Rectangle 3">
            <a:extLst>
              <a:ext uri="{FF2B5EF4-FFF2-40B4-BE49-F238E27FC236}">
                <a16:creationId xmlns:a16="http://schemas.microsoft.com/office/drawing/2014/main" id="{4AE628A2-1FBF-49EB-A7B0-352088A6BE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542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>
            <a:extLst>
              <a:ext uri="{FF2B5EF4-FFF2-40B4-BE49-F238E27FC236}">
                <a16:creationId xmlns:a16="http://schemas.microsoft.com/office/drawing/2014/main" id="{0D17AA18-2F77-42C2-B5C0-EE67127E34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E4D04F-76B8-4306-944D-1E0BC133A4CD}" type="slidenum">
              <a:rPr lang="en-US" altLang="pt-BR" smtClean="0"/>
              <a:pPr>
                <a:spcBef>
                  <a:spcPct val="0"/>
                </a:spcBef>
              </a:pPr>
              <a:t>20</a:t>
            </a:fld>
            <a:endParaRPr lang="en-US" altLang="pt-BR"/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A083976C-C047-4552-B85B-A3E502C25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2996" name="Rectangle 3">
            <a:extLst>
              <a:ext uri="{FF2B5EF4-FFF2-40B4-BE49-F238E27FC236}">
                <a16:creationId xmlns:a16="http://schemas.microsoft.com/office/drawing/2014/main" id="{FB0C083D-3A31-4BB7-8B94-3CFA78893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37929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6BD8-76FD-440D-AAA7-8D5686C6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>
            <a:extLst>
              <a:ext uri="{FF2B5EF4-FFF2-40B4-BE49-F238E27FC236}">
                <a16:creationId xmlns:a16="http://schemas.microsoft.com/office/drawing/2014/main" id="{1F95D3B0-04EB-F3A7-FB2F-7B02571EDC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E4D04F-76B8-4306-944D-1E0BC133A4CD}" type="slidenum">
              <a:rPr lang="en-US" altLang="pt-BR" smtClean="0"/>
              <a:pPr>
                <a:spcBef>
                  <a:spcPct val="0"/>
                </a:spcBef>
              </a:pPr>
              <a:t>21</a:t>
            </a:fld>
            <a:endParaRPr lang="en-US" altLang="pt-BR"/>
          </a:p>
        </p:txBody>
      </p:sp>
      <p:sp>
        <p:nvSpPr>
          <p:cNvPr id="212995" name="Rectangle 2">
            <a:extLst>
              <a:ext uri="{FF2B5EF4-FFF2-40B4-BE49-F238E27FC236}">
                <a16:creationId xmlns:a16="http://schemas.microsoft.com/office/drawing/2014/main" id="{BD8C2592-3CFB-A661-B0C9-3305FCA02A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2996" name="Rectangle 3">
            <a:extLst>
              <a:ext uri="{FF2B5EF4-FFF2-40B4-BE49-F238E27FC236}">
                <a16:creationId xmlns:a16="http://schemas.microsoft.com/office/drawing/2014/main" id="{637512DE-AFA9-1255-694D-08329DE39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29650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>
            <a:extLst>
              <a:ext uri="{FF2B5EF4-FFF2-40B4-BE49-F238E27FC236}">
                <a16:creationId xmlns:a16="http://schemas.microsoft.com/office/drawing/2014/main" id="{A2483922-3AB2-4B58-ACA8-F64A80DEE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10B477-F6BE-40BC-8EB4-8E7B9365C91F}" type="slidenum">
              <a:rPr lang="en-US" altLang="pt-BR" smtClean="0"/>
              <a:pPr>
                <a:spcBef>
                  <a:spcPct val="0"/>
                </a:spcBef>
              </a:pPr>
              <a:t>22</a:t>
            </a:fld>
            <a:endParaRPr lang="en-US" altLang="pt-BR"/>
          </a:p>
        </p:txBody>
      </p:sp>
      <p:sp>
        <p:nvSpPr>
          <p:cNvPr id="215043" name="Rectangle 2">
            <a:extLst>
              <a:ext uri="{FF2B5EF4-FFF2-40B4-BE49-F238E27FC236}">
                <a16:creationId xmlns:a16="http://schemas.microsoft.com/office/drawing/2014/main" id="{CE1465BA-C7DF-457E-88B2-C498371FE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44" name="Rectangle 3">
            <a:extLst>
              <a:ext uri="{FF2B5EF4-FFF2-40B4-BE49-F238E27FC236}">
                <a16:creationId xmlns:a16="http://schemas.microsoft.com/office/drawing/2014/main" id="{BD08593D-CBBD-42EA-9E2B-EFB3BB9EA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83264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>
            <a:extLst>
              <a:ext uri="{FF2B5EF4-FFF2-40B4-BE49-F238E27FC236}">
                <a16:creationId xmlns:a16="http://schemas.microsoft.com/office/drawing/2014/main" id="{67B34F56-78B4-4DBE-B296-415210A8E9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7C86EE-CC00-48A0-B7B1-A4BAF96C1F83}" type="slidenum">
              <a:rPr lang="en-US" altLang="pt-BR" smtClean="0"/>
              <a:pPr>
                <a:spcBef>
                  <a:spcPct val="0"/>
                </a:spcBef>
              </a:pPr>
              <a:t>23</a:t>
            </a:fld>
            <a:endParaRPr lang="en-US" altLang="pt-BR"/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7A4DDE3A-DBF0-456A-9955-2D9BB3C4E6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6852" name="Rectangle 3">
            <a:extLst>
              <a:ext uri="{FF2B5EF4-FFF2-40B4-BE49-F238E27FC236}">
                <a16:creationId xmlns:a16="http://schemas.microsoft.com/office/drawing/2014/main" id="{00994366-E8B7-47A6-9AC4-4B8E58E08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76681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F950-74C3-31ED-434D-A555DB37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07162B54-8EF3-F0F2-CE24-2BDFAFAFEDE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424C7-6C24-491A-B13B-F8EC698B8861}" type="slidenum">
              <a:rPr lang="en-US" altLang="pt-BR"/>
              <a:pPr algn="r" eaLnBrk="1" hangingPunct="1">
                <a:spcBef>
                  <a:spcPct val="0"/>
                </a:spcBef>
              </a:pPr>
              <a:t>24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382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E26BAAB6-D746-45A0-99B6-0E4C2B3A2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EE7AD5C9-9693-48B5-8552-C1A3255A42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919238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73102-ABAC-E4F2-C9E7-0360CA2B9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>
            <a:extLst>
              <a:ext uri="{FF2B5EF4-FFF2-40B4-BE49-F238E27FC236}">
                <a16:creationId xmlns:a16="http://schemas.microsoft.com/office/drawing/2014/main" id="{A3ADB099-8662-817F-E763-CBB1DBB14A1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3D472EE-E67B-4D3A-8D47-62FDF37F347A}" type="slidenum">
              <a:rPr lang="en-US" altLang="pt-BR"/>
              <a:pPr algn="r" eaLnBrk="1" hangingPunct="1">
                <a:spcBef>
                  <a:spcPct val="0"/>
                </a:spcBef>
              </a:pPr>
              <a:t>26</a:t>
            </a:fld>
            <a:endParaRPr lang="en-US" altLang="pt-BR"/>
          </a:p>
        </p:txBody>
      </p:sp>
      <p:sp>
        <p:nvSpPr>
          <p:cNvPr id="217091" name="Rectangle 2">
            <a:extLst>
              <a:ext uri="{FF2B5EF4-FFF2-40B4-BE49-F238E27FC236}">
                <a16:creationId xmlns:a16="http://schemas.microsoft.com/office/drawing/2014/main" id="{10EBA03C-8C02-567F-D2B3-39FACD713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7092" name="Rectangle 3">
            <a:extLst>
              <a:ext uri="{FF2B5EF4-FFF2-40B4-BE49-F238E27FC236}">
                <a16:creationId xmlns:a16="http://schemas.microsoft.com/office/drawing/2014/main" id="{939CAD2E-D9B6-3EC5-48D5-77BFA8D85D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31880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072633B-7E19-41BD-ACE9-BDA9311A7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305C3A9-B981-4671-B790-6EE4A512CA93}" type="slidenum">
              <a:rPr lang="en-US" altLang="pt-BR" smtClean="0">
                <a:latin typeface="Times New Roman" panose="02020603050405020304" pitchFamily="18" charset="0"/>
              </a:rPr>
              <a:pPr/>
              <a:t>27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0C52694D-3A8F-4577-BC4C-C2E33108B0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D5BCBEF-E837-44F6-BBF0-47A9CF67D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41485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F16924A-F083-45F2-9DD6-C30C1F21B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703613-76D2-4024-B8E1-17DB7FFA4D02}" type="slidenum">
              <a:rPr lang="en-US" altLang="pt-BR" smtClean="0">
                <a:latin typeface="Times New Roman" panose="02020603050405020304" pitchFamily="18" charset="0"/>
              </a:rPr>
              <a:pPr/>
              <a:t>29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FEF9B58-65EA-4AC6-9B6B-F395C44547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490E9C50-C022-4EC0-BAE1-33DF9A0F5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265063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>
            <a:extLst>
              <a:ext uri="{FF2B5EF4-FFF2-40B4-BE49-F238E27FC236}">
                <a16:creationId xmlns:a16="http://schemas.microsoft.com/office/drawing/2014/main" id="{2E835CA5-55A4-41D9-86FE-366155998B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883E2AD-A8F8-4BA1-B4B6-FF04044BF022}" type="slidenum">
              <a:rPr lang="en-US" altLang="pt-BR" smtClean="0">
                <a:latin typeface="Times New Roman" panose="02020603050405020304" pitchFamily="18" charset="0"/>
              </a:rPr>
              <a:pPr/>
              <a:t>30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2451" name="Rectangle 2">
            <a:extLst>
              <a:ext uri="{FF2B5EF4-FFF2-40B4-BE49-F238E27FC236}">
                <a16:creationId xmlns:a16="http://schemas.microsoft.com/office/drawing/2014/main" id="{3559122A-2D77-433C-B6ED-5445111C3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2452" name="Rectangle 3">
            <a:extLst>
              <a:ext uri="{FF2B5EF4-FFF2-40B4-BE49-F238E27FC236}">
                <a16:creationId xmlns:a16="http://schemas.microsoft.com/office/drawing/2014/main" id="{7F56622B-2C9E-40F1-8D87-0A2197941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>
            <a:extLst>
              <a:ext uri="{FF2B5EF4-FFF2-40B4-BE49-F238E27FC236}">
                <a16:creationId xmlns:a16="http://schemas.microsoft.com/office/drawing/2014/main" id="{4CB51A39-DE91-4273-9C68-E840412870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108323-CB56-4535-B62F-8694E2BDE0C2}" type="slidenum">
              <a:rPr lang="en-US" altLang="pt-BR" smtClean="0">
                <a:latin typeface="Times New Roman" panose="02020603050405020304" pitchFamily="18" charset="0"/>
              </a:rPr>
              <a:pPr/>
              <a:t>31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9CB6C8C0-2A00-4D4D-B2E7-001D4DE2F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4500" name="Rectangle 3">
            <a:extLst>
              <a:ext uri="{FF2B5EF4-FFF2-40B4-BE49-F238E27FC236}">
                <a16:creationId xmlns:a16="http://schemas.microsoft.com/office/drawing/2014/main" id="{40438FB4-AAB3-445D-8FA4-29E4CA847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>
            <a:extLst>
              <a:ext uri="{FF2B5EF4-FFF2-40B4-BE49-F238E27FC236}">
                <a16:creationId xmlns:a16="http://schemas.microsoft.com/office/drawing/2014/main" id="{9C654A9C-014E-4C1F-AE8E-603E42A70B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22D6D99-66C1-4538-B43E-E25412C6A277}" type="slidenum">
              <a:rPr lang="en-US" altLang="pt-BR" smtClean="0">
                <a:latin typeface="Times New Roman" panose="02020603050405020304" pitchFamily="18" charset="0"/>
              </a:rPr>
              <a:pPr/>
              <a:t>32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24FCE148-45C6-4EEB-BCB0-76E8C00AE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6548" name="Rectangle 3">
            <a:extLst>
              <a:ext uri="{FF2B5EF4-FFF2-40B4-BE49-F238E27FC236}">
                <a16:creationId xmlns:a16="http://schemas.microsoft.com/office/drawing/2014/main" id="{696DCD89-A62A-45FD-A86B-CD615D5ED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7">
            <a:extLst>
              <a:ext uri="{FF2B5EF4-FFF2-40B4-BE49-F238E27FC236}">
                <a16:creationId xmlns:a16="http://schemas.microsoft.com/office/drawing/2014/main" id="{2A60B7FB-0556-4C0A-AEBB-ECCF9B48D5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13B8EF-678A-4811-98D6-1E995B0BD9E6}" type="slidenum">
              <a:rPr lang="en-US" altLang="pt-BR" smtClean="0"/>
              <a:pPr>
                <a:spcBef>
                  <a:spcPct val="0"/>
                </a:spcBef>
              </a:pPr>
              <a:t>38</a:t>
            </a:fld>
            <a:endParaRPr lang="en-US" altLang="pt-BR"/>
          </a:p>
        </p:txBody>
      </p:sp>
      <p:sp>
        <p:nvSpPr>
          <p:cNvPr id="289795" name="Rectangle 2">
            <a:extLst>
              <a:ext uri="{FF2B5EF4-FFF2-40B4-BE49-F238E27FC236}">
                <a16:creationId xmlns:a16="http://schemas.microsoft.com/office/drawing/2014/main" id="{67402CCD-FA3D-4BDE-A6A6-9D6C58479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9796" name="Rectangle 3">
            <a:extLst>
              <a:ext uri="{FF2B5EF4-FFF2-40B4-BE49-F238E27FC236}">
                <a16:creationId xmlns:a16="http://schemas.microsoft.com/office/drawing/2014/main" id="{0FA73557-1720-482A-BD13-A2D475467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7">
            <a:extLst>
              <a:ext uri="{FF2B5EF4-FFF2-40B4-BE49-F238E27FC236}">
                <a16:creationId xmlns:a16="http://schemas.microsoft.com/office/drawing/2014/main" id="{8F7EEECD-5400-496D-9D82-673906B952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D7B8A81-27D6-407E-8C2F-957801B63DEA}" type="slidenum">
              <a:rPr lang="en-US" altLang="pt-BR" smtClean="0"/>
              <a:pPr>
                <a:spcBef>
                  <a:spcPct val="0"/>
                </a:spcBef>
              </a:pPr>
              <a:t>39</a:t>
            </a:fld>
            <a:endParaRPr lang="en-US" altLang="pt-BR"/>
          </a:p>
        </p:txBody>
      </p:sp>
      <p:sp>
        <p:nvSpPr>
          <p:cNvPr id="297987" name="Rectangle 2">
            <a:extLst>
              <a:ext uri="{FF2B5EF4-FFF2-40B4-BE49-F238E27FC236}">
                <a16:creationId xmlns:a16="http://schemas.microsoft.com/office/drawing/2014/main" id="{DAB5558E-7AB2-49D5-998A-63869E0DF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7988" name="Rectangle 3">
            <a:extLst>
              <a:ext uri="{FF2B5EF4-FFF2-40B4-BE49-F238E27FC236}">
                <a16:creationId xmlns:a16="http://schemas.microsoft.com/office/drawing/2014/main" id="{8A4B92B7-7D16-4CBD-B456-CF3A2E7BB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7">
            <a:extLst>
              <a:ext uri="{FF2B5EF4-FFF2-40B4-BE49-F238E27FC236}">
                <a16:creationId xmlns:a16="http://schemas.microsoft.com/office/drawing/2014/main" id="{4F812B71-6B3C-4C3D-A567-0AF1E5AA77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0FFEFC-30D1-42E4-971F-722EC63F58B6}" type="slidenum">
              <a:rPr lang="en-US" altLang="pt-BR" smtClean="0"/>
              <a:pPr>
                <a:spcBef>
                  <a:spcPct val="0"/>
                </a:spcBef>
              </a:pPr>
              <a:t>40</a:t>
            </a:fld>
            <a:endParaRPr lang="en-US" altLang="pt-BR"/>
          </a:p>
        </p:txBody>
      </p:sp>
      <p:sp>
        <p:nvSpPr>
          <p:cNvPr id="300035" name="Rectangle 2">
            <a:extLst>
              <a:ext uri="{FF2B5EF4-FFF2-40B4-BE49-F238E27FC236}">
                <a16:creationId xmlns:a16="http://schemas.microsoft.com/office/drawing/2014/main" id="{770F1BB9-5793-4DF7-BD87-4E59C1A646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0036" name="Rectangle 3">
            <a:extLst>
              <a:ext uri="{FF2B5EF4-FFF2-40B4-BE49-F238E27FC236}">
                <a16:creationId xmlns:a16="http://schemas.microsoft.com/office/drawing/2014/main" id="{36D3D5C8-D42B-4CBC-9B53-B39A456D2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7">
            <a:extLst>
              <a:ext uri="{FF2B5EF4-FFF2-40B4-BE49-F238E27FC236}">
                <a16:creationId xmlns:a16="http://schemas.microsoft.com/office/drawing/2014/main" id="{8995B005-2DA1-474F-9CB2-07A3CD2A10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9131F85-71BD-438A-B7DF-E28F6B5FCCDA}" type="slidenum">
              <a:rPr lang="en-US" altLang="pt-BR" smtClean="0"/>
              <a:pPr>
                <a:spcBef>
                  <a:spcPct val="0"/>
                </a:spcBef>
              </a:pPr>
              <a:t>41</a:t>
            </a:fld>
            <a:endParaRPr lang="en-US" altLang="pt-BR"/>
          </a:p>
        </p:txBody>
      </p:sp>
      <p:sp>
        <p:nvSpPr>
          <p:cNvPr id="302083" name="Rectangle 2">
            <a:extLst>
              <a:ext uri="{FF2B5EF4-FFF2-40B4-BE49-F238E27FC236}">
                <a16:creationId xmlns:a16="http://schemas.microsoft.com/office/drawing/2014/main" id="{48D387BE-BCE7-4BC6-9522-F283CB21D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2084" name="Rectangle 3">
            <a:extLst>
              <a:ext uri="{FF2B5EF4-FFF2-40B4-BE49-F238E27FC236}">
                <a16:creationId xmlns:a16="http://schemas.microsoft.com/office/drawing/2014/main" id="{61C748E0-F47E-415D-90BC-2EA3A7FDB7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7">
            <a:extLst>
              <a:ext uri="{FF2B5EF4-FFF2-40B4-BE49-F238E27FC236}">
                <a16:creationId xmlns:a16="http://schemas.microsoft.com/office/drawing/2014/main" id="{3D0CAF8C-EA3D-4142-AF79-32444F1915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30314F7-E4D7-49D4-A678-AEA41DE208F0}" type="slidenum">
              <a:rPr lang="en-US" altLang="pt-BR" smtClean="0"/>
              <a:pPr>
                <a:spcBef>
                  <a:spcPct val="0"/>
                </a:spcBef>
              </a:pPr>
              <a:t>42</a:t>
            </a:fld>
            <a:endParaRPr lang="en-US" altLang="pt-BR"/>
          </a:p>
        </p:txBody>
      </p:sp>
      <p:sp>
        <p:nvSpPr>
          <p:cNvPr id="304131" name="Rectangle 2">
            <a:extLst>
              <a:ext uri="{FF2B5EF4-FFF2-40B4-BE49-F238E27FC236}">
                <a16:creationId xmlns:a16="http://schemas.microsoft.com/office/drawing/2014/main" id="{BFCC5D6D-0BA3-4E5C-B83B-172F55271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4132" name="Rectangle 3">
            <a:extLst>
              <a:ext uri="{FF2B5EF4-FFF2-40B4-BE49-F238E27FC236}">
                <a16:creationId xmlns:a16="http://schemas.microsoft.com/office/drawing/2014/main" id="{1D893410-1658-4B2C-8305-4CAB19E92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7C8141-31ED-457C-99D9-350DD6242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0A417-9999-46FF-A3D3-7D6E9909C221}" type="datetime1">
              <a:rPr lang="pt-BR"/>
              <a:pPr>
                <a:defRPr/>
              </a:pPr>
              <a:t>26/08/2025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281E46-F80A-43DE-A8EE-AACED3E3A1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337B06-63DC-4C16-B745-4E09C00C98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FCE15-2783-440C-88D3-6F0C5FF98B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06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1F01C7-2C02-4523-A306-7A83676068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6582C-A7B1-4F89-A69D-6194BC6EC2B0}" type="datetime1">
              <a:rPr lang="pt-BR"/>
              <a:pPr>
                <a:defRPr/>
              </a:pPr>
              <a:t>26/08/2025</a:t>
            </a:fld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F24264-E0B8-4BED-B97D-3BBE7E8AE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033101-1BBF-4E14-8C86-4E4F3042EC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5801B-C5F4-4CE9-9972-7743B2F4CE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0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>
            <a:lvl1pPr>
              <a:defRPr sz="2000"/>
            </a:lvl1pPr>
            <a:lvl2pPr marL="742932" indent="-285744">
              <a:buFont typeface="Wingdings" pitchFamily="2" charset="2"/>
              <a:buChar char="q"/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326173-26BC-4593-B7C1-E23A39BAD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00D5B-FDAC-46D3-9687-F926429DCC10}" type="datetime1">
              <a:rPr lang="pt-BR"/>
              <a:pPr>
                <a:defRPr/>
              </a:pPr>
              <a:t>26/08/2025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0E97B9-108A-4600-B9C1-E3BF0A253A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C5B66E-9252-42CC-90D1-5DEB70859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F0441-4EC9-4D83-B239-7463ECDC42F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18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E7C19D-4C42-49E6-94D3-79C728B637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8E6D0-1A2F-4A71-B242-3E6441E27A95}" type="datetime1">
              <a:rPr lang="pt-BR"/>
              <a:pPr>
                <a:defRPr/>
              </a:pPr>
              <a:t>26/08/2025</a:t>
            </a:fld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5AFFB6-CCED-4204-98D9-2972E4D128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25C3F6-19C6-47EF-8085-B30510B2BB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6144B-F5AC-45C6-AD42-115683CD4F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30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3F46D3C-89E2-4078-A10B-F0ABA42634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CF8-0B47-4FC1-935E-FC6DC1E2DBBD}" type="datetime1">
              <a:rPr lang="pt-BR"/>
              <a:pPr>
                <a:defRPr/>
              </a:pPr>
              <a:t>26/08/2025</a:t>
            </a:fld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AF5F02-3FCC-4A49-9274-43B56B22A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38D0CC-248C-430A-BF16-D9FD28C2A8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4DC04-8A4B-4E30-A426-0A3F9942E9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33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3716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60851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0B2FE-7097-4C71-8061-730F03BFF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3251E-F713-4CE6-8B62-9899E9E8582B}" type="datetime1">
              <a:rPr lang="pt-BR"/>
              <a:pPr>
                <a:defRPr/>
              </a:pPr>
              <a:t>26/08/2025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C7502-EAE8-40C9-9664-DB0316233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86C1F-3AA3-4F13-9300-DEED0BD53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B2F3D-B7EF-454B-8194-275E64B27B2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31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EB07AEED-CB4C-4B99-9566-65B71564A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1097280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6DA0794B-C626-423E-A998-A04538A0E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875"/>
            <a:ext cx="10972800" cy="4608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38948" name="Rectangle 4">
            <a:extLst>
              <a:ext uri="{FF2B5EF4-FFF2-40B4-BE49-F238E27FC236}">
                <a16:creationId xmlns:a16="http://schemas.microsoft.com/office/drawing/2014/main" id="{C4BCC6E3-DDE2-4A10-8502-B3852B7AAF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3278717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4FBE505E-E1E7-4E61-88B5-0C68E18CBBD9}" type="datetime1">
              <a:rPr lang="pt-BR"/>
              <a:pPr>
                <a:defRPr/>
              </a:pPr>
              <a:t>26/08/2025</a:t>
            </a:fld>
            <a:endParaRPr lang="pt-BR"/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58BFDDC7-D4C5-4F75-9DEA-B46A6BAD3E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38950" name="Rectangle 6">
            <a:extLst>
              <a:ext uri="{FF2B5EF4-FFF2-40B4-BE49-F238E27FC236}">
                <a16:creationId xmlns:a16="http://schemas.microsoft.com/office/drawing/2014/main" id="{6F51F4DB-BB4E-4A65-9F25-B60009485E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EE72B94-7C31-49CC-9D5B-A245C9B8AE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338951" name="Rectangle 7">
            <a:extLst>
              <a:ext uri="{FF2B5EF4-FFF2-40B4-BE49-F238E27FC236}">
                <a16:creationId xmlns:a16="http://schemas.microsoft.com/office/drawing/2014/main" id="{8C74081F-4F76-4ABE-8838-D06EDC927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11"/>
            <a:ext cx="12192000" cy="646331"/>
          </a:xfrm>
          <a:prstGeom prst="rect">
            <a:avLst/>
          </a:prstGeom>
          <a:solidFill>
            <a:schemeClr val="accent4">
              <a:lumMod val="10000"/>
            </a:schemeClr>
          </a:soli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pt-BR" altLang="pt-BR" sz="1800" b="1" dirty="0"/>
              <a:t>CURSO SUPERIOR DE TECNOLOGIA EM ANÁLISE </a:t>
            </a:r>
          </a:p>
          <a:p>
            <a:pPr algn="ctr" eaLnBrk="1" hangingPunct="1">
              <a:defRPr/>
            </a:pPr>
            <a:r>
              <a:rPr lang="pt-BR" altLang="pt-BR" sz="1800" b="1" dirty="0"/>
              <a:t>E DESENVOLVIMENTO DE SISTEMAS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4" name="Imagem 1">
            <a:extLst>
              <a:ext uri="{FF2B5EF4-FFF2-40B4-BE49-F238E27FC236}">
                <a16:creationId xmlns:a16="http://schemas.microsoft.com/office/drawing/2014/main" id="{CFD722A8-AFE6-44AC-8E13-AA56413C092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7" y="133355"/>
            <a:ext cx="204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20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891" indent="-342891" algn="ctr" rtl="0" eaLnBrk="0" fontAlgn="base" hangingPunct="0">
        <a:spcBef>
          <a:spcPct val="20000"/>
        </a:spcBef>
        <a:spcAft>
          <a:spcPct val="50000"/>
        </a:spcAft>
        <a:buClr>
          <a:schemeClr val="hlink"/>
        </a:buClr>
        <a:buSzPct val="65000"/>
        <a:buFont typeface="Wingdings" panose="05000000000000000000" pitchFamily="2" charset="2"/>
        <a:defRPr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50000"/>
        </a:spcAft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1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430A5-504C-FD69-4F20-3A32AE738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Linguagem de Programação em C</a:t>
            </a:r>
            <a:br>
              <a:rPr lang="pt-BR" dirty="0"/>
            </a:br>
            <a:r>
              <a:rPr lang="pt-BR" dirty="0"/>
              <a:t>Prof. Dr. Pedro Euphrásio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35948D-EDE4-9F33-855F-95A573831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Conteúdo Programático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F2F7E6-0681-EE53-38D2-3E98A85A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600F9-E70C-C3A1-0212-F8CAA938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Codeblocks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76F188B-DEA1-F650-5CD5-53FC28D9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144B-F5AC-45C6-AD42-115683CD4F04}" type="slidenum">
              <a:rPr lang="pt-BR" smtClean="0"/>
              <a:pPr>
                <a:defRPr/>
              </a:pPr>
              <a:t>2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02A070-1915-AB38-DFEA-BD7579051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6" y="1196976"/>
            <a:ext cx="6791325" cy="26289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F747B3E-E3F7-F2D0-54E7-C173C6C06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6" y="2060848"/>
            <a:ext cx="5267325" cy="33242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F26F0C9-490B-9D45-C199-B23BBC8D2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710" y="2828925"/>
            <a:ext cx="4200525" cy="36480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C0FDEF-E467-C4DE-1AC8-7D0A1727F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864" y="2763611"/>
            <a:ext cx="6983262" cy="405641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C041468-C19E-C6B3-E406-5D7A7F6B2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142" y="5734178"/>
            <a:ext cx="6943725" cy="108585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CB21CF5-9080-46F4-B3C0-0B609E11E8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3035" y="3094075"/>
            <a:ext cx="5788965" cy="373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2B332-267F-6024-9796-A93215B7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73225-29A0-1244-0508-77E0AB2A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Codeblocks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0C51225-5803-E750-5FB9-B8BE07CB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144B-F5AC-45C6-AD42-115683CD4F04}" type="slidenum">
              <a:rPr lang="pt-BR" smtClean="0"/>
              <a:pPr>
                <a:defRPr/>
              </a:pPr>
              <a:t>3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1D8A02-C85C-93F9-19B5-CE52050F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764704"/>
            <a:ext cx="9458325" cy="49815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D3D775F-9B95-01BF-D3FE-E0A6BBF8E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667" y="3255491"/>
            <a:ext cx="7776864" cy="324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3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D2269FD-C1CB-7CF5-1C34-818075BA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B657C7-772E-D7FF-0DDB-5041AC520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3" y="836712"/>
            <a:ext cx="4699104" cy="56999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666C79-D47E-BEA3-2E44-625E2BA1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71" y="-13387"/>
            <a:ext cx="3637490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6A49B29-81CD-C865-B65D-DDB87DEE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351" y="-13387"/>
            <a:ext cx="2955285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505119B-E79C-B6F2-3623-1C7A45C5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636" y="0"/>
            <a:ext cx="3013364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99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9BB13F0F-CE22-484A-B4F6-047A071D8F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2.1 - Estrutura/execução de um programa</a:t>
            </a:r>
            <a:endParaRPr lang="es-ES" altLang="pt-BR">
              <a:effectLst/>
            </a:endParaRP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EA701FCC-8D96-47BE-B7ED-413513816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pt-BR" altLang="pt-BR" dirty="0">
                <a:effectLst/>
              </a:rPr>
              <a:t>As funções têm a seguinte estrutura: </a:t>
            </a:r>
          </a:p>
          <a:p>
            <a:pPr algn="l"/>
            <a:r>
              <a:rPr lang="pt-BR" altLang="pt-BR" dirty="0">
                <a:effectLst/>
              </a:rPr>
              <a:t>tipo </a:t>
            </a:r>
            <a:r>
              <a:rPr lang="pt-BR" altLang="pt-BR" dirty="0" err="1">
                <a:effectLst/>
              </a:rPr>
              <a:t>nome_da_funcao</a:t>
            </a:r>
            <a:r>
              <a:rPr lang="pt-BR" altLang="pt-BR" dirty="0">
                <a:effectLst/>
              </a:rPr>
              <a:t>(parâmetros)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{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  variáveis locais </a:t>
            </a:r>
          </a:p>
          <a:p>
            <a:pPr algn="l"/>
            <a:r>
              <a:rPr lang="pt-BR" altLang="pt-BR" dirty="0">
                <a:effectLst/>
              </a:rPr>
              <a:t>  instruções em C 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}</a:t>
            </a:r>
          </a:p>
        </p:txBody>
      </p:sp>
      <p:sp>
        <p:nvSpPr>
          <p:cNvPr id="192516" name="Rectangle 4">
            <a:extLst>
              <a:ext uri="{FF2B5EF4-FFF2-40B4-BE49-F238E27FC236}">
                <a16:creationId xmlns:a16="http://schemas.microsoft.com/office/drawing/2014/main" id="{ECBEDE98-B68C-48F7-B597-1E2C264A9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2" y="2708277"/>
            <a:ext cx="5113339" cy="3108543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Aft>
                <a:spcPct val="0"/>
              </a:spcAft>
              <a:buSzTx/>
            </a:pPr>
            <a:r>
              <a:rPr lang="pt-BR" altLang="pt-BR" sz="2000" dirty="0">
                <a:solidFill>
                  <a:schemeClr val="tx1"/>
                </a:solidFill>
              </a:rPr>
              <a:t>#include &lt;stdio.h&gt;</a:t>
            </a:r>
          </a:p>
          <a:p>
            <a:pPr algn="l">
              <a:spcAft>
                <a:spcPct val="0"/>
              </a:spcAft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main</a:t>
            </a:r>
            <a:r>
              <a:rPr lang="pt-BR" altLang="pt-BR" sz="2000" dirty="0">
                <a:solidFill>
                  <a:schemeClr val="tx1"/>
                </a:solidFill>
              </a:rPr>
              <a:t>(void) </a:t>
            </a: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{ </a:t>
            </a: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int i=1;</a:t>
            </a:r>
          </a:p>
          <a:p>
            <a:pPr algn="l"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printf</a:t>
            </a:r>
            <a:r>
              <a:rPr lang="pt-BR" altLang="pt-BR" sz="2000" dirty="0">
                <a:solidFill>
                  <a:schemeClr val="tx1"/>
                </a:solidFill>
              </a:rPr>
              <a:t>("Eu gosto de programar em C\n");</a:t>
            </a:r>
          </a:p>
          <a:p>
            <a:pPr algn="l">
              <a:buSzTx/>
            </a:pPr>
            <a:r>
              <a:rPr lang="pt-BR" altLang="pt-BR" sz="2000" dirty="0" err="1">
                <a:solidFill>
                  <a:schemeClr val="tx1"/>
                </a:solidFill>
              </a:rPr>
              <a:t>printf</a:t>
            </a:r>
            <a:r>
              <a:rPr lang="pt-BR" altLang="pt-BR" sz="2000" dirty="0">
                <a:solidFill>
                  <a:schemeClr val="tx1"/>
                </a:solidFill>
              </a:rPr>
              <a:t>(“A variável i = %d “,i);</a:t>
            </a:r>
          </a:p>
          <a:p>
            <a:pPr algn="l">
              <a:buSzTx/>
            </a:pPr>
            <a:br>
              <a:rPr lang="pt-BR" altLang="pt-BR" sz="2000" dirty="0">
                <a:solidFill>
                  <a:schemeClr val="tx1"/>
                </a:solidFill>
              </a:rPr>
            </a:br>
            <a:r>
              <a:rPr lang="pt-BR" altLang="pt-BR" sz="2000" dirty="0">
                <a:solidFill>
                  <a:schemeClr val="tx1"/>
                </a:solidFill>
              </a:rPr>
              <a:t>}</a:t>
            </a:r>
            <a:endParaRPr lang="es-ES" altLang="pt-BR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F64D356F-0D01-42ED-8E22-3DD3E1C4E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endParaRPr lang="es-ES" altLang="pt-BR" dirty="0">
              <a:effectLst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73D2FCE1-6FDD-4271-AE4F-A420AAE341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2" y="1700213"/>
            <a:ext cx="8135939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/>
            <a:r>
              <a:rPr lang="pt-BR" altLang="pt-BR">
                <a:effectLst/>
              </a:rPr>
              <a:t>A tabela abaixo apresenta os tipos de dados simples e os tipos de dados modificados da linguagem C</a:t>
            </a:r>
            <a:r>
              <a:rPr lang="es-ES" altLang="pt-BR">
                <a:effectLst/>
              </a:rPr>
              <a:t> .</a:t>
            </a:r>
          </a:p>
        </p:txBody>
      </p:sp>
      <p:graphicFrame>
        <p:nvGraphicFramePr>
          <p:cNvPr id="277508" name="Group 4">
            <a:extLst>
              <a:ext uri="{FF2B5EF4-FFF2-40B4-BE49-F238E27FC236}">
                <a16:creationId xmlns:a16="http://schemas.microsoft.com/office/drawing/2014/main" id="{AA75A61E-062C-40FB-850C-F5644DC40A4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124077" y="2608267"/>
          <a:ext cx="7894639" cy="3653238"/>
        </p:xfrm>
        <a:graphic>
          <a:graphicData uri="http://schemas.openxmlformats.org/drawingml/2006/table">
            <a:tbl>
              <a:tblPr/>
              <a:tblGrid>
                <a:gridCol w="219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1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Tipo de dados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Tamanho (bytes)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 inferior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 superior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char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-128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unsigned char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short int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-32768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32767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unsigned short int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65535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int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kumimoji="0" lang="en-US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</a:t>
                      </a:r>
                      <a:r>
                        <a:rPr kumimoji="0" lang="en-US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- 1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long int</a:t>
                      </a:r>
                      <a:endParaRPr kumimoji="0" lang="en-US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- 1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float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-3.2×10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±38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+3.2×10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±38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661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double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-1.7×10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±308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+1.7×10</a:t>
                      </a:r>
                      <a:r>
                        <a:rPr kumimoji="0" lang="pt-BR" altLang="pt-BR" sz="19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±308</a:t>
                      </a:r>
                      <a:endParaRPr kumimoji="0" lang="pt-BR" altLang="pt-BR" sz="1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2091" marB="4209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7624" name="Rectangle 56">
            <a:extLst>
              <a:ext uri="{FF2B5EF4-FFF2-40B4-BE49-F238E27FC236}">
                <a16:creationId xmlns:a16="http://schemas.microsoft.com/office/drawing/2014/main" id="{17936428-18E0-40FD-B397-4B753B1D9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6481764"/>
            <a:ext cx="3499676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/>
              <a:t>tamanho dos tipos de dados.cpp</a:t>
            </a:r>
          </a:p>
        </p:txBody>
      </p:sp>
    </p:spTree>
    <p:extLst>
      <p:ext uri="{BB962C8B-B14F-4D97-AF65-F5344CB8AC3E}">
        <p14:creationId xmlns:p14="http://schemas.microsoft.com/office/powerpoint/2010/main" val="88850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C0D846AF-A842-4AF7-AFA2-69209A251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Inteiro</a:t>
            </a:r>
            <a:endParaRPr lang="es-ES" altLang="pt-BR" dirty="0">
              <a:effectLst/>
            </a:endParaRP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6BE252D7-7964-4C9E-856B-46862D2C7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Um tipo de objeto de dados determina como os valores dos dados são representados, que valores pode expressar, e que tipo de operações você pode executar com estes valores.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 tipo inteiro permite a representação numérica e operações com números inteiros com até 4 bytes (dependendo do compilador).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altLang="pt-BR" sz="2800">
              <a:effectLst/>
            </a:endParaRPr>
          </a:p>
          <a:p>
            <a:endParaRPr lang="es-ES" altLang="pt-BR">
              <a:effectLst/>
            </a:endParaRPr>
          </a:p>
        </p:txBody>
      </p:sp>
      <p:sp>
        <p:nvSpPr>
          <p:cNvPr id="229380" name="Rectangle 4">
            <a:extLst>
              <a:ext uri="{FF2B5EF4-FFF2-40B4-BE49-F238E27FC236}">
                <a16:creationId xmlns:a16="http://schemas.microsoft.com/office/drawing/2014/main" id="{1C8DA0A2-9C31-4F5B-A2C8-B7D082B3D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40" y="3933826"/>
            <a:ext cx="1008063" cy="707886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2000"/>
              <a:t>int x;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2000"/>
              <a:t>x=10;</a:t>
            </a:r>
            <a:endParaRPr lang="es-ES" altLang="pt-BR" sz="2000"/>
          </a:p>
        </p:txBody>
      </p:sp>
      <p:sp>
        <p:nvSpPr>
          <p:cNvPr id="229381" name="Text Box 5">
            <a:extLst>
              <a:ext uri="{FF2B5EF4-FFF2-40B4-BE49-F238E27FC236}">
                <a16:creationId xmlns:a16="http://schemas.microsoft.com/office/drawing/2014/main" id="{0ED73666-AB08-4B29-8E48-32DA86571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2" y="6543679"/>
            <a:ext cx="1017330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>
                <a:solidFill>
                  <a:schemeClr val="bg1"/>
                </a:solidFill>
              </a:rPr>
              <a:t>inteiro.cpp</a:t>
            </a:r>
          </a:p>
        </p:txBody>
      </p:sp>
    </p:spTree>
    <p:extLst>
      <p:ext uri="{BB962C8B-B14F-4D97-AF65-F5344CB8AC3E}">
        <p14:creationId xmlns:p14="http://schemas.microsoft.com/office/powerpoint/2010/main" val="1740056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3521FC6E-B380-411B-A071-5E113243B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Float (ponto flutuante)</a:t>
            </a:r>
            <a:endParaRPr lang="es-ES" altLang="pt-BR" dirty="0">
              <a:effectLst/>
            </a:endParaRP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CA07F3F4-4951-49D5-A041-15CDCD297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O tipo </a:t>
            </a:r>
            <a:r>
              <a:rPr lang="pt-BR" altLang="pt-BR" b="1">
                <a:effectLst/>
              </a:rPr>
              <a:t>float</a:t>
            </a:r>
            <a:r>
              <a:rPr lang="pt-BR" altLang="pt-BR">
                <a:effectLst/>
              </a:rPr>
              <a:t> permite a representação numérica e operações com números reais com até 4 bytes.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3 = 11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2 = 10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10 = 1010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38 = 100110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altLang="pt-BR" sz="2800">
              <a:effectLst/>
            </a:endParaRPr>
          </a:p>
          <a:p>
            <a:endParaRPr lang="es-ES" altLang="pt-BR">
              <a:effectLst/>
            </a:endParaRPr>
          </a:p>
        </p:txBody>
      </p:sp>
      <p:sp>
        <p:nvSpPr>
          <p:cNvPr id="230404" name="Rectangle 4">
            <a:extLst>
              <a:ext uri="{FF2B5EF4-FFF2-40B4-BE49-F238E27FC236}">
                <a16:creationId xmlns:a16="http://schemas.microsoft.com/office/drawing/2014/main" id="{CCDCC0A8-D04A-467B-B469-8AD898ECA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42" y="4581526"/>
            <a:ext cx="1152525" cy="707886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2000"/>
              <a:t>float x;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2000"/>
              <a:t>x=10.0;</a:t>
            </a:r>
            <a:endParaRPr lang="es-ES" altLang="pt-BR" sz="2000"/>
          </a:p>
        </p:txBody>
      </p:sp>
      <p:sp>
        <p:nvSpPr>
          <p:cNvPr id="230405" name="Text Box 5">
            <a:extLst>
              <a:ext uri="{FF2B5EF4-FFF2-40B4-BE49-F238E27FC236}">
                <a16:creationId xmlns:a16="http://schemas.microsoft.com/office/drawing/2014/main" id="{1E540369-6865-4410-92CB-826851176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4" y="6543679"/>
            <a:ext cx="872355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400">
                <a:solidFill>
                  <a:schemeClr val="bg1"/>
                </a:solidFill>
              </a:rPr>
              <a:t>float.cpp</a:t>
            </a:r>
          </a:p>
        </p:txBody>
      </p:sp>
    </p:spTree>
    <p:extLst>
      <p:ext uri="{BB962C8B-B14F-4D97-AF65-F5344CB8AC3E}">
        <p14:creationId xmlns:p14="http://schemas.microsoft.com/office/powerpoint/2010/main" val="1095651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9A4EA-AC56-E30C-F053-1F3F3810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84DFFF90-2F2E-9865-B42C-1DF41C33A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</a:t>
            </a:r>
            <a:br>
              <a:rPr lang="pt-BR" altLang="pt-BR" dirty="0">
                <a:effectLst/>
              </a:rPr>
            </a:br>
            <a:r>
              <a:rPr lang="pt-BR" altLang="pt-BR" dirty="0" err="1">
                <a:effectLst/>
              </a:rPr>
              <a:t>Strings</a:t>
            </a:r>
            <a:endParaRPr lang="pt-BR" altLang="pt-BR" dirty="0">
              <a:effectLst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2A532E-0768-36D5-E7A7-42B5BB1CA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dirty="0"/>
              <a:t>char nome[] = "valor";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dirty="0"/>
              <a:t>char nome[tamanho] = "valor";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6996AE-859B-BD29-A4A3-AA9E367E9286}"/>
              </a:ext>
            </a:extLst>
          </p:cNvPr>
          <p:cNvSpPr txBox="1"/>
          <p:nvPr/>
        </p:nvSpPr>
        <p:spPr>
          <a:xfrm>
            <a:off x="8371606" y="555079"/>
            <a:ext cx="3787130" cy="203132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 </a:t>
            </a:r>
          </a:p>
          <a:p>
            <a:r>
              <a:rPr lang="pt-BR" dirty="0"/>
              <a:t>   char nome[] = "Joao";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("Nome: %s\n", nome);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B1F4CD-FF81-B80A-B8EB-04EDA108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681" y="1760173"/>
            <a:ext cx="7185670" cy="984837"/>
          </a:xfrm>
          <a:prstGeom prst="rect">
            <a:avLst/>
          </a:prstGeom>
          <a:solidFill>
            <a:srgbClr val="EFEEFF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compilador automaticamente calcula o tamanho 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base na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2C2C3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fornecida, incluindo o caractere nulo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615CE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\0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5C4E52E-B854-1D43-5903-ED563FBA9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97216"/>
            <a:ext cx="7185670" cy="430839"/>
          </a:xfrm>
          <a:prstGeom prst="rect">
            <a:avLst/>
          </a:prstGeom>
          <a:solidFill>
            <a:srgbClr val="EFEEFF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pt-BR" dirty="0">
                <a:solidFill>
                  <a:srgbClr val="000000"/>
                </a:solidFill>
              </a:rPr>
              <a:t>Você pode definir o tamanho do </a:t>
            </a:r>
            <a:r>
              <a:rPr lang="pt-BR" dirty="0" err="1">
                <a:solidFill>
                  <a:srgbClr val="000000"/>
                </a:solidFill>
              </a:rPr>
              <a:t>array</a:t>
            </a:r>
            <a:r>
              <a:rPr lang="pt-BR" dirty="0">
                <a:solidFill>
                  <a:srgbClr val="000000"/>
                </a:solidFill>
              </a:rPr>
              <a:t> manualmente.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30F2D6A-1114-DB65-262B-63866F3F9017}"/>
              </a:ext>
            </a:extLst>
          </p:cNvPr>
          <p:cNvSpPr txBox="1"/>
          <p:nvPr/>
        </p:nvSpPr>
        <p:spPr>
          <a:xfrm>
            <a:off x="609600" y="4052883"/>
            <a:ext cx="3787130" cy="203132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  char nome[50] = "Maria";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("Nome: %s\n", nome);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0A5D5AB-6ACD-6A33-D413-27A1EBA8342D}"/>
              </a:ext>
            </a:extLst>
          </p:cNvPr>
          <p:cNvSpPr txBox="1"/>
          <p:nvPr/>
        </p:nvSpPr>
        <p:spPr>
          <a:xfrm>
            <a:off x="4799856" y="4021709"/>
            <a:ext cx="4608512" cy="258532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  char nome[100];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("Digite seu nome: ");</a:t>
            </a:r>
          </a:p>
          <a:p>
            <a:r>
              <a:rPr lang="pt-BR" dirty="0"/>
              <a:t>    </a:t>
            </a:r>
            <a:r>
              <a:rPr lang="pt-BR" dirty="0" err="1"/>
              <a:t>fgets</a:t>
            </a:r>
            <a:r>
              <a:rPr lang="pt-BR" dirty="0"/>
              <a:t>(nome, </a:t>
            </a:r>
            <a:r>
              <a:rPr lang="pt-BR" dirty="0" err="1"/>
              <a:t>sizeof</a:t>
            </a:r>
            <a:r>
              <a:rPr lang="pt-BR" dirty="0"/>
              <a:t>(nome), </a:t>
            </a:r>
            <a:r>
              <a:rPr lang="pt-BR" dirty="0" err="1"/>
              <a:t>stdin</a:t>
            </a:r>
            <a:r>
              <a:rPr lang="pt-BR" dirty="0"/>
              <a:t>);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</a:t>
            </a:r>
            <a:r>
              <a:rPr lang="pt-BR" dirty="0" err="1"/>
              <a:t>Ola</a:t>
            </a:r>
            <a:r>
              <a:rPr lang="pt-BR" dirty="0"/>
              <a:t>, %s", nome);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85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2E47-D286-0BB4-0172-26BBF693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F314A24F-288F-FCF7-0189-C2DF9DC8A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</a:t>
            </a:r>
            <a:r>
              <a:rPr lang="pt-BR" altLang="pt-BR" dirty="0" err="1">
                <a:effectLst/>
              </a:rPr>
              <a:t>Strings</a:t>
            </a:r>
            <a:endParaRPr lang="pt-BR" altLang="pt-BR" dirty="0">
              <a:effectLst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3325EF-BAF5-7000-61BE-43D7BB419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dirty="0"/>
              <a:t>char *nome = "valor";</a:t>
            </a:r>
          </a:p>
          <a:p>
            <a:pPr algn="just"/>
            <a:endParaRPr lang="pt-BR" dirty="0"/>
          </a:p>
          <a:p>
            <a:pPr algn="l"/>
            <a:r>
              <a:rPr lang="pt-BR" dirty="0" err="1">
                <a:effectLst/>
              </a:rPr>
              <a:t>Strings</a:t>
            </a:r>
            <a:r>
              <a:rPr lang="pt-BR" dirty="0">
                <a:effectLst/>
              </a:rPr>
              <a:t> declaradas dessa forma ficam em memória somente leitura .</a:t>
            </a:r>
          </a:p>
          <a:p>
            <a:pPr algn="l"/>
            <a:r>
              <a:rPr lang="pt-BR" dirty="0">
                <a:effectLst/>
              </a:rPr>
              <a:t>Tentar modificar o conteúdo pode causar falha de segmentação (</a:t>
            </a:r>
            <a:r>
              <a:rPr lang="pt-BR" dirty="0" err="1">
                <a:effectLst/>
              </a:rPr>
              <a:t>segfault</a:t>
            </a:r>
            <a:r>
              <a:rPr lang="pt-BR" dirty="0">
                <a:effectLst/>
              </a:rPr>
              <a:t>) 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ECED2B-00B7-01C7-DF38-FD6083E2745F}"/>
              </a:ext>
            </a:extLst>
          </p:cNvPr>
          <p:cNvSpPr txBox="1"/>
          <p:nvPr/>
        </p:nvSpPr>
        <p:spPr>
          <a:xfrm>
            <a:off x="839416" y="3387869"/>
            <a:ext cx="4478560" cy="203132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/>
              <a:t>#include &lt;stdio.h&gt;</a:t>
            </a:r>
          </a:p>
          <a:p>
            <a:endParaRPr lang="pt-BR"/>
          </a:p>
          <a:p>
            <a:r>
              <a:rPr lang="pt-BR"/>
              <a:t>int main() {</a:t>
            </a:r>
          </a:p>
          <a:p>
            <a:r>
              <a:rPr lang="pt-BR"/>
              <a:t>    char *mensagem = "Bem-vindo!";</a:t>
            </a:r>
          </a:p>
          <a:p>
            <a:r>
              <a:rPr lang="pt-BR"/>
              <a:t>    printf("%s\n", mensagem);</a:t>
            </a:r>
          </a:p>
          <a:p>
            <a:r>
              <a:rPr lang="pt-BR"/>
              <a:t>    return 0;</a:t>
            </a:r>
          </a:p>
          <a:p>
            <a:r>
              <a:rPr lang="pt-BR"/>
              <a:t>}</a:t>
            </a:r>
            <a:endParaRPr lang="pt-BR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2C501E7-4CB3-5306-00C5-A8FB186C1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720" y="1438806"/>
            <a:ext cx="4478560" cy="430839"/>
          </a:xfrm>
          <a:prstGeom prst="rect">
            <a:avLst/>
          </a:prstGeom>
          <a:solidFill>
            <a:srgbClr val="EFEEFF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dirty="0">
                <a:solidFill>
                  <a:srgbClr val="000000"/>
                </a:solidFill>
              </a:rPr>
              <a:t>Usando ponteiros para char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90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19A4A05B-94DE-42A3-8DAC-05F9C043A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04813"/>
            <a:ext cx="8229600" cy="137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 </a:t>
            </a:r>
            <a:r>
              <a:rPr lang="pt-BR" altLang="pt-BR" dirty="0" err="1">
                <a:effectLst/>
              </a:rPr>
              <a:t>Strings</a:t>
            </a:r>
            <a:endParaRPr lang="pt-BR" altLang="pt-BR" dirty="0">
              <a:effectLst/>
            </a:endParaRP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BA6FBD05-40BF-4946-BD7F-CF9B0BBCA1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07368" y="1700213"/>
            <a:ext cx="11449271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9868"/>
            <a:endParaRPr lang="pt-BR" altLang="pt-BR" b="1" dirty="0">
              <a:effectLst/>
            </a:endParaRP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 expressão acima declara um </a:t>
            </a:r>
            <a:r>
              <a:rPr lang="pt-BR" altLang="pt-BR" b="1" dirty="0">
                <a:effectLst/>
              </a:rPr>
              <a:t>vetor de caracteres</a:t>
            </a:r>
            <a:r>
              <a:rPr lang="pt-BR" altLang="pt-BR" dirty="0">
                <a:effectLst/>
              </a:rPr>
              <a:t> (uma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) com </a:t>
            </a:r>
            <a:r>
              <a:rPr lang="pt-BR" altLang="pt-BR" b="1" dirty="0">
                <a:effectLst/>
              </a:rPr>
              <a:t>número de posições</a:t>
            </a:r>
            <a:r>
              <a:rPr lang="pt-BR" altLang="pt-BR" dirty="0">
                <a:effectLst/>
              </a:rPr>
              <a:t> igual a </a:t>
            </a:r>
            <a:r>
              <a:rPr lang="pt-BR" altLang="pt-BR" i="1" dirty="0">
                <a:effectLst/>
              </a:rPr>
              <a:t>7</a:t>
            </a:r>
            <a:r>
              <a:rPr lang="pt-BR" altLang="pt-BR" dirty="0">
                <a:effectLst/>
              </a:rPr>
              <a:t>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Note que, como temos que reservar um caractere para ser o terminador nulo, temos que declarar o comprimento da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como sendo, no mínimo, um caractere maior que a maior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que pretendemos armazenar.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Vamos supor que declaremos uma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de 7 posições e coloquemos a palavra João nela.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 Teremos:</a:t>
            </a:r>
          </a:p>
        </p:txBody>
      </p:sp>
      <p:sp>
        <p:nvSpPr>
          <p:cNvPr id="226308" name="Rectangle 4">
            <a:extLst>
              <a:ext uri="{FF2B5EF4-FFF2-40B4-BE49-F238E27FC236}">
                <a16:creationId xmlns:a16="http://schemas.microsoft.com/office/drawing/2014/main" id="{42281052-8355-4ACC-9826-3A678E468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700213"/>
            <a:ext cx="82819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/>
              <a:t>char nome_da_pessoa [7];</a:t>
            </a:r>
          </a:p>
        </p:txBody>
      </p:sp>
      <p:graphicFrame>
        <p:nvGraphicFramePr>
          <p:cNvPr id="212997" name="Group 5">
            <a:extLst>
              <a:ext uri="{FF2B5EF4-FFF2-40B4-BE49-F238E27FC236}">
                <a16:creationId xmlns:a16="http://schemas.microsoft.com/office/drawing/2014/main" id="{D4BE3DDC-D437-4DA3-B6CB-14C0F5621AF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002089" y="5373692"/>
          <a:ext cx="4038605" cy="503237"/>
        </p:xfrm>
        <a:graphic>
          <a:graphicData uri="http://schemas.openxmlformats.org/drawingml/2006/table">
            <a:tbl>
              <a:tblPr/>
              <a:tblGrid>
                <a:gridCol w="57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3237"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tc>
                  <a:txBody>
                    <a:bodyPr/>
                    <a:lstStyle>
                      <a:lvl1pPr algn="ctr"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4A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6327" name="Rectangle 23">
            <a:extLst>
              <a:ext uri="{FF2B5EF4-FFF2-40B4-BE49-F238E27FC236}">
                <a16:creationId xmlns:a16="http://schemas.microsoft.com/office/drawing/2014/main" id="{8722C781-7F19-452D-B341-17912A9E4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81764"/>
            <a:ext cx="1342034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String1.cpp</a:t>
            </a:r>
          </a:p>
        </p:txBody>
      </p:sp>
    </p:spTree>
    <p:extLst>
      <p:ext uri="{BB962C8B-B14F-4D97-AF65-F5344CB8AC3E}">
        <p14:creationId xmlns:p14="http://schemas.microsoft.com/office/powerpoint/2010/main" val="614070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8A7F5D91-C4B7-42FA-BCFB-74EB70D5C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 dirty="0">
                <a:effectLst/>
              </a:rPr>
              <a:t> Tipos de dados (vetor de </a:t>
            </a:r>
            <a:r>
              <a:rPr lang="pt-BR" altLang="pt-BR" dirty="0" err="1">
                <a:effectLst/>
              </a:rPr>
              <a:t>caracter</a:t>
            </a:r>
            <a:r>
              <a:rPr lang="pt-BR" altLang="pt-BR" dirty="0">
                <a:effectLst/>
              </a:rPr>
              <a:t>)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 </a:t>
            </a:r>
            <a:r>
              <a:rPr lang="pt-BR" altLang="pt-BR" dirty="0" err="1">
                <a:effectLst/>
              </a:rPr>
              <a:t>Strings</a:t>
            </a:r>
            <a:endParaRPr lang="es-ES" altLang="pt-BR" dirty="0">
              <a:effectLst/>
            </a:endParaRPr>
          </a:p>
        </p:txBody>
      </p:sp>
      <p:sp>
        <p:nvSpPr>
          <p:cNvPr id="217134" name="Text Box 46">
            <a:extLst>
              <a:ext uri="{FF2B5EF4-FFF2-40B4-BE49-F238E27FC236}">
                <a16:creationId xmlns:a16="http://schemas.microsoft.com/office/drawing/2014/main" id="{FAE65182-B6A8-46AC-B388-8176687B3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811" y="6477000"/>
            <a:ext cx="2172518" cy="307777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altLang="pt-BR" sz="1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Caracter</a:t>
            </a:r>
            <a:r>
              <a:rPr lang="pt-BR" altLang="pt-B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com espaço.cpp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D487F6-3BDE-4311-B772-534D78D76D01}"/>
              </a:ext>
            </a:extLst>
          </p:cNvPr>
          <p:cNvSpPr txBox="1"/>
          <p:nvPr/>
        </p:nvSpPr>
        <p:spPr>
          <a:xfrm>
            <a:off x="2999656" y="1414076"/>
            <a:ext cx="6715191" cy="506292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700" dirty="0"/>
              <a:t>#include &lt;</a:t>
            </a:r>
            <a:r>
              <a:rPr lang="pt-BR" sz="1700" dirty="0" err="1"/>
              <a:t>stdio.h</a:t>
            </a:r>
            <a:r>
              <a:rPr lang="pt-BR" sz="1700" dirty="0"/>
              <a:t>&gt; </a:t>
            </a:r>
          </a:p>
          <a:p>
            <a:r>
              <a:rPr lang="pt-BR" sz="1700" dirty="0"/>
              <a:t>#include &lt;</a:t>
            </a:r>
            <a:r>
              <a:rPr lang="pt-BR" sz="1700" dirty="0" err="1"/>
              <a:t>conio.h</a:t>
            </a:r>
            <a:r>
              <a:rPr lang="pt-BR" sz="1700" dirty="0"/>
              <a:t>&gt; </a:t>
            </a:r>
          </a:p>
          <a:p>
            <a:r>
              <a:rPr lang="pt-BR" sz="1700" dirty="0" err="1"/>
              <a:t>int</a:t>
            </a:r>
            <a:r>
              <a:rPr lang="pt-BR" sz="1700" dirty="0"/>
              <a:t> </a:t>
            </a:r>
            <a:r>
              <a:rPr lang="pt-BR" sz="1700" dirty="0" err="1"/>
              <a:t>main</a:t>
            </a:r>
            <a:r>
              <a:rPr lang="pt-BR" sz="1700" dirty="0"/>
              <a:t> ()</a:t>
            </a:r>
          </a:p>
          <a:p>
            <a:r>
              <a:rPr lang="pt-BR" sz="1700" dirty="0"/>
              <a:t>{</a:t>
            </a:r>
          </a:p>
          <a:p>
            <a:r>
              <a:rPr lang="pt-BR" sz="1700" dirty="0"/>
              <a:t>char str1[30], str2[30], str3[30];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("\n Entre com um nome para a </a:t>
            </a:r>
            <a:r>
              <a:rPr lang="pt-BR" sz="1700" dirty="0" err="1"/>
              <a:t>string</a:t>
            </a:r>
            <a:r>
              <a:rPr lang="pt-BR" sz="1700" dirty="0"/>
              <a:t> str1: ");</a:t>
            </a:r>
          </a:p>
          <a:p>
            <a:r>
              <a:rPr lang="pt-BR" sz="1700" dirty="0" err="1"/>
              <a:t>fgets</a:t>
            </a:r>
            <a:r>
              <a:rPr lang="pt-BR" sz="1700" dirty="0"/>
              <a:t>(str1,30,stdin);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("A </a:t>
            </a:r>
            <a:r>
              <a:rPr lang="pt-BR" sz="1700" dirty="0" err="1"/>
              <a:t>string</a:t>
            </a:r>
            <a:r>
              <a:rPr lang="pt-BR" sz="1700" dirty="0"/>
              <a:t> digitada para str1 foi: ");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 ("%s\n",str1); </a:t>
            </a:r>
          </a:p>
          <a:p>
            <a:endParaRPr lang="pt-BR" sz="1700" dirty="0"/>
          </a:p>
          <a:p>
            <a:r>
              <a:rPr lang="pt-BR" sz="1700" dirty="0" err="1"/>
              <a:t>printf</a:t>
            </a:r>
            <a:r>
              <a:rPr lang="pt-BR" sz="1700" dirty="0"/>
              <a:t>("\n\n Entre com um nome para a </a:t>
            </a:r>
            <a:r>
              <a:rPr lang="pt-BR" sz="1700" dirty="0" err="1"/>
              <a:t>string</a:t>
            </a:r>
            <a:r>
              <a:rPr lang="pt-BR" sz="1700" dirty="0"/>
              <a:t> str2: ");</a:t>
            </a:r>
          </a:p>
          <a:p>
            <a:r>
              <a:rPr lang="pt-BR" sz="1700" dirty="0" err="1"/>
              <a:t>scanf</a:t>
            </a:r>
            <a:r>
              <a:rPr lang="pt-BR" sz="1700" dirty="0"/>
              <a:t>("%[^\n]", str2);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("A </a:t>
            </a:r>
            <a:r>
              <a:rPr lang="pt-BR" sz="1700" dirty="0" err="1"/>
              <a:t>string</a:t>
            </a:r>
            <a:r>
              <a:rPr lang="pt-BR" sz="1700" dirty="0"/>
              <a:t> digitada para str2 foi: ");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 ("%s",str2);</a:t>
            </a:r>
          </a:p>
          <a:p>
            <a:endParaRPr lang="pt-BR" sz="1700" dirty="0"/>
          </a:p>
          <a:p>
            <a:r>
              <a:rPr lang="pt-BR" sz="1700" dirty="0" err="1"/>
              <a:t>printf</a:t>
            </a:r>
            <a:r>
              <a:rPr lang="pt-BR" sz="1700" dirty="0"/>
              <a:t>("\n\n Entre com um nome para a </a:t>
            </a:r>
            <a:r>
              <a:rPr lang="pt-BR" sz="1700" dirty="0" err="1"/>
              <a:t>string</a:t>
            </a:r>
            <a:r>
              <a:rPr lang="pt-BR" sz="1700" dirty="0"/>
              <a:t> str3: ");</a:t>
            </a:r>
          </a:p>
          <a:p>
            <a:r>
              <a:rPr lang="pt-BR" sz="1700" dirty="0" err="1"/>
              <a:t>fgets</a:t>
            </a:r>
            <a:r>
              <a:rPr lang="pt-BR" sz="1700" dirty="0"/>
              <a:t>(str3,30,stdin);</a:t>
            </a:r>
          </a:p>
          <a:p>
            <a:r>
              <a:rPr lang="pt-BR" sz="1700" dirty="0" err="1"/>
              <a:t>printf</a:t>
            </a:r>
            <a:r>
              <a:rPr lang="pt-BR" sz="1700" dirty="0"/>
              <a:t>("A </a:t>
            </a:r>
            <a:r>
              <a:rPr lang="pt-BR" sz="1700" dirty="0" err="1"/>
              <a:t>string</a:t>
            </a:r>
            <a:r>
              <a:rPr lang="pt-BR" sz="1700" dirty="0"/>
              <a:t> digitada para str3 foi: %s", str3);</a:t>
            </a:r>
          </a:p>
          <a:p>
            <a:r>
              <a:rPr lang="pt-BR" sz="1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0209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FD4BAE-16BC-4434-94BF-BF694E3C4FA5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13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AB388928-CC33-4816-8A2A-34E322AD88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Exemplos: variável char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1251E0-D966-A311-CCA1-F431A205C4E8}"/>
              </a:ext>
            </a:extLst>
          </p:cNvPr>
          <p:cNvSpPr txBox="1"/>
          <p:nvPr/>
        </p:nvSpPr>
        <p:spPr>
          <a:xfrm>
            <a:off x="579782" y="1466594"/>
            <a:ext cx="6553168" cy="427809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&lt;stdio.h&gt;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locale.h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setlocale</a:t>
            </a:r>
            <a:r>
              <a:rPr lang="pt-BR" sz="1600" dirty="0"/>
              <a:t>(LC_ALL, "</a:t>
            </a:r>
            <a:r>
              <a:rPr lang="pt-BR" sz="1600" dirty="0" err="1"/>
              <a:t>Portuguese</a:t>
            </a:r>
            <a:r>
              <a:rPr lang="pt-BR" sz="1600" dirty="0"/>
              <a:t>");</a:t>
            </a:r>
          </a:p>
          <a:p>
            <a:r>
              <a:rPr lang="pt-BR" sz="1600" dirty="0"/>
              <a:t>    char A, nome[100], </a:t>
            </a:r>
            <a:r>
              <a:rPr lang="pt-BR" sz="1600" dirty="0" err="1"/>
              <a:t>ender</a:t>
            </a:r>
            <a:r>
              <a:rPr lang="pt-BR" sz="1600" dirty="0"/>
              <a:t>[20];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("Digite o seu nome: \n");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fgets</a:t>
            </a:r>
            <a:r>
              <a:rPr lang="pt-BR" sz="1600" dirty="0"/>
              <a:t>(nome, </a:t>
            </a:r>
            <a:r>
              <a:rPr lang="pt-BR" sz="1600" dirty="0" err="1"/>
              <a:t>sizeof</a:t>
            </a:r>
            <a:r>
              <a:rPr lang="pt-BR" sz="1600" dirty="0"/>
              <a:t>(nome), 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("Digite o seu </a:t>
            </a:r>
            <a:r>
              <a:rPr lang="pt-BR" sz="1600" dirty="0" err="1"/>
              <a:t>endereco</a:t>
            </a:r>
            <a:r>
              <a:rPr lang="pt-BR" sz="1600" dirty="0"/>
              <a:t>: \n");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fgets</a:t>
            </a:r>
            <a:r>
              <a:rPr lang="pt-BR" sz="1600" dirty="0"/>
              <a:t>(</a:t>
            </a:r>
            <a:r>
              <a:rPr lang="pt-BR" sz="1600" dirty="0" err="1"/>
              <a:t>ender</a:t>
            </a:r>
            <a:r>
              <a:rPr lang="pt-BR" sz="1600" dirty="0"/>
              <a:t>, </a:t>
            </a:r>
            <a:r>
              <a:rPr lang="pt-BR" sz="1600" dirty="0" err="1"/>
              <a:t>sizeof</a:t>
            </a:r>
            <a:r>
              <a:rPr lang="pt-BR" sz="1600" dirty="0"/>
              <a:t>(</a:t>
            </a:r>
            <a:r>
              <a:rPr lang="pt-BR" sz="1600" dirty="0" err="1"/>
              <a:t>ender</a:t>
            </a:r>
            <a:r>
              <a:rPr lang="pt-BR" sz="1600" dirty="0"/>
              <a:t>), 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("Digite um </a:t>
            </a:r>
            <a:r>
              <a:rPr lang="pt-BR" sz="1600" dirty="0" err="1"/>
              <a:t>caracter</a:t>
            </a:r>
            <a:r>
              <a:rPr lang="pt-BR" sz="1600" dirty="0"/>
              <a:t>:\n");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scanf</a:t>
            </a:r>
            <a:r>
              <a:rPr lang="pt-BR" sz="1600" dirty="0"/>
              <a:t>("%c", &amp;A);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("O nome digitado foi %s \n", nome);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("O </a:t>
            </a:r>
            <a:r>
              <a:rPr lang="pt-BR" sz="1600" dirty="0" err="1"/>
              <a:t>endereco</a:t>
            </a:r>
            <a:r>
              <a:rPr lang="pt-BR" sz="1600" dirty="0"/>
              <a:t> digitado foi: %s \n", </a:t>
            </a:r>
            <a:r>
              <a:rPr lang="pt-BR" sz="1600" dirty="0" err="1"/>
              <a:t>ender</a:t>
            </a:r>
            <a:r>
              <a:rPr lang="pt-BR" sz="1600" dirty="0"/>
              <a:t>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("O </a:t>
            </a:r>
            <a:r>
              <a:rPr lang="pt-BR" sz="1600" dirty="0" err="1"/>
              <a:t>caracter</a:t>
            </a:r>
            <a:r>
              <a:rPr lang="pt-BR" sz="1600" dirty="0"/>
              <a:t> da </a:t>
            </a:r>
            <a:r>
              <a:rPr lang="pt-BR" sz="1600" dirty="0" err="1"/>
              <a:t>variavel</a:t>
            </a:r>
            <a:r>
              <a:rPr lang="pt-BR" sz="1600" dirty="0"/>
              <a:t> A: %c \n", A);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52383C0-C1DF-4B17-480F-7891A7A108EA}"/>
              </a:ext>
            </a:extLst>
          </p:cNvPr>
          <p:cNvSpPr txBox="1"/>
          <p:nvPr/>
        </p:nvSpPr>
        <p:spPr>
          <a:xfrm>
            <a:off x="839416" y="5875895"/>
            <a:ext cx="2808312" cy="369332"/>
          </a:xfrm>
          <a:prstGeom prst="rect">
            <a:avLst/>
          </a:prstGeom>
          <a:solidFill>
            <a:srgbClr val="CC0000"/>
          </a:solidFill>
        </p:spPr>
        <p:txBody>
          <a:bodyPr wrap="square">
            <a:spAutoFit/>
          </a:bodyPr>
          <a:lstStyle/>
          <a:p>
            <a:r>
              <a:rPr lang="pt-BR" dirty="0" err="1"/>
              <a:t>scanf</a:t>
            </a:r>
            <a:r>
              <a:rPr lang="pt-BR" dirty="0"/>
              <a:t>("%[^\n]", </a:t>
            </a:r>
            <a:r>
              <a:rPr lang="pt-BR" dirty="0" err="1"/>
              <a:t>ender</a:t>
            </a:r>
            <a:r>
              <a:rPr lang="pt-BR" dirty="0"/>
              <a:t>);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D7A61A9-1DD9-1B83-C13F-E22616417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787" y="1535195"/>
            <a:ext cx="5628403" cy="340597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E3BC895-3F88-02EA-0F4D-F81A689FB65F}"/>
              </a:ext>
            </a:extLst>
          </p:cNvPr>
          <p:cNvSpPr txBox="1"/>
          <p:nvPr/>
        </p:nvSpPr>
        <p:spPr>
          <a:xfrm>
            <a:off x="835426" y="6343560"/>
            <a:ext cx="1804190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</a:rPr>
              <a:t>String.cpp</a:t>
            </a:r>
          </a:p>
        </p:txBody>
      </p:sp>
    </p:spTree>
    <p:extLst>
      <p:ext uri="{BB962C8B-B14F-4D97-AF65-F5344CB8AC3E}">
        <p14:creationId xmlns:p14="http://schemas.microsoft.com/office/powerpoint/2010/main" val="318857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FD4BAE-16BC-4434-94BF-BF694E3C4FA5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14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AB388928-CC33-4816-8A2A-34E322AD88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Exemplos: variáveis </a:t>
            </a:r>
            <a:r>
              <a:rPr lang="pt-BR" altLang="pt-BR" dirty="0" err="1">
                <a:effectLst/>
              </a:rPr>
              <a:t>int</a:t>
            </a:r>
            <a:r>
              <a:rPr lang="pt-BR" altLang="pt-BR" dirty="0">
                <a:effectLst/>
              </a:rPr>
              <a:t>, </a:t>
            </a:r>
            <a:r>
              <a:rPr lang="pt-BR" altLang="pt-BR" dirty="0" err="1">
                <a:effectLst/>
              </a:rPr>
              <a:t>float</a:t>
            </a:r>
            <a:r>
              <a:rPr lang="pt-BR" altLang="pt-BR" dirty="0">
                <a:effectLst/>
              </a:rPr>
              <a:t> e char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57D6D9-F7F4-1227-F660-40B437891AFE}"/>
              </a:ext>
            </a:extLst>
          </p:cNvPr>
          <p:cNvSpPr txBox="1"/>
          <p:nvPr/>
        </p:nvSpPr>
        <p:spPr>
          <a:xfrm>
            <a:off x="1730954" y="1484785"/>
            <a:ext cx="4620986" cy="507831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</a:t>
            </a:r>
          </a:p>
          <a:p>
            <a:r>
              <a:rPr lang="pt-BR" dirty="0"/>
              <a:t>#include &lt;</a:t>
            </a:r>
            <a:r>
              <a:rPr lang="pt-BR" dirty="0" err="1"/>
              <a:t>conio.h</a:t>
            </a:r>
            <a:r>
              <a:rPr lang="pt-BR" dirty="0"/>
              <a:t>&gt;</a:t>
            </a:r>
          </a:p>
          <a:p>
            <a:r>
              <a:rPr lang="pt-BR" dirty="0"/>
              <a:t>#include &lt;</a:t>
            </a:r>
            <a:r>
              <a:rPr lang="pt-BR" dirty="0" err="1"/>
              <a:t>math.h</a:t>
            </a:r>
            <a:r>
              <a:rPr lang="pt-BR" dirty="0"/>
              <a:t>&gt;</a:t>
            </a:r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(){</a:t>
            </a:r>
          </a:p>
          <a:p>
            <a:r>
              <a:rPr lang="pt-BR" dirty="0"/>
              <a:t> //declaração das variáveis</a:t>
            </a:r>
          </a:p>
          <a:p>
            <a:r>
              <a:rPr lang="pt-BR" dirty="0"/>
              <a:t>  </a:t>
            </a:r>
            <a:r>
              <a:rPr lang="pt-BR" dirty="0" err="1"/>
              <a:t>float</a:t>
            </a:r>
            <a:r>
              <a:rPr lang="pt-BR" dirty="0"/>
              <a:t> x;</a:t>
            </a:r>
          </a:p>
          <a:p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y;</a:t>
            </a:r>
          </a:p>
          <a:p>
            <a:r>
              <a:rPr lang="pt-BR" dirty="0"/>
              <a:t>  char </a:t>
            </a:r>
            <a:r>
              <a:rPr lang="pt-BR" dirty="0" err="1"/>
              <a:t>ch</a:t>
            </a:r>
            <a:r>
              <a:rPr lang="pt-BR" dirty="0"/>
              <a:t>;</a:t>
            </a:r>
          </a:p>
          <a:p>
            <a:r>
              <a:rPr lang="pt-BR" dirty="0"/>
              <a:t> //impressão das variáveis</a:t>
            </a:r>
          </a:p>
          <a:p>
            <a:r>
              <a:rPr lang="pt-BR" dirty="0"/>
              <a:t> x=1.5;</a:t>
            </a:r>
          </a:p>
          <a:p>
            <a:r>
              <a:rPr lang="pt-BR" dirty="0"/>
              <a:t> y=2;</a:t>
            </a:r>
          </a:p>
          <a:p>
            <a:r>
              <a:rPr lang="pt-BR" dirty="0"/>
              <a:t> </a:t>
            </a:r>
            <a:r>
              <a:rPr lang="pt-BR" dirty="0" err="1"/>
              <a:t>ch</a:t>
            </a:r>
            <a:r>
              <a:rPr lang="pt-BR" dirty="0"/>
              <a:t>=98;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("x= %f \</a:t>
            </a:r>
            <a:r>
              <a:rPr lang="pt-BR" dirty="0" err="1"/>
              <a:t>n",x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("i= %d \</a:t>
            </a:r>
            <a:r>
              <a:rPr lang="pt-BR" dirty="0" err="1"/>
              <a:t>n",y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("</a:t>
            </a:r>
            <a:r>
              <a:rPr lang="pt-BR" dirty="0" err="1"/>
              <a:t>ch</a:t>
            </a:r>
            <a:r>
              <a:rPr lang="pt-BR" dirty="0"/>
              <a:t>= %d \n",</a:t>
            </a:r>
            <a:r>
              <a:rPr lang="pt-BR" dirty="0" err="1"/>
              <a:t>ch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  <a:r>
              <a:rPr lang="pt-BR" dirty="0" err="1"/>
              <a:t>printf</a:t>
            </a:r>
            <a:r>
              <a:rPr lang="pt-BR" dirty="0"/>
              <a:t>("</a:t>
            </a:r>
            <a:r>
              <a:rPr lang="pt-BR" dirty="0" err="1"/>
              <a:t>ch</a:t>
            </a:r>
            <a:r>
              <a:rPr lang="pt-BR" dirty="0"/>
              <a:t>= %c \n",</a:t>
            </a:r>
            <a:r>
              <a:rPr lang="pt-BR" dirty="0" err="1"/>
              <a:t>ch</a:t>
            </a:r>
            <a:r>
              <a:rPr lang="pt-BR" dirty="0"/>
              <a:t>);</a:t>
            </a:r>
          </a:p>
          <a:p>
            <a:r>
              <a:rPr lang="pt-BR" dirty="0" err="1"/>
              <a:t>return</a:t>
            </a:r>
            <a:r>
              <a:rPr lang="pt-BR" dirty="0"/>
              <a:t>(0);</a:t>
            </a:r>
          </a:p>
          <a:p>
            <a:r>
              <a:rPr lang="pt-BR" dirty="0"/>
              <a:t> }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1144A03-E312-987A-7CC2-8B4DA7BB6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276872"/>
            <a:ext cx="40005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1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FD4BAE-16BC-4434-94BF-BF694E3C4FA5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15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AB388928-CC33-4816-8A2A-34E322AD88D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Exemplos: variáveis </a:t>
            </a:r>
            <a:r>
              <a:rPr lang="pt-BR" altLang="pt-BR" dirty="0" err="1">
                <a:effectLst/>
              </a:rPr>
              <a:t>int</a:t>
            </a:r>
            <a:r>
              <a:rPr lang="pt-BR" altLang="pt-BR" dirty="0">
                <a:effectLst/>
              </a:rPr>
              <a:t>, </a:t>
            </a:r>
            <a:r>
              <a:rPr lang="pt-BR" altLang="pt-BR" dirty="0" err="1">
                <a:effectLst/>
              </a:rPr>
              <a:t>float</a:t>
            </a:r>
            <a:r>
              <a:rPr lang="pt-BR" altLang="pt-BR" dirty="0">
                <a:effectLst/>
              </a:rPr>
              <a:t> e char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3AF668-DF48-7AD9-12AD-4D660CC454E8}"/>
              </a:ext>
            </a:extLst>
          </p:cNvPr>
          <p:cNvSpPr txBox="1"/>
          <p:nvPr/>
        </p:nvSpPr>
        <p:spPr>
          <a:xfrm>
            <a:off x="586475" y="1341295"/>
            <a:ext cx="4620986" cy="550920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&lt;stdio.h&gt;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math.h</a:t>
            </a:r>
            <a:r>
              <a:rPr lang="pt-BR" sz="1600" dirty="0"/>
              <a:t>&gt;</a:t>
            </a:r>
          </a:p>
          <a:p>
            <a:r>
              <a:rPr lang="pt-BR" sz="1600" dirty="0"/>
              <a:t>int </a:t>
            </a:r>
            <a:r>
              <a:rPr lang="pt-BR" sz="1600" dirty="0" err="1"/>
              <a:t>main</a:t>
            </a:r>
            <a:r>
              <a:rPr lang="pt-BR" sz="1600" dirty="0"/>
              <a:t>(){</a:t>
            </a:r>
          </a:p>
          <a:p>
            <a:r>
              <a:rPr lang="pt-BR" sz="1600" dirty="0"/>
              <a:t> //declaração das variáveis</a:t>
            </a:r>
          </a:p>
          <a:p>
            <a:r>
              <a:rPr lang="pt-BR" sz="1600" dirty="0"/>
              <a:t>  float x;</a:t>
            </a:r>
          </a:p>
          <a:p>
            <a:r>
              <a:rPr lang="pt-BR" sz="1600" dirty="0"/>
              <a:t>  int y;</a:t>
            </a:r>
          </a:p>
          <a:p>
            <a:r>
              <a:rPr lang="pt-BR" sz="1600" dirty="0"/>
              <a:t>  char </a:t>
            </a:r>
            <a:r>
              <a:rPr lang="pt-BR" sz="1600" dirty="0" err="1"/>
              <a:t>ch</a:t>
            </a:r>
            <a:r>
              <a:rPr lang="pt-BR" sz="1600" dirty="0"/>
              <a:t>;</a:t>
            </a:r>
          </a:p>
          <a:p>
            <a:r>
              <a:rPr lang="pt-BR" sz="1600" dirty="0"/>
              <a:t> //impressão das variáveis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("Entre com o valor float para x");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scanf</a:t>
            </a:r>
            <a:r>
              <a:rPr lang="pt-BR" sz="1600" dirty="0"/>
              <a:t>("%</a:t>
            </a:r>
            <a:r>
              <a:rPr lang="pt-BR" sz="1600" dirty="0" err="1"/>
              <a:t>f",&amp;x</a:t>
            </a:r>
            <a:r>
              <a:rPr lang="pt-BR" sz="1600" dirty="0"/>
              <a:t>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("Entre com o valor inteiro para i");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scanf</a:t>
            </a:r>
            <a:r>
              <a:rPr lang="pt-BR" sz="1600" dirty="0"/>
              <a:t>("%</a:t>
            </a:r>
            <a:r>
              <a:rPr lang="pt-BR" sz="1600" dirty="0" err="1"/>
              <a:t>i",&amp;y</a:t>
            </a:r>
            <a:r>
              <a:rPr lang="pt-BR" sz="1600" dirty="0"/>
              <a:t>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printf</a:t>
            </a:r>
            <a:r>
              <a:rPr lang="pt-BR" sz="1600" dirty="0"/>
              <a:t>("Entre com um </a:t>
            </a:r>
            <a:r>
              <a:rPr lang="pt-BR" sz="1600" dirty="0" err="1"/>
              <a:t>caracter</a:t>
            </a:r>
            <a:r>
              <a:rPr lang="pt-BR" sz="1600" dirty="0"/>
              <a:t> para </a:t>
            </a:r>
            <a:r>
              <a:rPr lang="pt-BR" sz="1600" dirty="0" err="1"/>
              <a:t>ch</a:t>
            </a:r>
            <a:r>
              <a:rPr lang="pt-BR" sz="1600" dirty="0"/>
              <a:t>");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fflush</a:t>
            </a:r>
            <a:r>
              <a:rPr lang="pt-BR" sz="1600" dirty="0"/>
              <a:t>(</a:t>
            </a:r>
            <a:r>
              <a:rPr lang="pt-BR" sz="1600" dirty="0" err="1"/>
              <a:t>stdin</a:t>
            </a:r>
            <a:r>
              <a:rPr lang="pt-BR" sz="1600" dirty="0"/>
              <a:t>);</a:t>
            </a:r>
          </a:p>
          <a:p>
            <a:r>
              <a:rPr lang="pt-BR" sz="1600" dirty="0"/>
              <a:t> </a:t>
            </a:r>
            <a:r>
              <a:rPr lang="pt-BR" sz="1600" dirty="0" err="1"/>
              <a:t>scanf</a:t>
            </a:r>
            <a:r>
              <a:rPr lang="pt-BR" sz="1600" dirty="0"/>
              <a:t>("%c",&amp;</a:t>
            </a:r>
            <a:r>
              <a:rPr lang="pt-BR" sz="1600" dirty="0" err="1"/>
              <a:t>ch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("x= %f \</a:t>
            </a:r>
            <a:r>
              <a:rPr lang="pt-BR" sz="1600" dirty="0" err="1"/>
              <a:t>n",x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("i= %d \</a:t>
            </a:r>
            <a:r>
              <a:rPr lang="pt-BR" sz="1600" dirty="0" err="1"/>
              <a:t>n",y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</a:t>
            </a:r>
            <a:r>
              <a:rPr lang="pt-BR" sz="1600" dirty="0" err="1"/>
              <a:t>ch</a:t>
            </a:r>
            <a:r>
              <a:rPr lang="pt-BR" sz="1600" dirty="0"/>
              <a:t>= %d \n",</a:t>
            </a:r>
            <a:r>
              <a:rPr lang="pt-BR" sz="1600" dirty="0" err="1"/>
              <a:t>ch</a:t>
            </a:r>
            <a:r>
              <a:rPr lang="pt-BR" sz="1600" dirty="0"/>
              <a:t>);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</a:t>
            </a:r>
            <a:r>
              <a:rPr lang="pt-BR" sz="1600" dirty="0" err="1"/>
              <a:t>ch</a:t>
            </a:r>
            <a:r>
              <a:rPr lang="pt-BR" sz="1600" dirty="0"/>
              <a:t>= %c \n",</a:t>
            </a:r>
            <a:r>
              <a:rPr lang="pt-BR" sz="1600" dirty="0" err="1"/>
              <a:t>ch</a:t>
            </a:r>
            <a:r>
              <a:rPr lang="pt-BR" sz="1600" dirty="0"/>
              <a:t>);</a:t>
            </a:r>
          </a:p>
          <a:p>
            <a:r>
              <a:rPr lang="pt-BR" sz="1600" dirty="0"/>
              <a:t>return(0);</a:t>
            </a:r>
          </a:p>
          <a:p>
            <a:r>
              <a:rPr lang="pt-BR" sz="1600" dirty="0"/>
              <a:t> 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B3FC6A-AE8B-69AD-93F4-464FD86A2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041" y="1341295"/>
            <a:ext cx="5214317" cy="266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7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070DDD8-9BE9-43EA-B583-620466B11AF3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912EFFAB-4890-4E49-A5EF-C0FEE218ABC3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16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381378" name="Rectangle 2">
            <a:extLst>
              <a:ext uri="{FF2B5EF4-FFF2-40B4-BE49-F238E27FC236}">
                <a16:creationId xmlns:a16="http://schemas.microsoft.com/office/drawing/2014/main" id="{04E0461E-DB16-4B79-80B7-69FBEC3DCF6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 dirty="0">
                <a:effectLst/>
              </a:rPr>
              <a:t>Declaração de Constantes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73FF37-C277-4D74-AD60-AC6B52B517A0}"/>
              </a:ext>
            </a:extLst>
          </p:cNvPr>
          <p:cNvSpPr/>
          <p:nvPr/>
        </p:nvSpPr>
        <p:spPr>
          <a:xfrm>
            <a:off x="1523730" y="1386233"/>
            <a:ext cx="9144000" cy="92948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defRPr/>
            </a:pPr>
            <a:r>
              <a:rPr lang="pt-BR" sz="2400" dirty="0"/>
              <a:t>#define PI 3.141592 // MACRO</a:t>
            </a:r>
          </a:p>
          <a:p>
            <a:pPr algn="ctr" eaLnBrk="1" hangingPunct="1">
              <a:lnSpc>
                <a:spcPct val="80000"/>
              </a:lnSpc>
              <a:defRPr/>
            </a:pPr>
            <a:r>
              <a:rPr lang="pt-BR" altLang="pt-BR" sz="2200" dirty="0" err="1"/>
              <a:t>const</a:t>
            </a:r>
            <a:r>
              <a:rPr lang="pt-BR" altLang="pt-BR" sz="2200" dirty="0"/>
              <a:t> </a:t>
            </a:r>
            <a:r>
              <a:rPr lang="pt-BR" altLang="pt-BR" sz="2200" dirty="0" err="1"/>
              <a:t>float</a:t>
            </a:r>
            <a:r>
              <a:rPr lang="pt-BR" altLang="pt-BR" sz="2200" dirty="0"/>
              <a:t> Pi = 3.141592; // declaração de constante</a:t>
            </a:r>
          </a:p>
          <a:p>
            <a:pPr algn="ctr" eaLnBrk="1" hangingPunct="1">
              <a:lnSpc>
                <a:spcPct val="80000"/>
              </a:lnSpc>
              <a:defRPr/>
            </a:pPr>
            <a:endParaRPr lang="pt-BR" altLang="pt-BR" sz="2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E7C634-E168-F0F8-86DE-FA37B6EF7B05}"/>
              </a:ext>
            </a:extLst>
          </p:cNvPr>
          <p:cNvSpPr txBox="1"/>
          <p:nvPr/>
        </p:nvSpPr>
        <p:spPr>
          <a:xfrm>
            <a:off x="810888" y="2895678"/>
            <a:ext cx="6373688" cy="329320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</a:t>
            </a:r>
            <a:r>
              <a:rPr lang="pt-BR" sz="1600" dirty="0" err="1"/>
              <a:t>stdio.h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#define PI 3.141592</a:t>
            </a:r>
          </a:p>
          <a:p>
            <a:endParaRPr lang="pt-BR" sz="1600" dirty="0"/>
          </a:p>
          <a:p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(){</a:t>
            </a:r>
          </a:p>
          <a:p>
            <a:r>
              <a:rPr lang="pt-BR" sz="1600" dirty="0" err="1"/>
              <a:t>const</a:t>
            </a:r>
            <a:r>
              <a:rPr lang="pt-BR" sz="1600" dirty="0"/>
              <a:t> </a:t>
            </a:r>
            <a:r>
              <a:rPr lang="pt-BR" sz="1600" dirty="0" err="1"/>
              <a:t>float</a:t>
            </a:r>
            <a:r>
              <a:rPr lang="pt-BR" sz="1600" dirty="0"/>
              <a:t> Pi = 3.141592; /* declaração de constante */</a:t>
            </a:r>
          </a:p>
          <a:p>
            <a:r>
              <a:rPr lang="pt-BR" sz="1600" dirty="0" err="1"/>
              <a:t>float</a:t>
            </a:r>
            <a:r>
              <a:rPr lang="pt-BR" sz="1600" dirty="0"/>
              <a:t> raio, </a:t>
            </a:r>
            <a:r>
              <a:rPr lang="pt-BR" sz="1600" dirty="0" err="1"/>
              <a:t>area</a:t>
            </a:r>
            <a:r>
              <a:rPr lang="pt-BR" sz="1600" dirty="0"/>
              <a:t>; // declaração de variáveis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("Entre com o raio da </a:t>
            </a:r>
            <a:r>
              <a:rPr lang="pt-BR" sz="1600" dirty="0" err="1"/>
              <a:t>circunferencia</a:t>
            </a:r>
            <a:r>
              <a:rPr lang="pt-BR" sz="1600" dirty="0"/>
              <a:t>:");</a:t>
            </a:r>
          </a:p>
          <a:p>
            <a:r>
              <a:rPr lang="pt-BR" sz="1600" dirty="0" err="1"/>
              <a:t>scanf</a:t>
            </a:r>
            <a:r>
              <a:rPr lang="pt-BR" sz="1600" dirty="0"/>
              <a:t>("%</a:t>
            </a:r>
            <a:r>
              <a:rPr lang="pt-BR" sz="1600" dirty="0" err="1"/>
              <a:t>f",&amp;raio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area</a:t>
            </a:r>
            <a:r>
              <a:rPr lang="pt-BR" sz="1600" dirty="0"/>
              <a:t> =  Pi * raio * raio/2;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("\n Area da </a:t>
            </a:r>
            <a:r>
              <a:rPr lang="pt-BR" sz="1600" dirty="0" err="1"/>
              <a:t>circunferencia</a:t>
            </a:r>
            <a:r>
              <a:rPr lang="pt-BR" sz="1600" dirty="0"/>
              <a:t> = %.2f \n\n",</a:t>
            </a:r>
            <a:r>
              <a:rPr lang="pt-BR" sz="1600" dirty="0" err="1"/>
              <a:t>area</a:t>
            </a:r>
            <a:r>
              <a:rPr lang="pt-BR" sz="1600" dirty="0"/>
              <a:t>);</a:t>
            </a:r>
          </a:p>
          <a:p>
            <a:r>
              <a:rPr lang="pt-BR" sz="1600" dirty="0" err="1"/>
              <a:t>area</a:t>
            </a:r>
            <a:r>
              <a:rPr lang="pt-BR" sz="1600" dirty="0"/>
              <a:t> =  PI * raio * raio/2;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("\n\n Area da </a:t>
            </a:r>
            <a:r>
              <a:rPr lang="pt-BR" sz="1600" dirty="0" err="1"/>
              <a:t>circunferencia</a:t>
            </a:r>
            <a:r>
              <a:rPr lang="pt-BR" sz="1600" dirty="0"/>
              <a:t> = %.2f \n\n",</a:t>
            </a:r>
            <a:r>
              <a:rPr lang="pt-BR" sz="1600" dirty="0" err="1"/>
              <a:t>area</a:t>
            </a:r>
            <a:r>
              <a:rPr lang="pt-BR" sz="1600" dirty="0"/>
              <a:t>);</a:t>
            </a:r>
          </a:p>
          <a:p>
            <a:r>
              <a:rPr lang="pt-BR" sz="1600" dirty="0"/>
              <a:t>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928065-A9C6-BF83-05F9-3D49B1A0C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310" y="2895678"/>
            <a:ext cx="4229193" cy="283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5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E2AA-7656-AFAF-86C7-C1028A89F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6A80F31-6E9F-0E55-5BC8-10614913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4C478E4-8775-4804-85FE-3ABDE01541F1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17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827" name="Rectangle 2">
            <a:extLst>
              <a:ext uri="{FF2B5EF4-FFF2-40B4-BE49-F238E27FC236}">
                <a16:creationId xmlns:a16="http://schemas.microsoft.com/office/drawing/2014/main" id="{5586D7FE-AEA9-D1A6-0A13-6EAABB423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1287171" name="Rectangle 3">
            <a:extLst>
              <a:ext uri="{FF2B5EF4-FFF2-40B4-BE49-F238E27FC236}">
                <a16:creationId xmlns:a16="http://schemas.microsoft.com/office/drawing/2014/main" id="{CE38ECA3-0695-6AD6-5C95-CE6DB0C38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defRPr/>
            </a:pPr>
            <a:r>
              <a:rPr lang="en-US" altLang="pt-BR" b="1" dirty="0" err="1">
                <a:effectLst/>
              </a:rPr>
              <a:t>Scanf</a:t>
            </a:r>
            <a:r>
              <a:rPr lang="en-US" altLang="pt-BR" b="1" dirty="0">
                <a:effectLst/>
              </a:rPr>
              <a:t>()</a:t>
            </a:r>
          </a:p>
          <a:p>
            <a:pPr marL="285750" indent="-285750" algn="l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pt-BR" dirty="0">
                <a:effectLst/>
              </a:rPr>
              <a:t>Uma </a:t>
            </a:r>
            <a:r>
              <a:rPr lang="pt-BR" altLang="pt-BR" dirty="0">
                <a:effectLst/>
              </a:rPr>
              <a:t>das mais importantes e poderosas instruções, servirá basicamente para promover leitura de dados (</a:t>
            </a:r>
            <a:r>
              <a:rPr lang="pt-BR" altLang="pt-BR" dirty="0" err="1">
                <a:effectLst/>
              </a:rPr>
              <a:t>tipados</a:t>
            </a:r>
            <a:r>
              <a:rPr lang="pt-BR" altLang="pt-BR" dirty="0">
                <a:effectLst/>
              </a:rPr>
              <a:t>) via teclado.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q"/>
              <a:defRPr/>
            </a:pPr>
            <a:r>
              <a:rPr lang="pt-BR" altLang="pt-BR" dirty="0">
                <a:effectLst/>
              </a:rPr>
              <a:t>Sua forma geral é: </a:t>
            </a:r>
            <a:r>
              <a:rPr lang="pt-BR" altLang="pt-BR" dirty="0" err="1">
                <a:effectLst/>
              </a:rPr>
              <a:t>scanf</a:t>
            </a:r>
            <a:r>
              <a:rPr lang="pt-BR" altLang="pt-BR" dirty="0">
                <a:effectLst/>
              </a:rPr>
              <a:t>(“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de controle”, lista de argumentos); no momento, sobre </a:t>
            </a:r>
            <a:r>
              <a:rPr lang="pt-BR" altLang="pt-BR" dirty="0" err="1">
                <a:effectLst/>
              </a:rPr>
              <a:t>string</a:t>
            </a:r>
            <a:r>
              <a:rPr lang="pt-BR" altLang="pt-BR" dirty="0">
                <a:effectLst/>
              </a:rPr>
              <a:t> de controle, devemos saber:</a:t>
            </a:r>
          </a:p>
          <a:p>
            <a:pPr marL="0" indent="269868" algn="just" eaLnBrk="1" hangingPunct="1">
              <a:defRPr/>
            </a:pPr>
            <a:r>
              <a:rPr lang="pt-BR" altLang="pt-BR" b="1" dirty="0">
                <a:effectLst/>
              </a:rPr>
              <a:t>%d - leitura de números inteiros</a:t>
            </a:r>
          </a:p>
          <a:p>
            <a:pPr marL="0" indent="269868" algn="just" eaLnBrk="1" hangingPunct="1">
              <a:defRPr/>
            </a:pPr>
            <a:r>
              <a:rPr lang="pt-BR" altLang="pt-BR" b="1" dirty="0">
                <a:effectLst/>
              </a:rPr>
              <a:t>%f - leitura de números reais</a:t>
            </a:r>
          </a:p>
          <a:p>
            <a:pPr marL="0" indent="269868" algn="just" eaLnBrk="1" hangingPunct="1">
              <a:defRPr/>
            </a:pPr>
            <a:r>
              <a:rPr lang="pt-BR" altLang="pt-BR" b="1" dirty="0">
                <a:effectLst/>
              </a:rPr>
              <a:t>%c - leitura de </a:t>
            </a:r>
            <a:r>
              <a:rPr lang="pt-BR" altLang="pt-BR" b="1" dirty="0" err="1">
                <a:effectLst/>
              </a:rPr>
              <a:t>caracter</a:t>
            </a:r>
            <a:endParaRPr lang="pt-BR" altLang="pt-BR" b="1" dirty="0">
              <a:effectLst/>
            </a:endParaRPr>
          </a:p>
          <a:p>
            <a:pPr marL="0" indent="269868" algn="just" eaLnBrk="1" hangingPunct="1">
              <a:defRPr/>
            </a:pPr>
            <a:r>
              <a:rPr lang="pt-BR" altLang="pt-BR" b="1" dirty="0">
                <a:effectLst/>
              </a:rPr>
              <a:t>%s - leitura de caracter</a:t>
            </a:r>
            <a:r>
              <a:rPr lang="pt-BR" altLang="pt-BR" b="1" u="sng" dirty="0">
                <a:effectLst/>
              </a:rPr>
              <a:t>es</a:t>
            </a:r>
          </a:p>
          <a:p>
            <a:pPr marL="0" indent="269868" eaLnBrk="1" hangingPunct="1">
              <a:defRPr/>
            </a:pPr>
            <a:endParaRPr lang="pt-BR" altLang="pt-BR" dirty="0"/>
          </a:p>
        </p:txBody>
      </p:sp>
      <p:sp>
        <p:nvSpPr>
          <p:cNvPr id="205829" name="Retângulo 1">
            <a:extLst>
              <a:ext uri="{FF2B5EF4-FFF2-40B4-BE49-F238E27FC236}">
                <a16:creationId xmlns:a16="http://schemas.microsoft.com/office/drawing/2014/main" id="{CECDA2DB-B4B9-1378-25FC-42E881497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888" y="3270984"/>
            <a:ext cx="2198038" cy="190821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 dirty="0" err="1">
                <a:solidFill>
                  <a:schemeClr val="tx1"/>
                </a:solidFill>
              </a:rPr>
              <a:t>scanf</a:t>
            </a:r>
            <a:r>
              <a:rPr lang="en-US" altLang="pt-BR" b="1" dirty="0">
                <a:solidFill>
                  <a:schemeClr val="tx1"/>
                </a:solidFill>
              </a:rPr>
              <a:t>(“%</a:t>
            </a:r>
            <a:r>
              <a:rPr lang="en-US" altLang="pt-BR" b="1" dirty="0" err="1">
                <a:solidFill>
                  <a:schemeClr val="tx1"/>
                </a:solidFill>
              </a:rPr>
              <a:t>d”,&amp;x</a:t>
            </a:r>
            <a:r>
              <a:rPr lang="en-US" altLang="pt-BR" b="1" dirty="0">
                <a:solidFill>
                  <a:schemeClr val="tx1"/>
                </a:solidFill>
              </a:rPr>
              <a:t>); 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pt-BR" b="1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 dirty="0" err="1">
                <a:solidFill>
                  <a:schemeClr val="tx1"/>
                </a:solidFill>
              </a:rPr>
              <a:t>scanf</a:t>
            </a:r>
            <a:r>
              <a:rPr lang="en-US" altLang="pt-BR" b="1" dirty="0">
                <a:solidFill>
                  <a:schemeClr val="tx1"/>
                </a:solidFill>
              </a:rPr>
              <a:t>(“%</a:t>
            </a:r>
            <a:r>
              <a:rPr lang="en-US" altLang="pt-BR" b="1" dirty="0" err="1">
                <a:solidFill>
                  <a:schemeClr val="tx1"/>
                </a:solidFill>
              </a:rPr>
              <a:t>f”,&amp;y</a:t>
            </a:r>
            <a:r>
              <a:rPr lang="en-US" altLang="pt-BR" b="1" dirty="0">
                <a:solidFill>
                  <a:schemeClr val="tx1"/>
                </a:solidFill>
              </a:rPr>
              <a:t>) 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pt-BR" sz="1400" b="1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 dirty="0" err="1">
                <a:solidFill>
                  <a:schemeClr val="tx1"/>
                </a:solidFill>
              </a:rPr>
              <a:t>scanf</a:t>
            </a:r>
            <a:r>
              <a:rPr lang="en-US" altLang="pt-BR" b="1" dirty="0">
                <a:solidFill>
                  <a:schemeClr val="tx1"/>
                </a:solidFill>
              </a:rPr>
              <a:t>(“%</a:t>
            </a:r>
            <a:r>
              <a:rPr lang="en-US" altLang="pt-BR" b="1" dirty="0" err="1">
                <a:solidFill>
                  <a:schemeClr val="tx1"/>
                </a:solidFill>
              </a:rPr>
              <a:t>c”,&amp;z</a:t>
            </a:r>
            <a:r>
              <a:rPr lang="en-US" altLang="pt-BR" b="1" dirty="0">
                <a:solidFill>
                  <a:schemeClr val="tx1"/>
                </a:solidFill>
              </a:rPr>
              <a:t>) 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pt-BR" sz="1400" b="1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b="1" dirty="0" err="1">
                <a:solidFill>
                  <a:schemeClr val="tx1"/>
                </a:solidFill>
              </a:rPr>
              <a:t>scanf</a:t>
            </a:r>
            <a:r>
              <a:rPr lang="en-US" altLang="pt-BR" b="1" dirty="0">
                <a:solidFill>
                  <a:schemeClr val="tx1"/>
                </a:solidFill>
              </a:rPr>
              <a:t>(“%</a:t>
            </a:r>
            <a:r>
              <a:rPr lang="en-US" altLang="pt-BR" b="1" dirty="0" err="1">
                <a:solidFill>
                  <a:schemeClr val="tx1"/>
                </a:solidFill>
              </a:rPr>
              <a:t>s”,&amp;w</a:t>
            </a:r>
            <a:r>
              <a:rPr lang="en-US" altLang="pt-BR" b="1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FDA83B-9AB3-9FAA-96D8-0E50183032A3}"/>
              </a:ext>
            </a:extLst>
          </p:cNvPr>
          <p:cNvSpPr txBox="1"/>
          <p:nvPr/>
        </p:nvSpPr>
        <p:spPr>
          <a:xfrm>
            <a:off x="7608168" y="3270984"/>
            <a:ext cx="4262419" cy="258532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  int x;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("Digite um valor para x: ");</a:t>
            </a:r>
          </a:p>
          <a:p>
            <a:r>
              <a:rPr lang="pt-BR" dirty="0"/>
              <a:t>    </a:t>
            </a:r>
            <a:r>
              <a:rPr lang="pt-BR" dirty="0" err="1"/>
              <a:t>scanf</a:t>
            </a:r>
            <a:r>
              <a:rPr lang="pt-BR" dirty="0"/>
              <a:t>(“%</a:t>
            </a:r>
            <a:r>
              <a:rPr lang="pt-BR" dirty="0" err="1"/>
              <a:t>i”,&amp;x</a:t>
            </a:r>
            <a:r>
              <a:rPr lang="pt-BR" dirty="0"/>
              <a:t>);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(“O valor de x e’:, %i", x);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5072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CAE876B-FED0-401A-AFFD-2D4E649E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A9D6037-7834-4019-B361-72722FB6BA74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18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524CF2E3-DA7F-4480-8CFD-6B15C88EC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96FB7D0F-481B-40BA-9709-17789FE85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sintaxe: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</a:t>
            </a:r>
            <a:r>
              <a:rPr lang="pt-BR" altLang="pt-BR" b="1" dirty="0" err="1">
                <a:effectLst/>
              </a:rPr>
              <a:t>f",&amp;valor</a:t>
            </a:r>
            <a:r>
              <a:rPr lang="pt-BR" altLang="pt-BR" b="1" dirty="0">
                <a:effectLst/>
              </a:rPr>
              <a:t>);</a:t>
            </a:r>
          </a:p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dirty="0" err="1">
                <a:effectLst/>
              </a:rPr>
              <a:t>fgets</a:t>
            </a:r>
            <a:r>
              <a:rPr lang="pt-BR" dirty="0">
                <a:effectLst/>
              </a:rPr>
              <a:t>(nome, 100, </a:t>
            </a:r>
            <a:r>
              <a:rPr lang="pt-BR" dirty="0" err="1">
                <a:effectLst/>
              </a:rPr>
              <a:t>stdin</a:t>
            </a:r>
            <a:r>
              <a:rPr lang="pt-BR" dirty="0">
                <a:effectLst/>
              </a:rPr>
              <a:t>);</a:t>
            </a:r>
            <a:endParaRPr lang="pt-BR" altLang="pt-BR" b="1" dirty="0">
              <a:effectLst/>
            </a:endParaRPr>
          </a:p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endParaRPr lang="pt-BR" altLang="pt-BR" b="1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%f : variável do tipo real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&amp;valor: o dado lido deverá ser armazenado no endereço (&amp;) alocado para a variável “valor”</a:t>
            </a:r>
          </a:p>
        </p:txBody>
      </p:sp>
      <p:sp>
        <p:nvSpPr>
          <p:cNvPr id="207877" name="Rectangle 6">
            <a:extLst>
              <a:ext uri="{FF2B5EF4-FFF2-40B4-BE49-F238E27FC236}">
                <a16:creationId xmlns:a16="http://schemas.microsoft.com/office/drawing/2014/main" id="{47F06174-6842-4D51-A7E1-39B8512FB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60" y="3501008"/>
            <a:ext cx="6462713" cy="2308324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 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float x;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("Entre com o preço: ");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scanf</a:t>
            </a:r>
            <a:r>
              <a:rPr lang="pt-BR" altLang="pt-BR" dirty="0">
                <a:solidFill>
                  <a:schemeClr val="tx1"/>
                </a:solidFill>
              </a:rPr>
              <a:t> ("%</a:t>
            </a:r>
            <a:r>
              <a:rPr lang="pt-BR" altLang="pt-BR" dirty="0" err="1">
                <a:solidFill>
                  <a:schemeClr val="tx1"/>
                </a:solidFill>
              </a:rPr>
              <a:t>f",&amp;x</a:t>
            </a:r>
            <a:r>
              <a:rPr lang="pt-BR" altLang="pt-BR" dirty="0">
                <a:solidFill>
                  <a:schemeClr val="tx1"/>
                </a:solidFill>
              </a:rPr>
              <a:t>); /* Entrada de Dados*/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("\</a:t>
            </a:r>
            <a:r>
              <a:rPr lang="pt-BR" altLang="pt-BR" dirty="0" err="1">
                <a:solidFill>
                  <a:schemeClr val="tx1"/>
                </a:solidFill>
              </a:rPr>
              <a:t>nO</a:t>
            </a:r>
            <a:r>
              <a:rPr lang="pt-BR" altLang="pt-BR" dirty="0">
                <a:solidFill>
                  <a:schemeClr val="tx1"/>
                </a:solidFill>
              </a:rPr>
              <a:t> preço do produto é %f reais.\</a:t>
            </a:r>
            <a:r>
              <a:rPr lang="pt-BR" altLang="pt-BR" dirty="0" err="1">
                <a:solidFill>
                  <a:schemeClr val="tx1"/>
                </a:solidFill>
              </a:rPr>
              <a:t>n",x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089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BA692DA-5FF4-42A4-8B79-D10F0829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0A4FE606-29B9-45F4-A35F-FB0896936CB8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19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9923" name="Rectangle 2">
            <a:extLst>
              <a:ext uri="{FF2B5EF4-FFF2-40B4-BE49-F238E27FC236}">
                <a16:creationId xmlns:a16="http://schemas.microsoft.com/office/drawing/2014/main" id="{281E77A0-09FA-4068-A94E-4C2586031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2E427B21-C480-41B5-A3DF-BFA7E4100C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pt-BR" altLang="pt-BR" b="1" dirty="0">
                <a:effectLst/>
              </a:rPr>
              <a:t>sintaxe: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("%d",&amp;</a:t>
            </a:r>
            <a:r>
              <a:rPr lang="pt-BR" altLang="pt-BR" dirty="0" err="1"/>
              <a:t>Qtde</a:t>
            </a:r>
            <a:r>
              <a:rPr lang="pt-BR" altLang="pt-BR" b="1" dirty="0">
                <a:effectLst/>
              </a:rPr>
              <a:t>);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%d ou %i: variável do tipo inteiro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  <a:defRPr/>
            </a:pPr>
            <a:r>
              <a:rPr lang="pt-BR" altLang="pt-BR" dirty="0">
                <a:effectLst/>
              </a:rPr>
              <a:t>&amp;</a:t>
            </a:r>
            <a:r>
              <a:rPr lang="pt-BR" altLang="pt-BR" dirty="0" err="1"/>
              <a:t>Qtde</a:t>
            </a:r>
            <a:r>
              <a:rPr lang="pt-BR" altLang="pt-BR" dirty="0"/>
              <a:t> </a:t>
            </a:r>
            <a:r>
              <a:rPr lang="pt-BR" altLang="pt-BR" dirty="0">
                <a:effectLst/>
              </a:rPr>
              <a:t>: o dado lido deverá ser armazenado no endereço (&amp;) alocado para a variável “</a:t>
            </a:r>
            <a:r>
              <a:rPr lang="pt-BR" altLang="pt-BR" dirty="0" err="1"/>
              <a:t>Qtde</a:t>
            </a:r>
            <a:r>
              <a:rPr lang="pt-BR" altLang="pt-BR" dirty="0">
                <a:effectLst/>
              </a:rPr>
              <a:t>”</a:t>
            </a:r>
          </a:p>
        </p:txBody>
      </p:sp>
      <p:sp>
        <p:nvSpPr>
          <p:cNvPr id="209925" name="Rectangle 6">
            <a:extLst>
              <a:ext uri="{FF2B5EF4-FFF2-40B4-BE49-F238E27FC236}">
                <a16:creationId xmlns:a16="http://schemas.microsoft.com/office/drawing/2014/main" id="{3FCBB830-BE90-4A15-90E5-F6C8FBD37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4" y="2924177"/>
            <a:ext cx="6462713" cy="2308324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 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 err="1">
                <a:solidFill>
                  <a:schemeClr val="tx1"/>
                </a:solidFill>
              </a:rPr>
              <a:t>Qtde</a:t>
            </a:r>
            <a:r>
              <a:rPr lang="pt-BR" altLang="pt-BR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("Entre com a quantidade: ");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dirty="0" err="1">
                <a:solidFill>
                  <a:schemeClr val="tx1"/>
                </a:solidFill>
              </a:rPr>
              <a:t>scanf</a:t>
            </a:r>
            <a:r>
              <a:rPr lang="pt-BR" altLang="pt-BR" dirty="0">
                <a:solidFill>
                  <a:schemeClr val="tx1"/>
                </a:solidFill>
              </a:rPr>
              <a:t> ("%d",&amp; </a:t>
            </a:r>
            <a:r>
              <a:rPr lang="pt-BR" altLang="pt-BR" dirty="0" err="1">
                <a:solidFill>
                  <a:schemeClr val="tx1"/>
                </a:solidFill>
              </a:rPr>
              <a:t>Qtde</a:t>
            </a:r>
            <a:r>
              <a:rPr lang="pt-BR" altLang="pt-BR" dirty="0">
                <a:solidFill>
                  <a:schemeClr val="tx1"/>
                </a:solidFill>
              </a:rPr>
              <a:t>); /* Entrada de Dados*/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("\A quantidade e’ %d unidades.\n", </a:t>
            </a:r>
            <a:r>
              <a:rPr lang="pt-BR" altLang="pt-BR" dirty="0" err="1">
                <a:solidFill>
                  <a:schemeClr val="tx1"/>
                </a:solidFill>
              </a:rPr>
              <a:t>Qtde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8567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CC23F58-0C89-48C4-8F81-93E37D87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79F7EE07-D1B3-403F-BD3E-9BD14AE148DE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20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1971" name="Rectangle 2">
            <a:extLst>
              <a:ext uri="{FF2B5EF4-FFF2-40B4-BE49-F238E27FC236}">
                <a16:creationId xmlns:a16="http://schemas.microsoft.com/office/drawing/2014/main" id="{284D10EB-2501-4764-B112-848F50626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211972" name="Rectangle 3">
            <a:extLst>
              <a:ext uri="{FF2B5EF4-FFF2-40B4-BE49-F238E27FC236}">
                <a16:creationId xmlns:a16="http://schemas.microsoft.com/office/drawing/2014/main" id="{49FE64A8-7398-42B8-A6A5-9953C9DE3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sintaxe: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("%c",&amp;</a:t>
            </a:r>
            <a:r>
              <a:rPr lang="pt-BR" altLang="pt-BR" b="1" dirty="0" err="1">
                <a:effectLst/>
              </a:rPr>
              <a:t>opcao</a:t>
            </a:r>
            <a:r>
              <a:rPr lang="pt-BR" altLang="pt-BR" b="1" dirty="0">
                <a:effectLst/>
              </a:rPr>
              <a:t>);//lê apenas um </a:t>
            </a:r>
            <a:r>
              <a:rPr lang="pt-BR" altLang="pt-BR" b="1" dirty="0" err="1">
                <a:effectLst/>
              </a:rPr>
              <a:t>caracter</a:t>
            </a:r>
            <a:endParaRPr lang="pt-BR" altLang="pt-BR" b="1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%c : variável do tipo </a:t>
            </a:r>
            <a:r>
              <a:rPr lang="pt-BR" altLang="pt-BR" dirty="0" err="1">
                <a:effectLst/>
              </a:rPr>
              <a:t>caracter</a:t>
            </a:r>
            <a:endParaRPr lang="pt-BR" altLang="pt-BR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&amp;</a:t>
            </a:r>
            <a:r>
              <a:rPr lang="pt-BR" altLang="pt-BR" dirty="0" err="1">
                <a:effectLst/>
              </a:rPr>
              <a:t>opcao</a:t>
            </a:r>
            <a:r>
              <a:rPr lang="pt-BR" altLang="pt-BR" dirty="0">
                <a:effectLst/>
              </a:rPr>
              <a:t>: o dado lido deverá ser armazenado no endereço (&amp;) alocado para a variável “</a:t>
            </a:r>
            <a:r>
              <a:rPr lang="pt-BR" altLang="pt-BR" dirty="0" err="1">
                <a:effectLst/>
              </a:rPr>
              <a:t>opcao</a:t>
            </a:r>
            <a:r>
              <a:rPr lang="pt-BR" altLang="pt-BR" dirty="0">
                <a:effectLst/>
              </a:rPr>
              <a:t>”</a:t>
            </a:r>
          </a:p>
        </p:txBody>
      </p:sp>
      <p:sp>
        <p:nvSpPr>
          <p:cNvPr id="211973" name="Rectangle 6">
            <a:extLst>
              <a:ext uri="{FF2B5EF4-FFF2-40B4-BE49-F238E27FC236}">
                <a16:creationId xmlns:a16="http://schemas.microsoft.com/office/drawing/2014/main" id="{00596529-5AF4-4753-B12A-0895F3A3F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4" y="2924178"/>
            <a:ext cx="6462713" cy="2585323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</a:rPr>
              <a:t>stdio.h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int</a:t>
            </a:r>
            <a:r>
              <a:rPr lang="pt-BR" altLang="pt-BR" dirty="0">
                <a:solidFill>
                  <a:schemeClr val="tx1"/>
                </a:solidFill>
              </a:rPr>
              <a:t> </a:t>
            </a:r>
            <a:r>
              <a:rPr lang="pt-BR" altLang="pt-BR" dirty="0" err="1">
                <a:solidFill>
                  <a:schemeClr val="tx1"/>
                </a:solidFill>
              </a:rPr>
              <a:t>main</a:t>
            </a:r>
            <a:r>
              <a:rPr lang="pt-BR" altLang="pt-BR" dirty="0">
                <a:solidFill>
                  <a:schemeClr val="tx1"/>
                </a:solidFill>
              </a:rPr>
              <a:t> 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char 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("Entre com a 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: ");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(“(A) Inserir </a:t>
            </a:r>
            <a:r>
              <a:rPr lang="pt-BR" altLang="pt-BR" dirty="0" err="1">
                <a:solidFill>
                  <a:schemeClr val="tx1"/>
                </a:solidFill>
              </a:rPr>
              <a:t>Usuario</a:t>
            </a:r>
            <a:r>
              <a:rPr lang="pt-BR" altLang="pt-BR" dirty="0">
                <a:solidFill>
                  <a:schemeClr val="tx1"/>
                </a:solidFill>
              </a:rPr>
              <a:t> (B) Imprimir </a:t>
            </a:r>
            <a:r>
              <a:rPr lang="pt-BR" altLang="pt-BR" dirty="0" err="1">
                <a:solidFill>
                  <a:schemeClr val="tx1"/>
                </a:solidFill>
              </a:rPr>
              <a:t>Usuario</a:t>
            </a:r>
            <a:r>
              <a:rPr lang="pt-BR" altLang="pt-BR" dirty="0">
                <a:solidFill>
                  <a:schemeClr val="tx1"/>
                </a:solidFill>
              </a:rPr>
              <a:t> "); 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dirty="0" err="1">
                <a:solidFill>
                  <a:schemeClr val="tx1"/>
                </a:solidFill>
              </a:rPr>
              <a:t>scanf</a:t>
            </a:r>
            <a:r>
              <a:rPr lang="pt-BR" altLang="pt-BR" dirty="0">
                <a:solidFill>
                  <a:schemeClr val="tx1"/>
                </a:solidFill>
              </a:rPr>
              <a:t> ("%c",&amp;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); /* Entrada de Dados*/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printf</a:t>
            </a:r>
            <a:r>
              <a:rPr lang="pt-BR" altLang="pt-BR" dirty="0">
                <a:solidFill>
                  <a:schemeClr val="tx1"/>
                </a:solidFill>
              </a:rPr>
              <a:t> ("\n A 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 selecionada foi %c .\n", </a:t>
            </a:r>
            <a:r>
              <a:rPr lang="pt-BR" altLang="pt-BR" dirty="0" err="1">
                <a:solidFill>
                  <a:schemeClr val="tx1"/>
                </a:solidFill>
              </a:rPr>
              <a:t>opcao</a:t>
            </a:r>
            <a:r>
              <a:rPr lang="pt-BR" altLang="pt-BR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322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5F2A-0FDB-1F94-C6AD-A541B771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51DF47AB-81A8-C7E3-D43F-CC88D4C3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79F7EE07-D1B3-403F-BD3E-9BD14AE148DE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21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1971" name="Rectangle 2">
            <a:extLst>
              <a:ext uri="{FF2B5EF4-FFF2-40B4-BE49-F238E27FC236}">
                <a16:creationId xmlns:a16="http://schemas.microsoft.com/office/drawing/2014/main" id="{01B96C6D-D93E-6545-2524-8E4D1E652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211972" name="Rectangle 3">
            <a:extLst>
              <a:ext uri="{FF2B5EF4-FFF2-40B4-BE49-F238E27FC236}">
                <a16:creationId xmlns:a16="http://schemas.microsoft.com/office/drawing/2014/main" id="{BF1AD9FC-F087-9B66-48A4-2297AB6BD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algn="l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OBSERVAÇÃO: </a:t>
            </a:r>
          </a:p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Existem outros comandos que </a:t>
            </a:r>
            <a:r>
              <a:rPr lang="pt-BR" altLang="pt-BR" b="1" dirty="0" err="1">
                <a:effectLst/>
              </a:rPr>
              <a:t>lêem</a:t>
            </a:r>
            <a:r>
              <a:rPr lang="pt-BR" altLang="pt-BR" b="1" dirty="0">
                <a:effectLst/>
              </a:rPr>
              <a:t> </a:t>
            </a:r>
            <a:r>
              <a:rPr lang="pt-BR" altLang="pt-BR" b="1" u="sng" dirty="0">
                <a:effectLst/>
              </a:rPr>
              <a:t>apenas um </a:t>
            </a:r>
            <a:r>
              <a:rPr lang="pt-BR" altLang="pt-BR" b="1" dirty="0" err="1">
                <a:effectLst/>
              </a:rPr>
              <a:t>caracter</a:t>
            </a:r>
            <a:r>
              <a:rPr lang="pt-BR" altLang="pt-BR" b="1" dirty="0">
                <a:effectLst/>
              </a:rPr>
              <a:t>: </a:t>
            </a:r>
            <a:r>
              <a:rPr lang="pt-BR" altLang="pt-BR" b="1" dirty="0" err="1">
                <a:effectLst/>
              </a:rPr>
              <a:t>getch</a:t>
            </a:r>
            <a:r>
              <a:rPr lang="pt-BR" altLang="pt-BR" b="1" dirty="0">
                <a:effectLst/>
              </a:rPr>
              <a:t>(), </a:t>
            </a:r>
            <a:r>
              <a:rPr lang="pt-BR" altLang="pt-BR" b="1" dirty="0" err="1">
                <a:effectLst/>
              </a:rPr>
              <a:t>getche</a:t>
            </a:r>
            <a:r>
              <a:rPr lang="pt-BR" altLang="pt-BR" b="1" dirty="0">
                <a:effectLst/>
              </a:rPr>
              <a:t>() e </a:t>
            </a:r>
            <a:r>
              <a:rPr lang="pt-BR" altLang="pt-BR" b="1" dirty="0" err="1">
                <a:effectLst/>
              </a:rPr>
              <a:t>getchar</a:t>
            </a:r>
            <a:r>
              <a:rPr lang="pt-BR" altLang="pt-BR" b="1" dirty="0">
                <a:effectLst/>
              </a:rPr>
              <a:t>()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628594-F40C-D4C0-CA6C-84E486F0F766}"/>
              </a:ext>
            </a:extLst>
          </p:cNvPr>
          <p:cNvSpPr txBox="1"/>
          <p:nvPr/>
        </p:nvSpPr>
        <p:spPr>
          <a:xfrm>
            <a:off x="1116409" y="1968806"/>
            <a:ext cx="5400600" cy="480131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r>
              <a:rPr lang="pt-BR" dirty="0"/>
              <a:t>#include &lt;</a:t>
            </a:r>
            <a:r>
              <a:rPr lang="pt-BR" dirty="0" err="1"/>
              <a:t>conio.h</a:t>
            </a:r>
            <a:r>
              <a:rPr lang="pt-BR" dirty="0"/>
              <a:t>&gt;</a:t>
            </a:r>
          </a:p>
          <a:p>
            <a:r>
              <a:rPr lang="pt-BR" dirty="0"/>
              <a:t>#include &lt;</a:t>
            </a:r>
            <a:r>
              <a:rPr lang="pt-BR" dirty="0" err="1"/>
              <a:t>locale.h</a:t>
            </a:r>
            <a:r>
              <a:rPr lang="pt-BR" dirty="0"/>
              <a:t>&gt;</a:t>
            </a:r>
          </a:p>
          <a:p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  </a:t>
            </a:r>
            <a:r>
              <a:rPr lang="pt-BR" dirty="0" err="1"/>
              <a:t>setlocale</a:t>
            </a:r>
            <a:r>
              <a:rPr lang="pt-BR" dirty="0"/>
              <a:t>(LC_ALL, "</a:t>
            </a:r>
            <a:r>
              <a:rPr lang="pt-BR" dirty="0" err="1"/>
              <a:t>Portuguese</a:t>
            </a:r>
            <a:r>
              <a:rPr lang="pt-BR" dirty="0"/>
              <a:t>");</a:t>
            </a:r>
          </a:p>
          <a:p>
            <a:r>
              <a:rPr lang="pt-BR" dirty="0"/>
              <a:t>    char </a:t>
            </a:r>
            <a:r>
              <a:rPr lang="pt-BR" dirty="0" err="1"/>
              <a:t>a,b,c</a:t>
            </a:r>
            <a:r>
              <a:rPr lang="pt-BR" dirty="0"/>
              <a:t>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("Digite um caractere: ");</a:t>
            </a:r>
          </a:p>
          <a:p>
            <a:r>
              <a:rPr lang="pt-BR" dirty="0"/>
              <a:t>    a = </a:t>
            </a:r>
            <a:r>
              <a:rPr lang="pt-BR" dirty="0" err="1"/>
              <a:t>getch</a:t>
            </a:r>
            <a:r>
              <a:rPr lang="pt-BR" dirty="0"/>
              <a:t>(); // Lê o caractere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("\n Você digitou: %c\n", a);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("\n\n Digite um caractere: ");</a:t>
            </a:r>
          </a:p>
          <a:p>
            <a:r>
              <a:rPr lang="pt-BR" dirty="0"/>
              <a:t>    b = </a:t>
            </a:r>
            <a:r>
              <a:rPr lang="pt-BR" dirty="0" err="1"/>
              <a:t>getche</a:t>
            </a:r>
            <a:r>
              <a:rPr lang="pt-BR" dirty="0"/>
              <a:t>(); // Lê o caractere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("\n Você digitou: %c\n", b);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("\n\n Digite um caractere: ");</a:t>
            </a:r>
          </a:p>
          <a:p>
            <a:r>
              <a:rPr lang="pt-BR" dirty="0"/>
              <a:t>    c = </a:t>
            </a:r>
            <a:r>
              <a:rPr lang="pt-BR" dirty="0" err="1"/>
              <a:t>getchar</a:t>
            </a:r>
            <a:r>
              <a:rPr lang="pt-BR" dirty="0"/>
              <a:t>(); // Lê o caractere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nVocê</a:t>
            </a:r>
            <a:r>
              <a:rPr lang="pt-BR" dirty="0"/>
              <a:t> digitou: %c\n", c);</a:t>
            </a:r>
          </a:p>
          <a:p>
            <a:r>
              <a:rPr lang="pt-BR" dirty="0"/>
              <a:t>}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DBCF94A-A45D-A53E-4BFB-D7CE8E5B4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2492896"/>
            <a:ext cx="3084800" cy="33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7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38D390E-3F1E-4EC4-8A08-5794BB45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85E0FBF4-1207-4802-9AF8-EE37B5EBEC83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22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4019" name="Rectangle 2">
            <a:extLst>
              <a:ext uri="{FF2B5EF4-FFF2-40B4-BE49-F238E27FC236}">
                <a16:creationId xmlns:a16="http://schemas.microsoft.com/office/drawing/2014/main" id="{34785A2F-A792-4FA1-BA07-083DEB661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</a:t>
            </a:r>
          </a:p>
        </p:txBody>
      </p:sp>
      <p:sp>
        <p:nvSpPr>
          <p:cNvPr id="214020" name="Rectangle 3">
            <a:extLst>
              <a:ext uri="{FF2B5EF4-FFF2-40B4-BE49-F238E27FC236}">
                <a16:creationId xmlns:a16="http://schemas.microsoft.com/office/drawing/2014/main" id="{1AD4DE28-C84B-41E1-93FD-0C10B324C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sintaxe: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</a:t>
            </a:r>
            <a:r>
              <a:rPr lang="pt-BR" altLang="pt-BR" b="1" dirty="0" err="1">
                <a:effectLst/>
              </a:rPr>
              <a:t>s",&amp;Nome</a:t>
            </a:r>
            <a:r>
              <a:rPr lang="pt-BR" altLang="pt-BR" b="1" dirty="0">
                <a:effectLst/>
              </a:rPr>
              <a:t>);</a:t>
            </a:r>
          </a:p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b="1" dirty="0" err="1"/>
              <a:t>scanf</a:t>
            </a:r>
            <a:r>
              <a:rPr lang="pt-BR" b="1" dirty="0"/>
              <a:t>("%[^\n]", Nome);</a:t>
            </a:r>
            <a:endParaRPr lang="pt-BR" altLang="pt-BR" b="1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%s : variável do tipo </a:t>
            </a:r>
            <a:r>
              <a:rPr lang="pt-BR" altLang="pt-BR" dirty="0" err="1">
                <a:effectLst/>
              </a:rPr>
              <a:t>caracter</a:t>
            </a:r>
            <a:endParaRPr lang="pt-BR" altLang="pt-BR" dirty="0">
              <a:effectLst/>
            </a:endParaRP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&amp;</a:t>
            </a:r>
            <a:r>
              <a:rPr lang="pt-BR" altLang="pt-BR" b="1" dirty="0">
                <a:effectLst/>
              </a:rPr>
              <a:t> Nome </a:t>
            </a:r>
            <a:r>
              <a:rPr lang="pt-BR" altLang="pt-BR" dirty="0">
                <a:effectLst/>
              </a:rPr>
              <a:t>: o dado lido deverá ser armazenado no endereço (&amp;) alocado para a variável “</a:t>
            </a:r>
            <a:r>
              <a:rPr lang="pt-BR" altLang="pt-BR" dirty="0" err="1">
                <a:effectLst/>
              </a:rPr>
              <a:t>opcao</a:t>
            </a:r>
            <a:r>
              <a:rPr lang="pt-BR" altLang="pt-BR" dirty="0">
                <a:effectLst/>
              </a:rPr>
              <a:t>”.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Observação: nem todo compilador funciona o </a:t>
            </a:r>
            <a:r>
              <a:rPr lang="pt-BR" altLang="pt-BR" b="1" dirty="0">
                <a:effectLst/>
              </a:rPr>
              <a:t> </a:t>
            </a:r>
            <a:r>
              <a:rPr lang="pt-BR" altLang="pt-BR" b="1" dirty="0" err="1">
                <a:effectLst/>
              </a:rPr>
              <a:t>scanf</a:t>
            </a:r>
            <a:r>
              <a:rPr lang="pt-BR" altLang="pt-BR" b="1" dirty="0">
                <a:effectLst/>
              </a:rPr>
              <a:t> ("%s",&amp;...); </a:t>
            </a:r>
            <a:r>
              <a:rPr lang="pt-BR" altLang="pt-BR" dirty="0">
                <a:effectLst/>
              </a:rPr>
              <a:t>e deve-se utilizar o comando </a:t>
            </a:r>
            <a:r>
              <a:rPr lang="pt-BR" altLang="pt-BR" b="1" dirty="0" err="1">
                <a:effectLst/>
              </a:rPr>
              <a:t>fgets</a:t>
            </a:r>
            <a:r>
              <a:rPr lang="pt-BR" altLang="pt-BR" b="1" dirty="0">
                <a:effectLst/>
              </a:rPr>
              <a:t>(). </a:t>
            </a:r>
          </a:p>
          <a:p>
            <a:pPr marL="0" indent="269868" algn="just" eaLnBrk="1" hangingPunct="1">
              <a:buFont typeface="Wingdings" panose="05000000000000000000" pitchFamily="2" charset="2"/>
              <a:buChar char="§"/>
            </a:pPr>
            <a:endParaRPr lang="pt-BR" altLang="pt-BR" dirty="0">
              <a:effectLst/>
            </a:endParaRPr>
          </a:p>
        </p:txBody>
      </p:sp>
      <p:sp>
        <p:nvSpPr>
          <p:cNvPr id="214021" name="Rectangle 6">
            <a:extLst>
              <a:ext uri="{FF2B5EF4-FFF2-40B4-BE49-F238E27FC236}">
                <a16:creationId xmlns:a16="http://schemas.microsoft.com/office/drawing/2014/main" id="{2DA1A952-D0E8-42AF-8980-54A88F7BA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29" y="3458796"/>
            <a:ext cx="4896544" cy="3293209"/>
          </a:xfrm>
          <a:prstGeom prst="rect">
            <a:avLst/>
          </a:prstGeom>
          <a:solidFill>
            <a:srgbClr val="0000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#include 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#include &lt;</a:t>
            </a:r>
            <a:r>
              <a:rPr lang="pt-BR" altLang="pt-BR" sz="1600" dirty="0" err="1">
                <a:solidFill>
                  <a:schemeClr val="tx1"/>
                </a:solidFill>
              </a:rPr>
              <a:t>locale.h</a:t>
            </a:r>
            <a:r>
              <a:rPr lang="pt-BR" altLang="pt-BR" sz="1600" dirty="0">
                <a:solidFill>
                  <a:schemeClr val="tx1"/>
                </a:solidFill>
              </a:rPr>
              <a:t>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main</a:t>
            </a:r>
            <a:r>
              <a:rPr lang="pt-BR" altLang="pt-BR" sz="1600" dirty="0">
                <a:solidFill>
                  <a:schemeClr val="tx1"/>
                </a:solidFill>
              </a:rPr>
              <a:t>(){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char Nome[30];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setlocale</a:t>
            </a:r>
            <a:r>
              <a:rPr lang="pt-BR" altLang="pt-BR" sz="1600" dirty="0">
                <a:solidFill>
                  <a:schemeClr val="tx1"/>
                </a:solidFill>
              </a:rPr>
              <a:t>(LC_ALL, "</a:t>
            </a:r>
            <a:r>
              <a:rPr lang="pt-BR" altLang="pt-BR" sz="1600" dirty="0" err="1">
                <a:solidFill>
                  <a:schemeClr val="tx1"/>
                </a:solidFill>
              </a:rPr>
              <a:t>Portuguese</a:t>
            </a:r>
            <a:r>
              <a:rPr lang="pt-BR" altLang="pt-BR" sz="1600" dirty="0">
                <a:solidFill>
                  <a:schemeClr val="tx1"/>
                </a:solidFill>
              </a:rPr>
              <a:t>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("Digite o seu nome: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 ("%</a:t>
            </a:r>
            <a:r>
              <a:rPr lang="pt-BR" altLang="pt-BR" sz="1600" dirty="0" err="1">
                <a:solidFill>
                  <a:schemeClr val="tx1"/>
                </a:solidFill>
              </a:rPr>
              <a:t>s",&amp;Nome</a:t>
            </a:r>
            <a:r>
              <a:rPr lang="pt-BR" altLang="pt-BR" sz="1600" dirty="0">
                <a:solidFill>
                  <a:schemeClr val="tx1"/>
                </a:solidFill>
              </a:rPr>
              <a:t>); /* Entrada de Dados*/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("\O seu  nome e’: %s .\n", Nome);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fflush</a:t>
            </a:r>
            <a:r>
              <a:rPr lang="pt-BR" altLang="pt-BR" sz="1600" dirty="0">
                <a:solidFill>
                  <a:schemeClr val="tx1"/>
                </a:solidFill>
              </a:rPr>
              <a:t>(</a:t>
            </a:r>
            <a:r>
              <a:rPr lang="pt-BR" altLang="pt-BR" sz="1600" dirty="0" err="1">
                <a:solidFill>
                  <a:schemeClr val="tx1"/>
                </a:solidFill>
              </a:rPr>
              <a:t>stdin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("\n Digite o seu  nome: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("%[^\n]", Nome);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("\O seu  nome e’: %s .\n", Nome);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0BDBDD-AE63-55C4-E751-E763EDF1A483}"/>
              </a:ext>
            </a:extLst>
          </p:cNvPr>
          <p:cNvSpPr txBox="1"/>
          <p:nvPr/>
        </p:nvSpPr>
        <p:spPr>
          <a:xfrm>
            <a:off x="6744073" y="3399204"/>
            <a:ext cx="2808312" cy="369332"/>
          </a:xfrm>
          <a:prstGeom prst="rect">
            <a:avLst/>
          </a:prstGeom>
          <a:solidFill>
            <a:srgbClr val="CC0000"/>
          </a:solidFill>
        </p:spPr>
        <p:txBody>
          <a:bodyPr wrap="square">
            <a:spAutoFit/>
          </a:bodyPr>
          <a:lstStyle/>
          <a:p>
            <a:r>
              <a:rPr lang="pt-BR" dirty="0" err="1"/>
              <a:t>scanf</a:t>
            </a:r>
            <a:r>
              <a:rPr lang="pt-BR" dirty="0"/>
              <a:t>("%[^\n]", </a:t>
            </a:r>
            <a:r>
              <a:rPr lang="pt-BR" dirty="0" err="1"/>
              <a:t>ender</a:t>
            </a:r>
            <a:r>
              <a:rPr lang="pt-BR" dirty="0"/>
              <a:t>);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B91FC9-4559-F9ED-DA01-3A499B39F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3" y="3849077"/>
            <a:ext cx="4792296" cy="239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39BA8AC-7A43-42C4-84C2-873BA02C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F4C478E4-8775-4804-85FE-3ABDE01541F1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23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827" name="Rectangle 2">
            <a:extLst>
              <a:ext uri="{FF2B5EF4-FFF2-40B4-BE49-F238E27FC236}">
                <a16:creationId xmlns:a16="http://schemas.microsoft.com/office/drawing/2014/main" id="{E081DA12-F75D-4A0D-94AA-89D936341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Entrada: </a:t>
            </a:r>
            <a:r>
              <a:rPr lang="en-US" altLang="pt-BR" dirty="0" err="1">
                <a:effectLst/>
              </a:rPr>
              <a:t>fgets</a:t>
            </a:r>
            <a:r>
              <a:rPr lang="en-US" altLang="pt-BR" dirty="0">
                <a:effectLst/>
              </a:rPr>
              <a:t>() </a:t>
            </a:r>
            <a:endParaRPr lang="pt-BR" altLang="pt-BR" dirty="0">
              <a:effectLst/>
            </a:endParaRPr>
          </a:p>
        </p:txBody>
      </p:sp>
      <p:sp>
        <p:nvSpPr>
          <p:cNvPr id="1287171" name="Rectangle 3">
            <a:extLst>
              <a:ext uri="{FF2B5EF4-FFF2-40B4-BE49-F238E27FC236}">
                <a16:creationId xmlns:a16="http://schemas.microsoft.com/office/drawing/2014/main" id="{0F783FE0-2C81-48C4-83F5-1B00C7052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269868" eaLnBrk="1" hangingPunct="1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pt-BR" b="1" dirty="0">
                <a:effectLst/>
              </a:rPr>
              <a:t>OBSERVAÇÃO: </a:t>
            </a:r>
          </a:p>
          <a:p>
            <a:pPr marL="285750" indent="-285750" algn="l" eaLnBrk="1" hangingPunct="1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pt-BR" altLang="pt-BR" b="1" dirty="0">
                <a:effectLst/>
              </a:rPr>
              <a:t>Existem comandos para ler mais de um </a:t>
            </a:r>
            <a:r>
              <a:rPr lang="pt-BR" altLang="pt-BR" b="1" dirty="0" err="1">
                <a:effectLst/>
              </a:rPr>
              <a:t>caracter</a:t>
            </a:r>
            <a:endParaRPr lang="pt-BR" altLang="pt-BR" b="1" dirty="0">
              <a:effectLst/>
            </a:endParaRPr>
          </a:p>
          <a:p>
            <a:pPr marL="285750" indent="-285750" algn="l" eaLnBrk="1" hangingPunct="1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pt-BR" b="1" dirty="0">
                <a:effectLst/>
              </a:rPr>
              <a:t>Ler uma linha de texto (recomendado para </a:t>
            </a:r>
            <a:r>
              <a:rPr lang="pt-BR" b="1" dirty="0" err="1">
                <a:effectLst/>
              </a:rPr>
              <a:t>strings</a:t>
            </a:r>
            <a:r>
              <a:rPr lang="pt-BR" b="1" dirty="0">
                <a:effectLst/>
              </a:rPr>
              <a:t>)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r>
              <a:rPr lang="pt-BR" altLang="pt-BR" dirty="0">
                <a:effectLst/>
              </a:rPr>
              <a:t>Sua forma geral é: </a:t>
            </a:r>
            <a:r>
              <a:rPr lang="pt-BR" altLang="pt-BR" dirty="0" err="1">
                <a:effectLst/>
              </a:rPr>
              <a:t>fgets</a:t>
            </a:r>
            <a:r>
              <a:rPr lang="pt-BR" altLang="pt-BR" dirty="0">
                <a:effectLst/>
              </a:rPr>
              <a:t>(variável, tamanho, </a:t>
            </a:r>
            <a:r>
              <a:rPr lang="pt-BR" altLang="pt-BR" dirty="0" err="1">
                <a:effectLst/>
              </a:rPr>
              <a:t>stdin</a:t>
            </a:r>
            <a:r>
              <a:rPr lang="pt-BR" altLang="pt-BR" dirty="0">
                <a:effectLst/>
              </a:rPr>
              <a:t>); :</a:t>
            </a:r>
          </a:p>
          <a:p>
            <a:pPr marL="0" indent="269868" eaLnBrk="1" hangingPunct="1">
              <a:defRPr/>
            </a:pPr>
            <a:endParaRPr lang="pt-BR" alt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5F4CA0-B76E-4C65-99E5-9093AA1FC944}"/>
              </a:ext>
            </a:extLst>
          </p:cNvPr>
          <p:cNvSpPr txBox="1"/>
          <p:nvPr/>
        </p:nvSpPr>
        <p:spPr>
          <a:xfrm>
            <a:off x="3023507" y="2796105"/>
            <a:ext cx="6144986" cy="258532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dirty="0"/>
              <a:t>#include &lt;stdio.h&gt;</a:t>
            </a:r>
          </a:p>
          <a:p>
            <a:endParaRPr lang="pt-BR" dirty="0"/>
          </a:p>
          <a:p>
            <a:r>
              <a:rPr lang="pt-BR" dirty="0"/>
              <a:t>int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  char nome[100];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("Digite seu nome: ");</a:t>
            </a:r>
          </a:p>
          <a:p>
            <a:r>
              <a:rPr lang="pt-BR" dirty="0"/>
              <a:t>    </a:t>
            </a:r>
            <a:r>
              <a:rPr lang="pt-BR" dirty="0" err="1"/>
              <a:t>fgets</a:t>
            </a:r>
            <a:r>
              <a:rPr lang="pt-BR" dirty="0"/>
              <a:t>(nome, </a:t>
            </a:r>
            <a:r>
              <a:rPr lang="pt-BR" dirty="0" err="1"/>
              <a:t>sizeof</a:t>
            </a:r>
            <a:r>
              <a:rPr lang="pt-BR" dirty="0"/>
              <a:t>(nome), </a:t>
            </a:r>
            <a:r>
              <a:rPr lang="pt-BR" dirty="0" err="1"/>
              <a:t>stdin</a:t>
            </a:r>
            <a:r>
              <a:rPr lang="pt-BR" dirty="0"/>
              <a:t>);</a:t>
            </a:r>
          </a:p>
          <a:p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</a:t>
            </a:r>
            <a:r>
              <a:rPr lang="pt-BR" dirty="0" err="1"/>
              <a:t>Ola</a:t>
            </a:r>
            <a:r>
              <a:rPr lang="pt-BR" dirty="0"/>
              <a:t>, %s", nome);</a:t>
            </a:r>
          </a:p>
          <a:p>
            <a:r>
              <a:rPr lang="pt-BR" dirty="0"/>
              <a:t>    return 0;</a:t>
            </a:r>
          </a:p>
          <a:p>
            <a:r>
              <a:rPr lang="pt-BR" dirty="0"/>
              <a:t>}</a:t>
            </a: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5B513307-E37D-54F9-00F8-D058E7117E49}"/>
              </a:ext>
            </a:extLst>
          </p:cNvPr>
          <p:cNvSpPr/>
          <p:nvPr/>
        </p:nvSpPr>
        <p:spPr bwMode="auto">
          <a:xfrm>
            <a:off x="10848528" y="1752600"/>
            <a:ext cx="914400" cy="914400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985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9B50-6AF1-471A-EC0C-598F10AF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0910163-6D31-F950-A617-E4BD932B60F9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7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77A7254A-23B9-4880-84AA-E2ECD6D0092E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24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8278DE30-8255-6971-8A13-8824811076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Entrada: </a:t>
            </a:r>
            <a:br>
              <a:rPr lang="pt-BR" altLang="pt-BR" dirty="0">
                <a:effectLst/>
              </a:rPr>
            </a:br>
            <a:r>
              <a:rPr lang="pt-BR" dirty="0" err="1"/>
              <a:t>fgets</a:t>
            </a:r>
            <a:r>
              <a:rPr lang="pt-BR" dirty="0"/>
              <a:t>(</a:t>
            </a:r>
            <a:r>
              <a:rPr lang="pt-BR" dirty="0" err="1"/>
              <a:t>nome_da_variavel</a:t>
            </a:r>
            <a:r>
              <a:rPr lang="pt-BR" dirty="0"/>
              <a:t>, </a:t>
            </a:r>
            <a:r>
              <a:rPr lang="pt-BR" dirty="0" err="1"/>
              <a:t>sizeof</a:t>
            </a:r>
            <a:r>
              <a:rPr lang="pt-BR" dirty="0"/>
              <a:t>(</a:t>
            </a:r>
            <a:r>
              <a:rPr lang="pt-BR" dirty="0" err="1"/>
              <a:t>nome_da_variavel</a:t>
            </a:r>
            <a:r>
              <a:rPr lang="pt-BR" dirty="0"/>
              <a:t>), </a:t>
            </a:r>
            <a:r>
              <a:rPr lang="pt-BR" dirty="0" err="1"/>
              <a:t>stdin</a:t>
            </a:r>
            <a:r>
              <a:rPr lang="pt-BR" dirty="0"/>
              <a:t>);</a:t>
            </a:r>
            <a:endParaRPr lang="pt-BR" altLang="pt-BR" dirty="0"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F31CE5-5276-5A0B-33ED-08E6A7370F30}"/>
              </a:ext>
            </a:extLst>
          </p:cNvPr>
          <p:cNvSpPr txBox="1"/>
          <p:nvPr/>
        </p:nvSpPr>
        <p:spPr>
          <a:xfrm>
            <a:off x="406928" y="2375961"/>
            <a:ext cx="6553168" cy="280076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&lt;stdio.h&gt;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conio.h</a:t>
            </a:r>
            <a:r>
              <a:rPr lang="pt-BR" sz="1600" dirty="0"/>
              <a:t>&gt;</a:t>
            </a:r>
          </a:p>
          <a:p>
            <a:r>
              <a:rPr lang="pt-BR" sz="1600" dirty="0"/>
              <a:t>#include &lt;</a:t>
            </a:r>
            <a:r>
              <a:rPr lang="pt-BR" sz="1600" dirty="0" err="1"/>
              <a:t>locale.h</a:t>
            </a:r>
            <a:r>
              <a:rPr lang="pt-BR" sz="1600" dirty="0"/>
              <a:t>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r>
              <a:rPr lang="pt-BR" sz="1600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setlocale</a:t>
            </a:r>
            <a:r>
              <a:rPr lang="pt-BR" sz="1600" dirty="0"/>
              <a:t>(LC_ALL, "</a:t>
            </a:r>
            <a:r>
              <a:rPr lang="pt-BR" sz="1600" dirty="0" err="1"/>
              <a:t>Portuguese</a:t>
            </a:r>
            <a:r>
              <a:rPr lang="pt-BR" sz="1600" dirty="0"/>
              <a:t>");</a:t>
            </a:r>
          </a:p>
          <a:p>
            <a:r>
              <a:rPr lang="pt-BR" sz="1600" dirty="0"/>
              <a:t>    char  nome[100];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("Digite o seu nome: \n");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fgets</a:t>
            </a:r>
            <a:r>
              <a:rPr lang="pt-BR" sz="1600" dirty="0"/>
              <a:t>(nome, </a:t>
            </a:r>
            <a:r>
              <a:rPr lang="pt-BR" sz="1600" dirty="0" err="1"/>
              <a:t>sizeof</a:t>
            </a:r>
            <a:r>
              <a:rPr lang="pt-BR" sz="1600" dirty="0"/>
              <a:t>(nome), </a:t>
            </a:r>
            <a:r>
              <a:rPr lang="pt-BR" sz="1600" dirty="0" err="1"/>
              <a:t>stdin</a:t>
            </a:r>
            <a:r>
              <a:rPr lang="pt-BR" sz="1600" dirty="0"/>
              <a:t>);    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printf</a:t>
            </a:r>
            <a:r>
              <a:rPr lang="pt-BR" sz="1600" dirty="0"/>
              <a:t>("O nome digitado foi %s \n", nome);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4B7646-22F4-E419-6F88-8C250BD799A4}"/>
              </a:ext>
            </a:extLst>
          </p:cNvPr>
          <p:cNvSpPr txBox="1"/>
          <p:nvPr/>
        </p:nvSpPr>
        <p:spPr>
          <a:xfrm>
            <a:off x="4151784" y="4287849"/>
            <a:ext cx="2808312" cy="369332"/>
          </a:xfrm>
          <a:prstGeom prst="rect">
            <a:avLst/>
          </a:prstGeom>
          <a:solidFill>
            <a:srgbClr val="CC0000"/>
          </a:solidFill>
        </p:spPr>
        <p:txBody>
          <a:bodyPr wrap="square">
            <a:spAutoFit/>
          </a:bodyPr>
          <a:lstStyle/>
          <a:p>
            <a:r>
              <a:rPr lang="pt-BR" dirty="0" err="1"/>
              <a:t>scanf</a:t>
            </a:r>
            <a:r>
              <a:rPr lang="pt-BR" dirty="0"/>
              <a:t>("%[^\n]", nome);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40C644-A729-A3CC-C861-80D8013DF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44" y="2842419"/>
            <a:ext cx="4545795" cy="176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D3EE5385-27C9-4A02-BAAF-E53D7FF4E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effectLst/>
              </a:rPr>
              <a:t> 2.7 - Comandos de entrada e saída</a:t>
            </a:r>
            <a:br>
              <a:rPr lang="pt-BR" altLang="pt-BR">
                <a:effectLst/>
              </a:rPr>
            </a:br>
            <a:r>
              <a:rPr lang="pt-BR" altLang="pt-BR">
                <a:effectLst/>
              </a:rPr>
              <a:t>Função  getch() e getche()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8F896ED6-387B-4C2C-83FD-0FC2BD359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Muitas vezes queremos ler um caractere fornecido pelo usuário. Para isto as funções mais usadas, quando se está trabalhando em ambiente DOS ou Windows, são </a:t>
            </a:r>
            <a:r>
              <a:rPr lang="pt-BR" altLang="pt-BR" b="1">
                <a:effectLst/>
              </a:rPr>
              <a:t>getch() </a:t>
            </a:r>
            <a:r>
              <a:rPr lang="pt-BR" altLang="pt-BR">
                <a:effectLst/>
              </a:rPr>
              <a:t>e </a:t>
            </a:r>
            <a:r>
              <a:rPr lang="pt-BR" altLang="pt-BR" b="1">
                <a:effectLst/>
              </a:rPr>
              <a:t>getche()</a:t>
            </a:r>
            <a:r>
              <a:rPr lang="pt-BR" altLang="pt-BR">
                <a:effectLst/>
              </a:rPr>
              <a:t>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Ambas retornam o caractere pressionado. </a:t>
            </a:r>
            <a:r>
              <a:rPr lang="pt-BR" altLang="pt-BR" b="1">
                <a:effectLst/>
              </a:rPr>
              <a:t>getche() </a:t>
            </a:r>
            <a:r>
              <a:rPr lang="pt-BR" altLang="pt-BR">
                <a:effectLst/>
              </a:rPr>
              <a:t>imprime o caractere na tela antes de retorná-lo e </a:t>
            </a:r>
            <a:r>
              <a:rPr lang="pt-BR" altLang="pt-BR" b="1">
                <a:effectLst/>
              </a:rPr>
              <a:t>getch() </a:t>
            </a:r>
            <a:r>
              <a:rPr lang="pt-BR" altLang="pt-BR">
                <a:effectLst/>
              </a:rPr>
              <a:t>apenas retorna o caractere pressionado sem imprimí-lo na tela. </a:t>
            </a:r>
          </a:p>
          <a:p>
            <a:pPr marL="0" indent="269868" algn="just">
              <a:buFont typeface="Wingdings" panose="05000000000000000000" pitchFamily="2" charset="2"/>
              <a:buChar char="§"/>
            </a:pPr>
            <a:r>
              <a:rPr lang="pt-BR" altLang="pt-BR">
                <a:effectLst/>
              </a:rPr>
              <a:t>Ambas as funções podem ser encontradas no arquivo de cabeçalho </a:t>
            </a:r>
            <a:r>
              <a:rPr lang="pt-BR" altLang="pt-BR" b="1">
                <a:effectLst/>
              </a:rPr>
              <a:t>conio.h</a:t>
            </a:r>
            <a:r>
              <a:rPr lang="pt-BR" altLang="pt-BR">
                <a:effectLst/>
              </a:rPr>
              <a:t>. Geralmente estas funções </a:t>
            </a:r>
            <a:r>
              <a:rPr lang="pt-BR" altLang="pt-BR" b="1">
                <a:effectLst/>
              </a:rPr>
              <a:t>não estão disponíveis em ambiente Unix </a:t>
            </a:r>
            <a:r>
              <a:rPr lang="pt-BR" altLang="pt-BR">
                <a:effectLst/>
              </a:rPr>
              <a:t>(compiladores cc e gcc), pois não fazem parte do padrão ANSI. (Exemplo 1)</a:t>
            </a:r>
          </a:p>
        </p:txBody>
      </p:sp>
      <p:sp>
        <p:nvSpPr>
          <p:cNvPr id="222212" name="Rectangle 4">
            <a:extLst>
              <a:ext uri="{FF2B5EF4-FFF2-40B4-BE49-F238E27FC236}">
                <a16:creationId xmlns:a16="http://schemas.microsoft.com/office/drawing/2014/main" id="{08ACB8D5-4164-45D7-A469-4049A8013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3429002"/>
            <a:ext cx="8496300" cy="2862322"/>
          </a:xfrm>
          <a:prstGeom prst="rect">
            <a:avLst/>
          </a:prstGeom>
          <a:solidFill>
            <a:srgbClr val="A4A4D0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#include &lt;stdio.h&gt;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#include &lt;conio.h&gt;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/* Este programa usa conio.h . */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int main 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{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char Ch;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Ch=getch();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printf ("Voce pressionou a tecla %c",Ch);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return(0);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}</a:t>
            </a:r>
          </a:p>
        </p:txBody>
      </p:sp>
      <p:sp>
        <p:nvSpPr>
          <p:cNvPr id="284677" name="Rectangle 5">
            <a:extLst>
              <a:ext uri="{FF2B5EF4-FFF2-40B4-BE49-F238E27FC236}">
                <a16:creationId xmlns:a16="http://schemas.microsoft.com/office/drawing/2014/main" id="{1B82562B-A59B-4015-A07A-3F2B2376D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4" y="6481764"/>
            <a:ext cx="955711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string 4</a:t>
            </a:r>
          </a:p>
        </p:txBody>
      </p:sp>
      <p:sp>
        <p:nvSpPr>
          <p:cNvPr id="284678" name="Rectangle 6">
            <a:extLst>
              <a:ext uri="{FF2B5EF4-FFF2-40B4-BE49-F238E27FC236}">
                <a16:creationId xmlns:a16="http://schemas.microsoft.com/office/drawing/2014/main" id="{47411FE7-B266-4432-9B84-41373D994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740" y="6481764"/>
            <a:ext cx="955711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>
                <a:solidFill>
                  <a:schemeClr val="bg1"/>
                </a:solidFill>
              </a:rPr>
              <a:t>string 5</a:t>
            </a:r>
          </a:p>
        </p:txBody>
      </p:sp>
    </p:spTree>
    <p:extLst>
      <p:ext uri="{BB962C8B-B14F-4D97-AF65-F5344CB8AC3E}">
        <p14:creationId xmlns:p14="http://schemas.microsoft.com/office/powerpoint/2010/main" val="148335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3E9F-D531-144E-F5C4-85272BFC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D5758C12-7D5C-F001-B153-CB0D1E13C930}"/>
              </a:ext>
            </a:extLst>
          </p:cNvPr>
          <p:cNvSpPr txBox="1">
            <a:spLocks noGrp="1"/>
          </p:cNvSpPr>
          <p:nvPr/>
        </p:nvSpPr>
        <p:spPr bwMode="auto">
          <a:xfrm>
            <a:off x="9849048" y="6238874"/>
            <a:ext cx="2133600" cy="4762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>
              <a:defRPr/>
            </a:pPr>
            <a:fld id="{3451F206-9B03-4747-9E19-8CAFE8137753}" type="slidenum">
              <a:rPr lang="pt-BR" altLang="pt-BR" sz="1400" b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pPr algn="r" eaLnBrk="1" hangingPunct="1">
                <a:defRPr/>
              </a:pPr>
              <a:t>26</a:t>
            </a:fld>
            <a:endParaRPr lang="pt-BR" altLang="pt-BR" sz="1400" b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16067" name="Rectangle 2">
            <a:extLst>
              <a:ext uri="{FF2B5EF4-FFF2-40B4-BE49-F238E27FC236}">
                <a16:creationId xmlns:a16="http://schemas.microsoft.com/office/drawing/2014/main" id="{AD1F2741-CA39-FABC-2F20-997539DD7D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 dirty="0">
                <a:effectLst/>
              </a:rPr>
              <a:t>Comandos de Saída</a:t>
            </a:r>
            <a:br>
              <a:rPr lang="pt-BR" altLang="pt-BR" b="0" dirty="0">
                <a:effectLst/>
              </a:rPr>
            </a:br>
            <a:r>
              <a:rPr lang="pt-BR" altLang="pt-BR" b="0" dirty="0">
                <a:effectLst/>
              </a:rPr>
              <a:t> </a:t>
            </a:r>
            <a:r>
              <a:rPr lang="pt-BR" altLang="pt-BR" dirty="0">
                <a:effectLst/>
              </a:rPr>
              <a:t>Função </a:t>
            </a:r>
            <a:r>
              <a:rPr lang="pt-BR" altLang="pt-BR" dirty="0" err="1">
                <a:effectLst/>
              </a:rPr>
              <a:t>printf</a:t>
            </a:r>
            <a:r>
              <a:rPr lang="pt-BR" altLang="pt-BR" dirty="0">
                <a:effectLst/>
              </a:rPr>
              <a:t>() </a:t>
            </a:r>
          </a:p>
        </p:txBody>
      </p:sp>
      <p:sp>
        <p:nvSpPr>
          <p:cNvPr id="216068" name="Rectangle 3">
            <a:extLst>
              <a:ext uri="{FF2B5EF4-FFF2-40B4-BE49-F238E27FC236}">
                <a16:creationId xmlns:a16="http://schemas.microsoft.com/office/drawing/2014/main" id="{C60B287A-CE53-7087-4B1C-DA553579BEA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269868" eaLnBrk="1" hangingPunct="1">
              <a:lnSpc>
                <a:spcPct val="80000"/>
              </a:lnSpc>
            </a:pPr>
            <a:endParaRPr lang="pt-BR" altLang="pt-BR" b="1" dirty="0">
              <a:effectLst/>
            </a:endParaRPr>
          </a:p>
          <a:p>
            <a:pPr marL="0" indent="269868" algn="just" eaLnBrk="1" hangingPunct="1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pt-BR" altLang="pt-BR" dirty="0">
                <a:effectLst/>
              </a:rPr>
              <a:t>A função</a:t>
            </a:r>
            <a:r>
              <a:rPr lang="pt-BR" altLang="pt-BR" b="1" dirty="0">
                <a:effectLst/>
              </a:rPr>
              <a:t> </a:t>
            </a:r>
            <a:r>
              <a:rPr lang="pt-BR" altLang="pt-BR" b="1" dirty="0" err="1">
                <a:effectLst/>
              </a:rPr>
              <a:t>printf</a:t>
            </a:r>
            <a:r>
              <a:rPr lang="pt-BR" altLang="pt-BR" b="1" dirty="0">
                <a:effectLst/>
              </a:rPr>
              <a:t>() </a:t>
            </a:r>
            <a:r>
              <a:rPr lang="pt-BR" altLang="pt-BR" dirty="0">
                <a:effectLst/>
              </a:rPr>
              <a:t>coloca na tela do computador o que se deseja imprimir: variáveis e/ou cadeia de caracteres.</a:t>
            </a:r>
          </a:p>
        </p:txBody>
      </p:sp>
      <p:sp>
        <p:nvSpPr>
          <p:cNvPr id="216069" name="Rectangle 5">
            <a:extLst>
              <a:ext uri="{FF2B5EF4-FFF2-40B4-BE49-F238E27FC236}">
                <a16:creationId xmlns:a16="http://schemas.microsoft.com/office/drawing/2014/main" id="{CB97AB71-A548-52F6-DF5B-4D3CA9D8D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5" y="6476999"/>
            <a:ext cx="854721" cy="369332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pt-BR" altLang="pt-BR" dirty="0">
                <a:solidFill>
                  <a:schemeClr val="bg1"/>
                </a:solidFill>
              </a:rPr>
              <a:t>printf1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589CE8-60D0-F4C4-2F41-D6B924391CBE}"/>
              </a:ext>
            </a:extLst>
          </p:cNvPr>
          <p:cNvSpPr txBox="1"/>
          <p:nvPr/>
        </p:nvSpPr>
        <p:spPr>
          <a:xfrm>
            <a:off x="983432" y="2322016"/>
            <a:ext cx="6264696" cy="452431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pt-BR" sz="1600" dirty="0"/>
              <a:t>#include &lt;stdio.h&gt;</a:t>
            </a:r>
          </a:p>
          <a:p>
            <a:r>
              <a:rPr lang="pt-BR" sz="1600" dirty="0" err="1"/>
              <a:t>main</a:t>
            </a:r>
            <a:r>
              <a:rPr lang="pt-BR" sz="1600" dirty="0"/>
              <a:t>(){</a:t>
            </a:r>
          </a:p>
          <a:p>
            <a:r>
              <a:rPr lang="pt-BR" sz="1600" dirty="0"/>
              <a:t> /* </a:t>
            </a:r>
            <a:r>
              <a:rPr lang="pt-BR" sz="1600" dirty="0" err="1"/>
              <a:t>Declaracao</a:t>
            </a:r>
            <a:r>
              <a:rPr lang="pt-BR" sz="1600" dirty="0"/>
              <a:t> de </a:t>
            </a:r>
            <a:r>
              <a:rPr lang="pt-BR" sz="1600" dirty="0" err="1"/>
              <a:t>Variaveis</a:t>
            </a:r>
            <a:r>
              <a:rPr lang="pt-BR" sz="1600" dirty="0"/>
              <a:t> */</a:t>
            </a:r>
          </a:p>
          <a:p>
            <a:r>
              <a:rPr lang="pt-BR" sz="1600" dirty="0"/>
              <a:t>int x;</a:t>
            </a:r>
          </a:p>
          <a:p>
            <a:r>
              <a:rPr lang="pt-BR" sz="1600" dirty="0"/>
              <a:t>float v;</a:t>
            </a:r>
          </a:p>
          <a:p>
            <a:r>
              <a:rPr lang="pt-BR" sz="1600" dirty="0"/>
              <a:t>char  letra;</a:t>
            </a:r>
          </a:p>
          <a:p>
            <a:r>
              <a:rPr lang="pt-BR" sz="1600" dirty="0"/>
              <a:t>char nome[15]={"Pedro"};</a:t>
            </a:r>
          </a:p>
          <a:p>
            <a:r>
              <a:rPr lang="pt-BR" sz="1600" dirty="0"/>
              <a:t>/* Entrada de Dados*/</a:t>
            </a:r>
          </a:p>
          <a:p>
            <a:r>
              <a:rPr lang="pt-BR" sz="1600" dirty="0"/>
              <a:t>x=10;</a:t>
            </a:r>
          </a:p>
          <a:p>
            <a:r>
              <a:rPr lang="pt-BR" sz="1600" dirty="0"/>
              <a:t>v=5.2;</a:t>
            </a:r>
          </a:p>
          <a:p>
            <a:r>
              <a:rPr lang="pt-BR" sz="1600" dirty="0"/>
              <a:t>letra='D';</a:t>
            </a:r>
          </a:p>
          <a:p>
            <a:r>
              <a:rPr lang="pt-BR" sz="1600" dirty="0"/>
              <a:t> /* Impressão de Dados*/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("Esse programa apresenta a </a:t>
            </a:r>
            <a:r>
              <a:rPr lang="pt-BR" sz="1600" dirty="0" err="1"/>
              <a:t>impressao</a:t>
            </a:r>
            <a:r>
              <a:rPr lang="pt-BR" sz="1600" dirty="0"/>
              <a:t> de </a:t>
            </a:r>
            <a:r>
              <a:rPr lang="pt-BR" sz="1600" dirty="0" err="1"/>
              <a:t>variaveis</a:t>
            </a:r>
            <a:r>
              <a:rPr lang="pt-BR" sz="1600" dirty="0"/>
              <a:t> \n");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 \n O Volume do </a:t>
            </a:r>
            <a:r>
              <a:rPr lang="pt-BR" sz="1600" dirty="0" err="1"/>
              <a:t>paralelepipedo</a:t>
            </a:r>
            <a:r>
              <a:rPr lang="pt-BR" sz="1600" dirty="0"/>
              <a:t> e %.4f ",v);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("\n  Foram produzidas %d pecas .",x);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("\n  O nome do gerente e' %s .",nome);</a:t>
            </a:r>
          </a:p>
          <a:p>
            <a:r>
              <a:rPr lang="pt-BR" sz="1600" dirty="0" err="1"/>
              <a:t>printf</a:t>
            </a:r>
            <a:r>
              <a:rPr lang="pt-BR" sz="1600" dirty="0"/>
              <a:t> ("\n  A letra escolhida foi %c .\n ",letra);</a:t>
            </a:r>
          </a:p>
          <a:p>
            <a:r>
              <a:rPr lang="pt-BR" sz="1600" dirty="0"/>
              <a:t>}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968A4C-CFC8-7F10-C176-DC05BE60A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4898631"/>
            <a:ext cx="5166650" cy="194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7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85C4520D-671C-46E2-A175-1D5677D5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56E597-DDDC-41C1-B783-DAE190E98713}" type="slidenum">
              <a:rPr lang="pt-BR" altLang="pt-BR"/>
              <a:pPr>
                <a:defRPr/>
              </a:pPr>
              <a:t>27</a:t>
            </a:fld>
            <a:endParaRPr lang="pt-BR" altLang="pt-BR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54E1693E-BA0C-414D-96AF-A2FEE5AD4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73732" name="Text Box 3">
            <a:extLst>
              <a:ext uri="{FF2B5EF4-FFF2-40B4-BE49-F238E27FC236}">
                <a16:creationId xmlns:a16="http://schemas.microsoft.com/office/drawing/2014/main" id="{7E03ECA2-7A89-473F-ACBA-C3FF5C4D5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31" y="836617"/>
            <a:ext cx="8445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pt-BR" b="1" dirty="0"/>
              <a:t> Escreva o algoritmo abaixo em linguagem C que realiza a soma de dois números.</a:t>
            </a:r>
            <a:endParaRPr lang="el-GR" altLang="pt-BR" b="1" dirty="0"/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 dirty="0"/>
              <a:t> </a:t>
            </a: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C6CD7686-59E8-4193-8481-5E3CE5EFE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1220613" name="Rectangle 5">
            <a:extLst>
              <a:ext uri="{FF2B5EF4-FFF2-40B4-BE49-F238E27FC236}">
                <a16:creationId xmlns:a16="http://schemas.microsoft.com/office/drawing/2014/main" id="{41FA3B11-D8B4-406F-B150-78DEAE55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908051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5pPr>
            <a:lvl6pPr marL="27955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6pPr>
            <a:lvl7pPr marL="32527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7pPr>
            <a:lvl8pPr marL="37099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8pPr>
            <a:lvl9pPr marL="4167188" indent="-304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pt-BR" altLang="pt-BR" b="1" dirty="0">
              <a:effectLst/>
            </a:endParaRPr>
          </a:p>
          <a:p>
            <a:pPr lvl="1" eaLnBrk="1" hangingPunct="1">
              <a:defRPr/>
            </a:pPr>
            <a:endParaRPr lang="pt-BR" altLang="pt-BR" sz="1800" dirty="0"/>
          </a:p>
        </p:txBody>
      </p:sp>
      <p:sp>
        <p:nvSpPr>
          <p:cNvPr id="1220615" name="Rectangle 7">
            <a:extLst>
              <a:ext uri="{FF2B5EF4-FFF2-40B4-BE49-F238E27FC236}">
                <a16:creationId xmlns:a16="http://schemas.microsoft.com/office/drawing/2014/main" id="{76D000DA-B388-4FCF-AF1E-B54CCD9D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456" y="1703567"/>
            <a:ext cx="5545559" cy="28931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sz="1400" b="1" dirty="0"/>
              <a:t>algoritmo "soma"</a:t>
            </a:r>
          </a:p>
          <a:p>
            <a:r>
              <a:rPr lang="pt-BR" altLang="pt-BR" sz="1400" b="1" dirty="0"/>
              <a:t>var</a:t>
            </a:r>
          </a:p>
          <a:p>
            <a:r>
              <a:rPr lang="pt-BR" altLang="pt-BR" sz="1400" b="1" dirty="0"/>
              <a:t>      a, b, c: real</a:t>
            </a:r>
          </a:p>
          <a:p>
            <a:r>
              <a:rPr lang="pt-BR" altLang="pt-BR" sz="1400" b="1" dirty="0"/>
              <a:t>inicio</a:t>
            </a:r>
          </a:p>
          <a:p>
            <a:r>
              <a:rPr lang="pt-BR" altLang="pt-BR" sz="1400" b="1" dirty="0"/>
              <a:t>escreva("Entre com o primeiro numero:")</a:t>
            </a:r>
          </a:p>
          <a:p>
            <a:r>
              <a:rPr lang="pt-BR" altLang="pt-BR" sz="1400" b="1" dirty="0"/>
              <a:t>Leia (a)</a:t>
            </a:r>
          </a:p>
          <a:p>
            <a:r>
              <a:rPr lang="pt-BR" altLang="pt-BR" sz="1400" b="1" dirty="0"/>
              <a:t>Escreva("Entre com o segundo numero:")</a:t>
            </a:r>
          </a:p>
          <a:p>
            <a:r>
              <a:rPr lang="pt-BR" altLang="pt-BR" sz="1400" b="1" dirty="0"/>
              <a:t>Leia (b)</a:t>
            </a:r>
          </a:p>
          <a:p>
            <a:r>
              <a:rPr lang="pt-BR" altLang="pt-BR" sz="1400" b="1" dirty="0"/>
              <a:t>c&lt;-</a:t>
            </a:r>
            <a:r>
              <a:rPr lang="pt-BR" altLang="pt-BR" sz="1400" b="1" dirty="0" err="1"/>
              <a:t>a+b</a:t>
            </a:r>
            <a:endParaRPr lang="pt-BR" altLang="pt-BR" sz="1400" b="1" dirty="0"/>
          </a:p>
          <a:p>
            <a:r>
              <a:rPr lang="pt-BR" altLang="pt-BR" sz="1400" b="1" dirty="0" err="1"/>
              <a:t>Escreval</a:t>
            </a:r>
            <a:r>
              <a:rPr lang="pt-BR" altLang="pt-BR" sz="1400" b="1" dirty="0"/>
              <a:t>("A soma é:",c)</a:t>
            </a:r>
          </a:p>
          <a:p>
            <a:r>
              <a:rPr lang="pt-BR" altLang="pt-BR" sz="1400" b="1" dirty="0" err="1"/>
              <a:t>Fimalgoritmo</a:t>
            </a:r>
            <a:endParaRPr lang="pt-BR" altLang="pt-BR" sz="1400" b="1" dirty="0"/>
          </a:p>
          <a:p>
            <a:endParaRPr lang="pt-BR" altLang="pt-BR" sz="1400" b="1" dirty="0"/>
          </a:p>
          <a:p>
            <a:r>
              <a:rPr lang="pt-BR" altLang="pt-BR" sz="1400" b="1" dirty="0"/>
              <a:t>c = a + b;</a:t>
            </a:r>
          </a:p>
        </p:txBody>
      </p:sp>
    </p:spTree>
    <p:extLst>
      <p:ext uri="{BB962C8B-B14F-4D97-AF65-F5344CB8AC3E}">
        <p14:creationId xmlns:p14="http://schemas.microsoft.com/office/powerpoint/2010/main" val="76232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06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EF5622-A464-484B-9BB7-89716569F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908720"/>
            <a:ext cx="8229600" cy="4608512"/>
          </a:xfrm>
        </p:spPr>
        <p:txBody>
          <a:bodyPr/>
          <a:lstStyle/>
          <a:p>
            <a:pPr marL="0" indent="352417" algn="just">
              <a:defRPr/>
            </a:pPr>
            <a:r>
              <a:rPr lang="pt-BR" altLang="pt-BR" b="1" dirty="0"/>
              <a:t>Escreva o algoritmo abaixo em linguagem C </a:t>
            </a:r>
            <a:r>
              <a:rPr lang="pt-BR" b="1" dirty="0"/>
              <a:t>para que um software a ser desenvolvido </a:t>
            </a:r>
            <a:r>
              <a:rPr lang="pt-BR" b="1" dirty="0">
                <a:highlight>
                  <a:srgbClr val="FFFF00"/>
                </a:highlight>
              </a:rPr>
              <a:t>solicite</a:t>
            </a:r>
            <a:r>
              <a:rPr lang="pt-BR" b="1" dirty="0"/>
              <a:t> do usuário as seguintes informações:</a:t>
            </a:r>
            <a:r>
              <a:rPr lang="pt-BR" b="1" u="sng" dirty="0"/>
              <a:t> nome, rua, número, bairro, CEP e cidade.</a:t>
            </a:r>
          </a:p>
          <a:p>
            <a:pPr marL="0" indent="352417" algn="just">
              <a:defRPr/>
            </a:pPr>
            <a:r>
              <a:rPr lang="pt-BR" b="1" u="sng" dirty="0"/>
              <a:t>O algoritmo deverá fazer</a:t>
            </a:r>
            <a:r>
              <a:rPr lang="pt-BR" b="1" dirty="0"/>
              <a:t> a </a:t>
            </a:r>
            <a:r>
              <a:rPr lang="pt-BR" b="1" dirty="0">
                <a:highlight>
                  <a:srgbClr val="FFFF00"/>
                </a:highlight>
              </a:rPr>
              <a:t>impressão</a:t>
            </a:r>
            <a:r>
              <a:rPr lang="pt-BR" b="1" dirty="0"/>
              <a:t> de todas as informações na tela do computador</a:t>
            </a:r>
          </a:p>
          <a:p>
            <a:pPr marL="0" indent="0" algn="just">
              <a:buFont typeface="Wingdings" panose="05000000000000000000" pitchFamily="2" charset="2"/>
              <a:buAutoNum type="alphaLcParenR"/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476A58-FB8C-415F-8CC7-D8486900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pt-BR" dirty="0"/>
          </a:p>
          <a:p>
            <a:pPr>
              <a:defRPr/>
            </a:pPr>
            <a:fld id="{745C76F7-F327-4B84-AD11-403750F909E0}" type="slidenum">
              <a:rPr lang="pt-BR" smtClean="0"/>
              <a:pPr>
                <a:defRPr/>
              </a:pPr>
              <a:t>28</a:t>
            </a:fld>
            <a:endParaRPr lang="pt-BR" dirty="0"/>
          </a:p>
        </p:txBody>
      </p:sp>
      <p:sp>
        <p:nvSpPr>
          <p:cNvPr id="90118" name="Retângulo 5">
            <a:extLst>
              <a:ext uri="{FF2B5EF4-FFF2-40B4-BE49-F238E27FC236}">
                <a16:creationId xmlns:a16="http://schemas.microsoft.com/office/drawing/2014/main" id="{D593C47A-9F1F-4BE4-903A-F22DAA5B3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724" y="2700431"/>
            <a:ext cx="6445695" cy="375487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400" b="1" dirty="0"/>
              <a:t>Algoritmo "Nome e Endereço"</a:t>
            </a:r>
          </a:p>
          <a:p>
            <a:r>
              <a:rPr lang="pt-BR" altLang="pt-BR" sz="1400" b="1" dirty="0"/>
              <a:t>Var</a:t>
            </a:r>
          </a:p>
          <a:p>
            <a:r>
              <a:rPr lang="pt-BR" altLang="pt-BR" sz="1400" b="1" dirty="0"/>
              <a:t> N1, Rua: caractere</a:t>
            </a:r>
          </a:p>
          <a:p>
            <a:r>
              <a:rPr lang="pt-BR" altLang="pt-BR" sz="1400" b="1" dirty="0"/>
              <a:t>Inicio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("#########Nome e Endereço#########")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()</a:t>
            </a:r>
          </a:p>
          <a:p>
            <a:r>
              <a:rPr lang="pt-BR" altLang="pt-BR" sz="1400" b="1" dirty="0"/>
              <a:t>      //Entrada de Dados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(" Entre com o seu nome:")</a:t>
            </a:r>
          </a:p>
          <a:p>
            <a:r>
              <a:rPr lang="pt-BR" altLang="pt-BR" sz="1400" b="1" dirty="0"/>
              <a:t>      Leia( N1 )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(" Entre com a rua em que reside:")</a:t>
            </a:r>
          </a:p>
          <a:p>
            <a:r>
              <a:rPr lang="pt-BR" altLang="pt-BR" sz="1400" b="1" dirty="0"/>
              <a:t>      Leia( Rua )</a:t>
            </a:r>
          </a:p>
          <a:p>
            <a:r>
              <a:rPr lang="pt-BR" altLang="pt-BR" sz="1400" b="1" dirty="0"/>
              <a:t>      //saída de dados</a:t>
            </a:r>
          </a:p>
          <a:p>
            <a:r>
              <a:rPr lang="pt-BR" altLang="pt-BR" sz="1400" b="1" dirty="0"/>
              <a:t>      Escreva(" O nome do usuário é: ")</a:t>
            </a:r>
          </a:p>
          <a:p>
            <a:r>
              <a:rPr lang="pt-BR" altLang="pt-BR" sz="1400" b="1" dirty="0"/>
              <a:t>      </a:t>
            </a:r>
            <a:r>
              <a:rPr lang="pt-BR" altLang="pt-BR" sz="1400" b="1" dirty="0" err="1"/>
              <a:t>Escreval</a:t>
            </a:r>
            <a:r>
              <a:rPr lang="pt-BR" altLang="pt-BR" sz="1400" b="1" dirty="0"/>
              <a:t>( N1 )</a:t>
            </a:r>
          </a:p>
          <a:p>
            <a:r>
              <a:rPr lang="pt-BR" altLang="pt-BR" sz="1400" b="1" dirty="0"/>
              <a:t>      Escreva(" O nome da rua em que reside é: ")</a:t>
            </a:r>
          </a:p>
          <a:p>
            <a:r>
              <a:rPr lang="pt-BR" altLang="pt-BR" sz="1400" b="1" dirty="0"/>
              <a:t>      Escreva(  Rua )</a:t>
            </a:r>
          </a:p>
          <a:p>
            <a:r>
              <a:rPr lang="pt-BR" altLang="pt-BR" sz="1400" b="1" dirty="0" err="1"/>
              <a:t>Fimalgoritmo</a:t>
            </a:r>
            <a:endParaRPr lang="pt-BR" alt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602226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A1C17DB-9963-481C-9830-F258E5C2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48E35-1F3C-4ADF-8353-FCE29197445C}" type="slidenum">
              <a:rPr lang="pt-BR" altLang="pt-BR"/>
              <a:pPr>
                <a:defRPr/>
              </a:pPr>
              <a:t>29</a:t>
            </a:fld>
            <a:endParaRPr lang="pt-BR" altLang="pt-BR" dirty="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C92F701C-3A63-4DC6-8693-D5C3DD0D4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B2B9A33E-692A-466D-A756-B024C7C56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77830" name="Rectangle 5">
            <a:extLst>
              <a:ext uri="{FF2B5EF4-FFF2-40B4-BE49-F238E27FC236}">
                <a16:creationId xmlns:a16="http://schemas.microsoft.com/office/drawing/2014/main" id="{25A3FCB9-515E-454F-BDEA-DC9CC0748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b="1" dirty="0"/>
              <a:t>Escreva o algoritmo abaixo em linguagem C que realiza o cálculo da média final dos alunos com 4 notas.</a:t>
            </a:r>
          </a:p>
        </p:txBody>
      </p:sp>
      <p:sp>
        <p:nvSpPr>
          <p:cNvPr id="1226760" name="Rectangle 8">
            <a:extLst>
              <a:ext uri="{FF2B5EF4-FFF2-40B4-BE49-F238E27FC236}">
                <a16:creationId xmlns:a16="http://schemas.microsoft.com/office/drawing/2014/main" id="{574A5725-8028-45A1-9073-06D74D4F1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9" y="2276875"/>
            <a:ext cx="5400675" cy="310854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pt-BR" sz="1400" b="1" dirty="0"/>
              <a:t>algoritmo "media"</a:t>
            </a:r>
          </a:p>
          <a:p>
            <a:endParaRPr lang="pt-BR" altLang="pt-BR" sz="1400" b="1" dirty="0"/>
          </a:p>
          <a:p>
            <a:r>
              <a:rPr lang="pt-BR" altLang="pt-BR" sz="1400" b="1" dirty="0"/>
              <a:t>var  media, nota1, nota2, nota3, nota4: real</a:t>
            </a:r>
          </a:p>
          <a:p>
            <a:endParaRPr lang="pt-BR" altLang="pt-BR" sz="1400" b="1" dirty="0"/>
          </a:p>
          <a:p>
            <a:r>
              <a:rPr lang="pt-BR" altLang="pt-BR" sz="1400" b="1" dirty="0"/>
              <a:t>inicio</a:t>
            </a:r>
          </a:p>
          <a:p>
            <a:r>
              <a:rPr lang="pt-BR" altLang="pt-BR" sz="1400" b="1" dirty="0" err="1"/>
              <a:t>Escreval</a:t>
            </a:r>
            <a:r>
              <a:rPr lang="pt-BR" altLang="pt-BR" sz="1400" b="1" dirty="0"/>
              <a:t>("Entre com as 4 notas")</a:t>
            </a:r>
          </a:p>
          <a:p>
            <a:r>
              <a:rPr lang="pt-BR" altLang="pt-BR" sz="1400" b="1" dirty="0"/>
              <a:t>Leia(Nota1)</a:t>
            </a:r>
          </a:p>
          <a:p>
            <a:r>
              <a:rPr lang="pt-BR" altLang="pt-BR" sz="1400" b="1" dirty="0"/>
              <a:t>Leia(Nota2)</a:t>
            </a:r>
          </a:p>
          <a:p>
            <a:r>
              <a:rPr lang="pt-BR" altLang="pt-BR" sz="1400" b="1" dirty="0"/>
              <a:t>Leia(Nota3)</a:t>
            </a:r>
          </a:p>
          <a:p>
            <a:r>
              <a:rPr lang="pt-BR" altLang="pt-BR" sz="1400" b="1" dirty="0"/>
              <a:t>Leia(Nota4)</a:t>
            </a:r>
          </a:p>
          <a:p>
            <a:r>
              <a:rPr lang="pt-BR" altLang="pt-BR" sz="1400" b="1" dirty="0"/>
              <a:t>Media:=(Nota1 + Nota2 + Nota3 +nota4)/4</a:t>
            </a:r>
          </a:p>
          <a:p>
            <a:r>
              <a:rPr lang="pt-BR" altLang="pt-BR" sz="1400" b="1" dirty="0"/>
              <a:t>Escreva(" A media é:",media)</a:t>
            </a:r>
          </a:p>
          <a:p>
            <a:endParaRPr lang="pt-BR" altLang="pt-BR" sz="1400" b="1" dirty="0"/>
          </a:p>
          <a:p>
            <a:r>
              <a:rPr lang="pt-BR" altLang="pt-BR" sz="1400" b="1" dirty="0" err="1"/>
              <a:t>fimalgoritmo</a:t>
            </a:r>
            <a:endParaRPr lang="pt-BR" alt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11061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676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Número de Slide 3">
            <a:extLst>
              <a:ext uri="{FF2B5EF4-FFF2-40B4-BE49-F238E27FC236}">
                <a16:creationId xmlns:a16="http://schemas.microsoft.com/office/drawing/2014/main" id="{AFA704D1-91B6-4D18-81B6-374D150B2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431C75-128C-41FF-B2F7-34A916547780}" type="slidenum">
              <a:rPr lang="pt-BR" altLang="pt-BR"/>
              <a:pPr>
                <a:defRPr/>
              </a:pPr>
              <a:t>30</a:t>
            </a:fld>
            <a:endParaRPr lang="pt-BR" altLang="pt-BR"/>
          </a:p>
        </p:txBody>
      </p:sp>
      <p:sp>
        <p:nvSpPr>
          <p:cNvPr id="231427" name="Rectangle 2">
            <a:extLst>
              <a:ext uri="{FF2B5EF4-FFF2-40B4-BE49-F238E27FC236}">
                <a16:creationId xmlns:a16="http://schemas.microsoft.com/office/drawing/2014/main" id="{4BA4FFC8-656D-485F-8527-FDD8ED61E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1428" name="Text Box 3">
            <a:extLst>
              <a:ext uri="{FF2B5EF4-FFF2-40B4-BE49-F238E27FC236}">
                <a16:creationId xmlns:a16="http://schemas.microsoft.com/office/drawing/2014/main" id="{1FFAAEA6-959F-4CF7-AC7F-9E359BCE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>
              <a:solidFill>
                <a:schemeClr val="bg2"/>
              </a:solidFill>
            </a:endParaRPr>
          </a:p>
        </p:txBody>
      </p:sp>
      <p:sp>
        <p:nvSpPr>
          <p:cNvPr id="231429" name="Rectangle 4">
            <a:extLst>
              <a:ext uri="{FF2B5EF4-FFF2-40B4-BE49-F238E27FC236}">
                <a16:creationId xmlns:a16="http://schemas.microsoft.com/office/drawing/2014/main" id="{5F4651AD-6401-46B0-A876-B1F16869E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1430" name="Rectangle 5">
            <a:extLst>
              <a:ext uri="{FF2B5EF4-FFF2-40B4-BE49-F238E27FC236}">
                <a16:creationId xmlns:a16="http://schemas.microsoft.com/office/drawing/2014/main" id="{8375DF5A-C999-44BD-9A7F-5E1B1CAD7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/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b="1"/>
          </a:p>
        </p:txBody>
      </p:sp>
      <p:sp>
        <p:nvSpPr>
          <p:cNvPr id="231431" name="Rectangle 6">
            <a:extLst>
              <a:ext uri="{FF2B5EF4-FFF2-40B4-BE49-F238E27FC236}">
                <a16:creationId xmlns:a16="http://schemas.microsoft.com/office/drawing/2014/main" id="{5E6CE07D-586F-47DF-A167-AAEB8D131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484313"/>
            <a:ext cx="84963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93663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22325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230313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383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pt-BR" b="1" dirty="0"/>
              <a:t>Escreva o algoritmo abaixo em linguagem C</a:t>
            </a:r>
            <a:endParaRPr lang="el-GR" altLang="pt-BR" b="1" dirty="0"/>
          </a:p>
          <a:p>
            <a:pPr lvl="1" eaLnBrk="1" hangingPunct="1">
              <a:lnSpc>
                <a:spcPct val="80000"/>
              </a:lnSpc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 sz="1800" b="1" dirty="0"/>
          </a:p>
        </p:txBody>
      </p:sp>
      <p:sp>
        <p:nvSpPr>
          <p:cNvPr id="1234951" name="Rectangle 7">
            <a:extLst>
              <a:ext uri="{FF2B5EF4-FFF2-40B4-BE49-F238E27FC236}">
                <a16:creationId xmlns:a16="http://schemas.microsoft.com/office/drawing/2014/main" id="{ED0EA7DE-6830-4C20-B922-B96AC9253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29" y="2170117"/>
            <a:ext cx="6251575" cy="33239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Veloc</a:t>
            </a:r>
            <a:endParaRPr lang="pt-BR" altLang="pt-BR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endParaRPr lang="pt-BR" altLang="pt-BR" sz="1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Variaveis</a:t>
            </a:r>
            <a:endParaRPr lang="pt-BR" altLang="pt-BR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V,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a, DS, S,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: Real</a:t>
            </a:r>
          </a:p>
          <a:p>
            <a:pPr eaLnBrk="1" hangingPunct="1">
              <a:defRPr/>
            </a:pPr>
            <a:endParaRPr lang="pt-BR" altLang="pt-BR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Inicio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Escreva(“Entre com os valores de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a, S e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”) 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Leia (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a,S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</a:t>
            </a:r>
            <a:r>
              <a:rPr lang="pt-BR" altLang="pt-B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DS=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S-So</a:t>
            </a:r>
            <a:endParaRPr lang="pt-BR" altLang="pt-BR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V=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sqrt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pt-BR" altLang="pt-BR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</a:t>
            </a: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**2 + 2*a*DS)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Escreva (“A velocidade e:”,V)</a:t>
            </a:r>
          </a:p>
          <a:p>
            <a:pPr eaLnBrk="1" hangingPunct="1">
              <a:defRPr/>
            </a:pPr>
            <a:r>
              <a:rPr lang="pt-BR" alt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Fim</a:t>
            </a:r>
          </a:p>
        </p:txBody>
      </p:sp>
      <p:graphicFrame>
        <p:nvGraphicFramePr>
          <p:cNvPr id="1234952" name="Object 8">
            <a:extLst>
              <a:ext uri="{FF2B5EF4-FFF2-40B4-BE49-F238E27FC236}">
                <a16:creationId xmlns:a16="http://schemas.microsoft.com/office/drawing/2014/main" id="{D249C035-06F7-40EC-A595-0EBB50BC11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2588" y="2708279"/>
          <a:ext cx="20177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032" imgH="304668" progId="Equation.3">
                  <p:embed/>
                </p:oleObj>
              </mc:Choice>
              <mc:Fallback>
                <p:oleObj name="Equation" r:id="rId3" imgW="1079032" imgH="30466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2588" y="2708279"/>
                        <a:ext cx="20177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4953" name="Object 9">
            <a:extLst>
              <a:ext uri="{FF2B5EF4-FFF2-40B4-BE49-F238E27FC236}">
                <a16:creationId xmlns:a16="http://schemas.microsoft.com/office/drawing/2014/main" id="{2650A3B9-CB82-4ED2-8758-AC3457B3BD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8304" y="2132017"/>
          <a:ext cx="182721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900" imgH="241300" progId="Equation.3">
                  <p:embed/>
                </p:oleObj>
              </mc:Choice>
              <mc:Fallback>
                <p:oleObj name="Equation" r:id="rId5" imgW="9779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4" y="2132017"/>
                        <a:ext cx="182721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4954" name="Text Box 10">
            <a:extLst>
              <a:ext uri="{FF2B5EF4-FFF2-40B4-BE49-F238E27FC236}">
                <a16:creationId xmlns:a16="http://schemas.microsoft.com/office/drawing/2014/main" id="{73220365-B2CE-42F5-B58F-1A4C48EE6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6144796"/>
            <a:ext cx="1317027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pt-BR" altLang="pt-BR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Torricelli.cpp</a:t>
            </a:r>
          </a:p>
        </p:txBody>
      </p:sp>
      <p:sp>
        <p:nvSpPr>
          <p:cNvPr id="231436" name="CaixaDeTexto 1">
            <a:extLst>
              <a:ext uri="{FF2B5EF4-FFF2-40B4-BE49-F238E27FC236}">
                <a16:creationId xmlns:a16="http://schemas.microsoft.com/office/drawing/2014/main" id="{8008126E-AFF5-4B1A-9D64-3FFBDEAC9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999" y="5934670"/>
            <a:ext cx="7831137" cy="92333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Obs</a:t>
            </a:r>
            <a:r>
              <a:rPr lang="pt-BR" altLang="pt-BR" dirty="0">
                <a:solidFill>
                  <a:schemeClr val="tx1"/>
                </a:solidFill>
              </a:rPr>
              <a:t>: a instrução que calcula uma raiz quadrada na linguagem C é: </a:t>
            </a:r>
            <a:r>
              <a:rPr lang="pt-BR" altLang="pt-BR" dirty="0" err="1">
                <a:solidFill>
                  <a:schemeClr val="tx1"/>
                </a:solidFill>
              </a:rPr>
              <a:t>sqrt</a:t>
            </a:r>
            <a:r>
              <a:rPr lang="pt-BR" altLang="pt-BR" dirty="0">
                <a:solidFill>
                  <a:schemeClr val="tx1"/>
                </a:solidFill>
              </a:rPr>
              <a:t>( ).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No escopo (início do código’) é necessário escrever a instrução #include &lt;</a:t>
            </a:r>
            <a:r>
              <a:rPr lang="pt-BR" altLang="pt-BR" dirty="0" err="1">
                <a:solidFill>
                  <a:schemeClr val="tx1"/>
                </a:solidFill>
              </a:rPr>
              <a:t>math.h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3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34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34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495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1AEFD6AE-6BF2-4259-927C-924B63E3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0B544D-434B-4232-A329-53C39B709490}" type="slidenum">
              <a:rPr lang="pt-BR" altLang="pt-BR"/>
              <a:pPr>
                <a:defRPr/>
              </a:pPr>
              <a:t>31</a:t>
            </a:fld>
            <a:endParaRPr lang="pt-BR" altLang="pt-BR"/>
          </a:p>
        </p:txBody>
      </p:sp>
      <p:sp>
        <p:nvSpPr>
          <p:cNvPr id="233475" name="Rectangle 2">
            <a:extLst>
              <a:ext uri="{FF2B5EF4-FFF2-40B4-BE49-F238E27FC236}">
                <a16:creationId xmlns:a16="http://schemas.microsoft.com/office/drawing/2014/main" id="{5EEA15F9-9E85-438C-8ED4-0004365C2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3476" name="Text Box 3">
            <a:extLst>
              <a:ext uri="{FF2B5EF4-FFF2-40B4-BE49-F238E27FC236}">
                <a16:creationId xmlns:a16="http://schemas.microsoft.com/office/drawing/2014/main" id="{2A4B127A-8C46-45FC-AD52-A74FF7C47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>
              <a:solidFill>
                <a:schemeClr val="bg2"/>
              </a:solidFill>
            </a:endParaRPr>
          </a:p>
        </p:txBody>
      </p:sp>
      <p:sp>
        <p:nvSpPr>
          <p:cNvPr id="233477" name="Rectangle 4">
            <a:extLst>
              <a:ext uri="{FF2B5EF4-FFF2-40B4-BE49-F238E27FC236}">
                <a16:creationId xmlns:a16="http://schemas.microsoft.com/office/drawing/2014/main" id="{7F33BAE6-EE50-48F8-B400-F8E2AFDC1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3478" name="Rectangle 5">
            <a:extLst>
              <a:ext uri="{FF2B5EF4-FFF2-40B4-BE49-F238E27FC236}">
                <a16:creationId xmlns:a16="http://schemas.microsoft.com/office/drawing/2014/main" id="{EA88D50E-D912-4128-8537-2774F1104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196975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/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b="1"/>
              <a:t>Escreva em linguagem C o algoritmo abaixo escrito em pseudocódigo</a:t>
            </a:r>
          </a:p>
        </p:txBody>
      </p:sp>
      <p:sp>
        <p:nvSpPr>
          <p:cNvPr id="233479" name="Rectangle 7">
            <a:extLst>
              <a:ext uri="{FF2B5EF4-FFF2-40B4-BE49-F238E27FC236}">
                <a16:creationId xmlns:a16="http://schemas.microsoft.com/office/drawing/2014/main" id="{5E536B1C-5099-47DE-A6E0-61A3F8FED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7" y="4756428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  <p:sp>
        <p:nvSpPr>
          <p:cNvPr id="1237000" name="Rectangle 8">
            <a:extLst>
              <a:ext uri="{FF2B5EF4-FFF2-40B4-BE49-F238E27FC236}">
                <a16:creationId xmlns:a16="http://schemas.microsoft.com/office/drawing/2014/main" id="{5C78B6A9-4D8F-471B-8482-6A14043D8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92" y="2930525"/>
            <a:ext cx="6842125" cy="35157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 "Estoque medio"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Est_Med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Qde_Min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Qde_Max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: Real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Inicio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Escreval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("entre com o valor da quantidade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mímnima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e máxima")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Leia (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Qde_Min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Qde_Max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Est_Med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:= (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Qde_Min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Qde_Max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)/2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Escreva ("O estoque médio é:",</a:t>
            </a: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Est_Med</a:t>
            </a:r>
            <a:r>
              <a:rPr lang="pt-BR" altLang="pt-BR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pt-BR" altLang="pt-BR" b="1" dirty="0" err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Fimalgoritmo</a:t>
            </a:r>
            <a:endParaRPr lang="pt-BR" altLang="pt-BR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37001" name="Text Box 9">
            <a:extLst>
              <a:ext uri="{FF2B5EF4-FFF2-40B4-BE49-F238E27FC236}">
                <a16:creationId xmlns:a16="http://schemas.microsoft.com/office/drawing/2014/main" id="{BEE5BBAC-45CA-41B4-8780-C62EFB79D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2" y="6521451"/>
            <a:ext cx="1734577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pt-BR" altLang="pt-BR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Estoq_medio.cpp</a:t>
            </a:r>
          </a:p>
        </p:txBody>
      </p:sp>
      <p:grpSp>
        <p:nvGrpSpPr>
          <p:cNvPr id="233482" name="Grupo 2">
            <a:extLst>
              <a:ext uri="{FF2B5EF4-FFF2-40B4-BE49-F238E27FC236}">
                <a16:creationId xmlns:a16="http://schemas.microsoft.com/office/drawing/2014/main" id="{31361333-39D5-4AB0-9EE6-6C6947F95B5A}"/>
              </a:ext>
            </a:extLst>
          </p:cNvPr>
          <p:cNvGrpSpPr>
            <a:grpSpLocks/>
          </p:cNvGrpSpPr>
          <p:nvPr/>
        </p:nvGrpSpPr>
        <p:grpSpPr bwMode="auto">
          <a:xfrm>
            <a:off x="2027243" y="1909767"/>
            <a:ext cx="7921625" cy="865187"/>
            <a:chOff x="503237" y="1910555"/>
            <a:chExt cx="7921625" cy="865188"/>
          </a:xfrm>
        </p:grpSpPr>
        <p:pic>
          <p:nvPicPr>
            <p:cNvPr id="233483" name="Picture 6">
              <a:extLst>
                <a:ext uri="{FF2B5EF4-FFF2-40B4-BE49-F238E27FC236}">
                  <a16:creationId xmlns:a16="http://schemas.microsoft.com/office/drawing/2014/main" id="{7148673F-E0C7-4802-BC95-975064636F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46" t="37286" r="13818" b="52344"/>
            <a:stretch>
              <a:fillRect/>
            </a:stretch>
          </p:blipFill>
          <p:spPr bwMode="auto">
            <a:xfrm>
              <a:off x="503237" y="1910555"/>
              <a:ext cx="7921625" cy="865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CE2E373A-6503-4075-B186-7F60752FFFFE}"/>
                </a:ext>
              </a:extLst>
            </p:cNvPr>
            <p:cNvSpPr/>
            <p:nvPr/>
          </p:nvSpPr>
          <p:spPr bwMode="auto">
            <a:xfrm>
              <a:off x="539749" y="2140742"/>
              <a:ext cx="2736851" cy="3693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endParaRPr lang="pt-B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7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700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BC8DD7ED-7B30-447C-911D-5B24BB57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B97307-C413-4AC7-AC8A-3A26B0A0A95E}" type="slidenum">
              <a:rPr lang="pt-BR" altLang="pt-BR"/>
              <a:pPr>
                <a:defRPr/>
              </a:pPr>
              <a:t>32</a:t>
            </a:fld>
            <a:endParaRPr lang="pt-BR" altLang="pt-BR"/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9AA37058-CD8C-4E46-871E-1D6496EF6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b="1">
                <a:latin typeface="Times New Roman" panose="02020603050405020304" pitchFamily="18" charset="0"/>
              </a:rPr>
              <a:t> </a:t>
            </a:r>
            <a:endParaRPr lang="en-US" altLang="pt-BR" b="1"/>
          </a:p>
        </p:txBody>
      </p:sp>
      <p:sp>
        <p:nvSpPr>
          <p:cNvPr id="235524" name="Text Box 3">
            <a:extLst>
              <a:ext uri="{FF2B5EF4-FFF2-40B4-BE49-F238E27FC236}">
                <a16:creationId xmlns:a16="http://schemas.microsoft.com/office/drawing/2014/main" id="{C0EE6757-C777-4509-B386-7054C77E6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661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b="1">
              <a:solidFill>
                <a:schemeClr val="bg2"/>
              </a:solidFill>
            </a:endParaRPr>
          </a:p>
        </p:txBody>
      </p:sp>
      <p:sp>
        <p:nvSpPr>
          <p:cNvPr id="235525" name="Rectangle 4">
            <a:extLst>
              <a:ext uri="{FF2B5EF4-FFF2-40B4-BE49-F238E27FC236}">
                <a16:creationId xmlns:a16="http://schemas.microsoft.com/office/drawing/2014/main" id="{B0483C32-6967-4E40-9AEC-781FA0D5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232" y="58454"/>
            <a:ext cx="2487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1600" b="1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1600"/>
              <a:t> </a:t>
            </a:r>
            <a:endParaRPr lang="en-US" altLang="pt-BR" sz="1600" b="1"/>
          </a:p>
        </p:txBody>
      </p:sp>
      <p:sp>
        <p:nvSpPr>
          <p:cNvPr id="235526" name="Rectangle 5">
            <a:extLst>
              <a:ext uri="{FF2B5EF4-FFF2-40B4-BE49-F238E27FC236}">
                <a16:creationId xmlns:a16="http://schemas.microsoft.com/office/drawing/2014/main" id="{711FE9E0-F1AE-4D02-9E26-0237AFCC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1196975"/>
            <a:ext cx="1108923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85738" indent="263525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885825" indent="-163513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370013" indent="-3048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854200" indent="-3048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338388" indent="-3048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7955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32527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7099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4167188" indent="-304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 sz="800" b="1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b="1" dirty="0"/>
              <a:t>Escreva em linguagem C o algoritmo abaixo escrito em pseudocódigo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pt-BR" dirty="0"/>
              <a:t>O </a:t>
            </a:r>
            <a:r>
              <a:rPr lang="pt-BR" altLang="pt-BR" dirty="0" err="1"/>
              <a:t>algortimo</a:t>
            </a:r>
            <a:r>
              <a:rPr lang="pt-BR" altLang="pt-BR" dirty="0"/>
              <a:t> faz a leitura de dois pontos quaisquer no plano, p1(x1,y1) e p2(x2,y2) e calcule a distância entre eles.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dirty="0"/>
          </a:p>
          <a:p>
            <a:pPr eaLnBrk="1" hangingPunct="1"/>
            <a:endParaRPr lang="pt-BR" altLang="pt-BR" dirty="0"/>
          </a:p>
          <a:p>
            <a:pPr algn="l" eaLnBrk="1" hangingPunct="1">
              <a:buFont typeface="Wingdings" panose="05000000000000000000" pitchFamily="2" charset="2"/>
              <a:buChar char="n"/>
            </a:pPr>
            <a:endParaRPr lang="pt-BR" altLang="pt-BR" b="1" dirty="0"/>
          </a:p>
        </p:txBody>
      </p:sp>
      <p:sp>
        <p:nvSpPr>
          <p:cNvPr id="235527" name="Rectangle 6">
            <a:extLst>
              <a:ext uri="{FF2B5EF4-FFF2-40B4-BE49-F238E27FC236}">
                <a16:creationId xmlns:a16="http://schemas.microsoft.com/office/drawing/2014/main" id="{AC4EA118-9222-4775-B9A1-E2D113085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7" y="4756428"/>
            <a:ext cx="184731" cy="36933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t-BR" altLang="pt-BR">
              <a:solidFill>
                <a:schemeClr val="tx1"/>
              </a:solidFill>
            </a:endParaRPr>
          </a:p>
        </p:txBody>
      </p:sp>
      <p:sp>
        <p:nvSpPr>
          <p:cNvPr id="1239047" name="Rectangle 7">
            <a:extLst>
              <a:ext uri="{FF2B5EF4-FFF2-40B4-BE49-F238E27FC236}">
                <a16:creationId xmlns:a16="http://schemas.microsoft.com/office/drawing/2014/main" id="{EA91745C-8D06-44DA-BCF4-98118F92A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5" y="2689227"/>
            <a:ext cx="5834063" cy="30469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 </a:t>
            </a:r>
            <a:r>
              <a:rPr lang="pt-BR" altLang="pt-BR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distancia_dois_pontos</a:t>
            </a:r>
            <a:endParaRPr lang="pt-BR" altLang="pt-BR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Variáveis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x2,x1,y2,y1,d : Real</a:t>
            </a:r>
          </a:p>
          <a:p>
            <a:pPr eaLnBrk="1" hangingPunct="1">
              <a:defRPr/>
            </a:pPr>
            <a:endParaRPr lang="pt-BR" altLang="pt-BR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Inicio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Escreva(“Entre com os pontos x1,y1 e x2,y2”)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Leia (x1, y1)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Leia (x2, y2)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d = </a:t>
            </a:r>
            <a:r>
              <a:rPr lang="pt-BR" altLang="pt-BR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sqrt</a:t>
            </a: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((x2-x1)**2+(y2-y1)**2) </a:t>
            </a: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Escreva (“A distancia entre os dois pontos e:”,d)</a:t>
            </a:r>
          </a:p>
          <a:p>
            <a:pPr eaLnBrk="1" hangingPunct="1">
              <a:defRPr/>
            </a:pPr>
            <a:endParaRPr lang="pt-BR" altLang="pt-BR" sz="16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pt-BR" alt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Fim</a:t>
            </a:r>
          </a:p>
        </p:txBody>
      </p:sp>
      <p:graphicFrame>
        <p:nvGraphicFramePr>
          <p:cNvPr id="235529" name="Object 8">
            <a:extLst>
              <a:ext uri="{FF2B5EF4-FFF2-40B4-BE49-F238E27FC236}">
                <a16:creationId xmlns:a16="http://schemas.microsoft.com/office/drawing/2014/main" id="{6DDB25AA-73CA-485F-B891-EE77E209C8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726" y="2349504"/>
          <a:ext cx="31369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700" imgH="292100" progId="Equation.3">
                  <p:embed/>
                </p:oleObj>
              </mc:Choice>
              <mc:Fallback>
                <p:oleObj name="Equation" r:id="rId3" imgW="1663700" imgH="292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2349504"/>
                        <a:ext cx="31369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49" name="Text Box 9">
            <a:extLst>
              <a:ext uri="{FF2B5EF4-FFF2-40B4-BE49-F238E27FC236}">
                <a16:creationId xmlns:a16="http://schemas.microsoft.com/office/drawing/2014/main" id="{EFF19A90-8F0D-45D1-98C0-3345BE2E4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65" y="6520354"/>
            <a:ext cx="2055371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pt-BR" altLang="pt-BR" sz="1600" dirty="0">
                <a:solidFill>
                  <a:srgbClr val="000000"/>
                </a:solidFill>
              </a:rPr>
              <a:t>Distancia2pontos.alg</a:t>
            </a:r>
          </a:p>
        </p:txBody>
      </p:sp>
      <p:sp>
        <p:nvSpPr>
          <p:cNvPr id="235531" name="CaixaDeTexto 10">
            <a:extLst>
              <a:ext uri="{FF2B5EF4-FFF2-40B4-BE49-F238E27FC236}">
                <a16:creationId xmlns:a16="http://schemas.microsoft.com/office/drawing/2014/main" id="{191EA42E-482F-450A-BAA0-21595351B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832" y="5657852"/>
            <a:ext cx="6696744" cy="120032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 err="1">
                <a:solidFill>
                  <a:schemeClr val="tx1"/>
                </a:solidFill>
              </a:rPr>
              <a:t>Obs</a:t>
            </a:r>
            <a:r>
              <a:rPr lang="pt-BR" altLang="pt-BR" dirty="0">
                <a:solidFill>
                  <a:schemeClr val="tx1"/>
                </a:solidFill>
              </a:rPr>
              <a:t>: a instrução que calcula o quadrado de um número na linguagem C é: </a:t>
            </a:r>
            <a:r>
              <a:rPr lang="pt-BR" altLang="pt-BR" dirty="0" err="1">
                <a:solidFill>
                  <a:schemeClr val="tx1"/>
                </a:solidFill>
              </a:rPr>
              <a:t>pow</a:t>
            </a:r>
            <a:r>
              <a:rPr lang="pt-BR" altLang="pt-BR" dirty="0">
                <a:solidFill>
                  <a:schemeClr val="tx1"/>
                </a:solidFill>
              </a:rPr>
              <a:t>(x,2).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 dirty="0">
                <a:solidFill>
                  <a:schemeClr val="tx1"/>
                </a:solidFill>
              </a:rPr>
              <a:t>No escopo (início do código’) é necessário escrever a instrução #include &lt;</a:t>
            </a:r>
            <a:r>
              <a:rPr lang="pt-BR" altLang="pt-BR" dirty="0" err="1">
                <a:solidFill>
                  <a:schemeClr val="tx1"/>
                </a:solidFill>
              </a:rPr>
              <a:t>math.h</a:t>
            </a:r>
            <a:r>
              <a:rPr lang="pt-BR" altLang="pt-BR" dirty="0">
                <a:solidFill>
                  <a:schemeClr val="tx1"/>
                </a:solidFill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4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6A589-3CB9-6401-07AF-50E52DEC7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CF5CBD-1DBB-7553-26F3-800C3DE11A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iniciam na página 16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9D59E4-699A-1346-21E4-08CAD017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33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F30FF26-EAC9-62D6-2157-6F78F75C0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8" y="4423682"/>
            <a:ext cx="362902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00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E26FA03-0A34-5AE2-E165-D34341F8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34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5D183A7-739F-BDDC-A886-41849E40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7651"/>
            <a:ext cx="8206669" cy="535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82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035BE-A640-95E1-FF8E-E86F2C4B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5D60C-949D-E21B-92FC-1F0F986C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Complemento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A3CA5-A05E-7FA5-BF52-3FDB7E753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Exercícios do livro iniciam na página 46</a:t>
            </a:r>
          </a:p>
          <a:p>
            <a:r>
              <a:rPr lang="pt-BR" dirty="0"/>
              <a:t>Tipos de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71E8E2-9BE4-4741-9DF8-163FF34D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FCE15-2783-440C-88D3-6F0C5FF98BE2}" type="slidenum">
              <a:rPr lang="pt-BR" smtClean="0"/>
              <a:pPr>
                <a:defRPr/>
              </a:pPr>
              <a:t>35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343DA8-0675-9D63-F0EE-DA5B5D76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808" y="4975679"/>
            <a:ext cx="362902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56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E98D0F3-D5EE-AF83-AC85-AAFBBD45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4DC04-8A4B-4E30-A426-0A3F9942E9A1}" type="slidenum">
              <a:rPr lang="pt-BR" smtClean="0"/>
              <a:pPr>
                <a:defRPr/>
              </a:pPr>
              <a:t>36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2D664B-BA57-AB05-59A4-2C9DC7A08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836712"/>
            <a:ext cx="6642176" cy="45029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021A327-B1F8-2920-8114-7787901DE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908720"/>
            <a:ext cx="5535382" cy="388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79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FC14F-12A4-4A4B-BB71-E73CCD3E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42" y="1484784"/>
            <a:ext cx="10972800" cy="1371600"/>
          </a:xfrm>
          <a:solidFill>
            <a:srgbClr val="000000"/>
          </a:solidFill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1º. Laboratório até aqui.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1099106-8252-1B7B-B1B9-C77A6FB2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144B-F5AC-45C6-AD42-115683CD4F04}" type="slidenum">
              <a:rPr lang="pt-BR" smtClean="0"/>
              <a:pPr>
                <a:defRPr/>
              </a:pPr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6548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91D566F8-7E19-42F5-84D4-5E94589D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BCE731E1-C4CE-41C4-A5DD-4831C334021C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38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8771" name="Rectangle 2">
            <a:extLst>
              <a:ext uri="{FF2B5EF4-FFF2-40B4-BE49-F238E27FC236}">
                <a16:creationId xmlns:a16="http://schemas.microsoft.com/office/drawing/2014/main" id="{88F8F890-1C66-4E01-9E81-E1FCAEAA9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Linguagem de Programação C</a:t>
            </a:r>
            <a:br>
              <a:rPr lang="pt-BR" altLang="pt-BR" dirty="0">
                <a:effectLst/>
              </a:rPr>
            </a:br>
            <a:r>
              <a:rPr lang="pt-BR" altLang="pt-BR" dirty="0">
                <a:effectLst/>
              </a:rPr>
              <a:t>Estrutura de Controle - </a:t>
            </a:r>
            <a:r>
              <a:rPr lang="pt-BR" altLang="pt-BR" dirty="0" err="1">
                <a:effectLst/>
              </a:rPr>
              <a:t>Seqüenciação</a:t>
            </a:r>
            <a:endParaRPr lang="pt-BR" altLang="pt-BR" dirty="0">
              <a:effectLst/>
            </a:endParaRPr>
          </a:p>
        </p:txBody>
      </p:sp>
      <p:sp>
        <p:nvSpPr>
          <p:cNvPr id="1282053" name="Rectangle 5">
            <a:extLst>
              <a:ext uri="{FF2B5EF4-FFF2-40B4-BE49-F238E27FC236}">
                <a16:creationId xmlns:a16="http://schemas.microsoft.com/office/drawing/2014/main" id="{66F0DB04-3E9D-422F-8734-AAFA9A08DB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solidFill>
            <a:srgbClr val="000000"/>
          </a:solidFill>
        </p:spPr>
        <p:txBody>
          <a:bodyPr/>
          <a:lstStyle/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>
                <a:solidFill>
                  <a:schemeClr val="tx1"/>
                </a:solidFill>
                <a:effectLst/>
              </a:rPr>
              <a:t>#include &lt;</a:t>
            </a:r>
            <a:r>
              <a:rPr lang="pt-BR" altLang="pt-BR" dirty="0" err="1">
                <a:solidFill>
                  <a:schemeClr val="tx1"/>
                </a:solidFill>
                <a:effectLst/>
              </a:rPr>
              <a:t>stdio.h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&gt;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solidFill>
                  <a:schemeClr val="tx1"/>
                </a:solidFill>
                <a:effectLst/>
              </a:rPr>
              <a:t>int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</a:t>
            </a:r>
            <a:r>
              <a:rPr lang="pt-BR" altLang="pt-BR" dirty="0" err="1">
                <a:solidFill>
                  <a:schemeClr val="tx1"/>
                </a:solidFill>
                <a:effectLst/>
              </a:rPr>
              <a:t>main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()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>
                <a:solidFill>
                  <a:schemeClr val="tx1"/>
                </a:solidFill>
                <a:effectLst/>
              </a:rPr>
              <a:t>{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solidFill>
                  <a:schemeClr val="tx1"/>
                </a:solidFill>
                <a:effectLst/>
              </a:rPr>
              <a:t>int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Dias; /* </a:t>
            </a:r>
            <a:r>
              <a:rPr lang="pt-BR" altLang="pt-BR" dirty="0" err="1">
                <a:solidFill>
                  <a:schemeClr val="tx1"/>
                </a:solidFill>
                <a:effectLst/>
              </a:rPr>
              <a:t>Declaracao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de </a:t>
            </a:r>
            <a:r>
              <a:rPr lang="pt-BR" altLang="pt-BR" dirty="0" err="1">
                <a:solidFill>
                  <a:schemeClr val="tx1"/>
                </a:solidFill>
                <a:effectLst/>
              </a:rPr>
              <a:t>Variaveis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*/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solidFill>
                  <a:schemeClr val="tx1"/>
                </a:solidFill>
                <a:effectLst/>
              </a:rPr>
              <a:t>float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Anos;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solidFill>
                  <a:schemeClr val="tx1"/>
                </a:solidFill>
                <a:effectLst/>
              </a:rPr>
              <a:t>printf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("Entre com o número de dias: "); /* Entrada de Dados*/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solidFill>
                  <a:schemeClr val="tx1"/>
                </a:solidFill>
                <a:effectLst/>
              </a:rPr>
              <a:t>scanf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("%</a:t>
            </a:r>
            <a:r>
              <a:rPr lang="pt-BR" altLang="pt-BR" dirty="0" err="1">
                <a:solidFill>
                  <a:schemeClr val="tx1"/>
                </a:solidFill>
                <a:effectLst/>
              </a:rPr>
              <a:t>d",&amp;Dias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);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>
                <a:solidFill>
                  <a:schemeClr val="tx1"/>
                </a:solidFill>
                <a:effectLst/>
              </a:rPr>
              <a:t>Anos=Dias/365.25; /* </a:t>
            </a:r>
            <a:r>
              <a:rPr lang="pt-BR" altLang="pt-BR" dirty="0" err="1">
                <a:solidFill>
                  <a:schemeClr val="tx1"/>
                </a:solidFill>
                <a:effectLst/>
              </a:rPr>
              <a:t>Conversao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Dias-&gt;Anos */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solidFill>
                  <a:schemeClr val="tx1"/>
                </a:solidFill>
                <a:effectLst/>
              </a:rPr>
              <a:t>printf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("\n\</a:t>
            </a:r>
            <a:r>
              <a:rPr lang="pt-BR" altLang="pt-BR" dirty="0" err="1">
                <a:solidFill>
                  <a:schemeClr val="tx1"/>
                </a:solidFill>
                <a:effectLst/>
              </a:rPr>
              <a:t>n%d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 dias equivalem a %f anos.\n",</a:t>
            </a:r>
            <a:r>
              <a:rPr lang="pt-BR" altLang="pt-BR" dirty="0" err="1">
                <a:solidFill>
                  <a:schemeClr val="tx1"/>
                </a:solidFill>
                <a:effectLst/>
              </a:rPr>
              <a:t>Dias,Anos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);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dirty="0" err="1">
                <a:solidFill>
                  <a:schemeClr val="tx1"/>
                </a:solidFill>
                <a:effectLst/>
              </a:rPr>
              <a:t>return</a:t>
            </a:r>
            <a:r>
              <a:rPr lang="pt-BR" altLang="pt-BR" dirty="0">
                <a:solidFill>
                  <a:schemeClr val="tx1"/>
                </a:solidFill>
                <a:effectLst/>
              </a:rPr>
              <a:t>(0);</a:t>
            </a:r>
          </a:p>
          <a:p>
            <a:pPr algn="just" eaLnBrk="1" hangingPunct="1">
              <a:spcAft>
                <a:spcPct val="0"/>
              </a:spcAft>
              <a:defRPr/>
            </a:pPr>
            <a:r>
              <a:rPr lang="pt-BR" altLang="pt-BR" sz="1200" dirty="0">
                <a:solidFill>
                  <a:schemeClr val="tx1"/>
                </a:solidFill>
                <a:effectLst/>
              </a:rPr>
              <a:t>}</a:t>
            </a:r>
          </a:p>
          <a:p>
            <a:pPr eaLnBrk="1" hangingPunct="1">
              <a:defRPr/>
            </a:pPr>
            <a:endParaRPr lang="pt-BR" altLang="pt-BR" sz="1200" dirty="0">
              <a:solidFill>
                <a:schemeClr val="tx1"/>
              </a:solidFill>
            </a:endParaRPr>
          </a:p>
        </p:txBody>
      </p:sp>
      <p:sp>
        <p:nvSpPr>
          <p:cNvPr id="1282054" name="Text Box 6">
            <a:extLst>
              <a:ext uri="{FF2B5EF4-FFF2-40B4-BE49-F238E27FC236}">
                <a16:creationId xmlns:a16="http://schemas.microsoft.com/office/drawing/2014/main" id="{46FFFC8C-2995-4EED-8378-1E14748F7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554" y="4956176"/>
            <a:ext cx="2532745" cy="369332"/>
          </a:xfrm>
          <a:prstGeom prst="rect">
            <a:avLst/>
          </a:prstGeom>
          <a:solidFill>
            <a:srgbClr val="FFC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segundo programa.cpp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F88CE31-59CB-4684-B8B4-C16F5BBC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48C36889-D6B9-4602-84DA-6CBA42ABA7E7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39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89218" name="Rectangle 2">
            <a:extLst>
              <a:ext uri="{FF2B5EF4-FFF2-40B4-BE49-F238E27FC236}">
                <a16:creationId xmlns:a16="http://schemas.microsoft.com/office/drawing/2014/main" id="{00441BA8-32DC-4973-84B7-14AD5AA20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/>
              <a:t>Exemplo</a:t>
            </a:r>
          </a:p>
        </p:txBody>
      </p:sp>
      <p:sp>
        <p:nvSpPr>
          <p:cNvPr id="1289219" name="Rectangle 3">
            <a:extLst>
              <a:ext uri="{FF2B5EF4-FFF2-40B4-BE49-F238E27FC236}">
                <a16:creationId xmlns:a16="http://schemas.microsoft.com/office/drawing/2014/main" id="{FE617E43-9F45-4EA8-BCFB-E0E237121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buClr>
                <a:srgbClr val="000000"/>
              </a:buClr>
              <a:defRPr/>
            </a:pPr>
            <a:r>
              <a:rPr lang="pt-BR" altLang="pt-BR" dirty="0"/>
              <a:t>Fazer o exercício abaixo em Linguagem C:</a:t>
            </a:r>
          </a:p>
          <a:p>
            <a:pPr algn="l" eaLnBrk="1" hangingPunct="1">
              <a:buClr>
                <a:srgbClr val="000000"/>
              </a:buClr>
              <a:defRPr/>
            </a:pPr>
            <a:r>
              <a:rPr lang="pt-BR" altLang="pt-BR" dirty="0"/>
              <a:t>Calcular e apresentar em vídeo o volume de uma caixa retangular utilizando a fórmula: Volume = Comprimento * Altura * Largura.</a:t>
            </a:r>
          </a:p>
        </p:txBody>
      </p:sp>
      <p:sp>
        <p:nvSpPr>
          <p:cNvPr id="1289220" name="Text Box 4">
            <a:extLst>
              <a:ext uri="{FF2B5EF4-FFF2-40B4-BE49-F238E27FC236}">
                <a16:creationId xmlns:a16="http://schemas.microsoft.com/office/drawing/2014/main" id="{4AA44053-B0FA-4DC5-B9B3-DAA3BB66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553" y="4956176"/>
            <a:ext cx="2473241" cy="369332"/>
          </a:xfrm>
          <a:prstGeom prst="rect">
            <a:avLst/>
          </a:prstGeom>
          <a:solidFill>
            <a:srgbClr val="FFC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BR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Terceiro programa.cpp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CA043DF-3E0A-4C8B-BF9A-CBBA894A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275ABDAF-B7E2-411B-A5BC-AB50D5E8D105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40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02530" name="Rectangle 2">
            <a:extLst>
              <a:ext uri="{FF2B5EF4-FFF2-40B4-BE49-F238E27FC236}">
                <a16:creationId xmlns:a16="http://schemas.microsoft.com/office/drawing/2014/main" id="{CD8B8C26-2839-46D0-A6E9-7D7282237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/>
              <a:t>Exercícios</a:t>
            </a:r>
          </a:p>
        </p:txBody>
      </p:sp>
      <p:sp>
        <p:nvSpPr>
          <p:cNvPr id="1302531" name="Rectangle 3">
            <a:extLst>
              <a:ext uri="{FF2B5EF4-FFF2-40B4-BE49-F238E27FC236}">
                <a16:creationId xmlns:a16="http://schemas.microsoft.com/office/drawing/2014/main" id="{5D55EB00-2B21-4D3A-9525-57C8D3A9E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1" y="1125539"/>
            <a:ext cx="7689851" cy="4608512"/>
          </a:xfrm>
          <a:solidFill>
            <a:srgbClr val="000000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/* programa volume de um </a:t>
            </a:r>
            <a:r>
              <a:rPr lang="pt-BR" altLang="pt-BR" sz="1600" dirty="0" err="1">
                <a:solidFill>
                  <a:schemeClr val="tx1"/>
                </a:solidFill>
              </a:rPr>
              <a:t>paralelepipedo</a:t>
            </a:r>
            <a:r>
              <a:rPr lang="pt-BR" altLang="pt-BR" sz="1600" dirty="0">
                <a:solidFill>
                  <a:schemeClr val="tx1"/>
                </a:solidFill>
              </a:rPr>
              <a:t>*/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#include &lt;</a:t>
            </a:r>
            <a:r>
              <a:rPr lang="pt-BR" altLang="pt-BR" sz="1600" dirty="0" err="1">
                <a:solidFill>
                  <a:schemeClr val="tx1"/>
                </a:solidFill>
              </a:rPr>
              <a:t>iostream</a:t>
            </a:r>
            <a:r>
              <a:rPr lang="pt-BR" altLang="pt-BR" sz="1600" dirty="0">
                <a:solidFill>
                  <a:schemeClr val="tx1"/>
                </a:solidFill>
              </a:rPr>
              <a:t>&gt;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#include &lt;</a:t>
            </a:r>
            <a:r>
              <a:rPr lang="pt-BR" altLang="pt-BR" sz="1600" dirty="0" err="1">
                <a:solidFill>
                  <a:schemeClr val="tx1"/>
                </a:solidFill>
              </a:rPr>
              <a:t>conio.h</a:t>
            </a:r>
            <a:r>
              <a:rPr lang="pt-BR" altLang="pt-BR" sz="1600" dirty="0">
                <a:solidFill>
                  <a:schemeClr val="tx1"/>
                </a:solidFill>
              </a:rPr>
              <a:t>&gt;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 err="1">
                <a:solidFill>
                  <a:schemeClr val="tx1"/>
                </a:solidFill>
              </a:rPr>
              <a:t>main</a:t>
            </a:r>
            <a:r>
              <a:rPr lang="pt-BR" altLang="pt-BR" sz="1600" dirty="0">
                <a:solidFill>
                  <a:schemeClr val="tx1"/>
                </a:solidFill>
              </a:rPr>
              <a:t>()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{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1600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/* </a:t>
            </a:r>
            <a:r>
              <a:rPr lang="pt-BR" altLang="pt-BR" sz="1600" dirty="0" err="1">
                <a:solidFill>
                  <a:schemeClr val="tx1"/>
                </a:solidFill>
              </a:rPr>
              <a:t>Declaracao</a:t>
            </a:r>
            <a:r>
              <a:rPr lang="pt-BR" altLang="pt-BR" sz="1600" dirty="0">
                <a:solidFill>
                  <a:schemeClr val="tx1"/>
                </a:solidFill>
              </a:rPr>
              <a:t> de </a:t>
            </a:r>
            <a:r>
              <a:rPr lang="pt-BR" altLang="pt-BR" sz="1600" dirty="0" err="1">
                <a:solidFill>
                  <a:schemeClr val="tx1"/>
                </a:solidFill>
              </a:rPr>
              <a:t>Variaveis</a:t>
            </a:r>
            <a:r>
              <a:rPr lang="pt-BR" altLang="pt-BR" sz="1600" dirty="0">
                <a:solidFill>
                  <a:schemeClr val="tx1"/>
                </a:solidFill>
              </a:rPr>
              <a:t> */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float </a:t>
            </a:r>
            <a:r>
              <a:rPr lang="pt-BR" altLang="pt-BR" sz="1600" dirty="0" err="1">
                <a:solidFill>
                  <a:schemeClr val="tx1"/>
                </a:solidFill>
              </a:rPr>
              <a:t>a,c,l,v</a:t>
            </a:r>
            <a:r>
              <a:rPr lang="pt-BR" altLang="pt-BR" sz="1600" dirty="0">
                <a:solidFill>
                  <a:schemeClr val="tx1"/>
                </a:solidFill>
              </a:rPr>
              <a:t>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/* Entrada de Dados*/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("Esse programa calcula o volume de um </a:t>
            </a:r>
            <a:r>
              <a:rPr lang="pt-BR" altLang="pt-BR" sz="1600" dirty="0" err="1">
                <a:solidFill>
                  <a:schemeClr val="tx1"/>
                </a:solidFill>
              </a:rPr>
              <a:t>paralelepipedo</a:t>
            </a:r>
            <a:r>
              <a:rPr lang="pt-BR" altLang="pt-BR" sz="1600" dirty="0">
                <a:solidFill>
                  <a:schemeClr val="tx1"/>
                </a:solidFill>
              </a:rPr>
              <a:t> \n\n");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altLang="pt-BR" sz="1600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("Entre com a altura do </a:t>
            </a:r>
            <a:r>
              <a:rPr lang="pt-BR" altLang="pt-BR" sz="1600" dirty="0" err="1">
                <a:solidFill>
                  <a:schemeClr val="tx1"/>
                </a:solidFill>
              </a:rPr>
              <a:t>paralelepipedo</a:t>
            </a:r>
            <a:r>
              <a:rPr lang="pt-BR" altLang="pt-BR" sz="1600" dirty="0">
                <a:solidFill>
                  <a:schemeClr val="tx1"/>
                </a:solidFill>
              </a:rPr>
              <a:t> : ");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 ("%</a:t>
            </a:r>
            <a:r>
              <a:rPr lang="pt-BR" altLang="pt-BR" sz="1600" dirty="0" err="1">
                <a:solidFill>
                  <a:schemeClr val="tx1"/>
                </a:solidFill>
              </a:rPr>
              <a:t>f",&amp;a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("Entre com a largura do </a:t>
            </a:r>
            <a:r>
              <a:rPr lang="pt-BR" altLang="pt-BR" sz="1600" dirty="0" err="1">
                <a:solidFill>
                  <a:schemeClr val="tx1"/>
                </a:solidFill>
              </a:rPr>
              <a:t>paralelepipedo</a:t>
            </a:r>
            <a:r>
              <a:rPr lang="pt-BR" altLang="pt-BR" sz="1600" dirty="0">
                <a:solidFill>
                  <a:schemeClr val="tx1"/>
                </a:solidFill>
              </a:rPr>
              <a:t>: ");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 ("%</a:t>
            </a:r>
            <a:r>
              <a:rPr lang="pt-BR" altLang="pt-BR" sz="1600" dirty="0" err="1">
                <a:solidFill>
                  <a:schemeClr val="tx1"/>
                </a:solidFill>
              </a:rPr>
              <a:t>f",&amp;l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("Entre com a comprimento do </a:t>
            </a:r>
            <a:r>
              <a:rPr lang="pt-BR" altLang="pt-BR" sz="1600" dirty="0" err="1">
                <a:solidFill>
                  <a:schemeClr val="tx1"/>
                </a:solidFill>
              </a:rPr>
              <a:t>paralelepipedo</a:t>
            </a:r>
            <a:r>
              <a:rPr lang="pt-BR" altLang="pt-BR" sz="1600" dirty="0">
                <a:solidFill>
                  <a:schemeClr val="tx1"/>
                </a:solidFill>
              </a:rPr>
              <a:t>: ");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scanf</a:t>
            </a:r>
            <a:r>
              <a:rPr lang="pt-BR" altLang="pt-BR" sz="1600" dirty="0">
                <a:solidFill>
                  <a:schemeClr val="tx1"/>
                </a:solidFill>
              </a:rPr>
              <a:t> ("%</a:t>
            </a:r>
            <a:r>
              <a:rPr lang="pt-BR" altLang="pt-BR" sz="1600" dirty="0" err="1">
                <a:solidFill>
                  <a:schemeClr val="tx1"/>
                </a:solidFill>
              </a:rPr>
              <a:t>f",&amp;c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v=(a*l*c); /* Calculo do volume */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</a:rPr>
              <a:t>printf</a:t>
            </a:r>
            <a:r>
              <a:rPr lang="pt-BR" altLang="pt-BR" sz="1600" dirty="0">
                <a:solidFill>
                  <a:schemeClr val="tx1"/>
                </a:solidFill>
              </a:rPr>
              <a:t> ("\n O Volume do </a:t>
            </a:r>
            <a:r>
              <a:rPr lang="pt-BR" altLang="pt-BR" sz="1600" dirty="0" err="1">
                <a:solidFill>
                  <a:schemeClr val="tx1"/>
                </a:solidFill>
              </a:rPr>
              <a:t>paralelepipedo</a:t>
            </a:r>
            <a:r>
              <a:rPr lang="pt-BR" altLang="pt-BR" sz="1600" dirty="0">
                <a:solidFill>
                  <a:schemeClr val="tx1"/>
                </a:solidFill>
              </a:rPr>
              <a:t> e %f .\n\</a:t>
            </a:r>
            <a:r>
              <a:rPr lang="pt-BR" altLang="pt-BR" sz="1600" dirty="0" err="1">
                <a:solidFill>
                  <a:schemeClr val="tx1"/>
                </a:solidFill>
              </a:rPr>
              <a:t>n",v</a:t>
            </a:r>
            <a:r>
              <a:rPr lang="pt-BR" altLang="pt-BR" sz="1600" dirty="0">
                <a:solidFill>
                  <a:schemeClr val="tx1"/>
                </a:solidFill>
              </a:rPr>
              <a:t>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/* Verificação Aluno */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   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//    </a:t>
            </a:r>
            <a:r>
              <a:rPr lang="pt-BR" altLang="pt-BR" sz="1600" dirty="0" err="1">
                <a:solidFill>
                  <a:schemeClr val="tx1"/>
                </a:solidFill>
              </a:rPr>
              <a:t>getch</a:t>
            </a:r>
            <a:r>
              <a:rPr lang="pt-BR" altLang="pt-BR" sz="1600" dirty="0">
                <a:solidFill>
                  <a:schemeClr val="tx1"/>
                </a:solidFill>
              </a:rPr>
              <a:t>();</a:t>
            </a:r>
          </a:p>
          <a:p>
            <a:pPr algn="l" eaLnBrk="1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16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72F70CB-9D78-43F5-800C-676DCBCE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3ED75C79-2E82-44E6-8C61-0FF9AFBAD76F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41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91266" name="Rectangle 2">
            <a:extLst>
              <a:ext uri="{FF2B5EF4-FFF2-40B4-BE49-F238E27FC236}">
                <a16:creationId xmlns:a16="http://schemas.microsoft.com/office/drawing/2014/main" id="{52FDD1D9-580A-4544-A165-6F5BA74D5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/>
              <a:t>Exercícios</a:t>
            </a:r>
          </a:p>
        </p:txBody>
      </p:sp>
      <p:sp>
        <p:nvSpPr>
          <p:cNvPr id="1291267" name="Rectangle 3">
            <a:extLst>
              <a:ext uri="{FF2B5EF4-FFF2-40B4-BE49-F238E27FC236}">
                <a16:creationId xmlns:a16="http://schemas.microsoft.com/office/drawing/2014/main" id="{FC0FA18C-E400-4D95-AC92-22763A54E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buClr>
                <a:srgbClr val="000000"/>
              </a:buClr>
              <a:defRPr/>
            </a:pPr>
            <a:r>
              <a:rPr lang="pt-BR" altLang="pt-BR" dirty="0"/>
              <a:t>Fazer o exercício abaixo em Linguagem C:</a:t>
            </a:r>
          </a:p>
          <a:p>
            <a:pPr algn="l" eaLnBrk="1" hangingPunct="1">
              <a:buClr>
                <a:srgbClr val="000000"/>
              </a:buClr>
              <a:defRPr/>
            </a:pPr>
            <a:r>
              <a:rPr lang="pt-BR" altLang="pt-BR" b="1" dirty="0"/>
              <a:t>Calcular e apresentar</a:t>
            </a:r>
            <a:r>
              <a:rPr lang="pt-BR" altLang="pt-BR" dirty="0"/>
              <a:t> o valor do </a:t>
            </a:r>
            <a:r>
              <a:rPr lang="pt-BR" altLang="pt-BR" b="1" dirty="0"/>
              <a:t>volume</a:t>
            </a:r>
            <a:r>
              <a:rPr lang="pt-BR" altLang="pt-BR" dirty="0"/>
              <a:t> de uma lata de óleo sabendo-se que Volume = 3.14159 * RAIO² * ALTURA</a:t>
            </a:r>
            <a:r>
              <a:rPr lang="pt-BR" altLang="pt-BR" sz="1200" dirty="0"/>
              <a:t>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0C45192-0336-4421-AE85-B4F613F51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32" indent="-28574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2971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160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349" indent="-228594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89D49ACC-6121-45BF-B129-A9A479BFE540}" type="slidenum">
              <a:rPr lang="pt-BR" altLang="pt-BR" b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42</a:t>
            </a:fld>
            <a:endParaRPr lang="pt-BR" altLang="pt-BR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03554" name="Rectangle 2">
            <a:extLst>
              <a:ext uri="{FF2B5EF4-FFF2-40B4-BE49-F238E27FC236}">
                <a16:creationId xmlns:a16="http://schemas.microsoft.com/office/drawing/2014/main" id="{FA82ED4B-04B8-4D32-89FC-58047E8A1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altLang="pt-BR"/>
              <a:t>Exercícios</a:t>
            </a:r>
          </a:p>
        </p:txBody>
      </p:sp>
      <p:sp>
        <p:nvSpPr>
          <p:cNvPr id="1303555" name="Rectangle 3">
            <a:extLst>
              <a:ext uri="{FF2B5EF4-FFF2-40B4-BE49-F238E27FC236}">
                <a16:creationId xmlns:a16="http://schemas.microsoft.com/office/drawing/2014/main" id="{8933A5BD-4F36-46CF-B059-AE2078E53D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908054"/>
            <a:ext cx="8229600" cy="5400675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#include &lt;iostream&gt;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#include &lt;conio.h&gt;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main()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{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altLang="pt-BR"/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/* Declaracao de Variaveis */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float r,l,v;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/* Entrada de Dados*/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printf ("Esse programa calcula o volume de uma lata \n\n");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pt-BR" altLang="pt-BR"/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printf ("Entre com o raio : ");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scanf ("%f",&amp;r);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printf ("Entre com a altura: ");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scanf ("%f",&amp;l);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v=(3.14*r*r*l); /* Calculo do volume */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printf ("\n O Volume da lata e %.2f .\n\n",v);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/* Verificação Aluno */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  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   getch();</a:t>
            </a:r>
          </a:p>
          <a:p>
            <a:pPr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/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E1CA5-92B8-C057-1615-CAC4D50C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effectLst/>
              </a:rPr>
              <a:t>2. ESTRUTURAS BÁSICAS EM C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B85025-7293-C177-A163-A0F17887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pt-PT" dirty="0">
                <a:effectLst/>
              </a:rPr>
              <a:t>2.1 Operadores Aritméticos, Relacionais e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2.1.1 Operadores Aritméticos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2.1.2 Operadores Relacionais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2.1.3 Operadores Lógicos</a:t>
            </a:r>
            <a:endParaRPr lang="pt-BR" dirty="0">
              <a:effectLst/>
            </a:endParaRPr>
          </a:p>
          <a:p>
            <a:pPr algn="l"/>
            <a:r>
              <a:rPr lang="pt-PT" dirty="0">
                <a:effectLst/>
              </a:rPr>
              <a:t>2.2 Aplicações e Exemplos do Uso de Operadores na Linguagem C</a:t>
            </a:r>
            <a:endParaRPr lang="pt-BR" dirty="0">
              <a:effectLst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146E5A-FB57-1C8D-CB65-DBCE4200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5801B-C5F4-4CE9-9972-7743B2F4CE51}" type="slidenum">
              <a:rPr lang="pt-BR" smtClean="0"/>
              <a:pPr>
                <a:defRPr/>
              </a:pPr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134272"/>
      </p:ext>
    </p:extLst>
  </p:cSld>
  <p:clrMapOvr>
    <a:masterClrMapping/>
  </p:clrMapOvr>
</p:sld>
</file>

<file path=ppt/theme/theme1.xml><?xml version="1.0" encoding="utf-8"?>
<a:theme xmlns:a="http://schemas.openxmlformats.org/drawingml/2006/main" name="1_Texturizado">
  <a:themeElements>
    <a:clrScheme name="Texturizad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izad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itchFamily="34" charset="0"/>
          </a:defRPr>
        </a:defPPr>
      </a:lstStyle>
    </a:lnDef>
  </a:objectDefaults>
  <a:extraClrSchemeLst>
    <a:extraClrScheme>
      <a:clrScheme name="Texturizad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izad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izad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1A93D2CB35614FA45893B80519B5BE" ma:contentTypeVersion="7" ma:contentTypeDescription="Create a new document." ma:contentTypeScope="" ma:versionID="d32bca65d171a9d281eaa1d09b22a141">
  <xsd:schema xmlns:xsd="http://www.w3.org/2001/XMLSchema" xmlns:xs="http://www.w3.org/2001/XMLSchema" xmlns:p="http://schemas.microsoft.com/office/2006/metadata/properties" xmlns:ns2="d4266379-08b9-4d9e-9b69-a807b6d0c153" targetNamespace="http://schemas.microsoft.com/office/2006/metadata/properties" ma:root="true" ma:fieldsID="acb9d443e8de62518614f44453d58b28" ns2:_="">
    <xsd:import namespace="d4266379-08b9-4d9e-9b69-a807b6d0c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66379-08b9-4d9e-9b69-a807b6d0c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28C404-2E1F-4F61-B28A-D5E2D8E059A5}"/>
</file>

<file path=customXml/itemProps2.xml><?xml version="1.0" encoding="utf-8"?>
<ds:datastoreItem xmlns:ds="http://schemas.openxmlformats.org/officeDocument/2006/customXml" ds:itemID="{737DD2A4-0D2C-4E4F-A4AD-E340375237CB}"/>
</file>

<file path=customXml/itemProps3.xml><?xml version="1.0" encoding="utf-8"?>
<ds:datastoreItem xmlns:ds="http://schemas.openxmlformats.org/officeDocument/2006/customXml" ds:itemID="{CCA88EEE-ABC0-4696-86BC-B4B78C7DA26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53428</TotalTime>
  <Words>3933</Words>
  <Application>Microsoft Office PowerPoint</Application>
  <PresentationFormat>Widescreen</PresentationFormat>
  <Paragraphs>648</Paragraphs>
  <Slides>43</Slides>
  <Notes>28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Arial</vt:lpstr>
      <vt:lpstr>Arial Unicode MS</vt:lpstr>
      <vt:lpstr>Tahoma</vt:lpstr>
      <vt:lpstr>Times New Roman</vt:lpstr>
      <vt:lpstr>Wingdings</vt:lpstr>
      <vt:lpstr>1_Texturizado</vt:lpstr>
      <vt:lpstr>Equation</vt:lpstr>
      <vt:lpstr>Linguagem de Programação em C Prof. Dr. Pedro Euphrásio</vt:lpstr>
      <vt:lpstr>Codeblocks</vt:lpstr>
      <vt:lpstr>Codeblocks</vt:lpstr>
      <vt:lpstr>Apresentação do PowerPoint</vt:lpstr>
      <vt:lpstr>2.1 - Estrutura/execução de um programa</vt:lpstr>
      <vt:lpstr>Tipos de dados</vt:lpstr>
      <vt:lpstr>Tipos de dados  Inteiro</vt:lpstr>
      <vt:lpstr>Tipos de dados  Float (ponto flutuante)</vt:lpstr>
      <vt:lpstr>Tipos de dados (vetor de caracter) Strings</vt:lpstr>
      <vt:lpstr> Tipos de dados (vetor de caracter)  Strings</vt:lpstr>
      <vt:lpstr> Tipos de dados (vetor de caracter) Strings</vt:lpstr>
      <vt:lpstr> Tipos de dados (vetor de caracter)  Strings</vt:lpstr>
      <vt:lpstr>Exemplos: variável char</vt:lpstr>
      <vt:lpstr>Exemplos: variáveis int, float e char</vt:lpstr>
      <vt:lpstr>Exemplos: variáveis int, float e char</vt:lpstr>
      <vt:lpstr>Declaração de Constantes</vt:lpstr>
      <vt:lpstr>Comandos de Entrada</vt:lpstr>
      <vt:lpstr>Comandos de Entrada</vt:lpstr>
      <vt:lpstr>Comandos de Entrada</vt:lpstr>
      <vt:lpstr>Comandos de Entrada</vt:lpstr>
      <vt:lpstr>Comandos de Entrada</vt:lpstr>
      <vt:lpstr>Comandos de Entrada</vt:lpstr>
      <vt:lpstr>Comandos de Entrada: fgets() </vt:lpstr>
      <vt:lpstr>Comandos de Entrada:  fgets(nome_da_variavel, sizeof(nome_da_variavel), stdin);</vt:lpstr>
      <vt:lpstr> 2.7 - Comandos de entrada e saída Função  getch() e getche()</vt:lpstr>
      <vt:lpstr>Comandos de Saída  Função printf()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Complemento</vt:lpstr>
      <vt:lpstr>Apresentação do PowerPoint</vt:lpstr>
      <vt:lpstr>Complemento</vt:lpstr>
      <vt:lpstr>Apresentação do PowerPoint</vt:lpstr>
      <vt:lpstr>1º. Laboratório até aqui.</vt:lpstr>
      <vt:lpstr> Linguagem de Programação C Estrutura de Controle - Seqüenciação</vt:lpstr>
      <vt:lpstr>Exemplo</vt:lpstr>
      <vt:lpstr>Exercícios</vt:lpstr>
      <vt:lpstr>Exercícios</vt:lpstr>
      <vt:lpstr>Exercícios</vt:lpstr>
      <vt:lpstr>2. ESTRUTURAS BÁSICAS EM C</vt:lpstr>
    </vt:vector>
  </TitlesOfParts>
  <Company>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INSTITUTO TECNOLOGICO DE AERO</dc:creator>
  <cp:lastModifiedBy>PEDRO EUPHRASIO</cp:lastModifiedBy>
  <cp:revision>756</cp:revision>
  <dcterms:created xsi:type="dcterms:W3CDTF">2003-07-17T00:20:49Z</dcterms:created>
  <dcterms:modified xsi:type="dcterms:W3CDTF">2025-08-26T14:15:05Z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0x010100C31A93D2CB35614FA45893B80519B5BE</vt:lpwstr>
  </property>
</Properties>
</file>