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94"/>
  </p:notesMasterIdLst>
  <p:handoutMasterIdLst>
    <p:handoutMasterId r:id="rId95"/>
  </p:handoutMasterIdLst>
  <p:sldIdLst>
    <p:sldId id="1058" r:id="rId2"/>
    <p:sldId id="1012" r:id="rId3"/>
    <p:sldId id="904" r:id="rId4"/>
    <p:sldId id="905" r:id="rId5"/>
    <p:sldId id="903" r:id="rId6"/>
    <p:sldId id="902" r:id="rId7"/>
    <p:sldId id="909" r:id="rId8"/>
    <p:sldId id="911" r:id="rId9"/>
    <p:sldId id="910" r:id="rId10"/>
    <p:sldId id="1078" r:id="rId11"/>
    <p:sldId id="1088" r:id="rId12"/>
    <p:sldId id="912" r:id="rId13"/>
    <p:sldId id="913" r:id="rId14"/>
    <p:sldId id="1056" r:id="rId15"/>
    <p:sldId id="1068" r:id="rId16"/>
    <p:sldId id="682" r:id="rId17"/>
    <p:sldId id="1005" r:id="rId18"/>
    <p:sldId id="1066" r:id="rId19"/>
    <p:sldId id="1006" r:id="rId20"/>
    <p:sldId id="1067" r:id="rId21"/>
    <p:sldId id="878" r:id="rId22"/>
    <p:sldId id="724" r:id="rId23"/>
    <p:sldId id="879" r:id="rId24"/>
    <p:sldId id="880" r:id="rId25"/>
    <p:sldId id="881" r:id="rId26"/>
    <p:sldId id="882" r:id="rId27"/>
    <p:sldId id="883" r:id="rId28"/>
    <p:sldId id="884" r:id="rId29"/>
    <p:sldId id="885" r:id="rId30"/>
    <p:sldId id="886" r:id="rId31"/>
    <p:sldId id="887" r:id="rId32"/>
    <p:sldId id="888" r:id="rId33"/>
    <p:sldId id="889" r:id="rId34"/>
    <p:sldId id="975" r:id="rId35"/>
    <p:sldId id="890" r:id="rId36"/>
    <p:sldId id="892" r:id="rId37"/>
    <p:sldId id="893" r:id="rId38"/>
    <p:sldId id="894" r:id="rId39"/>
    <p:sldId id="895" r:id="rId40"/>
    <p:sldId id="974" r:id="rId41"/>
    <p:sldId id="1040" r:id="rId42"/>
    <p:sldId id="1044" r:id="rId43"/>
    <p:sldId id="1045" r:id="rId44"/>
    <p:sldId id="896" r:id="rId45"/>
    <p:sldId id="897" r:id="rId46"/>
    <p:sldId id="898" r:id="rId47"/>
    <p:sldId id="1048" r:id="rId48"/>
    <p:sldId id="899" r:id="rId49"/>
    <p:sldId id="1046" r:id="rId50"/>
    <p:sldId id="900" r:id="rId51"/>
    <p:sldId id="1047" r:id="rId52"/>
    <p:sldId id="917" r:id="rId53"/>
    <p:sldId id="1061" r:id="rId54"/>
    <p:sldId id="977" r:id="rId55"/>
    <p:sldId id="978" r:id="rId56"/>
    <p:sldId id="979" r:id="rId57"/>
    <p:sldId id="833" r:id="rId58"/>
    <p:sldId id="980" r:id="rId59"/>
    <p:sldId id="981" r:id="rId60"/>
    <p:sldId id="982" r:id="rId61"/>
    <p:sldId id="983" r:id="rId62"/>
    <p:sldId id="834" r:id="rId63"/>
    <p:sldId id="984" r:id="rId64"/>
    <p:sldId id="985" r:id="rId65"/>
    <p:sldId id="835" r:id="rId66"/>
    <p:sldId id="836" r:id="rId67"/>
    <p:sldId id="837" r:id="rId68"/>
    <p:sldId id="986" r:id="rId69"/>
    <p:sldId id="1050" r:id="rId70"/>
    <p:sldId id="987" r:id="rId71"/>
    <p:sldId id="988" r:id="rId72"/>
    <p:sldId id="842" r:id="rId73"/>
    <p:sldId id="843" r:id="rId74"/>
    <p:sldId id="989" r:id="rId75"/>
    <p:sldId id="844" r:id="rId76"/>
    <p:sldId id="990" r:id="rId77"/>
    <p:sldId id="1073" r:id="rId78"/>
    <p:sldId id="1075" r:id="rId79"/>
    <p:sldId id="991" r:id="rId80"/>
    <p:sldId id="992" r:id="rId81"/>
    <p:sldId id="993" r:id="rId82"/>
    <p:sldId id="994" r:id="rId83"/>
    <p:sldId id="998" r:id="rId84"/>
    <p:sldId id="999" r:id="rId85"/>
    <p:sldId id="995" r:id="rId86"/>
    <p:sldId id="996" r:id="rId87"/>
    <p:sldId id="997" r:id="rId88"/>
    <p:sldId id="1049" r:id="rId89"/>
    <p:sldId id="1069" r:id="rId90"/>
    <p:sldId id="1070" r:id="rId91"/>
    <p:sldId id="1071" r:id="rId92"/>
    <p:sldId id="1072" r:id="rId9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6600"/>
    <a:srgbClr val="CC0000"/>
    <a:srgbClr val="009999"/>
    <a:srgbClr val="009900"/>
    <a:srgbClr val="00E7E2"/>
    <a:srgbClr val="00B0AC"/>
    <a:srgbClr val="BDD2E9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437" autoAdjust="0"/>
  </p:normalViewPr>
  <p:slideViewPr>
    <p:cSldViewPr>
      <p:cViewPr varScale="1">
        <p:scale>
          <a:sx n="70" d="100"/>
          <a:sy n="70" d="100"/>
        </p:scale>
        <p:origin x="1046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411"/>
    </p:cViewPr>
  </p:sorterViewPr>
  <p:notesViewPr>
    <p:cSldViewPr>
      <p:cViewPr varScale="1">
        <p:scale>
          <a:sx n="53" d="100"/>
          <a:sy n="53" d="100"/>
        </p:scale>
        <p:origin x="-18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customXml" Target="../customXml/item3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10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C3E22C5-49E1-4DF9-A545-47B5ABA4B3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4C96268-F3F4-4C0C-89B6-86229C956BF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678E64E3-BDC3-4441-B398-3532D9575F2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7F415B9C-90A4-4E66-BC5C-89CD68EDEA8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D2E1B55-8E05-40DE-8E40-0F12E932A46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64E1D65-247C-484B-856C-160A63D121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ECB6F90-5B74-4F9A-AAD0-FA3C91A4960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45E03E4-2B1D-447F-9D08-7BA3061BAD2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ABE83A7C-00F0-4571-ABA6-641FFB2F8F0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noProof="0"/>
              <a:t>Click to edit Master text styles</a:t>
            </a:r>
          </a:p>
          <a:p>
            <a:pPr lvl="1"/>
            <a:r>
              <a:rPr lang="en-US" altLang="pt-BR" noProof="0"/>
              <a:t>Second level</a:t>
            </a:r>
          </a:p>
          <a:p>
            <a:pPr lvl="2"/>
            <a:r>
              <a:rPr lang="en-US" altLang="pt-BR" noProof="0"/>
              <a:t>Third level</a:t>
            </a:r>
          </a:p>
          <a:p>
            <a:pPr lvl="3"/>
            <a:r>
              <a:rPr lang="en-US" altLang="pt-BR" noProof="0"/>
              <a:t>Fourth level</a:t>
            </a:r>
          </a:p>
          <a:p>
            <a:pPr lvl="4"/>
            <a:r>
              <a:rPr lang="en-US" altLang="pt-BR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2AED54D6-B7D6-4FA9-8A90-C49ED5442B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48D815C7-6E7F-487A-A288-6610E6D1C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F18CBD4-2DB1-436D-B016-CD34C691980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F2485E1F-8A9E-4DCC-B56A-3331CF9656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FE46AA8B-5188-49BB-81AE-35048385B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2095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B4246879-F6FA-456F-BDEC-CB557EBF15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BC7FD5BC-E6C3-4838-9F12-B552C77F5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2621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7">
            <a:extLst>
              <a:ext uri="{FF2B5EF4-FFF2-40B4-BE49-F238E27FC236}">
                <a16:creationId xmlns:a16="http://schemas.microsoft.com/office/drawing/2014/main" id="{17F8F259-A4B2-48A1-A300-9846B16F82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9DDFE5F-1184-4993-B025-2E8315B0F627}" type="slidenum">
              <a:rPr lang="en-US" altLang="pt-BR" smtClean="0"/>
              <a:pPr>
                <a:spcBef>
                  <a:spcPct val="0"/>
                </a:spcBef>
              </a:pPr>
              <a:t>6</a:t>
            </a:fld>
            <a:endParaRPr lang="en-US" altLang="pt-BR"/>
          </a:p>
        </p:txBody>
      </p:sp>
      <p:sp>
        <p:nvSpPr>
          <p:cNvPr id="355331" name="Rectangle 2">
            <a:extLst>
              <a:ext uri="{FF2B5EF4-FFF2-40B4-BE49-F238E27FC236}">
                <a16:creationId xmlns:a16="http://schemas.microsoft.com/office/drawing/2014/main" id="{FF4A4B17-0291-4081-B88C-36863CB95B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5332" name="Rectangle 3">
            <a:extLst>
              <a:ext uri="{FF2B5EF4-FFF2-40B4-BE49-F238E27FC236}">
                <a16:creationId xmlns:a16="http://schemas.microsoft.com/office/drawing/2014/main" id="{9BB4E35D-5245-46E0-A61C-63E1EA53B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66634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F01F59E5-77E2-4C1F-A744-99D4D9DC7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5AFCCD15-6084-4222-8BF8-F0C112A5F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2206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47B40FBB-D482-4507-AD3B-964A74671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D1F6F620-0B47-49C9-9477-3829C7B05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17635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1AE2D-7ED1-91FA-5DB6-872CCE14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185D2F05-DA41-00E2-5BA4-F94C865A3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1E935949-C01C-5A2A-3932-F3E9AFCBA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23212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95E1CDF2-5A68-4DA7-92BA-BECC8CE00D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AB5DB468-B8E7-427A-AACF-064200391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38270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45913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2608-AF83-BF7C-3E78-5C15FBE6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77E57879-4F2C-9942-C963-89A85DB553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2A8A2E7-E822-63D4-9737-2F2335AF16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2427CD23-0E56-064E-89A3-EF86468FB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74600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90471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A940-731D-F48F-9AB8-F376FD62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7C60DCF-A2E3-4565-9901-5005F0924A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20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928222D-3A7B-0FD0-A7EE-645FB0E24A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5F71FD4B-1B87-B501-2DD3-2DCA4201E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71341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>
            <a:extLst>
              <a:ext uri="{FF2B5EF4-FFF2-40B4-BE49-F238E27FC236}">
                <a16:creationId xmlns:a16="http://schemas.microsoft.com/office/drawing/2014/main" id="{0D578E51-3051-4123-90B1-3F2EFC3F64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49B682C-8A70-440E-A4A5-D0B884D2F8D3}" type="slidenum">
              <a:rPr lang="en-US" altLang="pt-BR" smtClean="0"/>
              <a:pPr>
                <a:spcBef>
                  <a:spcPct val="0"/>
                </a:spcBef>
              </a:pPr>
              <a:t>21</a:t>
            </a:fld>
            <a:endParaRPr lang="en-US" altLang="pt-BR"/>
          </a:p>
        </p:txBody>
      </p:sp>
      <p:sp>
        <p:nvSpPr>
          <p:cNvPr id="307203" name="Rectangle 2">
            <a:extLst>
              <a:ext uri="{FF2B5EF4-FFF2-40B4-BE49-F238E27FC236}">
                <a16:creationId xmlns:a16="http://schemas.microsoft.com/office/drawing/2014/main" id="{FE3E4B0B-4867-47F7-8D81-2EACBC158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04" name="Rectangle 3">
            <a:extLst>
              <a:ext uri="{FF2B5EF4-FFF2-40B4-BE49-F238E27FC236}">
                <a16:creationId xmlns:a16="http://schemas.microsoft.com/office/drawing/2014/main" id="{76B02EA7-0431-4558-8544-586CAC037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63DAFA3E-25DA-4929-B667-E30F75F693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9C5B3C-D6ED-4286-89E2-F73A0202FF2B}" type="slidenum">
              <a:rPr lang="en-US" altLang="pt-BR" smtClean="0">
                <a:latin typeface="Times New Roman" panose="02020603050405020304" pitchFamily="18" charset="0"/>
              </a:rPr>
              <a:pPr/>
              <a:t>22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E5924036-3B70-420C-A7EE-83862CCE56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39DA975C-C487-498D-B905-5D9261D0B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99316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7">
            <a:extLst>
              <a:ext uri="{FF2B5EF4-FFF2-40B4-BE49-F238E27FC236}">
                <a16:creationId xmlns:a16="http://schemas.microsoft.com/office/drawing/2014/main" id="{7A35D1BB-DD99-4B05-A803-D0CD07C570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FBE0838-0C82-4AF9-8ABA-4F93ECB04485}" type="slidenum">
              <a:rPr lang="en-US" altLang="pt-BR" smtClean="0"/>
              <a:pPr>
                <a:spcBef>
                  <a:spcPct val="0"/>
                </a:spcBef>
              </a:pPr>
              <a:t>23</a:t>
            </a:fld>
            <a:endParaRPr lang="en-US" altLang="pt-BR"/>
          </a:p>
        </p:txBody>
      </p:sp>
      <p:sp>
        <p:nvSpPr>
          <p:cNvPr id="309251" name="Rectangle 2">
            <a:extLst>
              <a:ext uri="{FF2B5EF4-FFF2-40B4-BE49-F238E27FC236}">
                <a16:creationId xmlns:a16="http://schemas.microsoft.com/office/drawing/2014/main" id="{4D904D65-FBBB-4E69-B1A9-773041FD6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9252" name="Rectangle 3">
            <a:extLst>
              <a:ext uri="{FF2B5EF4-FFF2-40B4-BE49-F238E27FC236}">
                <a16:creationId xmlns:a16="http://schemas.microsoft.com/office/drawing/2014/main" id="{C543AE9B-FA3E-4A1C-82BF-AE4C3410F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7">
            <a:extLst>
              <a:ext uri="{FF2B5EF4-FFF2-40B4-BE49-F238E27FC236}">
                <a16:creationId xmlns:a16="http://schemas.microsoft.com/office/drawing/2014/main" id="{EA2C8C91-3E64-494E-B61F-C6612CADF0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E73290-5E11-43B3-9BE0-1841DE91EB36}" type="slidenum">
              <a:rPr lang="en-US" altLang="pt-BR" smtClean="0"/>
              <a:pPr>
                <a:spcBef>
                  <a:spcPct val="0"/>
                </a:spcBef>
              </a:pPr>
              <a:t>24</a:t>
            </a:fld>
            <a:endParaRPr lang="en-US" altLang="pt-BR"/>
          </a:p>
        </p:txBody>
      </p:sp>
      <p:sp>
        <p:nvSpPr>
          <p:cNvPr id="311299" name="Rectangle 2">
            <a:extLst>
              <a:ext uri="{FF2B5EF4-FFF2-40B4-BE49-F238E27FC236}">
                <a16:creationId xmlns:a16="http://schemas.microsoft.com/office/drawing/2014/main" id="{8EE3C0A9-73EE-4A33-8F49-143070922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1300" name="Rectangle 3">
            <a:extLst>
              <a:ext uri="{FF2B5EF4-FFF2-40B4-BE49-F238E27FC236}">
                <a16:creationId xmlns:a16="http://schemas.microsoft.com/office/drawing/2014/main" id="{0FB5EAD7-9398-4BE0-BF52-217AACCA8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7">
            <a:extLst>
              <a:ext uri="{FF2B5EF4-FFF2-40B4-BE49-F238E27FC236}">
                <a16:creationId xmlns:a16="http://schemas.microsoft.com/office/drawing/2014/main" id="{41859A67-62BE-4406-9238-3E8A908D29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6F9D5F-D278-40FD-A2AC-877E7B59CAE3}" type="slidenum">
              <a:rPr lang="en-US" altLang="pt-BR" smtClean="0"/>
              <a:pPr>
                <a:spcBef>
                  <a:spcPct val="0"/>
                </a:spcBef>
              </a:pPr>
              <a:t>25</a:t>
            </a:fld>
            <a:endParaRPr lang="en-US" altLang="pt-BR"/>
          </a:p>
        </p:txBody>
      </p:sp>
      <p:sp>
        <p:nvSpPr>
          <p:cNvPr id="313347" name="Rectangle 2">
            <a:extLst>
              <a:ext uri="{FF2B5EF4-FFF2-40B4-BE49-F238E27FC236}">
                <a16:creationId xmlns:a16="http://schemas.microsoft.com/office/drawing/2014/main" id="{3D27741D-9EAF-4F29-A4B7-2E285B526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3348" name="Rectangle 3">
            <a:extLst>
              <a:ext uri="{FF2B5EF4-FFF2-40B4-BE49-F238E27FC236}">
                <a16:creationId xmlns:a16="http://schemas.microsoft.com/office/drawing/2014/main" id="{5539EFFA-C79C-436C-A961-8DB4D0A79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7">
            <a:extLst>
              <a:ext uri="{FF2B5EF4-FFF2-40B4-BE49-F238E27FC236}">
                <a16:creationId xmlns:a16="http://schemas.microsoft.com/office/drawing/2014/main" id="{2D92D865-1443-443F-A2F7-7904A93989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C88B613-3DC6-4CEA-8390-CAC857986998}" type="slidenum">
              <a:rPr lang="en-US" altLang="pt-BR" smtClean="0"/>
              <a:pPr>
                <a:spcBef>
                  <a:spcPct val="0"/>
                </a:spcBef>
              </a:pPr>
              <a:t>26</a:t>
            </a:fld>
            <a:endParaRPr lang="en-US" altLang="pt-BR"/>
          </a:p>
        </p:txBody>
      </p:sp>
      <p:sp>
        <p:nvSpPr>
          <p:cNvPr id="315395" name="Rectangle 2">
            <a:extLst>
              <a:ext uri="{FF2B5EF4-FFF2-40B4-BE49-F238E27FC236}">
                <a16:creationId xmlns:a16="http://schemas.microsoft.com/office/drawing/2014/main" id="{9A0800B6-E943-4779-B372-AF30BE343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5396" name="Rectangle 3">
            <a:extLst>
              <a:ext uri="{FF2B5EF4-FFF2-40B4-BE49-F238E27FC236}">
                <a16:creationId xmlns:a16="http://schemas.microsoft.com/office/drawing/2014/main" id="{B667753D-9F42-4DC1-9F77-4BD693447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7">
            <a:extLst>
              <a:ext uri="{FF2B5EF4-FFF2-40B4-BE49-F238E27FC236}">
                <a16:creationId xmlns:a16="http://schemas.microsoft.com/office/drawing/2014/main" id="{510B5830-31BE-4259-8F91-759734475D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56AF8BC-4B2E-4016-B5B3-1D0AA7FE647F}" type="slidenum">
              <a:rPr lang="en-US" altLang="pt-BR" smtClean="0"/>
              <a:pPr>
                <a:spcBef>
                  <a:spcPct val="0"/>
                </a:spcBef>
              </a:pPr>
              <a:t>27</a:t>
            </a:fld>
            <a:endParaRPr lang="en-US" altLang="pt-BR"/>
          </a:p>
        </p:txBody>
      </p:sp>
      <p:sp>
        <p:nvSpPr>
          <p:cNvPr id="317443" name="Rectangle 2">
            <a:extLst>
              <a:ext uri="{FF2B5EF4-FFF2-40B4-BE49-F238E27FC236}">
                <a16:creationId xmlns:a16="http://schemas.microsoft.com/office/drawing/2014/main" id="{D05587CE-97FE-44FD-BBA6-3367DBE638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44" name="Rectangle 3">
            <a:extLst>
              <a:ext uri="{FF2B5EF4-FFF2-40B4-BE49-F238E27FC236}">
                <a16:creationId xmlns:a16="http://schemas.microsoft.com/office/drawing/2014/main" id="{E2368A66-8FC8-4320-BD51-C59161CF4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7">
            <a:extLst>
              <a:ext uri="{FF2B5EF4-FFF2-40B4-BE49-F238E27FC236}">
                <a16:creationId xmlns:a16="http://schemas.microsoft.com/office/drawing/2014/main" id="{7054C5EA-26B1-402E-9B3C-26BB95FC3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6189137-BD30-44D2-A11A-35B799C36860}" type="slidenum">
              <a:rPr lang="en-US" altLang="pt-BR" smtClean="0"/>
              <a:pPr>
                <a:spcBef>
                  <a:spcPct val="0"/>
                </a:spcBef>
              </a:pPr>
              <a:t>28</a:t>
            </a:fld>
            <a:endParaRPr lang="en-US" altLang="pt-BR"/>
          </a:p>
        </p:txBody>
      </p:sp>
      <p:sp>
        <p:nvSpPr>
          <p:cNvPr id="319491" name="Rectangle 2">
            <a:extLst>
              <a:ext uri="{FF2B5EF4-FFF2-40B4-BE49-F238E27FC236}">
                <a16:creationId xmlns:a16="http://schemas.microsoft.com/office/drawing/2014/main" id="{EE04B616-B283-439F-98A9-7D3AE87F21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9492" name="Rectangle 3">
            <a:extLst>
              <a:ext uri="{FF2B5EF4-FFF2-40B4-BE49-F238E27FC236}">
                <a16:creationId xmlns:a16="http://schemas.microsoft.com/office/drawing/2014/main" id="{38C88A76-5AEA-4428-80EC-565A1E65B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7">
            <a:extLst>
              <a:ext uri="{FF2B5EF4-FFF2-40B4-BE49-F238E27FC236}">
                <a16:creationId xmlns:a16="http://schemas.microsoft.com/office/drawing/2014/main" id="{BB6822B1-14DF-4D12-B61D-5677C19423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1920C5E-DE8B-4FFD-BC70-0BD5870C48DD}" type="slidenum">
              <a:rPr lang="en-US" altLang="pt-BR" smtClean="0"/>
              <a:pPr>
                <a:spcBef>
                  <a:spcPct val="0"/>
                </a:spcBef>
              </a:pPr>
              <a:t>29</a:t>
            </a:fld>
            <a:endParaRPr lang="en-US" altLang="pt-BR"/>
          </a:p>
        </p:txBody>
      </p:sp>
      <p:sp>
        <p:nvSpPr>
          <p:cNvPr id="321539" name="Rectangle 2">
            <a:extLst>
              <a:ext uri="{FF2B5EF4-FFF2-40B4-BE49-F238E27FC236}">
                <a16:creationId xmlns:a16="http://schemas.microsoft.com/office/drawing/2014/main" id="{D2730341-FC6D-4668-8771-C20267929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1540" name="Rectangle 3">
            <a:extLst>
              <a:ext uri="{FF2B5EF4-FFF2-40B4-BE49-F238E27FC236}">
                <a16:creationId xmlns:a16="http://schemas.microsoft.com/office/drawing/2014/main" id="{0803C541-2812-4753-9A42-827486DBA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7">
            <a:extLst>
              <a:ext uri="{FF2B5EF4-FFF2-40B4-BE49-F238E27FC236}">
                <a16:creationId xmlns:a16="http://schemas.microsoft.com/office/drawing/2014/main" id="{FC721C9B-A231-4B2C-9EC5-D7A9638B03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530A18-CB1B-4FD5-87BE-A8C00D827541}" type="slidenum">
              <a:rPr lang="en-US" altLang="pt-BR" smtClean="0"/>
              <a:pPr>
                <a:spcBef>
                  <a:spcPct val="0"/>
                </a:spcBef>
              </a:pPr>
              <a:t>30</a:t>
            </a:fld>
            <a:endParaRPr lang="en-US" altLang="pt-BR"/>
          </a:p>
        </p:txBody>
      </p:sp>
      <p:sp>
        <p:nvSpPr>
          <p:cNvPr id="323587" name="Rectangle 2">
            <a:extLst>
              <a:ext uri="{FF2B5EF4-FFF2-40B4-BE49-F238E27FC236}">
                <a16:creationId xmlns:a16="http://schemas.microsoft.com/office/drawing/2014/main" id="{4649D524-CA7B-4EF5-AE33-1E7F69E7B7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3588" name="Rectangle 3">
            <a:extLst>
              <a:ext uri="{FF2B5EF4-FFF2-40B4-BE49-F238E27FC236}">
                <a16:creationId xmlns:a16="http://schemas.microsoft.com/office/drawing/2014/main" id="{5A8700E9-1C4B-4507-88C2-067F5232E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7">
            <a:extLst>
              <a:ext uri="{FF2B5EF4-FFF2-40B4-BE49-F238E27FC236}">
                <a16:creationId xmlns:a16="http://schemas.microsoft.com/office/drawing/2014/main" id="{8C628741-2B43-47CB-88AF-FFFD605390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897CCD-C3A4-4750-B4E3-D0ED2DBA9981}" type="slidenum">
              <a:rPr lang="en-US" altLang="pt-BR" smtClean="0"/>
              <a:pPr>
                <a:spcBef>
                  <a:spcPct val="0"/>
                </a:spcBef>
              </a:pPr>
              <a:t>31</a:t>
            </a:fld>
            <a:endParaRPr lang="en-US" altLang="pt-BR"/>
          </a:p>
        </p:txBody>
      </p:sp>
      <p:sp>
        <p:nvSpPr>
          <p:cNvPr id="325635" name="Rectangle 2">
            <a:extLst>
              <a:ext uri="{FF2B5EF4-FFF2-40B4-BE49-F238E27FC236}">
                <a16:creationId xmlns:a16="http://schemas.microsoft.com/office/drawing/2014/main" id="{01295881-39EC-4572-90EC-865B488428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5636" name="Rectangle 3">
            <a:extLst>
              <a:ext uri="{FF2B5EF4-FFF2-40B4-BE49-F238E27FC236}">
                <a16:creationId xmlns:a16="http://schemas.microsoft.com/office/drawing/2014/main" id="{928492A0-1E9B-436A-8613-CC7D25816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7">
            <a:extLst>
              <a:ext uri="{FF2B5EF4-FFF2-40B4-BE49-F238E27FC236}">
                <a16:creationId xmlns:a16="http://schemas.microsoft.com/office/drawing/2014/main" id="{2E45A327-0FAD-4120-AA0C-A80859562D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FDF1BE-B6E3-464F-98C6-48585703DEEC}" type="slidenum">
              <a:rPr lang="en-US" altLang="pt-BR" smtClean="0"/>
              <a:pPr>
                <a:spcBef>
                  <a:spcPct val="0"/>
                </a:spcBef>
              </a:pPr>
              <a:t>32</a:t>
            </a:fld>
            <a:endParaRPr lang="en-US" altLang="pt-BR"/>
          </a:p>
        </p:txBody>
      </p:sp>
      <p:sp>
        <p:nvSpPr>
          <p:cNvPr id="327683" name="Rectangle 2">
            <a:extLst>
              <a:ext uri="{FF2B5EF4-FFF2-40B4-BE49-F238E27FC236}">
                <a16:creationId xmlns:a16="http://schemas.microsoft.com/office/drawing/2014/main" id="{88528ECA-CEC3-49E2-82CA-1133ED6343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684" name="Rectangle 3">
            <a:extLst>
              <a:ext uri="{FF2B5EF4-FFF2-40B4-BE49-F238E27FC236}">
                <a16:creationId xmlns:a16="http://schemas.microsoft.com/office/drawing/2014/main" id="{64689A46-7709-4283-9D20-4CD9FBE5C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7">
            <a:extLst>
              <a:ext uri="{FF2B5EF4-FFF2-40B4-BE49-F238E27FC236}">
                <a16:creationId xmlns:a16="http://schemas.microsoft.com/office/drawing/2014/main" id="{94F5147A-0661-4CC9-8C33-F9F4949357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C9469F-7C00-4FB3-8824-3DA295B63150}" type="slidenum">
              <a:rPr lang="en-US" altLang="pt-BR" smtClean="0"/>
              <a:pPr>
                <a:spcBef>
                  <a:spcPct val="0"/>
                </a:spcBef>
              </a:pPr>
              <a:t>33</a:t>
            </a:fld>
            <a:endParaRPr lang="en-US" altLang="pt-BR"/>
          </a:p>
        </p:txBody>
      </p:sp>
      <p:sp>
        <p:nvSpPr>
          <p:cNvPr id="329731" name="Rectangle 2">
            <a:extLst>
              <a:ext uri="{FF2B5EF4-FFF2-40B4-BE49-F238E27FC236}">
                <a16:creationId xmlns:a16="http://schemas.microsoft.com/office/drawing/2014/main" id="{056DB400-8619-433E-8304-AB2D00249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9732" name="Rectangle 3">
            <a:extLst>
              <a:ext uri="{FF2B5EF4-FFF2-40B4-BE49-F238E27FC236}">
                <a16:creationId xmlns:a16="http://schemas.microsoft.com/office/drawing/2014/main" id="{59BD2C54-6889-4D2B-9BBE-5350A0A72E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7">
            <a:extLst>
              <a:ext uri="{FF2B5EF4-FFF2-40B4-BE49-F238E27FC236}">
                <a16:creationId xmlns:a16="http://schemas.microsoft.com/office/drawing/2014/main" id="{CFF535DD-AF05-419A-9D66-80177B999B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33FC29-4261-4E7C-833A-6A387F06681F}" type="slidenum">
              <a:rPr lang="en-US" altLang="pt-BR" smtClean="0"/>
              <a:pPr>
                <a:spcBef>
                  <a:spcPct val="0"/>
                </a:spcBef>
              </a:pPr>
              <a:t>35</a:t>
            </a:fld>
            <a:endParaRPr lang="en-US" altLang="pt-BR"/>
          </a:p>
        </p:txBody>
      </p:sp>
      <p:sp>
        <p:nvSpPr>
          <p:cNvPr id="331779" name="Rectangle 2">
            <a:extLst>
              <a:ext uri="{FF2B5EF4-FFF2-40B4-BE49-F238E27FC236}">
                <a16:creationId xmlns:a16="http://schemas.microsoft.com/office/drawing/2014/main" id="{F788B0C5-9D56-483B-BCB6-BDA2204B9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1780" name="Rectangle 3">
            <a:extLst>
              <a:ext uri="{FF2B5EF4-FFF2-40B4-BE49-F238E27FC236}">
                <a16:creationId xmlns:a16="http://schemas.microsoft.com/office/drawing/2014/main" id="{DAB55EEE-F131-431F-8D2D-CE2DA1303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7">
            <a:extLst>
              <a:ext uri="{FF2B5EF4-FFF2-40B4-BE49-F238E27FC236}">
                <a16:creationId xmlns:a16="http://schemas.microsoft.com/office/drawing/2014/main" id="{5000A462-63C0-4A61-9DCF-A488588AEB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E68116-5F39-4D80-8737-53B04E541C55}" type="slidenum">
              <a:rPr lang="en-US" altLang="pt-BR" smtClean="0"/>
              <a:pPr>
                <a:spcBef>
                  <a:spcPct val="0"/>
                </a:spcBef>
              </a:pPr>
              <a:t>36</a:t>
            </a:fld>
            <a:endParaRPr lang="en-US" altLang="pt-BR"/>
          </a:p>
        </p:txBody>
      </p:sp>
      <p:sp>
        <p:nvSpPr>
          <p:cNvPr id="335875" name="Rectangle 2">
            <a:extLst>
              <a:ext uri="{FF2B5EF4-FFF2-40B4-BE49-F238E27FC236}">
                <a16:creationId xmlns:a16="http://schemas.microsoft.com/office/drawing/2014/main" id="{3C97CBA4-B08A-44C2-9659-DEC7618398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5876" name="Rectangle 3">
            <a:extLst>
              <a:ext uri="{FF2B5EF4-FFF2-40B4-BE49-F238E27FC236}">
                <a16:creationId xmlns:a16="http://schemas.microsoft.com/office/drawing/2014/main" id="{8DADD148-C9B4-4FC0-A04E-E6FB032E4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7">
            <a:extLst>
              <a:ext uri="{FF2B5EF4-FFF2-40B4-BE49-F238E27FC236}">
                <a16:creationId xmlns:a16="http://schemas.microsoft.com/office/drawing/2014/main" id="{3EDACB54-DFC1-4584-924F-10518F85AA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09FDCA-BDC5-4D5A-A6CA-0D34ED85D7FC}" type="slidenum">
              <a:rPr lang="en-US" altLang="pt-BR" smtClean="0"/>
              <a:pPr>
                <a:spcBef>
                  <a:spcPct val="0"/>
                </a:spcBef>
              </a:pPr>
              <a:t>37</a:t>
            </a:fld>
            <a:endParaRPr lang="en-US" altLang="pt-BR"/>
          </a:p>
        </p:txBody>
      </p:sp>
      <p:sp>
        <p:nvSpPr>
          <p:cNvPr id="337923" name="Rectangle 2">
            <a:extLst>
              <a:ext uri="{FF2B5EF4-FFF2-40B4-BE49-F238E27FC236}">
                <a16:creationId xmlns:a16="http://schemas.microsoft.com/office/drawing/2014/main" id="{ECAA396D-0BEC-40D6-9C15-01E69DD5DF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24" name="Rectangle 3">
            <a:extLst>
              <a:ext uri="{FF2B5EF4-FFF2-40B4-BE49-F238E27FC236}">
                <a16:creationId xmlns:a16="http://schemas.microsoft.com/office/drawing/2014/main" id="{1B609B37-D56F-4604-AD21-95A1D6FA7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7">
            <a:extLst>
              <a:ext uri="{FF2B5EF4-FFF2-40B4-BE49-F238E27FC236}">
                <a16:creationId xmlns:a16="http://schemas.microsoft.com/office/drawing/2014/main" id="{942F019D-B426-49B0-8A2C-FCC105FE64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37F0E51-1DBF-406D-B7E7-79ED3E31BC0E}" type="slidenum">
              <a:rPr lang="en-US" altLang="pt-BR" smtClean="0"/>
              <a:pPr>
                <a:spcBef>
                  <a:spcPct val="0"/>
                </a:spcBef>
              </a:pPr>
              <a:t>38</a:t>
            </a:fld>
            <a:endParaRPr lang="en-US" altLang="pt-BR"/>
          </a:p>
        </p:txBody>
      </p:sp>
      <p:sp>
        <p:nvSpPr>
          <p:cNvPr id="339971" name="Rectangle 2">
            <a:extLst>
              <a:ext uri="{FF2B5EF4-FFF2-40B4-BE49-F238E27FC236}">
                <a16:creationId xmlns:a16="http://schemas.microsoft.com/office/drawing/2014/main" id="{7513C8EF-C187-4272-B2B8-F3AB6F8F9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9972" name="Rectangle 3">
            <a:extLst>
              <a:ext uri="{FF2B5EF4-FFF2-40B4-BE49-F238E27FC236}">
                <a16:creationId xmlns:a16="http://schemas.microsoft.com/office/drawing/2014/main" id="{0E257832-8E37-4871-A62A-59FD61CBA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7">
            <a:extLst>
              <a:ext uri="{FF2B5EF4-FFF2-40B4-BE49-F238E27FC236}">
                <a16:creationId xmlns:a16="http://schemas.microsoft.com/office/drawing/2014/main" id="{21E70DFC-4BE5-4752-AAAA-BE9C81B0E1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7583A10-1B0C-4A80-A055-D3F7F939B139}" type="slidenum">
              <a:rPr lang="en-US" altLang="pt-BR" smtClean="0"/>
              <a:pPr>
                <a:spcBef>
                  <a:spcPct val="0"/>
                </a:spcBef>
              </a:pPr>
              <a:t>39</a:t>
            </a:fld>
            <a:endParaRPr lang="en-US" altLang="pt-BR"/>
          </a:p>
        </p:txBody>
      </p:sp>
      <p:sp>
        <p:nvSpPr>
          <p:cNvPr id="342019" name="Rectangle 2">
            <a:extLst>
              <a:ext uri="{FF2B5EF4-FFF2-40B4-BE49-F238E27FC236}">
                <a16:creationId xmlns:a16="http://schemas.microsoft.com/office/drawing/2014/main" id="{843AAFAE-2D96-42A6-8EA3-748B70ECE7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2020" name="Rectangle 3">
            <a:extLst>
              <a:ext uri="{FF2B5EF4-FFF2-40B4-BE49-F238E27FC236}">
                <a16:creationId xmlns:a16="http://schemas.microsoft.com/office/drawing/2014/main" id="{BA054F8F-229C-4D90-AE8D-69560C140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7">
            <a:extLst>
              <a:ext uri="{FF2B5EF4-FFF2-40B4-BE49-F238E27FC236}">
                <a16:creationId xmlns:a16="http://schemas.microsoft.com/office/drawing/2014/main" id="{21E70DFC-4BE5-4752-AAAA-BE9C81B0E1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7583A10-1B0C-4A80-A055-D3F7F939B139}" type="slidenum">
              <a:rPr lang="en-US" altLang="pt-BR" smtClean="0"/>
              <a:pPr>
                <a:spcBef>
                  <a:spcPct val="0"/>
                </a:spcBef>
              </a:pPr>
              <a:t>40</a:t>
            </a:fld>
            <a:endParaRPr lang="en-US" altLang="pt-BR"/>
          </a:p>
        </p:txBody>
      </p:sp>
      <p:sp>
        <p:nvSpPr>
          <p:cNvPr id="342019" name="Rectangle 2">
            <a:extLst>
              <a:ext uri="{FF2B5EF4-FFF2-40B4-BE49-F238E27FC236}">
                <a16:creationId xmlns:a16="http://schemas.microsoft.com/office/drawing/2014/main" id="{843AAFAE-2D96-42A6-8EA3-748B70ECE7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2020" name="Rectangle 3">
            <a:extLst>
              <a:ext uri="{FF2B5EF4-FFF2-40B4-BE49-F238E27FC236}">
                <a16:creationId xmlns:a16="http://schemas.microsoft.com/office/drawing/2014/main" id="{BA054F8F-229C-4D90-AE8D-69560C140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019701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7">
            <a:extLst>
              <a:ext uri="{FF2B5EF4-FFF2-40B4-BE49-F238E27FC236}">
                <a16:creationId xmlns:a16="http://schemas.microsoft.com/office/drawing/2014/main" id="{12167B78-55FF-4A4E-B1FC-CCA71BAA32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0041B6C-DB9B-4CC4-B9A9-020396AF977C}" type="slidenum">
              <a:rPr lang="en-US" altLang="pt-BR" smtClean="0"/>
              <a:pPr>
                <a:spcBef>
                  <a:spcPct val="0"/>
                </a:spcBef>
              </a:pPr>
              <a:t>44</a:t>
            </a:fld>
            <a:endParaRPr lang="en-US" altLang="pt-BR"/>
          </a:p>
        </p:txBody>
      </p:sp>
      <p:sp>
        <p:nvSpPr>
          <p:cNvPr id="344067" name="Rectangle 2">
            <a:extLst>
              <a:ext uri="{FF2B5EF4-FFF2-40B4-BE49-F238E27FC236}">
                <a16:creationId xmlns:a16="http://schemas.microsoft.com/office/drawing/2014/main" id="{2C753409-0F88-4C31-B3C2-3C98EC840C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4068" name="Rectangle 3">
            <a:extLst>
              <a:ext uri="{FF2B5EF4-FFF2-40B4-BE49-F238E27FC236}">
                <a16:creationId xmlns:a16="http://schemas.microsoft.com/office/drawing/2014/main" id="{38C4B021-1B15-448E-851D-A4BE94D4D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7">
            <a:extLst>
              <a:ext uri="{FF2B5EF4-FFF2-40B4-BE49-F238E27FC236}">
                <a16:creationId xmlns:a16="http://schemas.microsoft.com/office/drawing/2014/main" id="{3DC725DC-D672-4696-B647-177599361D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BF27BD-F39B-44B1-A8DC-8032164C6976}" type="slidenum">
              <a:rPr lang="en-US" altLang="pt-BR" smtClean="0"/>
              <a:pPr>
                <a:spcBef>
                  <a:spcPct val="0"/>
                </a:spcBef>
              </a:pPr>
              <a:t>45</a:t>
            </a:fld>
            <a:endParaRPr lang="en-US" altLang="pt-BR"/>
          </a:p>
        </p:txBody>
      </p:sp>
      <p:sp>
        <p:nvSpPr>
          <p:cNvPr id="346115" name="Rectangle 2">
            <a:extLst>
              <a:ext uri="{FF2B5EF4-FFF2-40B4-BE49-F238E27FC236}">
                <a16:creationId xmlns:a16="http://schemas.microsoft.com/office/drawing/2014/main" id="{4F969435-3985-4681-AA84-8A4BDD249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6116" name="Rectangle 3">
            <a:extLst>
              <a:ext uri="{FF2B5EF4-FFF2-40B4-BE49-F238E27FC236}">
                <a16:creationId xmlns:a16="http://schemas.microsoft.com/office/drawing/2014/main" id="{7B3B8A11-8B04-48E4-9115-BF89FA646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7">
            <a:extLst>
              <a:ext uri="{FF2B5EF4-FFF2-40B4-BE49-F238E27FC236}">
                <a16:creationId xmlns:a16="http://schemas.microsoft.com/office/drawing/2014/main" id="{BD34E11E-8A19-48CB-83F1-2C8FC6E663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A2952A-611C-4FE5-9667-E26B913AD82D}" type="slidenum">
              <a:rPr lang="en-US" altLang="pt-BR" smtClean="0"/>
              <a:pPr>
                <a:spcBef>
                  <a:spcPct val="0"/>
                </a:spcBef>
              </a:pPr>
              <a:t>46</a:t>
            </a:fld>
            <a:endParaRPr lang="en-US" altLang="pt-BR"/>
          </a:p>
        </p:txBody>
      </p:sp>
      <p:sp>
        <p:nvSpPr>
          <p:cNvPr id="348163" name="Rectangle 2">
            <a:extLst>
              <a:ext uri="{FF2B5EF4-FFF2-40B4-BE49-F238E27FC236}">
                <a16:creationId xmlns:a16="http://schemas.microsoft.com/office/drawing/2014/main" id="{28C7DDDF-B8E2-4287-AED2-EDB58756EB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64" name="Rectangle 3">
            <a:extLst>
              <a:ext uri="{FF2B5EF4-FFF2-40B4-BE49-F238E27FC236}">
                <a16:creationId xmlns:a16="http://schemas.microsoft.com/office/drawing/2014/main" id="{9C3335E5-2AB4-4815-B823-F2257F2681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7">
            <a:extLst>
              <a:ext uri="{FF2B5EF4-FFF2-40B4-BE49-F238E27FC236}">
                <a16:creationId xmlns:a16="http://schemas.microsoft.com/office/drawing/2014/main" id="{797E3A15-254D-4E83-BB0F-ACB7A77FA0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86DE15-CDE0-48B8-AD7F-8E22186541B2}" type="slidenum">
              <a:rPr lang="en-US" altLang="pt-BR" smtClean="0"/>
              <a:pPr>
                <a:spcBef>
                  <a:spcPct val="0"/>
                </a:spcBef>
              </a:pPr>
              <a:t>48</a:t>
            </a:fld>
            <a:endParaRPr lang="en-US" altLang="pt-BR"/>
          </a:p>
        </p:txBody>
      </p:sp>
      <p:sp>
        <p:nvSpPr>
          <p:cNvPr id="350211" name="Rectangle 2">
            <a:extLst>
              <a:ext uri="{FF2B5EF4-FFF2-40B4-BE49-F238E27FC236}">
                <a16:creationId xmlns:a16="http://schemas.microsoft.com/office/drawing/2014/main" id="{E02D7539-3575-4DD0-AE2F-C0599623E9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0212" name="Rectangle 3">
            <a:extLst>
              <a:ext uri="{FF2B5EF4-FFF2-40B4-BE49-F238E27FC236}">
                <a16:creationId xmlns:a16="http://schemas.microsoft.com/office/drawing/2014/main" id="{39E2057F-AEB9-4330-95A9-90D0692E6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pt-BR" altLang="pt-BR"/>
              <a:t>CNC = Controle numérico por computador ou computadorizado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7">
            <a:extLst>
              <a:ext uri="{FF2B5EF4-FFF2-40B4-BE49-F238E27FC236}">
                <a16:creationId xmlns:a16="http://schemas.microsoft.com/office/drawing/2014/main" id="{047E56A4-0E2D-4642-AF1F-603A5C9886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5221B95-2EAF-4208-BB39-CDA7070D439A}" type="slidenum">
              <a:rPr lang="en-US" altLang="pt-BR" smtClean="0"/>
              <a:pPr>
                <a:spcBef>
                  <a:spcPct val="0"/>
                </a:spcBef>
              </a:pPr>
              <a:t>50</a:t>
            </a:fld>
            <a:endParaRPr lang="en-US" altLang="pt-BR"/>
          </a:p>
        </p:txBody>
      </p:sp>
      <p:sp>
        <p:nvSpPr>
          <p:cNvPr id="352259" name="Rectangle 2">
            <a:extLst>
              <a:ext uri="{FF2B5EF4-FFF2-40B4-BE49-F238E27FC236}">
                <a16:creationId xmlns:a16="http://schemas.microsoft.com/office/drawing/2014/main" id="{D04D6B8B-A6B2-4024-914C-AAADE0B5F9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2260" name="Rectangle 3">
            <a:extLst>
              <a:ext uri="{FF2B5EF4-FFF2-40B4-BE49-F238E27FC236}">
                <a16:creationId xmlns:a16="http://schemas.microsoft.com/office/drawing/2014/main" id="{1287726E-4294-41B0-B07C-B5B0934BC8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C48F6-860B-ECCF-1AED-6440F284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E032B3EA-9A83-DA62-6A47-016A9D8A1F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9C5B3C-D6ED-4286-89E2-F73A0202FF2B}" type="slidenum">
              <a:rPr lang="en-US" altLang="pt-BR" smtClean="0">
                <a:latin typeface="Times New Roman" panose="02020603050405020304" pitchFamily="18" charset="0"/>
              </a:rPr>
              <a:pPr/>
              <a:t>53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DF238BE7-27D9-150E-87FA-31767BC69E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4833CDD2-C736-F5BE-C28D-231B36A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281522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111E512-F4CA-4E47-A2D2-FF0C77A828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435A526-A6FF-4660-87D7-6233AD1320EB}" type="slidenum">
              <a:rPr lang="en-US" altLang="pt-BR"/>
              <a:pPr>
                <a:spcBef>
                  <a:spcPct val="0"/>
                </a:spcBef>
              </a:pPr>
              <a:t>54</a:t>
            </a:fld>
            <a:endParaRPr lang="en-US" altLang="pt-BR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BC511187-5A1F-4667-8EC4-EEF56D5769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5405C204-C596-451B-9DFF-1BBFC180AE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2BBB2C54-10C2-46FC-AD20-BCDB632E2D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5097DD-50CD-4446-97E3-79F709F2FA6B}" type="slidenum">
              <a:rPr lang="en-US" altLang="pt-BR"/>
              <a:pPr>
                <a:spcBef>
                  <a:spcPct val="0"/>
                </a:spcBef>
              </a:pPr>
              <a:t>55</a:t>
            </a:fld>
            <a:endParaRPr lang="en-US" altLang="pt-BR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35800570-2782-4661-A498-84304B44C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B56D554E-D027-41A4-9132-DB5F955A9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24D4E8E-531B-4839-8FAF-CCC34C93D0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08F69B-35BA-4125-8B3A-3D0D15E1FE56}" type="slidenum">
              <a:rPr lang="en-US" altLang="pt-BR"/>
              <a:pPr>
                <a:spcBef>
                  <a:spcPct val="0"/>
                </a:spcBef>
              </a:pPr>
              <a:t>56</a:t>
            </a:fld>
            <a:endParaRPr lang="en-US" altLang="pt-BR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8975B3CC-6459-446E-943E-2EEB780F9C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A54B8987-DDAE-4522-BF73-BAF1609F39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31FBF98E-BFCF-4EA9-914C-4A91FBB679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CD9379C-0E5A-425F-AF52-7DDE62B5AB54}" type="slidenum">
              <a:rPr lang="en-US" altLang="pt-BR"/>
              <a:pPr>
                <a:spcBef>
                  <a:spcPct val="0"/>
                </a:spcBef>
              </a:pPr>
              <a:t>57</a:t>
            </a:fld>
            <a:endParaRPr lang="en-US" altLang="pt-BR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210AC70-56B2-4BDB-B8D8-99FAA1F3E5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8F89AA3-464F-4B65-8083-D0ABA83F2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D510933A-5F60-4F1D-8E9B-70C85B4B32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1CA127F-9A6F-4297-BEA7-BEC1D7278272}" type="slidenum">
              <a:rPr lang="en-US" altLang="pt-BR"/>
              <a:pPr>
                <a:spcBef>
                  <a:spcPct val="0"/>
                </a:spcBef>
              </a:pPr>
              <a:t>58</a:t>
            </a:fld>
            <a:endParaRPr lang="en-US" altLang="pt-BR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A66913B1-C9B5-45B1-941F-190C5B8270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52548853-2178-44BA-A642-347C5134A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E0A613C-64A8-4046-A32E-CF24518BB7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154763-EB18-41FA-9FC7-17B2AE46084B}" type="slidenum">
              <a:rPr lang="en-US" altLang="pt-BR"/>
              <a:pPr>
                <a:spcBef>
                  <a:spcPct val="0"/>
                </a:spcBef>
              </a:pPr>
              <a:t>59</a:t>
            </a:fld>
            <a:endParaRPr lang="en-US" altLang="pt-BR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B670B686-1872-4744-8CE2-A8E59493C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2D9AB486-8A36-42FA-9381-191563046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0A81226C-6A76-4E2D-9831-F0057FEBFA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8C2A6E7-DCED-49D5-AF27-FD5165442EC2}" type="slidenum">
              <a:rPr lang="en-US" altLang="pt-BR"/>
              <a:pPr>
                <a:spcBef>
                  <a:spcPct val="0"/>
                </a:spcBef>
              </a:pPr>
              <a:t>60</a:t>
            </a:fld>
            <a:endParaRPr lang="en-US" altLang="pt-BR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977A2C28-582D-465A-830D-265166D045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96E81B2D-8E23-4FAE-9043-44E43AA5C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5B8B8301-C952-484C-9EED-E08FAFFAE7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56776B-76FA-4E85-B158-DD854EA11C40}" type="slidenum">
              <a:rPr lang="en-US" altLang="pt-BR"/>
              <a:pPr>
                <a:spcBef>
                  <a:spcPct val="0"/>
                </a:spcBef>
              </a:pPr>
              <a:t>61</a:t>
            </a:fld>
            <a:endParaRPr lang="en-US" altLang="pt-BR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0BC4D44-A3AF-49A0-83F1-2AA8CF8DC3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1A62BA6B-6EEA-4A38-8280-29EF3EFA8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8F3027E2-7089-43A8-AE94-4F94DCF6EF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0F3158-C48D-451D-BD01-3C519CCD711D}" type="slidenum">
              <a:rPr lang="en-US" altLang="pt-BR"/>
              <a:pPr>
                <a:spcBef>
                  <a:spcPct val="0"/>
                </a:spcBef>
              </a:pPr>
              <a:t>62</a:t>
            </a:fld>
            <a:endParaRPr lang="en-US" altLang="pt-BR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B081F97-DDB0-4B78-8579-D5963C1451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DECD497-7344-441D-9769-29DF7236A0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6CA1FDE5-13A4-482C-889E-D83EFD05D3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4DC452-8C12-4BA5-B655-D1CAACDCD442}" type="slidenum">
              <a:rPr lang="en-US" altLang="pt-BR"/>
              <a:pPr>
                <a:spcBef>
                  <a:spcPct val="0"/>
                </a:spcBef>
              </a:pPr>
              <a:t>63</a:t>
            </a:fld>
            <a:endParaRPr lang="en-US" altLang="pt-BR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98F0163B-D8C0-49C3-8991-A92DF26BE1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86E55805-90B7-44BC-BA3A-21CAAF0A3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B6513CC-2419-4A21-90DF-6A45B74BCA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78D37A4-BCD6-459E-8A5C-953A48C35D06}" type="slidenum">
              <a:rPr lang="en-US" altLang="pt-BR"/>
              <a:pPr>
                <a:spcBef>
                  <a:spcPct val="0"/>
                </a:spcBef>
              </a:pPr>
              <a:t>64</a:t>
            </a:fld>
            <a:endParaRPr lang="en-US" altLang="pt-BR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9AA59CCA-AE48-44EA-ABD5-8843788E4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0238F4E7-7900-482C-8FEC-E68F0BA97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254611F3-FCFA-48DD-9CFE-4C28847D83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493A275-6115-45A2-B2E6-B011A69B7FAC}" type="slidenum">
              <a:rPr lang="en-US" altLang="pt-BR"/>
              <a:pPr>
                <a:spcBef>
                  <a:spcPct val="0"/>
                </a:spcBef>
              </a:pPr>
              <a:t>65</a:t>
            </a:fld>
            <a:endParaRPr lang="en-US" altLang="pt-BR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66A2E8B6-A57F-45FB-B3A3-1BA325C3E9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A9A6DE9-45E4-4AE0-975A-056381466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0D4D0FE6-3111-4F2E-AB44-8EE2B465E8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B44BBEC-F952-473D-AFD3-C939E4A9D16A}" type="slidenum">
              <a:rPr lang="en-US" altLang="pt-BR"/>
              <a:pPr>
                <a:spcBef>
                  <a:spcPct val="0"/>
                </a:spcBef>
              </a:pPr>
              <a:t>66</a:t>
            </a:fld>
            <a:endParaRPr lang="en-US" altLang="pt-BR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121ECE5-F26B-47A3-810E-F8201872C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C877633-8825-4C33-90D4-5F044F2C2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484D2E20-8785-4788-AF9E-166D8D76E9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948520A-FEDA-48B9-AE64-CC01F84E7AD2}" type="slidenum">
              <a:rPr lang="en-US" altLang="pt-BR"/>
              <a:pPr>
                <a:spcBef>
                  <a:spcPct val="0"/>
                </a:spcBef>
              </a:pPr>
              <a:t>67</a:t>
            </a:fld>
            <a:endParaRPr lang="en-US" altLang="pt-BR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4BC0B1BE-2D31-48EA-A171-9A9AF4D6BF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AF6D14E7-1B29-45AE-8926-FB82C638B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51C2D55A-4A0A-49BF-85DA-F5B281AB9A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B949783-BE51-46A9-A6E1-F8D47822FF20}" type="slidenum">
              <a:rPr lang="en-US" altLang="pt-BR"/>
              <a:pPr>
                <a:spcBef>
                  <a:spcPct val="0"/>
                </a:spcBef>
              </a:pPr>
              <a:t>68</a:t>
            </a:fld>
            <a:endParaRPr lang="en-US" altLang="pt-BR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57AC8E61-5063-499A-88D2-21E66A9191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13A3D658-7170-4AC6-A24B-99848C1058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D3DBA18E-E498-448F-A7A3-B7B9DDE1A5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2D8AEE2-577E-45CA-A911-8CC54AF9ABE3}" type="slidenum">
              <a:rPr lang="en-US" altLang="pt-BR"/>
              <a:pPr>
                <a:spcBef>
                  <a:spcPct val="0"/>
                </a:spcBef>
              </a:pPr>
              <a:t>70</a:t>
            </a:fld>
            <a:endParaRPr lang="en-US" altLang="pt-BR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73CC9168-2E7D-41E1-8965-24CEA10BBA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6AD7E852-8F1C-4272-8F4C-A8CE1CC1D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CBC8A5C1-B0B3-4FFC-A02A-DB25442DBE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466057F-619D-4A4B-BC34-6268F9F0BB8B}" type="slidenum">
              <a:rPr lang="en-US" altLang="pt-BR"/>
              <a:pPr>
                <a:spcBef>
                  <a:spcPct val="0"/>
                </a:spcBef>
              </a:pPr>
              <a:t>71</a:t>
            </a:fld>
            <a:endParaRPr lang="en-US" altLang="pt-BR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DB66A7AC-426D-4972-9BEA-A73F9A43F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3BE90B53-68DF-4C1A-82BD-013A6A2BE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FCE37B2-4C96-4A3C-88CD-1D26669B69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1C75518-58AE-4AF0-8439-90BE51F564B5}" type="slidenum">
              <a:rPr lang="en-US" altLang="pt-BR"/>
              <a:pPr>
                <a:spcBef>
                  <a:spcPct val="0"/>
                </a:spcBef>
              </a:pPr>
              <a:t>72</a:t>
            </a:fld>
            <a:endParaRPr lang="en-US" altLang="pt-BR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E74B0C5-B1E4-41E8-A1D8-4CC8270A96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87BA9C8-A3EA-4BE3-ACF2-DEFE69314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5601428-5BCB-46AA-9AFA-FB24AC955E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04DC50-BD1A-49D1-B148-5D17863CC161}" type="slidenum">
              <a:rPr lang="en-US" altLang="pt-BR"/>
              <a:pPr>
                <a:spcBef>
                  <a:spcPct val="0"/>
                </a:spcBef>
              </a:pPr>
              <a:t>73</a:t>
            </a:fld>
            <a:endParaRPr lang="en-US" altLang="pt-BR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5E8AC67B-46C6-47EA-BD41-FBB467A81E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0191E1C5-DA39-448C-8F42-E271AE396B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88FBA72-1CF2-48D2-946E-2F6D8E3B1D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568D069-222F-40C7-8122-6B0854404465}" type="slidenum">
              <a:rPr lang="en-US" altLang="pt-BR"/>
              <a:pPr>
                <a:spcBef>
                  <a:spcPct val="0"/>
                </a:spcBef>
              </a:pPr>
              <a:t>74</a:t>
            </a:fld>
            <a:endParaRPr lang="en-US" altLang="pt-BR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19A99AE-EB0E-4253-8E9A-8AF6DAB2CB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0A176AAF-F80B-4DB7-B738-39FE1FF0F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0DC37375-7225-49E8-9B16-BE0076D527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A04CD2A-25B6-4A98-8012-8140633B01A2}" type="slidenum">
              <a:rPr lang="en-US" altLang="pt-BR"/>
              <a:pPr>
                <a:spcBef>
                  <a:spcPct val="0"/>
                </a:spcBef>
              </a:pPr>
              <a:t>75</a:t>
            </a:fld>
            <a:endParaRPr lang="en-US" altLang="pt-BR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45A2835E-1112-4CD2-896F-BCA4743173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3BAFCC2-C120-40AD-8A2F-1939BB377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0EFDA401-9451-40E3-A821-1D189B551D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4898D2-7510-4F96-A464-7776AAC1C435}" type="slidenum">
              <a:rPr lang="en-US" altLang="pt-BR"/>
              <a:pPr>
                <a:spcBef>
                  <a:spcPct val="0"/>
                </a:spcBef>
              </a:pPr>
              <a:t>76</a:t>
            </a:fld>
            <a:endParaRPr lang="en-US" altLang="pt-BR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9654D56-4A05-4702-B8E1-D8E76A45B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498F65C2-94A2-4EA8-A615-F3EAABE8D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7C8141-31ED-457C-99D9-350DD62420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0A417-9999-46FF-A3D3-7D6E9909C221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281E46-F80A-43DE-A8EE-AACED3E3A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337B06-63DC-4C16-B745-4E09C00C98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FCE15-2783-440C-88D3-6F0C5FF98B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06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1F01C7-2C02-4523-A306-7A83676068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6582C-A7B1-4F89-A69D-6194BC6EC2B0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F24264-E0B8-4BED-B97D-3BBE7E8AE8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033101-1BBF-4E14-8C86-4E4F3042EC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5801B-C5F4-4CE9-9972-7743B2F4CE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0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326173-26BC-4593-B7C1-E23A39BAD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00D5B-FDAC-46D3-9687-F926429DCC10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0E97B9-108A-4600-B9C1-E3BF0A253A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C5B66E-9252-42CC-90D1-5DEB70859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F0441-4EC9-4D83-B239-7463ECDC42F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18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E7C19D-4C42-49E6-94D3-79C728B637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8E6D0-1A2F-4A71-B242-3E6441E27A95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5AFFB6-CCED-4204-98D9-2972E4D128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25C3F6-19C6-47EF-8085-B30510B2BB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6144B-F5AC-45C6-AD42-115683CD4F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30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3F46D3C-89E2-4078-A10B-F0ABA42634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CF8-0B47-4FC1-935E-FC6DC1E2DBBD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AAF5F02-3FCC-4A49-9274-43B56B22A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38D0CC-248C-430A-BF16-D9FD28C2A8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4DC04-8A4B-4E30-A426-0A3F9942E9A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33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3716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A0B2FE-7097-4C71-8061-730F03BFF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3251E-F713-4CE6-8B62-9899E9E8582B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C7502-EAE8-40C9-9664-DB0316233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86C1F-3AA3-4F13-9300-DEED0BD53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B2F3D-B7EF-454B-8194-275E64B27B2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31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EB07AEED-CB4C-4B99-9566-65B71564A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109728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6DA0794B-C626-423E-A998-A04538A0E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875"/>
            <a:ext cx="10972800" cy="4608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38948" name="Rectangle 4">
            <a:extLst>
              <a:ext uri="{FF2B5EF4-FFF2-40B4-BE49-F238E27FC236}">
                <a16:creationId xmlns:a16="http://schemas.microsoft.com/office/drawing/2014/main" id="{C4BCC6E3-DDE2-4A10-8502-B3852B7AAF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3278717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FBE505E-E1E7-4E61-88B5-0C68E18CBBD9}" type="datetime1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338949" name="Rectangle 5">
            <a:extLst>
              <a:ext uri="{FF2B5EF4-FFF2-40B4-BE49-F238E27FC236}">
                <a16:creationId xmlns:a16="http://schemas.microsoft.com/office/drawing/2014/main" id="{58BFDDC7-D4C5-4F75-9DEA-B46A6BAD3E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8950" name="Rectangle 6">
            <a:extLst>
              <a:ext uri="{FF2B5EF4-FFF2-40B4-BE49-F238E27FC236}">
                <a16:creationId xmlns:a16="http://schemas.microsoft.com/office/drawing/2014/main" id="{6F51F4DB-BB4E-4A65-9F25-B60009485E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EE72B94-7C31-49CC-9D5B-A245C9B8AE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338951" name="Rectangle 7">
            <a:extLst>
              <a:ext uri="{FF2B5EF4-FFF2-40B4-BE49-F238E27FC236}">
                <a16:creationId xmlns:a16="http://schemas.microsoft.com/office/drawing/2014/main" id="{8C74081F-4F76-4ABE-8838-D06EDC927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11"/>
            <a:ext cx="12192000" cy="646331"/>
          </a:xfrm>
          <a:prstGeom prst="rect">
            <a:avLst/>
          </a:prstGeom>
          <a:solidFill>
            <a:schemeClr val="accent4">
              <a:lumMod val="10000"/>
            </a:schemeClr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pt-BR" altLang="pt-BR" sz="1800" b="1" dirty="0"/>
              <a:t>CURSO SUPERIOR DE TECNOLOGIA EM ANÁLISE </a:t>
            </a:r>
          </a:p>
          <a:p>
            <a:pPr algn="ctr" eaLnBrk="1" hangingPunct="1">
              <a:defRPr/>
            </a:pPr>
            <a:r>
              <a:rPr lang="pt-BR" altLang="pt-BR" sz="1800" b="1" dirty="0"/>
              <a:t>E DESENVOLVIMENTO DE SISTEMAS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4" name="Imagem 1">
            <a:extLst>
              <a:ext uri="{FF2B5EF4-FFF2-40B4-BE49-F238E27FC236}">
                <a16:creationId xmlns:a16="http://schemas.microsoft.com/office/drawing/2014/main" id="{CFD722A8-AFE6-44AC-8E13-AA56413C092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7" y="133355"/>
            <a:ext cx="204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377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891" indent="-342891" algn="ctr" rtl="0" eaLnBrk="0" fontAlgn="base" hangingPunct="0">
        <a:spcBef>
          <a:spcPct val="20000"/>
        </a:spcBef>
        <a:spcAft>
          <a:spcPct val="50000"/>
        </a:spcAft>
        <a:buClr>
          <a:schemeClr val="hlink"/>
        </a:buClr>
        <a:buSzPct val="65000"/>
        <a:buFont typeface="Wingdings" panose="05000000000000000000" pitchFamily="2" charset="2"/>
        <a:defRPr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50000"/>
        </a:spcAft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Ø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430A5-504C-FD69-4F20-3A32AE738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Linguagem de Programação em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35948D-EDE4-9F33-855F-95A573831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Conteúdo Programático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F2F7E6-0681-EE53-38D2-3E98A85A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E1CA5-92B8-C057-1615-CAC4D50C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effectLst/>
              </a:rPr>
              <a:t>2. ESTRUTURAS BÁSICAS EM C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B85025-7293-C177-A163-A0F17887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pt-PT" dirty="0">
                <a:effectLst/>
              </a:rPr>
              <a:t>2.1 Operadores Aritméticos, Relacionais e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2.1.1 Operadores Aritméticos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2.1.2 Operadores Relacionais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2.1.3 Operadores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2.2 Aplicações e Exemplos do Uso de Operadores na Linguagem C</a:t>
            </a:r>
            <a:endParaRPr lang="pt-BR" dirty="0">
              <a:effectLst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146E5A-FB57-1C8D-CB65-DBCE4200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78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316B3C92-509F-4367-9C88-DDD8DF098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2.5 - Expressões aritméticas e lógicas;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Operadores Aritméticos</a:t>
            </a:r>
            <a:endParaRPr lang="pt-BR" altLang="pt-BR" b="0" dirty="0">
              <a:effectLst/>
            </a:endParaRPr>
          </a:p>
        </p:txBody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1FAAEC73-259B-47BF-B917-A23B747DF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effectLst/>
            </a:endParaRPr>
          </a:p>
        </p:txBody>
      </p:sp>
      <p:graphicFrame>
        <p:nvGraphicFramePr>
          <p:cNvPr id="247844" name="Group 36">
            <a:extLst>
              <a:ext uri="{FF2B5EF4-FFF2-40B4-BE49-F238E27FC236}">
                <a16:creationId xmlns:a16="http://schemas.microsoft.com/office/drawing/2014/main" id="{C47FAF44-3C62-4337-88DD-971E6A5944B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687173"/>
          <a:ext cx="7504113" cy="445008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1255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Operador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Ação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Soma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Subtração ou Troca de sinal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Multiplicação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Divisão (inteira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Resto de divisão (de inteiros)</a:t>
                      </a:r>
                      <a:endParaRPr kumimoji="0" lang="pt-BR" alt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++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Incremento (inteiro e ponto flutuante)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--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Decremento (inteiro e ponto flutuante)</a:t>
                      </a:r>
                      <a:endParaRPr kumimoji="0" lang="pt-BR" alt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4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308B4D7B-CD05-4F13-9C8B-32D5DD49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lógicas; 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Operadores Aritméticos</a:t>
            </a:r>
            <a:endParaRPr lang="pt-BR" altLang="pt-BR" b="0">
              <a:effectLst/>
            </a:endParaRPr>
          </a:p>
        </p:txBody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5BEA2F5F-0534-436F-976C-E3DC81029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b="1" dirty="0">
                <a:effectLst/>
              </a:rPr>
              <a:t>Restrições de operandos.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 Os operandos dos operadores aritméticos devem ser constantes numéricas ou identificadores de variáveis numéricas.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Os operadores +, -, *, / podem operar números de todos os tipos (inteiros ou reais) porém o operador </a:t>
            </a:r>
            <a:r>
              <a:rPr lang="pt-BR" altLang="pt-BR" b="1" dirty="0">
                <a:effectLst/>
              </a:rPr>
              <a:t>%</a:t>
            </a:r>
            <a:r>
              <a:rPr lang="pt-BR" altLang="pt-BR" dirty="0">
                <a:effectLst/>
              </a:rPr>
              <a:t> somente aceita operandos </a:t>
            </a:r>
            <a:r>
              <a:rPr lang="pt-BR" altLang="pt-BR" b="1" dirty="0">
                <a:effectLst/>
              </a:rPr>
              <a:t>inteiros</a:t>
            </a:r>
            <a:r>
              <a:rPr lang="pt-BR" altLang="pt-BR" dirty="0">
                <a:effectLst/>
              </a:rPr>
              <a:t>. </a:t>
            </a:r>
          </a:p>
          <a:p>
            <a:pPr algn="just"/>
            <a:r>
              <a:rPr lang="pt-BR" altLang="pt-BR" dirty="0">
                <a:effectLst/>
              </a:rPr>
              <a:t>	</a:t>
            </a:r>
            <a:r>
              <a:rPr lang="pt-BR" altLang="pt-BR" b="1" dirty="0">
                <a:effectLst/>
              </a:rPr>
              <a:t>Exemplo:</a:t>
            </a:r>
            <a:r>
              <a:rPr lang="pt-BR" altLang="pt-BR" dirty="0">
                <a:effectLst/>
              </a:rPr>
              <a:t>  Expressões válidas</a:t>
            </a:r>
          </a:p>
          <a:p>
            <a:pPr algn="l"/>
            <a:r>
              <a:rPr lang="pt-BR" altLang="pt-BR" dirty="0">
                <a:effectLst/>
              </a:rPr>
              <a:t>	</a:t>
            </a:r>
          </a:p>
          <a:p>
            <a:pPr algn="l"/>
            <a:r>
              <a:rPr lang="pt-BR" altLang="pt-BR" dirty="0">
                <a:effectLst/>
              </a:rPr>
              <a:t>	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B52AE00-D0F9-F8B2-95F2-101E94B06670}"/>
              </a:ext>
            </a:extLst>
          </p:cNvPr>
          <p:cNvGraphicFramePr>
            <a:graphicFrameLocks noGrp="1"/>
          </p:cNvGraphicFramePr>
          <p:nvPr/>
        </p:nvGraphicFramePr>
        <p:xfrm>
          <a:off x="983432" y="3992881"/>
          <a:ext cx="252028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130">
                  <a:extLst>
                    <a:ext uri="{9D8B030D-6E8A-4147-A177-3AD203B41FA5}">
                      <a16:colId xmlns:a16="http://schemas.microsoft.com/office/drawing/2014/main" val="4048676686"/>
                    </a:ext>
                  </a:extLst>
                </a:gridCol>
                <a:gridCol w="1099150">
                  <a:extLst>
                    <a:ext uri="{9D8B030D-6E8A-4147-A177-3AD203B41FA5}">
                      <a16:colId xmlns:a16="http://schemas.microsoft.com/office/drawing/2014/main" val="1091170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b="1" dirty="0">
                          <a:effectLst/>
                        </a:rPr>
                        <a:t>Expressão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b="1" dirty="0">
                          <a:effectLst/>
                        </a:rPr>
                        <a:t>Valor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986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6.4 + 2.1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8.5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70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dirty="0">
                          <a:effectLst/>
                        </a:rPr>
                        <a:t>7 - 2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dirty="0">
                          <a:effectLst/>
                        </a:rPr>
                        <a:t>5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7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2.0 * 2.0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4.0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954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dirty="0">
                          <a:effectLst/>
                        </a:rPr>
                        <a:t>6 / 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effectLst/>
                        </a:rPr>
                        <a:t>2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9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solidFill>
                            <a:srgbClr val="FF0000"/>
                          </a:solidFill>
                          <a:effectLst/>
                        </a:rPr>
                        <a:t>47 % 2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pt-BR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39422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FECB6313-1058-C7B7-BD58-8664378B7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936" y="3573016"/>
            <a:ext cx="5391150" cy="2733675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ED4C06D-404C-BD3D-6A67-C0CBB17A88ED}"/>
              </a:ext>
            </a:extLst>
          </p:cNvPr>
          <p:cNvCxnSpPr>
            <a:cxnSpLocks/>
          </p:cNvCxnSpPr>
          <p:nvPr/>
        </p:nvCxnSpPr>
        <p:spPr bwMode="auto">
          <a:xfrm flipV="1">
            <a:off x="3503712" y="5301208"/>
            <a:ext cx="4032448" cy="72018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32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96E75-AFF1-42E9-B6B2-AFEA6EF1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Operadores Incrementais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E7632E-AD92-4BF1-A272-3BD0668E5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pt-BR" dirty="0">
                <a:effectLst/>
              </a:rPr>
              <a:t>Em programação existem instruções muito comuns chamadas de </a:t>
            </a:r>
            <a:r>
              <a:rPr lang="pt-BR" b="1" dirty="0">
                <a:effectLst/>
              </a:rPr>
              <a:t>incremento</a:t>
            </a:r>
            <a:r>
              <a:rPr lang="pt-BR" dirty="0">
                <a:effectLst/>
              </a:rPr>
              <a:t> e </a:t>
            </a:r>
            <a:r>
              <a:rPr lang="pt-BR" b="1" dirty="0">
                <a:effectLst/>
              </a:rPr>
              <a:t>decremento</a:t>
            </a:r>
            <a:r>
              <a:rPr lang="pt-BR" dirty="0">
                <a:effectLst/>
              </a:rPr>
              <a:t>. Uma instrução de incremento </a:t>
            </a:r>
            <a:r>
              <a:rPr lang="pt-BR" b="1" dirty="0">
                <a:effectLst/>
              </a:rPr>
              <a:t>adiciona</a:t>
            </a:r>
            <a:r>
              <a:rPr lang="pt-BR" dirty="0">
                <a:effectLst/>
              </a:rPr>
              <a:t> uma unidade ao conteúdo de uma variável.  Uma instrução de decremento </a:t>
            </a:r>
            <a:r>
              <a:rPr lang="pt-BR" b="1" dirty="0">
                <a:effectLst/>
              </a:rPr>
              <a:t>subtrai</a:t>
            </a:r>
            <a:r>
              <a:rPr lang="pt-BR" dirty="0">
                <a:effectLst/>
              </a:rPr>
              <a:t> uma unidade do conteúdo de uma variável.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pt-BR" dirty="0">
                <a:effectLst/>
              </a:rPr>
              <a:t>  Existem, em C, operadores específicos para realizar as operações de incremento (++) e decremento (--)</a:t>
            </a:r>
            <a:r>
              <a:rPr lang="pt-BR" dirty="0"/>
              <a:t>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b="1" dirty="0"/>
              <a:t>Sintaxe:</a:t>
            </a:r>
            <a:r>
              <a:rPr lang="pt-BR" dirty="0"/>
              <a:t> A sintaxe dos operadores incrementais é a seguinte:</a:t>
            </a:r>
            <a:endParaRPr lang="pt-BR" b="1" dirty="0"/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b="1" dirty="0"/>
              <a:t> instrução equivalente</a:t>
            </a:r>
            <a:endParaRPr lang="pt-BR" dirty="0"/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dirty="0"/>
              <a:t>++ var      </a:t>
            </a:r>
            <a:r>
              <a:rPr lang="pt-BR" dirty="0" err="1"/>
              <a:t>var</a:t>
            </a:r>
            <a:r>
              <a:rPr lang="pt-BR" dirty="0"/>
              <a:t> = var + 1	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dirty="0"/>
              <a:t>var ++      var = var + 1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dirty="0"/>
              <a:t>-- var   </a:t>
            </a:r>
            <a:r>
              <a:rPr lang="pt-BR" b="1" dirty="0"/>
              <a:t>   </a:t>
            </a:r>
            <a:r>
              <a:rPr lang="pt-BR" dirty="0" err="1"/>
              <a:t>var</a:t>
            </a:r>
            <a:r>
              <a:rPr lang="pt-BR" dirty="0"/>
              <a:t> = var - 1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dirty="0"/>
              <a:t>var --      var = var - 1</a:t>
            </a:r>
            <a:r>
              <a:rPr lang="pt-BR" sz="1600" dirty="0"/>
              <a:t>  </a:t>
            </a:r>
          </a:p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D168AF-195A-49D1-8E17-7F24B8E9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00C796-EEE1-42D6-BE1B-97CE41B8498A}" type="slidenum">
              <a:rPr lang="pt-BR" smtClean="0"/>
              <a:pPr>
                <a:defRPr/>
              </a:pPr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031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8C836082-E3FD-44AB-A123-4183C108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61834292-F4BB-4A4D-87CC-841D248DBC9F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23362" name="Rectangle 2">
            <a:extLst>
              <a:ext uri="{FF2B5EF4-FFF2-40B4-BE49-F238E27FC236}">
                <a16:creationId xmlns:a16="http://schemas.microsoft.com/office/drawing/2014/main" id="{855D8D81-F395-4869-8341-C0B2D46E7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1400" dirty="0"/>
          </a:p>
        </p:txBody>
      </p:sp>
      <p:sp>
        <p:nvSpPr>
          <p:cNvPr id="1423363" name="Rectangle 3">
            <a:extLst>
              <a:ext uri="{FF2B5EF4-FFF2-40B4-BE49-F238E27FC236}">
                <a16:creationId xmlns:a16="http://schemas.microsoft.com/office/drawing/2014/main" id="{08651B25-AB9B-4008-BD56-AFC42AB3B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pt-BR" sz="2000" b="1"/>
              <a:t>Operadores Incrementais</a:t>
            </a:r>
          </a:p>
          <a:p>
            <a:pPr marL="0" indent="0" eaLnBrk="1" hangingPunct="1">
              <a:defRPr/>
            </a:pPr>
            <a:r>
              <a:rPr lang="pt-BR" sz="2000"/>
              <a:t>   </a:t>
            </a:r>
            <a:r>
              <a:rPr lang="pt-BR" b="1">
                <a:effectLst/>
              </a:rPr>
              <a:t>Exemplo:</a:t>
            </a:r>
            <a:r>
              <a:rPr lang="pt-BR">
                <a:effectLst/>
              </a:rPr>
              <a:t>  Observe o fragmento de código abaixo e note o valor que as variáveis recebem </a:t>
            </a:r>
            <a:r>
              <a:rPr lang="pt-BR" b="1">
                <a:effectLst/>
              </a:rPr>
              <a:t>após</a:t>
            </a:r>
            <a:r>
              <a:rPr lang="pt-BR">
                <a:effectLst/>
              </a:rPr>
              <a:t> a execução da instrução:</a:t>
            </a:r>
          </a:p>
          <a:p>
            <a:pPr marL="0" indent="0" eaLnBrk="1" hangingPunct="1">
              <a:defRPr/>
            </a:pPr>
            <a:r>
              <a:rPr lang="pt-BR">
                <a:effectLst/>
              </a:rPr>
              <a:t>	                        </a:t>
            </a:r>
            <a:r>
              <a:rPr lang="pt-BR" b="1">
                <a:effectLst/>
              </a:rPr>
              <a:t>valor das variáveis</a:t>
            </a:r>
            <a:endParaRPr lang="pt-BR">
              <a:effectLst/>
            </a:endParaRPr>
          </a:p>
          <a:p>
            <a:pPr marL="0" indent="0" eaLnBrk="1" hangingPunct="1">
              <a:defRPr/>
            </a:pPr>
            <a:r>
              <a:rPr lang="pt-BR">
                <a:effectLst/>
              </a:rPr>
              <a:t>int a=0, b=0, c=0, i = 3;     // a:0   </a:t>
            </a:r>
            <a:r>
              <a:rPr lang="en-US">
                <a:effectLst/>
              </a:rPr>
              <a:t>b: 0   c: 0   i: 3</a:t>
            </a:r>
            <a:endParaRPr lang="pt-BR">
              <a:effectLst/>
            </a:endParaRPr>
          </a:p>
          <a:p>
            <a:pPr marL="0" indent="0" eaLnBrk="1" hangingPunct="1">
              <a:defRPr/>
            </a:pPr>
            <a:r>
              <a:rPr lang="pt-BR">
                <a:effectLst/>
              </a:rPr>
              <a:t>a = i++;                // a: 3   b: 0   c: 0   i: 4</a:t>
            </a:r>
          </a:p>
          <a:p>
            <a:pPr marL="0" indent="0" eaLnBrk="1" hangingPunct="1">
              <a:defRPr/>
            </a:pPr>
            <a:r>
              <a:rPr lang="pt-BR">
                <a:effectLst/>
              </a:rPr>
              <a:t>b = ++i;                // a: 3   b: 5   c: 0   i: 5</a:t>
            </a:r>
          </a:p>
          <a:p>
            <a:pPr marL="0" indent="0" eaLnBrk="1" hangingPunct="1">
              <a:defRPr/>
            </a:pPr>
            <a:r>
              <a:rPr lang="pt-BR">
                <a:effectLst/>
              </a:rPr>
              <a:t>c = --i;                // a: 3   b: 5   c: 4   i: 4</a:t>
            </a:r>
          </a:p>
        </p:txBody>
      </p:sp>
      <p:sp>
        <p:nvSpPr>
          <p:cNvPr id="354309" name="Text Box 5">
            <a:extLst>
              <a:ext uri="{FF2B5EF4-FFF2-40B4-BE49-F238E27FC236}">
                <a16:creationId xmlns:a16="http://schemas.microsoft.com/office/drawing/2014/main" id="{3CEF4118-2DDF-406E-8AEA-F6F060A32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7" y="5172077"/>
            <a:ext cx="7005639" cy="923330"/>
          </a:xfrm>
          <a:prstGeom prst="rect">
            <a:avLst/>
          </a:prstGeom>
          <a:solidFill>
            <a:srgbClr val="A4A4D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/>
              <a:t>Os  operadores incrementais tem a mais alta precedência entre todos, sendo superados apenas pelos parênteses que tem precedência ainda maior </a:t>
            </a:r>
          </a:p>
        </p:txBody>
      </p:sp>
    </p:spTree>
    <p:extLst>
      <p:ext uri="{BB962C8B-B14F-4D97-AF65-F5344CB8AC3E}">
        <p14:creationId xmlns:p14="http://schemas.microsoft.com/office/powerpoint/2010/main" val="100658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DBCD2C19-DE9A-4DD2-BC03-75AC3D6C3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lógicas; 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Operadores Incrementais 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E1E3C87D-DA4C-4F18-BB4B-46766E683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5"/>
            <a:ext cx="10742984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174621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Muitas vezes queremos alterar o valor de uma variável realizando alguma Em programação existem instruções muito comuns chamadas de </a:t>
            </a:r>
            <a:r>
              <a:rPr lang="pt-BR" altLang="pt-BR" b="1" dirty="0">
                <a:effectLst/>
              </a:rPr>
              <a:t>incremento</a:t>
            </a:r>
            <a:r>
              <a:rPr lang="pt-BR" altLang="pt-BR" dirty="0">
                <a:effectLst/>
              </a:rPr>
              <a:t> e </a:t>
            </a:r>
            <a:r>
              <a:rPr lang="pt-BR" altLang="pt-BR" b="1" dirty="0">
                <a:effectLst/>
              </a:rPr>
              <a:t>decremento</a:t>
            </a:r>
            <a:r>
              <a:rPr lang="pt-BR" altLang="pt-BR" dirty="0">
                <a:effectLst/>
              </a:rPr>
              <a:t>. Uma instrução de incremento </a:t>
            </a:r>
            <a:r>
              <a:rPr lang="pt-BR" altLang="pt-BR" b="1" dirty="0">
                <a:effectLst/>
              </a:rPr>
              <a:t>adiciona</a:t>
            </a:r>
            <a:r>
              <a:rPr lang="pt-BR" altLang="pt-BR" dirty="0">
                <a:effectLst/>
              </a:rPr>
              <a:t> uma unidade ao conteúdo de uma variável.  Uma instrução de decremento </a:t>
            </a:r>
            <a:r>
              <a:rPr lang="pt-BR" altLang="pt-BR" b="1" dirty="0">
                <a:effectLst/>
              </a:rPr>
              <a:t>subtrai</a:t>
            </a:r>
            <a:r>
              <a:rPr lang="pt-BR" altLang="pt-BR" dirty="0">
                <a:effectLst/>
              </a:rPr>
              <a:t> uma unidade do conteúdo de uma variável. 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Existem, em C, operadores específicos para realizar as operações de incremento (++) e decremento (--). Eles são genericamente chamados de </a:t>
            </a:r>
            <a:r>
              <a:rPr lang="pt-BR" altLang="pt-BR" b="1" dirty="0">
                <a:effectLst/>
              </a:rPr>
              <a:t>operadores incrementais</a:t>
            </a:r>
            <a:r>
              <a:rPr lang="pt-BR" altLang="pt-BR" dirty="0">
                <a:effectLst/>
              </a:rPr>
              <a:t>.</a:t>
            </a:r>
            <a:endParaRPr lang="pt-BR" altLang="pt-BR" b="1" dirty="0">
              <a:effectLst/>
            </a:endParaRP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 b="1" dirty="0">
                <a:effectLst/>
              </a:rPr>
              <a:t>Sintaxe:</a:t>
            </a:r>
            <a:r>
              <a:rPr lang="pt-BR" altLang="pt-BR" dirty="0">
                <a:effectLst/>
              </a:rPr>
              <a:t> A sintaxe dos operadores incrementais é a seguinte:</a:t>
            </a:r>
            <a:endParaRPr lang="pt-BR" altLang="pt-BR" b="1" dirty="0">
              <a:effectLst/>
            </a:endParaRPr>
          </a:p>
        </p:txBody>
      </p:sp>
      <p:sp>
        <p:nvSpPr>
          <p:cNvPr id="258052" name="Rectangle 4">
            <a:extLst>
              <a:ext uri="{FF2B5EF4-FFF2-40B4-BE49-F238E27FC236}">
                <a16:creationId xmlns:a16="http://schemas.microsoft.com/office/drawing/2014/main" id="{EECDE821-B00B-4738-A4A4-1BB095F60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4077072"/>
            <a:ext cx="3095625" cy="1200329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++ var      var = var + 1	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++      var = var + 1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-- var        var = var - 1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--       var = var - 1</a:t>
            </a:r>
          </a:p>
        </p:txBody>
      </p:sp>
      <p:sp>
        <p:nvSpPr>
          <p:cNvPr id="258053" name="Rectangle 5">
            <a:extLst>
              <a:ext uri="{FF2B5EF4-FFF2-40B4-BE49-F238E27FC236}">
                <a16:creationId xmlns:a16="http://schemas.microsoft.com/office/drawing/2014/main" id="{3D196E03-B23E-40C7-B65C-6CA260397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6477000"/>
            <a:ext cx="2904962" cy="369332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Operador incremental .cpp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A20F7B1-E2E7-5BD2-A3D5-919051B1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423" y="3916363"/>
            <a:ext cx="6697051" cy="256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5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BD56648-A731-47F0-BBE2-6E737C49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3C7D3-3435-4233-832E-4A8222DC7D1B}" type="slidenum">
              <a:rPr lang="pt-BR" smtClean="0"/>
              <a:pPr>
                <a:defRPr/>
              </a:pPr>
              <a:t>8</a:t>
            </a:fld>
            <a:endParaRPr lang="pt-BR"/>
          </a:p>
        </p:txBody>
      </p:sp>
      <p:sp>
        <p:nvSpPr>
          <p:cNvPr id="262147" name="Retângulo 2">
            <a:extLst>
              <a:ext uri="{FF2B5EF4-FFF2-40B4-BE49-F238E27FC236}">
                <a16:creationId xmlns:a16="http://schemas.microsoft.com/office/drawing/2014/main" id="{09F6BB17-AA7D-4285-A500-FF2AA60DD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879920"/>
            <a:ext cx="3240087" cy="39703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//declaração da variável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int i=0,j=0,k=0,z=0, a=0;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++i;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i= %d, \n\</a:t>
            </a:r>
            <a:r>
              <a:rPr lang="pt-BR" altLang="pt-BR" dirty="0" err="1">
                <a:solidFill>
                  <a:schemeClr val="tx1"/>
                </a:solidFill>
              </a:rPr>
              <a:t>n",i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j++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j= %d, \n\</a:t>
            </a:r>
            <a:r>
              <a:rPr lang="pt-BR" altLang="pt-BR" dirty="0" err="1">
                <a:solidFill>
                  <a:schemeClr val="tx1"/>
                </a:solidFill>
              </a:rPr>
              <a:t>n",j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--k;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k= %d, \n\</a:t>
            </a:r>
            <a:r>
              <a:rPr lang="pt-BR" altLang="pt-BR" dirty="0" err="1">
                <a:solidFill>
                  <a:schemeClr val="tx1"/>
                </a:solidFill>
              </a:rPr>
              <a:t>n",k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z--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z= %d, \n\</a:t>
            </a:r>
            <a:r>
              <a:rPr lang="pt-BR" altLang="pt-BR" dirty="0" err="1">
                <a:solidFill>
                  <a:schemeClr val="tx1"/>
                </a:solidFill>
              </a:rPr>
              <a:t>n",z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62148" name="Retângulo 3">
            <a:extLst>
              <a:ext uri="{FF2B5EF4-FFF2-40B4-BE49-F238E27FC236}">
                <a16:creationId xmlns:a16="http://schemas.microsoft.com/office/drawing/2014/main" id="{2FA17DCF-E813-40B4-9EEB-DFFA7DE69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708" y="1832971"/>
            <a:ext cx="4572000" cy="39703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//declaração da variável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int i=0,j=0,k=0,z=0,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i= %d, \n\n",++i);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j= %d, \n\</a:t>
            </a:r>
            <a:r>
              <a:rPr lang="pt-BR" altLang="pt-BR" dirty="0" err="1">
                <a:solidFill>
                  <a:schemeClr val="tx1"/>
                </a:solidFill>
              </a:rPr>
              <a:t>n",j</a:t>
            </a:r>
            <a:r>
              <a:rPr lang="pt-BR" altLang="pt-BR" dirty="0">
                <a:solidFill>
                  <a:schemeClr val="tx1"/>
                </a:solidFill>
              </a:rPr>
              <a:t>++);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k= %d, \n\n",--k);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</a:t>
            </a: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 z= %d, \n\</a:t>
            </a:r>
            <a:r>
              <a:rPr lang="pt-BR" altLang="pt-BR" dirty="0" err="1">
                <a:solidFill>
                  <a:schemeClr val="tx1"/>
                </a:solidFill>
              </a:rPr>
              <a:t>n",z</a:t>
            </a:r>
            <a:r>
              <a:rPr lang="pt-BR" altLang="pt-BR" dirty="0">
                <a:solidFill>
                  <a:schemeClr val="tx1"/>
                </a:solidFill>
              </a:rPr>
              <a:t>--);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65C18-0286-61B0-7B13-072600310BA5}"/>
              </a:ext>
            </a:extLst>
          </p:cNvPr>
          <p:cNvSpPr txBox="1">
            <a:spLocks noChangeArrowheads="1"/>
          </p:cNvSpPr>
          <p:nvPr/>
        </p:nvSpPr>
        <p:spPr>
          <a:xfrm>
            <a:off x="508100" y="710762"/>
            <a:ext cx="10972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r>
              <a:rPr lang="pt-BR" altLang="pt-BR" kern="0" dirty="0">
                <a:effectLst/>
              </a:rPr>
              <a:t>Operadores Incrementais</a:t>
            </a:r>
          </a:p>
          <a:p>
            <a:r>
              <a:rPr lang="pt-BR" altLang="pt-BR" kern="0" dirty="0">
                <a:effectLst/>
              </a:rPr>
              <a:t>O que será impresso em cada comando </a:t>
            </a:r>
            <a:r>
              <a:rPr lang="pt-BR" altLang="pt-BR" kern="0" dirty="0" err="1">
                <a:effectLst/>
              </a:rPr>
              <a:t>printf</a:t>
            </a:r>
            <a:r>
              <a:rPr lang="pt-BR" altLang="pt-BR" kern="0" dirty="0">
                <a:effectLst/>
              </a:rPr>
              <a:t>?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E2A8B8-B93F-7E7C-8E75-CC20C78BE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044" y="2919936"/>
            <a:ext cx="2459788" cy="28527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EFEEE5D-763E-995D-6DF7-458C1592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288" y="3108412"/>
            <a:ext cx="2366688" cy="2664296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19CDA4A3-C3C4-9EBB-FB83-EFD6F55F4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9661" y="6477000"/>
            <a:ext cx="2904962" cy="369332"/>
          </a:xfrm>
          <a:prstGeom prst="rect">
            <a:avLst/>
          </a:prstGeom>
          <a:solidFill>
            <a:srgbClr val="FF660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Operador incremental .cpp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862B93-67B4-4F2D-1DD7-DEEA60D69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193" y="573975"/>
            <a:ext cx="3095625" cy="1200329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++ var      var = var + 1	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++      var = var + 1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-- var        var = var - 1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--       var = var - 1</a:t>
            </a:r>
          </a:p>
        </p:txBody>
      </p:sp>
    </p:spTree>
    <p:extLst>
      <p:ext uri="{BB962C8B-B14F-4D97-AF65-F5344CB8AC3E}">
        <p14:creationId xmlns:p14="http://schemas.microsoft.com/office/powerpoint/2010/main" val="66111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E870717B-9F2D-46CC-B0CC-118102435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2.5 - Expressões aritméticas e lógicas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Operadores Incrementais 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0BD56553-44AD-49F5-870A-77792999F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Observe  que existe duas sintaxes possíveis para os operadores: pode-se colocar o operador </a:t>
            </a:r>
            <a:r>
              <a:rPr lang="pt-BR" altLang="pt-BR" b="1">
                <a:effectLst/>
              </a:rPr>
              <a:t>à esquerda</a:t>
            </a:r>
            <a:r>
              <a:rPr lang="pt-BR" altLang="pt-BR">
                <a:effectLst/>
              </a:rPr>
              <a:t> ou </a:t>
            </a:r>
            <a:r>
              <a:rPr lang="pt-BR" altLang="pt-BR" b="1">
                <a:effectLst/>
              </a:rPr>
              <a:t>á direita</a:t>
            </a:r>
            <a:r>
              <a:rPr lang="pt-BR" altLang="pt-BR">
                <a:effectLst/>
              </a:rPr>
              <a:t> da variável. 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Nos dois casos o valor da variável será incrementado (ou decrementado) de uma unidade.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Se o operador for colocado </a:t>
            </a:r>
            <a:r>
              <a:rPr lang="pt-BR" altLang="pt-BR" b="1">
                <a:effectLst/>
              </a:rPr>
              <a:t>á esquerda</a:t>
            </a:r>
            <a:r>
              <a:rPr lang="pt-BR" altLang="pt-BR">
                <a:effectLst/>
              </a:rPr>
              <a:t> da variável, o valor da variável será incrementado (ou decrementado) </a:t>
            </a:r>
            <a:r>
              <a:rPr lang="pt-BR" altLang="pt-BR" b="1">
                <a:effectLst/>
              </a:rPr>
              <a:t>antes</a:t>
            </a:r>
            <a:r>
              <a:rPr lang="pt-BR" altLang="pt-BR">
                <a:effectLst/>
              </a:rPr>
              <a:t> que a variável seja usada em alguma outra operação. </a:t>
            </a:r>
          </a:p>
          <a:p>
            <a:pPr marL="0" indent="174621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Caso o operador seja colocado </a:t>
            </a:r>
            <a:r>
              <a:rPr lang="pt-BR" altLang="pt-BR" b="1">
                <a:effectLst/>
              </a:rPr>
              <a:t>à direita</a:t>
            </a:r>
            <a:r>
              <a:rPr lang="pt-BR" altLang="pt-BR">
                <a:effectLst/>
              </a:rPr>
              <a:t> da variável, o valor da variável será incrementado (ou decrementado) </a:t>
            </a:r>
            <a:r>
              <a:rPr lang="pt-BR" altLang="pt-BR" b="1">
                <a:effectLst/>
              </a:rPr>
              <a:t>depois</a:t>
            </a:r>
            <a:r>
              <a:rPr lang="pt-BR" altLang="pt-BR">
                <a:effectLst/>
              </a:rPr>
              <a:t> que a variável for usada em alguma outra operação. </a:t>
            </a:r>
          </a:p>
        </p:txBody>
      </p:sp>
      <p:sp>
        <p:nvSpPr>
          <p:cNvPr id="260100" name="Rectangle 4">
            <a:extLst>
              <a:ext uri="{FF2B5EF4-FFF2-40B4-BE49-F238E27FC236}">
                <a16:creationId xmlns:a16="http://schemas.microsoft.com/office/drawing/2014/main" id="{E53BBD96-5986-41FB-97F4-9FEFE5C33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2" y="6481764"/>
            <a:ext cx="3026470" cy="369332"/>
          </a:xfrm>
          <a:prstGeom prst="rect">
            <a:avLst/>
          </a:prstGeom>
          <a:solidFill>
            <a:srgbClr val="FF660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Operador incremental 2.cpp</a:t>
            </a:r>
          </a:p>
        </p:txBody>
      </p:sp>
    </p:spTree>
    <p:extLst>
      <p:ext uri="{BB962C8B-B14F-4D97-AF65-F5344CB8AC3E}">
        <p14:creationId xmlns:p14="http://schemas.microsoft.com/office/powerpoint/2010/main" val="210137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0DCF-8618-96B8-AC9F-FDA3B1BF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267C2C69-C99B-9372-7FDD-D481E4D86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aritméticas e lógicas;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Operadores Incrementais </a:t>
            </a:r>
          </a:p>
        </p:txBody>
      </p:sp>
      <p:sp>
        <p:nvSpPr>
          <p:cNvPr id="258052" name="Rectangle 4">
            <a:extLst>
              <a:ext uri="{FF2B5EF4-FFF2-40B4-BE49-F238E27FC236}">
                <a16:creationId xmlns:a16="http://schemas.microsoft.com/office/drawing/2014/main" id="{A89DBD25-B53B-8688-DEBC-A626CFE7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193" y="573975"/>
            <a:ext cx="3095625" cy="1200329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++ var      var = var + 1	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++      var = var + 1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-- var        var = var - 1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i="1"/>
              <a:t>var --       var = var - 1</a:t>
            </a:r>
          </a:p>
        </p:txBody>
      </p:sp>
      <p:sp>
        <p:nvSpPr>
          <p:cNvPr id="258053" name="Rectangle 5">
            <a:extLst>
              <a:ext uri="{FF2B5EF4-FFF2-40B4-BE49-F238E27FC236}">
                <a16:creationId xmlns:a16="http://schemas.microsoft.com/office/drawing/2014/main" id="{EA3BBFE9-EAE4-6FA2-115F-01E73E6C6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9661" y="6477000"/>
            <a:ext cx="3026470" cy="369332"/>
          </a:xfrm>
          <a:prstGeom prst="rect">
            <a:avLst/>
          </a:prstGeom>
          <a:solidFill>
            <a:srgbClr val="ECFB7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>
                <a:solidFill>
                  <a:schemeClr val="bg1"/>
                </a:solidFill>
              </a:rPr>
              <a:t>Operador incremental2.cpp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A5758F-9715-B9CA-D38C-51CAC96D51BF}"/>
              </a:ext>
            </a:extLst>
          </p:cNvPr>
          <p:cNvSpPr txBox="1"/>
          <p:nvPr/>
        </p:nvSpPr>
        <p:spPr>
          <a:xfrm>
            <a:off x="335360" y="1774304"/>
            <a:ext cx="6144986" cy="369331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r>
              <a:rPr lang="pt-BR" dirty="0" err="1"/>
              <a:t>main</a:t>
            </a:r>
            <a:r>
              <a:rPr lang="pt-BR" dirty="0"/>
              <a:t>()</a:t>
            </a:r>
          </a:p>
          <a:p>
            <a:r>
              <a:rPr lang="pt-BR" dirty="0"/>
              <a:t> {</a:t>
            </a:r>
          </a:p>
          <a:p>
            <a:r>
              <a:rPr lang="pt-BR" dirty="0"/>
              <a:t> int a=0, b=0, c=0, i = 4;     // a: 0   b: 0   c: 0   i: 3</a:t>
            </a:r>
          </a:p>
          <a:p>
            <a:r>
              <a:rPr lang="pt-BR" dirty="0"/>
              <a:t>a = i++;  </a:t>
            </a:r>
          </a:p>
          <a:p>
            <a:r>
              <a:rPr lang="pt-BR" dirty="0" err="1"/>
              <a:t>printf</a:t>
            </a:r>
            <a:r>
              <a:rPr lang="pt-BR" dirty="0"/>
              <a:t>("++ a Direita \t a= %d, i= %d, \n\n",</a:t>
            </a:r>
            <a:r>
              <a:rPr lang="pt-BR" dirty="0" err="1"/>
              <a:t>a,i</a:t>
            </a:r>
            <a:r>
              <a:rPr lang="pt-BR" dirty="0"/>
              <a:t>); </a:t>
            </a:r>
          </a:p>
          <a:p>
            <a:r>
              <a:rPr lang="pt-BR" dirty="0"/>
              <a:t>b = ++i;                </a:t>
            </a:r>
          </a:p>
          <a:p>
            <a:r>
              <a:rPr lang="pt-BR" dirty="0" err="1"/>
              <a:t>printf</a:t>
            </a:r>
            <a:r>
              <a:rPr lang="pt-BR" dirty="0"/>
              <a:t>("++ a Esquerda \t b= %d, i= %d, \n\n",</a:t>
            </a:r>
            <a:r>
              <a:rPr lang="pt-BR" dirty="0" err="1"/>
              <a:t>b,i</a:t>
            </a:r>
            <a:r>
              <a:rPr lang="pt-BR" dirty="0"/>
              <a:t>);</a:t>
            </a:r>
          </a:p>
          <a:p>
            <a:r>
              <a:rPr lang="pt-BR" dirty="0"/>
              <a:t>c = i--;               </a:t>
            </a:r>
          </a:p>
          <a:p>
            <a:r>
              <a:rPr lang="pt-BR" dirty="0" err="1"/>
              <a:t>printf</a:t>
            </a:r>
            <a:r>
              <a:rPr lang="pt-BR" dirty="0"/>
              <a:t>("-- a Direita \t c= %d, i= %d, \n\n",</a:t>
            </a:r>
            <a:r>
              <a:rPr lang="pt-BR" dirty="0" err="1"/>
              <a:t>c,i</a:t>
            </a:r>
            <a:r>
              <a:rPr lang="pt-BR" dirty="0"/>
              <a:t>); </a:t>
            </a:r>
          </a:p>
          <a:p>
            <a:r>
              <a:rPr lang="pt-BR" dirty="0"/>
              <a:t>c = --i;               </a:t>
            </a:r>
          </a:p>
          <a:p>
            <a:r>
              <a:rPr lang="pt-BR" dirty="0" err="1"/>
              <a:t>printf</a:t>
            </a:r>
            <a:r>
              <a:rPr lang="pt-BR" dirty="0"/>
              <a:t>("-- a Esquerda \t c= %d, i= %d, \n\n",</a:t>
            </a:r>
            <a:r>
              <a:rPr lang="pt-BR" dirty="0" err="1"/>
              <a:t>c,i</a:t>
            </a:r>
            <a:r>
              <a:rPr lang="pt-BR" dirty="0"/>
              <a:t>);</a:t>
            </a:r>
          </a:p>
          <a:p>
            <a:r>
              <a:rPr lang="pt-BR" dirty="0"/>
              <a:t>}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D030B5-032B-0791-1B4E-F68AB4FFD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2905641"/>
            <a:ext cx="3482787" cy="235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3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9004-3657-09B5-4341-D57465C7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DD7F539-7417-A281-0E82-241E81A0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3C7D3-3435-4233-832E-4A8222DC7D1B}" type="slidenum">
              <a:rPr lang="pt-BR" smtClean="0"/>
              <a:pPr>
                <a:defRPr/>
              </a:pPr>
              <a:t>11</a:t>
            </a:fld>
            <a:endParaRPr lang="pt-BR"/>
          </a:p>
        </p:txBody>
      </p:sp>
      <p:sp>
        <p:nvSpPr>
          <p:cNvPr id="262148" name="Retângulo 3">
            <a:extLst>
              <a:ext uri="{FF2B5EF4-FFF2-40B4-BE49-F238E27FC236}">
                <a16:creationId xmlns:a16="http://schemas.microsoft.com/office/drawing/2014/main" id="{5D40E2CB-04F6-0D38-E3A1-21033F42C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720270"/>
            <a:ext cx="4572000" cy="45243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printf("*************************\n");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// zerando as variáveis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i=0;j=0;k=0;z=0;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a=++i;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i= %d,\t a=%d\n\n",i,a);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a=j++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j= %d,\t a=%d\n\n",j,a);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a=--k;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k= %d,\t a=%d\n\n",k,a);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 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a=z-- 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 printf(" z= %d,\t a=%d\n\n",z,a);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385BB8-073E-B4CE-D9E2-C1BE045AF53E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44827"/>
            <a:ext cx="10972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r>
              <a:rPr lang="pt-BR" altLang="pt-BR" kern="0" dirty="0">
                <a:effectLst/>
              </a:rPr>
              <a:t>Operadores Incrementais</a:t>
            </a:r>
          </a:p>
          <a:p>
            <a:r>
              <a:rPr lang="pt-BR" altLang="pt-BR" kern="0" dirty="0">
                <a:effectLst/>
              </a:rPr>
              <a:t>O que será impresso em cada comando </a:t>
            </a:r>
            <a:r>
              <a:rPr lang="pt-BR" altLang="pt-BR" kern="0" dirty="0" err="1">
                <a:effectLst/>
              </a:rPr>
              <a:t>printf</a:t>
            </a:r>
            <a:r>
              <a:rPr lang="pt-BR" altLang="pt-BR" kern="0" dirty="0">
                <a:effectLst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82851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4C1A3AC-F9BA-4C23-9C33-97F84054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41E486-DFB7-4BDC-8BBB-8366151CBB64}" type="slidenum">
              <a:rPr lang="pt-BR" smtClean="0"/>
              <a:pPr>
                <a:defRPr/>
              </a:pPr>
              <a:t>12</a:t>
            </a:fld>
            <a:endParaRPr lang="pt-BR"/>
          </a:p>
        </p:txBody>
      </p:sp>
      <p:sp>
        <p:nvSpPr>
          <p:cNvPr id="263171" name="Retângulo 2">
            <a:extLst>
              <a:ext uri="{FF2B5EF4-FFF2-40B4-BE49-F238E27FC236}">
                <a16:creationId xmlns:a16="http://schemas.microsoft.com/office/drawing/2014/main" id="{D0BC864F-5D12-4DB6-BE52-3B4355AE2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734163"/>
            <a:ext cx="6750051" cy="45243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math.h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()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int a=0, b=0, c=0, i = 3;     // a: 0   b: 0   c: 0   i: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a = i++;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("++ a Direita \</a:t>
            </a:r>
            <a:r>
              <a:rPr lang="pt-BR" altLang="pt-BR" dirty="0" err="1">
                <a:solidFill>
                  <a:schemeClr val="tx1"/>
                </a:solidFill>
              </a:rPr>
              <a:t>ta</a:t>
            </a:r>
            <a:r>
              <a:rPr lang="pt-BR" altLang="pt-BR" dirty="0">
                <a:solidFill>
                  <a:schemeClr val="tx1"/>
                </a:solidFill>
              </a:rPr>
              <a:t>= %d, i= %d, \n\n",</a:t>
            </a:r>
            <a:r>
              <a:rPr lang="pt-BR" altLang="pt-BR" dirty="0" err="1">
                <a:solidFill>
                  <a:schemeClr val="tx1"/>
                </a:solidFill>
              </a:rPr>
              <a:t>a,i</a:t>
            </a:r>
            <a:r>
              <a:rPr lang="pt-BR" altLang="pt-BR" dirty="0">
                <a:solidFill>
                  <a:schemeClr val="tx1"/>
                </a:solidFill>
              </a:rPr>
              <a:t>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i=3;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b = ++i;      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("++ a Esquerda \t b= %d, i= %d, \n\n",</a:t>
            </a:r>
            <a:r>
              <a:rPr lang="pt-BR" altLang="pt-BR" dirty="0" err="1">
                <a:solidFill>
                  <a:schemeClr val="tx1"/>
                </a:solidFill>
              </a:rPr>
              <a:t>b,i</a:t>
            </a:r>
            <a:r>
              <a:rPr lang="pt-BR" altLang="pt-BR" dirty="0">
                <a:solidFill>
                  <a:schemeClr val="tx1"/>
                </a:solidFill>
              </a:rPr>
              <a:t>);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i=3;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c = i--;     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("-- a Direita \t c= %d, i= %d, \n\n",</a:t>
            </a:r>
            <a:r>
              <a:rPr lang="pt-BR" altLang="pt-BR" dirty="0" err="1">
                <a:solidFill>
                  <a:schemeClr val="tx1"/>
                </a:solidFill>
              </a:rPr>
              <a:t>c,i</a:t>
            </a:r>
            <a:r>
              <a:rPr lang="pt-BR" altLang="pt-BR" dirty="0">
                <a:solidFill>
                  <a:schemeClr val="tx1"/>
                </a:solidFill>
              </a:rPr>
              <a:t>);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i=3;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c = --i;     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("-- a Esquerda \t c= %d, i= %d, \n\n",</a:t>
            </a:r>
            <a:r>
              <a:rPr lang="pt-BR" altLang="pt-BR" dirty="0" err="1">
                <a:solidFill>
                  <a:schemeClr val="tx1"/>
                </a:solidFill>
              </a:rPr>
              <a:t>c,i</a:t>
            </a:r>
            <a:r>
              <a:rPr lang="pt-BR" altLang="pt-BR" dirty="0">
                <a:solidFill>
                  <a:schemeClr val="tx1"/>
                </a:solidFill>
              </a:rPr>
              <a:t>);         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 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3BFDD2-B472-D41D-E664-37053C5A6E0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44827"/>
            <a:ext cx="10972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r>
              <a:rPr lang="pt-BR" altLang="pt-BR" kern="0" dirty="0">
                <a:effectLst/>
              </a:rPr>
              <a:t>Operadores Incrementais</a:t>
            </a:r>
          </a:p>
          <a:p>
            <a:r>
              <a:rPr lang="pt-BR" altLang="pt-BR" kern="0" dirty="0">
                <a:effectLst/>
              </a:rPr>
              <a:t>O que será impresso em cada comando </a:t>
            </a:r>
            <a:r>
              <a:rPr lang="pt-BR" altLang="pt-BR" kern="0" dirty="0" err="1">
                <a:effectLst/>
              </a:rPr>
              <a:t>printf</a:t>
            </a:r>
            <a:r>
              <a:rPr lang="pt-BR" altLang="pt-BR" kern="0" dirty="0">
                <a:effectLst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039514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33ABD2AB-E7AC-4970-8DA5-A7D59F8D9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Expressões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aritméticas</a:t>
            </a:r>
            <a:r>
              <a:rPr lang="pt-BR" altLang="pt-BR" dirty="0">
                <a:effectLst/>
              </a:rPr>
              <a:t> </a:t>
            </a:r>
            <a:r>
              <a:rPr lang="pt-BR" altLang="pt-BR" dirty="0">
                <a:solidFill>
                  <a:schemeClr val="tx1">
                    <a:lumMod val="75000"/>
                  </a:schemeClr>
                </a:solidFill>
                <a:effectLst/>
              </a:rPr>
              <a:t>e</a:t>
            </a:r>
            <a:r>
              <a:rPr lang="pt-BR" altLang="pt-BR" dirty="0">
                <a:effectLst/>
              </a:rPr>
              <a:t> lógicas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Operadores relacionais</a:t>
            </a:r>
            <a:r>
              <a:rPr lang="pt-BR" altLang="pt-BR" sz="2600" dirty="0">
                <a:effectLst/>
              </a:rPr>
              <a:t> 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E0F485D0-9B01-456F-A07B-0D8F10C4FE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9376" y="1412879"/>
            <a:ext cx="11305255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Os operadores relacionais retornam verdadeiro (1) ou falso (0). </a:t>
            </a:r>
          </a:p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Uma condição de controle é uma </a:t>
            </a:r>
            <a:r>
              <a:rPr lang="pt-BR" altLang="pt-BR" b="1" dirty="0">
                <a:effectLst/>
              </a:rPr>
              <a:t>expressão lógica</a:t>
            </a:r>
            <a:r>
              <a:rPr lang="pt-BR" altLang="pt-BR" dirty="0">
                <a:effectLst/>
              </a:rPr>
              <a:t> que é avaliada como </a:t>
            </a:r>
            <a:r>
              <a:rPr lang="pt-BR" altLang="pt-BR" b="1" dirty="0">
                <a:effectLst/>
              </a:rPr>
              <a:t>verdadeira</a:t>
            </a:r>
            <a:r>
              <a:rPr lang="pt-BR" altLang="pt-BR" dirty="0">
                <a:effectLst/>
              </a:rPr>
              <a:t> ou </a:t>
            </a:r>
            <a:r>
              <a:rPr lang="pt-BR" altLang="pt-BR" b="1" dirty="0">
                <a:effectLst/>
              </a:rPr>
              <a:t>falsa</a:t>
            </a:r>
            <a:r>
              <a:rPr lang="pt-BR" altLang="pt-BR" dirty="0">
                <a:effectLst/>
              </a:rPr>
              <a:t>. Uma  expressão lógica é construída com </a:t>
            </a:r>
            <a:r>
              <a:rPr lang="pt-BR" altLang="pt-BR" b="1" dirty="0">
                <a:effectLst/>
              </a:rPr>
              <a:t>operadores relacionais</a:t>
            </a:r>
            <a:r>
              <a:rPr lang="pt-BR" altLang="pt-BR" dirty="0">
                <a:effectLst/>
              </a:rPr>
              <a:t> e </a:t>
            </a:r>
            <a:r>
              <a:rPr lang="pt-BR" altLang="pt-BR" b="1" dirty="0">
                <a:effectLst/>
              </a:rPr>
              <a:t>lógicos</a:t>
            </a:r>
            <a:r>
              <a:rPr lang="pt-BR" altLang="pt-BR" dirty="0">
                <a:effectLst/>
              </a:rPr>
              <a:t>. </a:t>
            </a:r>
          </a:p>
          <a:p>
            <a:pPr marL="0" indent="268281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Ao contrário de outras linguagens, em C </a:t>
            </a:r>
            <a:r>
              <a:rPr lang="pt-BR" altLang="pt-BR" b="1" dirty="0">
                <a:effectLst/>
              </a:rPr>
              <a:t>não existem</a:t>
            </a:r>
            <a:r>
              <a:rPr lang="pt-BR" altLang="pt-BR" dirty="0">
                <a:effectLst/>
              </a:rPr>
              <a:t> tipos lógicos, portanto o </a:t>
            </a:r>
            <a:r>
              <a:rPr lang="pt-BR" altLang="pt-BR" b="1" dirty="0">
                <a:effectLst/>
              </a:rPr>
              <a:t>resultado</a:t>
            </a:r>
            <a:r>
              <a:rPr lang="pt-BR" altLang="pt-BR" dirty="0">
                <a:effectLst/>
              </a:rPr>
              <a:t> de uma expressão lógica é um </a:t>
            </a:r>
            <a:r>
              <a:rPr lang="pt-BR" altLang="pt-BR" b="1" dirty="0">
                <a:effectLst/>
              </a:rPr>
              <a:t>valor numérico</a:t>
            </a:r>
            <a:r>
              <a:rPr lang="pt-BR" altLang="pt-BR" dirty="0">
                <a:effectLst/>
              </a:rPr>
              <a:t>: uma expressão avaliada </a:t>
            </a:r>
            <a:r>
              <a:rPr lang="pt-BR" altLang="pt-BR" b="1" dirty="0">
                <a:effectLst/>
              </a:rPr>
              <a:t>verdadeira</a:t>
            </a:r>
            <a:r>
              <a:rPr lang="pt-BR" altLang="pt-BR" dirty="0">
                <a:effectLst/>
              </a:rPr>
              <a:t> recebe o </a:t>
            </a:r>
            <a:r>
              <a:rPr lang="pt-BR" altLang="pt-BR" b="1" dirty="0">
                <a:effectLst/>
              </a:rPr>
              <a:t>valor 1</a:t>
            </a:r>
            <a:r>
              <a:rPr lang="pt-BR" altLang="pt-BR" dirty="0">
                <a:effectLst/>
              </a:rPr>
              <a:t>, uma expressão lógica avaliada </a:t>
            </a:r>
            <a:r>
              <a:rPr lang="pt-BR" altLang="pt-BR" b="1" dirty="0">
                <a:effectLst/>
              </a:rPr>
              <a:t>falsa</a:t>
            </a:r>
            <a:r>
              <a:rPr lang="pt-BR" altLang="pt-BR" dirty="0">
                <a:effectLst/>
              </a:rPr>
              <a:t> recebe o </a:t>
            </a:r>
            <a:r>
              <a:rPr lang="pt-BR" altLang="pt-BR" b="1" dirty="0">
                <a:effectLst/>
              </a:rPr>
              <a:t>valor 0.</a:t>
            </a:r>
            <a:endParaRPr lang="pt-BR" altLang="pt-BR" dirty="0">
              <a:effectLst/>
            </a:endParaRPr>
          </a:p>
        </p:txBody>
      </p:sp>
      <p:graphicFrame>
        <p:nvGraphicFramePr>
          <p:cNvPr id="260127" name="Group 31">
            <a:extLst>
              <a:ext uri="{FF2B5EF4-FFF2-40B4-BE49-F238E27FC236}">
                <a16:creationId xmlns:a16="http://schemas.microsoft.com/office/drawing/2014/main" id="{DAA1E399-2639-4945-9DC5-AFA39982BB7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871864" y="3814764"/>
          <a:ext cx="3471863" cy="266700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1327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Operador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Ação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 do que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 ou igual a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 do que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 ou igual a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==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Igual a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!=</a:t>
                      </a:r>
                      <a:endParaRPr kumimoji="0" lang="pt-BR" altLang="pt-BR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9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pt-BR" altLang="pt-BR" sz="19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Diferente de</a:t>
                      </a:r>
                      <a:endParaRPr kumimoji="0" lang="pt-BR" altLang="pt-BR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4222" name="Rectangle 30">
            <a:extLst>
              <a:ext uri="{FF2B5EF4-FFF2-40B4-BE49-F238E27FC236}">
                <a16:creationId xmlns:a16="http://schemas.microsoft.com/office/drawing/2014/main" id="{2FC1D143-58EF-4D30-95F3-DB80DA0F5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81764"/>
            <a:ext cx="2678618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/>
              <a:t>Operador relacional .</a:t>
            </a:r>
            <a:r>
              <a:rPr lang="pt-BR" altLang="pt-BR" dirty="0" err="1"/>
              <a:t>cpp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12646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D2269FD-C1CB-7CF5-1C34-818075BA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14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B657C7-772E-D7FF-0DDB-5041AC520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3" y="836712"/>
            <a:ext cx="4699104" cy="56999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4666C79-D47E-BEA3-2E44-625E2BA1D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71" y="-13387"/>
            <a:ext cx="3637490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6A49B29-81CD-C865-B65D-DDB87DEED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351" y="-13387"/>
            <a:ext cx="2955285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505119B-E79C-B6F2-3623-1C7A45C5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636" y="0"/>
            <a:ext cx="3013364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99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22C67-DFC4-2B55-19BB-116E2DF3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1D4DC8A-64DF-A665-1096-6762B2B32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15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AD5046-2601-7E03-FC71-9BD23ACB703D}"/>
              </a:ext>
            </a:extLst>
          </p:cNvPr>
          <p:cNvSpPr txBox="1"/>
          <p:nvPr/>
        </p:nvSpPr>
        <p:spPr>
          <a:xfrm>
            <a:off x="3023507" y="1305341"/>
            <a:ext cx="61449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OPERAÇÕES E CONTROLE DE FLUXO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 Estruturas Condicionais: if, else (simples)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 Estruturas Condicionais: if, else (encadeadas)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 Laços de Repetição: while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3.4 Laços de Repetição: do-while</a:t>
            </a:r>
            <a:endParaRPr lang="pt-BR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3.5 Laços de Repetição: for</a:t>
            </a:r>
          </a:p>
        </p:txBody>
      </p:sp>
    </p:spTree>
    <p:extLst>
      <p:ext uri="{BB962C8B-B14F-4D97-AF65-F5344CB8AC3E}">
        <p14:creationId xmlns:p14="http://schemas.microsoft.com/office/powerpoint/2010/main" val="925876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16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pt-BR" altLang="pt-BR" b="1" dirty="0">
              <a:effectLst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Nas “</a:t>
            </a:r>
            <a:r>
              <a:rPr lang="pt-BR" altLang="pt-BR" b="1" dirty="0">
                <a:effectLst/>
              </a:rPr>
              <a:t>Operações Lógicas</a:t>
            </a:r>
            <a:r>
              <a:rPr lang="pt-BR" altLang="pt-BR" dirty="0">
                <a:effectLst/>
              </a:rPr>
              <a:t>”, verificamos que na maioria das vezes necessitamos </a:t>
            </a:r>
            <a:r>
              <a:rPr lang="pt-BR" altLang="pt-BR" b="1" dirty="0">
                <a:effectLst/>
              </a:rPr>
              <a:t>tomar decisões</a:t>
            </a:r>
            <a:r>
              <a:rPr lang="pt-BR" altLang="pt-BR" dirty="0">
                <a:effectLst/>
              </a:rPr>
              <a:t> no andamento do algoritmo. Essas decisões interferem diretamente no andamento do programa. Trabalharemos com três tipos de estrutura: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Decisão ou Seleção </a:t>
            </a:r>
            <a:r>
              <a:rPr lang="pt-BR" altLang="pt-BR" dirty="0">
                <a:effectLst/>
              </a:rPr>
              <a:t> e,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Repetição ou 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Iteração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17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Decisão ou Seleção </a:t>
            </a:r>
            <a:r>
              <a:rPr lang="pt-BR" altLang="pt-BR" dirty="0">
                <a:effectLst/>
              </a:rPr>
              <a:t> e,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AFFE1C5-C1FA-6D3B-8E31-127C7B41C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551" y="2033420"/>
            <a:ext cx="4391095" cy="390564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73805F8-1ADC-30A4-7500-C0F8F7657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626" y="1169784"/>
            <a:ext cx="3731868" cy="560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4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39920-0325-A162-0C3A-F97C3DAC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52C092E6-3B01-B277-DB3C-27C34FFF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18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3257F15-64BC-4A5B-3E39-F67F4C153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ECA97E80-22B8-F8C7-27E7-4E2FE02BA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C7214A5F-74B2-B152-FB21-0DBEAE9DC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998C4FED-CE8B-2223-A28D-0E2E5A373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Decisão ou Seleção </a:t>
            </a:r>
            <a:r>
              <a:rPr lang="pt-BR" altLang="pt-BR" dirty="0">
                <a:effectLst/>
              </a:rPr>
              <a:t> e,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F7E559A-5973-4D3C-5340-BB0F6A544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6917D3-3AF2-E700-FF17-F79522D6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12" y="1700808"/>
            <a:ext cx="2319975" cy="206349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3889679-E3C5-F5B4-57E9-D3A6D983CCF1}"/>
              </a:ext>
            </a:extLst>
          </p:cNvPr>
          <p:cNvSpPr txBox="1"/>
          <p:nvPr/>
        </p:nvSpPr>
        <p:spPr>
          <a:xfrm>
            <a:off x="10886" y="1796942"/>
            <a:ext cx="7077179" cy="5047536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math.h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r>
              <a:rPr lang="pt-BR" sz="1400" dirty="0"/>
              <a:t>	float a, b, soma, sub, </a:t>
            </a:r>
            <a:r>
              <a:rPr lang="pt-BR" sz="1400" dirty="0" err="1"/>
              <a:t>mult</a:t>
            </a:r>
            <a:r>
              <a:rPr lang="pt-BR" sz="1400" dirty="0"/>
              <a:t>, </a:t>
            </a:r>
            <a:r>
              <a:rPr lang="pt-BR" sz="1400" dirty="0" err="1"/>
              <a:t>div</a:t>
            </a:r>
            <a:r>
              <a:rPr lang="pt-BR" sz="1400" dirty="0"/>
              <a:t>, </a:t>
            </a:r>
            <a:r>
              <a:rPr lang="pt-BR" sz="1400" dirty="0" err="1"/>
              <a:t>elev</a:t>
            </a:r>
            <a:r>
              <a:rPr lang="pt-BR" sz="1400" dirty="0"/>
              <a:t>;</a:t>
            </a:r>
          </a:p>
          <a:p>
            <a:r>
              <a:rPr lang="pt-BR" sz="1400" dirty="0"/>
              <a:t>	char operador;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o primeiro numero: ");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scanf</a:t>
            </a:r>
            <a:r>
              <a:rPr lang="pt-BR" sz="1400" dirty="0"/>
              <a:t>("%f", &amp;a);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o segundo numero: ");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scanf</a:t>
            </a:r>
            <a:r>
              <a:rPr lang="pt-BR" sz="1400" dirty="0"/>
              <a:t>("%f", &amp;b);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a </a:t>
            </a:r>
            <a:r>
              <a:rPr lang="pt-BR" sz="1400" dirty="0" err="1"/>
              <a:t>operacao</a:t>
            </a:r>
            <a:r>
              <a:rPr lang="pt-BR" sz="1400" dirty="0"/>
              <a:t>: (+) (-)");</a:t>
            </a:r>
          </a:p>
          <a:p>
            <a:r>
              <a:rPr lang="pt-BR" sz="1400" dirty="0"/>
              <a:t>	 </a:t>
            </a:r>
            <a:r>
              <a:rPr lang="pt-BR" sz="1400" dirty="0" err="1"/>
              <a:t>scanf</a:t>
            </a:r>
            <a:r>
              <a:rPr lang="pt-BR" sz="1400" dirty="0"/>
              <a:t>("%s", &amp;operador);</a:t>
            </a:r>
          </a:p>
          <a:p>
            <a:r>
              <a:rPr lang="pt-BR" sz="1400" dirty="0"/>
              <a:t>if (operador == '+'){</a:t>
            </a:r>
          </a:p>
          <a:p>
            <a:r>
              <a:rPr lang="pt-BR" sz="1400" dirty="0"/>
              <a:t>	soma = a + b;</a:t>
            </a:r>
          </a:p>
          <a:p>
            <a:r>
              <a:rPr lang="pt-BR" sz="1400" dirty="0"/>
              <a:t>	 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soma dos </a:t>
            </a:r>
            <a:r>
              <a:rPr lang="pt-BR" sz="1400" dirty="0" err="1"/>
              <a:t>numeros</a:t>
            </a:r>
            <a:r>
              <a:rPr lang="pt-BR" sz="1400" dirty="0"/>
              <a:t> e' igual a: %.2f", soma);</a:t>
            </a:r>
          </a:p>
          <a:p>
            <a:r>
              <a:rPr lang="pt-BR" sz="1400" dirty="0"/>
              <a:t>	}</a:t>
            </a:r>
          </a:p>
          <a:p>
            <a:r>
              <a:rPr lang="pt-BR" sz="1400" dirty="0"/>
              <a:t>else if (operador=='-'){</a:t>
            </a:r>
          </a:p>
          <a:p>
            <a:r>
              <a:rPr lang="pt-BR" sz="1400" dirty="0"/>
              <a:t>	sub  = a - b;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</a:t>
            </a:r>
            <a:r>
              <a:rPr lang="pt-BR" sz="1400" dirty="0" err="1"/>
              <a:t>subtracao</a:t>
            </a:r>
            <a:r>
              <a:rPr lang="pt-BR" sz="1400" dirty="0"/>
              <a:t> dos </a:t>
            </a:r>
            <a:r>
              <a:rPr lang="pt-BR" sz="1400" dirty="0" err="1"/>
              <a:t>numeros</a:t>
            </a:r>
            <a:r>
              <a:rPr lang="pt-BR" sz="1400" dirty="0"/>
              <a:t> e' igual a: %.2f", sub) ;</a:t>
            </a:r>
          </a:p>
          <a:p>
            <a:r>
              <a:rPr lang="pt-BR" sz="1400" dirty="0"/>
              <a:t>	}</a:t>
            </a:r>
          </a:p>
          <a:p>
            <a:r>
              <a:rPr lang="pt-BR" sz="1400" dirty="0"/>
              <a:t>else {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("\n </a:t>
            </a:r>
            <a:r>
              <a:rPr lang="pt-BR" sz="1400" dirty="0" err="1"/>
              <a:t>Operacao</a:t>
            </a:r>
            <a:r>
              <a:rPr lang="pt-BR" sz="1400" dirty="0"/>
              <a:t> invalida") ;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0F1E17-099D-AB43-F8EC-3DA77DB5A7D4}"/>
              </a:ext>
            </a:extLst>
          </p:cNvPr>
          <p:cNvSpPr txBox="1"/>
          <p:nvPr/>
        </p:nvSpPr>
        <p:spPr>
          <a:xfrm>
            <a:off x="6036128" y="1603386"/>
            <a:ext cx="6144986" cy="526297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math.h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r>
              <a:rPr lang="pt-BR" sz="1400" dirty="0"/>
              <a:t>	float a, b, soma, sub, </a:t>
            </a:r>
            <a:r>
              <a:rPr lang="pt-BR" sz="1400" dirty="0" err="1"/>
              <a:t>mult</a:t>
            </a:r>
            <a:r>
              <a:rPr lang="pt-BR" sz="1400" dirty="0"/>
              <a:t>, </a:t>
            </a:r>
            <a:r>
              <a:rPr lang="pt-BR" sz="1400" dirty="0" err="1"/>
              <a:t>div</a:t>
            </a:r>
            <a:r>
              <a:rPr lang="pt-BR" sz="1400" dirty="0"/>
              <a:t>, </a:t>
            </a:r>
            <a:r>
              <a:rPr lang="pt-BR" sz="1400" dirty="0" err="1"/>
              <a:t>elev</a:t>
            </a:r>
            <a:r>
              <a:rPr lang="pt-BR" sz="1400" dirty="0"/>
              <a:t>;</a:t>
            </a:r>
          </a:p>
          <a:p>
            <a:r>
              <a:rPr lang="pt-BR" sz="1400" dirty="0"/>
              <a:t>	char operador;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o primeiro numero: ");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scanf</a:t>
            </a:r>
            <a:r>
              <a:rPr lang="pt-BR" sz="1400" dirty="0"/>
              <a:t>("%f", &amp;a);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o segundo numero: ");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scanf</a:t>
            </a:r>
            <a:r>
              <a:rPr lang="pt-BR" sz="1400" dirty="0"/>
              <a:t>("%f", &amp;b);</a:t>
            </a:r>
          </a:p>
          <a:p>
            <a:r>
              <a:rPr lang="pt-BR" sz="1400" dirty="0"/>
              <a:t>	</a:t>
            </a:r>
            <a:r>
              <a:rPr lang="pt-BR" sz="1400" dirty="0" err="1"/>
              <a:t>printf</a:t>
            </a:r>
            <a:r>
              <a:rPr lang="pt-BR" sz="1400" dirty="0"/>
              <a:t>("Digite a </a:t>
            </a:r>
            <a:r>
              <a:rPr lang="pt-BR" sz="1400" dirty="0" err="1"/>
              <a:t>operacao</a:t>
            </a:r>
            <a:r>
              <a:rPr lang="pt-BR" sz="1400" dirty="0"/>
              <a:t>: (+) (-)");</a:t>
            </a:r>
          </a:p>
          <a:p>
            <a:r>
              <a:rPr lang="pt-BR" sz="1400" dirty="0"/>
              <a:t>	 </a:t>
            </a:r>
            <a:r>
              <a:rPr lang="pt-BR" sz="1400" dirty="0" err="1"/>
              <a:t>scanf</a:t>
            </a:r>
            <a:r>
              <a:rPr lang="pt-BR" sz="1400" dirty="0"/>
              <a:t>("%s", &amp;operador);</a:t>
            </a:r>
          </a:p>
          <a:p>
            <a:r>
              <a:rPr lang="pt-BR" sz="1400" dirty="0"/>
              <a:t>switch (operador){</a:t>
            </a:r>
          </a:p>
          <a:p>
            <a:r>
              <a:rPr lang="pt-BR" sz="1400" dirty="0"/>
              <a:t>    case '+':</a:t>
            </a:r>
          </a:p>
          <a:p>
            <a:r>
              <a:rPr lang="pt-BR" sz="1400" dirty="0"/>
              <a:t>        	soma = a + b;</a:t>
            </a:r>
          </a:p>
          <a:p>
            <a:r>
              <a:rPr lang="pt-BR" sz="1400" dirty="0"/>
              <a:t>        	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soma dos </a:t>
            </a:r>
            <a:r>
              <a:rPr lang="pt-BR" sz="1400" dirty="0" err="1"/>
              <a:t>numeros</a:t>
            </a:r>
            <a:r>
              <a:rPr lang="pt-BR" sz="1400" dirty="0"/>
              <a:t> e' igual a: %.2f", soma);</a:t>
            </a:r>
          </a:p>
          <a:p>
            <a:r>
              <a:rPr lang="pt-BR" sz="1400" dirty="0"/>
              <a:t>        	break;</a:t>
            </a:r>
          </a:p>
          <a:p>
            <a:r>
              <a:rPr lang="pt-BR" sz="1400" dirty="0"/>
              <a:t>    case '-':</a:t>
            </a:r>
          </a:p>
          <a:p>
            <a:r>
              <a:rPr lang="pt-BR" sz="1400" dirty="0"/>
              <a:t>       	sub  = a - b;</a:t>
            </a:r>
          </a:p>
          <a:p>
            <a:r>
              <a:rPr lang="pt-BR" sz="1400" dirty="0"/>
              <a:t>        	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</a:t>
            </a:r>
            <a:r>
              <a:rPr lang="pt-BR" sz="1400" dirty="0" err="1"/>
              <a:t>subtracao</a:t>
            </a:r>
            <a:r>
              <a:rPr lang="pt-BR" sz="1400" dirty="0"/>
              <a:t> dos </a:t>
            </a:r>
            <a:r>
              <a:rPr lang="pt-BR" sz="1400" dirty="0" err="1"/>
              <a:t>numeros</a:t>
            </a:r>
            <a:r>
              <a:rPr lang="pt-BR" sz="1400" dirty="0"/>
              <a:t> e' igual a: %.2f", sub) ;</a:t>
            </a:r>
          </a:p>
          <a:p>
            <a:r>
              <a:rPr lang="pt-BR" sz="1400" dirty="0"/>
              <a:t>       	 break;</a:t>
            </a:r>
          </a:p>
          <a:p>
            <a:r>
              <a:rPr lang="pt-BR" sz="1400" dirty="0"/>
              <a:t>     default: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printf</a:t>
            </a:r>
            <a:r>
              <a:rPr lang="pt-BR" sz="1400" dirty="0"/>
              <a:t>("\n </a:t>
            </a:r>
            <a:r>
              <a:rPr lang="pt-BR" sz="1400" dirty="0" err="1"/>
              <a:t>Operacao</a:t>
            </a:r>
            <a:r>
              <a:rPr lang="pt-BR" sz="1400" dirty="0"/>
              <a:t> invalida") ;</a:t>
            </a:r>
          </a:p>
          <a:p>
            <a:r>
              <a:rPr lang="pt-BR" sz="1400" dirty="0"/>
              <a:t>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796F0D-B91B-4DD4-E65D-24359CFF9E80}"/>
              </a:ext>
            </a:extLst>
          </p:cNvPr>
          <p:cNvSpPr txBox="1"/>
          <p:nvPr/>
        </p:nvSpPr>
        <p:spPr>
          <a:xfrm>
            <a:off x="9573862" y="6469365"/>
            <a:ext cx="260725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0000"/>
                </a:solidFill>
              </a:rPr>
              <a:t>If_else1 e switch_case1</a:t>
            </a:r>
          </a:p>
        </p:txBody>
      </p:sp>
    </p:spTree>
    <p:extLst>
      <p:ext uri="{BB962C8B-B14F-4D97-AF65-F5344CB8AC3E}">
        <p14:creationId xmlns:p14="http://schemas.microsoft.com/office/powerpoint/2010/main" val="227691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19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Repetição ou 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Iteração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C8380E-852E-A5E9-DA70-F75630744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542" y="1683192"/>
            <a:ext cx="5605461" cy="503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33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75F1-73D6-1E50-A56E-F926102A4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3241F45-B95E-5340-B566-94A02A2F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20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3895CF8-08FC-6FF9-4042-0917F5ABD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2EDCA883-931A-B37A-6BC1-1557DE6B0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E682AD7A-C51B-1EF7-2495-28684BE22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B0E4385E-B96F-77AF-C49A-882B6E995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indent="0" eaLnBrk="1" hangingPunct="1"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Repetição ou 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Iteração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02F2188A-042F-5BAE-8F8A-8110933BB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D5C780-1D8F-7B0F-0BCD-F8A82BAD2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767590"/>
            <a:ext cx="2743484" cy="24658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36C629C-8789-200E-F64A-851119E60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244" y="1213450"/>
            <a:ext cx="74199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53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0A52769A-86A8-4326-91BE-7C0C19A6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F80A8DF3-F306-44B1-8E98-0427BF8A3142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80034" name="Rectangle 2">
            <a:extLst>
              <a:ext uri="{FF2B5EF4-FFF2-40B4-BE49-F238E27FC236}">
                <a16:creationId xmlns:a16="http://schemas.microsoft.com/office/drawing/2014/main" id="{63F71D05-189C-42B8-BD4C-2CC41DDE3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Linguagem de Programação C</a:t>
            </a:r>
          </a:p>
        </p:txBody>
      </p:sp>
      <p:sp>
        <p:nvSpPr>
          <p:cNvPr id="306180" name="Rectangle 3">
            <a:extLst>
              <a:ext uri="{FF2B5EF4-FFF2-40B4-BE49-F238E27FC236}">
                <a16:creationId xmlns:a16="http://schemas.microsoft.com/office/drawing/2014/main" id="{438564D9-F180-40A1-AEB2-2B5D59E8ADE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4" y="1484313"/>
            <a:ext cx="8291513" cy="4114800"/>
          </a:xfrm>
        </p:spPr>
        <p:txBody>
          <a:bodyPr/>
          <a:lstStyle/>
          <a:p>
            <a:pPr marL="93660" indent="263519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BR" altLang="pt-BR" sz="2000" b="1" u="sng" dirty="0">
              <a:effectLst/>
            </a:endParaRPr>
          </a:p>
          <a:p>
            <a:pPr marL="93660" indent="263519" algn="just" eaLnBrk="1" hangingPunct="1">
              <a:lnSpc>
                <a:spcPct val="80000"/>
              </a:lnSpc>
            </a:pPr>
            <a:r>
              <a:rPr lang="pt-BR" altLang="pt-BR" sz="2000" b="1" dirty="0">
                <a:effectLst/>
              </a:rPr>
              <a:t>Estruturas condicionais (if ... else, switch...case)</a:t>
            </a:r>
          </a:p>
          <a:p>
            <a:pPr marL="93660" indent="263519" algn="just" eaLnBrk="1" hangingPunct="1">
              <a:lnSpc>
                <a:spcPct val="80000"/>
              </a:lnSpc>
            </a:pPr>
            <a:r>
              <a:rPr lang="pt-BR" altLang="pt-BR" sz="2000" b="1" dirty="0">
                <a:effectLst/>
              </a:rPr>
              <a:t>    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043AD6EF-BBA1-4CF6-92C7-61CDDF3B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73ED-985E-42B6-91BB-A006B1765D27}" type="slidenum">
              <a:rPr lang="pt-BR" altLang="pt-BR"/>
              <a:pPr>
                <a:defRPr/>
              </a:pPr>
              <a:t>22</a:t>
            </a:fld>
            <a:endParaRPr lang="pt-BR" altLang="pt-BR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08AD32AE-3298-495B-8432-753BB2441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AD1DF96-8C2A-4C85-ACF9-5DB644B6A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3669" name="Rectangle 4">
            <a:extLst>
              <a:ext uri="{FF2B5EF4-FFF2-40B4-BE49-F238E27FC236}">
                <a16:creationId xmlns:a16="http://schemas.microsoft.com/office/drawing/2014/main" id="{4E7A0C75-83FA-4396-A77C-4B1D6D9A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/>
          </a:p>
          <a:p>
            <a:pPr algn="just" eaLnBrk="1" hangingPunct="1">
              <a:buFont typeface="Wingdings" panose="05000000000000000000" pitchFamily="2" charset="2"/>
              <a:buChar char="n"/>
            </a:pPr>
            <a:endParaRPr lang="pt-BR" altLang="pt-BR" dirty="0"/>
          </a:p>
        </p:txBody>
      </p:sp>
      <p:sp>
        <p:nvSpPr>
          <p:cNvPr id="113670" name="Text Box 5">
            <a:extLst>
              <a:ext uri="{FF2B5EF4-FFF2-40B4-BE49-F238E27FC236}">
                <a16:creationId xmlns:a16="http://schemas.microsoft.com/office/drawing/2014/main" id="{08ECE646-7C84-481C-B038-29DEA30CD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de</a:t>
            </a:r>
            <a:r>
              <a:rPr lang="pt-BR" altLang="pt-BR" b="1" i="1" dirty="0"/>
              <a:t> </a:t>
            </a:r>
            <a:r>
              <a:rPr lang="pt-BR" altLang="pt-BR" b="1" dirty="0"/>
              <a:t>Decisão ou Seleção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Capítulo 3 do livro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CD3892-73F7-6995-BCFA-D0DF41DD2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1753"/>
            <a:ext cx="2849472" cy="345638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A201B07-B866-FE81-89E4-F1FAA9270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720" y="1621443"/>
            <a:ext cx="759142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63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44FB57A-D0D5-4E2A-A93D-E618B166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CC5D7C47-0A01-4D15-B8A7-FF26BAE9EAFA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23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01538" name="Rectangle 2">
            <a:extLst>
              <a:ext uri="{FF2B5EF4-FFF2-40B4-BE49-F238E27FC236}">
                <a16:creationId xmlns:a16="http://schemas.microsoft.com/office/drawing/2014/main" id="{FDBC48FC-905E-47AE-8258-DFEBFF218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Unidade 3 - Estruturas condicionais e de repetição </a:t>
            </a:r>
          </a:p>
        </p:txBody>
      </p:sp>
      <p:sp>
        <p:nvSpPr>
          <p:cNvPr id="1601539" name="Rectangle 3">
            <a:extLst>
              <a:ext uri="{FF2B5EF4-FFF2-40B4-BE49-F238E27FC236}">
                <a16:creationId xmlns:a16="http://schemas.microsoft.com/office/drawing/2014/main" id="{8076CCFD-B4F4-4A31-A368-E07F398A0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000"/>
              <a:t>Estruturas de controle de</a:t>
            </a:r>
            <a:r>
              <a:rPr lang="pt-BR"/>
              <a:t> </a:t>
            </a:r>
            <a:r>
              <a:rPr lang="pt-BR" sz="2000"/>
              <a:t>Fluxo</a:t>
            </a:r>
            <a:endParaRPr lang="pt-BR" altLang="zh-CN" sz="2000">
              <a:ea typeface="SimSun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>
                <a:ea typeface="SimSun" pitchFamily="2" charset="-122"/>
              </a:rPr>
              <a:t>   </a:t>
            </a:r>
            <a:r>
              <a:rPr lang="pt-BR" altLang="zh-CN" sz="2000">
                <a:ea typeface="SimSun" pitchFamily="2" charset="-122"/>
              </a:rPr>
              <a:t>Estruturas de controle permitem controlar a seqüência das ações lógicas de um programa. Basicamente, existem dois tipos de estruturas de controle: estruturas de </a:t>
            </a:r>
            <a:r>
              <a:rPr lang="pt-BR" altLang="zh-CN" sz="2000" b="1">
                <a:ea typeface="SimSun" pitchFamily="2" charset="-122"/>
              </a:rPr>
              <a:t>repetição</a:t>
            </a:r>
            <a:r>
              <a:rPr lang="pt-BR" altLang="zh-CN" sz="2000">
                <a:ea typeface="SimSun" pitchFamily="2" charset="-122"/>
              </a:rPr>
              <a:t> e  estruturas de </a:t>
            </a:r>
            <a:r>
              <a:rPr lang="pt-BR" altLang="zh-CN" sz="2000" b="1">
                <a:ea typeface="SimSun" pitchFamily="2" charset="-122"/>
              </a:rPr>
              <a:t>decisão (estruturas condicionais)</a:t>
            </a:r>
            <a:r>
              <a:rPr lang="pt-BR" altLang="zh-CN" sz="2000">
                <a:ea typeface="SimSun" pitchFamily="2" charset="-122"/>
              </a:rPr>
              <a:t>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000">
                <a:ea typeface="SimSun" pitchFamily="2" charset="-122"/>
              </a:rPr>
              <a:t>   A estrutura de repetição permite que um bloco de instruções seja executado repetidamente uma quantidade controlada de vezes.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000">
                <a:ea typeface="SimSun" pitchFamily="2" charset="-122"/>
              </a:rPr>
              <a:t>   A estrutura de decisão permite executar um entre dois ou mais blocos de instruções</a:t>
            </a:r>
            <a:r>
              <a:rPr lang="pt-BR" altLang="zh-CN">
                <a:ea typeface="SimSun" pitchFamily="2" charset="-122"/>
              </a:rPr>
              <a:t>. </a:t>
            </a:r>
            <a:endParaRPr lang="pt-BR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1914BBBF-4C59-4E1D-AABC-C838E294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A7C1F3F4-8EAE-4A9B-BFF9-3E0DDC556DEF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24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28834" name="Rectangle 2">
            <a:extLst>
              <a:ext uri="{FF2B5EF4-FFF2-40B4-BE49-F238E27FC236}">
                <a16:creationId xmlns:a16="http://schemas.microsoft.com/office/drawing/2014/main" id="{AC67D4A8-FE0B-4185-8D9B-4858DB3FD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</a:t>
            </a:r>
            <a:r>
              <a:rPr lang="pt-BR" sz="2800" b="0">
                <a:effectLst/>
              </a:rPr>
              <a:t> </a:t>
            </a:r>
            <a:br>
              <a:rPr lang="pt-BR" sz="2800" b="0">
                <a:effectLst/>
              </a:rPr>
            </a:br>
            <a:r>
              <a:rPr lang="pt-BR" sz="2800" b="0">
                <a:effectLst/>
              </a:rPr>
              <a:t> </a:t>
            </a:r>
            <a:r>
              <a:rPr lang="pt-BR"/>
              <a:t>if...else </a:t>
            </a:r>
          </a:p>
        </p:txBody>
      </p:sp>
      <p:sp>
        <p:nvSpPr>
          <p:cNvPr id="1528835" name="Rectangle 3">
            <a:extLst>
              <a:ext uri="{FF2B5EF4-FFF2-40B4-BE49-F238E27FC236}">
                <a16:creationId xmlns:a16="http://schemas.microsoft.com/office/drawing/2014/main" id="{78C5F353-CCC1-4EC1-B590-BF58432A4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200" dirty="0">
              <a:effectLst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As Estruturas condicionais ou estruturas de decisão são muito utilizadas na linguagem C.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A estrutura if...else é a mais simples estrutura de controle do C.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Esta estrutura </a:t>
            </a:r>
            <a:r>
              <a:rPr lang="pt-BR" sz="2200" b="1" dirty="0">
                <a:effectLst/>
              </a:rPr>
              <a:t>permite executar um entre vários blocos </a:t>
            </a:r>
            <a:r>
              <a:rPr lang="pt-BR" sz="2200" dirty="0">
                <a:effectLst/>
              </a:rPr>
              <a:t>de instruções.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   </a:t>
            </a:r>
            <a:r>
              <a:rPr lang="pt-BR" sz="2200" b="1" dirty="0">
                <a:effectLst/>
              </a:rPr>
              <a:t>O controle </a:t>
            </a:r>
            <a:r>
              <a:rPr lang="pt-BR" sz="2200" dirty="0">
                <a:effectLst/>
              </a:rPr>
              <a:t>de qual bloco será executado será dado por uma </a:t>
            </a:r>
            <a:r>
              <a:rPr lang="pt-BR" sz="2200" b="1" i="1" dirty="0">
                <a:effectLst/>
              </a:rPr>
              <a:t>condição</a:t>
            </a:r>
            <a:r>
              <a:rPr lang="pt-BR" sz="2200" dirty="0">
                <a:effectLst/>
              </a:rPr>
              <a:t> (expressão lógica ou numérica). Esta estrutura pode se apresentar de modos ligeiramente diferentes. Será apresentada separadamente cada uma das possibilidades de sintaxe.</a:t>
            </a:r>
            <a:r>
              <a:rPr lang="pt-BR" dirty="0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D369DDAC-72E2-4338-9C08-088B41546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D8AC332-7541-4C2B-A16D-32D3B6DB4BF4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0882" name="Rectangle 2">
            <a:extLst>
              <a:ext uri="{FF2B5EF4-FFF2-40B4-BE49-F238E27FC236}">
                <a16:creationId xmlns:a16="http://schemas.microsoft.com/office/drawing/2014/main" id="{F1BA9500-0C08-4806-B375-A21ABFF1C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3.1 - Estruturas condicionais</a:t>
            </a:r>
            <a:r>
              <a:rPr lang="pt-BR" sz="2800" b="0" dirty="0">
                <a:effectLst/>
              </a:rPr>
              <a:t> </a:t>
            </a:r>
            <a:br>
              <a:rPr lang="pt-BR" sz="2800" b="0" dirty="0">
                <a:effectLst/>
              </a:rPr>
            </a:br>
            <a:endParaRPr lang="pt-BR" dirty="0"/>
          </a:p>
        </p:txBody>
      </p:sp>
      <p:sp>
        <p:nvSpPr>
          <p:cNvPr id="1530883" name="Rectangle 3">
            <a:extLst>
              <a:ext uri="{FF2B5EF4-FFF2-40B4-BE49-F238E27FC236}">
                <a16:creationId xmlns:a16="http://schemas.microsoft.com/office/drawing/2014/main" id="{B642A4EE-94BC-4AA7-9EA8-15036DAE5F6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12879"/>
            <a:ext cx="11175032" cy="4608513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 dirty="0">
                <a:effectLst/>
              </a:rPr>
              <a:t>	</a:t>
            </a:r>
            <a:r>
              <a:rPr lang="pt-BR" sz="2000" b="1" dirty="0"/>
              <a:t>Decisão de um bloco (if...)</a:t>
            </a:r>
            <a:r>
              <a:rPr lang="pt-BR" sz="2000" dirty="0"/>
              <a:t> </a:t>
            </a:r>
          </a:p>
          <a:p>
            <a:pPr marL="0" indent="0" algn="just" eaLnBrk="1" hangingPunct="1">
              <a:defRPr/>
            </a:pPr>
            <a:r>
              <a:rPr lang="pt-BR" sz="2000" dirty="0"/>
              <a:t>   A estrutura de decisão de um bloco permite que se execute (ou não) um bloco de instruções conforme o valor de uma condição seja verdadeiro ou falso. O fluxograma desta estrutura é mostrada na figura: </a:t>
            </a:r>
          </a:p>
        </p:txBody>
      </p:sp>
      <p:pic>
        <p:nvPicPr>
          <p:cNvPr id="312325" name="Picture 4">
            <a:extLst>
              <a:ext uri="{FF2B5EF4-FFF2-40B4-BE49-F238E27FC236}">
                <a16:creationId xmlns:a16="http://schemas.microsoft.com/office/drawing/2014/main" id="{DA261796-C23D-4356-BBC8-28F396A823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3190880"/>
            <a:ext cx="2798763" cy="2830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322EA67-5963-8F10-2276-47820D176B34}"/>
              </a:ext>
            </a:extLst>
          </p:cNvPr>
          <p:cNvSpPr txBox="1"/>
          <p:nvPr/>
        </p:nvSpPr>
        <p:spPr>
          <a:xfrm>
            <a:off x="3575720" y="2784479"/>
            <a:ext cx="6144986" cy="3970318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locale.h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r>
              <a:rPr lang="pt-BR" sz="1400" dirty="0" err="1"/>
              <a:t>setlocale</a:t>
            </a:r>
            <a:r>
              <a:rPr lang="pt-BR" sz="1400" dirty="0"/>
              <a:t>(LC_ALL, "");</a:t>
            </a:r>
          </a:p>
          <a:p>
            <a:r>
              <a:rPr lang="pt-BR" sz="1400" dirty="0"/>
              <a:t>float a, b, soma;</a:t>
            </a:r>
          </a:p>
          <a:p>
            <a:r>
              <a:rPr lang="pt-BR" sz="1400" dirty="0"/>
              <a:t>char operador;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o primeiro numero: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 &amp;a);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o segundo numero: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 &amp;b);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a </a:t>
            </a:r>
            <a:r>
              <a:rPr lang="pt-BR" sz="1400" dirty="0" err="1"/>
              <a:t>operacao</a:t>
            </a:r>
            <a:r>
              <a:rPr lang="pt-BR" sz="1400" dirty="0"/>
              <a:t> para soma (+)");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("%s", &amp;operador);</a:t>
            </a:r>
          </a:p>
          <a:p>
            <a:r>
              <a:rPr lang="pt-BR" sz="1400" dirty="0"/>
              <a:t>if (operador == '+'){</a:t>
            </a:r>
          </a:p>
          <a:p>
            <a:r>
              <a:rPr lang="pt-BR" sz="1400" dirty="0"/>
              <a:t>        soma = a + b;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soma dos </a:t>
            </a:r>
            <a:r>
              <a:rPr lang="pt-BR" sz="1400" dirty="0" err="1"/>
              <a:t>numeros</a:t>
            </a:r>
            <a:r>
              <a:rPr lang="pt-BR" sz="1400" dirty="0"/>
              <a:t> e' igual a: %.2f", soma);</a:t>
            </a:r>
          </a:p>
          <a:p>
            <a:r>
              <a:rPr lang="pt-BR" sz="1400" dirty="0"/>
              <a:t>	}</a:t>
            </a:r>
          </a:p>
          <a:p>
            <a:r>
              <a:rPr lang="pt-BR" sz="1400" dirty="0"/>
              <a:t>   </a:t>
            </a:r>
            <a:r>
              <a:rPr lang="pt-BR" sz="1400" dirty="0" err="1"/>
              <a:t>printf</a:t>
            </a:r>
            <a:r>
              <a:rPr lang="pt-BR" sz="1400" dirty="0"/>
              <a:t>("\n Saiu do laço") ;</a:t>
            </a:r>
          </a:p>
          <a:p>
            <a:r>
              <a:rPr lang="pt-BR" sz="1400" dirty="0"/>
              <a:t>}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221C27-E1E1-5F15-D719-7511813D2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899" y="2789852"/>
            <a:ext cx="4253101" cy="183390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EEC9D5F-29C4-8057-F59C-A75824A84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407" y="4812333"/>
            <a:ext cx="3933593" cy="1833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D441D144-1F94-475C-85F5-3D12027F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C2F1BAD9-719B-4955-82C5-D1DCFDF785A4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2930" name="Rectangle 2">
            <a:extLst>
              <a:ext uri="{FF2B5EF4-FFF2-40B4-BE49-F238E27FC236}">
                <a16:creationId xmlns:a16="http://schemas.microsoft.com/office/drawing/2014/main" id="{3D060768-CAC2-4059-981B-1837840F0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3.1 - Estruturas condicionais</a:t>
            </a:r>
            <a:r>
              <a:rPr lang="pt-BR" sz="2800" b="0" dirty="0">
                <a:effectLst/>
              </a:rPr>
              <a:t> </a:t>
            </a:r>
            <a:br>
              <a:rPr lang="pt-BR" sz="2800" b="0" dirty="0">
                <a:effectLst/>
              </a:rPr>
            </a:br>
            <a:r>
              <a:rPr lang="pt-BR" sz="2800" b="0" dirty="0">
                <a:effectLst/>
              </a:rPr>
              <a:t> </a:t>
            </a:r>
            <a:r>
              <a:rPr lang="pt-BR" dirty="0"/>
              <a:t>if</a:t>
            </a:r>
          </a:p>
        </p:txBody>
      </p:sp>
      <p:sp>
        <p:nvSpPr>
          <p:cNvPr id="1532931" name="Rectangle 3">
            <a:extLst>
              <a:ext uri="{FF2B5EF4-FFF2-40B4-BE49-F238E27FC236}">
                <a16:creationId xmlns:a16="http://schemas.microsoft.com/office/drawing/2014/main" id="{3C2F6320-F624-48F9-84E2-196DF498B8C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12879"/>
            <a:ext cx="11247040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>
                <a:effectLst/>
              </a:rPr>
              <a:t>	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b="1" dirty="0"/>
              <a:t>Sintaxe:</a:t>
            </a:r>
            <a:r>
              <a:rPr lang="pt-BR" altLang="pt-BR" dirty="0"/>
              <a:t> Decisão com um bloco: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if(</a:t>
            </a:r>
            <a:r>
              <a:rPr lang="pt-BR" altLang="pt-BR" i="1" dirty="0"/>
              <a:t>condição</a:t>
            </a:r>
            <a:r>
              <a:rPr lang="pt-BR" altLang="pt-BR" dirty="0"/>
              <a:t>)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{       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  </a:t>
            </a:r>
            <a:r>
              <a:rPr lang="pt-BR" altLang="pt-BR" i="1" dirty="0"/>
              <a:t>bloco</a:t>
            </a:r>
            <a:endParaRPr lang="pt-BR" altLang="pt-BR" dirty="0"/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}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onde:	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i="1" dirty="0"/>
              <a:t>condição</a:t>
            </a:r>
            <a:r>
              <a:rPr lang="pt-BR" altLang="pt-BR" dirty="0"/>
              <a:t> é uma expressão lógica ou numérica.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i="1" dirty="0"/>
              <a:t>bloco</a:t>
            </a:r>
            <a:r>
              <a:rPr lang="pt-BR" altLang="pt-BR" dirty="0"/>
              <a:t>  é um conjunto de instruções.</a:t>
            </a:r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dirty="0"/>
              <a:t>Se a condição </a:t>
            </a:r>
            <a:r>
              <a:rPr lang="pt-BR" altLang="pt-BR" b="1" dirty="0"/>
              <a:t>verdadeira</a:t>
            </a:r>
            <a:r>
              <a:rPr lang="pt-BR" altLang="pt-BR" dirty="0"/>
              <a:t>, o </a:t>
            </a:r>
            <a:r>
              <a:rPr lang="pt-BR" altLang="pt-BR" i="1" dirty="0"/>
              <a:t>bloco</a:t>
            </a:r>
            <a:r>
              <a:rPr lang="pt-BR" altLang="pt-BR" dirty="0"/>
              <a:t> é executado. Caso contrário, o bloco não é executado.</a:t>
            </a:r>
            <a:endParaRPr lang="pt-BR" altLang="pt-BR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CBC00B-C461-1569-472C-6470117AA1CD}"/>
              </a:ext>
            </a:extLst>
          </p:cNvPr>
          <p:cNvSpPr txBox="1"/>
          <p:nvPr/>
        </p:nvSpPr>
        <p:spPr>
          <a:xfrm>
            <a:off x="6047014" y="1066800"/>
            <a:ext cx="6144986" cy="3970318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&lt;stdio.h&gt;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locale.h</a:t>
            </a:r>
            <a:r>
              <a:rPr lang="pt-BR" sz="1400" dirty="0"/>
              <a:t>&gt;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r>
              <a:rPr lang="pt-BR" sz="1400" dirty="0" err="1"/>
              <a:t>setlocale</a:t>
            </a:r>
            <a:r>
              <a:rPr lang="pt-BR" sz="1400" dirty="0"/>
              <a:t>(LC_ALL, "");</a:t>
            </a:r>
          </a:p>
          <a:p>
            <a:r>
              <a:rPr lang="pt-BR" sz="1400" dirty="0"/>
              <a:t>float a, b, soma;</a:t>
            </a:r>
          </a:p>
          <a:p>
            <a:r>
              <a:rPr lang="pt-BR" sz="1400" dirty="0"/>
              <a:t>char operador;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o primeiro numero: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 &amp;a);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o segundo numero: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 &amp;b);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("Digite a </a:t>
            </a:r>
            <a:r>
              <a:rPr lang="pt-BR" sz="1400" dirty="0" err="1"/>
              <a:t>operacao</a:t>
            </a:r>
            <a:r>
              <a:rPr lang="pt-BR" sz="1400" dirty="0"/>
              <a:t> para soma (+)");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("%s", &amp;operador);</a:t>
            </a:r>
          </a:p>
          <a:p>
            <a:r>
              <a:rPr lang="pt-BR" sz="1400" b="1" dirty="0">
                <a:solidFill>
                  <a:srgbClr val="FFC000"/>
                </a:solidFill>
              </a:rPr>
              <a:t>if (operador == '+'){</a:t>
            </a:r>
          </a:p>
          <a:p>
            <a:r>
              <a:rPr lang="pt-BR" sz="1400" b="1" dirty="0">
                <a:solidFill>
                  <a:srgbClr val="FFC000"/>
                </a:solidFill>
              </a:rPr>
              <a:t>        soma = a + b;</a:t>
            </a:r>
          </a:p>
          <a:p>
            <a:r>
              <a:rPr lang="pt-BR" sz="1400" b="1" dirty="0">
                <a:solidFill>
                  <a:srgbClr val="FFC000"/>
                </a:solidFill>
              </a:rPr>
              <a:t>        </a:t>
            </a:r>
            <a:r>
              <a:rPr lang="pt-BR" sz="1400" b="1" dirty="0" err="1">
                <a:solidFill>
                  <a:srgbClr val="FFC000"/>
                </a:solidFill>
              </a:rPr>
              <a:t>printf</a:t>
            </a:r>
            <a:r>
              <a:rPr lang="pt-BR" sz="1400" b="1" dirty="0">
                <a:solidFill>
                  <a:srgbClr val="FFC000"/>
                </a:solidFill>
              </a:rPr>
              <a:t>("\</a:t>
            </a:r>
            <a:r>
              <a:rPr lang="pt-BR" sz="1400" b="1" dirty="0" err="1">
                <a:solidFill>
                  <a:srgbClr val="FFC000"/>
                </a:solidFill>
              </a:rPr>
              <a:t>nA</a:t>
            </a:r>
            <a:r>
              <a:rPr lang="pt-BR" sz="1400" b="1" dirty="0">
                <a:solidFill>
                  <a:srgbClr val="FFC000"/>
                </a:solidFill>
              </a:rPr>
              <a:t> soma dos </a:t>
            </a:r>
            <a:r>
              <a:rPr lang="pt-BR" sz="1400" b="1" dirty="0" err="1">
                <a:solidFill>
                  <a:srgbClr val="FFC000"/>
                </a:solidFill>
              </a:rPr>
              <a:t>numeros</a:t>
            </a:r>
            <a:r>
              <a:rPr lang="pt-BR" sz="1400" b="1" dirty="0">
                <a:solidFill>
                  <a:srgbClr val="FFC000"/>
                </a:solidFill>
              </a:rPr>
              <a:t> e' igual a: %.2f", soma);</a:t>
            </a:r>
          </a:p>
          <a:p>
            <a:r>
              <a:rPr lang="pt-BR" sz="1400" b="1" dirty="0">
                <a:solidFill>
                  <a:srgbClr val="FFC000"/>
                </a:solidFill>
              </a:rPr>
              <a:t>	}</a:t>
            </a:r>
          </a:p>
          <a:p>
            <a:r>
              <a:rPr lang="pt-BR" sz="1400" dirty="0"/>
              <a:t>   </a:t>
            </a:r>
            <a:r>
              <a:rPr lang="pt-BR" sz="1400" dirty="0" err="1"/>
              <a:t>printf</a:t>
            </a:r>
            <a:r>
              <a:rPr lang="pt-BR" sz="1400" dirty="0"/>
              <a:t>("\n Saiu do laço") ;</a:t>
            </a:r>
          </a:p>
          <a:p>
            <a:r>
              <a:rPr lang="pt-BR" sz="1400" dirty="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6">
            <a:extLst>
              <a:ext uri="{FF2B5EF4-FFF2-40B4-BE49-F238E27FC236}">
                <a16:creationId xmlns:a16="http://schemas.microsoft.com/office/drawing/2014/main" id="{972E6B11-6E14-44E9-BF6E-511D8402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6A109190-1585-4DAA-8C28-4ADAC3CD2F3E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4978" name="Rectangle 2">
            <a:extLst>
              <a:ext uri="{FF2B5EF4-FFF2-40B4-BE49-F238E27FC236}">
                <a16:creationId xmlns:a16="http://schemas.microsoft.com/office/drawing/2014/main" id="{75AB2ECA-0A1A-4170-936A-BF99F452A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</a:t>
            </a:r>
            <a:r>
              <a:rPr lang="pt-BR" sz="2800" b="0">
                <a:effectLst/>
              </a:rPr>
              <a:t> </a:t>
            </a:r>
            <a:br>
              <a:rPr lang="pt-BR" sz="2800" b="0">
                <a:effectLst/>
              </a:rPr>
            </a:br>
            <a:r>
              <a:rPr lang="pt-BR" sz="2800" b="0">
                <a:effectLst/>
              </a:rPr>
              <a:t> </a:t>
            </a:r>
            <a:r>
              <a:rPr lang="pt-BR"/>
              <a:t>if...else</a:t>
            </a:r>
          </a:p>
        </p:txBody>
      </p:sp>
      <p:sp>
        <p:nvSpPr>
          <p:cNvPr id="1534979" name="Rectangle 3">
            <a:extLst>
              <a:ext uri="{FF2B5EF4-FFF2-40B4-BE49-F238E27FC236}">
                <a16:creationId xmlns:a16="http://schemas.microsoft.com/office/drawing/2014/main" id="{5E8C1F18-F7AE-4520-8DB6-00B6F2ABCAE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07368" y="1412879"/>
            <a:ext cx="11449272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defRPr/>
            </a:pPr>
            <a:endParaRPr lang="pt-BR" altLang="pt-BR" b="1" dirty="0"/>
          </a:p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b="1" dirty="0"/>
              <a:t>Exemplo:</a:t>
            </a:r>
            <a:r>
              <a:rPr lang="pt-BR" altLang="pt-BR" dirty="0"/>
              <a:t> No trecho abaixo, se o valor da variável “a” for maior que a variável “b”, será impressa a primeira frase. Se a variável “b” for maior, será impresso a segunda frase.</a:t>
            </a:r>
          </a:p>
        </p:txBody>
      </p:sp>
      <p:sp>
        <p:nvSpPr>
          <p:cNvPr id="1534980" name="Rectangle 4">
            <a:extLst>
              <a:ext uri="{FF2B5EF4-FFF2-40B4-BE49-F238E27FC236}">
                <a16:creationId xmlns:a16="http://schemas.microsoft.com/office/drawing/2014/main" id="{5E33DED5-EE0F-4C9C-A2A0-88A04996F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7" y="2868615"/>
            <a:ext cx="5400675" cy="3416320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noProof="1"/>
              <a:t>main (){</a:t>
            </a:r>
          </a:p>
          <a:p>
            <a:pPr eaLnBrk="1" hangingPunct="1">
              <a:defRPr/>
            </a:pPr>
            <a:r>
              <a:rPr lang="pt-BR" noProof="1"/>
              <a:t>float a,b;</a:t>
            </a:r>
          </a:p>
          <a:p>
            <a:pPr eaLnBrk="1" hangingPunct="1">
              <a:defRPr/>
            </a:pPr>
            <a:r>
              <a:rPr lang="pt-BR" noProof="1"/>
              <a:t>puts("Digite dois numeros diferentes");</a:t>
            </a:r>
          </a:p>
          <a:p>
            <a:pPr eaLnBrk="1" hangingPunct="1">
              <a:defRPr/>
            </a:pPr>
            <a:r>
              <a:rPr lang="pt-BR" noProof="1"/>
              <a:t>scanf("%f%f",&amp;a,&amp;b);</a:t>
            </a:r>
          </a:p>
          <a:p>
            <a:pPr eaLnBrk="1" hangingPunct="1">
              <a:defRPr/>
            </a:pPr>
            <a:r>
              <a:rPr lang="pt-BR" noProof="1"/>
              <a:t>if (a&gt;b)    </a:t>
            </a:r>
          </a:p>
          <a:p>
            <a:pPr eaLnBrk="1" hangingPunct="1">
              <a:defRPr/>
            </a:pPr>
            <a:r>
              <a:rPr lang="pt-BR" noProof="1"/>
              <a:t>    {printf("\n\t %.2f e'maior que %.2f ",a,b);</a:t>
            </a:r>
            <a:r>
              <a:rPr lang="es-ES" dirty="0"/>
              <a:t>}</a:t>
            </a:r>
            <a:endParaRPr lang="es-ES" noProof="1"/>
          </a:p>
          <a:p>
            <a:pPr eaLnBrk="1" hangingPunct="1">
              <a:defRPr/>
            </a:pPr>
            <a:r>
              <a:rPr lang="es-ES" noProof="1"/>
              <a:t> 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(b&gt;a)</a:t>
            </a:r>
            <a:endParaRPr lang="pt-BR" noProof="1"/>
          </a:p>
          <a:p>
            <a:pPr eaLnBrk="1" hangingPunct="1">
              <a:defRPr/>
            </a:pPr>
            <a:r>
              <a:rPr lang="pt-BR" noProof="1"/>
              <a:t>    </a:t>
            </a:r>
            <a:r>
              <a:rPr lang="pt-BR" dirty="0"/>
              <a:t>   </a:t>
            </a:r>
            <a:r>
              <a:rPr lang="pt-BR" noProof="1"/>
              <a:t>{printf("\n\t %.2f e'maior que %.2f",b,a);}</a:t>
            </a:r>
          </a:p>
          <a:p>
            <a:pPr eaLnBrk="1" hangingPunct="1">
              <a:defRPr/>
            </a:pPr>
            <a:r>
              <a:rPr lang="pt-BR" noProof="1"/>
              <a:t>    </a:t>
            </a:r>
            <a:r>
              <a:rPr lang="pt-BR" dirty="0"/>
              <a:t>    </a:t>
            </a:r>
            <a:r>
              <a:rPr lang="pt-BR" dirty="0" err="1"/>
              <a:t>else</a:t>
            </a:r>
            <a:endParaRPr lang="pt-BR" dirty="0"/>
          </a:p>
          <a:p>
            <a:pPr eaLnBrk="1" hangingPunct="1">
              <a:defRPr/>
            </a:pPr>
            <a:r>
              <a:rPr lang="pt-BR" dirty="0"/>
              <a:t>	</a:t>
            </a:r>
            <a:r>
              <a:rPr lang="pt-BR" noProof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pt-BR" noProof="1"/>
              <a:t>{printf("\n\t %.2f e</a:t>
            </a:r>
            <a:r>
              <a:rPr lang="pt-BR" dirty="0"/>
              <a:t> igual a</a:t>
            </a:r>
            <a:r>
              <a:rPr lang="pt-BR" noProof="1"/>
              <a:t> %.2f",b,a);}</a:t>
            </a:r>
            <a:endParaRPr lang="pt-BR" dirty="0"/>
          </a:p>
          <a:p>
            <a:pPr eaLnBrk="1" hangingPunct="1">
              <a:defRPr/>
            </a:pPr>
            <a:r>
              <a:rPr lang="pt-BR" noProof="1"/>
              <a:t>getch();</a:t>
            </a:r>
            <a:endParaRPr lang="pt-BR" dirty="0"/>
          </a:p>
          <a:p>
            <a:pPr eaLnBrk="1" hangingPunct="1">
              <a:defRPr/>
            </a:pPr>
            <a:endParaRPr lang="pt-BR" dirty="0"/>
          </a:p>
        </p:txBody>
      </p:sp>
      <p:sp>
        <p:nvSpPr>
          <p:cNvPr id="316422" name="Text Box 5">
            <a:extLst>
              <a:ext uri="{FF2B5EF4-FFF2-40B4-BE49-F238E27FC236}">
                <a16:creationId xmlns:a16="http://schemas.microsoft.com/office/drawing/2014/main" id="{07FB7AD0-F953-408D-9A71-3E8F8F97F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43679"/>
            <a:ext cx="150233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 1.cpp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788110E4-2D39-4D18-96D3-705A20F8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9FEFDEED-781D-431A-9169-B5508F18DC80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7026" name="Rectangle 2">
            <a:extLst>
              <a:ext uri="{FF2B5EF4-FFF2-40B4-BE49-F238E27FC236}">
                <a16:creationId xmlns:a16="http://schemas.microsoft.com/office/drawing/2014/main" id="{23CA5C50-924A-4E8F-81C7-294A64A89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</a:t>
            </a:r>
            <a:r>
              <a:rPr lang="pt-BR" sz="2800" b="0">
                <a:effectLst/>
              </a:rPr>
              <a:t>: </a:t>
            </a:r>
            <a:r>
              <a:rPr lang="pt-BR"/>
              <a:t>if...else</a:t>
            </a:r>
          </a:p>
        </p:txBody>
      </p:sp>
      <p:sp>
        <p:nvSpPr>
          <p:cNvPr id="318468" name="Rectangle 3">
            <a:extLst>
              <a:ext uri="{FF2B5EF4-FFF2-40B4-BE49-F238E27FC236}">
                <a16:creationId xmlns:a16="http://schemas.microsoft.com/office/drawing/2014/main" id="{0E84F53D-2D3D-422D-9EBB-6D35455696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pt-BR" altLang="pt-BR" sz="2200">
                <a:effectLst/>
              </a:rPr>
              <a:t>   Também é possível escrever uma estrutura que execute um entre dois blocos de instruções. A figura mostra o fluxograma correspondente a esta estrutura de decisão. </a:t>
            </a:r>
          </a:p>
        </p:txBody>
      </p:sp>
      <p:pic>
        <p:nvPicPr>
          <p:cNvPr id="318469" name="Picture 4">
            <a:extLst>
              <a:ext uri="{FF2B5EF4-FFF2-40B4-BE49-F238E27FC236}">
                <a16:creationId xmlns:a16="http://schemas.microsoft.com/office/drawing/2014/main" id="{86162688-C0AC-4067-B2C5-6523C0A13B3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4" y="3068643"/>
            <a:ext cx="2663825" cy="25542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2F67D5CD-A227-4D86-902D-4B18A3EC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09E6E85F-9558-41A0-86D5-86205E1F95AF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9074" name="Rectangle 2">
            <a:extLst>
              <a:ext uri="{FF2B5EF4-FFF2-40B4-BE49-F238E27FC236}">
                <a16:creationId xmlns:a16="http://schemas.microsoft.com/office/drawing/2014/main" id="{2BC0EF56-D8BE-4F2B-8D37-08EEF82AE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</a:t>
            </a:r>
            <a:r>
              <a:rPr lang="pt-BR" sz="2800" b="0">
                <a:effectLst/>
              </a:rPr>
              <a:t>: </a:t>
            </a:r>
            <a:r>
              <a:rPr lang="pt-BR"/>
              <a:t>if...else</a:t>
            </a:r>
          </a:p>
        </p:txBody>
      </p:sp>
      <p:sp>
        <p:nvSpPr>
          <p:cNvPr id="320516" name="Rectangle 3">
            <a:extLst>
              <a:ext uri="{FF2B5EF4-FFF2-40B4-BE49-F238E27FC236}">
                <a16:creationId xmlns:a16="http://schemas.microsoft.com/office/drawing/2014/main" id="{45BB68A1-8961-4714-9214-9D501B01CB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</a:pPr>
            <a:r>
              <a:rPr lang="pt-BR" altLang="pt-BR" sz="1900">
                <a:effectLst/>
              </a:rPr>
              <a:t>	</a:t>
            </a:r>
            <a:r>
              <a:rPr lang="pt-BR" altLang="pt-BR" sz="1900" b="1">
                <a:effectLst/>
              </a:rPr>
              <a:t>Sintaxe</a:t>
            </a:r>
            <a:r>
              <a:rPr lang="pt-BR" altLang="pt-BR" sz="1900">
                <a:effectLst/>
              </a:rPr>
              <a:t>: Decisão de dois blocos: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if(</a:t>
            </a:r>
            <a:r>
              <a:rPr lang="pt-BR" altLang="pt-BR" sz="1900" i="1">
                <a:effectLst/>
              </a:rPr>
              <a:t>condição</a:t>
            </a:r>
            <a:r>
              <a:rPr lang="pt-BR" altLang="pt-BR" sz="1900">
                <a:effectLst/>
              </a:rPr>
              <a:t>)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  </a:t>
            </a:r>
            <a:r>
              <a:rPr lang="pt-BR" altLang="pt-BR" sz="1900" i="1">
                <a:effectLst/>
              </a:rPr>
              <a:t>bloco 1</a:t>
            </a:r>
            <a:r>
              <a:rPr lang="pt-BR" altLang="pt-BR" sz="1900">
                <a:effectLst/>
              </a:rPr>
              <a:t>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}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else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  </a:t>
            </a:r>
            <a:r>
              <a:rPr lang="pt-BR" altLang="pt-BR" sz="1900" i="1">
                <a:effectLst/>
              </a:rPr>
              <a:t>bloco 2</a:t>
            </a:r>
            <a:r>
              <a:rPr lang="pt-BR" altLang="pt-BR" sz="1900">
                <a:effectLst/>
              </a:rPr>
              <a:t>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pt-BR" altLang="pt-BR" sz="1900">
                <a:effectLst/>
              </a:rPr>
              <a:t>}</a:t>
            </a: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1900">
                <a:effectLst/>
              </a:rPr>
              <a:t>onde:	</a:t>
            </a:r>
            <a:r>
              <a:rPr lang="pt-BR" altLang="pt-BR" sz="1900" i="1">
                <a:effectLst/>
              </a:rPr>
              <a:t>condição</a:t>
            </a:r>
            <a:r>
              <a:rPr lang="pt-BR" altLang="pt-BR" sz="1900">
                <a:effectLst/>
              </a:rPr>
              <a:t> é uma expressão lógica ou numérica.</a:t>
            </a:r>
            <a:endParaRPr lang="pt-BR" altLang="pt-BR" sz="1900" i="1">
              <a:effectLst/>
            </a:endParaRP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1900" i="1">
                <a:effectLst/>
              </a:rPr>
              <a:t>bloco 1</a:t>
            </a:r>
            <a:r>
              <a:rPr lang="pt-BR" altLang="pt-BR" sz="1900">
                <a:effectLst/>
              </a:rPr>
              <a:t> e </a:t>
            </a:r>
            <a:r>
              <a:rPr lang="pt-BR" altLang="pt-BR" sz="1900" i="1">
                <a:effectLst/>
              </a:rPr>
              <a:t>bloco 2</a:t>
            </a:r>
            <a:r>
              <a:rPr lang="pt-BR" altLang="pt-BR" sz="1900">
                <a:effectLst/>
              </a:rPr>
              <a:t> são conjuntos de instruções.</a:t>
            </a: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1900">
                <a:effectLst/>
              </a:rPr>
              <a:t>Se a condição for </a:t>
            </a:r>
            <a:r>
              <a:rPr lang="pt-BR" altLang="pt-BR" sz="1900" b="1">
                <a:effectLst/>
              </a:rPr>
              <a:t>verdadeira</a:t>
            </a:r>
            <a:r>
              <a:rPr lang="pt-BR" altLang="pt-BR" sz="1900">
                <a:effectLst/>
              </a:rPr>
              <a:t> o </a:t>
            </a:r>
            <a:r>
              <a:rPr lang="pt-BR" altLang="pt-BR" sz="1900" i="1">
                <a:effectLst/>
              </a:rPr>
              <a:t>bloco 1</a:t>
            </a:r>
            <a:r>
              <a:rPr lang="pt-BR" altLang="pt-BR" sz="1900">
                <a:effectLst/>
              </a:rPr>
              <a:t> é executado. Caso contrário, o </a:t>
            </a:r>
            <a:r>
              <a:rPr lang="pt-BR" altLang="pt-BR" sz="1900" i="1">
                <a:effectLst/>
              </a:rPr>
              <a:t>bloco 2</a:t>
            </a:r>
            <a:r>
              <a:rPr lang="pt-BR" altLang="pt-BR" sz="1900">
                <a:effectLst/>
              </a:rPr>
              <a:t> é executado.</a:t>
            </a:r>
            <a:endParaRPr lang="pt-BR" altLang="pt-BR" sz="1900" b="1">
              <a:effectLst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6">
            <a:extLst>
              <a:ext uri="{FF2B5EF4-FFF2-40B4-BE49-F238E27FC236}">
                <a16:creationId xmlns:a16="http://schemas.microsoft.com/office/drawing/2014/main" id="{C5B96DF3-73A1-4CF9-B50F-50E241F2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64241B5F-1AA1-46E0-9AA3-1D0D4AA0CFA1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84130" name="Rectangle 2">
            <a:extLst>
              <a:ext uri="{FF2B5EF4-FFF2-40B4-BE49-F238E27FC236}">
                <a16:creationId xmlns:a16="http://schemas.microsoft.com/office/drawing/2014/main" id="{B1F6D56B-024A-48E6-8E47-12AEE008E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1584131" name="Rectangle 3">
            <a:extLst>
              <a:ext uri="{FF2B5EF4-FFF2-40B4-BE49-F238E27FC236}">
                <a16:creationId xmlns:a16="http://schemas.microsoft.com/office/drawing/2014/main" id="{E5487188-64BA-4142-A89D-549995068C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defRPr/>
            </a:pPr>
            <a:r>
              <a:rPr lang="pt-BR" altLang="pt-BR" b="1" dirty="0"/>
              <a:t>Exemplo:</a:t>
            </a:r>
            <a:r>
              <a:rPr lang="pt-BR" altLang="pt-BR" dirty="0"/>
              <a:t> No trecho abaixo, se o valor da variável </a:t>
            </a:r>
            <a:r>
              <a:rPr lang="pt-BR" altLang="pt-BR" dirty="0" err="1"/>
              <a:t>opcao</a:t>
            </a:r>
            <a:r>
              <a:rPr lang="pt-BR" altLang="pt-BR" dirty="0"/>
              <a:t> for igual a “s”, será executada a soma de 2 </a:t>
            </a:r>
            <a:r>
              <a:rPr lang="pt-BR" altLang="pt-BR" dirty="0" err="1"/>
              <a:t>numeros</a:t>
            </a:r>
            <a:r>
              <a:rPr lang="pt-BR" altLang="pt-BR" dirty="0"/>
              <a:t>. Observe que se digitar “S” (S maiúsculo) será impresso </a:t>
            </a:r>
            <a:r>
              <a:rPr lang="pt-BR" altLang="pt-BR" dirty="0" err="1"/>
              <a:t>opcao</a:t>
            </a:r>
            <a:r>
              <a:rPr lang="pt-BR" altLang="pt-BR" dirty="0"/>
              <a:t> invalida. Se for digitado “u” ou “U”, será realizada a subtração de dois números.</a:t>
            </a:r>
          </a:p>
        </p:txBody>
      </p:sp>
      <p:sp>
        <p:nvSpPr>
          <p:cNvPr id="1584132" name="Rectangle 4">
            <a:extLst>
              <a:ext uri="{FF2B5EF4-FFF2-40B4-BE49-F238E27FC236}">
                <a16:creationId xmlns:a16="http://schemas.microsoft.com/office/drawing/2014/main" id="{F58C86E7-39C4-483B-A3C6-DAC005FCA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8" y="2373317"/>
            <a:ext cx="7273925" cy="4247317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noProof="1"/>
              <a:t>main (){</a:t>
            </a:r>
          </a:p>
          <a:p>
            <a:pPr eaLnBrk="1" hangingPunct="1">
              <a:defRPr/>
            </a:pPr>
            <a:r>
              <a:rPr lang="pt-BR" noProof="1"/>
              <a:t>char opcao;</a:t>
            </a:r>
          </a:p>
          <a:p>
            <a:pPr eaLnBrk="1" hangingPunct="1">
              <a:defRPr/>
            </a:pPr>
            <a:r>
              <a:rPr lang="pt-BR" noProof="1"/>
              <a:t>float a,b,x;</a:t>
            </a:r>
          </a:p>
          <a:p>
            <a:pPr eaLnBrk="1" hangingPunct="1">
              <a:defRPr/>
            </a:pPr>
            <a:r>
              <a:rPr lang="pt-BR" noProof="1"/>
              <a:t>puts("Selecione a operação matema'tica: S- Soma; U-Subtracao;\n");</a:t>
            </a:r>
            <a:r>
              <a:rPr lang="pt-BR" noProof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pt-BR" noProof="1"/>
          </a:p>
          <a:p>
            <a:pPr eaLnBrk="1" hangingPunct="1">
              <a:defRPr/>
            </a:pPr>
            <a:r>
              <a:rPr lang="pt-BR" noProof="1"/>
              <a:t>scanf("%s",&amp;opcao); </a:t>
            </a:r>
          </a:p>
          <a:p>
            <a:pPr eaLnBrk="1" hangingPunct="1">
              <a:defRPr/>
            </a:pPr>
            <a:r>
              <a:rPr lang="pt-BR" noProof="1"/>
              <a:t>printf("\n\t Entre com os dois numeros\n");</a:t>
            </a:r>
          </a:p>
          <a:p>
            <a:pPr eaLnBrk="1" hangingPunct="1">
              <a:defRPr/>
            </a:pPr>
            <a:r>
              <a:rPr lang="pt-BR" noProof="1"/>
              <a:t>scanf("%f%f",&amp;a,&amp;b);</a:t>
            </a:r>
          </a:p>
          <a:p>
            <a:pPr eaLnBrk="1" hangingPunct="1">
              <a:defRPr/>
            </a:pPr>
            <a:r>
              <a:rPr lang="pt-BR" noProof="1"/>
              <a:t>if (opcao=='s')    </a:t>
            </a:r>
          </a:p>
          <a:p>
            <a:pPr eaLnBrk="1" hangingPunct="1">
              <a:defRPr/>
            </a:pPr>
            <a:r>
              <a:rPr lang="pt-BR" noProof="1"/>
              <a:t>    {x=a+b;</a:t>
            </a:r>
          </a:p>
          <a:p>
            <a:pPr eaLnBrk="1" hangingPunct="1">
              <a:defRPr/>
            </a:pPr>
            <a:r>
              <a:rPr lang="pt-BR" noProof="1"/>
              <a:t>     printf("\n\t A soma e':%.2f \a",x);}    </a:t>
            </a:r>
          </a:p>
          <a:p>
            <a:pPr eaLnBrk="1" hangingPunct="1">
              <a:defRPr/>
            </a:pPr>
            <a:r>
              <a:rPr lang="pt-BR" noProof="1"/>
              <a:t>else </a:t>
            </a:r>
            <a:r>
              <a:rPr lang="pt-BR" noProof="1">
                <a:solidFill>
                  <a:srgbClr val="FF6600"/>
                </a:solidFill>
              </a:rPr>
              <a:t>if(opcao=='u'||opcao=='U')</a:t>
            </a:r>
          </a:p>
          <a:p>
            <a:pPr eaLnBrk="1" hangingPunct="1">
              <a:defRPr/>
            </a:pPr>
            <a:r>
              <a:rPr lang="pt-BR" noProof="1"/>
              <a:t> </a:t>
            </a:r>
            <a:r>
              <a:rPr lang="es-ES" dirty="0"/>
              <a:t>         </a:t>
            </a:r>
            <a:r>
              <a:rPr lang="es-ES" noProof="1"/>
              <a:t>{</a:t>
            </a:r>
            <a:r>
              <a:rPr lang="es-ES" noProof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s-ES" noProof="1"/>
              <a:t>x=a-b;</a:t>
            </a:r>
          </a:p>
          <a:p>
            <a:pPr eaLnBrk="1" hangingPunct="1">
              <a:defRPr/>
            </a:pPr>
            <a:r>
              <a:rPr lang="es-ES" noProof="1"/>
              <a:t>        </a:t>
            </a:r>
            <a:r>
              <a:rPr lang="es-ES" dirty="0"/>
              <a:t>     </a:t>
            </a:r>
            <a:r>
              <a:rPr lang="es-ES" noProof="1"/>
              <a:t>printf("\n\t A subtracao e'%.2f \a",x); }      </a:t>
            </a:r>
          </a:p>
          <a:p>
            <a:pPr eaLnBrk="1" hangingPunct="1">
              <a:defRPr/>
            </a:pPr>
            <a:r>
              <a:rPr lang="es-ES" noProof="1"/>
              <a:t>     </a:t>
            </a:r>
            <a:r>
              <a:rPr lang="es-ES" dirty="0"/>
              <a:t>  </a:t>
            </a:r>
            <a:r>
              <a:rPr lang="es-ES" noProof="1"/>
              <a:t>else</a:t>
            </a:r>
          </a:p>
          <a:p>
            <a:pPr eaLnBrk="1" hangingPunct="1">
              <a:defRPr/>
            </a:pPr>
            <a:r>
              <a:rPr lang="es-ES" noProof="1"/>
              <a:t>         </a:t>
            </a:r>
            <a:r>
              <a:rPr lang="es-ES" dirty="0"/>
              <a:t> </a:t>
            </a:r>
            <a:r>
              <a:rPr lang="es-ES" noProof="1"/>
              <a:t>printf("opcao invalida</a:t>
            </a:r>
            <a:r>
              <a:rPr lang="pt-BR" dirty="0"/>
              <a:t>");} </a:t>
            </a:r>
          </a:p>
        </p:txBody>
      </p:sp>
      <p:sp>
        <p:nvSpPr>
          <p:cNvPr id="322566" name="Text Box 5">
            <a:extLst>
              <a:ext uri="{FF2B5EF4-FFF2-40B4-BE49-F238E27FC236}">
                <a16:creationId xmlns:a16="http://schemas.microsoft.com/office/drawing/2014/main" id="{32461670-0F39-4F6C-B68B-0F68034B4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43679"/>
            <a:ext cx="1446230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exemplo2.cpp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6">
            <a:extLst>
              <a:ext uri="{FF2B5EF4-FFF2-40B4-BE49-F238E27FC236}">
                <a16:creationId xmlns:a16="http://schemas.microsoft.com/office/drawing/2014/main" id="{3EA3A68E-0596-4A67-AA2C-5D40FF03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ACBE3EF9-8A49-4E78-92F6-904673540BD7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43170" name="Rectangle 2">
            <a:extLst>
              <a:ext uri="{FF2B5EF4-FFF2-40B4-BE49-F238E27FC236}">
                <a16:creationId xmlns:a16="http://schemas.microsoft.com/office/drawing/2014/main" id="{D29BA33B-627C-4D26-B675-87D3E7111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1543171" name="Rectangle 3">
            <a:extLst>
              <a:ext uri="{FF2B5EF4-FFF2-40B4-BE49-F238E27FC236}">
                <a16:creationId xmlns:a16="http://schemas.microsoft.com/office/drawing/2014/main" id="{BAC6AED1-ACF7-4998-B088-9ABD4C1524E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000" b="1">
                <a:effectLst/>
              </a:rPr>
              <a:t>	</a:t>
            </a:r>
            <a:r>
              <a:rPr lang="pt-BR" altLang="pt-BR" sz="2000">
                <a:effectLst/>
              </a:rPr>
              <a:t>Também é possível escrever uma estrutura que execute um entre múltiplos blocos de instruções. A figura mostra o fluxograma correspondente a esta estrutura de decisão</a:t>
            </a:r>
            <a:r>
              <a:rPr lang="pt-BR" altLang="pt-BR" sz="1400"/>
              <a:t> .</a:t>
            </a:r>
          </a:p>
        </p:txBody>
      </p:sp>
      <p:sp>
        <p:nvSpPr>
          <p:cNvPr id="1543172" name="Rectangle 4">
            <a:extLst>
              <a:ext uri="{FF2B5EF4-FFF2-40B4-BE49-F238E27FC236}">
                <a16:creationId xmlns:a16="http://schemas.microsoft.com/office/drawing/2014/main" id="{6A8C76F3-B592-4F6C-AD93-2D52918C3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-184665"/>
            <a:ext cx="1847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24614" name="Object 5">
            <a:extLst>
              <a:ext uri="{FF2B5EF4-FFF2-40B4-BE49-F238E27FC236}">
                <a16:creationId xmlns:a16="http://schemas.microsoft.com/office/drawing/2014/main" id="{C85F2D37-3475-4381-BBCB-8A53F20833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7" y="2276477"/>
          <a:ext cx="4352925" cy="447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3955473" imgH="4883727" progId="Word.Picture.8">
                  <p:embed/>
                </p:oleObj>
              </mc:Choice>
              <mc:Fallback>
                <p:oleObj name="Figura" r:id="rId3" imgW="3955473" imgH="4883727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7" y="2276477"/>
                        <a:ext cx="4352925" cy="4476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89A3E1EF-4B76-40A4-ABD7-AE1825AE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57AA8892-E35C-476D-80A9-E577A2B74CB7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32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45218" name="Rectangle 2">
            <a:extLst>
              <a:ext uri="{FF2B5EF4-FFF2-40B4-BE49-F238E27FC236}">
                <a16:creationId xmlns:a16="http://schemas.microsoft.com/office/drawing/2014/main" id="{DB569953-E09E-423C-B5CC-4F2C69797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326660" name="Rectangle 3">
            <a:extLst>
              <a:ext uri="{FF2B5EF4-FFF2-40B4-BE49-F238E27FC236}">
                <a16:creationId xmlns:a16="http://schemas.microsoft.com/office/drawing/2014/main" id="{3BD16DCB-C3F4-4137-B260-627F00DF92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</a:pPr>
            <a:r>
              <a:rPr lang="pt-BR" altLang="pt-BR" sz="2000">
                <a:effectLst/>
              </a:rPr>
              <a:t>	Sintaxe: Decisão de múltiplos blocos: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if(condição 1)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bloco 1;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...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}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else if(condição N)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bloco N;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}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else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  bloco P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 }</a:t>
            </a: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2000">
                <a:effectLst/>
              </a:rPr>
              <a:t>onde:	condição 1, condição 2, ... são expressões lógicas ou numéricas.</a:t>
            </a:r>
          </a:p>
          <a:p>
            <a:pPr marL="0" indent="0" algn="l" eaLnBrk="1" hangingPunct="1">
              <a:lnSpc>
                <a:spcPct val="80000"/>
              </a:lnSpc>
            </a:pPr>
            <a:r>
              <a:rPr lang="pt-BR" altLang="pt-BR" sz="2000">
                <a:effectLst/>
              </a:rPr>
              <a:t>bloco 1 , bloco 2,... são conjuntos de instruções.</a:t>
            </a:r>
          </a:p>
        </p:txBody>
      </p:sp>
      <p:sp>
        <p:nvSpPr>
          <p:cNvPr id="1545220" name="Rectangle 4">
            <a:extLst>
              <a:ext uri="{FF2B5EF4-FFF2-40B4-BE49-F238E27FC236}">
                <a16:creationId xmlns:a16="http://schemas.microsoft.com/office/drawing/2014/main" id="{453E4B9A-F105-48D3-B012-79C180BD2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-184665"/>
            <a:ext cx="1847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ço Reservado para Número de Slide 6">
            <a:extLst>
              <a:ext uri="{FF2B5EF4-FFF2-40B4-BE49-F238E27FC236}">
                <a16:creationId xmlns:a16="http://schemas.microsoft.com/office/drawing/2014/main" id="{C47C70E3-904F-4E56-B513-3C5AB754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114EB57C-96C7-4830-8CC5-2679691DDCFD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33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47266" name="Rectangle 2">
            <a:extLst>
              <a:ext uri="{FF2B5EF4-FFF2-40B4-BE49-F238E27FC236}">
                <a16:creationId xmlns:a16="http://schemas.microsoft.com/office/drawing/2014/main" id="{84A1B303-22F4-4245-B26D-38FD78B19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328708" name="Rectangle 3">
            <a:extLst>
              <a:ext uri="{FF2B5EF4-FFF2-40B4-BE49-F238E27FC236}">
                <a16:creationId xmlns:a16="http://schemas.microsoft.com/office/drawing/2014/main" id="{C195CE6A-7162-443A-B708-9693E4BABF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17462" algn="l" eaLnBrk="1" hangingPunct="1">
              <a:lnSpc>
                <a:spcPct val="80000"/>
              </a:lnSpc>
            </a:pPr>
            <a:r>
              <a:rPr lang="pt-BR" altLang="pt-BR" sz="2000" b="1">
                <a:effectLst/>
              </a:rPr>
              <a:t>Exemplo:</a:t>
            </a:r>
            <a:r>
              <a:rPr lang="pt-BR" altLang="pt-BR" sz="2000">
                <a:effectLst/>
              </a:rPr>
              <a:t> No trecho abaixo, uma determinada ação é executada se o valor de </a:t>
            </a:r>
            <a:r>
              <a:rPr lang="pt-BR" altLang="pt-BR" sz="2000" b="1">
                <a:effectLst/>
              </a:rPr>
              <a:t>num</a:t>
            </a:r>
            <a:r>
              <a:rPr lang="pt-BR" altLang="pt-BR" sz="2000">
                <a:effectLst/>
              </a:rPr>
              <a:t> for </a:t>
            </a:r>
            <a:r>
              <a:rPr lang="pt-BR" altLang="pt-BR" sz="2000" b="1">
                <a:effectLst/>
              </a:rPr>
              <a:t>positivo</a:t>
            </a:r>
            <a:r>
              <a:rPr lang="pt-BR" altLang="pt-BR" sz="2000">
                <a:effectLst/>
              </a:rPr>
              <a:t>, </a:t>
            </a:r>
            <a:r>
              <a:rPr lang="pt-BR" altLang="pt-BR" sz="2000" b="1">
                <a:effectLst/>
              </a:rPr>
              <a:t>negativo</a:t>
            </a:r>
            <a:r>
              <a:rPr lang="pt-BR" altLang="pt-BR" sz="2000">
                <a:effectLst/>
              </a:rPr>
              <a:t> ou </a:t>
            </a:r>
            <a:r>
              <a:rPr lang="pt-BR" altLang="pt-BR" sz="2000" b="1">
                <a:effectLst/>
              </a:rPr>
              <a:t>nulo</a:t>
            </a:r>
            <a:r>
              <a:rPr lang="pt-BR" altLang="pt-BR" sz="2000">
                <a:effectLst/>
              </a:rPr>
              <a:t>.  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if(num &gt; 0)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{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a = b;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}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else 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if(num &lt; 0)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{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a = b + 1;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}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else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{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 a = b - 1;</a:t>
            </a:r>
          </a:p>
          <a:p>
            <a:pPr marL="0" indent="17462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     }</a:t>
            </a:r>
          </a:p>
        </p:txBody>
      </p:sp>
      <p:sp>
        <p:nvSpPr>
          <p:cNvPr id="1547268" name="Rectangle 4">
            <a:extLst>
              <a:ext uri="{FF2B5EF4-FFF2-40B4-BE49-F238E27FC236}">
                <a16:creationId xmlns:a16="http://schemas.microsoft.com/office/drawing/2014/main" id="{A82A4E1A-FD1F-466A-8E50-013A8371A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-184665"/>
            <a:ext cx="1847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547387" name="Group 123">
            <a:extLst>
              <a:ext uri="{FF2B5EF4-FFF2-40B4-BE49-F238E27FC236}">
                <a16:creationId xmlns:a16="http://schemas.microsoft.com/office/drawing/2014/main" id="{AE1F973A-A739-4355-B75B-16D079421D8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959600" y="2781302"/>
          <a:ext cx="2692400" cy="2016128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num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47353" name="Text Box 89">
            <a:extLst>
              <a:ext uri="{FF2B5EF4-FFF2-40B4-BE49-F238E27FC236}">
                <a16:creationId xmlns:a16="http://schemas.microsoft.com/office/drawing/2014/main" id="{0E72EEB2-489C-4A7C-919C-E4EB4B9B4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967" y="2420939"/>
            <a:ext cx="752129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s-ES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 =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121D3-D876-420F-A88D-F8465B54AA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72DF8B-F38C-48FD-94F3-6B3549EB0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FAA37C-1973-498F-B87D-1D66CC78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980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C60A95-455C-4DCE-9FCD-68A0F790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F0131F3C-CDC6-4970-9796-2CCA05118412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49314" name="Rectangle 2">
            <a:extLst>
              <a:ext uri="{FF2B5EF4-FFF2-40B4-BE49-F238E27FC236}">
                <a16:creationId xmlns:a16="http://schemas.microsoft.com/office/drawing/2014/main" id="{FD53D23B-004B-4A6E-A67B-CCDBEBEF1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</a:p>
        </p:txBody>
      </p:sp>
      <p:sp>
        <p:nvSpPr>
          <p:cNvPr id="330756" name="Rectangle 3">
            <a:extLst>
              <a:ext uri="{FF2B5EF4-FFF2-40B4-BE49-F238E27FC236}">
                <a16:creationId xmlns:a16="http://schemas.microsoft.com/office/drawing/2014/main" id="{3338E47C-254E-4ED7-AD97-F4E0C5F19D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9"/>
            <a:ext cx="8218488" cy="4608513"/>
          </a:xfrm>
        </p:spPr>
        <p:txBody>
          <a:bodyPr/>
          <a:lstStyle/>
          <a:p>
            <a:pPr marL="0" indent="17462" algn="l" eaLnBrk="1" hangingPunct="1">
              <a:lnSpc>
                <a:spcPct val="80000"/>
              </a:lnSpc>
            </a:pPr>
            <a:r>
              <a:rPr lang="pt-BR" altLang="pt-BR" sz="2000" b="1">
                <a:effectLst/>
              </a:rPr>
              <a:t>Exercício:</a:t>
            </a:r>
          </a:p>
          <a:p>
            <a:pPr marL="0" indent="17462" algn="just" eaLnBrk="1" hangingPunct="1"/>
            <a:r>
              <a:rPr lang="pt-BR" altLang="pt-BR" sz="2000">
                <a:effectLst/>
              </a:rPr>
              <a:t>1- Faça um programa para realizar a multiplicação ou a divisão. O usuário deverá entrar com a opção de qual operação ele deseja fazer e entrar com os valores das variáveis que serão utilizadas nas multiplicação ou na divisão.</a:t>
            </a:r>
          </a:p>
          <a:p>
            <a:pPr marL="0" indent="17462" algn="l" eaLnBrk="1" hangingPunct="1">
              <a:lnSpc>
                <a:spcPct val="80000"/>
              </a:lnSpc>
            </a:pPr>
            <a:r>
              <a:rPr lang="pt-BR" altLang="pt-BR" sz="2000">
                <a:effectLst/>
              </a:rPr>
              <a:t>Fórmulas:</a:t>
            </a:r>
          </a:p>
          <a:p>
            <a:pPr marL="0" indent="17462"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   x= a*b; </a:t>
            </a:r>
          </a:p>
          <a:p>
            <a:pPr marL="0" indent="17462"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   x=a / b.</a:t>
            </a:r>
          </a:p>
        </p:txBody>
      </p:sp>
      <p:sp>
        <p:nvSpPr>
          <p:cNvPr id="1549316" name="Rectangle 4">
            <a:extLst>
              <a:ext uri="{FF2B5EF4-FFF2-40B4-BE49-F238E27FC236}">
                <a16:creationId xmlns:a16="http://schemas.microsoft.com/office/drawing/2014/main" id="{C23B3473-86DC-4D14-8EED-D0AA46042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-184665"/>
            <a:ext cx="1847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0758" name="Text Box 7">
            <a:extLst>
              <a:ext uri="{FF2B5EF4-FFF2-40B4-BE49-F238E27FC236}">
                <a16:creationId xmlns:a16="http://schemas.microsoft.com/office/drawing/2014/main" id="{470D5C91-AB95-46F1-A7F0-08DAEED3D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43679"/>
            <a:ext cx="1798890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Calculadora if.cpp</a:t>
            </a:r>
          </a:p>
        </p:txBody>
      </p:sp>
      <p:sp>
        <p:nvSpPr>
          <p:cNvPr id="330759" name="Text Box 8">
            <a:extLst>
              <a:ext uri="{FF2B5EF4-FFF2-40B4-BE49-F238E27FC236}">
                <a16:creationId xmlns:a16="http://schemas.microsoft.com/office/drawing/2014/main" id="{7D16BB7A-A531-421D-9D9E-D99982EF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6" y="6543679"/>
            <a:ext cx="1912703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Calculadora if2.cpp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E26C6444-373D-4B1B-A6DA-2D851B66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067BE75B-EA76-4FDA-ABC6-DB1D74050E44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53410" name="Rectangle 2">
            <a:extLst>
              <a:ext uri="{FF2B5EF4-FFF2-40B4-BE49-F238E27FC236}">
                <a16:creationId xmlns:a16="http://schemas.microsoft.com/office/drawing/2014/main" id="{C8FC5D88-9EBA-4D46-91AE-5FF5ECBBC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53411" name="Rectangle 3">
            <a:extLst>
              <a:ext uri="{FF2B5EF4-FFF2-40B4-BE49-F238E27FC236}">
                <a16:creationId xmlns:a16="http://schemas.microsoft.com/office/drawing/2014/main" id="{266D9812-8037-44DD-8F5F-E4F4FCA80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algn="l" eaLnBrk="1" hangingPunct="1">
              <a:buClr>
                <a:srgbClr val="000000"/>
              </a:buClr>
              <a:buSzTx/>
              <a:defRPr/>
            </a:pPr>
            <a:r>
              <a:rPr lang="pt-BR"/>
              <a:t>Utilize o algoritmo em pseudocódigo para fazer um programa em C para calcular e a raiz quadrada de um número.</a:t>
            </a:r>
          </a:p>
          <a:p>
            <a:pPr marL="0" indent="269868" algn="l" eaLnBrk="1" hangingPunct="1">
              <a:buClr>
                <a:srgbClr val="000000"/>
              </a:buClr>
              <a:buSzTx/>
              <a:defRPr/>
            </a:pPr>
            <a:r>
              <a:rPr lang="pt-BR"/>
              <a:t> Esse programa deverá informar que não é possível calcular raiz quadrada de número negativo.</a:t>
            </a:r>
          </a:p>
        </p:txBody>
      </p:sp>
      <p:sp>
        <p:nvSpPr>
          <p:cNvPr id="1553412" name="Rectangle 4">
            <a:extLst>
              <a:ext uri="{FF2B5EF4-FFF2-40B4-BE49-F238E27FC236}">
                <a16:creationId xmlns:a16="http://schemas.microsoft.com/office/drawing/2014/main" id="{7C982533-1C57-4816-8EC3-88FA6917C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4" y="3068640"/>
            <a:ext cx="6696075" cy="1754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se Num&gt;=0 então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X=sqrt(Num);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 Escreva (" A raiz quadrada é ",X)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senão 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Escreva("Nao e possivel calcular raiz quadrada de numero negativo!");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815C5CE-B2DB-4750-91D7-73995AF9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59CE73EE-4FF4-40FE-9175-D8A4F3A34B7D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55458" name="Rectangle 2">
            <a:extLst>
              <a:ext uri="{FF2B5EF4-FFF2-40B4-BE49-F238E27FC236}">
                <a16:creationId xmlns:a16="http://schemas.microsoft.com/office/drawing/2014/main" id="{ADEA8832-9246-4068-9700-388AE12A3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55459" name="Rectangle 3">
            <a:extLst>
              <a:ext uri="{FF2B5EF4-FFF2-40B4-BE49-F238E27FC236}">
                <a16:creationId xmlns:a16="http://schemas.microsoft.com/office/drawing/2014/main" id="{4BD3D0BF-FB28-4541-AC23-E1E8EBCF1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algn="l" eaLnBrk="1" hangingPunct="1">
              <a:buSzTx/>
              <a:buFont typeface="Wingdings" panose="05000000000000000000" pitchFamily="2" charset="2"/>
              <a:buChar char="n"/>
              <a:defRPr/>
            </a:pPr>
            <a:r>
              <a:rPr lang="pt-BR" dirty="0"/>
              <a:t> Fazer um programa em C que leia a idade de uma pessoa e informe se ela é maior ou menor de idade. Maior de idade é todo aquele que tem acima de 18 anos (inclusive).</a:t>
            </a:r>
          </a:p>
        </p:txBody>
      </p:sp>
      <p:sp>
        <p:nvSpPr>
          <p:cNvPr id="336901" name="Rectangle 4">
            <a:extLst>
              <a:ext uri="{FF2B5EF4-FFF2-40B4-BE49-F238E27FC236}">
                <a16:creationId xmlns:a16="http://schemas.microsoft.com/office/drawing/2014/main" id="{D944BA7B-7D13-4717-B031-646FACA6C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6477000"/>
            <a:ext cx="1901483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maior de idade.cpp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B00C44E-F8D2-44FE-A75C-5BC812B33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736" y="2309654"/>
            <a:ext cx="5256584" cy="33239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Algoritmo </a:t>
            </a:r>
            <a:r>
              <a:rPr lang="pt-BR" altLang="pt-BR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Verif_Maioridade</a:t>
            </a:r>
            <a:endParaRPr lang="pt-BR" altLang="pt-BR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Var Idade: inteiro</a:t>
            </a:r>
          </a:p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Início</a:t>
            </a:r>
          </a:p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Leia Idade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Se Idade &gt;=18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    Então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        Escreva “Maior de idade”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 Senão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        Escreva “Menor de idade”</a:t>
            </a:r>
          </a:p>
          <a:p>
            <a:pPr marL="722312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pt-BR" dirty="0"/>
              <a:t>   </a:t>
            </a:r>
            <a:r>
              <a:rPr lang="pt-BR" altLang="pt-BR" dirty="0" err="1"/>
              <a:t>Fim_se</a:t>
            </a:r>
            <a:endParaRPr lang="pt-BR" altLang="pt-BR" dirty="0"/>
          </a:p>
          <a:p>
            <a:pPr indent="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FimAlgortimo</a:t>
            </a:r>
            <a:endParaRPr lang="pt-BR" altLang="pt-BR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38222-5E64-4233-AD9B-766685E8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52F41E4C-1FE3-4EC6-AD63-AB352BC76D5F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59554" name="Rectangle 2">
            <a:extLst>
              <a:ext uri="{FF2B5EF4-FFF2-40B4-BE49-F238E27FC236}">
                <a16:creationId xmlns:a16="http://schemas.microsoft.com/office/drawing/2014/main" id="{75B45F88-2871-4EE6-A76B-27047FD41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59555" name="Rectangle 3">
            <a:extLst>
              <a:ext uri="{FF2B5EF4-FFF2-40B4-BE49-F238E27FC236}">
                <a16:creationId xmlns:a16="http://schemas.microsoft.com/office/drawing/2014/main" id="{3310633B-CFD6-4554-AC89-30360137F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algn="l" eaLnBrk="1" hangingPunct="1">
              <a:buClr>
                <a:srgbClr val="000000"/>
              </a:buClr>
              <a:buSzTx/>
              <a:buFont typeface="Wingdings" panose="05000000000000000000" pitchFamily="2" charset="2"/>
              <a:buAutoNum type="arabicPeriod" startAt="6"/>
              <a:defRPr/>
            </a:pPr>
            <a:r>
              <a:rPr lang="pt-BR"/>
              <a:t>Faça um programa em C que leia dois valores numéricos e efetue a adição. Caso o valor somado seja maior ou igual a 10, deverá ser apresentado esse valor acrescido de 5. Caso o valor seja menor que 10, deverá ser apresentado esse valor subtraído de 7.</a:t>
            </a:r>
          </a:p>
        </p:txBody>
      </p:sp>
      <p:sp>
        <p:nvSpPr>
          <p:cNvPr id="1559556" name="Text Box 4">
            <a:extLst>
              <a:ext uri="{FF2B5EF4-FFF2-40B4-BE49-F238E27FC236}">
                <a16:creationId xmlns:a16="http://schemas.microsoft.com/office/drawing/2014/main" id="{ECC88BD3-BCBC-43C9-B529-19F2D071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43" y="3068639"/>
            <a:ext cx="2827337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7150" cmpd="thinThick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X=A+B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 x&gt;=10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Escrever (x+5)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 x&lt;10</a:t>
            </a:r>
          </a:p>
          <a:p>
            <a:pPr eaLnBrk="1" hangingPunct="1"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Escrever (x-7)</a:t>
            </a:r>
          </a:p>
        </p:txBody>
      </p:sp>
      <p:sp>
        <p:nvSpPr>
          <p:cNvPr id="338950" name="Rectangle 5">
            <a:extLst>
              <a:ext uri="{FF2B5EF4-FFF2-40B4-BE49-F238E27FC236}">
                <a16:creationId xmlns:a16="http://schemas.microsoft.com/office/drawing/2014/main" id="{E086EAA6-2260-4008-87AF-FA4643F82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6570667"/>
            <a:ext cx="150233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Exemplo 4.cpp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955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D6AA869-553E-4E92-8835-350BBCD6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0B86ABC-7D97-462E-B3E2-FDBDF213098E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63650" name="Rectangle 2">
            <a:extLst>
              <a:ext uri="{FF2B5EF4-FFF2-40B4-BE49-F238E27FC236}">
                <a16:creationId xmlns:a16="http://schemas.microsoft.com/office/drawing/2014/main" id="{EA325EA3-F522-4BF8-9889-2EEF9CD67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63651" name="Rectangle 3">
            <a:extLst>
              <a:ext uri="{FF2B5EF4-FFF2-40B4-BE49-F238E27FC236}">
                <a16:creationId xmlns:a16="http://schemas.microsoft.com/office/drawing/2014/main" id="{BA970DF5-629F-4291-892E-96DA1BBFE5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Clr>
                <a:srgbClr val="000000"/>
              </a:buClr>
              <a:buSzTx/>
              <a:buFont typeface="Wingdings" panose="05000000000000000000" pitchFamily="2" charset="2"/>
              <a:buAutoNum type="arabicPeriod" startAt="7"/>
              <a:defRPr/>
            </a:pPr>
            <a:r>
              <a:rPr lang="pt-BR" dirty="0"/>
              <a:t>-</a:t>
            </a:r>
            <a:r>
              <a:rPr lang="pt-BR" b="1" dirty="0"/>
              <a:t> </a:t>
            </a:r>
            <a:r>
              <a:rPr lang="pt-BR" dirty="0"/>
              <a:t>Escreva um programa em C que apresenta as seguintes condições:</a:t>
            </a:r>
          </a:p>
          <a:p>
            <a:pPr algn="just" eaLnBrk="1" hangingPunct="1">
              <a:defRPr/>
            </a:pPr>
            <a:r>
              <a:rPr lang="pt-BR" dirty="0"/>
              <a:t>a)  Se a média for menor que 3.0 o aluno é reprovado.</a:t>
            </a:r>
          </a:p>
          <a:p>
            <a:pPr algn="just" eaLnBrk="1" hangingPunct="1">
              <a:defRPr/>
            </a:pPr>
            <a:r>
              <a:rPr lang="pt-BR" dirty="0"/>
              <a:t>b) Se a média for maior ou igual a 3.0 e menor que 6.0, o aluno deverá fazer outra prova.</a:t>
            </a:r>
          </a:p>
          <a:p>
            <a:pPr algn="just" eaLnBrk="1" hangingPunct="1">
              <a:defRPr/>
            </a:pPr>
            <a:r>
              <a:rPr lang="pt-BR" dirty="0"/>
              <a:t>c) Se a média for maior ou igual a 6.0, o aluno está aprovado.</a:t>
            </a:r>
          </a:p>
          <a:p>
            <a:pPr algn="just" eaLnBrk="1" hangingPunct="1">
              <a:defRPr/>
            </a:pPr>
            <a:r>
              <a:rPr lang="pt-BR" dirty="0"/>
              <a:t>Para se fazer a média deverá haver duas notas como entradas.</a:t>
            </a:r>
          </a:p>
        </p:txBody>
      </p:sp>
      <p:sp>
        <p:nvSpPr>
          <p:cNvPr id="1563652" name="Text Box 4">
            <a:extLst>
              <a:ext uri="{FF2B5EF4-FFF2-40B4-BE49-F238E27FC236}">
                <a16:creationId xmlns:a16="http://schemas.microsoft.com/office/drawing/2014/main" id="{9618234B-3D23-4984-9E5F-479D2132D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664" y="4135905"/>
            <a:ext cx="5760640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7150" cmpd="thinThick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Media &lt;3.0  Escrever (Reprovado)</a:t>
            </a:r>
          </a:p>
          <a:p>
            <a:pPr algn="ctr" eaLnBrk="1" hangingPunct="1">
              <a:defRPr/>
            </a:pPr>
            <a:endParaRPr lang="pt-BR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 eaLnBrk="1" hangingPunct="1">
              <a:defRPr/>
            </a:pPr>
            <a:r>
              <a:rPr lang="pt-B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3&lt;=Media&lt;6.0 Escrever (Outra Prova)</a:t>
            </a:r>
          </a:p>
          <a:p>
            <a:pPr algn="ctr" eaLnBrk="1" hangingPunct="1">
              <a:defRPr/>
            </a:pPr>
            <a:endParaRPr lang="pt-BR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 eaLnBrk="1" hangingPunct="1">
              <a:defRPr/>
            </a:pPr>
            <a:r>
              <a:rPr lang="pt-B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 x&gt;=6.0 Escrever (aprovado)</a:t>
            </a:r>
          </a:p>
        </p:txBody>
      </p:sp>
      <p:sp>
        <p:nvSpPr>
          <p:cNvPr id="340998" name="Rectangle 6">
            <a:extLst>
              <a:ext uri="{FF2B5EF4-FFF2-40B4-BE49-F238E27FC236}">
                <a16:creationId xmlns:a16="http://schemas.microsoft.com/office/drawing/2014/main" id="{797D3302-5158-47DE-AEBF-32B9CDF74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6570667"/>
            <a:ext cx="1915909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Medias 4 notas.cpp</a:t>
            </a:r>
          </a:p>
        </p:txBody>
      </p:sp>
      <p:sp>
        <p:nvSpPr>
          <p:cNvPr id="340999" name="Rectangle 7">
            <a:extLst>
              <a:ext uri="{FF2B5EF4-FFF2-40B4-BE49-F238E27FC236}">
                <a16:creationId xmlns:a16="http://schemas.microsoft.com/office/drawing/2014/main" id="{F371AC3C-6540-4CA3-B2E4-53F056F4E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6277" y="6543679"/>
            <a:ext cx="110158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Media.cpp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365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D6AA869-553E-4E92-8835-350BBCD6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0B86ABC-7D97-462E-B3E2-FDBDF213098E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63650" name="Rectangle 2">
            <a:extLst>
              <a:ext uri="{FF2B5EF4-FFF2-40B4-BE49-F238E27FC236}">
                <a16:creationId xmlns:a16="http://schemas.microsoft.com/office/drawing/2014/main" id="{EA325EA3-F522-4BF8-9889-2EEF9CD67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if...else</a:t>
            </a:r>
            <a:br>
              <a:rPr lang="pt-BR"/>
            </a:br>
            <a:r>
              <a:rPr lang="pt-BR"/>
              <a:t>Exercícios</a:t>
            </a:r>
          </a:p>
        </p:txBody>
      </p:sp>
      <p:sp>
        <p:nvSpPr>
          <p:cNvPr id="1563651" name="Rectangle 3">
            <a:extLst>
              <a:ext uri="{FF2B5EF4-FFF2-40B4-BE49-F238E27FC236}">
                <a16:creationId xmlns:a16="http://schemas.microsoft.com/office/drawing/2014/main" id="{BA970DF5-629F-4291-892E-96DA1BBFE5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Clr>
                <a:srgbClr val="000000"/>
              </a:buClr>
              <a:buSzTx/>
              <a:buFont typeface="Wingdings" panose="05000000000000000000" pitchFamily="2" charset="2"/>
              <a:buAutoNum type="arabicPeriod" startAt="7"/>
              <a:defRPr/>
            </a:pPr>
            <a:r>
              <a:rPr lang="pt-BR" dirty="0"/>
              <a:t>-</a:t>
            </a:r>
            <a:r>
              <a:rPr lang="pt-BR" b="1" dirty="0"/>
              <a:t> </a:t>
            </a:r>
            <a:r>
              <a:rPr lang="pt-BR" dirty="0"/>
              <a:t>Escreva um programa em C que apresenta as seguintes condições:</a:t>
            </a:r>
          </a:p>
          <a:p>
            <a:pPr algn="just" eaLnBrk="1" hangingPunct="1">
              <a:defRPr/>
            </a:pPr>
            <a:r>
              <a:rPr lang="pt-BR" dirty="0"/>
              <a:t>a)  Se a média for menor que 3.0 o aluno é reprovado.</a:t>
            </a:r>
          </a:p>
          <a:p>
            <a:pPr algn="just" eaLnBrk="1" hangingPunct="1">
              <a:defRPr/>
            </a:pPr>
            <a:r>
              <a:rPr lang="pt-BR" dirty="0"/>
              <a:t>b) Se a média for maior ou igual a 3.0 e menor que 6.75, o aluno deverá fazer outra prova.</a:t>
            </a:r>
          </a:p>
          <a:p>
            <a:pPr algn="just" eaLnBrk="1" hangingPunct="1">
              <a:defRPr/>
            </a:pPr>
            <a:r>
              <a:rPr lang="pt-BR" dirty="0"/>
              <a:t>c) Se a média for maior ou igual a 6.75, o aluno está aprovado.</a:t>
            </a:r>
          </a:p>
          <a:p>
            <a:pPr algn="just" eaLnBrk="1" hangingPunct="1">
              <a:defRPr/>
            </a:pPr>
            <a:r>
              <a:rPr lang="pt-BR" dirty="0"/>
              <a:t>Para se fazer a média deverá haver duas notas como entradas.</a:t>
            </a:r>
          </a:p>
        </p:txBody>
      </p:sp>
      <p:sp>
        <p:nvSpPr>
          <p:cNvPr id="340998" name="Rectangle 6">
            <a:extLst>
              <a:ext uri="{FF2B5EF4-FFF2-40B4-BE49-F238E27FC236}">
                <a16:creationId xmlns:a16="http://schemas.microsoft.com/office/drawing/2014/main" id="{797D3302-5158-47DE-AEBF-32B9CDF74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6570667"/>
            <a:ext cx="1915909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Medias 4 notas.cpp</a:t>
            </a:r>
          </a:p>
        </p:txBody>
      </p:sp>
      <p:sp>
        <p:nvSpPr>
          <p:cNvPr id="340999" name="Rectangle 7">
            <a:extLst>
              <a:ext uri="{FF2B5EF4-FFF2-40B4-BE49-F238E27FC236}">
                <a16:creationId xmlns:a16="http://schemas.microsoft.com/office/drawing/2014/main" id="{F371AC3C-6540-4CA3-B2E4-53F056F4E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6277" y="6543679"/>
            <a:ext cx="110158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sz="1400" b="1"/>
              <a:t>Media.cpp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D849DE7-5B12-4F97-BCFB-D1A273031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913" y="3779471"/>
            <a:ext cx="5904657" cy="27642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0000"/>
            </a:solidFill>
          </a:ln>
          <a:effectLst/>
        </p:spPr>
        <p:txBody>
          <a:bodyPr/>
          <a:lstStyle>
            <a:lvl1pPr marL="185738" indent="-6350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b="1" dirty="0"/>
              <a:t>Algoritmo</a:t>
            </a:r>
            <a:r>
              <a:rPr lang="pt-BR" altLang="pt-BR" sz="1500" dirty="0"/>
              <a:t> Aprovação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b="1" dirty="0"/>
              <a:t>Var</a:t>
            </a:r>
            <a:r>
              <a:rPr lang="pt-BR" altLang="pt-BR" sz="1500" dirty="0"/>
              <a:t> Media: real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b="1" dirty="0"/>
              <a:t>Início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dirty="0"/>
              <a:t>      </a:t>
            </a:r>
            <a:r>
              <a:rPr lang="pt-BR" altLang="pt-BR" sz="1500" b="1" dirty="0"/>
              <a:t>Leia</a:t>
            </a:r>
            <a:r>
              <a:rPr lang="pt-BR" altLang="pt-BR" sz="1500" dirty="0"/>
              <a:t> N1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500" dirty="0"/>
              <a:t>      </a:t>
            </a:r>
            <a:r>
              <a:rPr lang="pt-BR" altLang="pt-BR" sz="1500" b="1" dirty="0"/>
              <a:t>Leia </a:t>
            </a:r>
            <a:r>
              <a:rPr lang="pt-BR" altLang="pt-BR" sz="1500" dirty="0"/>
              <a:t>N2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dirty="0"/>
              <a:t>   </a:t>
            </a:r>
            <a:r>
              <a:rPr lang="pt-BR" altLang="pt-BR" sz="1500" b="1" dirty="0"/>
              <a:t>Se</a:t>
            </a:r>
            <a:r>
              <a:rPr lang="pt-BR" altLang="pt-BR" sz="1500" dirty="0"/>
              <a:t> Media &lt; 3,0 </a:t>
            </a:r>
            <a:r>
              <a:rPr lang="pt-BR" altLang="pt-BR" sz="1500" b="1" dirty="0"/>
              <a:t>Então</a:t>
            </a:r>
            <a:endParaRPr lang="pt-BR" altLang="pt-BR" sz="1500" dirty="0"/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b="1" dirty="0"/>
              <a:t>			Escreva</a:t>
            </a:r>
            <a:r>
              <a:rPr lang="pt-BR" altLang="pt-BR" sz="1500" dirty="0"/>
              <a:t> “ Aluno Reprovado”   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dirty="0"/>
              <a:t>    </a:t>
            </a:r>
            <a:r>
              <a:rPr lang="pt-BR" altLang="pt-BR" sz="1500" b="1" dirty="0"/>
              <a:t>Senão 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b="1" dirty="0"/>
              <a:t>		          Se</a:t>
            </a:r>
            <a:r>
              <a:rPr lang="pt-BR" altLang="pt-BR" sz="1500" dirty="0"/>
              <a:t> Media &gt;= 6,75 </a:t>
            </a:r>
            <a:r>
              <a:rPr lang="pt-BR" altLang="pt-BR" sz="1500" b="1" dirty="0"/>
              <a:t>Então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dirty="0"/>
              <a:t>         		</a:t>
            </a:r>
            <a:r>
              <a:rPr lang="pt-BR" altLang="pt-BR" sz="1500" b="1" dirty="0"/>
              <a:t>Escreva</a:t>
            </a:r>
            <a:r>
              <a:rPr lang="pt-BR" altLang="pt-BR" sz="1500" dirty="0"/>
              <a:t> “Aluno aprovado”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b="1" dirty="0"/>
              <a:t>  			Senão</a:t>
            </a:r>
          </a:p>
          <a:p>
            <a:pPr lvl="1" algn="just" eaLnBrk="1" hangingPunct="1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5000"/>
              <a:buNone/>
            </a:pPr>
            <a:r>
              <a:rPr lang="pt-BR" altLang="pt-BR" sz="1500" dirty="0"/>
              <a:t>  				  </a:t>
            </a:r>
            <a:r>
              <a:rPr lang="pt-BR" altLang="pt-BR" sz="1500" b="1" dirty="0"/>
              <a:t>Escreva</a:t>
            </a:r>
            <a:r>
              <a:rPr lang="pt-BR" altLang="pt-BR" sz="1500" dirty="0"/>
              <a:t> “O aluno fará o exame.”</a:t>
            </a:r>
          </a:p>
        </p:txBody>
      </p:sp>
    </p:spTree>
    <p:extLst>
      <p:ext uri="{BB962C8B-B14F-4D97-AF65-F5344CB8AC3E}">
        <p14:creationId xmlns:p14="http://schemas.microsoft.com/office/powerpoint/2010/main" val="305897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A550D-65D1-5100-C289-08546122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	      Pág. 55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8F5BF-C31A-08F0-0158-DE78717EF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1F9E84-AA66-D578-D2D7-BDE722F0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41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E8A425-FE3D-5E35-626F-20BC1BBAF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260648"/>
            <a:ext cx="5600700" cy="67437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7AB5DB5-29CD-67E2-61BB-EE8C2A5F1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312" y="136529"/>
            <a:ext cx="1720144" cy="217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84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255EEF7-8EBE-DB5E-D2E3-96586D6C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42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7866C8-A566-2B9A-05AA-C64417FB007C}"/>
              </a:ext>
            </a:extLst>
          </p:cNvPr>
          <p:cNvSpPr txBox="1"/>
          <p:nvPr/>
        </p:nvSpPr>
        <p:spPr>
          <a:xfrm>
            <a:off x="3467708" y="1348800"/>
            <a:ext cx="5256584" cy="550920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</a:t>
            </a:r>
            <a:r>
              <a:rPr lang="pt-BR" sz="1600" dirty="0" err="1"/>
              <a:t>stdio.h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locale.h</a:t>
            </a:r>
            <a:r>
              <a:rPr lang="pt-BR" sz="1600" dirty="0"/>
              <a:t>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 err="1"/>
              <a:t>setlocale</a:t>
            </a:r>
            <a:r>
              <a:rPr lang="pt-BR" sz="1600" dirty="0"/>
              <a:t>(LC_ALL, "</a:t>
            </a:r>
            <a:r>
              <a:rPr lang="pt-BR" sz="1600" dirty="0" err="1"/>
              <a:t>Portuguese</a:t>
            </a:r>
            <a:r>
              <a:rPr lang="pt-BR" sz="1600" dirty="0"/>
              <a:t>"); // acentuação em Português</a:t>
            </a:r>
          </a:p>
          <a:p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float</a:t>
            </a:r>
            <a:r>
              <a:rPr lang="pt-BR" sz="1600" dirty="0"/>
              <a:t> </a:t>
            </a:r>
            <a:r>
              <a:rPr lang="pt-BR" sz="1600" dirty="0" err="1"/>
              <a:t>preco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puts</a:t>
            </a:r>
            <a:r>
              <a:rPr lang="pt-BR" sz="1600" dirty="0"/>
              <a:t>("Digite a quantidade de folhas para cópia: \n");</a:t>
            </a:r>
          </a:p>
          <a:p>
            <a:r>
              <a:rPr lang="pt-BR" sz="1600" dirty="0" err="1"/>
              <a:t>scanf</a:t>
            </a:r>
            <a:r>
              <a:rPr lang="pt-BR" sz="1600" dirty="0"/>
              <a:t>("%i",&amp;</a:t>
            </a:r>
            <a:r>
              <a:rPr lang="pt-BR" sz="1600" dirty="0" err="1"/>
              <a:t>numFolhas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fflush</a:t>
            </a:r>
            <a:r>
              <a:rPr lang="pt-BR" sz="1600" dirty="0"/>
              <a:t>(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if</a:t>
            </a:r>
            <a:r>
              <a:rPr lang="pt-BR" sz="1600" dirty="0"/>
              <a:t> (</a:t>
            </a:r>
            <a:r>
              <a:rPr lang="pt-BR" sz="1600" dirty="0" err="1"/>
              <a:t>numFolhas</a:t>
            </a:r>
            <a:r>
              <a:rPr lang="pt-BR" sz="1600" dirty="0"/>
              <a:t>&gt; 100)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preco</a:t>
            </a:r>
            <a:r>
              <a:rPr lang="pt-BR" sz="1600" dirty="0"/>
              <a:t> = 0.20 *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 err="1"/>
              <a:t>else</a:t>
            </a:r>
            <a:r>
              <a:rPr lang="pt-BR" sz="1600" dirty="0"/>
              <a:t> 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preco</a:t>
            </a:r>
            <a:r>
              <a:rPr lang="pt-BR" sz="1600" dirty="0"/>
              <a:t> = 0.25 *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("O preço de %i  é de %f reais \n", </a:t>
            </a:r>
            <a:r>
              <a:rPr lang="pt-BR" sz="1600" dirty="0" err="1"/>
              <a:t>numFolhas</a:t>
            </a:r>
            <a:r>
              <a:rPr lang="pt-BR" sz="1600" dirty="0"/>
              <a:t>, </a:t>
            </a:r>
            <a:r>
              <a:rPr lang="pt-BR" sz="1600" dirty="0" err="1"/>
              <a:t>preco</a:t>
            </a:r>
            <a:r>
              <a:rPr lang="pt-BR" sz="1600" dirty="0"/>
              <a:t>);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27C1B7-E0D8-AD6C-94B7-12422C006C5F}"/>
              </a:ext>
            </a:extLst>
          </p:cNvPr>
          <p:cNvSpPr txBox="1"/>
          <p:nvPr/>
        </p:nvSpPr>
        <p:spPr>
          <a:xfrm>
            <a:off x="5159897" y="979468"/>
            <a:ext cx="1405193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Resolução 1</a:t>
            </a:r>
          </a:p>
        </p:txBody>
      </p:sp>
    </p:spTree>
    <p:extLst>
      <p:ext uri="{BB962C8B-B14F-4D97-AF65-F5344CB8AC3E}">
        <p14:creationId xmlns:p14="http://schemas.microsoft.com/office/powerpoint/2010/main" val="350926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255EEF7-8EBE-DB5E-D2E3-96586D6C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43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7866C8-A566-2B9A-05AA-C64417FB007C}"/>
              </a:ext>
            </a:extLst>
          </p:cNvPr>
          <p:cNvSpPr txBox="1"/>
          <p:nvPr/>
        </p:nvSpPr>
        <p:spPr>
          <a:xfrm>
            <a:off x="3467708" y="1340349"/>
            <a:ext cx="5256584" cy="550920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</a:t>
            </a:r>
            <a:r>
              <a:rPr lang="pt-BR" sz="1600" dirty="0" err="1"/>
              <a:t>stdio.h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locale.h</a:t>
            </a:r>
            <a:r>
              <a:rPr lang="pt-BR" sz="1600" dirty="0"/>
              <a:t>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 err="1"/>
              <a:t>setlocale</a:t>
            </a:r>
            <a:r>
              <a:rPr lang="pt-BR" sz="1600" dirty="0"/>
              <a:t>(LC_ALL, "</a:t>
            </a:r>
            <a:r>
              <a:rPr lang="pt-BR" sz="1600" dirty="0" err="1"/>
              <a:t>Portuguese</a:t>
            </a:r>
            <a:r>
              <a:rPr lang="pt-BR" sz="1600" dirty="0"/>
              <a:t>"); // acentuação em Português</a:t>
            </a:r>
          </a:p>
          <a:p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float</a:t>
            </a:r>
            <a:r>
              <a:rPr lang="pt-BR" sz="1600" dirty="0"/>
              <a:t> </a:t>
            </a:r>
            <a:r>
              <a:rPr lang="pt-BR" sz="1600" dirty="0" err="1"/>
              <a:t>preco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puts</a:t>
            </a:r>
            <a:r>
              <a:rPr lang="pt-BR" sz="1600" dirty="0"/>
              <a:t>("Digite a quantidade de folhas para cópia: \n");</a:t>
            </a:r>
          </a:p>
          <a:p>
            <a:r>
              <a:rPr lang="pt-BR" sz="1600" dirty="0" err="1"/>
              <a:t>scanf</a:t>
            </a:r>
            <a:r>
              <a:rPr lang="pt-BR" sz="1600" dirty="0"/>
              <a:t>("%i",&amp;</a:t>
            </a:r>
            <a:r>
              <a:rPr lang="pt-BR" sz="1600" dirty="0" err="1"/>
              <a:t>numFolhas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fflush</a:t>
            </a:r>
            <a:r>
              <a:rPr lang="pt-BR" sz="1600" dirty="0"/>
              <a:t>(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if</a:t>
            </a:r>
            <a:r>
              <a:rPr lang="pt-BR" sz="1600" dirty="0"/>
              <a:t> (</a:t>
            </a:r>
            <a:r>
              <a:rPr lang="pt-BR" sz="1600" dirty="0" err="1"/>
              <a:t>numFolhas</a:t>
            </a:r>
            <a:r>
              <a:rPr lang="pt-BR" sz="1600" dirty="0"/>
              <a:t>&gt; 100)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preco</a:t>
            </a:r>
            <a:r>
              <a:rPr lang="pt-BR" sz="1600" dirty="0"/>
              <a:t> = 25.00 + (0.20 * (numFolhas-100));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 err="1"/>
              <a:t>else</a:t>
            </a:r>
            <a:r>
              <a:rPr lang="pt-BR" sz="1600" dirty="0"/>
              <a:t> 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preco</a:t>
            </a:r>
            <a:r>
              <a:rPr lang="pt-BR" sz="1600" dirty="0"/>
              <a:t> = 0.25 * </a:t>
            </a:r>
            <a:r>
              <a:rPr lang="pt-BR" sz="1600" dirty="0" err="1"/>
              <a:t>numFolhas</a:t>
            </a:r>
            <a:r>
              <a:rPr lang="pt-BR" sz="1600" dirty="0"/>
              <a:t>;</a:t>
            </a:r>
          </a:p>
          <a:p>
            <a:r>
              <a:rPr lang="pt-BR" sz="1600" dirty="0"/>
              <a:t>}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("O preço de %i  é de %f reais \n", </a:t>
            </a:r>
            <a:r>
              <a:rPr lang="pt-BR" sz="1600" dirty="0" err="1"/>
              <a:t>numFolhas</a:t>
            </a:r>
            <a:r>
              <a:rPr lang="pt-BR" sz="1600" dirty="0"/>
              <a:t>, </a:t>
            </a:r>
            <a:r>
              <a:rPr lang="pt-BR" sz="1600" dirty="0" err="1"/>
              <a:t>preco</a:t>
            </a:r>
            <a:r>
              <a:rPr lang="pt-BR" sz="1600" dirty="0"/>
              <a:t>);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27C1B7-E0D8-AD6C-94B7-12422C006C5F}"/>
              </a:ext>
            </a:extLst>
          </p:cNvPr>
          <p:cNvSpPr txBox="1"/>
          <p:nvPr/>
        </p:nvSpPr>
        <p:spPr>
          <a:xfrm>
            <a:off x="2567608" y="852800"/>
            <a:ext cx="7713202" cy="369332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Resolução 2: e se for 0,20 apenas para as cópias acima de 100 unidades?</a:t>
            </a:r>
          </a:p>
        </p:txBody>
      </p:sp>
    </p:spTree>
    <p:extLst>
      <p:ext uri="{BB962C8B-B14F-4D97-AF65-F5344CB8AC3E}">
        <p14:creationId xmlns:p14="http://schemas.microsoft.com/office/powerpoint/2010/main" val="2047302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9928CDE-14D9-4F2E-A156-AFE86689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44554D2-9EA2-4D13-B8B0-A92E42C30DA6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44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1298" name="Rectangle 2">
            <a:extLst>
              <a:ext uri="{FF2B5EF4-FFF2-40B4-BE49-F238E27FC236}">
                <a16:creationId xmlns:a16="http://schemas.microsoft.com/office/drawing/2014/main" id="{6A486B8D-ED7E-49FF-9737-AFFB71CEB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1591299" name="Rectangle 3">
            <a:extLst>
              <a:ext uri="{FF2B5EF4-FFF2-40B4-BE49-F238E27FC236}">
                <a16:creationId xmlns:a16="http://schemas.microsoft.com/office/drawing/2014/main" id="{44CE2460-0CF0-4249-A6CD-A4B7A6896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A estrutura switch...case é uma estrutura de decisão que permite a execução de um conjunto de instruções a partir pontos diferentes conforme o resultado de uma expressão inteira de controle.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O resultado desta expressão é comparado ao valor de cada um dos rótulos, e as instruções são executadas a partir deste rótulo. </a:t>
            </a:r>
            <a:endParaRPr lang="pt-B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6">
            <a:extLst>
              <a:ext uri="{FF2B5EF4-FFF2-40B4-BE49-F238E27FC236}">
                <a16:creationId xmlns:a16="http://schemas.microsoft.com/office/drawing/2014/main" id="{3C5AC076-ADF3-4133-9F8D-9497CE35C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E8717E4A-8E4D-47E9-B2F9-757BD36B7A4A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3346" name="Rectangle 2">
            <a:extLst>
              <a:ext uri="{FF2B5EF4-FFF2-40B4-BE49-F238E27FC236}">
                <a16:creationId xmlns:a16="http://schemas.microsoft.com/office/drawing/2014/main" id="{5833B7F0-EBE2-45BC-8D01-C35E1FBFC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1593347" name="Rectangle 3">
            <a:extLst>
              <a:ext uri="{FF2B5EF4-FFF2-40B4-BE49-F238E27FC236}">
                <a16:creationId xmlns:a16="http://schemas.microsoft.com/office/drawing/2014/main" id="{27205704-76D8-41E7-850B-750E9AA26AE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algn="l" eaLnBrk="1" hangingPunct="1">
              <a:defRPr/>
            </a:pPr>
            <a:r>
              <a:rPr lang="pt-BR" altLang="pt-BR" sz="1400" b="1"/>
              <a:t>Sintaxe</a:t>
            </a:r>
            <a:r>
              <a:rPr lang="pt-BR" altLang="pt-BR" sz="1400"/>
              <a:t>: Esta estrutura possui a seguinte sintaxe: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switch(</a:t>
            </a:r>
            <a:r>
              <a:rPr lang="pt-BR" altLang="pt-BR" sz="1400" i="1"/>
              <a:t>expressão</a:t>
            </a:r>
            <a:r>
              <a:rPr lang="pt-BR" altLang="pt-BR" sz="1400"/>
              <a:t>){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case</a:t>
            </a:r>
            <a:r>
              <a:rPr lang="pt-BR" altLang="pt-BR" sz="1400" i="1"/>
              <a:t> rótulo_1</a:t>
            </a:r>
            <a:r>
              <a:rPr lang="pt-BR" altLang="pt-BR" sz="1400"/>
              <a:t>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  </a:t>
            </a:r>
            <a:r>
              <a:rPr lang="pt-BR" altLang="pt-BR" sz="1400" i="1"/>
              <a:t>conjunto_1</a:t>
            </a:r>
            <a:endParaRPr lang="pt-BR" altLang="pt-BR" sz="1400"/>
          </a:p>
          <a:p>
            <a:pPr marL="0" indent="0" algn="l" eaLnBrk="1" hangingPunct="1">
              <a:defRPr/>
            </a:pPr>
            <a:r>
              <a:rPr lang="pt-BR" altLang="pt-BR" sz="1400"/>
              <a:t>case</a:t>
            </a:r>
            <a:r>
              <a:rPr lang="pt-BR" altLang="pt-BR" sz="1400" i="1"/>
              <a:t> rótulo_2</a:t>
            </a:r>
            <a:r>
              <a:rPr lang="pt-BR" altLang="pt-BR" sz="1400"/>
              <a:t>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  </a:t>
            </a:r>
            <a:r>
              <a:rPr lang="pt-BR" altLang="pt-BR" sz="1400" i="1"/>
              <a:t>conjunto_2</a:t>
            </a:r>
            <a:endParaRPr lang="pt-BR" altLang="pt-BR" sz="1400"/>
          </a:p>
          <a:p>
            <a:pPr marL="0" indent="0" algn="l" eaLnBrk="1" hangingPunct="1">
              <a:defRPr/>
            </a:pPr>
            <a:r>
              <a:rPr lang="pt-BR" altLang="pt-BR" sz="1400"/>
              <a:t>...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case </a:t>
            </a:r>
            <a:r>
              <a:rPr lang="pt-BR" altLang="pt-BR" sz="1400" i="1"/>
              <a:t>rótulo_n</a:t>
            </a:r>
            <a:r>
              <a:rPr lang="pt-BR" altLang="pt-BR" sz="1400"/>
              <a:t>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  </a:t>
            </a:r>
            <a:r>
              <a:rPr lang="pt-BR" altLang="pt-BR" sz="1400" i="1"/>
              <a:t>conjunto n</a:t>
            </a:r>
            <a:endParaRPr lang="pt-BR" altLang="pt-BR" sz="1400"/>
          </a:p>
          <a:p>
            <a:pPr marL="0" indent="0" algn="l" eaLnBrk="1" hangingPunct="1">
              <a:defRPr/>
            </a:pPr>
            <a:r>
              <a:rPr lang="pt-BR" altLang="pt-BR" sz="1400"/>
              <a:t>[default: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  </a:t>
            </a:r>
            <a:r>
              <a:rPr lang="pt-BR" altLang="pt-BR" sz="1400" i="1"/>
              <a:t>conjunto d</a:t>
            </a:r>
            <a:r>
              <a:rPr lang="pt-BR" altLang="pt-BR" sz="1400"/>
              <a:t>]</a:t>
            </a:r>
          </a:p>
          <a:p>
            <a:pPr marL="0" indent="0" algn="l" eaLnBrk="1" hangingPunct="1">
              <a:defRPr/>
            </a:pPr>
            <a:r>
              <a:rPr lang="pt-BR" altLang="pt-BR" sz="1400"/>
              <a:t>} </a:t>
            </a:r>
          </a:p>
        </p:txBody>
      </p:sp>
      <p:pic>
        <p:nvPicPr>
          <p:cNvPr id="345093" name="Picture 4">
            <a:extLst>
              <a:ext uri="{FF2B5EF4-FFF2-40B4-BE49-F238E27FC236}">
                <a16:creationId xmlns:a16="http://schemas.microsoft.com/office/drawing/2014/main" id="{EDAB12B6-FD5C-42A4-BC7A-F6B5EC79507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88302" y="1341442"/>
            <a:ext cx="1924051" cy="5183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93349" name="Text Box 5">
            <a:extLst>
              <a:ext uri="{FF2B5EF4-FFF2-40B4-BE49-F238E27FC236}">
                <a16:creationId xmlns:a16="http://schemas.microsoft.com/office/drawing/2014/main" id="{B4C38A95-048A-4730-BAEE-2D717B686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9" y="4724402"/>
            <a:ext cx="5688012" cy="1754326"/>
          </a:xfrm>
          <a:prstGeom prst="rect">
            <a:avLst/>
          </a:prstGeom>
          <a:solidFill>
            <a:schemeClr val="tx1">
              <a:lumMod val="85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onde:</a:t>
            </a:r>
            <a:endParaRPr lang="pt-BR" b="1" i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r>
              <a:rPr lang="pt-BR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expressão</a:t>
            </a: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é uma expressão inteira.</a:t>
            </a:r>
            <a:endParaRPr lang="pt-BR" b="1" i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r>
              <a:rPr lang="pt-BR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rótulo_1,rótulo_2,...rótulo_n e rótulo_d</a:t>
            </a: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são constantes inteiras.</a:t>
            </a:r>
          </a:p>
          <a:p>
            <a:pPr eaLnBrk="1" hangingPunct="1">
              <a:defRPr/>
            </a:pPr>
            <a:r>
              <a:rPr lang="pt-BR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conjunto 1, conjunto 2, ..., conjunto  n e conjunto d</a:t>
            </a: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são conjuntos de instruções.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4F58B7E9-AB31-4B26-863E-6F977373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46EE2C00-7547-49B3-AA63-4E0270E985EC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5394" name="Rectangle 2">
            <a:extLst>
              <a:ext uri="{FF2B5EF4-FFF2-40B4-BE49-F238E27FC236}">
                <a16:creationId xmlns:a16="http://schemas.microsoft.com/office/drawing/2014/main" id="{DC5A4B6B-56EA-4E5D-90B2-D11F491DC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1595395" name="Rectangle 3">
            <a:extLst>
              <a:ext uri="{FF2B5EF4-FFF2-40B4-BE49-F238E27FC236}">
                <a16:creationId xmlns:a16="http://schemas.microsoft.com/office/drawing/2014/main" id="{29EB3588-7AB7-4307-A7C0-E194F910CDB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   O valor de expressão</a:t>
            </a:r>
            <a:r>
              <a:rPr lang="pt-BR" sz="1600"/>
              <a:t> </a:t>
            </a:r>
            <a:r>
              <a:rPr lang="pt-BR" sz="2200">
                <a:effectLst/>
              </a:rPr>
              <a:t>é avaliado e o fluxo lógico será desviado para o conjunto cujo </a:t>
            </a:r>
            <a:r>
              <a:rPr lang="pt-BR" sz="2200" i="1">
                <a:effectLst/>
              </a:rPr>
              <a:t>rótulo</a:t>
            </a:r>
            <a:r>
              <a:rPr lang="pt-BR" sz="2200">
                <a:effectLst/>
              </a:rPr>
              <a:t> é igual ao resultado da expressão e todas as instruções </a:t>
            </a:r>
            <a:r>
              <a:rPr lang="pt-BR" sz="2200" b="1">
                <a:effectLst/>
              </a:rPr>
              <a:t>abaixo</a:t>
            </a:r>
            <a:r>
              <a:rPr lang="pt-BR" sz="2200">
                <a:effectLst/>
              </a:rPr>
              <a:t> deste rótulo serão executadas. 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  Caso o resultado da expressão seja  diferente  de todos os valores dos rótulos então </a:t>
            </a:r>
            <a:r>
              <a:rPr lang="pt-BR" sz="2200" i="1">
                <a:effectLst/>
              </a:rPr>
              <a:t>conjunto </a:t>
            </a:r>
            <a:r>
              <a:rPr lang="pt-BR" sz="2200" b="1" i="1">
                <a:effectLst/>
              </a:rPr>
              <a:t>d</a:t>
            </a:r>
            <a:r>
              <a:rPr lang="pt-BR" sz="2200">
                <a:effectLst/>
              </a:rPr>
              <a:t> é executado. Os rótulos devem ser expressões constantes inteiras </a:t>
            </a:r>
            <a:r>
              <a:rPr lang="pt-BR" sz="2200" b="1">
                <a:effectLst/>
              </a:rPr>
              <a:t>diferentes</a:t>
            </a:r>
            <a:r>
              <a:rPr lang="pt-BR" sz="2200">
                <a:effectLst/>
              </a:rPr>
              <a:t> entre si. O rótulo </a:t>
            </a:r>
            <a:r>
              <a:rPr lang="pt-BR" sz="2200" b="1" i="1">
                <a:effectLst/>
              </a:rPr>
              <a:t>default</a:t>
            </a:r>
            <a:r>
              <a:rPr lang="pt-BR" sz="2200">
                <a:effectLst/>
              </a:rPr>
              <a:t> é opcional.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>
                <a:effectLst/>
              </a:rPr>
              <a:t>   Esta estrutura é particularmente útil quando se tem um conjunto de instruções que se deve executar em ordem, porém se pode começar em pontos diferentes.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7610F9C-3291-CBF7-B816-D0C9D574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47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7BE51F-C1C7-E97C-DF68-C27BDB5D2555}"/>
              </a:ext>
            </a:extLst>
          </p:cNvPr>
          <p:cNvSpPr txBox="1"/>
          <p:nvPr/>
        </p:nvSpPr>
        <p:spPr>
          <a:xfrm>
            <a:off x="1685764" y="1089165"/>
            <a:ext cx="8820472" cy="5016758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</a:t>
            </a:r>
            <a:r>
              <a:rPr lang="pt-BR" sz="1600" dirty="0" err="1"/>
              <a:t>stdio.h</a:t>
            </a:r>
            <a:r>
              <a:rPr lang="pt-BR" sz="1600" dirty="0"/>
              <a:t>&gt; 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stdlib.h</a:t>
            </a:r>
            <a:r>
              <a:rPr lang="pt-BR" sz="1600" dirty="0"/>
              <a:t>&gt; 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 () {</a:t>
            </a:r>
          </a:p>
          <a:p>
            <a:r>
              <a:rPr lang="pt-BR" sz="1600" dirty="0"/>
              <a:t>char </a:t>
            </a:r>
            <a:r>
              <a:rPr lang="pt-BR" sz="1600" dirty="0" err="1"/>
              <a:t>ch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(“MENU de Escolhas\n\n”); 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(“1. </a:t>
            </a:r>
            <a:r>
              <a:rPr lang="pt-BR" sz="1600" dirty="0" err="1"/>
              <a:t>Opcao</a:t>
            </a:r>
            <a:r>
              <a:rPr lang="pt-BR" sz="1600" dirty="0"/>
              <a:t> a \n”);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(“2. </a:t>
            </a:r>
            <a:r>
              <a:rPr lang="pt-BR" sz="1600" dirty="0" err="1"/>
              <a:t>Opcao</a:t>
            </a:r>
            <a:r>
              <a:rPr lang="pt-BR" sz="1600" dirty="0"/>
              <a:t> b \n\n”); 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(“	Entre com sua escolha:\n\n”);</a:t>
            </a:r>
          </a:p>
          <a:p>
            <a:r>
              <a:rPr lang="pt-BR" sz="1600" dirty="0" err="1"/>
              <a:t>ch</a:t>
            </a:r>
            <a:r>
              <a:rPr lang="pt-BR" sz="1600" dirty="0"/>
              <a:t> = </a:t>
            </a:r>
            <a:r>
              <a:rPr lang="pt-BR" sz="1600" dirty="0" err="1"/>
              <a:t>getchar</a:t>
            </a:r>
            <a:r>
              <a:rPr lang="pt-BR" sz="1600" dirty="0"/>
              <a:t>();</a:t>
            </a:r>
          </a:p>
          <a:p>
            <a:r>
              <a:rPr lang="pt-BR" sz="1600" b="1" dirty="0"/>
              <a:t>switch(</a:t>
            </a:r>
            <a:r>
              <a:rPr lang="pt-BR" sz="1600" b="1" dirty="0" err="1"/>
              <a:t>ch</a:t>
            </a:r>
            <a:r>
              <a:rPr lang="pt-BR" sz="1600" b="1" dirty="0"/>
              <a:t>) {</a:t>
            </a:r>
          </a:p>
          <a:p>
            <a:r>
              <a:rPr lang="pt-BR" sz="1600" dirty="0"/>
              <a:t> 	</a:t>
            </a:r>
            <a:r>
              <a:rPr lang="pt-BR" sz="1600" b="1" dirty="0"/>
              <a:t>case ‘1’:</a:t>
            </a:r>
          </a:p>
          <a:p>
            <a:r>
              <a:rPr lang="pt-BR" sz="1600" dirty="0"/>
              <a:t>		</a:t>
            </a:r>
            <a:r>
              <a:rPr lang="pt-BR" sz="1600" dirty="0" err="1"/>
              <a:t>printf</a:t>
            </a:r>
            <a:r>
              <a:rPr lang="pt-BR" sz="1600" dirty="0"/>
              <a:t>(“&gt;&gt; </a:t>
            </a:r>
            <a:r>
              <a:rPr lang="pt-BR" sz="1600" dirty="0" err="1"/>
              <a:t>Opcao</a:t>
            </a:r>
            <a:r>
              <a:rPr lang="pt-BR" sz="1600" dirty="0"/>
              <a:t> 1 foi selecionada\n\n”);</a:t>
            </a:r>
          </a:p>
          <a:p>
            <a:r>
              <a:rPr lang="pt-BR" sz="1600" dirty="0"/>
              <a:t>		break; </a:t>
            </a:r>
          </a:p>
          <a:p>
            <a:r>
              <a:rPr lang="pt-BR" sz="1600" dirty="0"/>
              <a:t>	</a:t>
            </a:r>
            <a:r>
              <a:rPr lang="pt-BR" sz="1600" b="1" dirty="0"/>
              <a:t>case ‘2’:</a:t>
            </a:r>
          </a:p>
          <a:p>
            <a:r>
              <a:rPr lang="pt-BR" sz="1600" dirty="0"/>
              <a:t>		</a:t>
            </a:r>
            <a:r>
              <a:rPr lang="pt-BR" sz="1600" dirty="0" err="1"/>
              <a:t>printf</a:t>
            </a:r>
            <a:r>
              <a:rPr lang="pt-BR" sz="1600" dirty="0"/>
              <a:t>(“&gt;&gt; </a:t>
            </a:r>
            <a:r>
              <a:rPr lang="pt-BR" sz="1600" dirty="0" err="1"/>
              <a:t>Opcao</a:t>
            </a:r>
            <a:r>
              <a:rPr lang="pt-BR" sz="1600" dirty="0"/>
              <a:t> 2 foi selecionada\n\n”);</a:t>
            </a:r>
          </a:p>
          <a:p>
            <a:r>
              <a:rPr lang="pt-BR" sz="1600" dirty="0"/>
              <a:t>		break;</a:t>
            </a:r>
          </a:p>
          <a:p>
            <a:r>
              <a:rPr lang="pt-BR" sz="1600" dirty="0"/>
              <a:t> 	</a:t>
            </a:r>
            <a:r>
              <a:rPr lang="pt-BR" sz="1600" b="1" dirty="0"/>
              <a:t>default:</a:t>
            </a:r>
          </a:p>
          <a:p>
            <a:r>
              <a:rPr lang="pt-BR" sz="1600" b="1" dirty="0"/>
              <a:t>		</a:t>
            </a:r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(“&gt;&gt; </a:t>
            </a:r>
            <a:r>
              <a:rPr lang="pt-BR" sz="1600" dirty="0" err="1"/>
              <a:t>Opcao</a:t>
            </a:r>
            <a:r>
              <a:rPr lang="pt-BR" sz="1600" dirty="0"/>
              <a:t> incorreta \n\n”);</a:t>
            </a:r>
            <a:endParaRPr lang="pt-BR" sz="1600" b="1" dirty="0"/>
          </a:p>
          <a:p>
            <a:r>
              <a:rPr lang="pt-BR" sz="1600" dirty="0"/>
              <a:t>	}</a:t>
            </a:r>
          </a:p>
          <a:p>
            <a:r>
              <a:rPr lang="pt-B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50888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6">
            <a:extLst>
              <a:ext uri="{FF2B5EF4-FFF2-40B4-BE49-F238E27FC236}">
                <a16:creationId xmlns:a16="http://schemas.microsoft.com/office/drawing/2014/main" id="{B7BBA24F-EAD7-4075-8258-3917E689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E4E2412D-1438-49EE-9636-C09929062407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7442" name="Rectangle 2">
            <a:extLst>
              <a:ext uri="{FF2B5EF4-FFF2-40B4-BE49-F238E27FC236}">
                <a16:creationId xmlns:a16="http://schemas.microsoft.com/office/drawing/2014/main" id="{0103BFA5-B63E-43A2-9CD1-0C0845700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349188" name="Rectangle 3">
            <a:extLst>
              <a:ext uri="{FF2B5EF4-FFF2-40B4-BE49-F238E27FC236}">
                <a16:creationId xmlns:a16="http://schemas.microsoft.com/office/drawing/2014/main" id="{81E54FC5-54E3-46D1-8677-7C89E8319E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algn="l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pt-BR" altLang="pt-BR" sz="2200" b="1">
                <a:effectLst/>
              </a:rPr>
              <a:t>   Exemplo:</a:t>
            </a:r>
            <a:r>
              <a:rPr lang="pt-BR" altLang="pt-BR" sz="2200">
                <a:effectLst/>
              </a:rPr>
              <a:t> O trecho abaixo ilustra o uso da instrução switch em um menu de seleção. Neste exemplo, o programa iniciará o processo de usinagem de uma peça em um ponto qualquer dependendo do valor lido.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int selecao;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puts("Digite estagio de usinagem:");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scanf("%d",&amp;selecao);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switch(selecao){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case 1: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// desbaste grosso...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case 2: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// desbaste fino...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case 3: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// acabamento...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case 4: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  // polimento...</a:t>
            </a:r>
          </a:p>
          <a:p>
            <a:pPr marL="0" indent="0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>
                <a:effectLst/>
              </a:rPr>
              <a:t>}</a:t>
            </a:r>
          </a:p>
        </p:txBody>
      </p:sp>
      <p:sp>
        <p:nvSpPr>
          <p:cNvPr id="349189" name="Text Box 4">
            <a:extLst>
              <a:ext uri="{FF2B5EF4-FFF2-40B4-BE49-F238E27FC236}">
                <a16:creationId xmlns:a16="http://schemas.microsoft.com/office/drawing/2014/main" id="{B881E5CA-7277-4A33-ABF2-8889513FE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4" y="6543679"/>
            <a:ext cx="1710725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Selecao case.cpp</a:t>
            </a:r>
          </a:p>
        </p:txBody>
      </p:sp>
      <p:sp>
        <p:nvSpPr>
          <p:cNvPr id="349190" name="Text Box 5">
            <a:extLst>
              <a:ext uri="{FF2B5EF4-FFF2-40B4-BE49-F238E27FC236}">
                <a16:creationId xmlns:a16="http://schemas.microsoft.com/office/drawing/2014/main" id="{28B58D2B-517A-4715-97B5-8A6CF40EC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75" y="6543679"/>
            <a:ext cx="1824538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Selecao2 case.cpp</a:t>
            </a:r>
          </a:p>
        </p:txBody>
      </p:sp>
      <p:pic>
        <p:nvPicPr>
          <p:cNvPr id="349191" name="Picture 12">
            <a:extLst>
              <a:ext uri="{FF2B5EF4-FFF2-40B4-BE49-F238E27FC236}">
                <a16:creationId xmlns:a16="http://schemas.microsoft.com/office/drawing/2014/main" id="{3338B77C-7B6A-4C8E-A489-35C0CDDE8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52739"/>
            <a:ext cx="4267200" cy="3200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97454" name="Rectangle 14">
            <a:extLst>
              <a:ext uri="{FF2B5EF4-FFF2-40B4-BE49-F238E27FC236}">
                <a16:creationId xmlns:a16="http://schemas.microsoft.com/office/drawing/2014/main" id="{351347D7-72E7-40C5-A663-A01E3F422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3" y="6020078"/>
            <a:ext cx="3147015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b="1">
                <a:solidFill>
                  <a:srgbClr val="000000"/>
                </a:solidFill>
              </a:rPr>
              <a:t>Centro de Usinagem CNC</a:t>
            </a:r>
            <a:r>
              <a:rPr lang="en-US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698F4-C89D-64FA-AB10-6D3930DC48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123E57-6B7F-B1FA-CCB6-31E04CD7AB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483ACE-882D-D1EA-E868-97DDB96B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8696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60C798F7-793B-4D3F-89ED-13F01A19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71699281-BEE2-42F1-8675-C7408030F236}" type="slidenum">
              <a:rPr lang="pt-BR" altLang="pt-BR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50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9490" name="Rectangle 2">
            <a:extLst>
              <a:ext uri="{FF2B5EF4-FFF2-40B4-BE49-F238E27FC236}">
                <a16:creationId xmlns:a16="http://schemas.microsoft.com/office/drawing/2014/main" id="{3D766434-75D4-40F4-9C50-00C214777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3.1 - Estruturas condicionais: switch...case </a:t>
            </a:r>
          </a:p>
        </p:txBody>
      </p:sp>
      <p:sp>
        <p:nvSpPr>
          <p:cNvPr id="1599491" name="Rectangle 3">
            <a:extLst>
              <a:ext uri="{FF2B5EF4-FFF2-40B4-BE49-F238E27FC236}">
                <a16:creationId xmlns:a16="http://schemas.microsoft.com/office/drawing/2014/main" id="{FD284751-2D7C-47B1-8DF4-2EB39FE947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9601197" cy="4608513"/>
          </a:xfrm>
        </p:spPr>
        <p:txBody>
          <a:bodyPr/>
          <a:lstStyle/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 b="1" dirty="0">
                <a:effectLst/>
              </a:rPr>
              <a:t>   </a:t>
            </a:r>
            <a:r>
              <a:rPr lang="pt-BR" altLang="pt-BR" sz="2200" dirty="0"/>
              <a:t>Exercício</a:t>
            </a:r>
            <a:r>
              <a:rPr lang="pt-BR" altLang="pt-BR" sz="2200" b="1" dirty="0">
                <a:effectLst/>
              </a:rPr>
              <a:t>:</a:t>
            </a:r>
          </a:p>
          <a:p>
            <a:pPr marL="0" indent="0" algn="l"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200" dirty="0"/>
              <a:t>Utilizando a estrutura switch...case, faça um programa para fazer as 4 operações aritméticas soma, subtração, divisão e multiplicação.</a:t>
            </a:r>
          </a:p>
          <a:p>
            <a:pPr marL="0" indent="0" algn="l"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200" dirty="0"/>
              <a:t>Observe que pode-se digitar letra maiúscula ou minúscula no programa selecao2 case.cpp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B207C-F306-46CB-BEEF-B0BA0D75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EA840-A898-41DC-83E9-CCFB11447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2878"/>
            <a:ext cx="9803432" cy="5400501"/>
          </a:xfrm>
        </p:spPr>
        <p:txBody>
          <a:bodyPr/>
          <a:lstStyle/>
          <a:p>
            <a:r>
              <a:rPr lang="pt-BR" dirty="0"/>
              <a:t>Conteúdo: estruturas de decisão e de repetição.</a:t>
            </a:r>
          </a:p>
          <a:p>
            <a:r>
              <a:rPr lang="pt-BR" dirty="0"/>
              <a:t>Faça um programa em linguagem C para obedecer aos seguintes requisitos: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	Faça a conversão de temperatura de graus Celsius para graus Fahrenheit; de graus Fahrenheit para graus Celsius e de graus Celsius para Kelvin utilizando uma estrutura de decisão “switch case”.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Apresente o resultado da conversão na tela e as variáveis de temperatura têm que ser um número do conjunto dos Reais.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As equações de conversão são: 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  <a:ea typeface="Calibri" panose="020F0502020204030204" pitchFamily="34" charset="0"/>
              </a:rPr>
              <a:t>F=(9*C + 160)/5  ou F = (9.0 / 5.0) * C +32; ou F = 1,8 * C + 32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  <a:ea typeface="Calibri" panose="020F0502020204030204" pitchFamily="34" charset="0"/>
              </a:rPr>
              <a:t>C = (5*F - 160)/9  ou C = ( 5.0 / 9.0 ) * ( F – 32 ); 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</a:rPr>
              <a:t>K=C+273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8548AA-0BC2-46AE-9118-BA86E671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809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EF86E-0E5C-409F-B53F-C1EE6232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56355" name="Espaço Reservado para Conteúdo 2">
            <a:extLst>
              <a:ext uri="{FF2B5EF4-FFF2-40B4-BE49-F238E27FC236}">
                <a16:creationId xmlns:a16="http://schemas.microsoft.com/office/drawing/2014/main" id="{68CC57B5-3C84-4978-BF7E-3B6540111B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20389" y="496888"/>
            <a:ext cx="8229600" cy="6361112"/>
          </a:xfrm>
          <a:solidFill>
            <a:schemeClr val="tx1"/>
          </a:solidFill>
        </p:spPr>
        <p:txBody>
          <a:bodyPr/>
          <a:lstStyle/>
          <a:p>
            <a:pPr algn="l"/>
            <a:r>
              <a:rPr lang="pt-BR" altLang="pt-BR" sz="1400" b="1" dirty="0">
                <a:effectLst/>
              </a:rPr>
              <a:t>Exercício 2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Dado o seguinte algoritmo: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Programa p1;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var </a:t>
            </a:r>
            <a:r>
              <a:rPr lang="pt-BR" altLang="pt-BR" sz="1400" b="1" dirty="0" err="1">
                <a:effectLst/>
              </a:rPr>
              <a:t>i,j,k:inteiro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inicio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leia(i)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leia(j)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leia(k)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se (i&gt;j) e (i&gt;k) então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 escreva(i)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senão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 se j&gt;k </a:t>
            </a:r>
            <a:r>
              <a:rPr lang="pt-BR" altLang="pt-BR" sz="1400" b="1" dirty="0" err="1">
                <a:effectLst/>
              </a:rPr>
              <a:t>ntão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       escreva(j)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 </a:t>
            </a:r>
            <a:r>
              <a:rPr lang="pt-BR" altLang="pt-BR" sz="1400" b="1" dirty="0" err="1">
                <a:effectLst/>
              </a:rPr>
              <a:t>senao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        escreva(k)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     </a:t>
            </a:r>
            <a:r>
              <a:rPr lang="pt-BR" altLang="pt-BR" sz="1400" b="1" dirty="0" err="1">
                <a:effectLst/>
              </a:rPr>
              <a:t>fimse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 err="1">
                <a:effectLst/>
              </a:rPr>
              <a:t>fimse</a:t>
            </a:r>
            <a:endParaRPr lang="pt-BR" altLang="pt-BR" sz="1400" dirty="0">
              <a:effectLst/>
            </a:endParaRPr>
          </a:p>
          <a:p>
            <a:pPr algn="l"/>
            <a:r>
              <a:rPr lang="pt-BR" altLang="pt-BR" sz="1400" b="1" dirty="0">
                <a:effectLst/>
              </a:rPr>
              <a:t>fim.</a:t>
            </a:r>
            <a:endParaRPr lang="pt-BR" altLang="pt-BR" sz="1400" dirty="0">
              <a:effectLst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AAC693-95E1-4AE3-9970-E100F701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ACCE5-7B34-4337-8C4E-3058043498F5}" type="slidenum">
              <a:rPr lang="pt-BR" smtClean="0"/>
              <a:pPr>
                <a:defRPr/>
              </a:pPr>
              <a:t>52</a:t>
            </a:fld>
            <a:endParaRPr lang="pt-B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94AC6-996B-A042-F601-0911575E7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923B3DB1-3295-FDAB-DE84-F033DD28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73ED-985E-42B6-91BB-A006B1765D27}" type="slidenum">
              <a:rPr lang="pt-BR" altLang="pt-BR"/>
              <a:pPr>
                <a:defRPr/>
              </a:pPr>
              <a:t>53</a:t>
            </a:fld>
            <a:endParaRPr lang="pt-BR" altLang="pt-BR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0BDCC40A-AE5C-2736-8825-ED75BFA1F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A773ACD3-3F63-9510-1558-9BFB97C8F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3669" name="Rectangle 4">
            <a:extLst>
              <a:ext uri="{FF2B5EF4-FFF2-40B4-BE49-F238E27FC236}">
                <a16:creationId xmlns:a16="http://schemas.microsoft.com/office/drawing/2014/main" id="{174D92D2-C432-902A-416C-D3653413C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dirty="0"/>
          </a:p>
          <a:p>
            <a:pPr algn="just" eaLnBrk="1" hangingPunct="1">
              <a:buFont typeface="Wingdings" panose="05000000000000000000" pitchFamily="2" charset="2"/>
              <a:buChar char="n"/>
            </a:pPr>
            <a:endParaRPr lang="pt-BR" altLang="pt-BR" dirty="0"/>
          </a:p>
        </p:txBody>
      </p:sp>
      <p:sp>
        <p:nvSpPr>
          <p:cNvPr id="113670" name="Text Box 5">
            <a:extLst>
              <a:ext uri="{FF2B5EF4-FFF2-40B4-BE49-F238E27FC236}">
                <a16:creationId xmlns:a16="http://schemas.microsoft.com/office/drawing/2014/main" id="{B8CC39E1-9D61-F2EB-C559-977C2F63E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de</a:t>
            </a:r>
            <a:r>
              <a:rPr lang="pt-BR" altLang="pt-BR" b="1" i="1" dirty="0"/>
              <a:t> </a:t>
            </a:r>
            <a:r>
              <a:rPr lang="pt-BR" altLang="pt-BR" b="1" dirty="0"/>
              <a:t>Decisão ou Seleção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Capítulo 4 do livro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033EEB-E98C-3BBE-50DB-CE4891DB6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1753"/>
            <a:ext cx="2849472" cy="345638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5C8B493-FF21-D1F5-2B81-8B4D58455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251" y="1692275"/>
            <a:ext cx="65151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240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3844CC4-E3BE-4BE4-B1D1-30D4762B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9FE1A37-9560-4C1C-8CE6-6EECC1D4E422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54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80354" name="Rectangle 2">
            <a:extLst>
              <a:ext uri="{FF2B5EF4-FFF2-40B4-BE49-F238E27FC236}">
                <a16:creationId xmlns:a16="http://schemas.microsoft.com/office/drawing/2014/main" id="{38E834B3-B6BE-4629-9C74-15CBE5316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 (for, while, do...while):</a:t>
            </a:r>
            <a:br>
              <a:rPr lang="pt-BR"/>
            </a:br>
            <a:r>
              <a:rPr lang="pt-BR"/>
              <a:t> Condição de controle </a:t>
            </a:r>
          </a:p>
        </p:txBody>
      </p:sp>
      <p:sp>
        <p:nvSpPr>
          <p:cNvPr id="1380355" name="Rectangle 3">
            <a:extLst>
              <a:ext uri="{FF2B5EF4-FFF2-40B4-BE49-F238E27FC236}">
                <a16:creationId xmlns:a16="http://schemas.microsoft.com/office/drawing/2014/main" id="{38226A0D-34AB-4842-90AE-21A093DB6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endParaRPr lang="pt-BR" altLang="zh-CN" sz="2000" dirty="0">
              <a:ea typeface="SimSun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000" dirty="0">
                <a:ea typeface="SimSun" pitchFamily="2" charset="-122"/>
              </a:rPr>
              <a:t>  A estrutura de repetição permite que um bloco de instruções seja executado repetidamente uma quantidade controlada de vezes.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 Em todas as estruturas, existe pelo menos uma expressão que faz o controle de </a:t>
            </a:r>
            <a:r>
              <a:rPr lang="pt-BR" sz="2000" b="1"/>
              <a:t>qual</a:t>
            </a:r>
            <a:r>
              <a:rPr lang="pt-BR" sz="2000"/>
              <a:t> bloco de instruções será executado ou </a:t>
            </a:r>
            <a:r>
              <a:rPr lang="pt-BR" sz="2000" b="1"/>
              <a:t>quantas vezes</a:t>
            </a:r>
            <a:r>
              <a:rPr lang="pt-BR" sz="2000"/>
              <a:t> ele será executado: é o que chamamos de </a:t>
            </a:r>
            <a:r>
              <a:rPr lang="pt-BR" sz="2000" b="1"/>
              <a:t>condição de controle</a:t>
            </a:r>
            <a:r>
              <a:rPr lang="pt-BR" sz="2000"/>
              <a:t>.    </a:t>
            </a:r>
            <a:endParaRPr lang="pt-BR" altLang="zh-CN" sz="220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B2773F5-DD3F-4AF0-BA90-49BD8ED9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01104B9-AFE4-4650-B5FD-23B3A29E6DF9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55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605634" name="Rectangle 2">
            <a:extLst>
              <a:ext uri="{FF2B5EF4-FFF2-40B4-BE49-F238E27FC236}">
                <a16:creationId xmlns:a16="http://schemas.microsoft.com/office/drawing/2014/main" id="{5169A7FC-E4A7-4BAD-A893-C88511004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 (for, while, do...while):</a:t>
            </a:r>
            <a:br>
              <a:rPr lang="pt-BR"/>
            </a:br>
            <a:r>
              <a:rPr lang="pt-BR"/>
              <a:t> Condição de controle </a:t>
            </a:r>
          </a:p>
        </p:txBody>
      </p:sp>
      <p:sp>
        <p:nvSpPr>
          <p:cNvPr id="1605635" name="Rectangle 3">
            <a:extLst>
              <a:ext uri="{FF2B5EF4-FFF2-40B4-BE49-F238E27FC236}">
                <a16:creationId xmlns:a16="http://schemas.microsoft.com/office/drawing/2014/main" id="{AD7FCBD7-A3C4-4A4A-8302-711BDBCC5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endParaRPr lang="pt-BR" sz="2000"/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Uma condição de controle é uma expressão lógica ou aritmética cujo resultado pode ser considerado verdadeiro ou falso.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A linguagem C não possui variáveis ou constantes lógicas, possui somente expressões numéricas.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Assim, quando uma </a:t>
            </a:r>
            <a:r>
              <a:rPr lang="pt-BR" sz="2000" b="1"/>
              <a:t>expressão numérica</a:t>
            </a:r>
            <a:r>
              <a:rPr lang="pt-BR" sz="2000"/>
              <a:t> se encontra em uma </a:t>
            </a:r>
            <a:r>
              <a:rPr lang="pt-BR" sz="2000" b="1"/>
              <a:t>condição de controle</a:t>
            </a:r>
            <a:r>
              <a:rPr lang="pt-BR" sz="2000"/>
              <a:t>, ela será considerada </a:t>
            </a:r>
            <a:r>
              <a:rPr lang="pt-BR" sz="2000" b="1"/>
              <a:t>falsa</a:t>
            </a:r>
            <a:r>
              <a:rPr lang="pt-BR" sz="2000"/>
              <a:t> se seu valor for </a:t>
            </a:r>
            <a:r>
              <a:rPr lang="pt-BR" sz="2000" b="1"/>
              <a:t>igual a zero</a:t>
            </a:r>
            <a:r>
              <a:rPr lang="pt-BR" sz="2000"/>
              <a:t>, e </a:t>
            </a:r>
            <a:r>
              <a:rPr lang="pt-BR" sz="2000" b="1"/>
              <a:t>verdadeira</a:t>
            </a:r>
            <a:r>
              <a:rPr lang="pt-BR" sz="2000"/>
              <a:t> se seu valor for </a:t>
            </a:r>
            <a:r>
              <a:rPr lang="pt-BR" sz="2000" b="1"/>
              <a:t>diferente de zero</a:t>
            </a:r>
            <a:r>
              <a:rPr lang="pt-BR" sz="2000"/>
              <a:t>.</a:t>
            </a:r>
            <a:r>
              <a:rPr lang="pt-BR" sz="2200"/>
              <a:t> </a:t>
            </a:r>
            <a:endParaRPr lang="pt-BR" altLang="zh-CN" sz="220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8CFD9D4-EEE2-489D-946F-A0A97C32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D77546E-1648-4EB5-9D63-721A6F6ABDC6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56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86498" name="Rectangle 2">
            <a:extLst>
              <a:ext uri="{FF2B5EF4-FFF2-40B4-BE49-F238E27FC236}">
                <a16:creationId xmlns:a16="http://schemas.microsoft.com/office/drawing/2014/main" id="{4E87A48C-F735-453C-9ADF-53368EF6B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 (for, while, do...while):</a:t>
            </a:r>
            <a:br>
              <a:rPr lang="pt-BR"/>
            </a:br>
            <a:r>
              <a:rPr lang="pt-BR"/>
              <a:t>Condição de controle</a:t>
            </a:r>
          </a:p>
        </p:txBody>
      </p:sp>
      <p:sp>
        <p:nvSpPr>
          <p:cNvPr id="1386499" name="Rectangle 3">
            <a:extLst>
              <a:ext uri="{FF2B5EF4-FFF2-40B4-BE49-F238E27FC236}">
                <a16:creationId xmlns:a16="http://schemas.microsoft.com/office/drawing/2014/main" id="{C574F836-AEEA-44F3-AE14-5BACF338E2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b="1"/>
          </a:p>
          <a:p>
            <a:pPr eaLnBrk="1" hangingPunct="1">
              <a:defRPr/>
            </a:pPr>
            <a:r>
              <a:rPr lang="pt-BR" b="1"/>
              <a:t>Exemplo:</a:t>
            </a:r>
            <a:r>
              <a:rPr lang="pt-BR"/>
              <a:t> Observe nas condições abaixo, seu valor numérico e seu significado lógico. Considere as variáveis int i = 0, j = 3;</a:t>
            </a:r>
            <a:endParaRPr lang="pt-BR" b="1"/>
          </a:p>
          <a:p>
            <a:pPr eaLnBrk="1" hangingPunct="1">
              <a:defRPr/>
            </a:pPr>
            <a:r>
              <a:rPr lang="pt-BR" b="1"/>
              <a:t>condição   valor numérico   significado lógico</a:t>
            </a:r>
            <a:endParaRPr lang="pt-BR"/>
          </a:p>
          <a:p>
            <a:pPr algn="l" eaLnBrk="1" hangingPunct="1">
              <a:defRPr/>
            </a:pPr>
            <a:r>
              <a:rPr lang="pt-BR"/>
              <a:t>(i == 0)          1            verdadeiro</a:t>
            </a:r>
          </a:p>
          <a:p>
            <a:pPr algn="l" eaLnBrk="1" hangingPunct="1">
              <a:defRPr/>
            </a:pPr>
            <a:r>
              <a:rPr lang="pt-BR"/>
              <a:t>(i &gt; j) 	         0            falso</a:t>
            </a:r>
          </a:p>
          <a:p>
            <a:pPr algn="l" eaLnBrk="1" hangingPunct="1">
              <a:defRPr/>
            </a:pPr>
            <a:r>
              <a:rPr lang="pt-BR"/>
              <a:t>(i)                   0            falso</a:t>
            </a:r>
          </a:p>
          <a:p>
            <a:pPr algn="l" eaLnBrk="1" hangingPunct="1">
              <a:defRPr/>
            </a:pPr>
            <a:r>
              <a:rPr lang="pt-BR"/>
              <a:t>(j)                   3            verdadeiro</a:t>
            </a:r>
          </a:p>
          <a:p>
            <a:pPr algn="l" eaLnBrk="1" hangingPunct="1">
              <a:defRPr/>
            </a:pPr>
            <a:r>
              <a:rPr lang="pt-BR"/>
              <a:t>Este fato deve ficar claro pois, quando for dito que uma condição é </a:t>
            </a:r>
            <a:r>
              <a:rPr lang="pt-BR" b="1"/>
              <a:t>falsa</a:t>
            </a:r>
            <a:r>
              <a:rPr lang="pt-BR"/>
              <a:t> ou </a:t>
            </a:r>
            <a:r>
              <a:rPr lang="pt-BR" b="1"/>
              <a:t>verdadeira</a:t>
            </a:r>
            <a:r>
              <a:rPr lang="pt-BR"/>
              <a:t> quer se dizer que seu valor e </a:t>
            </a:r>
            <a:r>
              <a:rPr lang="pt-BR" b="1"/>
              <a:t>igual</a:t>
            </a:r>
            <a:r>
              <a:rPr lang="pt-BR"/>
              <a:t> a zero ou </a:t>
            </a:r>
            <a:r>
              <a:rPr lang="pt-BR" b="1"/>
              <a:t>diferente</a:t>
            </a:r>
            <a:r>
              <a:rPr lang="pt-BR"/>
              <a:t> de zero.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F53ABAE1-ACE9-4430-B33C-B6A7D076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53F0B0-E320-476B-BD47-09F6F16FF8F3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57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88546" name="Rectangle 2">
            <a:extLst>
              <a:ext uri="{FF2B5EF4-FFF2-40B4-BE49-F238E27FC236}">
                <a16:creationId xmlns:a16="http://schemas.microsoft.com/office/drawing/2014/main" id="{C7EFD513-2FA2-4158-9AA2-8B80E26AD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388547" name="Rectangle 3">
            <a:extLst>
              <a:ext uri="{FF2B5EF4-FFF2-40B4-BE49-F238E27FC236}">
                <a16:creationId xmlns:a16="http://schemas.microsoft.com/office/drawing/2014/main" id="{8B4BF41E-5557-4E20-B7DA-A1256783FB3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pt-BR" sz="2200" b="1"/>
              <a:t>Estrutura do...while</a:t>
            </a:r>
            <a:r>
              <a:rPr lang="pt-BR" sz="2200"/>
              <a:t> </a:t>
            </a:r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   Esta estrutura faz com que o bloco de  instruções  seja executado </a:t>
            </a:r>
            <a:r>
              <a:rPr lang="pt-BR" sz="2000" b="1"/>
              <a:t>pelo menos uma vez</a:t>
            </a:r>
            <a:r>
              <a:rPr lang="pt-BR" sz="2000"/>
              <a:t>. </a:t>
            </a:r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Após a execução do bloco, a condição é avaliada. Se a condição for </a:t>
            </a:r>
            <a:r>
              <a:rPr lang="pt-BR" sz="2000" b="1"/>
              <a:t>VERDADEIRA</a:t>
            </a:r>
            <a:r>
              <a:rPr lang="pt-BR" sz="2000"/>
              <a:t> o bloco é executado outra vez. Se a condição for </a:t>
            </a:r>
            <a:r>
              <a:rPr lang="pt-BR" sz="2000" b="1"/>
              <a:t>FALSA</a:t>
            </a:r>
            <a:r>
              <a:rPr lang="pt-BR" sz="2000"/>
              <a:t> a repetição é terminada. </a:t>
            </a:r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   Esta é uma estrutura básica de repetição </a:t>
            </a:r>
            <a:r>
              <a:rPr lang="pt-BR" sz="2000" b="1"/>
              <a:t>condicional</a:t>
            </a:r>
            <a:r>
              <a:rPr lang="pt-BR" sz="2000"/>
              <a:t>. Permite a execução de um bloco de instruções repetidamente. </a:t>
            </a:r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000"/>
              <a:t>   O fluxograma desta estrutura é mostrada na figura .</a:t>
            </a:r>
          </a:p>
        </p:txBody>
      </p:sp>
      <p:pic>
        <p:nvPicPr>
          <p:cNvPr id="63493" name="Picture 4">
            <a:extLst>
              <a:ext uri="{FF2B5EF4-FFF2-40B4-BE49-F238E27FC236}">
                <a16:creationId xmlns:a16="http://schemas.microsoft.com/office/drawing/2014/main" id="{455F4484-7FA1-469D-85F1-8D813D04A53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59827" y="4365630"/>
            <a:ext cx="1670051" cy="2308225"/>
          </a:xfrm>
          <a:solidFill>
            <a:srgbClr val="BDD2E9"/>
          </a:solidFill>
          <a:ln w="57150" cmpd="thinThick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77CA4DF4-9FCA-4A33-8500-ED71DF77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1D1A77E-1100-426E-83A9-3015D6BEB583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58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87522" name="Rectangle 2">
            <a:extLst>
              <a:ext uri="{FF2B5EF4-FFF2-40B4-BE49-F238E27FC236}">
                <a16:creationId xmlns:a16="http://schemas.microsoft.com/office/drawing/2014/main" id="{FBDDD5C2-B20F-4ADF-9334-072373C5E1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387523" name="Rectangle 3">
            <a:extLst>
              <a:ext uri="{FF2B5EF4-FFF2-40B4-BE49-F238E27FC236}">
                <a16:creationId xmlns:a16="http://schemas.microsoft.com/office/drawing/2014/main" id="{2F1C7FB5-9098-4F48-90F6-C579014FC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000"/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/>
              <a:t>Sua sintaxe é a seguinte:</a:t>
            </a:r>
            <a:endParaRPr lang="pt-BR" sz="2200" b="1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do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{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  </a:t>
            </a:r>
            <a:r>
              <a:rPr lang="pt-BR" sz="2200" i="1"/>
              <a:t>bloco</a:t>
            </a:r>
            <a:endParaRPr lang="pt-BR" sz="220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}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200"/>
              <a:t>while(</a:t>
            </a:r>
            <a:r>
              <a:rPr lang="pt-BR" sz="2200" i="1"/>
              <a:t>condição</a:t>
            </a:r>
            <a:r>
              <a:rPr lang="pt-BR" sz="2200"/>
              <a:t>);</a:t>
            </a:r>
          </a:p>
          <a:p>
            <a:pPr algn="l" eaLnBrk="1" hangingPunct="1">
              <a:defRPr/>
            </a:pPr>
            <a:r>
              <a:rPr lang="pt-BR" sz="2200"/>
              <a:t>onde:	</a:t>
            </a:r>
            <a:r>
              <a:rPr lang="pt-BR" sz="2200" i="1"/>
              <a:t>condição</a:t>
            </a:r>
            <a:r>
              <a:rPr lang="pt-BR" sz="2200"/>
              <a:t> é uma expressão lógica ou numérica.</a:t>
            </a:r>
            <a:endParaRPr lang="pt-BR" sz="2200" i="1"/>
          </a:p>
          <a:p>
            <a:pPr algn="l" eaLnBrk="1" hangingPunct="1">
              <a:defRPr/>
            </a:pPr>
            <a:r>
              <a:rPr lang="pt-BR" sz="2200" i="1"/>
              <a:t>bloco</a:t>
            </a:r>
            <a:r>
              <a:rPr lang="pt-BR" sz="2200"/>
              <a:t> é um conjunto de instruções.</a:t>
            </a:r>
          </a:p>
        </p:txBody>
      </p:sp>
      <p:sp>
        <p:nvSpPr>
          <p:cNvPr id="1387524" name="Text Box 4">
            <a:extLst>
              <a:ext uri="{FF2B5EF4-FFF2-40B4-BE49-F238E27FC236}">
                <a16:creationId xmlns:a16="http://schemas.microsoft.com/office/drawing/2014/main" id="{E73F13AB-3D99-4AF5-BC5C-DF0F7DEFB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155042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Do_While1.cpp</a:t>
            </a:r>
          </a:p>
        </p:txBody>
      </p:sp>
      <p:sp>
        <p:nvSpPr>
          <p:cNvPr id="1387525" name="Rectangle 5">
            <a:extLst>
              <a:ext uri="{FF2B5EF4-FFF2-40B4-BE49-F238E27FC236}">
                <a16:creationId xmlns:a16="http://schemas.microsoft.com/office/drawing/2014/main" id="{A95C997C-E855-4567-97B1-BD15894CF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6" y="1989139"/>
            <a:ext cx="3006725" cy="1938992"/>
          </a:xfrm>
          <a:prstGeom prst="rect">
            <a:avLst/>
          </a:prstGeom>
          <a:solidFill>
            <a:srgbClr val="CECEE6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do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{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printf("\n %d ",i);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i++;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}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while (i&lt;=8);</a:t>
            </a:r>
          </a:p>
        </p:txBody>
      </p:sp>
      <p:sp>
        <p:nvSpPr>
          <p:cNvPr id="1387526" name="Line 6">
            <a:extLst>
              <a:ext uri="{FF2B5EF4-FFF2-40B4-BE49-F238E27FC236}">
                <a16:creationId xmlns:a16="http://schemas.microsoft.com/office/drawing/2014/main" id="{E517BBE5-FCBE-4025-9176-C0AFF5968E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9" y="2924175"/>
            <a:ext cx="3095625" cy="4333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87527" name="Line 7">
            <a:extLst>
              <a:ext uri="{FF2B5EF4-FFF2-40B4-BE49-F238E27FC236}">
                <a16:creationId xmlns:a16="http://schemas.microsoft.com/office/drawing/2014/main" id="{E2F86D49-4D14-4B6E-A201-7817D37AA9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5414" y="3860801"/>
            <a:ext cx="3097212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8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8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8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7524" grpId="0" animBg="1"/>
      <p:bldP spid="13875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43379E-901C-47E2-8E7C-04B21842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22AC650-F5DC-490E-93CE-22E67C724636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59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603586" name="Rectangle 2">
            <a:extLst>
              <a:ext uri="{FF2B5EF4-FFF2-40B4-BE49-F238E27FC236}">
                <a16:creationId xmlns:a16="http://schemas.microsoft.com/office/drawing/2014/main" id="{E0531FBA-C1E3-4EDA-8A30-7372CFEFC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603587" name="Rectangle 3">
            <a:extLst>
              <a:ext uri="{FF2B5EF4-FFF2-40B4-BE49-F238E27FC236}">
                <a16:creationId xmlns:a16="http://schemas.microsoft.com/office/drawing/2014/main" id="{6D1FDBD2-7DF3-40EE-8F5D-74CB37F1A4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000"/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/>
              <a:t>Veja o exemplo:</a:t>
            </a:r>
          </a:p>
        </p:txBody>
      </p:sp>
      <p:sp>
        <p:nvSpPr>
          <p:cNvPr id="1603588" name="Text Box 4">
            <a:extLst>
              <a:ext uri="{FF2B5EF4-FFF2-40B4-BE49-F238E27FC236}">
                <a16:creationId xmlns:a16="http://schemas.microsoft.com/office/drawing/2014/main" id="{512E94F9-F063-4E9D-847E-8A4B5C039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2432076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 1 Do_While.cpp</a:t>
            </a:r>
          </a:p>
        </p:txBody>
      </p:sp>
      <p:sp>
        <p:nvSpPr>
          <p:cNvPr id="1603589" name="Rectangle 5">
            <a:extLst>
              <a:ext uri="{FF2B5EF4-FFF2-40B4-BE49-F238E27FC236}">
                <a16:creationId xmlns:a16="http://schemas.microsoft.com/office/drawing/2014/main" id="{0B91980C-9309-4D2D-B9BC-098306FF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2492375"/>
            <a:ext cx="7416800" cy="3416320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(){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setlocale</a:t>
            </a:r>
            <a:r>
              <a:rPr lang="pt-BR" dirty="0"/>
              <a:t>(LC_ALL,"") ;</a:t>
            </a:r>
          </a:p>
          <a:p>
            <a:pPr eaLnBrk="1" hangingPunct="1">
              <a:defRPr/>
            </a:pPr>
            <a:r>
              <a:rPr lang="pt-BR" dirty="0"/>
              <a:t>  char r;</a:t>
            </a:r>
          </a:p>
          <a:p>
            <a:pPr eaLnBrk="1" hangingPunct="1">
              <a:defRPr/>
            </a:pPr>
            <a:r>
              <a:rPr lang="pt-BR" dirty="0"/>
              <a:t>do</a:t>
            </a:r>
          </a:p>
          <a:p>
            <a:pPr eaLnBrk="1" hangingPunct="1">
              <a:defRPr/>
            </a:pPr>
            <a:r>
              <a:rPr lang="pt-BR" dirty="0"/>
              <a:t>   {   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nTeste</a:t>
            </a:r>
            <a:r>
              <a:rPr lang="pt-BR" dirty="0"/>
              <a:t> de estrutura de repetição do...</a:t>
            </a:r>
            <a:r>
              <a:rPr lang="pt-BR" dirty="0" err="1"/>
              <a:t>while</a:t>
            </a:r>
            <a:r>
              <a:rPr lang="pt-BR" dirty="0"/>
              <a:t>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 \n Deseja continuar? (s)Sim ou (n) Não\n");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scanf</a:t>
            </a:r>
            <a:r>
              <a:rPr lang="pt-BR" dirty="0"/>
              <a:t>("%</a:t>
            </a:r>
            <a:r>
              <a:rPr lang="pt-BR" dirty="0" err="1"/>
              <a:t>s",&amp;r</a:t>
            </a:r>
            <a:r>
              <a:rPr lang="pt-BR" dirty="0"/>
              <a:t>);   </a:t>
            </a:r>
          </a:p>
          <a:p>
            <a:pPr eaLnBrk="1" hangingPunct="1">
              <a:defRPr/>
            </a:pPr>
            <a:r>
              <a:rPr lang="pt-BR" dirty="0"/>
              <a:t>   }</a:t>
            </a:r>
          </a:p>
          <a:p>
            <a:pPr eaLnBrk="1" hangingPunct="1">
              <a:defRPr/>
            </a:pPr>
            <a:r>
              <a:rPr lang="pt-BR" dirty="0" err="1"/>
              <a:t>while</a:t>
            </a:r>
            <a:r>
              <a:rPr lang="pt-BR" dirty="0"/>
              <a:t> (r =='s');</a:t>
            </a:r>
          </a:p>
          <a:p>
            <a:pPr eaLnBrk="1" hangingPunct="1">
              <a:defRPr/>
            </a:pPr>
            <a:r>
              <a:rPr lang="pt-BR" dirty="0" err="1"/>
              <a:t>printf</a:t>
            </a:r>
            <a:r>
              <a:rPr lang="pt-BR" dirty="0"/>
              <a:t>("\n Saiu do laço do...</a:t>
            </a:r>
            <a:r>
              <a:rPr lang="pt-BR" dirty="0" err="1"/>
              <a:t>while</a:t>
            </a:r>
            <a:r>
              <a:rPr lang="pt-BR" dirty="0"/>
              <a:t> !!!");</a:t>
            </a:r>
          </a:p>
          <a:p>
            <a:pPr eaLnBrk="1" hangingPunct="1">
              <a:defRPr/>
            </a:pPr>
            <a:r>
              <a:rPr lang="pt-BR" dirty="0"/>
              <a:t>}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9C78AB-7611-4DF6-BAEA-6D7024D9C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4" y="4941888"/>
            <a:ext cx="3078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b="1" dirty="0" err="1">
                <a:solidFill>
                  <a:srgbClr val="FFFF00"/>
                </a:solidFill>
              </a:rPr>
              <a:t>while</a:t>
            </a:r>
            <a:r>
              <a:rPr lang="pt-BR" altLang="pt-BR" b="1" dirty="0">
                <a:solidFill>
                  <a:srgbClr val="FFFF00"/>
                </a:solidFill>
              </a:rPr>
              <a:t> (r =='s'||r =='S');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88" grpId="0" animBg="1"/>
      <p:bldP spid="1603589" grpId="0" animBg="1"/>
      <p:bldP spid="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F682FE-AD8A-435B-83AC-39E4124B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4A68B8E-19DC-4EE2-838F-C266C907A69F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60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603586" name="Rectangle 2">
            <a:extLst>
              <a:ext uri="{FF2B5EF4-FFF2-40B4-BE49-F238E27FC236}">
                <a16:creationId xmlns:a16="http://schemas.microsoft.com/office/drawing/2014/main" id="{DD230D39-8D1D-41CA-8B83-2F8E7FA08C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603587" name="Rectangle 3">
            <a:extLst>
              <a:ext uri="{FF2B5EF4-FFF2-40B4-BE49-F238E27FC236}">
                <a16:creationId xmlns:a16="http://schemas.microsoft.com/office/drawing/2014/main" id="{A88D4941-F38D-4130-8F4D-7BE174079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000"/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/>
              <a:t>Veja o exemplo:</a:t>
            </a:r>
          </a:p>
        </p:txBody>
      </p:sp>
      <p:sp>
        <p:nvSpPr>
          <p:cNvPr id="1603588" name="Text Box 4">
            <a:extLst>
              <a:ext uri="{FF2B5EF4-FFF2-40B4-BE49-F238E27FC236}">
                <a16:creationId xmlns:a16="http://schemas.microsoft.com/office/drawing/2014/main" id="{50951DD9-E221-45CC-AF02-9CAE6D6A8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2432076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 2 Do_While.cpp</a:t>
            </a:r>
          </a:p>
        </p:txBody>
      </p:sp>
      <p:sp>
        <p:nvSpPr>
          <p:cNvPr id="1603589" name="Rectangle 5">
            <a:extLst>
              <a:ext uri="{FF2B5EF4-FFF2-40B4-BE49-F238E27FC236}">
                <a16:creationId xmlns:a16="http://schemas.microsoft.com/office/drawing/2014/main" id="{9FB8E147-B431-430B-85BD-A76A34E9C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2492376"/>
            <a:ext cx="7416800" cy="3416320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(){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setlocale</a:t>
            </a:r>
            <a:r>
              <a:rPr lang="pt-BR" dirty="0"/>
              <a:t>(LC_ALL,"") ;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int</a:t>
            </a:r>
            <a:r>
              <a:rPr lang="pt-BR" dirty="0"/>
              <a:t> r;</a:t>
            </a:r>
          </a:p>
          <a:p>
            <a:pPr eaLnBrk="1" hangingPunct="1">
              <a:defRPr/>
            </a:pPr>
            <a:r>
              <a:rPr lang="pt-BR" dirty="0"/>
              <a:t>do</a:t>
            </a:r>
          </a:p>
          <a:p>
            <a:pPr eaLnBrk="1" hangingPunct="1">
              <a:defRPr/>
            </a:pPr>
            <a:r>
              <a:rPr lang="pt-BR" dirty="0"/>
              <a:t>   {   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nTeste</a:t>
            </a:r>
            <a:r>
              <a:rPr lang="pt-BR" dirty="0"/>
              <a:t> de estrutura de repetição do...</a:t>
            </a:r>
            <a:r>
              <a:rPr lang="pt-BR" dirty="0" err="1"/>
              <a:t>while</a:t>
            </a:r>
            <a:r>
              <a:rPr lang="pt-BR" dirty="0"/>
              <a:t>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 \n Deseja continuar? (1) Sim\n");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scanf</a:t>
            </a:r>
            <a:r>
              <a:rPr lang="pt-BR" dirty="0"/>
              <a:t>("%</a:t>
            </a:r>
            <a:r>
              <a:rPr lang="pt-BR" dirty="0" err="1"/>
              <a:t>d",&amp;r</a:t>
            </a:r>
            <a:r>
              <a:rPr lang="pt-BR" dirty="0"/>
              <a:t>);   </a:t>
            </a:r>
          </a:p>
          <a:p>
            <a:pPr eaLnBrk="1" hangingPunct="1">
              <a:defRPr/>
            </a:pPr>
            <a:r>
              <a:rPr lang="pt-BR" dirty="0"/>
              <a:t>   }</a:t>
            </a:r>
          </a:p>
          <a:p>
            <a:pPr eaLnBrk="1" hangingPunct="1">
              <a:defRPr/>
            </a:pPr>
            <a:r>
              <a:rPr lang="pt-BR" dirty="0" err="1"/>
              <a:t>while</a:t>
            </a:r>
            <a:r>
              <a:rPr lang="pt-BR" dirty="0"/>
              <a:t> (r == 1);</a:t>
            </a:r>
          </a:p>
          <a:p>
            <a:pPr eaLnBrk="1" hangingPunct="1">
              <a:defRPr/>
            </a:pP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nSaiu</a:t>
            </a:r>
            <a:r>
              <a:rPr lang="pt-BR" dirty="0"/>
              <a:t> do laço do...</a:t>
            </a:r>
            <a:r>
              <a:rPr lang="pt-BR" dirty="0" err="1"/>
              <a:t>while</a:t>
            </a:r>
            <a:r>
              <a:rPr lang="pt-BR" dirty="0"/>
              <a:t> !!!");</a:t>
            </a:r>
          </a:p>
          <a:p>
            <a:pPr eaLnBrk="1" hangingPunct="1">
              <a:defRPr/>
            </a:pPr>
            <a:r>
              <a:rPr lang="pt-BR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88" grpId="0" animBg="1"/>
      <p:bldP spid="160358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33E794-CD15-49D8-AD8D-C71AC3C0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A163BE3-ED00-4F7C-BC32-3620B07E0BD6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61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603586" name="Rectangle 2">
            <a:extLst>
              <a:ext uri="{FF2B5EF4-FFF2-40B4-BE49-F238E27FC236}">
                <a16:creationId xmlns:a16="http://schemas.microsoft.com/office/drawing/2014/main" id="{72CFF1DA-72ED-4714-8E84-DD988BEB0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603587" name="Rectangle 3">
            <a:extLst>
              <a:ext uri="{FF2B5EF4-FFF2-40B4-BE49-F238E27FC236}">
                <a16:creationId xmlns:a16="http://schemas.microsoft.com/office/drawing/2014/main" id="{D079C5AB-A272-4317-ABA8-41A5EE3C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pt-BR" sz="2000"/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sz="2200"/>
              <a:t>Veja o exemplo:</a:t>
            </a:r>
          </a:p>
        </p:txBody>
      </p:sp>
      <p:sp>
        <p:nvSpPr>
          <p:cNvPr id="1603588" name="Text Box 4">
            <a:extLst>
              <a:ext uri="{FF2B5EF4-FFF2-40B4-BE49-F238E27FC236}">
                <a16:creationId xmlns:a16="http://schemas.microsoft.com/office/drawing/2014/main" id="{6BF2F6B8-BF5D-4A83-B70F-BE706FEF8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2432076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Exemplo 3 Do_While.cpp</a:t>
            </a:r>
          </a:p>
        </p:txBody>
      </p:sp>
      <p:sp>
        <p:nvSpPr>
          <p:cNvPr id="1603589" name="Rectangle 5">
            <a:extLst>
              <a:ext uri="{FF2B5EF4-FFF2-40B4-BE49-F238E27FC236}">
                <a16:creationId xmlns:a16="http://schemas.microsoft.com/office/drawing/2014/main" id="{C67DA9C6-7F8A-4439-B186-5E62B4397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1" y="2492376"/>
            <a:ext cx="7416800" cy="3416320"/>
          </a:xfrm>
          <a:prstGeom prst="rect">
            <a:avLst/>
          </a:prstGeom>
          <a:solidFill>
            <a:srgbClr val="00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(){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setlocale</a:t>
            </a:r>
            <a:r>
              <a:rPr lang="pt-BR" dirty="0"/>
              <a:t>(LC_ALL,"") ;</a:t>
            </a:r>
          </a:p>
          <a:p>
            <a:pPr eaLnBrk="1" hangingPunct="1">
              <a:defRPr/>
            </a:pPr>
            <a:r>
              <a:rPr lang="pt-BR" dirty="0"/>
              <a:t>  </a:t>
            </a:r>
            <a:r>
              <a:rPr lang="pt-BR" dirty="0" err="1"/>
              <a:t>int</a:t>
            </a:r>
            <a:r>
              <a:rPr lang="pt-BR" dirty="0"/>
              <a:t> r;</a:t>
            </a:r>
          </a:p>
          <a:p>
            <a:pPr eaLnBrk="1" hangingPunct="1">
              <a:defRPr/>
            </a:pPr>
            <a:r>
              <a:rPr lang="pt-BR" dirty="0"/>
              <a:t>do</a:t>
            </a:r>
          </a:p>
          <a:p>
            <a:pPr eaLnBrk="1" hangingPunct="1">
              <a:defRPr/>
            </a:pPr>
            <a:r>
              <a:rPr lang="pt-BR" dirty="0"/>
              <a:t>   {   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nTeste</a:t>
            </a:r>
            <a:r>
              <a:rPr lang="pt-BR" dirty="0"/>
              <a:t> de estrutura de repetição do...</a:t>
            </a:r>
            <a:r>
              <a:rPr lang="pt-BR" dirty="0" err="1"/>
              <a:t>while</a:t>
            </a:r>
            <a:r>
              <a:rPr lang="pt-BR" dirty="0"/>
              <a:t>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printf</a:t>
            </a:r>
            <a:r>
              <a:rPr lang="pt-BR" dirty="0"/>
              <a:t>(" \n Deseja continuar? (0) Não\n");</a:t>
            </a:r>
          </a:p>
          <a:p>
            <a:pPr eaLnBrk="1" hangingPunct="1">
              <a:defRPr/>
            </a:pPr>
            <a:r>
              <a:rPr lang="pt-BR" dirty="0"/>
              <a:t>   </a:t>
            </a:r>
            <a:r>
              <a:rPr lang="pt-BR" dirty="0" err="1"/>
              <a:t>scanf</a:t>
            </a:r>
            <a:r>
              <a:rPr lang="pt-BR" dirty="0"/>
              <a:t>("%</a:t>
            </a:r>
            <a:r>
              <a:rPr lang="pt-BR" dirty="0" err="1"/>
              <a:t>d",&amp;r</a:t>
            </a:r>
            <a:r>
              <a:rPr lang="pt-BR" dirty="0"/>
              <a:t>);   </a:t>
            </a:r>
          </a:p>
          <a:p>
            <a:pPr eaLnBrk="1" hangingPunct="1">
              <a:defRPr/>
            </a:pPr>
            <a:r>
              <a:rPr lang="pt-BR" dirty="0"/>
              <a:t>   }</a:t>
            </a:r>
          </a:p>
          <a:p>
            <a:pPr eaLnBrk="1" hangingPunct="1">
              <a:defRPr/>
            </a:pPr>
            <a:r>
              <a:rPr lang="en-US" dirty="0"/>
              <a:t>while (r != 0);</a:t>
            </a:r>
          </a:p>
          <a:p>
            <a:pPr eaLnBrk="1" hangingPunct="1">
              <a:defRPr/>
            </a:pP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nSaiu</a:t>
            </a:r>
            <a:r>
              <a:rPr lang="pt-BR" dirty="0"/>
              <a:t> do laço do...</a:t>
            </a:r>
            <a:r>
              <a:rPr lang="pt-BR" dirty="0" err="1"/>
              <a:t>while</a:t>
            </a:r>
            <a:r>
              <a:rPr lang="pt-BR" dirty="0"/>
              <a:t> !!!");</a:t>
            </a:r>
          </a:p>
          <a:p>
            <a:pPr eaLnBrk="1" hangingPunct="1">
              <a:defRPr/>
            </a:pPr>
            <a:r>
              <a:rPr lang="pt-BR" dirty="0"/>
              <a:t>}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7B1519-71AF-43BA-B055-8FB788D3969E}"/>
              </a:ext>
            </a:extLst>
          </p:cNvPr>
          <p:cNvSpPr/>
          <p:nvPr/>
        </p:nvSpPr>
        <p:spPr>
          <a:xfrm>
            <a:off x="4384675" y="4941168"/>
            <a:ext cx="1711325" cy="369332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while ( r 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88" grpId="0" animBg="1"/>
      <p:bldP spid="1603589" grpId="0" animBg="1"/>
      <p:bldP spid="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9DDE6C05-ABAE-4E67-801E-79E6C194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C015CB-18CA-4170-AFE7-3238688DB7D8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62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1618" name="Rectangle 2">
            <a:extLst>
              <a:ext uri="{FF2B5EF4-FFF2-40B4-BE49-F238E27FC236}">
                <a16:creationId xmlns:a16="http://schemas.microsoft.com/office/drawing/2014/main" id="{E54DB0A1-EFC2-4EAB-AAD9-FD5220E5E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391619" name="Rectangle 3">
            <a:extLst>
              <a:ext uri="{FF2B5EF4-FFF2-40B4-BE49-F238E27FC236}">
                <a16:creationId xmlns:a16="http://schemas.microsoft.com/office/drawing/2014/main" id="{99989807-0208-4E2C-992E-A9356A9A93F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defRPr/>
            </a:pPr>
            <a:endParaRPr lang="pt-BR" altLang="pt-BR" sz="2200" dirty="0"/>
          </a:p>
          <a:p>
            <a:pPr marL="0" indent="0" algn="l" eaLnBrk="1" hangingPunct="1">
              <a:defRPr/>
            </a:pPr>
            <a:r>
              <a:rPr lang="pt-BR" altLang="pt-BR" sz="2200" dirty="0"/>
              <a:t>	</a:t>
            </a:r>
            <a:r>
              <a:rPr lang="pt-BR" altLang="pt-BR" sz="2200" b="1" dirty="0"/>
              <a:t>Exemplo:</a:t>
            </a:r>
            <a:r>
              <a:rPr lang="pt-BR" altLang="pt-BR" sz="2200" dirty="0"/>
              <a:t> No trecho abaixo, a leitura de um número é feita dentro de um laço de repetição condicional. A leitura é repetida caso o número lido seja negativo.</a:t>
            </a:r>
          </a:p>
          <a:p>
            <a:pPr marL="0" indent="0" algn="l" eaLnBrk="1" hangingPunct="1">
              <a:defRPr/>
            </a:pPr>
            <a:r>
              <a:rPr lang="pt-BR" altLang="pt-BR" sz="2200" dirty="0"/>
              <a:t>do{</a:t>
            </a:r>
          </a:p>
          <a:p>
            <a:pPr marL="0" indent="0" algn="l" eaLnBrk="1" hangingPunct="1">
              <a:defRPr/>
            </a:pPr>
            <a:r>
              <a:rPr lang="pt-BR" altLang="pt-BR" sz="2200" dirty="0"/>
              <a:t>  </a:t>
            </a:r>
            <a:r>
              <a:rPr lang="pt-BR" altLang="pt-BR" sz="2200" dirty="0" err="1"/>
              <a:t>puts</a:t>
            </a:r>
            <a:r>
              <a:rPr lang="pt-BR" altLang="pt-BR" sz="2200" dirty="0"/>
              <a:t>("Digite um número positivo:");</a:t>
            </a:r>
          </a:p>
          <a:p>
            <a:pPr marL="0" indent="0" algn="l" eaLnBrk="1" hangingPunct="1">
              <a:defRPr/>
            </a:pPr>
            <a:r>
              <a:rPr lang="pt-BR" altLang="pt-BR" sz="2200" dirty="0"/>
              <a:t>  </a:t>
            </a:r>
            <a:r>
              <a:rPr lang="pt-BR" altLang="pt-BR" sz="2200" dirty="0" err="1"/>
              <a:t>scanf</a:t>
            </a:r>
            <a:r>
              <a:rPr lang="pt-BR" altLang="pt-BR" sz="2200" dirty="0"/>
              <a:t>("%</a:t>
            </a:r>
            <a:r>
              <a:rPr lang="pt-BR" altLang="pt-BR" sz="2200" dirty="0" err="1"/>
              <a:t>f",&amp;num</a:t>
            </a:r>
            <a:r>
              <a:rPr lang="pt-BR" altLang="pt-BR" sz="2200" dirty="0"/>
              <a:t>);</a:t>
            </a:r>
          </a:p>
          <a:p>
            <a:pPr marL="0" indent="0" algn="l" eaLnBrk="1" hangingPunct="1">
              <a:defRPr/>
            </a:pPr>
            <a:r>
              <a:rPr lang="pt-BR" altLang="pt-BR" sz="2200" dirty="0"/>
              <a:t>}</a:t>
            </a:r>
          </a:p>
          <a:p>
            <a:pPr marL="0" indent="0" algn="l" eaLnBrk="1" hangingPunct="1">
              <a:defRPr/>
            </a:pPr>
            <a:r>
              <a:rPr lang="pt-BR" altLang="pt-BR" sz="2200" dirty="0" err="1"/>
              <a:t>while</a:t>
            </a:r>
            <a:r>
              <a:rPr lang="pt-BR" altLang="pt-BR" sz="2200" dirty="0"/>
              <a:t>(num &lt;= 0.0);</a:t>
            </a:r>
          </a:p>
        </p:txBody>
      </p:sp>
      <p:sp>
        <p:nvSpPr>
          <p:cNvPr id="1391622" name="Text Box 6">
            <a:extLst>
              <a:ext uri="{FF2B5EF4-FFF2-40B4-BE49-F238E27FC236}">
                <a16:creationId xmlns:a16="http://schemas.microsoft.com/office/drawing/2014/main" id="{76F2EC2E-2CC6-4D5C-B059-4F2F59ED8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155042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Do_While3.cpp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162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6">
            <a:extLst>
              <a:ext uri="{FF2B5EF4-FFF2-40B4-BE49-F238E27FC236}">
                <a16:creationId xmlns:a16="http://schemas.microsoft.com/office/drawing/2014/main" id="{034E20D8-404F-44E5-B631-DA004578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84E05A4-F17D-4F9D-99CC-7392D55CF42A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63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574914" name="Rectangle 2">
            <a:extLst>
              <a:ext uri="{FF2B5EF4-FFF2-40B4-BE49-F238E27FC236}">
                <a16:creationId xmlns:a16="http://schemas.microsoft.com/office/drawing/2014/main" id="{04E10B9B-3EFF-46BC-B1A1-C40EFAB8B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574915" name="Rectangle 3">
            <a:extLst>
              <a:ext uri="{FF2B5EF4-FFF2-40B4-BE49-F238E27FC236}">
                <a16:creationId xmlns:a16="http://schemas.microsoft.com/office/drawing/2014/main" id="{A9FB8EAB-AA2E-450C-8E77-1098E8BA39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defRPr/>
            </a:pPr>
            <a:endParaRPr lang="pt-BR" altLang="pt-BR" sz="2200" dirty="0"/>
          </a:p>
          <a:p>
            <a:pPr marL="0" indent="0" algn="l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sz="2200" dirty="0"/>
              <a:t>	Na linguagem C o valor 0 (zero) é considerado valor lógico falso e qualquer número que não seja 0 (zero) recebe valor lógico verdadeiro (</a:t>
            </a:r>
            <a:r>
              <a:rPr lang="pt-BR" altLang="pt-BR" sz="2200" dirty="0" err="1"/>
              <a:t>true</a:t>
            </a:r>
            <a:r>
              <a:rPr lang="pt-BR" altLang="pt-BR" sz="2200" dirty="0"/>
              <a:t>). Veja o exemplo abaixo:</a:t>
            </a:r>
          </a:p>
          <a:p>
            <a:pPr marL="0" indent="0" algn="l" eaLnBrk="1" hangingPunct="1">
              <a:defRPr/>
            </a:pPr>
            <a:endParaRPr lang="pt-BR" altLang="pt-BR" sz="2200" dirty="0"/>
          </a:p>
        </p:txBody>
      </p:sp>
      <p:sp>
        <p:nvSpPr>
          <p:cNvPr id="1574916" name="Text Box 4">
            <a:extLst>
              <a:ext uri="{FF2B5EF4-FFF2-40B4-BE49-F238E27FC236}">
                <a16:creationId xmlns:a16="http://schemas.microsoft.com/office/drawing/2014/main" id="{4D221221-2D04-483E-94E9-A3FD9D1DB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6570667"/>
            <a:ext cx="155042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Do_While4.cpp</a:t>
            </a:r>
          </a:p>
        </p:txBody>
      </p:sp>
      <p:sp>
        <p:nvSpPr>
          <p:cNvPr id="1574917" name="Rectangle 5">
            <a:extLst>
              <a:ext uri="{FF2B5EF4-FFF2-40B4-BE49-F238E27FC236}">
                <a16:creationId xmlns:a16="http://schemas.microsoft.com/office/drawing/2014/main" id="{7812D0E5-8BF1-4247-B675-7F3D303B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588" y="3357568"/>
            <a:ext cx="4786312" cy="3139321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int main (){</a:t>
            </a:r>
          </a:p>
          <a:p>
            <a:pPr eaLnBrk="1" hangingPunct="1">
              <a:defRPr/>
            </a:pPr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=10;</a:t>
            </a:r>
          </a:p>
          <a:p>
            <a:pPr eaLnBrk="1" hangingPunct="1">
              <a:defRPr/>
            </a:pPr>
            <a:r>
              <a:rPr lang="en-US" dirty="0"/>
              <a:t>float </a:t>
            </a:r>
            <a:r>
              <a:rPr lang="en-US" dirty="0" err="1"/>
              <a:t>x,y</a:t>
            </a:r>
            <a:r>
              <a:rPr lang="en-US" dirty="0"/>
              <a:t>=10.0;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do {</a:t>
            </a:r>
          </a:p>
          <a:p>
            <a:pPr eaLnBrk="1" hangingPunct="1">
              <a:defRPr/>
            </a:pPr>
            <a:r>
              <a:rPr lang="en-US" dirty="0"/>
              <a:t>    y=y+3;</a:t>
            </a:r>
          </a:p>
          <a:p>
            <a:pPr eaLnBrk="1" hangingPunct="1">
              <a:defRPr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("\n O </a:t>
            </a:r>
            <a:r>
              <a:rPr lang="en-US" dirty="0" err="1"/>
              <a:t>i</a:t>
            </a:r>
            <a:r>
              <a:rPr lang="en-US" dirty="0"/>
              <a:t>= %d  y= %.2f",i,y);</a:t>
            </a:r>
          </a:p>
          <a:p>
            <a:pPr eaLnBrk="1" hangingPunct="1">
              <a:defRPr/>
            </a:pPr>
            <a:r>
              <a:rPr lang="en-US" dirty="0"/>
              <a:t>    </a:t>
            </a:r>
            <a:r>
              <a:rPr lang="en-US" dirty="0" err="1"/>
              <a:t>i</a:t>
            </a:r>
            <a:r>
              <a:rPr lang="en-US" dirty="0"/>
              <a:t>--;  </a:t>
            </a:r>
          </a:p>
          <a:p>
            <a:pPr eaLnBrk="1" hangingPunct="1">
              <a:defRPr/>
            </a:pPr>
            <a:r>
              <a:rPr lang="en-US" dirty="0"/>
              <a:t>     }</a:t>
            </a:r>
          </a:p>
          <a:p>
            <a:pPr eaLnBrk="1" hangingPunct="1">
              <a:defRPr/>
            </a:pPr>
            <a:r>
              <a:rPr lang="en-US" dirty="0"/>
              <a:t>while 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eaLnBrk="1" hangingPunct="1">
              <a:defRPr/>
            </a:pPr>
            <a:r>
              <a:rPr lang="en-US" dirty="0"/>
              <a:t>}</a:t>
            </a:r>
          </a:p>
        </p:txBody>
      </p:sp>
      <p:sp>
        <p:nvSpPr>
          <p:cNvPr id="1574918" name="Text Box 6">
            <a:extLst>
              <a:ext uri="{FF2B5EF4-FFF2-40B4-BE49-F238E27FC236}">
                <a16:creationId xmlns:a16="http://schemas.microsoft.com/office/drawing/2014/main" id="{D63D446E-463A-4DFA-8CC7-D5C170BF0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8289" y="6570667"/>
            <a:ext cx="155042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Do_While2.cpp</a:t>
            </a:r>
          </a:p>
        </p:txBody>
      </p:sp>
      <p:sp>
        <p:nvSpPr>
          <p:cNvPr id="1574919" name="Rectangle 7">
            <a:extLst>
              <a:ext uri="{FF2B5EF4-FFF2-40B4-BE49-F238E27FC236}">
                <a16:creationId xmlns:a16="http://schemas.microsoft.com/office/drawing/2014/main" id="{182D9C5E-3C4F-460F-AAD8-C4126D40E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2" y="3284542"/>
            <a:ext cx="3384551" cy="2585323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ES" b="1" dirty="0" err="1"/>
              <a:t>int</a:t>
            </a:r>
            <a:r>
              <a:rPr lang="es-ES" b="1" dirty="0"/>
              <a:t> i=0;</a:t>
            </a:r>
          </a:p>
          <a:p>
            <a:pPr eaLnBrk="1" hangingPunct="1">
              <a:defRPr/>
            </a:pPr>
            <a:r>
              <a:rPr lang="es-ES" dirty="0" err="1"/>
              <a:t>float</a:t>
            </a:r>
            <a:r>
              <a:rPr lang="es-ES" dirty="0"/>
              <a:t> </a:t>
            </a:r>
            <a:r>
              <a:rPr lang="es-ES" dirty="0" err="1"/>
              <a:t>x,y</a:t>
            </a:r>
            <a:r>
              <a:rPr lang="es-ES" dirty="0"/>
              <a:t>;</a:t>
            </a:r>
          </a:p>
          <a:p>
            <a:pPr eaLnBrk="1" hangingPunct="1">
              <a:defRPr/>
            </a:pPr>
            <a:r>
              <a:rPr lang="es-ES" dirty="0"/>
              <a:t>do</a:t>
            </a:r>
          </a:p>
          <a:p>
            <a:pPr eaLnBrk="1" hangingPunct="1">
              <a:defRPr/>
            </a:pPr>
            <a:r>
              <a:rPr lang="es-ES" dirty="0"/>
              <a:t>   {   </a:t>
            </a:r>
          </a:p>
          <a:p>
            <a:pPr eaLnBrk="1" hangingPunct="1">
              <a:defRPr/>
            </a:pPr>
            <a:r>
              <a:rPr lang="es-ES" dirty="0"/>
              <a:t>    y=y+3;</a:t>
            </a:r>
          </a:p>
          <a:p>
            <a:pPr eaLnBrk="1" hangingPunct="1">
              <a:defRPr/>
            </a:pPr>
            <a:r>
              <a:rPr lang="es-ES" dirty="0"/>
              <a:t>    </a:t>
            </a:r>
            <a:r>
              <a:rPr lang="es-ES" dirty="0" err="1"/>
              <a:t>printf</a:t>
            </a:r>
            <a:r>
              <a:rPr lang="es-ES" dirty="0"/>
              <a:t>("\n %d  %4.2f",i,y);</a:t>
            </a:r>
          </a:p>
          <a:p>
            <a:pPr eaLnBrk="1" hangingPunct="1">
              <a:defRPr/>
            </a:pPr>
            <a:r>
              <a:rPr lang="es-ES" b="1" dirty="0"/>
              <a:t>    i++;</a:t>
            </a:r>
            <a:r>
              <a:rPr lang="es-ES" dirty="0"/>
              <a:t>   </a:t>
            </a:r>
          </a:p>
          <a:p>
            <a:pPr eaLnBrk="1" hangingPunct="1">
              <a:defRPr/>
            </a:pPr>
            <a:r>
              <a:rPr lang="es-ES" dirty="0"/>
              <a:t>}</a:t>
            </a:r>
          </a:p>
          <a:p>
            <a:pPr eaLnBrk="1" hangingPunct="1">
              <a:defRPr/>
            </a:pPr>
            <a:r>
              <a:rPr lang="en-US" dirty="0"/>
              <a:t>while (</a:t>
            </a:r>
            <a:r>
              <a:rPr lang="en-US" dirty="0" err="1"/>
              <a:t>i</a:t>
            </a:r>
            <a:r>
              <a:rPr lang="en-US" dirty="0"/>
              <a:t>&lt;=9);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4916" grpId="0" animBg="1"/>
      <p:bldP spid="157491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6">
            <a:extLst>
              <a:ext uri="{FF2B5EF4-FFF2-40B4-BE49-F238E27FC236}">
                <a16:creationId xmlns:a16="http://schemas.microsoft.com/office/drawing/2014/main" id="{A41CB8D7-CAB8-466C-9EF7-8A3B6AF1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9DA0D39-ACEB-497D-998B-B5588F103E71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64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91970" name="Rectangle 2">
            <a:extLst>
              <a:ext uri="{FF2B5EF4-FFF2-40B4-BE49-F238E27FC236}">
                <a16:creationId xmlns:a16="http://schemas.microsoft.com/office/drawing/2014/main" id="{1D887F16-95F7-4F8D-A5CF-76CF0BF13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do...while</a:t>
            </a:r>
          </a:p>
        </p:txBody>
      </p:sp>
      <p:sp>
        <p:nvSpPr>
          <p:cNvPr id="1491971" name="Rectangle 3">
            <a:extLst>
              <a:ext uri="{FF2B5EF4-FFF2-40B4-BE49-F238E27FC236}">
                <a16:creationId xmlns:a16="http://schemas.microsoft.com/office/drawing/2014/main" id="{5DA625FA-6E87-48C7-868D-9ED9FFCDA38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tabLst>
                <a:tab pos="1258857" algn="l"/>
              </a:tabLst>
              <a:defRPr/>
            </a:pPr>
            <a:r>
              <a:rPr lang="pt-BR" altLang="pt-BR" sz="2200" dirty="0"/>
              <a:t>	</a:t>
            </a:r>
            <a:r>
              <a:rPr lang="pt-BR" altLang="pt-BR" sz="2200" b="1" dirty="0"/>
              <a:t>Exercício: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 dirty="0"/>
              <a:t>Utilize a estrutura do...</a:t>
            </a:r>
            <a:r>
              <a:rPr lang="pt-BR" altLang="pt-BR" sz="2200" dirty="0" err="1"/>
              <a:t>while</a:t>
            </a:r>
            <a:r>
              <a:rPr lang="pt-BR" altLang="pt-BR" sz="2200" dirty="0"/>
              <a:t> para imprimir os 10 primeiros números ímpares.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 dirty="0"/>
              <a:t>Altere o programa para mostrar a posição de cada número ímpar: 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 dirty="0"/>
              <a:t>Altere a estrutura anterior para realizar a soma dos 10 primeiros números ímpares.</a:t>
            </a:r>
          </a:p>
        </p:txBody>
      </p:sp>
      <p:sp>
        <p:nvSpPr>
          <p:cNvPr id="77829" name="Text Box 4">
            <a:extLst>
              <a:ext uri="{FF2B5EF4-FFF2-40B4-BE49-F238E27FC236}">
                <a16:creationId xmlns:a16="http://schemas.microsoft.com/office/drawing/2014/main" id="{7B369845-B8CE-499E-AEF6-B09C6FCEA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97654"/>
            <a:ext cx="223330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Imprime impares2.cpp</a:t>
            </a:r>
          </a:p>
        </p:txBody>
      </p:sp>
      <p:sp>
        <p:nvSpPr>
          <p:cNvPr id="77830" name="Text Box 5">
            <a:extLst>
              <a:ext uri="{FF2B5EF4-FFF2-40B4-BE49-F238E27FC236}">
                <a16:creationId xmlns:a16="http://schemas.microsoft.com/office/drawing/2014/main" id="{5AFAD576-5A49-4E9A-8698-393E9B860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0951" y="6570667"/>
            <a:ext cx="1840568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impares.cpp</a:t>
            </a:r>
          </a:p>
        </p:txBody>
      </p:sp>
      <p:pic>
        <p:nvPicPr>
          <p:cNvPr id="1491974" name="Picture 6">
            <a:extLst>
              <a:ext uri="{FF2B5EF4-FFF2-40B4-BE49-F238E27FC236}">
                <a16:creationId xmlns:a16="http://schemas.microsoft.com/office/drawing/2014/main" id="{8D1D0FFF-0E77-4E1F-967B-10C55A3D80E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67218" y="4486278"/>
            <a:ext cx="3933825" cy="237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77832" name="Text Box 8">
            <a:extLst>
              <a:ext uri="{FF2B5EF4-FFF2-40B4-BE49-F238E27FC236}">
                <a16:creationId xmlns:a16="http://schemas.microsoft.com/office/drawing/2014/main" id="{F7D3E429-F76E-4951-AFFF-0A8190A6D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3" y="6210304"/>
            <a:ext cx="2119491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Imprime impares.cpp</a:t>
            </a:r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F5BC172A-B4A5-502C-F0E7-6DCA265D3B2C}"/>
              </a:ext>
            </a:extLst>
          </p:cNvPr>
          <p:cNvSpPr/>
          <p:nvPr/>
        </p:nvSpPr>
        <p:spPr bwMode="auto">
          <a:xfrm>
            <a:off x="12846" y="4626055"/>
            <a:ext cx="3024336" cy="958691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t>Manha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491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1DA122-8968-43BE-AECF-4E5D379C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9E56D85-8292-4E07-8A4B-253955063D16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65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2642" name="Rectangle 2">
            <a:extLst>
              <a:ext uri="{FF2B5EF4-FFF2-40B4-BE49-F238E27FC236}">
                <a16:creationId xmlns:a16="http://schemas.microsoft.com/office/drawing/2014/main" id="{80F01550-CAC0-4800-9D3F-EFEC1029B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while</a:t>
            </a:r>
          </a:p>
        </p:txBody>
      </p:sp>
      <p:sp>
        <p:nvSpPr>
          <p:cNvPr id="1392643" name="Rectangle 3">
            <a:extLst>
              <a:ext uri="{FF2B5EF4-FFF2-40B4-BE49-F238E27FC236}">
                <a16:creationId xmlns:a16="http://schemas.microsoft.com/office/drawing/2014/main" id="{36A6091F-FC03-43E5-8D0C-D1F90739EB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pt-BR" altLang="pt-BR" sz="2200" b="1"/>
              <a:t>Estrutura while</a:t>
            </a:r>
            <a:r>
              <a:rPr lang="pt-BR" altLang="pt-BR" sz="2200"/>
              <a:t> </a:t>
            </a:r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	A estrutura de repetição condicional while é semelhante a estrutura do...while. Sua sintaxe é a seguinte:</a:t>
            </a:r>
            <a:endParaRPr lang="pt-BR" altLang="pt-BR" sz="2200" b="1"/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 b="1"/>
              <a:t>Sintaxe:</a:t>
            </a:r>
            <a:endParaRPr lang="pt-BR" altLang="pt-BR" sz="2200"/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while(</a:t>
            </a:r>
            <a:r>
              <a:rPr lang="pt-BR" altLang="pt-BR" sz="2200" i="1"/>
              <a:t>condição</a:t>
            </a:r>
            <a:r>
              <a:rPr lang="pt-BR" altLang="pt-BR" sz="2200"/>
              <a:t>){</a:t>
            </a:r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  </a:t>
            </a:r>
            <a:r>
              <a:rPr lang="pt-BR" altLang="pt-BR" sz="2200" i="1"/>
              <a:t>bloco</a:t>
            </a:r>
            <a:endParaRPr lang="pt-BR" altLang="pt-BR" sz="2200"/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}</a:t>
            </a:r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/>
              <a:t>onde:	</a:t>
            </a:r>
            <a:r>
              <a:rPr lang="pt-BR" altLang="pt-BR" sz="2200" i="1"/>
              <a:t>condição</a:t>
            </a:r>
            <a:r>
              <a:rPr lang="pt-BR" altLang="pt-BR" sz="2200"/>
              <a:t>  é uma expressão lógica ou numérica.</a:t>
            </a:r>
            <a:endParaRPr lang="pt-BR" altLang="pt-BR" sz="2200" i="1"/>
          </a:p>
          <a:p>
            <a:pPr marL="0" indent="0" algn="l" eaLnBrk="1" hangingPunct="1">
              <a:lnSpc>
                <a:spcPct val="90000"/>
              </a:lnSpc>
              <a:defRPr/>
            </a:pPr>
            <a:r>
              <a:rPr lang="pt-BR" altLang="pt-BR" sz="2200" i="1"/>
              <a:t>bloco</a:t>
            </a:r>
            <a:r>
              <a:rPr lang="pt-BR" altLang="pt-BR" sz="2200"/>
              <a:t>  é um conjunto de instruções.</a:t>
            </a:r>
          </a:p>
        </p:txBody>
      </p:sp>
      <p:sp>
        <p:nvSpPr>
          <p:cNvPr id="1392644" name="Rectangle 4">
            <a:extLst>
              <a:ext uri="{FF2B5EF4-FFF2-40B4-BE49-F238E27FC236}">
                <a16:creationId xmlns:a16="http://schemas.microsoft.com/office/drawing/2014/main" id="{393CFB53-0A27-4C58-9AD0-FC179E5A0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42" y="2852737"/>
            <a:ext cx="3006725" cy="1631216"/>
          </a:xfrm>
          <a:prstGeom prst="rect">
            <a:avLst/>
          </a:prstGeom>
          <a:solidFill>
            <a:srgbClr val="CECEE6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while (i&lt;=8)</a:t>
            </a:r>
            <a:endParaRPr lang="pt-BR" sz="2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{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printf("\n %d ",i);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i++;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}</a:t>
            </a:r>
          </a:p>
        </p:txBody>
      </p:sp>
      <p:sp>
        <p:nvSpPr>
          <p:cNvPr id="1392645" name="Line 5">
            <a:extLst>
              <a:ext uri="{FF2B5EF4-FFF2-40B4-BE49-F238E27FC236}">
                <a16:creationId xmlns:a16="http://schemas.microsoft.com/office/drawing/2014/main" id="{6BD8B6F0-CD5E-46FF-985A-21A3AF196C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1130" y="3140075"/>
            <a:ext cx="3095625" cy="43338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92646" name="Line 6">
            <a:extLst>
              <a:ext uri="{FF2B5EF4-FFF2-40B4-BE49-F238E27FC236}">
                <a16:creationId xmlns:a16="http://schemas.microsoft.com/office/drawing/2014/main" id="{A7D7DF1B-32CA-4598-9830-3E8ECFE256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1815" y="3716339"/>
            <a:ext cx="3168651" cy="3603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9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39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4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C9773F1F-2807-4682-811A-02BB7219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113785A-7649-4FB3-99A2-9C3E638C561E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66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3666" name="Rectangle 2">
            <a:extLst>
              <a:ext uri="{FF2B5EF4-FFF2-40B4-BE49-F238E27FC236}">
                <a16:creationId xmlns:a16="http://schemas.microsoft.com/office/drawing/2014/main" id="{98F44124-EF8A-494A-8FFA-5E01F66E5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while</a:t>
            </a:r>
          </a:p>
        </p:txBody>
      </p:sp>
      <p:sp>
        <p:nvSpPr>
          <p:cNvPr id="1393667" name="Rectangle 3">
            <a:extLst>
              <a:ext uri="{FF2B5EF4-FFF2-40B4-BE49-F238E27FC236}">
                <a16:creationId xmlns:a16="http://schemas.microsoft.com/office/drawing/2014/main" id="{FB997277-947C-46B5-8D8B-79C56E85D7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defRPr/>
            </a:pPr>
            <a:endParaRPr lang="pt-BR" altLang="pt-BR" sz="2000"/>
          </a:p>
          <a:p>
            <a:pPr marL="0" indent="0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000"/>
              <a:t>   </a:t>
            </a:r>
            <a:r>
              <a:rPr lang="pt-BR" altLang="pt-BR" sz="2000">
                <a:effectLst/>
              </a:rPr>
              <a:t>Esta estrutura faz com que a condição seja avaliada em primeiro lugar. </a:t>
            </a:r>
          </a:p>
          <a:p>
            <a:pPr marL="0" indent="0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000">
                <a:effectLst/>
              </a:rPr>
              <a:t>   Se a condição for </a:t>
            </a:r>
            <a:r>
              <a:rPr lang="pt-BR" altLang="pt-BR" sz="2000" b="1">
                <a:effectLst/>
              </a:rPr>
              <a:t>verdadeira</a:t>
            </a:r>
            <a:r>
              <a:rPr lang="pt-BR" altLang="pt-BR" sz="2000">
                <a:effectLst/>
              </a:rPr>
              <a:t> o bloco é executado uma vez e a condição é avaliada novamente. Caso a condição seja </a:t>
            </a:r>
            <a:r>
              <a:rPr lang="pt-BR" altLang="pt-BR" sz="2000" b="1">
                <a:effectLst/>
              </a:rPr>
              <a:t>falsa</a:t>
            </a:r>
            <a:r>
              <a:rPr lang="pt-BR" altLang="pt-BR" sz="2000">
                <a:effectLst/>
              </a:rPr>
              <a:t> a repetição é terminada </a:t>
            </a:r>
            <a:r>
              <a:rPr lang="pt-BR" altLang="pt-BR" sz="2000" b="1">
                <a:effectLst/>
              </a:rPr>
              <a:t>sem a execução do bloco</a:t>
            </a:r>
            <a:r>
              <a:rPr lang="pt-BR" altLang="pt-BR" sz="2000">
                <a:effectLst/>
              </a:rPr>
              <a:t>. </a:t>
            </a:r>
          </a:p>
          <a:p>
            <a:pPr marL="0" indent="0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000">
                <a:effectLst/>
              </a:rPr>
              <a:t>   Observe que nesta estrutura, ao contrário da estrutura do...while, o bloco de  instruções  </a:t>
            </a:r>
            <a:r>
              <a:rPr lang="pt-BR" altLang="pt-BR" sz="2000" b="1">
                <a:effectLst/>
              </a:rPr>
              <a:t>pode não ser executado nenhuma vez</a:t>
            </a:r>
            <a:r>
              <a:rPr lang="pt-BR" altLang="pt-BR" sz="2000">
                <a:effectLst/>
              </a:rPr>
              <a:t>, basta que a condição seja inicialmente falsa. </a:t>
            </a:r>
            <a:endParaRPr lang="pt-BR" altLang="pt-BR" sz="2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DCF301A8-3B7F-409D-B2C3-661F9326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AAE26FA-68A8-4DC1-92BF-AE3FD0C8BB55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67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4690" name="Rectangle 2">
            <a:extLst>
              <a:ext uri="{FF2B5EF4-FFF2-40B4-BE49-F238E27FC236}">
                <a16:creationId xmlns:a16="http://schemas.microsoft.com/office/drawing/2014/main" id="{03618F1D-F6AC-4CD7-A3B8-8AD182F5A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while</a:t>
            </a:r>
          </a:p>
        </p:txBody>
      </p:sp>
      <p:sp>
        <p:nvSpPr>
          <p:cNvPr id="1394691" name="Rectangle 3">
            <a:extLst>
              <a:ext uri="{FF2B5EF4-FFF2-40B4-BE49-F238E27FC236}">
                <a16:creationId xmlns:a16="http://schemas.microsoft.com/office/drawing/2014/main" id="{3251B3DB-6CB2-44B0-A1DF-A0B2032398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pt-BR" sz="2200">
                <a:effectLst/>
              </a:rPr>
              <a:t>O fluxograma desta estrutura é mostrada na figura abaixo:</a:t>
            </a:r>
            <a:r>
              <a:rPr lang="pt-BR" altLang="pt-BR" sz="2200"/>
              <a:t>	</a:t>
            </a:r>
            <a:endParaRPr lang="pt-BR" altLang="pt-BR" sz="2200" i="1"/>
          </a:p>
          <a:p>
            <a:pPr marL="0" indent="0" algn="l" eaLnBrk="1" hangingPunct="1">
              <a:defRPr/>
            </a:pPr>
            <a:endParaRPr lang="pt-BR" altLang="pt-BR" sz="2200"/>
          </a:p>
        </p:txBody>
      </p:sp>
      <p:pic>
        <p:nvPicPr>
          <p:cNvPr id="83973" name="Picture 4">
            <a:extLst>
              <a:ext uri="{FF2B5EF4-FFF2-40B4-BE49-F238E27FC236}">
                <a16:creationId xmlns:a16="http://schemas.microsoft.com/office/drawing/2014/main" id="{40CF1D02-185E-403E-881C-270B85EAD2D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59379" y="2349502"/>
            <a:ext cx="1800225" cy="3106739"/>
          </a:xfrm>
          <a:solidFill>
            <a:srgbClr val="BDD2E9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6">
            <a:extLst>
              <a:ext uri="{FF2B5EF4-FFF2-40B4-BE49-F238E27FC236}">
                <a16:creationId xmlns:a16="http://schemas.microsoft.com/office/drawing/2014/main" id="{6546E5BC-819E-47C3-9403-4270336E8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461D87C-BCFB-4AB8-A0BA-2C3769A1512D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68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94018" name="Rectangle 2">
            <a:extLst>
              <a:ext uri="{FF2B5EF4-FFF2-40B4-BE49-F238E27FC236}">
                <a16:creationId xmlns:a16="http://schemas.microsoft.com/office/drawing/2014/main" id="{D7115A0B-98FC-461E-B095-11DD3F1B4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while</a:t>
            </a:r>
          </a:p>
        </p:txBody>
      </p:sp>
      <p:sp>
        <p:nvSpPr>
          <p:cNvPr id="1494019" name="Rectangle 3">
            <a:extLst>
              <a:ext uri="{FF2B5EF4-FFF2-40B4-BE49-F238E27FC236}">
                <a16:creationId xmlns:a16="http://schemas.microsoft.com/office/drawing/2014/main" id="{AEF83D93-7BDC-4FC9-8762-3D9721FA47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tabLst>
                <a:tab pos="1258857" algn="l"/>
              </a:tabLst>
              <a:defRPr/>
            </a:pPr>
            <a:r>
              <a:rPr lang="pt-BR" altLang="pt-BR" sz="2200"/>
              <a:t>	</a:t>
            </a:r>
            <a:r>
              <a:rPr lang="pt-BR" altLang="pt-BR" sz="2200" b="1"/>
              <a:t>Exercício: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Utilize a estrutura while para imprimir os 10 primeiros números ímpares.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Altere o programa para mostrar a posição de cada número ímpar: 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Altere a estrutura anterior para realizar a soma dos 10 primeiros números ímpares.</a:t>
            </a:r>
          </a:p>
        </p:txBody>
      </p:sp>
      <p:sp>
        <p:nvSpPr>
          <p:cNvPr id="86021" name="Text Box 4">
            <a:extLst>
              <a:ext uri="{FF2B5EF4-FFF2-40B4-BE49-F238E27FC236}">
                <a16:creationId xmlns:a16="http://schemas.microsoft.com/office/drawing/2014/main" id="{3FBADFC4-AA83-414B-849E-60A0E12DC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4" y="6543679"/>
            <a:ext cx="2073003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impares2 WHILE.cpp</a:t>
            </a:r>
          </a:p>
        </p:txBody>
      </p:sp>
      <p:sp>
        <p:nvSpPr>
          <p:cNvPr id="86022" name="Text Box 5">
            <a:extLst>
              <a:ext uri="{FF2B5EF4-FFF2-40B4-BE49-F238E27FC236}">
                <a16:creationId xmlns:a16="http://schemas.microsoft.com/office/drawing/2014/main" id="{64D9300B-9815-4EB7-B972-AED341491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5" y="6543679"/>
            <a:ext cx="2491388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 wHILE.cpp</a:t>
            </a:r>
          </a:p>
        </p:txBody>
      </p:sp>
      <p:sp>
        <p:nvSpPr>
          <p:cNvPr id="86023" name="Text Box 7">
            <a:extLst>
              <a:ext uri="{FF2B5EF4-FFF2-40B4-BE49-F238E27FC236}">
                <a16:creationId xmlns:a16="http://schemas.microsoft.com/office/drawing/2014/main" id="{CCBC6144-A176-4B67-A2E6-B31BB4FF9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3" y="6210304"/>
            <a:ext cx="1991251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Impares WHILE.cpp</a:t>
            </a:r>
          </a:p>
        </p:txBody>
      </p:sp>
      <p:pic>
        <p:nvPicPr>
          <p:cNvPr id="1494022" name="Picture 6">
            <a:extLst>
              <a:ext uri="{FF2B5EF4-FFF2-40B4-BE49-F238E27FC236}">
                <a16:creationId xmlns:a16="http://schemas.microsoft.com/office/drawing/2014/main" id="{428D19E2-56FC-4BED-8D5D-DC8715624C1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9879" y="4486278"/>
            <a:ext cx="3933825" cy="237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4940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C0F9E-AC2B-8C89-C99D-2DDEB29B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Login e senha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676211-E2CB-76F2-2F85-FC3B8CD1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2876"/>
            <a:ext cx="8229600" cy="791989"/>
          </a:xfrm>
        </p:spPr>
        <p:txBody>
          <a:bodyPr/>
          <a:lstStyle/>
          <a:p>
            <a:r>
              <a:rPr lang="pt-BR" dirty="0"/>
              <a:t>Altere o código abaixo, utilizando uma estrutura de repetição indeterminada para o usuário tentar novamente ao errar o login ou a senha.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FD5ACF-FAC2-CB6A-43F6-838A3322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69</a:t>
            </a:fld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DBD34CF-DCBE-D873-54A2-9650079D833D}"/>
              </a:ext>
            </a:extLst>
          </p:cNvPr>
          <p:cNvSpPr txBox="1"/>
          <p:nvPr/>
        </p:nvSpPr>
        <p:spPr>
          <a:xfrm>
            <a:off x="1703512" y="2119784"/>
            <a:ext cx="4620986" cy="469359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300" dirty="0"/>
              <a:t>#include &lt;</a:t>
            </a:r>
            <a:r>
              <a:rPr lang="pt-BR" sz="1300" dirty="0" err="1"/>
              <a:t>string.h</a:t>
            </a:r>
            <a:r>
              <a:rPr lang="pt-BR" sz="1300" dirty="0"/>
              <a:t>&gt;</a:t>
            </a:r>
          </a:p>
          <a:p>
            <a:r>
              <a:rPr lang="pt-BR" sz="1300" dirty="0"/>
              <a:t>char login[15] = "MEU LOGIN";</a:t>
            </a:r>
          </a:p>
          <a:p>
            <a:r>
              <a:rPr lang="pt-BR" sz="1300" dirty="0"/>
              <a:t>char login1[15]; </a:t>
            </a:r>
          </a:p>
          <a:p>
            <a:r>
              <a:rPr lang="pt-BR" sz="1300" dirty="0"/>
              <a:t>char senha[15] = "MINHA SENHA";</a:t>
            </a:r>
          </a:p>
          <a:p>
            <a:r>
              <a:rPr lang="pt-BR" sz="1300" dirty="0"/>
              <a:t>char senha1[15];</a:t>
            </a:r>
          </a:p>
          <a:p>
            <a:r>
              <a:rPr lang="pt-BR" sz="1300" dirty="0" err="1"/>
              <a:t>main</a:t>
            </a:r>
            <a:r>
              <a:rPr lang="pt-BR" sz="1300" dirty="0"/>
              <a:t> (){</a:t>
            </a:r>
          </a:p>
          <a:p>
            <a:r>
              <a:rPr lang="pt-BR" sz="1300" dirty="0" err="1"/>
              <a:t>printf</a:t>
            </a:r>
            <a:r>
              <a:rPr lang="pt-BR" sz="1300" dirty="0"/>
              <a:t>("LOGIN: ");</a:t>
            </a:r>
          </a:p>
          <a:p>
            <a:r>
              <a:rPr lang="pt-BR" sz="1300" dirty="0" err="1"/>
              <a:t>gets</a:t>
            </a:r>
            <a:r>
              <a:rPr lang="pt-BR" sz="1300" dirty="0"/>
              <a:t>(login1); </a:t>
            </a:r>
          </a:p>
          <a:p>
            <a:r>
              <a:rPr lang="pt-BR" sz="1300" dirty="0" err="1"/>
              <a:t>if</a:t>
            </a:r>
            <a:r>
              <a:rPr lang="pt-BR" sz="1300" dirty="0"/>
              <a:t> (</a:t>
            </a:r>
            <a:r>
              <a:rPr lang="pt-BR" sz="1300" dirty="0" err="1"/>
              <a:t>strcmp</a:t>
            </a:r>
            <a:r>
              <a:rPr lang="pt-BR" sz="1300" dirty="0"/>
              <a:t>(login, login1) == 0) {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printf</a:t>
            </a:r>
            <a:r>
              <a:rPr lang="pt-BR" sz="1300" dirty="0"/>
              <a:t>("SENHA: ");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gets</a:t>
            </a:r>
            <a:r>
              <a:rPr lang="pt-BR" sz="1300" dirty="0"/>
              <a:t>(senha1);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if</a:t>
            </a:r>
            <a:r>
              <a:rPr lang="pt-BR" sz="1300" dirty="0"/>
              <a:t> (</a:t>
            </a:r>
            <a:r>
              <a:rPr lang="pt-BR" sz="1300" dirty="0" err="1"/>
              <a:t>strcmp</a:t>
            </a:r>
            <a:r>
              <a:rPr lang="pt-BR" sz="1300" dirty="0"/>
              <a:t>(senha, senha1) == 0) {</a:t>
            </a:r>
          </a:p>
          <a:p>
            <a:r>
              <a:rPr lang="pt-BR" sz="1300" dirty="0"/>
              <a:t>        </a:t>
            </a:r>
            <a:r>
              <a:rPr lang="pt-BR" sz="1300" dirty="0" err="1"/>
              <a:t>printf</a:t>
            </a:r>
            <a:r>
              <a:rPr lang="pt-BR" sz="1300" dirty="0"/>
              <a:t>("Logado");</a:t>
            </a:r>
          </a:p>
          <a:p>
            <a:r>
              <a:rPr lang="pt-BR" sz="1300" dirty="0"/>
              <a:t>	}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else</a:t>
            </a:r>
            <a:r>
              <a:rPr lang="pt-BR" sz="1300" dirty="0"/>
              <a:t>{</a:t>
            </a:r>
          </a:p>
          <a:p>
            <a:r>
              <a:rPr lang="pt-BR" sz="1300" dirty="0"/>
              <a:t>        </a:t>
            </a:r>
            <a:r>
              <a:rPr lang="pt-BR" sz="1300" dirty="0" err="1"/>
              <a:t>printf</a:t>
            </a:r>
            <a:r>
              <a:rPr lang="pt-BR" sz="1300" dirty="0"/>
              <a:t>("Senha incorreta");</a:t>
            </a:r>
          </a:p>
          <a:p>
            <a:r>
              <a:rPr lang="pt-BR" sz="1300" dirty="0"/>
              <a:t>	}</a:t>
            </a:r>
          </a:p>
          <a:p>
            <a:r>
              <a:rPr lang="pt-BR" sz="1300" dirty="0"/>
              <a:t>}</a:t>
            </a:r>
          </a:p>
          <a:p>
            <a:r>
              <a:rPr lang="pt-BR" sz="1300" dirty="0" err="1"/>
              <a:t>else</a:t>
            </a:r>
            <a:endParaRPr lang="pt-BR" sz="1300" dirty="0"/>
          </a:p>
          <a:p>
            <a:r>
              <a:rPr lang="pt-BR" sz="1300" dirty="0"/>
              <a:t>{</a:t>
            </a:r>
          </a:p>
          <a:p>
            <a:r>
              <a:rPr lang="pt-BR" sz="1300" dirty="0"/>
              <a:t>	</a:t>
            </a:r>
            <a:r>
              <a:rPr lang="pt-BR" sz="1300" dirty="0" err="1"/>
              <a:t>printf</a:t>
            </a:r>
            <a:r>
              <a:rPr lang="pt-BR" sz="1300" dirty="0"/>
              <a:t>("Login Incorreto");</a:t>
            </a:r>
          </a:p>
          <a:p>
            <a:r>
              <a:rPr lang="pt-BR" sz="1300" dirty="0"/>
              <a:t>}</a:t>
            </a:r>
          </a:p>
          <a:p>
            <a:r>
              <a:rPr lang="pt-BR" sz="1300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AC8B50-FDB1-D6E2-06B7-2AA013569B82}"/>
              </a:ext>
            </a:extLst>
          </p:cNvPr>
          <p:cNvSpPr txBox="1"/>
          <p:nvPr/>
        </p:nvSpPr>
        <p:spPr>
          <a:xfrm>
            <a:off x="6592332" y="3215010"/>
            <a:ext cx="555234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pt-BR" dirty="0" err="1"/>
              <a:t>String</a:t>
            </a:r>
            <a:r>
              <a:rPr lang="pt-BR" dirty="0"/>
              <a:t> compare</a:t>
            </a:r>
          </a:p>
          <a:p>
            <a:r>
              <a:rPr lang="pt-BR" dirty="0" err="1"/>
              <a:t>strcmp</a:t>
            </a:r>
            <a:r>
              <a:rPr lang="pt-BR" dirty="0"/>
              <a:t>() é uma função da biblioteca </a:t>
            </a:r>
            <a:r>
              <a:rPr lang="pt-BR" dirty="0" err="1"/>
              <a:t>string.h</a:t>
            </a:r>
            <a:r>
              <a:rPr lang="pt-BR" dirty="0"/>
              <a:t> que compara 2 </a:t>
            </a:r>
            <a:r>
              <a:rPr lang="pt-BR" dirty="0" err="1"/>
              <a:t>strings</a:t>
            </a:r>
            <a:r>
              <a:rPr lang="pt-BR" dirty="0"/>
              <a:t>. Se for igual a 0 é porque as duas são iguais.</a:t>
            </a:r>
          </a:p>
        </p:txBody>
      </p:sp>
    </p:spTree>
    <p:extLst>
      <p:ext uri="{BB962C8B-B14F-4D97-AF65-F5344CB8AC3E}">
        <p14:creationId xmlns:p14="http://schemas.microsoft.com/office/powerpoint/2010/main" val="31606851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23AE69-9FC2-43BB-921A-19AE0788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FFEC0C6-7E11-4633-9B31-EBB67D654BBB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70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7762" name="Rectangle 2">
            <a:extLst>
              <a:ext uri="{FF2B5EF4-FFF2-40B4-BE49-F238E27FC236}">
                <a16:creationId xmlns:a16="http://schemas.microsoft.com/office/drawing/2014/main" id="{244BEE55-7270-4F0F-849D-20A35B606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 </a:t>
            </a:r>
          </a:p>
        </p:txBody>
      </p:sp>
      <p:sp>
        <p:nvSpPr>
          <p:cNvPr id="1397763" name="Rectangle 3">
            <a:extLst>
              <a:ext uri="{FF2B5EF4-FFF2-40B4-BE49-F238E27FC236}">
                <a16:creationId xmlns:a16="http://schemas.microsoft.com/office/drawing/2014/main" id="{CCC47CE9-9609-495A-BBF1-8117862D7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pt-BR" sz="2200" b="1"/>
              <a:t>A</a:t>
            </a:r>
            <a:r>
              <a:rPr lang="pt-BR" sz="2200"/>
              <a:t> </a:t>
            </a:r>
            <a:r>
              <a:rPr lang="pt-BR" sz="2200" b="1"/>
              <a:t>estrutura for</a:t>
            </a:r>
            <a:r>
              <a:rPr lang="pt-BR" sz="2200"/>
              <a:t> 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dirty="0"/>
              <a:t>A estrutura for é muito semelhante as estruturas de repetição vistas anteriormente, entretanto costuma ser utilizada quando se quer um número determinado de ciclos. 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dirty="0"/>
              <a:t>A contagem dos ciclos é feita por uma variável chamada de </a:t>
            </a:r>
            <a:r>
              <a:rPr lang="pt-BR" sz="2200" b="1" dirty="0"/>
              <a:t>contador</a:t>
            </a:r>
            <a:r>
              <a:rPr lang="pt-BR" sz="2200" dirty="0"/>
              <a:t>. A estrutura for é, às vezes, chamada de estrutura de </a:t>
            </a:r>
            <a:r>
              <a:rPr lang="pt-BR" sz="2200" b="1" dirty="0"/>
              <a:t>repetição com contador</a:t>
            </a:r>
            <a:r>
              <a:rPr lang="pt-BR" sz="2200" dirty="0"/>
              <a:t>.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0667763-CAD6-BE0C-538F-D3E4FE54CBBD}"/>
              </a:ext>
            </a:extLst>
          </p:cNvPr>
          <p:cNvSpPr/>
          <p:nvPr/>
        </p:nvSpPr>
        <p:spPr bwMode="auto">
          <a:xfrm>
            <a:off x="1585156" y="800777"/>
            <a:ext cx="792088" cy="369332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684B52C0-1DD1-4047-BA1D-F3F5C8B4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B332EE0-8C17-41BC-98FD-7ADD46659CAD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71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8786" name="Rectangle 2">
            <a:extLst>
              <a:ext uri="{FF2B5EF4-FFF2-40B4-BE49-F238E27FC236}">
                <a16:creationId xmlns:a16="http://schemas.microsoft.com/office/drawing/2014/main" id="{D137EAB2-7F3A-417F-A63B-D644D70F6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1398787" name="Rectangle 3">
            <a:extLst>
              <a:ext uri="{FF2B5EF4-FFF2-40B4-BE49-F238E27FC236}">
                <a16:creationId xmlns:a16="http://schemas.microsoft.com/office/drawing/2014/main" id="{633F7AC6-AE4B-4631-B0D8-25DC60ACB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/>
              <a:t>Sua sintaxe é a seguinte</a:t>
            </a:r>
            <a:r>
              <a:rPr lang="pt-BR" sz="2200" b="1"/>
              <a:t> :</a:t>
            </a:r>
            <a:r>
              <a:rPr lang="pt-BR" sz="2200"/>
              <a:t> </a:t>
            </a:r>
          </a:p>
          <a:p>
            <a:pPr algn="l" eaLnBrk="1" hangingPunct="1">
              <a:lnSpc>
                <a:spcPct val="80000"/>
              </a:lnSpc>
              <a:defRPr/>
            </a:pPr>
            <a:r>
              <a:rPr lang="pt-BR" sz="2200"/>
              <a:t>for(</a:t>
            </a:r>
            <a:r>
              <a:rPr lang="pt-BR" sz="2200" i="1"/>
              <a:t>inicialização</a:t>
            </a:r>
            <a:r>
              <a:rPr lang="pt-BR" sz="2200"/>
              <a:t>;</a:t>
            </a:r>
            <a:r>
              <a:rPr lang="pt-BR" sz="2200" i="1"/>
              <a:t> condiçã</a:t>
            </a:r>
            <a:r>
              <a:rPr lang="pt-BR" sz="2200"/>
              <a:t>o</a:t>
            </a:r>
            <a:r>
              <a:rPr lang="pt-BR" sz="2200" i="1"/>
              <a:t>; incremento</a:t>
            </a:r>
            <a:r>
              <a:rPr lang="pt-BR" sz="2200"/>
              <a:t>){</a:t>
            </a:r>
          </a:p>
          <a:p>
            <a:pPr algn="l" eaLnBrk="1" hangingPunct="1">
              <a:lnSpc>
                <a:spcPct val="80000"/>
              </a:lnSpc>
              <a:defRPr/>
            </a:pPr>
            <a:r>
              <a:rPr lang="pt-BR" sz="2200"/>
              <a:t>  </a:t>
            </a:r>
            <a:r>
              <a:rPr lang="pt-BR" sz="2200" i="1"/>
              <a:t>bloco</a:t>
            </a:r>
            <a:endParaRPr lang="pt-BR" sz="2200"/>
          </a:p>
          <a:p>
            <a:pPr algn="l" eaLnBrk="1" hangingPunct="1">
              <a:lnSpc>
                <a:spcPct val="80000"/>
              </a:lnSpc>
              <a:defRPr/>
            </a:pPr>
            <a:r>
              <a:rPr lang="pt-BR" sz="2200"/>
              <a:t>}</a:t>
            </a:r>
          </a:p>
          <a:p>
            <a:pPr algn="l" eaLnBrk="1" hangingPunct="1">
              <a:lnSpc>
                <a:spcPct val="80000"/>
              </a:lnSpc>
              <a:defRPr/>
            </a:pPr>
            <a:r>
              <a:rPr lang="pt-BR" sz="2200"/>
              <a:t>onde:	</a:t>
            </a:r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i="1"/>
              <a:t>inicialização</a:t>
            </a:r>
            <a:r>
              <a:rPr lang="pt-BR" sz="2200"/>
              <a:t> é uma expressão de inicialização do contador.</a:t>
            </a:r>
            <a:endParaRPr lang="pt-BR" sz="2200" i="1"/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i="1"/>
              <a:t>condição</a:t>
            </a:r>
            <a:r>
              <a:rPr lang="pt-BR" sz="2200"/>
              <a:t> é uma expressão lógica de controle de repetição.</a:t>
            </a:r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i="1"/>
              <a:t>incremento</a:t>
            </a:r>
            <a:r>
              <a:rPr lang="pt-BR" sz="2200"/>
              <a:t> é uma expressão de incremento do contador.</a:t>
            </a:r>
            <a:endParaRPr lang="pt-BR" sz="2200" i="1"/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sz="2200" i="1"/>
              <a:t>bloco</a:t>
            </a:r>
            <a:r>
              <a:rPr lang="pt-BR" sz="2200"/>
              <a:t> é um conjunto de instruções a ser executado. </a:t>
            </a:r>
          </a:p>
        </p:txBody>
      </p:sp>
      <p:sp>
        <p:nvSpPr>
          <p:cNvPr id="1398788" name="Rectangle 4">
            <a:extLst>
              <a:ext uri="{FF2B5EF4-FFF2-40B4-BE49-F238E27FC236}">
                <a16:creationId xmlns:a16="http://schemas.microsoft.com/office/drawing/2014/main" id="{1D55977A-D302-49BD-9295-3F88E22D2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3" y="2205041"/>
            <a:ext cx="3241675" cy="1323439"/>
          </a:xfrm>
          <a:prstGeom prst="rect">
            <a:avLst/>
          </a:prstGeom>
          <a:solidFill>
            <a:srgbClr val="CECEE6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for(i=1; i&lt;=10; i++)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printf(" %d",i);</a:t>
            </a:r>
          </a:p>
          <a:p>
            <a:pPr eaLnBrk="1" hangingPunct="1">
              <a:defRPr/>
            </a:pPr>
            <a:r>
              <a:rPr lang="pt-BR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398791" name="Freeform 7">
            <a:extLst>
              <a:ext uri="{FF2B5EF4-FFF2-40B4-BE49-F238E27FC236}">
                <a16:creationId xmlns:a16="http://schemas.microsoft.com/office/drawing/2014/main" id="{01D1BEE5-A057-4ADA-A7D8-C4284AB2FF1E}"/>
              </a:ext>
            </a:extLst>
          </p:cNvPr>
          <p:cNvSpPr>
            <a:spLocks/>
          </p:cNvSpPr>
          <p:nvPr/>
        </p:nvSpPr>
        <p:spPr bwMode="auto">
          <a:xfrm>
            <a:off x="3648077" y="1509713"/>
            <a:ext cx="4248151" cy="369332"/>
          </a:xfrm>
          <a:custGeom>
            <a:avLst/>
            <a:gdLst>
              <a:gd name="T0" fmla="*/ 0 w 2676"/>
              <a:gd name="T1" fmla="*/ 302 h 483"/>
              <a:gd name="T2" fmla="*/ 1905 w 2676"/>
              <a:gd name="T3" fmla="*/ 30 h 483"/>
              <a:gd name="T4" fmla="*/ 2676 w 2676"/>
              <a:gd name="T5" fmla="*/ 483 h 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76" h="483">
                <a:moveTo>
                  <a:pt x="0" y="302"/>
                </a:moveTo>
                <a:cubicBezTo>
                  <a:pt x="729" y="151"/>
                  <a:pt x="1459" y="0"/>
                  <a:pt x="1905" y="30"/>
                </a:cubicBezTo>
                <a:cubicBezTo>
                  <a:pt x="2351" y="60"/>
                  <a:pt x="2513" y="271"/>
                  <a:pt x="2676" y="483"/>
                </a:cubicBez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diamond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98792" name="Freeform 8">
            <a:extLst>
              <a:ext uri="{FF2B5EF4-FFF2-40B4-BE49-F238E27FC236}">
                <a16:creationId xmlns:a16="http://schemas.microsoft.com/office/drawing/2014/main" id="{9C4AE84F-04A9-44A2-B6E6-02CE0474D73E}"/>
              </a:ext>
            </a:extLst>
          </p:cNvPr>
          <p:cNvSpPr>
            <a:spLocks/>
          </p:cNvSpPr>
          <p:nvPr/>
        </p:nvSpPr>
        <p:spPr bwMode="auto">
          <a:xfrm>
            <a:off x="5087943" y="1581151"/>
            <a:ext cx="3671887" cy="369332"/>
          </a:xfrm>
          <a:custGeom>
            <a:avLst/>
            <a:gdLst>
              <a:gd name="T0" fmla="*/ 0 w 2313"/>
              <a:gd name="T1" fmla="*/ 257 h 438"/>
              <a:gd name="T2" fmla="*/ 1542 w 2313"/>
              <a:gd name="T3" fmla="*/ 30 h 438"/>
              <a:gd name="T4" fmla="*/ 2313 w 2313"/>
              <a:gd name="T5" fmla="*/ 438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13" h="438">
                <a:moveTo>
                  <a:pt x="0" y="257"/>
                </a:moveTo>
                <a:cubicBezTo>
                  <a:pt x="578" y="128"/>
                  <a:pt x="1157" y="0"/>
                  <a:pt x="1542" y="30"/>
                </a:cubicBezTo>
                <a:cubicBezTo>
                  <a:pt x="1927" y="60"/>
                  <a:pt x="2120" y="249"/>
                  <a:pt x="2313" y="438"/>
                </a:cubicBezTo>
              </a:path>
            </a:pathLst>
          </a:custGeom>
          <a:noFill/>
          <a:ln w="12700" cap="flat" cmpd="sng">
            <a:solidFill>
              <a:schemeClr val="accent2"/>
            </a:solidFill>
            <a:prstDash val="solid"/>
            <a:round/>
            <a:headEnd type="diamond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98794" name="Freeform 10">
            <a:extLst>
              <a:ext uri="{FF2B5EF4-FFF2-40B4-BE49-F238E27FC236}">
                <a16:creationId xmlns:a16="http://schemas.microsoft.com/office/drawing/2014/main" id="{A9098253-BC6A-43DA-9008-862DCD9CD2D3}"/>
              </a:ext>
            </a:extLst>
          </p:cNvPr>
          <p:cNvSpPr>
            <a:spLocks/>
          </p:cNvSpPr>
          <p:nvPr/>
        </p:nvSpPr>
        <p:spPr bwMode="auto">
          <a:xfrm>
            <a:off x="6311900" y="1725613"/>
            <a:ext cx="3443288" cy="369332"/>
          </a:xfrm>
          <a:custGeom>
            <a:avLst/>
            <a:gdLst>
              <a:gd name="T0" fmla="*/ 0 w 2169"/>
              <a:gd name="T1" fmla="*/ 166 h 347"/>
              <a:gd name="T2" fmla="*/ 1814 w 2169"/>
              <a:gd name="T3" fmla="*/ 30 h 347"/>
              <a:gd name="T4" fmla="*/ 2132 w 2169"/>
              <a:gd name="T5" fmla="*/ 347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9" h="347">
                <a:moveTo>
                  <a:pt x="0" y="166"/>
                </a:moveTo>
                <a:cubicBezTo>
                  <a:pt x="729" y="83"/>
                  <a:pt x="1459" y="0"/>
                  <a:pt x="1814" y="30"/>
                </a:cubicBezTo>
                <a:cubicBezTo>
                  <a:pt x="2169" y="60"/>
                  <a:pt x="2150" y="203"/>
                  <a:pt x="2132" y="347"/>
                </a:cubicBezTo>
              </a:path>
            </a:pathLst>
          </a:custGeom>
          <a:noFill/>
          <a:ln w="19050" cap="flat" cmpd="sng">
            <a:solidFill>
              <a:schemeClr val="folHlink"/>
            </a:solidFill>
            <a:prstDash val="solid"/>
            <a:round/>
            <a:headEnd type="diamond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98795" name="Line 11">
            <a:extLst>
              <a:ext uri="{FF2B5EF4-FFF2-40B4-BE49-F238E27FC236}">
                <a16:creationId xmlns:a16="http://schemas.microsoft.com/office/drawing/2014/main" id="{79166939-F6D3-49B1-99A4-EED3F864E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75" y="2708278"/>
            <a:ext cx="4319588" cy="288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diamond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9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9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9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9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D020D44-6753-495A-A086-DA4989FF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042FC0-BE4D-4664-B816-FC7536685A30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72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399810" name="Rectangle 2">
            <a:extLst>
              <a:ext uri="{FF2B5EF4-FFF2-40B4-BE49-F238E27FC236}">
                <a16:creationId xmlns:a16="http://schemas.microsoft.com/office/drawing/2014/main" id="{76736C88-9C5B-4FA0-8DC5-492D688D3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D7BB585E-F966-493A-B45A-E405F6826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05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   Esta estrutura executa um número determinado de repetições usando um contador de </a:t>
            </a:r>
            <a:r>
              <a:rPr lang="pt-BR" altLang="pt-BR" sz="2000" b="1">
                <a:effectLst/>
              </a:rPr>
              <a:t>iterações</a:t>
            </a:r>
            <a:r>
              <a:rPr lang="pt-BR" altLang="pt-BR" sz="2000">
                <a:effectLst/>
              </a:rPr>
              <a:t>. O contador é inicializado na expressão de </a:t>
            </a:r>
            <a:r>
              <a:rPr lang="pt-BR" altLang="pt-BR" sz="2000" i="1">
                <a:effectLst/>
              </a:rPr>
              <a:t>inicialização</a:t>
            </a:r>
            <a:r>
              <a:rPr lang="pt-BR" altLang="pt-BR" sz="2000">
                <a:effectLst/>
              </a:rPr>
              <a:t> </a:t>
            </a:r>
            <a:r>
              <a:rPr lang="pt-BR" altLang="pt-BR" sz="2000" b="1">
                <a:effectLst/>
              </a:rPr>
              <a:t>antes</a:t>
            </a:r>
            <a:r>
              <a:rPr lang="pt-BR" altLang="pt-BR" sz="2000">
                <a:effectLst/>
              </a:rPr>
              <a:t> da primeira iteração. Por exemplo: </a:t>
            </a:r>
          </a:p>
          <a:p>
            <a:pPr algn="just" eaLnBrk="1" hangingPunct="1">
              <a:lnSpc>
                <a:spcPct val="105000"/>
              </a:lnSpc>
            </a:pPr>
            <a:r>
              <a:rPr lang="pt-BR" altLang="pt-BR" sz="2000">
                <a:effectLst/>
              </a:rPr>
              <a:t>	    i = 0; ou cont = 20;. Então o bloco é executado e </a:t>
            </a:r>
            <a:r>
              <a:rPr lang="pt-BR" altLang="pt-BR" sz="2000" b="1">
                <a:effectLst/>
              </a:rPr>
              <a:t>depois</a:t>
            </a:r>
            <a:r>
              <a:rPr lang="pt-BR" altLang="pt-BR" sz="2000">
                <a:effectLst/>
              </a:rPr>
              <a:t> de cada iteração, o contador é incrementado  de  acordo com   a   expressão de </a:t>
            </a:r>
            <a:r>
              <a:rPr lang="pt-BR" altLang="pt-BR" sz="2000" i="1">
                <a:effectLst/>
              </a:rPr>
              <a:t>incremento</a:t>
            </a:r>
            <a:r>
              <a:rPr lang="pt-BR" altLang="pt-BR" sz="2000">
                <a:effectLst/>
              </a:rPr>
              <a:t> (i++ ou cont = cont - 2).</a:t>
            </a:r>
          </a:p>
          <a:p>
            <a:pPr algn="just" eaLnBrk="1" hangingPunct="1">
              <a:lnSpc>
                <a:spcPct val="105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   A expressão de condição é avaliada e  se a condição for verdadeira, o  </a:t>
            </a:r>
            <a:r>
              <a:rPr lang="pt-BR" altLang="pt-BR" sz="2000" i="1">
                <a:effectLst/>
              </a:rPr>
              <a:t>bloco</a:t>
            </a:r>
            <a:r>
              <a:rPr lang="pt-BR" altLang="pt-BR" sz="2000">
                <a:effectLst/>
              </a:rPr>
              <a:t>  é executado novamente e o ciclo recomeça, se a condição for falsa termina-se o laço. </a:t>
            </a:r>
          </a:p>
          <a:p>
            <a:pPr algn="just" eaLnBrk="1" hangingPunct="1">
              <a:lnSpc>
                <a:spcPct val="105000"/>
              </a:lnSpc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Esta condição é, em geral, uma expressão lógica que determina o  último valor do contador. Por exemplo: i &lt;= 100.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BD8DBF5A-C694-4608-804A-40F56670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2E50050-D948-4DE1-8B01-B0B0A68BF37C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73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00834" name="Rectangle 2">
            <a:extLst>
              <a:ext uri="{FF2B5EF4-FFF2-40B4-BE49-F238E27FC236}">
                <a16:creationId xmlns:a16="http://schemas.microsoft.com/office/drawing/2014/main" id="{A953BFA5-C919-49DA-B327-3F4EF9738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C0A215E4-EACF-4B35-9A6E-05D4F5FC9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2200" b="1">
                <a:effectLst/>
              </a:rPr>
              <a:t>Exemplo:</a:t>
            </a:r>
            <a:r>
              <a:rPr lang="pt-BR" altLang="pt-BR" sz="2200">
                <a:effectLst/>
              </a:rPr>
              <a:t> 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	No trecho abaixo, o contador i é inicializado com o valor 1. O bloco é repetido enquanto a condição i &lt;= 10 for verdadeira.  O contador é incrementado com a instrução i++. Esta estrutura, deste modo, imprime os números 1, 2, ..., 9, 10.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for(i=1; i&lt;=10; i++)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  printf(" %d",i);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CEC886-1DE5-4C1C-B98C-703226E0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DE28310-D49E-4BCB-BA51-B4C12E9C1B3C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74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96066" name="Rectangle 2">
            <a:extLst>
              <a:ext uri="{FF2B5EF4-FFF2-40B4-BE49-F238E27FC236}">
                <a16:creationId xmlns:a16="http://schemas.microsoft.com/office/drawing/2014/main" id="{14F542B7-5008-4C70-8C75-601597BF0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1496067" name="Rectangle 3">
            <a:extLst>
              <a:ext uri="{FF2B5EF4-FFF2-40B4-BE49-F238E27FC236}">
                <a16:creationId xmlns:a16="http://schemas.microsoft.com/office/drawing/2014/main" id="{3738BBCE-99DA-4F2D-9703-B5ABE8BE430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412879"/>
            <a:ext cx="8362951" cy="4608513"/>
          </a:xfrm>
        </p:spPr>
        <p:txBody>
          <a:bodyPr/>
          <a:lstStyle/>
          <a:p>
            <a:pPr marL="0" indent="0" eaLnBrk="1" hangingPunct="1">
              <a:tabLst>
                <a:tab pos="1258857" algn="l"/>
              </a:tabLst>
              <a:defRPr/>
            </a:pPr>
            <a:r>
              <a:rPr lang="pt-BR" altLang="pt-BR" sz="2200"/>
              <a:t>	</a:t>
            </a:r>
            <a:r>
              <a:rPr lang="pt-BR" altLang="pt-BR" sz="2200" b="1"/>
              <a:t>Exercício: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   Utilize a estrutura FOR para imprimir os 10 primeiros números ímpares, mostrando a posição de cada número primo: </a:t>
            </a:r>
          </a:p>
          <a:p>
            <a:pPr marL="0" indent="0" algn="just" eaLnBrk="1" hangingPunct="1">
              <a:buFont typeface="Wingdings" panose="05000000000000000000" pitchFamily="2" charset="2"/>
              <a:buChar char="n"/>
              <a:tabLst>
                <a:tab pos="1258857" algn="l"/>
              </a:tabLst>
              <a:defRPr/>
            </a:pPr>
            <a:r>
              <a:rPr lang="pt-BR" altLang="pt-BR" sz="2200"/>
              <a:t>   Altere a estrutura anterior para realizar a soma dos 10 primeiros números ímpares.</a:t>
            </a:r>
          </a:p>
        </p:txBody>
      </p:sp>
      <p:sp>
        <p:nvSpPr>
          <p:cNvPr id="96261" name="Text Box 5">
            <a:extLst>
              <a:ext uri="{FF2B5EF4-FFF2-40B4-BE49-F238E27FC236}">
                <a16:creationId xmlns:a16="http://schemas.microsoft.com/office/drawing/2014/main" id="{6B5442CF-40E1-42DF-826F-70D924DEB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1" y="6543679"/>
            <a:ext cx="226536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 FOR.cpp</a:t>
            </a:r>
          </a:p>
        </p:txBody>
      </p:sp>
      <p:sp>
        <p:nvSpPr>
          <p:cNvPr id="96262" name="Text Box 6">
            <a:extLst>
              <a:ext uri="{FF2B5EF4-FFF2-40B4-BE49-F238E27FC236}">
                <a16:creationId xmlns:a16="http://schemas.microsoft.com/office/drawing/2014/main" id="{4B7C337A-CA62-4FDF-A16F-D55384928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70667"/>
            <a:ext cx="2169184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Imprime impares FOR</a:t>
            </a:r>
          </a:p>
        </p:txBody>
      </p:sp>
      <p:pic>
        <p:nvPicPr>
          <p:cNvPr id="1496071" name="Picture 7">
            <a:extLst>
              <a:ext uri="{FF2B5EF4-FFF2-40B4-BE49-F238E27FC236}">
                <a16:creationId xmlns:a16="http://schemas.microsoft.com/office/drawing/2014/main" id="{F47EA32F-D98B-4CEC-ADEC-3A8F596BEC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4343" y="4486278"/>
            <a:ext cx="3933825" cy="237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AAF87FFE-6402-4CD7-881E-869E559ACBA4}"/>
              </a:ext>
            </a:extLst>
          </p:cNvPr>
          <p:cNvSpPr/>
          <p:nvPr/>
        </p:nvSpPr>
        <p:spPr bwMode="auto">
          <a:xfrm>
            <a:off x="8760296" y="3789044"/>
            <a:ext cx="914400" cy="958691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496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479A48-BB35-4746-B7B9-F8471E94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A354CB8-06BC-4655-ACC5-A64D64FF117F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75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01858" name="Rectangle 2">
            <a:extLst>
              <a:ext uri="{FF2B5EF4-FFF2-40B4-BE49-F238E27FC236}">
                <a16:creationId xmlns:a16="http://schemas.microsoft.com/office/drawing/2014/main" id="{7A4B5DF3-6C32-4F26-8C43-7D17BD39E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9B783F82-D217-454B-8078-10FA3D181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	É interessante notar que a mesma estrutura lógica pode ser implementada usando as estruturas for ou do...while: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Exemplo: As seguintes instruções são plenamente equivalentes: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i = 0;                 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for(i = 0; i &lt;= 100; i++){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do{                      bloco       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  bloco                }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  i++;</a:t>
            </a:r>
          </a:p>
          <a:p>
            <a:pPr algn="l" eaLnBrk="1" hangingPunct="1">
              <a:lnSpc>
                <a:spcPct val="80000"/>
              </a:lnSpc>
            </a:pPr>
            <a:r>
              <a:rPr lang="pt-BR" altLang="pt-BR" sz="2200">
                <a:effectLst/>
              </a:rPr>
              <a:t>}while(i &lt;= 100);</a:t>
            </a:r>
          </a:p>
        </p:txBody>
      </p:sp>
      <p:sp>
        <p:nvSpPr>
          <p:cNvPr id="1401861" name="Text Box 5">
            <a:extLst>
              <a:ext uri="{FF2B5EF4-FFF2-40B4-BE49-F238E27FC236}">
                <a16:creationId xmlns:a16="http://schemas.microsoft.com/office/drawing/2014/main" id="{40A27D80-E02C-4F40-BE63-2CC75C970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5" y="4652963"/>
            <a:ext cx="7343775" cy="1785104"/>
          </a:xfrm>
          <a:prstGeom prst="rect">
            <a:avLst/>
          </a:prstGeom>
          <a:solidFill>
            <a:srgbClr val="A4A4D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Podem existir mais de uma expressão de </a:t>
            </a:r>
            <a:r>
              <a:rPr lang="pt-BR" sz="2200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inicialização</a:t>
            </a: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e de </a:t>
            </a:r>
            <a:r>
              <a:rPr lang="pt-BR" sz="2200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incremento</a:t>
            </a: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na estrutura for. Estas expressões devem ser separadas por vírgula (,). Mas </a:t>
            </a:r>
            <a:r>
              <a:rPr lang="pt-BR" sz="2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não pode </a:t>
            </a: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haver mais de uma expressão de </a:t>
            </a:r>
            <a:r>
              <a:rPr lang="pt-BR" sz="2200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condição</a:t>
            </a:r>
            <a:r>
              <a:rPr lang="pt-BR" sz="22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 Por exemplo: for(i=0, j=10; i&lt;10; i++, j--){...}</a:t>
            </a:r>
          </a:p>
        </p:txBody>
      </p:sp>
      <p:sp>
        <p:nvSpPr>
          <p:cNvPr id="98310" name="Text Box 6">
            <a:extLst>
              <a:ext uri="{FF2B5EF4-FFF2-40B4-BE49-F238E27FC236}">
                <a16:creationId xmlns:a16="http://schemas.microsoft.com/office/drawing/2014/main" id="{05DB8FF8-1CC7-4E1C-972D-2F389C05E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9" y="6543679"/>
            <a:ext cx="2379177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 FOR2.cpp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186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D24A70-F65A-4F80-B64C-6C32BF21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32" indent="-285744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160" indent="-228594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2BF9EE3-DE0F-41A5-B51F-1B8C5CA177E7}" type="slidenum">
              <a:rPr lang="pt-BR" altLang="pt-BR">
                <a:latin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76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401858" name="Rectangle 2">
            <a:extLst>
              <a:ext uri="{FF2B5EF4-FFF2-40B4-BE49-F238E27FC236}">
                <a16:creationId xmlns:a16="http://schemas.microsoft.com/office/drawing/2014/main" id="{88B6C5CC-290C-4557-8D2A-7BCB0AAA2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3.2 - Estruturas de repetição: for</a:t>
            </a:r>
          </a:p>
        </p:txBody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FC921A90-92EA-46BD-9616-A4FD80116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int main (){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int i=10;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float x,y=10.0;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2200">
              <a:effectLst/>
            </a:endParaRP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do {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    y=y+3;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    printf("\n O i= %d  y= %.2f",i,y);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    i--; 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	}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while (i);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2200">
                <a:effectLst/>
              </a:rPr>
              <a:t>}</a:t>
            </a:r>
          </a:p>
        </p:txBody>
      </p:sp>
      <p:sp>
        <p:nvSpPr>
          <p:cNvPr id="1401861" name="Text Box 5">
            <a:extLst>
              <a:ext uri="{FF2B5EF4-FFF2-40B4-BE49-F238E27FC236}">
                <a16:creationId xmlns:a16="http://schemas.microsoft.com/office/drawing/2014/main" id="{9EA9FB66-65D9-4327-8036-7C40F5AFF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253163"/>
            <a:ext cx="9170988" cy="1446550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200" dirty="0"/>
              <a:t>Podem existir mais de uma expressão de </a:t>
            </a:r>
            <a:r>
              <a:rPr lang="pt-BR" sz="2200" i="1" dirty="0"/>
              <a:t>inicialização</a:t>
            </a:r>
            <a:r>
              <a:rPr lang="pt-BR" sz="2200" dirty="0"/>
              <a:t> e de </a:t>
            </a:r>
            <a:r>
              <a:rPr lang="pt-BR" sz="2200" i="1" dirty="0"/>
              <a:t>incremento</a:t>
            </a:r>
            <a:r>
              <a:rPr lang="pt-BR" sz="2200" dirty="0"/>
              <a:t> na estrutura for. Estas expressões devem ser separadas por vírgula (,). Mas </a:t>
            </a:r>
            <a:r>
              <a:rPr lang="pt-BR" sz="2200" b="1" dirty="0"/>
              <a:t>não pode </a:t>
            </a:r>
            <a:r>
              <a:rPr lang="pt-BR" sz="2200" dirty="0"/>
              <a:t>haver mais de uma expressão de </a:t>
            </a:r>
            <a:r>
              <a:rPr lang="pt-BR" sz="2200" i="1" dirty="0"/>
              <a:t>condição</a:t>
            </a:r>
            <a:r>
              <a:rPr lang="pt-BR" sz="2200" dirty="0"/>
              <a:t>. Por exemplo: for(i=0, j=10; </a:t>
            </a:r>
            <a:r>
              <a:rPr lang="pt-BR" sz="2200" dirty="0">
                <a:highlight>
                  <a:srgbClr val="C0C0C0"/>
                </a:highlight>
              </a:rPr>
              <a:t>i&lt;10</a:t>
            </a:r>
            <a:r>
              <a:rPr lang="pt-BR" sz="2200" dirty="0"/>
              <a:t>; i++, j--){...}</a:t>
            </a:r>
          </a:p>
        </p:txBody>
      </p:sp>
      <p:sp>
        <p:nvSpPr>
          <p:cNvPr id="100358" name="Text Box 6">
            <a:extLst>
              <a:ext uri="{FF2B5EF4-FFF2-40B4-BE49-F238E27FC236}">
                <a16:creationId xmlns:a16="http://schemas.microsoft.com/office/drawing/2014/main" id="{68BB2F94-6299-45E2-AC59-71346C999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9" y="6543679"/>
            <a:ext cx="2379177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b="1"/>
              <a:t>Soma impares FOR2.cpp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A6723-B7E8-C1B5-4E64-0777637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254569E-E244-4ED5-E9D4-EBBDF645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144B-F5AC-45C6-AD42-115683CD4F04}" type="slidenum">
              <a:rPr lang="pt-BR" smtClean="0"/>
              <a:pPr>
                <a:defRPr/>
              </a:pPr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8304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21FE-648C-7515-F9EC-D0F6E315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D0259-5D88-E472-33EB-2217AE6F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0F9A88-AA8E-BA27-04B6-2A33C48E6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412879"/>
            <a:ext cx="11521280" cy="4320378"/>
          </a:xfrm>
        </p:spPr>
        <p:txBody>
          <a:bodyPr/>
          <a:lstStyle/>
          <a:p>
            <a:r>
              <a:rPr lang="pt-BR" dirty="0"/>
              <a:t>Conteúdo: estruturas de decisão e de repetição.</a:t>
            </a:r>
          </a:p>
          <a:p>
            <a:r>
              <a:rPr lang="pt-BR" dirty="0"/>
              <a:t>Faça um programa em linguagem C para obedecer aos seguintes requisitos: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Fazer o Menu Principal para o código que será utilizado no PIM.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Utilize a estrutura Switch...case para as opções existentes.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Utilize a estrutura de repetição </a:t>
            </a:r>
            <a:r>
              <a:rPr lang="pt-BR" dirty="0" err="1"/>
              <a:t>While</a:t>
            </a:r>
            <a:r>
              <a:rPr lang="pt-BR" dirty="0"/>
              <a:t> ou Do...</a:t>
            </a:r>
            <a:r>
              <a:rPr lang="pt-BR" dirty="0" err="1"/>
              <a:t>While</a:t>
            </a:r>
            <a:r>
              <a:rPr lang="pt-BR" dirty="0"/>
              <a:t> para retornar ao Menu principal e perguntar se deseja uma nova opção ou se deseja sair.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O programa irá fechar quando o usuário decidir.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B0B31F-8541-2695-8968-96CFB9BF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78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219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678D3-609F-4521-A7D9-594C5B3D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F031F2-612B-40CC-9BC3-06F50D318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7179" algn="just">
              <a:defRPr/>
            </a:pPr>
            <a:r>
              <a:rPr lang="pt-BR" dirty="0"/>
              <a:t>Utilize o laço de repetição </a:t>
            </a:r>
            <a:r>
              <a:rPr lang="pt-BR" dirty="0" err="1"/>
              <a:t>while</a:t>
            </a:r>
            <a:r>
              <a:rPr lang="pt-BR" dirty="0"/>
              <a:t> ou do...</a:t>
            </a:r>
            <a:r>
              <a:rPr lang="pt-BR" dirty="0" err="1"/>
              <a:t>while</a:t>
            </a:r>
            <a:r>
              <a:rPr lang="pt-BR" dirty="0"/>
              <a:t> para alterar o programa Calculadora com a finalidade de perguntar ao usuário se deseja continuar. Enquanto ele responder “sim” o software volta ao início para perguntar qual operação deseja fazer.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6897AB-2A8C-4B88-8A15-B5B48B56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3BE8E6-F191-45F9-AC85-429035C80A5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79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FBAE-98F0-A983-F75A-3301F889E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7" y="2241352"/>
            <a:ext cx="5904656" cy="4616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#include &lt;</a:t>
            </a:r>
            <a:r>
              <a:rPr lang="pt-BR" altLang="pt-BR" sz="1400" dirty="0" err="1">
                <a:solidFill>
                  <a:schemeClr val="tx1"/>
                </a:solidFill>
              </a:rPr>
              <a:t>stdio.h</a:t>
            </a:r>
            <a:r>
              <a:rPr lang="pt-BR" altLang="pt-BR" sz="1400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int</a:t>
            </a:r>
            <a:r>
              <a:rPr lang="pt-BR" altLang="pt-BR" sz="1400" dirty="0">
                <a:solidFill>
                  <a:schemeClr val="tx1"/>
                </a:solidFill>
              </a:rPr>
              <a:t> </a:t>
            </a:r>
            <a:r>
              <a:rPr lang="pt-BR" altLang="pt-BR" sz="1400" dirty="0" err="1">
                <a:solidFill>
                  <a:schemeClr val="tx1"/>
                </a:solidFill>
              </a:rPr>
              <a:t>main</a:t>
            </a:r>
            <a:r>
              <a:rPr lang="pt-BR" altLang="pt-BR" sz="1400" dirty="0">
                <a:solidFill>
                  <a:schemeClr val="tx1"/>
                </a:solidFill>
              </a:rPr>
              <a:t>()    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400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float</a:t>
            </a:r>
            <a:r>
              <a:rPr lang="pt-BR" altLang="pt-BR" sz="1400" dirty="0">
                <a:solidFill>
                  <a:schemeClr val="tx1"/>
                </a:solidFill>
              </a:rPr>
              <a:t> num_1, num_2, 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char </a:t>
            </a:r>
            <a:r>
              <a:rPr lang="pt-BR" altLang="pt-BR" sz="1400" dirty="0" err="1">
                <a:solidFill>
                  <a:schemeClr val="tx1"/>
                </a:solidFill>
              </a:rPr>
              <a:t>op</a:t>
            </a:r>
            <a:r>
              <a:rPr lang="pt-BR" altLang="pt-BR" sz="1400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("\n Entre com a 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 desejada: (+), (-) 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scanf</a:t>
            </a:r>
            <a:r>
              <a:rPr lang="pt-BR" altLang="pt-BR" sz="1400" dirty="0">
                <a:solidFill>
                  <a:schemeClr val="tx1"/>
                </a:solidFill>
              </a:rPr>
              <a:t>("%s",&amp;</a:t>
            </a:r>
            <a:r>
              <a:rPr lang="pt-BR" altLang="pt-BR" sz="1400" dirty="0" err="1">
                <a:solidFill>
                  <a:schemeClr val="tx1"/>
                </a:solidFill>
              </a:rPr>
              <a:t>op</a:t>
            </a:r>
            <a:r>
              <a:rPr lang="pt-BR" altLang="pt-BR" sz="14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("Entre com o 1o. : 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scanf</a:t>
            </a:r>
            <a:r>
              <a:rPr lang="pt-BR" altLang="pt-BR" sz="1400" dirty="0">
                <a:solidFill>
                  <a:schemeClr val="tx1"/>
                </a:solidFill>
              </a:rPr>
              <a:t>("%f",&amp;num_1);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("Entre com o 2o. Numero: 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 err="1">
                <a:solidFill>
                  <a:schemeClr val="tx1"/>
                </a:solidFill>
              </a:rPr>
              <a:t>scanf</a:t>
            </a:r>
            <a:r>
              <a:rPr lang="pt-BR" altLang="pt-BR" sz="1400" dirty="0">
                <a:solidFill>
                  <a:schemeClr val="tx1"/>
                </a:solidFill>
              </a:rPr>
              <a:t>("%f",&amp;num_2);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switch(</a:t>
            </a:r>
            <a:r>
              <a:rPr lang="pt-BR" altLang="pt-BR" sz="1400" dirty="0" err="1">
                <a:solidFill>
                  <a:schemeClr val="tx1"/>
                </a:solidFill>
              </a:rPr>
              <a:t>op</a:t>
            </a:r>
            <a:r>
              <a:rPr lang="pt-BR" altLang="pt-BR" sz="1400" dirty="0">
                <a:solidFill>
                  <a:schemeClr val="tx1"/>
                </a:solidFill>
              </a:rPr>
              <a:t>){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case '+' :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 = num_1+num_2;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</a:t>
            </a: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("\</a:t>
            </a:r>
            <a:r>
              <a:rPr lang="pt-BR" altLang="pt-BR" sz="1400" dirty="0" err="1">
                <a:solidFill>
                  <a:schemeClr val="tx1"/>
                </a:solidFill>
              </a:rPr>
              <a:t>nA</a:t>
            </a:r>
            <a:r>
              <a:rPr lang="pt-BR" altLang="pt-BR" sz="1400" dirty="0">
                <a:solidFill>
                  <a:schemeClr val="tx1"/>
                </a:solidFill>
              </a:rPr>
              <a:t> soma destes </a:t>
            </a:r>
            <a:r>
              <a:rPr lang="pt-BR" altLang="pt-BR" sz="1400" dirty="0" err="1">
                <a:solidFill>
                  <a:schemeClr val="tx1"/>
                </a:solidFill>
              </a:rPr>
              <a:t>numeros</a:t>
            </a:r>
            <a:r>
              <a:rPr lang="pt-BR" altLang="pt-BR" sz="1400" dirty="0">
                <a:solidFill>
                  <a:schemeClr val="tx1"/>
                </a:solidFill>
              </a:rPr>
              <a:t> e' %.2f", 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break;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case '-' :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 = num_1-num_2;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</a:t>
            </a: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("\</a:t>
            </a:r>
            <a:r>
              <a:rPr lang="pt-BR" altLang="pt-BR" sz="1400" dirty="0" err="1">
                <a:solidFill>
                  <a:schemeClr val="tx1"/>
                </a:solidFill>
              </a:rPr>
              <a:t>nA</a:t>
            </a:r>
            <a:r>
              <a:rPr lang="pt-BR" altLang="pt-BR" sz="1400" dirty="0">
                <a:solidFill>
                  <a:schemeClr val="tx1"/>
                </a:solidFill>
              </a:rPr>
              <a:t> </a:t>
            </a:r>
            <a:r>
              <a:rPr lang="pt-BR" altLang="pt-BR" sz="1400" dirty="0" err="1">
                <a:solidFill>
                  <a:schemeClr val="tx1"/>
                </a:solidFill>
              </a:rPr>
              <a:t>subtracao</a:t>
            </a:r>
            <a:r>
              <a:rPr lang="pt-BR" altLang="pt-BR" sz="1400" dirty="0">
                <a:solidFill>
                  <a:schemeClr val="tx1"/>
                </a:solidFill>
              </a:rPr>
              <a:t> destes </a:t>
            </a:r>
            <a:r>
              <a:rPr lang="pt-BR" altLang="pt-BR" sz="1400" dirty="0" err="1">
                <a:solidFill>
                  <a:schemeClr val="tx1"/>
                </a:solidFill>
              </a:rPr>
              <a:t>numeros</a:t>
            </a:r>
            <a:r>
              <a:rPr lang="pt-BR" altLang="pt-BR" sz="1400" dirty="0">
                <a:solidFill>
                  <a:schemeClr val="tx1"/>
                </a:solidFill>
              </a:rPr>
              <a:t> e' %.2f", </a:t>
            </a:r>
            <a:r>
              <a:rPr lang="pt-BR" altLang="pt-BR" sz="1400" dirty="0" err="1">
                <a:solidFill>
                  <a:schemeClr val="tx1"/>
                </a:solidFill>
              </a:rPr>
              <a:t>operacao</a:t>
            </a:r>
            <a:r>
              <a:rPr lang="pt-BR" altLang="pt-BR" sz="14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break;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default  : </a:t>
            </a:r>
            <a:r>
              <a:rPr lang="pt-BR" altLang="pt-BR" sz="1400" dirty="0" err="1">
                <a:solidFill>
                  <a:schemeClr val="tx1"/>
                </a:solidFill>
              </a:rPr>
              <a:t>printf</a:t>
            </a:r>
            <a:r>
              <a:rPr lang="pt-BR" altLang="pt-BR" sz="1400" dirty="0">
                <a:solidFill>
                  <a:schemeClr val="tx1"/>
                </a:solidFill>
              </a:rPr>
              <a:t>("Operador desconhecido\n");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	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398202-D183-40FE-B7EC-3672BACA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6811CCA-9E40-4DD3-815C-AA1D22F8BFD8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27" name="Retângulo 4">
            <a:extLst>
              <a:ext uri="{FF2B5EF4-FFF2-40B4-BE49-F238E27FC236}">
                <a16:creationId xmlns:a16="http://schemas.microsoft.com/office/drawing/2014/main" id="{8FF5FD28-B902-47F9-A465-8F27F2B60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0" y="1220372"/>
            <a:ext cx="8794751" cy="526297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#include &lt;</a:t>
            </a:r>
            <a:r>
              <a:rPr lang="pt-BR" altLang="pt-BR" sz="1600" dirty="0" err="1">
                <a:solidFill>
                  <a:schemeClr val="tx1"/>
                </a:solidFill>
              </a:rPr>
              <a:t>stdio.h</a:t>
            </a:r>
            <a:r>
              <a:rPr lang="pt-BR" altLang="pt-BR" sz="1600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int</a:t>
            </a: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main</a:t>
            </a:r>
            <a:r>
              <a:rPr lang="pt-BR" altLang="pt-BR" sz="1600" dirty="0">
                <a:solidFill>
                  <a:schemeClr val="tx1"/>
                </a:solidFill>
              </a:rPr>
              <a:t>()    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dirty="0">
              <a:solidFill>
                <a:schemeClr val="tx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float</a:t>
            </a:r>
            <a:r>
              <a:rPr lang="pt-BR" altLang="pt-BR" sz="1600" dirty="0">
                <a:solidFill>
                  <a:schemeClr val="tx1"/>
                </a:solidFill>
              </a:rPr>
              <a:t> num_1, num_2, 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char </a:t>
            </a:r>
            <a:r>
              <a:rPr lang="pt-BR" altLang="pt-BR" sz="1600" dirty="0" err="1">
                <a:solidFill>
                  <a:schemeClr val="tx1"/>
                </a:solidFill>
              </a:rPr>
              <a:t>op</a:t>
            </a:r>
            <a:r>
              <a:rPr lang="pt-BR" altLang="pt-BR" sz="1600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("\n Entre com a 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 desejada: (+), (-) 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("%s",&amp;</a:t>
            </a:r>
            <a:r>
              <a:rPr lang="pt-BR" altLang="pt-BR" sz="1600" dirty="0" err="1">
                <a:solidFill>
                  <a:schemeClr val="tx1"/>
                </a:solidFill>
              </a:rPr>
              <a:t>op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("Entre com o 1o. : 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("%f",&amp;num_1);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("Entre com o 2o. Numero: 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("%f",&amp;num_2);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switch(</a:t>
            </a:r>
            <a:r>
              <a:rPr lang="pt-BR" altLang="pt-BR" sz="1600" dirty="0" err="1">
                <a:solidFill>
                  <a:schemeClr val="tx1"/>
                </a:solidFill>
              </a:rPr>
              <a:t>op</a:t>
            </a:r>
            <a:r>
              <a:rPr lang="pt-BR" altLang="pt-BR" sz="1600" dirty="0">
                <a:solidFill>
                  <a:schemeClr val="tx1"/>
                </a:solidFill>
              </a:rPr>
              <a:t>){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case '+' :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 = num_1+num_2;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("\</a:t>
            </a:r>
            <a:r>
              <a:rPr lang="pt-BR" altLang="pt-BR" sz="1600" dirty="0" err="1">
                <a:solidFill>
                  <a:schemeClr val="tx1"/>
                </a:solidFill>
              </a:rPr>
              <a:t>nA</a:t>
            </a:r>
            <a:r>
              <a:rPr lang="pt-BR" altLang="pt-BR" sz="1600" dirty="0">
                <a:solidFill>
                  <a:schemeClr val="tx1"/>
                </a:solidFill>
              </a:rPr>
              <a:t> soma destes </a:t>
            </a:r>
            <a:r>
              <a:rPr lang="pt-BR" altLang="pt-BR" sz="1600" dirty="0" err="1">
                <a:solidFill>
                  <a:schemeClr val="tx1"/>
                </a:solidFill>
              </a:rPr>
              <a:t>numeros</a:t>
            </a:r>
            <a:r>
              <a:rPr lang="pt-BR" altLang="pt-BR" sz="1600" dirty="0">
                <a:solidFill>
                  <a:schemeClr val="tx1"/>
                </a:solidFill>
              </a:rPr>
              <a:t> e' %.2f", 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break;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case '-' :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 = num_1-num_2;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("\</a:t>
            </a:r>
            <a:r>
              <a:rPr lang="pt-BR" altLang="pt-BR" sz="1600" dirty="0" err="1">
                <a:solidFill>
                  <a:schemeClr val="tx1"/>
                </a:solidFill>
              </a:rPr>
              <a:t>nA</a:t>
            </a: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subtracao</a:t>
            </a:r>
            <a:r>
              <a:rPr lang="pt-BR" altLang="pt-BR" sz="1600" dirty="0">
                <a:solidFill>
                  <a:schemeClr val="tx1"/>
                </a:solidFill>
              </a:rPr>
              <a:t> destes </a:t>
            </a:r>
            <a:r>
              <a:rPr lang="pt-BR" altLang="pt-BR" sz="1600" dirty="0" err="1">
                <a:solidFill>
                  <a:schemeClr val="tx1"/>
                </a:solidFill>
              </a:rPr>
              <a:t>numeros</a:t>
            </a:r>
            <a:r>
              <a:rPr lang="pt-BR" altLang="pt-BR" sz="1600" dirty="0">
                <a:solidFill>
                  <a:schemeClr val="tx1"/>
                </a:solidFill>
              </a:rPr>
              <a:t> e' %.2f", </a:t>
            </a:r>
            <a:r>
              <a:rPr lang="pt-BR" altLang="pt-BR" sz="1600" dirty="0" err="1">
                <a:solidFill>
                  <a:schemeClr val="tx1"/>
                </a:solidFill>
              </a:rPr>
              <a:t>operacao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break;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default  : 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("Operador desconhecido\n");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	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ED617-AEFB-4AA0-B2D3-1E1F82B5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4C3F48-EC4A-4476-9CC5-35331EF94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7179" algn="just">
              <a:defRPr/>
            </a:pPr>
            <a:r>
              <a:rPr lang="pt-BR" dirty="0">
                <a:effectLst/>
              </a:rPr>
              <a:t>Escreva um programa em C que utilize a estrutura </a:t>
            </a:r>
            <a:r>
              <a:rPr lang="pt-BR" b="1" dirty="0">
                <a:effectLst/>
              </a:rPr>
              <a:t>FOR</a:t>
            </a:r>
            <a:r>
              <a:rPr lang="pt-BR" dirty="0">
                <a:effectLst/>
              </a:rPr>
              <a:t> para converter temperaturas de 0 a 100 graus Celsius para Fahrenheit e de 0 a 100 Graus Fahrenheit para graus Celsius. Utilize a estrutura  </a:t>
            </a:r>
            <a:r>
              <a:rPr lang="pt-BR" b="1" dirty="0" err="1">
                <a:effectLst/>
              </a:rPr>
              <a:t>if</a:t>
            </a:r>
            <a:r>
              <a:rPr lang="pt-BR" b="1" dirty="0">
                <a:effectLst/>
              </a:rPr>
              <a:t>...</a:t>
            </a:r>
            <a:r>
              <a:rPr lang="pt-BR" b="1" dirty="0" err="1">
                <a:effectLst/>
              </a:rPr>
              <a:t>else</a:t>
            </a:r>
            <a:r>
              <a:rPr lang="pt-BR" dirty="0">
                <a:effectLst/>
              </a:rPr>
              <a:t> para escolher qual conversão se deseja fazer.</a:t>
            </a:r>
          </a:p>
          <a:p>
            <a:pPr marL="0" indent="357179" algn="just">
              <a:defRPr/>
            </a:pPr>
            <a:r>
              <a:rPr lang="pt-BR" dirty="0">
                <a:effectLst/>
              </a:rPr>
              <a:t> Fórmulas: </a:t>
            </a:r>
            <a:r>
              <a:rPr lang="pt-BR" dirty="0" err="1">
                <a:effectLst/>
              </a:rPr>
              <a:t>Fahr</a:t>
            </a:r>
            <a:r>
              <a:rPr lang="pt-BR" dirty="0">
                <a:effectLst/>
              </a:rPr>
              <a:t> = (9.0/5.0) * Celsius+32; 	</a:t>
            </a:r>
          </a:p>
          <a:p>
            <a:pPr marL="0" indent="357179" algn="just">
              <a:defRPr/>
            </a:pPr>
            <a:r>
              <a:rPr lang="pt-BR" dirty="0">
                <a:effectLst/>
              </a:rPr>
              <a:t> Celsius = (5.0/9.0)*(Fahr-32).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CB66F2-B440-45E5-8193-DC98234D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E4398FA-593E-4BF4-8DE5-BFC68443663A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CFBC3-D485-4353-9564-7C6933F0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EA5AF-76BB-4E49-902D-066D6E8B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7179" algn="just">
              <a:defRPr/>
            </a:pPr>
            <a:r>
              <a:rPr lang="pt-PT" dirty="0">
                <a:effectLst/>
              </a:rPr>
              <a:t>Escreva um programa utilizando a estrutura de repetição </a:t>
            </a:r>
            <a:r>
              <a:rPr lang="pt-PT" b="1" dirty="0">
                <a:effectLst/>
              </a:rPr>
              <a:t>for</a:t>
            </a:r>
            <a:r>
              <a:rPr lang="pt-PT" dirty="0">
                <a:effectLst/>
              </a:rPr>
              <a:t>  para calcular a raiz quadrada dos 50 primeiros </a:t>
            </a:r>
            <a:r>
              <a:rPr lang="pt-PT" b="1" dirty="0">
                <a:effectLst/>
              </a:rPr>
              <a:t>números inteiros</a:t>
            </a:r>
            <a:r>
              <a:rPr lang="pt-PT" dirty="0">
                <a:effectLst/>
              </a:rPr>
              <a:t>.  </a:t>
            </a:r>
            <a:endParaRPr lang="pt-BR" dirty="0">
              <a:effectLst/>
            </a:endParaRPr>
          </a:p>
          <a:p>
            <a:pPr marL="0" indent="357179" algn="just">
              <a:defRPr/>
            </a:pPr>
            <a:r>
              <a:rPr lang="pt-PT" dirty="0">
                <a:effectLst/>
              </a:rPr>
              <a:t>Escreva um programa utilizando a estrutura de repetição </a:t>
            </a:r>
            <a:r>
              <a:rPr lang="pt-PT" b="1" dirty="0">
                <a:effectLst/>
              </a:rPr>
              <a:t>do...while</a:t>
            </a:r>
            <a:r>
              <a:rPr lang="pt-PT" dirty="0">
                <a:effectLst/>
              </a:rPr>
              <a:t>  para calcular a raiz quadrada dos 50 primeiros </a:t>
            </a:r>
            <a:r>
              <a:rPr lang="pt-PT" b="1" dirty="0">
                <a:effectLst/>
              </a:rPr>
              <a:t>números inteiros pares</a:t>
            </a:r>
            <a:r>
              <a:rPr lang="pt-PT" dirty="0">
                <a:effectLst/>
              </a:rPr>
              <a:t>. </a:t>
            </a:r>
            <a:endParaRPr lang="pt-BR" dirty="0">
              <a:effectLst/>
            </a:endParaRPr>
          </a:p>
          <a:p>
            <a:pPr marL="0" indent="357179" algn="just">
              <a:defRPr/>
            </a:pPr>
            <a:r>
              <a:rPr lang="pt-PT" dirty="0">
                <a:effectLst/>
              </a:rPr>
              <a:t>Construa um programa utilizando a estrutura </a:t>
            </a:r>
            <a:r>
              <a:rPr lang="pt-PT" b="1" dirty="0">
                <a:effectLst/>
              </a:rPr>
              <a:t>for</a:t>
            </a:r>
            <a:r>
              <a:rPr lang="pt-PT" dirty="0">
                <a:effectLst/>
              </a:rPr>
              <a:t> que determine a soma dos dez primeiros termos da seguinte série: 5, 11, 17, 23.</a:t>
            </a:r>
            <a:endParaRPr lang="pt-BR" dirty="0">
              <a:effectLst/>
            </a:endParaRPr>
          </a:p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7F6343-F827-48E4-9E2E-E8F450C8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6AF9170-4164-48CC-B651-7111F351EC9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82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B207C-F306-46CB-BEEF-B0BA0D75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EA840-A898-41DC-83E9-CCFB11447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412879"/>
            <a:ext cx="11521280" cy="4320378"/>
          </a:xfrm>
        </p:spPr>
        <p:txBody>
          <a:bodyPr/>
          <a:lstStyle/>
          <a:p>
            <a:r>
              <a:rPr lang="pt-BR" dirty="0"/>
              <a:t>Conteúdo: estruturas de decisão e de repetição.</a:t>
            </a:r>
          </a:p>
          <a:p>
            <a:r>
              <a:rPr lang="pt-BR" dirty="0"/>
              <a:t>Faça um programa em linguagem C para obedecer aos seguintes requisitos: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	Apresente para o usuário os 10 primeiros números ímpares e sua soma ou os 10 primeiros números pares. Utilize uma estrutura de decisão “</a:t>
            </a: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else</a:t>
            </a:r>
            <a:r>
              <a:rPr lang="pt-BR" dirty="0"/>
              <a:t>” OU “switch case” para atender à decisão do usuário.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Utilize a estrutura de repetição determinada “for” para fazer os 10 números pares ou os 10 números ímpares.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O programa irá fechar quando o usuário decidir. Utilize uma estrutura de repetição indeterminada do tipo “</a:t>
            </a:r>
            <a:r>
              <a:rPr lang="pt-BR" dirty="0" err="1"/>
              <a:t>while</a:t>
            </a:r>
            <a:r>
              <a:rPr lang="pt-BR" dirty="0"/>
              <a:t>” ou “do...</a:t>
            </a:r>
            <a:r>
              <a:rPr lang="pt-BR" dirty="0" err="1"/>
              <a:t>while</a:t>
            </a:r>
            <a:r>
              <a:rPr lang="pt-BR" dirty="0"/>
              <a:t>” para fechar o aplicativo 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8548AA-0BC2-46AE-9118-BA86E671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83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0580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B207C-F306-46CB-BEEF-B0BA0D75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EA840-A898-41DC-83E9-CCFB11447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412878"/>
            <a:ext cx="11175032" cy="5400501"/>
          </a:xfrm>
        </p:spPr>
        <p:txBody>
          <a:bodyPr/>
          <a:lstStyle/>
          <a:p>
            <a:r>
              <a:rPr lang="pt-BR" dirty="0"/>
              <a:t>Conteúdo: estruturas de decisão e de repetição.</a:t>
            </a:r>
          </a:p>
          <a:p>
            <a:r>
              <a:rPr lang="pt-BR" dirty="0"/>
              <a:t>Faça um programa em linguagem C para obedecer aos seguintes requisitos: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	Faça a conversão de temperatura de graus Celsius para graus Fahrenheit; de graus Fahrenheit para graus Celsius e de graus Celsius para Kelvin utilizando uma estrutura de decisão “</a:t>
            </a: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else</a:t>
            </a:r>
            <a:r>
              <a:rPr lang="pt-BR" dirty="0"/>
              <a:t>” OU “switch case”.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Apresente o resultado da conversão na tela e as variáveis de temperatura têm que ser um número do conjunto dos Reais.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O programa irá fechar quando o usuário decidir. Utilize uma estrutura de decisão do tipo “</a:t>
            </a:r>
            <a:r>
              <a:rPr lang="pt-BR" dirty="0" err="1"/>
              <a:t>while</a:t>
            </a:r>
            <a:r>
              <a:rPr lang="pt-BR" dirty="0"/>
              <a:t>” ou “do...</a:t>
            </a:r>
            <a:r>
              <a:rPr lang="pt-BR" dirty="0" err="1"/>
              <a:t>while</a:t>
            </a:r>
            <a:r>
              <a:rPr lang="pt-BR" dirty="0"/>
              <a:t>”.</a:t>
            </a:r>
          </a:p>
          <a:p>
            <a:pPr algn="just">
              <a:buClrTx/>
              <a:buSzPct val="100000"/>
              <a:buFont typeface="+mj-lt"/>
              <a:buAutoNum type="arabicPeriod"/>
            </a:pPr>
            <a:r>
              <a:rPr lang="pt-BR" dirty="0"/>
              <a:t>As equações de conversão são: 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  <a:ea typeface="Calibri" panose="020F0502020204030204" pitchFamily="34" charset="0"/>
              </a:rPr>
              <a:t>F=(9*C + 160)/5  ou F = (9.0 / 5.0) * C +32; ou F = 1,8 * C + 32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  <a:ea typeface="Calibri" panose="020F0502020204030204" pitchFamily="34" charset="0"/>
              </a:rPr>
              <a:t>C = (5*F - 160)/9  ou C = ( 5.0 / 9.0 ) * ( F – 32 ); </a:t>
            </a:r>
          </a:p>
          <a:p>
            <a:pPr marL="914377" lvl="1" indent="-457189" algn="just">
              <a:buFont typeface="+mj-lt"/>
              <a:buAutoNum type="alphaLcParenR"/>
            </a:pPr>
            <a:r>
              <a:rPr lang="pt-BR" sz="1600" dirty="0">
                <a:effectLst/>
                <a:latin typeface="+mj-lt"/>
              </a:rPr>
              <a:t>K=C+273</a:t>
            </a:r>
            <a:endParaRPr lang="pt-BR" sz="1600" dirty="0">
              <a:latin typeface="+mj-lt"/>
            </a:endParaRPr>
          </a:p>
          <a:p>
            <a:pPr algn="just">
              <a:buClrTx/>
              <a:buSzPct val="100000"/>
              <a:buFont typeface="+mj-lt"/>
              <a:buAutoNum type="arabicPeriod"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8548AA-0BC2-46AE-9118-BA86E671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84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4550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D86F2-1FFC-49E4-ACFE-CB203222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Módulo 3 exercício 9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CF3B92-7FF5-448B-A832-CFA412FDB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75A095-8694-4876-955A-D6AA91DE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4EC14EA-17D6-43B3-844A-9828A87D577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6501" name="Rectangle 1">
            <a:extLst>
              <a:ext uri="{FF2B5EF4-FFF2-40B4-BE49-F238E27FC236}">
                <a16:creationId xmlns:a16="http://schemas.microsoft.com/office/drawing/2014/main" id="{879DE937-DA83-460F-B20E-AAEEBB075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541" y="1454979"/>
            <a:ext cx="736451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No que se refere a forma de declaração de um laço for, é correto afirmar:</a:t>
            </a:r>
            <a:endParaRPr lang="en-US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 (i=1 ; i&lt;5 ; i++)    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 printf("O valor é %d ", i+4);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B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for(i=1 , i&lt;5 , i++)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printf(“O valor é: %d ”, i+4)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C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for(i=1; i&lt;5 , i ++)   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      printf(“O valor é %d ” ; i+4);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D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for(i=1 ,  i&lt;5 ,  i++);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      printf(“O valor é %d”, i+4);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E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for(i=1 ; i&lt;5 ; i++);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>
                <a:latin typeface="Times New Roman" panose="02020603050405020304" pitchFamily="18" charset="0"/>
                <a:cs typeface="Times New Roman" panose="02020603050405020304" pitchFamily="18" charset="0"/>
              </a:rPr>
              <a:t>        printf(“O valor é %d”, i+4);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D10525A-9694-4E75-9985-44A9FB923D96}"/>
              </a:ext>
            </a:extLst>
          </p:cNvPr>
          <p:cNvSpPr/>
          <p:nvPr/>
        </p:nvSpPr>
        <p:spPr bwMode="auto">
          <a:xfrm>
            <a:off x="1981204" y="1752601"/>
            <a:ext cx="3609975" cy="369332"/>
          </a:xfrm>
          <a:prstGeom prst="rect">
            <a:avLst/>
          </a:prstGeom>
          <a:solidFill>
            <a:srgbClr val="009999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6A8938E-C980-48C9-8F44-5BBD33114AB5}"/>
              </a:ext>
            </a:extLst>
          </p:cNvPr>
          <p:cNvSpPr/>
          <p:nvPr/>
        </p:nvSpPr>
        <p:spPr bwMode="auto">
          <a:xfrm>
            <a:off x="2711452" y="2784476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0EC69B4-5E53-4618-948F-56A17F5DB562}"/>
              </a:ext>
            </a:extLst>
          </p:cNvPr>
          <p:cNvSpPr/>
          <p:nvPr/>
        </p:nvSpPr>
        <p:spPr bwMode="auto">
          <a:xfrm>
            <a:off x="3219452" y="2798764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E261EA9-2C46-4D9E-B829-41FF686CCDCE}"/>
              </a:ext>
            </a:extLst>
          </p:cNvPr>
          <p:cNvSpPr/>
          <p:nvPr/>
        </p:nvSpPr>
        <p:spPr bwMode="auto">
          <a:xfrm>
            <a:off x="3140077" y="3549651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9FE1A39-A4B7-4431-8052-7FACFCBA3F2D}"/>
              </a:ext>
            </a:extLst>
          </p:cNvPr>
          <p:cNvSpPr/>
          <p:nvPr/>
        </p:nvSpPr>
        <p:spPr bwMode="auto">
          <a:xfrm>
            <a:off x="2794003" y="4419601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AB98699-DD1E-49BA-A6F3-1617C3B66978}"/>
              </a:ext>
            </a:extLst>
          </p:cNvPr>
          <p:cNvSpPr/>
          <p:nvPr/>
        </p:nvSpPr>
        <p:spPr bwMode="auto">
          <a:xfrm>
            <a:off x="3308354" y="4427539"/>
            <a:ext cx="182563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8296E9F-827F-4C9C-A053-E0824AF0790C}"/>
              </a:ext>
            </a:extLst>
          </p:cNvPr>
          <p:cNvSpPr/>
          <p:nvPr/>
        </p:nvSpPr>
        <p:spPr bwMode="auto">
          <a:xfrm>
            <a:off x="3816354" y="4419601"/>
            <a:ext cx="182563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0C298E3-4F8E-441D-87D9-799ED99DE2E3}"/>
              </a:ext>
            </a:extLst>
          </p:cNvPr>
          <p:cNvSpPr/>
          <p:nvPr/>
        </p:nvSpPr>
        <p:spPr bwMode="auto">
          <a:xfrm>
            <a:off x="3794128" y="5199064"/>
            <a:ext cx="184151" cy="369332"/>
          </a:xfrm>
          <a:prstGeom prst="rect">
            <a:avLst/>
          </a:prstGeom>
          <a:solidFill>
            <a:srgbClr val="FF0000">
              <a:alpha val="41961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1213279-FF50-4611-A774-D6AF22E0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017F89E-EB18-4A37-81FE-D2D65DC97396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7523" name="Retângulo 2">
            <a:extLst>
              <a:ext uri="{FF2B5EF4-FFF2-40B4-BE49-F238E27FC236}">
                <a16:creationId xmlns:a16="http://schemas.microsoft.com/office/drawing/2014/main" id="{6E3637B3-B8F9-41F0-8A62-8F1E2419C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411291"/>
            <a:ext cx="6750051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Qual saída produzida pela execução do laço seguinte?</a:t>
            </a:r>
            <a:endParaRPr lang="pt-BR" altLang="pt-BR">
              <a:latin typeface="Times New Roman" panose="02020603050405020304" pitchFamily="18" charset="0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#include&lt;stdio.h&gt;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#include&lt;stdlib.h&gt;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#include&lt;string.h&gt;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#include&lt;conio.h&gt;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void main()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int conta=0;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int total=0;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while (conta&lt;10) 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      total+=conta;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      printf("conta = %d, total= %d \n", conta++, total);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      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    getche();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0DD4581-8380-457C-9D80-B6796D813F1B}"/>
              </a:ext>
            </a:extLst>
          </p:cNvPr>
          <p:cNvSpPr txBox="1">
            <a:spLocks/>
          </p:cNvSpPr>
          <p:nvPr/>
        </p:nvSpPr>
        <p:spPr>
          <a:xfrm>
            <a:off x="1981200" y="725488"/>
            <a:ext cx="8229600" cy="1371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pPr>
              <a:defRPr/>
            </a:pPr>
            <a:r>
              <a:rPr lang="pt-BR" kern="0" dirty="0"/>
              <a:t>Módulo 3 exercício 10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C9C41AE-C9FC-47D1-9C4F-88EED760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DCE691C-96F2-44BD-99CC-9C52944DD2FA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3328824-E9E7-4B88-8B59-C06C92A6E740}"/>
              </a:ext>
            </a:extLst>
          </p:cNvPr>
          <p:cNvSpPr txBox="1">
            <a:spLocks/>
          </p:cNvSpPr>
          <p:nvPr/>
        </p:nvSpPr>
        <p:spPr>
          <a:xfrm>
            <a:off x="1981200" y="725488"/>
            <a:ext cx="8229600" cy="1371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defRPr>
            </a:lvl9pPr>
          </a:lstStyle>
          <a:p>
            <a:pPr>
              <a:defRPr/>
            </a:pPr>
            <a:r>
              <a:rPr lang="pt-BR" kern="0" dirty="0"/>
              <a:t>Módulo 3 </a:t>
            </a:r>
            <a:r>
              <a:rPr lang="pt-BR" kern="0"/>
              <a:t>exercício 10</a:t>
            </a:r>
            <a:endParaRPr lang="pt-BR" kern="0" dirty="0"/>
          </a:p>
        </p:txBody>
      </p:sp>
      <p:sp>
        <p:nvSpPr>
          <p:cNvPr id="108548" name="Rectangle 1">
            <a:extLst>
              <a:ext uri="{FF2B5EF4-FFF2-40B4-BE49-F238E27FC236}">
                <a16:creationId xmlns:a16="http://schemas.microsoft.com/office/drawing/2014/main" id="{34FE2B6A-7046-4711-A005-FB0A70E8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75" y="725459"/>
            <a:ext cx="280828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A 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1,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2,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3,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4,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5,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6, total= 21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/>
              <a:t>conta = 7, total= 28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conta = 8, total= 36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conta = 9, total= 45</a:t>
            </a:r>
          </a:p>
        </p:txBody>
      </p:sp>
      <p:sp>
        <p:nvSpPr>
          <p:cNvPr id="108549" name="Retângulo 5">
            <a:extLst>
              <a:ext uri="{FF2B5EF4-FFF2-40B4-BE49-F238E27FC236}">
                <a16:creationId xmlns:a16="http://schemas.microsoft.com/office/drawing/2014/main" id="{BB3CFBBF-A639-4CE9-8F2F-3C50B8FE4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6" y="1031879"/>
            <a:ext cx="25019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B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0, total= 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2,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3,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4,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5,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6,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7, total= 21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8, total= 28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9, total= 36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10, total= 45</a:t>
            </a:r>
          </a:p>
        </p:txBody>
      </p:sp>
      <p:sp>
        <p:nvSpPr>
          <p:cNvPr id="108550" name="Retângulo 6">
            <a:extLst>
              <a:ext uri="{FF2B5EF4-FFF2-40B4-BE49-F238E27FC236}">
                <a16:creationId xmlns:a16="http://schemas.microsoft.com/office/drawing/2014/main" id="{43BB6398-213A-42A1-AAB3-330AED7B1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117" y="714379"/>
            <a:ext cx="2281237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0,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1, total= 2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2,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3,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4,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5,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6, total= 21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7, total= 28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8, total= 36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9, total= 45</a:t>
            </a:r>
          </a:p>
        </p:txBody>
      </p:sp>
      <p:sp>
        <p:nvSpPr>
          <p:cNvPr id="108551" name="Retângulo 7">
            <a:extLst>
              <a:ext uri="{FF2B5EF4-FFF2-40B4-BE49-F238E27FC236}">
                <a16:creationId xmlns:a16="http://schemas.microsoft.com/office/drawing/2014/main" id="{C9603E88-EBC9-4598-AAD9-951334EBD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4577" y="3721102"/>
            <a:ext cx="2154239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D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0, total= 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1,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2,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3,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4,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5,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6, total= 20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7, total= 20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8, total= 30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9, total= 40</a:t>
            </a:r>
          </a:p>
        </p:txBody>
      </p:sp>
      <p:sp>
        <p:nvSpPr>
          <p:cNvPr id="108552" name="Retângulo 8">
            <a:extLst>
              <a:ext uri="{FF2B5EF4-FFF2-40B4-BE49-F238E27FC236}">
                <a16:creationId xmlns:a16="http://schemas.microsoft.com/office/drawing/2014/main" id="{2D6E4F90-1638-4970-B65A-3F35C8201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717" y="3714754"/>
            <a:ext cx="2617787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E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0, total= 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1, total= 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2, total= 3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3, total= 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4, total= 10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5, total= 15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6, total= 21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7, total= 28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8, total= 36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latin typeface="Times New Roman" panose="02020603050405020304" pitchFamily="18" charset="0"/>
              </a:rPr>
              <a:t>conta = 9, total= 45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FC0044E-3DC7-499D-806F-D4C07C283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292" y="3292479"/>
            <a:ext cx="4162425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15D6F-6A09-369C-0C68-3E4C1058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890E2B0-E771-4821-AE3E-24397FBD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144B-F5AC-45C6-AD42-115683CD4F04}" type="slidenum">
              <a:rPr lang="pt-BR" smtClean="0"/>
              <a:pPr>
                <a:defRPr/>
              </a:pPr>
              <a:t>88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C1EC92-2C79-BDA7-A04E-FE30A8C06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412776"/>
            <a:ext cx="5735114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415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E0466-3F49-7F2F-E662-D2AD62CA7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Complementares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419684-0F61-8001-9CBE-5B72C944E1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Exercícios do livro página 78 if...else e switch...case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1F8635-F11C-1CB6-F713-5B43A24C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89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2319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2FAF66F-E87B-2435-8C1E-98A62E83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90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B39938-CB5F-55DF-68B4-6F2C8EADA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463617"/>
            <a:ext cx="6941361" cy="462967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1D4C526-88D6-57B4-D4D0-48AA1BB9F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58" y="764704"/>
            <a:ext cx="6648683" cy="462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2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22FD8-192C-B3A3-A345-1D05692B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2CF211-4557-7DEA-620B-E31386B9D1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Complementares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DDCA67-714E-C833-B2AC-CE13CD1351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Exercícios do livro página 98 até 103</a:t>
            </a:r>
          </a:p>
          <a:p>
            <a:r>
              <a:rPr lang="pt-BR" dirty="0"/>
              <a:t> laços de repetição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9FDFCB-D99C-CA64-0714-178B1EDD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91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40099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32396CE-9986-CAC8-C351-61E20052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92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7CA5A5-5801-041E-AF62-55FC0C657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980728"/>
            <a:ext cx="5319713" cy="29622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9D5EF66-4945-CE44-A768-7E5184E1F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65" y="1916832"/>
            <a:ext cx="6413227" cy="462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6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Texturizado">
  <a:themeElements>
    <a:clrScheme name="Texturizad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izad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lnDef>
  </a:objectDefaults>
  <a:extraClrSchemeLst>
    <a:extraClrScheme>
      <a:clrScheme name="Texturizad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izad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1A93D2CB35614FA45893B80519B5BE" ma:contentTypeVersion="7" ma:contentTypeDescription="Crie um novo documento." ma:contentTypeScope="" ma:versionID="d5819fe5c110c5934286adf054d8c361">
  <xsd:schema xmlns:xsd="http://www.w3.org/2001/XMLSchema" xmlns:xs="http://www.w3.org/2001/XMLSchema" xmlns:p="http://schemas.microsoft.com/office/2006/metadata/properties" xmlns:ns2="d4266379-08b9-4d9e-9b69-a807b6d0c153" targetNamespace="http://schemas.microsoft.com/office/2006/metadata/properties" ma:root="true" ma:fieldsID="e76dccc702da44555f125f79004340bd" ns2:_="">
    <xsd:import namespace="d4266379-08b9-4d9e-9b69-a807b6d0c1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66379-08b9-4d9e-9b69-a807b6d0c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19FF0F-201D-4F23-B739-9897747A1CC7}"/>
</file>

<file path=customXml/itemProps2.xml><?xml version="1.0" encoding="utf-8"?>
<ds:datastoreItem xmlns:ds="http://schemas.openxmlformats.org/officeDocument/2006/customXml" ds:itemID="{6D720C13-F4AD-4431-A82D-0522E7CAC9E5}"/>
</file>

<file path=customXml/itemProps3.xml><?xml version="1.0" encoding="utf-8"?>
<ds:datastoreItem xmlns:ds="http://schemas.openxmlformats.org/officeDocument/2006/customXml" ds:itemID="{1B77AE5D-05CF-49F4-BC62-737EB7D0216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52265</TotalTime>
  <Words>8802</Words>
  <Application>Microsoft Office PowerPoint</Application>
  <PresentationFormat>Widescreen</PresentationFormat>
  <Paragraphs>1213</Paragraphs>
  <Slides>92</Slides>
  <Notes>59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92</vt:i4>
      </vt:variant>
    </vt:vector>
  </HeadingPairs>
  <TitlesOfParts>
    <vt:vector size="99" baseType="lpstr">
      <vt:lpstr>SimSun</vt:lpstr>
      <vt:lpstr>Arial</vt:lpstr>
      <vt:lpstr>Tahoma</vt:lpstr>
      <vt:lpstr>Times New Roman</vt:lpstr>
      <vt:lpstr>Wingdings</vt:lpstr>
      <vt:lpstr>1_Texturizado</vt:lpstr>
      <vt:lpstr>Figura</vt:lpstr>
      <vt:lpstr>Linguagem de Programação em C</vt:lpstr>
      <vt:lpstr>2. ESTRUTURAS BÁSICAS EM C</vt:lpstr>
      <vt:lpstr> 2.5 - Expressões aritméticas e lógicas;  Operadores Aritméticos</vt:lpstr>
      <vt:lpstr> 2.5 - Expressões aritméticas e lógicas;  Operadores Aritméticos</vt:lpstr>
      <vt:lpstr>Operadores Incrementais</vt:lpstr>
      <vt:lpstr>Apresentação do PowerPoint</vt:lpstr>
      <vt:lpstr> 2.5 - Expressões aritméticas e lógicas;  Operadores Incrementais </vt:lpstr>
      <vt:lpstr>Apresentação do PowerPoint</vt:lpstr>
      <vt:lpstr> 2.5 - Expressões aritméticas e lógicas Operadores Incrementais </vt:lpstr>
      <vt:lpstr>Expressões aritméticas e lógicas;  Operadores Incrementais </vt:lpstr>
      <vt:lpstr>Apresentação do PowerPoint</vt:lpstr>
      <vt:lpstr>Apresentação do PowerPoint</vt:lpstr>
      <vt:lpstr>Expressões aritméticas e lógicas  Operadores relacionais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Linguagem de Programação C</vt:lpstr>
      <vt:lpstr>Apresentação do PowerPoint</vt:lpstr>
      <vt:lpstr>Unidade 3 - Estruturas condicionais e de repetição </vt:lpstr>
      <vt:lpstr>3.1 - Estruturas condicionais   if...else </vt:lpstr>
      <vt:lpstr>3.1 - Estruturas condicionais  </vt:lpstr>
      <vt:lpstr>3.1 - Estruturas condicionais   if</vt:lpstr>
      <vt:lpstr>3.1 - Estruturas condicionais   if...else</vt:lpstr>
      <vt:lpstr>3.1 - Estruturas condicionais: if...else</vt:lpstr>
      <vt:lpstr>3.1 - Estruturas condicionais: if...else</vt:lpstr>
      <vt:lpstr>3.1 - Estruturas condicionais: if...else</vt:lpstr>
      <vt:lpstr>3.1 - Estruturas condicionais: if...else</vt:lpstr>
      <vt:lpstr>3.1 - Estruturas condicionais: if...else</vt:lpstr>
      <vt:lpstr>3.1 - Estruturas condicionais: if...else</vt:lpstr>
      <vt:lpstr>Exercícios</vt:lpstr>
      <vt:lpstr>3.1 - Estruturas condicionais: if...else</vt:lpstr>
      <vt:lpstr>3.1 - Estruturas condicionais: if...else Exercícios</vt:lpstr>
      <vt:lpstr>3.1 - Estruturas condicionais: if...else Exercícios</vt:lpstr>
      <vt:lpstr>3.1 - Estruturas condicionais: if...else Exercícios</vt:lpstr>
      <vt:lpstr>3.1 - Estruturas condicionais: if...else Exercícios</vt:lpstr>
      <vt:lpstr>3.1 - Estruturas condicionais: if...else Exercícios</vt:lpstr>
      <vt:lpstr>         Pág. 55</vt:lpstr>
      <vt:lpstr>Apresentação do PowerPoint</vt:lpstr>
      <vt:lpstr>Apresentação do PowerPoint</vt:lpstr>
      <vt:lpstr>3.1 - Estruturas condicionais: switch...case </vt:lpstr>
      <vt:lpstr>3.1 - Estruturas condicionais: switch...case </vt:lpstr>
      <vt:lpstr>3.1 - Estruturas condicionais: switch...case </vt:lpstr>
      <vt:lpstr>Apresentação do PowerPoint</vt:lpstr>
      <vt:lpstr>3.1 - Estruturas condicionais: switch...case </vt:lpstr>
      <vt:lpstr>Exercícios</vt:lpstr>
      <vt:lpstr>3.1 - Estruturas condicionais: switch...case </vt:lpstr>
      <vt:lpstr>Exercício</vt:lpstr>
      <vt:lpstr>Apresentação do PowerPoint</vt:lpstr>
      <vt:lpstr>Apresentação do PowerPoint</vt:lpstr>
      <vt:lpstr>3.2 - Estruturas de repetição (for, while, do...while):  Condição de controle </vt:lpstr>
      <vt:lpstr>3.2 - Estruturas de repetição (for, while, do...while):  Condição de controle </vt:lpstr>
      <vt:lpstr>3.2 - Estruturas de repetição (for, while, do...while): Condição de controle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do...while</vt:lpstr>
      <vt:lpstr>3.2 - Estruturas de repetição: while</vt:lpstr>
      <vt:lpstr>3.2 - Estruturas de repetição: while</vt:lpstr>
      <vt:lpstr>3.2 - Estruturas de repetição: while</vt:lpstr>
      <vt:lpstr>3.2 - Estruturas de repetição: while</vt:lpstr>
      <vt:lpstr>Login e senha</vt:lpstr>
      <vt:lpstr>3.2 - Estruturas de repetição: for </vt:lpstr>
      <vt:lpstr>3.2 - Estruturas de repetição: for</vt:lpstr>
      <vt:lpstr>3.2 - Estruturas de repetição: for</vt:lpstr>
      <vt:lpstr>3.2 - Estruturas de repetição: for</vt:lpstr>
      <vt:lpstr>3.2 - Estruturas de repetição: for</vt:lpstr>
      <vt:lpstr>3.2 - Estruturas de repetição: for</vt:lpstr>
      <vt:lpstr>3.2 - Estruturas de repetição: for</vt:lpstr>
      <vt:lpstr>Exercícios</vt:lpstr>
      <vt:lpstr>Exercício</vt:lpstr>
      <vt:lpstr>Exercícios</vt:lpstr>
      <vt:lpstr>Apresentação do PowerPoint</vt:lpstr>
      <vt:lpstr>Exercícios</vt:lpstr>
      <vt:lpstr>Exercícios</vt:lpstr>
      <vt:lpstr>Exercício</vt:lpstr>
      <vt:lpstr>Exercício</vt:lpstr>
      <vt:lpstr>Módulo 3 exercício 9</vt:lpstr>
      <vt:lpstr>Apresentação do PowerPoint</vt:lpstr>
      <vt:lpstr>Apresentação do PowerPoint</vt:lpstr>
      <vt:lpstr>Apresentação do PowerPoint</vt:lpstr>
      <vt:lpstr>Complementares</vt:lpstr>
      <vt:lpstr>Apresentação do PowerPoint</vt:lpstr>
      <vt:lpstr>Complementares</vt:lpstr>
      <vt:lpstr>Apresentação do PowerPoint</vt:lpstr>
    </vt:vector>
  </TitlesOfParts>
  <Company>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INSTITUTO TECNOLOGICO DE AERO</dc:creator>
  <cp:lastModifiedBy>Pedro Carlos Euphrásio</cp:lastModifiedBy>
  <cp:revision>760</cp:revision>
  <dcterms:created xsi:type="dcterms:W3CDTF">2003-07-17T00:20:49Z</dcterms:created>
  <dcterms:modified xsi:type="dcterms:W3CDTF">2025-09-08T17:02:15Z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0x010100C31A93D2CB35614FA45893B80519B5BE</vt:lpwstr>
  </property>
</Properties>
</file>