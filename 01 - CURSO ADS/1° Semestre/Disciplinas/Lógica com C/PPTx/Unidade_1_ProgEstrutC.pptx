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40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85"/>
  </p:notesMasterIdLst>
  <p:handoutMasterIdLst>
    <p:handoutMasterId r:id="rId86"/>
  </p:handoutMasterIdLst>
  <p:sldIdLst>
    <p:sldId id="1058" r:id="rId2"/>
    <p:sldId id="1062" r:id="rId3"/>
    <p:sldId id="1063" r:id="rId4"/>
    <p:sldId id="1064" r:id="rId5"/>
    <p:sldId id="1065" r:id="rId6"/>
    <p:sldId id="1060" r:id="rId7"/>
    <p:sldId id="1059" r:id="rId8"/>
    <p:sldId id="1056" r:id="rId9"/>
    <p:sldId id="1057" r:id="rId10"/>
    <p:sldId id="1068" r:id="rId11"/>
    <p:sldId id="671" r:id="rId12"/>
    <p:sldId id="682" r:id="rId13"/>
    <p:sldId id="1004" r:id="rId14"/>
    <p:sldId id="1005" r:id="rId15"/>
    <p:sldId id="1066" r:id="rId16"/>
    <p:sldId id="1006" r:id="rId17"/>
    <p:sldId id="1067" r:id="rId18"/>
    <p:sldId id="784" r:id="rId19"/>
    <p:sldId id="786" r:id="rId20"/>
    <p:sldId id="787" r:id="rId21"/>
    <p:sldId id="952" r:id="rId22"/>
    <p:sldId id="797" r:id="rId23"/>
    <p:sldId id="798" r:id="rId24"/>
    <p:sldId id="800" r:id="rId25"/>
    <p:sldId id="802" r:id="rId26"/>
    <p:sldId id="803" r:id="rId27"/>
    <p:sldId id="1008" r:id="rId28"/>
    <p:sldId id="1009" r:id="rId29"/>
    <p:sldId id="827" r:id="rId30"/>
    <p:sldId id="807" r:id="rId31"/>
    <p:sldId id="820" r:id="rId32"/>
    <p:sldId id="821" r:id="rId33"/>
    <p:sldId id="1069" r:id="rId34"/>
    <p:sldId id="817" r:id="rId35"/>
    <p:sldId id="1054" r:id="rId36"/>
    <p:sldId id="1055" r:id="rId37"/>
    <p:sldId id="818" r:id="rId38"/>
    <p:sldId id="962" r:id="rId39"/>
    <p:sldId id="718" r:id="rId40"/>
    <p:sldId id="829" r:id="rId41"/>
    <p:sldId id="830" r:id="rId42"/>
    <p:sldId id="831" r:id="rId43"/>
    <p:sldId id="832" r:id="rId44"/>
    <p:sldId id="1041" r:id="rId45"/>
    <p:sldId id="1042" r:id="rId46"/>
    <p:sldId id="1043" r:id="rId47"/>
    <p:sldId id="840" r:id="rId48"/>
    <p:sldId id="841" r:id="rId49"/>
    <p:sldId id="953" r:id="rId50"/>
    <p:sldId id="1071" r:id="rId51"/>
    <p:sldId id="1072" r:id="rId52"/>
    <p:sldId id="1051" r:id="rId53"/>
    <p:sldId id="801" r:id="rId54"/>
    <p:sldId id="1052" r:id="rId55"/>
    <p:sldId id="809" r:id="rId56"/>
    <p:sldId id="810" r:id="rId57"/>
    <p:sldId id="811" r:id="rId58"/>
    <p:sldId id="1073" r:id="rId59"/>
    <p:sldId id="812" r:id="rId60"/>
    <p:sldId id="808" r:id="rId61"/>
    <p:sldId id="1074" r:id="rId62"/>
    <p:sldId id="866" r:id="rId63"/>
    <p:sldId id="1075" r:id="rId64"/>
    <p:sldId id="964" r:id="rId65"/>
    <p:sldId id="967" r:id="rId66"/>
    <p:sldId id="966" r:id="rId67"/>
    <p:sldId id="822" r:id="rId68"/>
    <p:sldId id="823" r:id="rId69"/>
    <p:sldId id="824" r:id="rId70"/>
    <p:sldId id="1076" r:id="rId71"/>
    <p:sldId id="1037" r:id="rId72"/>
    <p:sldId id="1077" r:id="rId73"/>
    <p:sldId id="1078" r:id="rId74"/>
    <p:sldId id="723" r:id="rId75"/>
    <p:sldId id="868" r:id="rId76"/>
    <p:sldId id="870" r:id="rId77"/>
    <p:sldId id="871" r:id="rId78"/>
    <p:sldId id="872" r:id="rId79"/>
    <p:sldId id="873" r:id="rId80"/>
    <p:sldId id="874" r:id="rId81"/>
    <p:sldId id="875" r:id="rId82"/>
    <p:sldId id="876" r:id="rId83"/>
    <p:sldId id="1012" r:id="rId8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C0000"/>
    <a:srgbClr val="009999"/>
    <a:srgbClr val="009900"/>
    <a:srgbClr val="00E7E2"/>
    <a:srgbClr val="00B0AC"/>
    <a:srgbClr val="BDD2E9"/>
    <a:srgbClr val="FF66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437" autoAdjust="0"/>
  </p:normalViewPr>
  <p:slideViewPr>
    <p:cSldViewPr>
      <p:cViewPr varScale="1">
        <p:scale>
          <a:sx n="70" d="100"/>
          <a:sy n="70" d="100"/>
        </p:scale>
        <p:origin x="1046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9411"/>
    </p:cViewPr>
  </p:sorterViewPr>
  <p:notesViewPr>
    <p:cSldViewPr>
      <p:cViewPr varScale="1">
        <p:scale>
          <a:sx n="53" d="100"/>
          <a:sy n="53" d="100"/>
        </p:scale>
        <p:origin x="-184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93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9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customXml" Target="../customXml/item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C3E22C5-49E1-4DF9-A545-47B5ABA4B3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4C96268-F3F4-4C0C-89B6-86229C956BF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678E64E3-BDC3-4441-B398-3532D9575F2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7F415B9C-90A4-4E66-BC5C-89CD68EDEA8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D2E1B55-8E05-40DE-8E40-0F12E932A465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64E1D65-247C-484B-856C-160A63D121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ECB6F90-5B74-4F9A-AAD0-FA3C91A4960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45E03E4-2B1D-447F-9D08-7BA3061BAD2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ABE83A7C-00F0-4571-ABA6-641FFB2F8F0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 noProof="0"/>
              <a:t>Click to edit Master text styles</a:t>
            </a:r>
          </a:p>
          <a:p>
            <a:pPr lvl="1"/>
            <a:r>
              <a:rPr lang="en-US" altLang="pt-BR" noProof="0"/>
              <a:t>Second level</a:t>
            </a:r>
          </a:p>
          <a:p>
            <a:pPr lvl="2"/>
            <a:r>
              <a:rPr lang="en-US" altLang="pt-BR" noProof="0"/>
              <a:t>Third level</a:t>
            </a:r>
          </a:p>
          <a:p>
            <a:pPr lvl="3"/>
            <a:r>
              <a:rPr lang="en-US" altLang="pt-BR" noProof="0"/>
              <a:t>Fourth level</a:t>
            </a:r>
          </a:p>
          <a:p>
            <a:pPr lvl="4"/>
            <a:r>
              <a:rPr lang="en-US" altLang="pt-BR" noProof="0"/>
              <a:t>Fifth level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2AED54D6-B7D6-4FA9-8A90-C49ED5442B3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48D815C7-6E7F-487A-A288-6610E6D1C3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F18CBD4-2DB1-436D-B016-CD34C691980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49010975-9B2E-4181-9665-9DC3AE3D53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240BF3F-3732-445E-8503-A3776CD039C5}" type="slidenum">
              <a:rPr lang="en-US" altLang="pt-BR" smtClean="0">
                <a:latin typeface="Times New Roman" panose="02020603050405020304" pitchFamily="18" charset="0"/>
              </a:rPr>
              <a:pPr/>
              <a:t>11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755F0E77-D14B-4CCF-BA6D-79C27BE582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4DB32A4D-4B80-4001-A2A7-A21792CD59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406D708E-D619-4881-ABDD-EAF045ECD9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4FB9036-B2AF-48FB-A597-69E22A85AB78}" type="slidenum">
              <a:rPr lang="en-US" altLang="pt-BR" smtClean="0">
                <a:latin typeface="Times New Roman" panose="02020603050405020304" pitchFamily="18" charset="0"/>
              </a:rPr>
              <a:pPr/>
              <a:t>12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6F72D1C3-E723-4716-BA67-3F76723C47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94F329CC-3D82-403F-B0EB-DFF399042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406D708E-D619-4881-ABDD-EAF045ECD9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4FB9036-B2AF-48FB-A597-69E22A85AB78}" type="slidenum">
              <a:rPr lang="en-US" altLang="pt-BR" smtClean="0">
                <a:latin typeface="Times New Roman" panose="02020603050405020304" pitchFamily="18" charset="0"/>
              </a:rPr>
              <a:pPr/>
              <a:t>13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6F72D1C3-E723-4716-BA67-3F76723C47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94F329CC-3D82-403F-B0EB-DFF399042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70557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406D708E-D619-4881-ABDD-EAF045ECD9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4FB9036-B2AF-48FB-A597-69E22A85AB78}" type="slidenum">
              <a:rPr lang="en-US" altLang="pt-BR" smtClean="0">
                <a:latin typeface="Times New Roman" panose="02020603050405020304" pitchFamily="18" charset="0"/>
              </a:rPr>
              <a:pPr/>
              <a:t>14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6F72D1C3-E723-4716-BA67-3F76723C47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94F329CC-3D82-403F-B0EB-DFF399042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45913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12608-AF83-BF7C-3E78-5C15FBE6B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77E57879-4F2C-9942-C963-89A85DB553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4FB9036-B2AF-48FB-A597-69E22A85AB78}" type="slidenum">
              <a:rPr lang="en-US" altLang="pt-BR" smtClean="0">
                <a:latin typeface="Times New Roman" panose="02020603050405020304" pitchFamily="18" charset="0"/>
              </a:rPr>
              <a:pPr/>
              <a:t>15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32A8A2E7-E822-63D4-9737-2F2335AF16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2427CD23-0E56-064E-89A3-EF86468FBD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74600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406D708E-D619-4881-ABDD-EAF045ECD9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4FB9036-B2AF-48FB-A597-69E22A85AB78}" type="slidenum">
              <a:rPr lang="en-US" altLang="pt-BR" smtClean="0">
                <a:latin typeface="Times New Roman" panose="02020603050405020304" pitchFamily="18" charset="0"/>
              </a:rPr>
              <a:pPr/>
              <a:t>16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6F72D1C3-E723-4716-BA67-3F76723C47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94F329CC-3D82-403F-B0EB-DFF399042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90471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6A940-731D-F48F-9AB8-F376FD62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F7C60DCF-A2E3-4565-9901-5005F0924A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4FB9036-B2AF-48FB-A597-69E22A85AB78}" type="slidenum">
              <a:rPr lang="en-US" altLang="pt-BR" smtClean="0">
                <a:latin typeface="Times New Roman" panose="02020603050405020304" pitchFamily="18" charset="0"/>
              </a:rPr>
              <a:pPr/>
              <a:t>17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3928222D-3A7B-0FD0-A7EE-645FB0E24A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5F71FD4B-1B87-B501-2DD3-2DCA4201E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71341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>
            <a:extLst>
              <a:ext uri="{FF2B5EF4-FFF2-40B4-BE49-F238E27FC236}">
                <a16:creationId xmlns:a16="http://schemas.microsoft.com/office/drawing/2014/main" id="{3D8DA2DA-6F68-4585-A3A4-069E1810248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85168C5-07C2-4450-A5AA-93C15A69C703}" type="slidenum">
              <a:rPr lang="en-US" altLang="pt-BR"/>
              <a:pPr algn="r" eaLnBrk="1" hangingPunct="1">
                <a:spcBef>
                  <a:spcPct val="0"/>
                </a:spcBef>
              </a:pPr>
              <a:t>18</a:t>
            </a:fld>
            <a:endParaRPr lang="en-US" altLang="pt-BR"/>
          </a:p>
        </p:txBody>
      </p:sp>
      <p:sp>
        <p:nvSpPr>
          <p:cNvPr id="179203" name="Rectangle 2">
            <a:extLst>
              <a:ext uri="{FF2B5EF4-FFF2-40B4-BE49-F238E27FC236}">
                <a16:creationId xmlns:a16="http://schemas.microsoft.com/office/drawing/2014/main" id="{AE1FC419-3722-4C93-81F0-26F07D45BC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9204" name="Rectangle 3">
            <a:extLst>
              <a:ext uri="{FF2B5EF4-FFF2-40B4-BE49-F238E27FC236}">
                <a16:creationId xmlns:a16="http://schemas.microsoft.com/office/drawing/2014/main" id="{9FD3ABD6-2923-4121-BB4A-7FD29F5BF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pt-BR" altLang="pt-BR" b="1"/>
              <a:t>Susceptível a argumentos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>
            <a:extLst>
              <a:ext uri="{FF2B5EF4-FFF2-40B4-BE49-F238E27FC236}">
                <a16:creationId xmlns:a16="http://schemas.microsoft.com/office/drawing/2014/main" id="{686441B1-DA74-449E-A548-5C600A247D5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32980E0-5766-438E-B8D7-8C9B0EC040B6}" type="slidenum">
              <a:rPr lang="en-US" altLang="pt-BR"/>
              <a:pPr algn="r" eaLnBrk="1" hangingPunct="1">
                <a:spcBef>
                  <a:spcPct val="0"/>
                </a:spcBef>
              </a:pPr>
              <a:t>19</a:t>
            </a:fld>
            <a:endParaRPr lang="en-US" altLang="pt-BR"/>
          </a:p>
        </p:txBody>
      </p:sp>
      <p:sp>
        <p:nvSpPr>
          <p:cNvPr id="183299" name="Rectangle 2">
            <a:extLst>
              <a:ext uri="{FF2B5EF4-FFF2-40B4-BE49-F238E27FC236}">
                <a16:creationId xmlns:a16="http://schemas.microsoft.com/office/drawing/2014/main" id="{D2D9539B-E0C3-4F83-B9D6-6CF27BEA11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3300" name="Rectangle 3">
            <a:extLst>
              <a:ext uri="{FF2B5EF4-FFF2-40B4-BE49-F238E27FC236}">
                <a16:creationId xmlns:a16="http://schemas.microsoft.com/office/drawing/2014/main" id="{534B68EB-E116-4EC7-925A-2B5DC1483E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DBBA51D1-7077-497E-85B2-19E8AE7B22F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756913F-8906-454A-8A95-FF4EE9CD76FB}" type="slidenum">
              <a:rPr lang="en-US" altLang="pt-BR"/>
              <a:pPr algn="r" eaLnBrk="1" hangingPunct="1">
                <a:spcBef>
                  <a:spcPct val="0"/>
                </a:spcBef>
              </a:pPr>
              <a:t>20</a:t>
            </a:fld>
            <a:endParaRPr lang="en-US" altLang="pt-BR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97A7F9D6-BFFA-4510-AEAF-A22C4C3C2E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7B93317D-7730-4485-B4E3-1DE20D115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DBBA51D1-7077-497E-85B2-19E8AE7B22F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756913F-8906-454A-8A95-FF4EE9CD76FB}" type="slidenum">
              <a:rPr lang="en-US" altLang="pt-BR"/>
              <a:pPr algn="r" eaLnBrk="1" hangingPunct="1">
                <a:spcBef>
                  <a:spcPct val="0"/>
                </a:spcBef>
              </a:pPr>
              <a:t>21</a:t>
            </a:fld>
            <a:endParaRPr lang="en-US" altLang="pt-BR"/>
          </a:p>
        </p:txBody>
      </p:sp>
      <p:sp>
        <p:nvSpPr>
          <p:cNvPr id="185347" name="Rectangle 2">
            <a:extLst>
              <a:ext uri="{FF2B5EF4-FFF2-40B4-BE49-F238E27FC236}">
                <a16:creationId xmlns:a16="http://schemas.microsoft.com/office/drawing/2014/main" id="{97A7F9D6-BFFA-4510-AEAF-A22C4C3C2E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5348" name="Rectangle 3">
            <a:extLst>
              <a:ext uri="{FF2B5EF4-FFF2-40B4-BE49-F238E27FC236}">
                <a16:creationId xmlns:a16="http://schemas.microsoft.com/office/drawing/2014/main" id="{7B93317D-7730-4485-B4E3-1DE20D115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52428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>
            <a:extLst>
              <a:ext uri="{FF2B5EF4-FFF2-40B4-BE49-F238E27FC236}">
                <a16:creationId xmlns:a16="http://schemas.microsoft.com/office/drawing/2014/main" id="{238405B6-1076-4531-B111-AFF7173A90C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6106116-C6CB-41E0-A820-F3A5F669A8A5}" type="slidenum">
              <a:rPr lang="en-US" altLang="pt-BR"/>
              <a:pPr algn="r" eaLnBrk="1" hangingPunct="1">
                <a:spcBef>
                  <a:spcPct val="0"/>
                </a:spcBef>
              </a:pPr>
              <a:t>24</a:t>
            </a:fld>
            <a:endParaRPr lang="en-US" altLang="pt-BR"/>
          </a:p>
        </p:txBody>
      </p:sp>
      <p:sp>
        <p:nvSpPr>
          <p:cNvPr id="197635" name="Rectangle 2">
            <a:extLst>
              <a:ext uri="{FF2B5EF4-FFF2-40B4-BE49-F238E27FC236}">
                <a16:creationId xmlns:a16="http://schemas.microsoft.com/office/drawing/2014/main" id="{2B981D98-2B59-471D-B4C3-B0162507A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7636" name="Rectangle 3">
            <a:extLst>
              <a:ext uri="{FF2B5EF4-FFF2-40B4-BE49-F238E27FC236}">
                <a16:creationId xmlns:a16="http://schemas.microsoft.com/office/drawing/2014/main" id="{F692C4A5-7A9A-4AF2-AE33-B84F4217E0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>
            <a:extLst>
              <a:ext uri="{FF2B5EF4-FFF2-40B4-BE49-F238E27FC236}">
                <a16:creationId xmlns:a16="http://schemas.microsoft.com/office/drawing/2014/main" id="{A586EA74-65A1-4AF6-9038-D6A6B4C161B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DEA3D84-E073-4A26-A14F-093125D19083}" type="slidenum">
              <a:rPr lang="en-US" altLang="pt-BR"/>
              <a:pPr algn="r" eaLnBrk="1" hangingPunct="1">
                <a:spcBef>
                  <a:spcPct val="0"/>
                </a:spcBef>
              </a:pPr>
              <a:t>25</a:t>
            </a:fld>
            <a:endParaRPr lang="en-US" altLang="pt-BR"/>
          </a:p>
        </p:txBody>
      </p:sp>
      <p:sp>
        <p:nvSpPr>
          <p:cNvPr id="201731" name="Rectangle 2">
            <a:extLst>
              <a:ext uri="{FF2B5EF4-FFF2-40B4-BE49-F238E27FC236}">
                <a16:creationId xmlns:a16="http://schemas.microsoft.com/office/drawing/2014/main" id="{4965912C-0378-49AE-8722-7125CDE76C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1732" name="Rectangle 3">
            <a:extLst>
              <a:ext uri="{FF2B5EF4-FFF2-40B4-BE49-F238E27FC236}">
                <a16:creationId xmlns:a16="http://schemas.microsoft.com/office/drawing/2014/main" id="{13CC67DD-1965-4699-84AF-07C46DA304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>
            <a:extLst>
              <a:ext uri="{FF2B5EF4-FFF2-40B4-BE49-F238E27FC236}">
                <a16:creationId xmlns:a16="http://schemas.microsoft.com/office/drawing/2014/main" id="{2D22B875-414A-49D2-90C9-C5A7C7BBEB0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A05CB89-C37A-4B4D-9270-FF8FDD7A7F10}" type="slidenum">
              <a:rPr lang="en-US" altLang="pt-BR"/>
              <a:pPr algn="r" eaLnBrk="1" hangingPunct="1">
                <a:spcBef>
                  <a:spcPct val="0"/>
                </a:spcBef>
              </a:pPr>
              <a:t>26</a:t>
            </a:fld>
            <a:endParaRPr lang="en-US" altLang="pt-BR"/>
          </a:p>
        </p:txBody>
      </p:sp>
      <p:sp>
        <p:nvSpPr>
          <p:cNvPr id="203779" name="Rectangle 2">
            <a:extLst>
              <a:ext uri="{FF2B5EF4-FFF2-40B4-BE49-F238E27FC236}">
                <a16:creationId xmlns:a16="http://schemas.microsoft.com/office/drawing/2014/main" id="{0CEE8D28-4D18-4714-8584-2A4EDF4ADE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3780" name="Rectangle 3">
            <a:extLst>
              <a:ext uri="{FF2B5EF4-FFF2-40B4-BE49-F238E27FC236}">
                <a16:creationId xmlns:a16="http://schemas.microsoft.com/office/drawing/2014/main" id="{9CCE1C11-67B5-4332-A015-0D01BFEBF4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18CBD4-2DB1-436D-B016-CD34C6919802}" type="slidenum">
              <a:rPr lang="en-US" altLang="pt-BR" smtClean="0"/>
              <a:pPr>
                <a:defRPr/>
              </a:pPr>
              <a:t>29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59788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>
            <a:extLst>
              <a:ext uri="{FF2B5EF4-FFF2-40B4-BE49-F238E27FC236}">
                <a16:creationId xmlns:a16="http://schemas.microsoft.com/office/drawing/2014/main" id="{C5303AB3-6600-456B-941B-CDBF3E7EEC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283" name="Rectangle 3">
            <a:extLst>
              <a:ext uri="{FF2B5EF4-FFF2-40B4-BE49-F238E27FC236}">
                <a16:creationId xmlns:a16="http://schemas.microsoft.com/office/drawing/2014/main" id="{81399D14-6CB6-4A1E-BF9D-5C263DA68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31953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EC40-F57B-2A8D-002C-74D0109E4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>
            <a:extLst>
              <a:ext uri="{FF2B5EF4-FFF2-40B4-BE49-F238E27FC236}">
                <a16:creationId xmlns:a16="http://schemas.microsoft.com/office/drawing/2014/main" id="{6F64999C-363A-2F2D-CFBC-6905EAF90E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283" name="Rectangle 3">
            <a:extLst>
              <a:ext uri="{FF2B5EF4-FFF2-40B4-BE49-F238E27FC236}">
                <a16:creationId xmlns:a16="http://schemas.microsoft.com/office/drawing/2014/main" id="{222D7526-EFDD-1173-4F92-092BC83D72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291288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E9ABB-AC2F-C9F5-57A9-71C87477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>
            <a:extLst>
              <a:ext uri="{FF2B5EF4-FFF2-40B4-BE49-F238E27FC236}">
                <a16:creationId xmlns:a16="http://schemas.microsoft.com/office/drawing/2014/main" id="{E700EBAE-564D-B22B-5AC2-55DD581941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283" name="Rectangle 3">
            <a:extLst>
              <a:ext uri="{FF2B5EF4-FFF2-40B4-BE49-F238E27FC236}">
                <a16:creationId xmlns:a16="http://schemas.microsoft.com/office/drawing/2014/main" id="{2DAB332A-8E25-DA95-935E-474E3CA7C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89465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>
            <a:extLst>
              <a:ext uri="{FF2B5EF4-FFF2-40B4-BE49-F238E27FC236}">
                <a16:creationId xmlns:a16="http://schemas.microsoft.com/office/drawing/2014/main" id="{90BF4D33-AE30-4506-B311-89182C8985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E261758C-1AC3-4C3A-BF84-6C50DE7C3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615242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143DEBA7-268E-4A7A-8E31-3326B5BCC5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A49BFC7-C2B0-4E81-9E3D-F9FC9E2FAD9E}" type="slidenum">
              <a:rPr lang="en-US" altLang="pt-BR" smtClean="0">
                <a:latin typeface="Times New Roman" panose="02020603050405020304" pitchFamily="18" charset="0"/>
              </a:rPr>
              <a:pPr/>
              <a:t>39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7364AA41-3FB4-41D5-9368-22447BBBE5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59E8AE87-179B-4C9C-9A32-4D310B6D5A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969265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>
            <a:extLst>
              <a:ext uri="{FF2B5EF4-FFF2-40B4-BE49-F238E27FC236}">
                <a16:creationId xmlns:a16="http://schemas.microsoft.com/office/drawing/2014/main" id="{77408CCD-2654-4167-8B94-124C07F77D7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A6424C7-6C24-491A-B13B-F8EC698B8861}" type="slidenum">
              <a:rPr lang="en-US" altLang="pt-BR"/>
              <a:pPr algn="r" eaLnBrk="1" hangingPunct="1">
                <a:spcBef>
                  <a:spcPct val="0"/>
                </a:spcBef>
              </a:pPr>
              <a:t>43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40616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>
            <a:extLst>
              <a:ext uri="{FF2B5EF4-FFF2-40B4-BE49-F238E27FC236}">
                <a16:creationId xmlns:a16="http://schemas.microsoft.com/office/drawing/2014/main" id="{77408CCD-2654-4167-8B94-124C07F77D7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A6424C7-6C24-491A-B13B-F8EC698B8861}" type="slidenum">
              <a:rPr lang="en-US" altLang="pt-BR"/>
              <a:pPr algn="r" eaLnBrk="1" hangingPunct="1">
                <a:spcBef>
                  <a:spcPct val="0"/>
                </a:spcBef>
              </a:pPr>
              <a:t>44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88470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>
            <a:extLst>
              <a:ext uri="{FF2B5EF4-FFF2-40B4-BE49-F238E27FC236}">
                <a16:creationId xmlns:a16="http://schemas.microsoft.com/office/drawing/2014/main" id="{77408CCD-2654-4167-8B94-124C07F77D7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A6424C7-6C24-491A-B13B-F8EC698B8861}" type="slidenum">
              <a:rPr lang="en-US" altLang="pt-BR"/>
              <a:pPr algn="r" eaLnBrk="1" hangingPunct="1">
                <a:spcBef>
                  <a:spcPct val="0"/>
                </a:spcBef>
              </a:pPr>
              <a:t>45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471171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>
            <a:extLst>
              <a:ext uri="{FF2B5EF4-FFF2-40B4-BE49-F238E27FC236}">
                <a16:creationId xmlns:a16="http://schemas.microsoft.com/office/drawing/2014/main" id="{77408CCD-2654-4167-8B94-124C07F77D7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A6424C7-6C24-491A-B13B-F8EC698B8861}" type="slidenum">
              <a:rPr lang="en-US" altLang="pt-BR"/>
              <a:pPr algn="r" eaLnBrk="1" hangingPunct="1">
                <a:spcBef>
                  <a:spcPct val="0"/>
                </a:spcBef>
              </a:pPr>
              <a:t>46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21921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7">
            <a:extLst>
              <a:ext uri="{FF2B5EF4-FFF2-40B4-BE49-F238E27FC236}">
                <a16:creationId xmlns:a16="http://schemas.microsoft.com/office/drawing/2014/main" id="{EC0470B1-5AA6-4CA1-A7AF-58D38E1E3C9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8BD59CC-EE4C-4567-B245-686D282F56B8}" type="slidenum">
              <a:rPr lang="en-US" altLang="pt-BR"/>
              <a:pPr algn="r" eaLnBrk="1" hangingPunct="1">
                <a:spcBef>
                  <a:spcPct val="0"/>
                </a:spcBef>
              </a:pPr>
              <a:t>47</a:t>
            </a:fld>
            <a:endParaRPr lang="en-US" altLang="pt-BR"/>
          </a:p>
        </p:txBody>
      </p:sp>
      <p:sp>
        <p:nvSpPr>
          <p:cNvPr id="245763" name="Rectangle 2">
            <a:extLst>
              <a:ext uri="{FF2B5EF4-FFF2-40B4-BE49-F238E27FC236}">
                <a16:creationId xmlns:a16="http://schemas.microsoft.com/office/drawing/2014/main" id="{B866C1BC-E582-412A-803E-34F5225296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764" name="Rectangle 3">
            <a:extLst>
              <a:ext uri="{FF2B5EF4-FFF2-40B4-BE49-F238E27FC236}">
                <a16:creationId xmlns:a16="http://schemas.microsoft.com/office/drawing/2014/main" id="{F3A69C27-B17F-4F72-8CCC-267D85BF8A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890289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7">
            <a:extLst>
              <a:ext uri="{FF2B5EF4-FFF2-40B4-BE49-F238E27FC236}">
                <a16:creationId xmlns:a16="http://schemas.microsoft.com/office/drawing/2014/main" id="{F0D457FF-3D02-4624-A28E-AAD87FBE4FF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6999198-D9E5-4D2D-AC32-780EF0F5F850}" type="slidenum">
              <a:rPr lang="en-US" altLang="pt-BR"/>
              <a:pPr algn="r" eaLnBrk="1" hangingPunct="1">
                <a:spcBef>
                  <a:spcPct val="0"/>
                </a:spcBef>
              </a:pPr>
              <a:t>48</a:t>
            </a:fld>
            <a:endParaRPr lang="en-US" altLang="pt-BR"/>
          </a:p>
        </p:txBody>
      </p:sp>
      <p:sp>
        <p:nvSpPr>
          <p:cNvPr id="247811" name="Rectangle 2">
            <a:extLst>
              <a:ext uri="{FF2B5EF4-FFF2-40B4-BE49-F238E27FC236}">
                <a16:creationId xmlns:a16="http://schemas.microsoft.com/office/drawing/2014/main" id="{510C2F4D-0722-4060-B061-1A61606C6D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7812" name="Rectangle 3">
            <a:extLst>
              <a:ext uri="{FF2B5EF4-FFF2-40B4-BE49-F238E27FC236}">
                <a16:creationId xmlns:a16="http://schemas.microsoft.com/office/drawing/2014/main" id="{E752AA26-A1AC-4EF1-A208-6FF866ECB3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051850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7">
            <a:extLst>
              <a:ext uri="{FF2B5EF4-FFF2-40B4-BE49-F238E27FC236}">
                <a16:creationId xmlns:a16="http://schemas.microsoft.com/office/drawing/2014/main" id="{F0D457FF-3D02-4624-A28E-AAD87FBE4FF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6999198-D9E5-4D2D-AC32-780EF0F5F850}" type="slidenum">
              <a:rPr lang="en-US" altLang="pt-BR"/>
              <a:pPr algn="r" eaLnBrk="1" hangingPunct="1">
                <a:spcBef>
                  <a:spcPct val="0"/>
                </a:spcBef>
              </a:pPr>
              <a:t>49</a:t>
            </a:fld>
            <a:endParaRPr lang="en-US" altLang="pt-BR"/>
          </a:p>
        </p:txBody>
      </p:sp>
      <p:sp>
        <p:nvSpPr>
          <p:cNvPr id="247811" name="Rectangle 2">
            <a:extLst>
              <a:ext uri="{FF2B5EF4-FFF2-40B4-BE49-F238E27FC236}">
                <a16:creationId xmlns:a16="http://schemas.microsoft.com/office/drawing/2014/main" id="{510C2F4D-0722-4060-B061-1A61606C6D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7812" name="Rectangle 3">
            <a:extLst>
              <a:ext uri="{FF2B5EF4-FFF2-40B4-BE49-F238E27FC236}">
                <a16:creationId xmlns:a16="http://schemas.microsoft.com/office/drawing/2014/main" id="{E752AA26-A1AC-4EF1-A208-6FF866ECB3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432043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>
            <a:extLst>
              <a:ext uri="{FF2B5EF4-FFF2-40B4-BE49-F238E27FC236}">
                <a16:creationId xmlns:a16="http://schemas.microsoft.com/office/drawing/2014/main" id="{40BC5CCB-0345-458E-96DF-E51FF7C1483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377A6D9-B32D-48EB-AF81-BCDFAE9C8A13}" type="slidenum">
              <a:rPr lang="en-US" altLang="pt-BR"/>
              <a:pPr algn="r" eaLnBrk="1" hangingPunct="1">
                <a:spcBef>
                  <a:spcPct val="0"/>
                </a:spcBef>
              </a:pPr>
              <a:t>53</a:t>
            </a:fld>
            <a:endParaRPr lang="en-US" altLang="pt-BR"/>
          </a:p>
        </p:txBody>
      </p:sp>
      <p:sp>
        <p:nvSpPr>
          <p:cNvPr id="199683" name="Rectangle 2">
            <a:extLst>
              <a:ext uri="{FF2B5EF4-FFF2-40B4-BE49-F238E27FC236}">
                <a16:creationId xmlns:a16="http://schemas.microsoft.com/office/drawing/2014/main" id="{91C9D5A0-60B3-4183-B30D-FA2C0E054E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9684" name="Rectangle 3">
            <a:extLst>
              <a:ext uri="{FF2B5EF4-FFF2-40B4-BE49-F238E27FC236}">
                <a16:creationId xmlns:a16="http://schemas.microsoft.com/office/drawing/2014/main" id="{5CCE60AE-87E9-4039-AE4B-F44DC4516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846448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454E9-1658-9F1E-9A79-D5BB899DB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>
            <a:extLst>
              <a:ext uri="{FF2B5EF4-FFF2-40B4-BE49-F238E27FC236}">
                <a16:creationId xmlns:a16="http://schemas.microsoft.com/office/drawing/2014/main" id="{CFFBAB39-ACB6-BC09-6187-E207784A24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47C86EE-CC00-48A0-B7B1-A4BAF96C1F83}" type="slidenum">
              <a:rPr lang="en-US" altLang="pt-BR" smtClean="0"/>
              <a:pPr>
                <a:spcBef>
                  <a:spcPct val="0"/>
                </a:spcBef>
              </a:pPr>
              <a:t>54</a:t>
            </a:fld>
            <a:endParaRPr lang="en-US" altLang="pt-BR"/>
          </a:p>
        </p:txBody>
      </p:sp>
      <p:sp>
        <p:nvSpPr>
          <p:cNvPr id="206851" name="Rectangle 2">
            <a:extLst>
              <a:ext uri="{FF2B5EF4-FFF2-40B4-BE49-F238E27FC236}">
                <a16:creationId xmlns:a16="http://schemas.microsoft.com/office/drawing/2014/main" id="{EBA1ACAA-CDCF-CB8F-40C8-096A53638C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6852" name="Rectangle 3">
            <a:extLst>
              <a:ext uri="{FF2B5EF4-FFF2-40B4-BE49-F238E27FC236}">
                <a16:creationId xmlns:a16="http://schemas.microsoft.com/office/drawing/2014/main" id="{F4B84309-74AE-3689-2EAE-4C49BCB32D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993079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>
            <a:extLst>
              <a:ext uri="{FF2B5EF4-FFF2-40B4-BE49-F238E27FC236}">
                <a16:creationId xmlns:a16="http://schemas.microsoft.com/office/drawing/2014/main" id="{B4B54F7A-1DD1-4E2E-82D0-B8A820A799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5AA0405-CA90-48E6-A0B8-7792B7A49DCB}" type="slidenum">
              <a:rPr lang="en-US" altLang="pt-BR" smtClean="0"/>
              <a:pPr>
                <a:spcBef>
                  <a:spcPct val="0"/>
                </a:spcBef>
              </a:pPr>
              <a:t>55</a:t>
            </a:fld>
            <a:endParaRPr lang="en-US" altLang="pt-BR"/>
          </a:p>
        </p:txBody>
      </p:sp>
      <p:sp>
        <p:nvSpPr>
          <p:cNvPr id="208899" name="Rectangle 2">
            <a:extLst>
              <a:ext uri="{FF2B5EF4-FFF2-40B4-BE49-F238E27FC236}">
                <a16:creationId xmlns:a16="http://schemas.microsoft.com/office/drawing/2014/main" id="{DBFBCD4C-A8C2-4EE7-8C1E-24829D4F3B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8900" name="Rectangle 3">
            <a:extLst>
              <a:ext uri="{FF2B5EF4-FFF2-40B4-BE49-F238E27FC236}">
                <a16:creationId xmlns:a16="http://schemas.microsoft.com/office/drawing/2014/main" id="{BBF6A017-5FE7-4A2E-BF1D-C59A48CAC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583310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>
            <a:extLst>
              <a:ext uri="{FF2B5EF4-FFF2-40B4-BE49-F238E27FC236}">
                <a16:creationId xmlns:a16="http://schemas.microsoft.com/office/drawing/2014/main" id="{A28BEE67-5655-4549-BD67-98EC9FBD5B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7AB7B67-999A-4D9B-89DD-EB8F05289165}" type="slidenum">
              <a:rPr lang="en-US" altLang="pt-BR" smtClean="0"/>
              <a:pPr>
                <a:spcBef>
                  <a:spcPct val="0"/>
                </a:spcBef>
              </a:pPr>
              <a:t>56</a:t>
            </a:fld>
            <a:endParaRPr lang="en-US" altLang="pt-BR"/>
          </a:p>
        </p:txBody>
      </p:sp>
      <p:sp>
        <p:nvSpPr>
          <p:cNvPr id="210947" name="Rectangle 2">
            <a:extLst>
              <a:ext uri="{FF2B5EF4-FFF2-40B4-BE49-F238E27FC236}">
                <a16:creationId xmlns:a16="http://schemas.microsoft.com/office/drawing/2014/main" id="{68F9683C-D6CC-4C73-873D-D11B164A28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0948" name="Rectangle 3">
            <a:extLst>
              <a:ext uri="{FF2B5EF4-FFF2-40B4-BE49-F238E27FC236}">
                <a16:creationId xmlns:a16="http://schemas.microsoft.com/office/drawing/2014/main" id="{4AE628A2-1FBF-49EB-A7B0-352088A6BE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5425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>
            <a:extLst>
              <a:ext uri="{FF2B5EF4-FFF2-40B4-BE49-F238E27FC236}">
                <a16:creationId xmlns:a16="http://schemas.microsoft.com/office/drawing/2014/main" id="{0D17AA18-2F77-42C2-B5C0-EE67127E34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E4D04F-76B8-4306-944D-1E0BC133A4CD}" type="slidenum">
              <a:rPr lang="en-US" altLang="pt-BR" smtClean="0"/>
              <a:pPr>
                <a:spcBef>
                  <a:spcPct val="0"/>
                </a:spcBef>
              </a:pPr>
              <a:t>57</a:t>
            </a:fld>
            <a:endParaRPr lang="en-US" altLang="pt-BR"/>
          </a:p>
        </p:txBody>
      </p:sp>
      <p:sp>
        <p:nvSpPr>
          <p:cNvPr id="212995" name="Rectangle 2">
            <a:extLst>
              <a:ext uri="{FF2B5EF4-FFF2-40B4-BE49-F238E27FC236}">
                <a16:creationId xmlns:a16="http://schemas.microsoft.com/office/drawing/2014/main" id="{A083976C-C047-4552-B85B-A3E502C25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2996" name="Rectangle 3">
            <a:extLst>
              <a:ext uri="{FF2B5EF4-FFF2-40B4-BE49-F238E27FC236}">
                <a16:creationId xmlns:a16="http://schemas.microsoft.com/office/drawing/2014/main" id="{FB0C083D-3A31-4BB7-8B94-3CFA78893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379299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06BD8-76FD-440D-AAA7-8D5686C6F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>
            <a:extLst>
              <a:ext uri="{FF2B5EF4-FFF2-40B4-BE49-F238E27FC236}">
                <a16:creationId xmlns:a16="http://schemas.microsoft.com/office/drawing/2014/main" id="{1F95D3B0-04EB-F3A7-FB2F-7B02571EDC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E4D04F-76B8-4306-944D-1E0BC133A4CD}" type="slidenum">
              <a:rPr lang="en-US" altLang="pt-BR" smtClean="0"/>
              <a:pPr>
                <a:spcBef>
                  <a:spcPct val="0"/>
                </a:spcBef>
              </a:pPr>
              <a:t>58</a:t>
            </a:fld>
            <a:endParaRPr lang="en-US" altLang="pt-BR"/>
          </a:p>
        </p:txBody>
      </p:sp>
      <p:sp>
        <p:nvSpPr>
          <p:cNvPr id="212995" name="Rectangle 2">
            <a:extLst>
              <a:ext uri="{FF2B5EF4-FFF2-40B4-BE49-F238E27FC236}">
                <a16:creationId xmlns:a16="http://schemas.microsoft.com/office/drawing/2014/main" id="{BD8C2592-3CFB-A661-B0C9-3305FCA02A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2996" name="Rectangle 3">
            <a:extLst>
              <a:ext uri="{FF2B5EF4-FFF2-40B4-BE49-F238E27FC236}">
                <a16:creationId xmlns:a16="http://schemas.microsoft.com/office/drawing/2014/main" id="{637512DE-AFA9-1255-694D-08329DE390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296507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7">
            <a:extLst>
              <a:ext uri="{FF2B5EF4-FFF2-40B4-BE49-F238E27FC236}">
                <a16:creationId xmlns:a16="http://schemas.microsoft.com/office/drawing/2014/main" id="{A2483922-3AB2-4B58-ACA8-F64A80DEE6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310B477-F6BE-40BC-8EB4-8E7B9365C91F}" type="slidenum">
              <a:rPr lang="en-US" altLang="pt-BR" smtClean="0"/>
              <a:pPr>
                <a:spcBef>
                  <a:spcPct val="0"/>
                </a:spcBef>
              </a:pPr>
              <a:t>59</a:t>
            </a:fld>
            <a:endParaRPr lang="en-US" altLang="pt-BR"/>
          </a:p>
        </p:txBody>
      </p:sp>
      <p:sp>
        <p:nvSpPr>
          <p:cNvPr id="215043" name="Rectangle 2">
            <a:extLst>
              <a:ext uri="{FF2B5EF4-FFF2-40B4-BE49-F238E27FC236}">
                <a16:creationId xmlns:a16="http://schemas.microsoft.com/office/drawing/2014/main" id="{CE1465BA-C7DF-457E-88B2-C498371FE4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5044" name="Rectangle 3">
            <a:extLst>
              <a:ext uri="{FF2B5EF4-FFF2-40B4-BE49-F238E27FC236}">
                <a16:creationId xmlns:a16="http://schemas.microsoft.com/office/drawing/2014/main" id="{BD08593D-CBBD-42EA-9E2B-EFB3BB9EA4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832645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>
            <a:extLst>
              <a:ext uri="{FF2B5EF4-FFF2-40B4-BE49-F238E27FC236}">
                <a16:creationId xmlns:a16="http://schemas.microsoft.com/office/drawing/2014/main" id="{67B34F56-78B4-4DBE-B296-415210A8E9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47C86EE-CC00-48A0-B7B1-A4BAF96C1F83}" type="slidenum">
              <a:rPr lang="en-US" altLang="pt-BR" smtClean="0"/>
              <a:pPr>
                <a:spcBef>
                  <a:spcPct val="0"/>
                </a:spcBef>
              </a:pPr>
              <a:t>60</a:t>
            </a:fld>
            <a:endParaRPr lang="en-US" altLang="pt-BR"/>
          </a:p>
        </p:txBody>
      </p:sp>
      <p:sp>
        <p:nvSpPr>
          <p:cNvPr id="206851" name="Rectangle 2">
            <a:extLst>
              <a:ext uri="{FF2B5EF4-FFF2-40B4-BE49-F238E27FC236}">
                <a16:creationId xmlns:a16="http://schemas.microsoft.com/office/drawing/2014/main" id="{7A4DDE3A-DBF0-456A-9955-2D9BB3C4E6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6852" name="Rectangle 3">
            <a:extLst>
              <a:ext uri="{FF2B5EF4-FFF2-40B4-BE49-F238E27FC236}">
                <a16:creationId xmlns:a16="http://schemas.microsoft.com/office/drawing/2014/main" id="{00994366-E8B7-47A6-9AC4-4B8E58E086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76681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BF950-74C3-31ED-434D-A555DB37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>
            <a:extLst>
              <a:ext uri="{FF2B5EF4-FFF2-40B4-BE49-F238E27FC236}">
                <a16:creationId xmlns:a16="http://schemas.microsoft.com/office/drawing/2014/main" id="{07162B54-8EF3-F0F2-CE24-2BDFAFAFEDE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A6424C7-6C24-491A-B13B-F8EC698B8861}" type="slidenum">
              <a:rPr lang="en-US" altLang="pt-BR"/>
              <a:pPr algn="r" eaLnBrk="1" hangingPunct="1">
                <a:spcBef>
                  <a:spcPct val="0"/>
                </a:spcBef>
              </a:pPr>
              <a:t>61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3825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E26BAAB6-D746-45A0-99B6-0E4C2B3A27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EE7AD5C9-9693-48B5-8552-C1A3255A42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919238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73102-ABAC-E4F2-C9E7-0360CA2B9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7">
            <a:extLst>
              <a:ext uri="{FF2B5EF4-FFF2-40B4-BE49-F238E27FC236}">
                <a16:creationId xmlns:a16="http://schemas.microsoft.com/office/drawing/2014/main" id="{A3ADB099-8662-817F-E763-CBB1DBB14A1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3D472EE-E67B-4D3A-8D47-62FDF37F347A}" type="slidenum">
              <a:rPr lang="en-US" altLang="pt-BR"/>
              <a:pPr algn="r" eaLnBrk="1" hangingPunct="1">
                <a:spcBef>
                  <a:spcPct val="0"/>
                </a:spcBef>
              </a:pPr>
              <a:t>63</a:t>
            </a:fld>
            <a:endParaRPr lang="en-US" altLang="pt-BR"/>
          </a:p>
        </p:txBody>
      </p:sp>
      <p:sp>
        <p:nvSpPr>
          <p:cNvPr id="217091" name="Rectangle 2">
            <a:extLst>
              <a:ext uri="{FF2B5EF4-FFF2-40B4-BE49-F238E27FC236}">
                <a16:creationId xmlns:a16="http://schemas.microsoft.com/office/drawing/2014/main" id="{10EBA03C-8C02-567F-D2B3-39FACD7138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7092" name="Rectangle 3">
            <a:extLst>
              <a:ext uri="{FF2B5EF4-FFF2-40B4-BE49-F238E27FC236}">
                <a16:creationId xmlns:a16="http://schemas.microsoft.com/office/drawing/2014/main" id="{939CAD2E-D9B6-3EC5-48D5-77BFA8D85D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31880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1072633B-7E19-41BD-ACE9-BDA9311A7A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305C3A9-B981-4671-B790-6EE4A512CA93}" type="slidenum">
              <a:rPr lang="en-US" altLang="pt-BR" smtClean="0">
                <a:latin typeface="Times New Roman" panose="02020603050405020304" pitchFamily="18" charset="0"/>
              </a:rPr>
              <a:pPr/>
              <a:t>64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0C52694D-3A8F-4577-BC4C-C2E33108B0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3D5BCBEF-E837-44F6-BBF0-47A9CF67DF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414852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2F16924A-F083-45F2-9DD6-C30C1F21B8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0703613-76D2-4024-B8E1-17DB7FFA4D02}" type="slidenum">
              <a:rPr lang="en-US" altLang="pt-BR" smtClean="0">
                <a:latin typeface="Times New Roman" panose="02020603050405020304" pitchFamily="18" charset="0"/>
              </a:rPr>
              <a:pPr/>
              <a:t>66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8FEF9B58-65EA-4AC6-9B6B-F395C44547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490E9C50-C022-4EC0-BAE1-33DF9A0F54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265063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>
            <a:extLst>
              <a:ext uri="{FF2B5EF4-FFF2-40B4-BE49-F238E27FC236}">
                <a16:creationId xmlns:a16="http://schemas.microsoft.com/office/drawing/2014/main" id="{2E835CA5-55A4-41D9-86FE-366155998B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883E2AD-A8F8-4BA1-B4B6-FF04044BF022}" type="slidenum">
              <a:rPr lang="en-US" altLang="pt-BR" smtClean="0">
                <a:latin typeface="Times New Roman" panose="02020603050405020304" pitchFamily="18" charset="0"/>
              </a:rPr>
              <a:pPr/>
              <a:t>67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232451" name="Rectangle 2">
            <a:extLst>
              <a:ext uri="{FF2B5EF4-FFF2-40B4-BE49-F238E27FC236}">
                <a16:creationId xmlns:a16="http://schemas.microsoft.com/office/drawing/2014/main" id="{3559122A-2D77-433C-B6ED-5445111C3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2452" name="Rectangle 3">
            <a:extLst>
              <a:ext uri="{FF2B5EF4-FFF2-40B4-BE49-F238E27FC236}">
                <a16:creationId xmlns:a16="http://schemas.microsoft.com/office/drawing/2014/main" id="{7F56622B-2C9E-40F1-8D87-0A2197941A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>
            <a:extLst>
              <a:ext uri="{FF2B5EF4-FFF2-40B4-BE49-F238E27FC236}">
                <a16:creationId xmlns:a16="http://schemas.microsoft.com/office/drawing/2014/main" id="{4CB51A39-DE91-4273-9C68-E840412870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E108323-CB56-4535-B62F-8694E2BDE0C2}" type="slidenum">
              <a:rPr lang="en-US" altLang="pt-BR" smtClean="0">
                <a:latin typeface="Times New Roman" panose="02020603050405020304" pitchFamily="18" charset="0"/>
              </a:rPr>
              <a:pPr/>
              <a:t>68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234499" name="Rectangle 2">
            <a:extLst>
              <a:ext uri="{FF2B5EF4-FFF2-40B4-BE49-F238E27FC236}">
                <a16:creationId xmlns:a16="http://schemas.microsoft.com/office/drawing/2014/main" id="{9CB6C8C0-2A00-4D4D-B2E7-001D4DE2F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4500" name="Rectangle 3">
            <a:extLst>
              <a:ext uri="{FF2B5EF4-FFF2-40B4-BE49-F238E27FC236}">
                <a16:creationId xmlns:a16="http://schemas.microsoft.com/office/drawing/2014/main" id="{40438FB4-AAB3-445D-8FA4-29E4CA847B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>
            <a:extLst>
              <a:ext uri="{FF2B5EF4-FFF2-40B4-BE49-F238E27FC236}">
                <a16:creationId xmlns:a16="http://schemas.microsoft.com/office/drawing/2014/main" id="{9C654A9C-014E-4C1F-AE8E-603E42A70B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22D6D99-66C1-4538-B43E-E25412C6A277}" type="slidenum">
              <a:rPr lang="en-US" altLang="pt-BR" smtClean="0">
                <a:latin typeface="Times New Roman" panose="02020603050405020304" pitchFamily="18" charset="0"/>
              </a:rPr>
              <a:pPr/>
              <a:t>69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236547" name="Rectangle 2">
            <a:extLst>
              <a:ext uri="{FF2B5EF4-FFF2-40B4-BE49-F238E27FC236}">
                <a16:creationId xmlns:a16="http://schemas.microsoft.com/office/drawing/2014/main" id="{24FCE148-45C6-4EEB-BCB0-76E8C00AE9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6548" name="Rectangle 3">
            <a:extLst>
              <a:ext uri="{FF2B5EF4-FFF2-40B4-BE49-F238E27FC236}">
                <a16:creationId xmlns:a16="http://schemas.microsoft.com/office/drawing/2014/main" id="{696DCD89-A62A-45FD-A86B-CD615D5EDE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3914DCFF-3ED3-4944-B6F2-1140BB3462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3E2A23B-0D2D-4423-89E8-482733B84411}" type="slidenum">
              <a:rPr lang="en-US" altLang="pt-BR" smtClean="0">
                <a:latin typeface="Times New Roman" panose="02020603050405020304" pitchFamily="18" charset="0"/>
              </a:rPr>
              <a:pPr/>
              <a:t>74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B6C90C97-6EFC-4C6D-988B-1E25E6B224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9E904323-C527-423F-9389-F7FC36553A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0214585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7">
            <a:extLst>
              <a:ext uri="{FF2B5EF4-FFF2-40B4-BE49-F238E27FC236}">
                <a16:creationId xmlns:a16="http://schemas.microsoft.com/office/drawing/2014/main" id="{2A60B7FB-0556-4C0A-AEBB-ECCF9B48D5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413B8EF-678A-4811-98D6-1E995B0BD9E6}" type="slidenum">
              <a:rPr lang="en-US" altLang="pt-BR" smtClean="0"/>
              <a:pPr>
                <a:spcBef>
                  <a:spcPct val="0"/>
                </a:spcBef>
              </a:pPr>
              <a:t>75</a:t>
            </a:fld>
            <a:endParaRPr lang="en-US" altLang="pt-BR"/>
          </a:p>
        </p:txBody>
      </p:sp>
      <p:sp>
        <p:nvSpPr>
          <p:cNvPr id="289795" name="Rectangle 2">
            <a:extLst>
              <a:ext uri="{FF2B5EF4-FFF2-40B4-BE49-F238E27FC236}">
                <a16:creationId xmlns:a16="http://schemas.microsoft.com/office/drawing/2014/main" id="{67402CCD-FA3D-4BDE-A6A6-9D6C58479C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9796" name="Rectangle 3">
            <a:extLst>
              <a:ext uri="{FF2B5EF4-FFF2-40B4-BE49-F238E27FC236}">
                <a16:creationId xmlns:a16="http://schemas.microsoft.com/office/drawing/2014/main" id="{0FA73557-1720-482A-BD13-A2D475467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7">
            <a:extLst>
              <a:ext uri="{FF2B5EF4-FFF2-40B4-BE49-F238E27FC236}">
                <a16:creationId xmlns:a16="http://schemas.microsoft.com/office/drawing/2014/main" id="{A3C531AA-CB25-4D44-AF10-FC91D8D95D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3F7A4B8-134F-49FD-A851-4FFE623FAAAC}" type="slidenum">
              <a:rPr lang="en-US" altLang="pt-BR" smtClean="0"/>
              <a:pPr>
                <a:spcBef>
                  <a:spcPct val="0"/>
                </a:spcBef>
              </a:pPr>
              <a:t>76</a:t>
            </a:fld>
            <a:endParaRPr lang="en-US" altLang="pt-BR"/>
          </a:p>
        </p:txBody>
      </p:sp>
      <p:sp>
        <p:nvSpPr>
          <p:cNvPr id="291843" name="Rectangle 2">
            <a:extLst>
              <a:ext uri="{FF2B5EF4-FFF2-40B4-BE49-F238E27FC236}">
                <a16:creationId xmlns:a16="http://schemas.microsoft.com/office/drawing/2014/main" id="{A76C37AC-826B-4005-BEBC-7EDB15B179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91844" name="Rectangle 3">
            <a:extLst>
              <a:ext uri="{FF2B5EF4-FFF2-40B4-BE49-F238E27FC236}">
                <a16:creationId xmlns:a16="http://schemas.microsoft.com/office/drawing/2014/main" id="{FF7FF2CE-DA6B-4EC3-881D-40EB0E2094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7">
            <a:extLst>
              <a:ext uri="{FF2B5EF4-FFF2-40B4-BE49-F238E27FC236}">
                <a16:creationId xmlns:a16="http://schemas.microsoft.com/office/drawing/2014/main" id="{56C4BDDB-6C6D-48B6-A3CB-0BF59EC185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8815C9F-7691-4DC8-A7A1-1185C4742C65}" type="slidenum">
              <a:rPr lang="en-US" altLang="pt-BR" smtClean="0"/>
              <a:pPr>
                <a:spcBef>
                  <a:spcPct val="0"/>
                </a:spcBef>
              </a:pPr>
              <a:t>77</a:t>
            </a:fld>
            <a:endParaRPr lang="en-US" altLang="pt-BR"/>
          </a:p>
        </p:txBody>
      </p:sp>
      <p:sp>
        <p:nvSpPr>
          <p:cNvPr id="293891" name="Rectangle 2">
            <a:extLst>
              <a:ext uri="{FF2B5EF4-FFF2-40B4-BE49-F238E27FC236}">
                <a16:creationId xmlns:a16="http://schemas.microsoft.com/office/drawing/2014/main" id="{E21F36A8-078B-44E7-A6AF-944D0B6F56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93892" name="Rectangle 3">
            <a:extLst>
              <a:ext uri="{FF2B5EF4-FFF2-40B4-BE49-F238E27FC236}">
                <a16:creationId xmlns:a16="http://schemas.microsoft.com/office/drawing/2014/main" id="{4C1BD94E-3F80-4267-8530-7AC3AFFE99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7">
            <a:extLst>
              <a:ext uri="{FF2B5EF4-FFF2-40B4-BE49-F238E27FC236}">
                <a16:creationId xmlns:a16="http://schemas.microsoft.com/office/drawing/2014/main" id="{35015A16-8BA7-418C-9DC8-12A5A067AC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BEAF732-DB97-4027-8A89-163C285EEECF}" type="slidenum">
              <a:rPr lang="en-US" altLang="pt-BR" smtClean="0"/>
              <a:pPr>
                <a:spcBef>
                  <a:spcPct val="0"/>
                </a:spcBef>
              </a:pPr>
              <a:t>78</a:t>
            </a:fld>
            <a:endParaRPr lang="en-US" altLang="pt-BR"/>
          </a:p>
        </p:txBody>
      </p:sp>
      <p:sp>
        <p:nvSpPr>
          <p:cNvPr id="295939" name="Rectangle 2">
            <a:extLst>
              <a:ext uri="{FF2B5EF4-FFF2-40B4-BE49-F238E27FC236}">
                <a16:creationId xmlns:a16="http://schemas.microsoft.com/office/drawing/2014/main" id="{E8F31B53-5D26-4CB0-A871-1B81AB6910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95940" name="Rectangle 3">
            <a:extLst>
              <a:ext uri="{FF2B5EF4-FFF2-40B4-BE49-F238E27FC236}">
                <a16:creationId xmlns:a16="http://schemas.microsoft.com/office/drawing/2014/main" id="{8396B071-003F-4E2A-B846-7AB1CF18A6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7">
            <a:extLst>
              <a:ext uri="{FF2B5EF4-FFF2-40B4-BE49-F238E27FC236}">
                <a16:creationId xmlns:a16="http://schemas.microsoft.com/office/drawing/2014/main" id="{8F7EEECD-5400-496D-9D82-673906B952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D7B8A81-27D6-407E-8C2F-957801B63DEA}" type="slidenum">
              <a:rPr lang="en-US" altLang="pt-BR" smtClean="0"/>
              <a:pPr>
                <a:spcBef>
                  <a:spcPct val="0"/>
                </a:spcBef>
              </a:pPr>
              <a:t>79</a:t>
            </a:fld>
            <a:endParaRPr lang="en-US" altLang="pt-BR"/>
          </a:p>
        </p:txBody>
      </p:sp>
      <p:sp>
        <p:nvSpPr>
          <p:cNvPr id="297987" name="Rectangle 2">
            <a:extLst>
              <a:ext uri="{FF2B5EF4-FFF2-40B4-BE49-F238E27FC236}">
                <a16:creationId xmlns:a16="http://schemas.microsoft.com/office/drawing/2014/main" id="{DAB5558E-7AB2-49D5-998A-63869E0DF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97988" name="Rectangle 3">
            <a:extLst>
              <a:ext uri="{FF2B5EF4-FFF2-40B4-BE49-F238E27FC236}">
                <a16:creationId xmlns:a16="http://schemas.microsoft.com/office/drawing/2014/main" id="{8A4B92B7-7D16-4CBD-B456-CF3A2E7BB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7">
            <a:extLst>
              <a:ext uri="{FF2B5EF4-FFF2-40B4-BE49-F238E27FC236}">
                <a16:creationId xmlns:a16="http://schemas.microsoft.com/office/drawing/2014/main" id="{4F812B71-6B3C-4C3D-A567-0AF1E5AA77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A0FFEFC-30D1-42E4-971F-722EC63F58B6}" type="slidenum">
              <a:rPr lang="en-US" altLang="pt-BR" smtClean="0"/>
              <a:pPr>
                <a:spcBef>
                  <a:spcPct val="0"/>
                </a:spcBef>
              </a:pPr>
              <a:t>80</a:t>
            </a:fld>
            <a:endParaRPr lang="en-US" altLang="pt-BR"/>
          </a:p>
        </p:txBody>
      </p:sp>
      <p:sp>
        <p:nvSpPr>
          <p:cNvPr id="300035" name="Rectangle 2">
            <a:extLst>
              <a:ext uri="{FF2B5EF4-FFF2-40B4-BE49-F238E27FC236}">
                <a16:creationId xmlns:a16="http://schemas.microsoft.com/office/drawing/2014/main" id="{770F1BB9-5793-4DF7-BD87-4E59C1A646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0036" name="Rectangle 3">
            <a:extLst>
              <a:ext uri="{FF2B5EF4-FFF2-40B4-BE49-F238E27FC236}">
                <a16:creationId xmlns:a16="http://schemas.microsoft.com/office/drawing/2014/main" id="{36D3D5C8-D42B-4CBC-9B53-B39A456D23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7">
            <a:extLst>
              <a:ext uri="{FF2B5EF4-FFF2-40B4-BE49-F238E27FC236}">
                <a16:creationId xmlns:a16="http://schemas.microsoft.com/office/drawing/2014/main" id="{8995B005-2DA1-474F-9CB2-07A3CD2A10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9131F85-71BD-438A-B7DF-E28F6B5FCCDA}" type="slidenum">
              <a:rPr lang="en-US" altLang="pt-BR" smtClean="0"/>
              <a:pPr>
                <a:spcBef>
                  <a:spcPct val="0"/>
                </a:spcBef>
              </a:pPr>
              <a:t>81</a:t>
            </a:fld>
            <a:endParaRPr lang="en-US" altLang="pt-BR"/>
          </a:p>
        </p:txBody>
      </p:sp>
      <p:sp>
        <p:nvSpPr>
          <p:cNvPr id="302083" name="Rectangle 2">
            <a:extLst>
              <a:ext uri="{FF2B5EF4-FFF2-40B4-BE49-F238E27FC236}">
                <a16:creationId xmlns:a16="http://schemas.microsoft.com/office/drawing/2014/main" id="{48D387BE-BCE7-4BC6-9522-F283CB21DD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2084" name="Rectangle 3">
            <a:extLst>
              <a:ext uri="{FF2B5EF4-FFF2-40B4-BE49-F238E27FC236}">
                <a16:creationId xmlns:a16="http://schemas.microsoft.com/office/drawing/2014/main" id="{61C748E0-F47E-415D-90BC-2EA3A7FDB7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7">
            <a:extLst>
              <a:ext uri="{FF2B5EF4-FFF2-40B4-BE49-F238E27FC236}">
                <a16:creationId xmlns:a16="http://schemas.microsoft.com/office/drawing/2014/main" id="{3D0CAF8C-EA3D-4142-AF79-32444F1915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30314F7-E4D7-49D4-A678-AEA41DE208F0}" type="slidenum">
              <a:rPr lang="en-US" altLang="pt-BR" smtClean="0"/>
              <a:pPr>
                <a:spcBef>
                  <a:spcPct val="0"/>
                </a:spcBef>
              </a:pPr>
              <a:t>82</a:t>
            </a:fld>
            <a:endParaRPr lang="en-US" altLang="pt-BR"/>
          </a:p>
        </p:txBody>
      </p:sp>
      <p:sp>
        <p:nvSpPr>
          <p:cNvPr id="304131" name="Rectangle 2">
            <a:extLst>
              <a:ext uri="{FF2B5EF4-FFF2-40B4-BE49-F238E27FC236}">
                <a16:creationId xmlns:a16="http://schemas.microsoft.com/office/drawing/2014/main" id="{BFCC5D6D-0BA3-4E5C-B83B-172F552719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4132" name="Rectangle 3">
            <a:extLst>
              <a:ext uri="{FF2B5EF4-FFF2-40B4-BE49-F238E27FC236}">
                <a16:creationId xmlns:a16="http://schemas.microsoft.com/office/drawing/2014/main" id="{1D893410-1658-4B2C-8305-4CAB19E92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7C8141-31ED-457C-99D9-350DD62420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20A417-9999-46FF-A3D3-7D6E9909C221}" type="datetime1">
              <a:rPr lang="pt-BR"/>
              <a:pPr>
                <a:defRPr/>
              </a:pPr>
              <a:t>19/08/2025</a:t>
            </a:fld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281E46-F80A-43DE-A8EE-AACED3E3A1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337B06-63DC-4C16-B745-4E09C00C98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4FCE15-2783-440C-88D3-6F0C5FF98B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006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1F01C7-2C02-4523-A306-7A83676068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6582C-A7B1-4F89-A69D-6194BC6EC2B0}" type="datetime1">
              <a:rPr lang="pt-BR"/>
              <a:pPr>
                <a:defRPr/>
              </a:pPr>
              <a:t>19/08/2025</a:t>
            </a:fld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F24264-E0B8-4BED-B97D-3BBE7E8AE8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033101-1BBF-4E14-8C86-4E4F3042EC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5801B-C5F4-4CE9-9972-7743B2F4CE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09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412875"/>
            <a:ext cx="5384800" cy="4608513"/>
          </a:xfrm>
        </p:spPr>
        <p:txBody>
          <a:bodyPr/>
          <a:lstStyle>
            <a:lvl1pPr>
              <a:defRPr sz="2000"/>
            </a:lvl1pPr>
            <a:lvl2pPr marL="742932" indent="-285744">
              <a:buFont typeface="Wingdings" pitchFamily="2" charset="2"/>
              <a:buChar char="q"/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412875"/>
            <a:ext cx="5384800" cy="4608513"/>
          </a:xfrm>
        </p:spPr>
        <p:txBody>
          <a:bodyPr/>
          <a:lstStyle>
            <a:lvl1pPr>
              <a:defRPr sz="2000"/>
            </a:lvl1pPr>
            <a:lvl2pPr marL="742932" indent="-285744">
              <a:buFont typeface="Wingdings" pitchFamily="2" charset="2"/>
              <a:buChar char="q"/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326173-26BC-4593-B7C1-E23A39BAD9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00D5B-FDAC-46D3-9687-F926429DCC10}" type="datetime1">
              <a:rPr lang="pt-BR"/>
              <a:pPr>
                <a:defRPr/>
              </a:pPr>
              <a:t>19/08/2025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0E97B9-108A-4600-B9C1-E3BF0A253A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C5B66E-9252-42CC-90D1-5DEB708590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F0441-4EC9-4D83-B239-7463ECDC42F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183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2E7C19D-4C42-49E6-94D3-79C728B637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48E6D0-1A2F-4A71-B242-3E6441E27A95}" type="datetime1">
              <a:rPr lang="pt-BR"/>
              <a:pPr>
                <a:defRPr/>
              </a:pPr>
              <a:t>19/08/2025</a:t>
            </a:fld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65AFFB6-CCED-4204-98D9-2972E4D128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325C3F6-19C6-47EF-8085-B30510B2BB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6144B-F5AC-45C6-AD42-115683CD4F0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305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3F46D3C-89E2-4078-A10B-F0ABA42634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14CF8-0B47-4FC1-935E-FC6DC1E2DBBD}" type="datetime1">
              <a:rPr lang="pt-BR"/>
              <a:pPr>
                <a:defRPr/>
              </a:pPr>
              <a:t>19/08/2025</a:t>
            </a:fld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AAF5F02-3FCC-4A49-9274-43B56B22A9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C38D0CC-248C-430A-BF16-D9FD28C2A8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84DC04-8A4B-4E30-A426-0A3F9942E9A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3338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3716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412875"/>
            <a:ext cx="5384800" cy="460851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412875"/>
            <a:ext cx="5384800" cy="460851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A0B2FE-7097-4C71-8061-730F03BFF7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3251E-F713-4CE6-8B62-9899E9E8582B}" type="datetime1">
              <a:rPr lang="pt-BR"/>
              <a:pPr>
                <a:defRPr/>
              </a:pPr>
              <a:t>19/08/2025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8C7502-EAE8-40C9-9664-DB03162335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86C1F-3AA3-4F13-9300-DEED0BD53F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B2F3D-B7EF-454B-8194-275E64B27B2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3312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3716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24417" y="1700213"/>
            <a:ext cx="5384800" cy="460851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212417" y="1700213"/>
            <a:ext cx="5384800" cy="22272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212417" y="4079875"/>
            <a:ext cx="5384800" cy="222885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AFAF543-755F-4B6F-9A0B-D98A07134F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A873B04-D60B-42F0-A368-547DB9B648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462523F-E587-4A57-833D-FB02833DDD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AE380-D329-46D6-A3F2-7851AB75D9AB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30777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>
            <a:extLst>
              <a:ext uri="{FF2B5EF4-FFF2-40B4-BE49-F238E27FC236}">
                <a16:creationId xmlns:a16="http://schemas.microsoft.com/office/drawing/2014/main" id="{EB07AEED-CB4C-4B99-9566-65B71564A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1097280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338947" name="Rectangle 3">
            <a:extLst>
              <a:ext uri="{FF2B5EF4-FFF2-40B4-BE49-F238E27FC236}">
                <a16:creationId xmlns:a16="http://schemas.microsoft.com/office/drawing/2014/main" id="{6DA0794B-C626-423E-A998-A04538A0E0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12875"/>
            <a:ext cx="10972800" cy="46085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38948" name="Rectangle 4">
            <a:extLst>
              <a:ext uri="{FF2B5EF4-FFF2-40B4-BE49-F238E27FC236}">
                <a16:creationId xmlns:a16="http://schemas.microsoft.com/office/drawing/2014/main" id="{C4BCC6E3-DDE2-4A10-8502-B3852B7AAF3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3278717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4FBE505E-E1E7-4E61-88B5-0C68E18CBBD9}" type="datetime1">
              <a:rPr lang="pt-BR"/>
              <a:pPr>
                <a:defRPr/>
              </a:pPr>
              <a:t>19/08/2025</a:t>
            </a:fld>
            <a:endParaRPr lang="pt-BR"/>
          </a:p>
        </p:txBody>
      </p:sp>
      <p:sp>
        <p:nvSpPr>
          <p:cNvPr id="338949" name="Rectangle 5">
            <a:extLst>
              <a:ext uri="{FF2B5EF4-FFF2-40B4-BE49-F238E27FC236}">
                <a16:creationId xmlns:a16="http://schemas.microsoft.com/office/drawing/2014/main" id="{58BFDDC7-D4C5-4F75-9DEA-B46A6BAD3EA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38950" name="Rectangle 6">
            <a:extLst>
              <a:ext uri="{FF2B5EF4-FFF2-40B4-BE49-F238E27FC236}">
                <a16:creationId xmlns:a16="http://schemas.microsoft.com/office/drawing/2014/main" id="{6F51F4DB-BB4E-4A65-9F25-B60009485EA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FEE72B94-7C31-49CC-9D5B-A245C9B8AE2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338951" name="Rectangle 7">
            <a:extLst>
              <a:ext uri="{FF2B5EF4-FFF2-40B4-BE49-F238E27FC236}">
                <a16:creationId xmlns:a16="http://schemas.microsoft.com/office/drawing/2014/main" id="{8C74081F-4F76-4ABE-8838-D06EDC927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511"/>
            <a:ext cx="12192000" cy="646331"/>
          </a:xfrm>
          <a:prstGeom prst="rect">
            <a:avLst/>
          </a:prstGeom>
          <a:solidFill>
            <a:schemeClr val="accent4">
              <a:lumMod val="10000"/>
            </a:schemeClr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pt-BR" altLang="pt-BR" sz="1800" b="1" dirty="0"/>
              <a:t>CURSO SUPERIOR DE TECNOLOGIA EM ANÁLISE </a:t>
            </a:r>
          </a:p>
          <a:p>
            <a:pPr algn="ctr" eaLnBrk="1" hangingPunct="1">
              <a:defRPr/>
            </a:pPr>
            <a:r>
              <a:rPr lang="pt-BR" altLang="pt-BR" sz="1800" b="1" dirty="0"/>
              <a:t>E DESENVOLVIMENTO DE SISTEMAS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34" name="Imagem 1">
            <a:extLst>
              <a:ext uri="{FF2B5EF4-FFF2-40B4-BE49-F238E27FC236}">
                <a16:creationId xmlns:a16="http://schemas.microsoft.com/office/drawing/2014/main" id="{CFD722A8-AFE6-44AC-8E13-AA56413C092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7" y="133355"/>
            <a:ext cx="2044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2" r:id="rId7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5pPr>
      <a:lvl6pPr marL="457189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6pPr>
      <a:lvl7pPr marL="914377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7pPr>
      <a:lvl8pPr marL="1371566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8pPr>
      <a:lvl9pPr marL="1828754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9pPr>
    </p:titleStyle>
    <p:bodyStyle>
      <a:lvl1pPr marL="342891" indent="-342891" algn="ctr" rtl="0" eaLnBrk="0" fontAlgn="base" hangingPunct="0">
        <a:spcBef>
          <a:spcPct val="20000"/>
        </a:spcBef>
        <a:spcAft>
          <a:spcPct val="50000"/>
        </a:spcAft>
        <a:buClr>
          <a:schemeClr val="hlink"/>
        </a:buClr>
        <a:buSzPct val="65000"/>
        <a:buFont typeface="Wingdings" panose="05000000000000000000" pitchFamily="2" charset="2"/>
        <a:defRPr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50000"/>
        </a:spcAft>
        <a:buSzPct val="100000"/>
        <a:buFont typeface="Wingdings" panose="05000000000000000000" pitchFamily="2" charset="2"/>
        <a:buChar char="q"/>
        <a:defRPr sz="20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Ø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pt-B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6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w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430A5-504C-FD69-4F20-3A32AE7382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Linguagem de Programação em C</a:t>
            </a:r>
            <a:br>
              <a:rPr lang="pt-BR" dirty="0"/>
            </a:br>
            <a:r>
              <a:rPr lang="pt-BR" dirty="0"/>
              <a:t>Prof. Dr. Pedro Euphrásio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35948D-EDE4-9F33-855F-95A573831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Conteúdo Programático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F2F7E6-0681-EE53-38D2-3E98A85A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42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F0D2BA0-3FAD-58BE-8F80-7BFB311E5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2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70CED1-2882-0CFD-3719-6F9AA128837B}"/>
              </a:ext>
            </a:extLst>
          </p:cNvPr>
          <p:cNvSpPr txBox="1"/>
          <p:nvPr/>
        </p:nvSpPr>
        <p:spPr>
          <a:xfrm>
            <a:off x="3023507" y="1305341"/>
            <a:ext cx="614498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PROGRAMAÇÃO ESTRUTURADA EM C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 Introdução à Programação Estruturada em C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1.1.1 Estrutura de um Programa em C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1.1.2 Tipos de Dados Básicos em C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1.1.3 Comando printf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1.1.4 Comando scanf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1.1.5 Boas práticas em programação C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ESTRUTURAS BÁSICAS EM C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2.1 Operadores Aritméticos, Relacionais e Lógicos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2.1.1 Operadores Aritméticos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2.1.2 Operadores Relacionais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2.1.3 Operadores Lógicos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2.2 Aplicações e Exemplos do Uso de Operadores na Linguagem C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935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5F658-4373-95F1-A59D-E273401A0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022B485-8594-7EEC-3C8E-21BA7876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3</a:t>
            </a:fld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7573491-E8EF-0C65-DD5D-62513E6A14AE}"/>
              </a:ext>
            </a:extLst>
          </p:cNvPr>
          <p:cNvSpPr txBox="1"/>
          <p:nvPr/>
        </p:nvSpPr>
        <p:spPr>
          <a:xfrm>
            <a:off x="2855640" y="1412776"/>
            <a:ext cx="61449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OPERAÇÕES E CONTROLE DE FLUXO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3.1 Estruturas Condicionais: if, else (simples)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3.2 Estruturas Condicionais: if, else (encadeadas)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3.3 Laços de Repetição: while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3.4 Laços de Repetição: do-while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3.5 Laços de Repetição: for</a:t>
            </a:r>
          </a:p>
          <a:p>
            <a:pPr algn="just">
              <a:buNone/>
            </a:pP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APLICAÇÕES DE LAÇOS DE REPETIÇÃO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4.1 Comparação entre Laços de Repetição: Loop for, while e do-while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4.2 Switch-case, break e continue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2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A2F38-96EA-BF67-2AF6-64206B6DB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A7B75CF-4E4B-99F2-9EFC-DF81B8BB7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4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4D3E06C-6098-D37A-87AF-D26CB70C8546}"/>
              </a:ext>
            </a:extLst>
          </p:cNvPr>
          <p:cNvSpPr txBox="1"/>
          <p:nvPr/>
        </p:nvSpPr>
        <p:spPr>
          <a:xfrm>
            <a:off x="3028950" y="1853897"/>
            <a:ext cx="61449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PT" sz="180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VETORES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5.1 Introdução a Vetores (Arrays Unidimensionais)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5.1.1 Declaração e Uso de Vetor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5.1.2 Impressão de vetor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5.2 Operações com Vetores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5.2.1 Exemplos com Vetor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MATRIZES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6.1 Matrizes (Arrays Bidimensionais)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6.2 Manipulação de Matrizes: Acesso e Operações Comuns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876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C602A-1915-66BD-47D3-18E08A89C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886A297-ADC7-D05B-BDB5-C34C19F7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5</a:t>
            </a:fld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006A470-DD44-37B9-C7E2-594D408FBA7A}"/>
              </a:ext>
            </a:extLst>
          </p:cNvPr>
          <p:cNvSpPr txBox="1"/>
          <p:nvPr/>
        </p:nvSpPr>
        <p:spPr>
          <a:xfrm>
            <a:off x="3028950" y="1992396"/>
            <a:ext cx="614498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 FUNÇÕES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7.1 Definição de Funções em C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7.2 Declaração de Funções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7.3 Passagem de Parâmetros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7.4 Escopo de Variáveis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 PONTEIROS E MANIPULAÇÃO DE ARQUIVOS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8.1 Definição e Uso de Ponteiros em C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8.2 Manipulação de Arquivos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8.2.1 Operações de Leitura e Escrita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303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4E3A4AB-DF82-7D17-4008-312077DA3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6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3F6BF1A-9713-61CB-8E89-7AE034DBF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" y="692696"/>
            <a:ext cx="4305300" cy="21621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AED8B6B-8577-705C-FB82-67BEB33B6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4871"/>
            <a:ext cx="5143500" cy="2286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0B27905-E3A2-AE49-657B-1C9A8FD35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692696"/>
            <a:ext cx="6019800" cy="223837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CA80B0F-8CFA-282B-15D6-AD62300E2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2075" y="2860130"/>
            <a:ext cx="596265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9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3A631-4A69-3E18-3AEE-498ECA5C7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739ECBC-D0C7-839C-07DE-BCE5EF98A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7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466CB0E-FADE-48E8-EE9C-2AE4720FE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3" y="783379"/>
            <a:ext cx="4699104" cy="569997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114200E-5BA2-3570-2E47-E189934E3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048" y="783379"/>
            <a:ext cx="3971925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048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ED2269FD-C1CB-7CF5-1C34-818075BA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8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6B657C7-772E-D7FF-0DDB-5041AC520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3" y="836712"/>
            <a:ext cx="4699104" cy="569997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4666C79-D47E-BEA3-2E44-625E2BA1D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71" y="-13387"/>
            <a:ext cx="3637490" cy="68580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6A49B29-81CD-C865-B65D-DDB87DEED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351" y="-13387"/>
            <a:ext cx="2955285" cy="68580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505119B-E79C-B6F2-3623-1C7A45C52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8636" y="0"/>
            <a:ext cx="3013364" cy="685800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299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830A2-8DFE-DEF1-140C-03D3E2266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D8ABBBFC-E6D3-39F7-783D-B2FF9E5C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9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DAE0E78-5001-9009-5288-FEDBB7ACA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8" y="620688"/>
            <a:ext cx="2849472" cy="345638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490E4CC-7FAE-FEA6-295C-F4E401BE7B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2448" y="3186087"/>
            <a:ext cx="2748402" cy="364502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40D07829-378E-ADCC-F639-E4071BC0A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2639" y="571500"/>
            <a:ext cx="2990850" cy="62865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14A909ED-FB24-22EB-DA09-234996BDD1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3489" y="571500"/>
            <a:ext cx="4552950" cy="4276725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08AC5CC-CF58-3863-B0BB-97F24D2BB6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238" y="488450"/>
            <a:ext cx="2533650" cy="3171825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C49D4D2B-DFCD-A171-9DE0-1039BC30C8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8191" y="4641598"/>
            <a:ext cx="2771775" cy="162877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5069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22C67-DFC4-2B55-19BB-116E2DF3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1D4DC8A-64DF-A665-1096-6762B2B32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10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2AD5046-2601-7E03-FC71-9BD23ACB703D}"/>
              </a:ext>
            </a:extLst>
          </p:cNvPr>
          <p:cNvSpPr txBox="1"/>
          <p:nvPr/>
        </p:nvSpPr>
        <p:spPr>
          <a:xfrm>
            <a:off x="3023507" y="1305341"/>
            <a:ext cx="61449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PROGRAMAÇÃO ESTRUTURADA EM C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 Introdução à Programação Estruturada em C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1.1.1 Estrutura de um Programa em C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1.1.2 Tipos de Dados Básicos em C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1.1.3 Comando printf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1.1.4 Comando scanf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1.1.5 Boas práticas em programação C</a:t>
            </a:r>
            <a:endParaRPr lang="pt-BR" sz="180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876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Número de Slide 3">
            <a:extLst>
              <a:ext uri="{FF2B5EF4-FFF2-40B4-BE49-F238E27FC236}">
                <a16:creationId xmlns:a16="http://schemas.microsoft.com/office/drawing/2014/main" id="{7116DBEE-A96F-4D45-9043-E7883372C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4FDB4A-6313-426F-AB20-39B7F7277BA6}" type="slidenum">
              <a:rPr lang="pt-BR" altLang="pt-BR"/>
              <a:pPr>
                <a:defRPr/>
              </a:pPr>
              <a:t>11</a:t>
            </a:fld>
            <a:endParaRPr lang="pt-BR" altLang="pt-BR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B46BF8F2-467A-4611-8224-3852EB2B1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65540" name="Text Box 3">
            <a:extLst>
              <a:ext uri="{FF2B5EF4-FFF2-40B4-BE49-F238E27FC236}">
                <a16:creationId xmlns:a16="http://schemas.microsoft.com/office/drawing/2014/main" id="{03389E4A-B6FA-47EF-AD99-B1D4CA3D2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/>
              <a:t>Fases para construção do Algoritmo</a:t>
            </a:r>
            <a:endParaRPr lang="pt-BR" altLang="pt-BR"/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b="1"/>
          </a:p>
        </p:txBody>
      </p:sp>
      <p:sp>
        <p:nvSpPr>
          <p:cNvPr id="65541" name="Rectangle 4">
            <a:extLst>
              <a:ext uri="{FF2B5EF4-FFF2-40B4-BE49-F238E27FC236}">
                <a16:creationId xmlns:a16="http://schemas.microsoft.com/office/drawing/2014/main" id="{1B404A2D-BC11-4EF8-A7E0-D00AFE28E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65542" name="Rectangle 5">
            <a:extLst>
              <a:ext uri="{FF2B5EF4-FFF2-40B4-BE49-F238E27FC236}">
                <a16:creationId xmlns:a16="http://schemas.microsoft.com/office/drawing/2014/main" id="{014DBF50-0408-4EDB-810F-7B561306E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b="1"/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pt-BR" b="1"/>
              <a:t>Ao montar um algoritmo, precisamos primeiro dividir o problema apresentado em três fases fundamentais.</a:t>
            </a:r>
          </a:p>
        </p:txBody>
      </p:sp>
      <p:grpSp>
        <p:nvGrpSpPr>
          <p:cNvPr id="65543" name="Group 6">
            <a:extLst>
              <a:ext uri="{FF2B5EF4-FFF2-40B4-BE49-F238E27FC236}">
                <a16:creationId xmlns:a16="http://schemas.microsoft.com/office/drawing/2014/main" id="{E7D33F8B-7663-45A0-AD7B-805E7B01892B}"/>
              </a:ext>
            </a:extLst>
          </p:cNvPr>
          <p:cNvGrpSpPr>
            <a:grpSpLocks/>
          </p:cNvGrpSpPr>
          <p:nvPr/>
        </p:nvGrpSpPr>
        <p:grpSpPr bwMode="auto">
          <a:xfrm>
            <a:off x="2166939" y="3914775"/>
            <a:ext cx="7816851" cy="1384300"/>
            <a:chOff x="405" y="2198"/>
            <a:chExt cx="4924" cy="872"/>
          </a:xfrm>
        </p:grpSpPr>
        <p:sp>
          <p:nvSpPr>
            <p:cNvPr id="941063" name="Rectangle 7">
              <a:extLst>
                <a:ext uri="{FF2B5EF4-FFF2-40B4-BE49-F238E27FC236}">
                  <a16:creationId xmlns:a16="http://schemas.microsoft.com/office/drawing/2014/main" id="{FCD56BCA-1281-443B-A557-3007EDE95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" y="2203"/>
              <a:ext cx="612" cy="233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1" hangingPunct="1">
                <a:defRPr/>
              </a:pPr>
              <a:r>
                <a:rPr lang="pt-BR" altLang="pt-BR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Entrada</a:t>
              </a:r>
            </a:p>
          </p:txBody>
        </p:sp>
        <p:sp>
          <p:nvSpPr>
            <p:cNvPr id="941064" name="Rectangle 8">
              <a:extLst>
                <a:ext uri="{FF2B5EF4-FFF2-40B4-BE49-F238E27FC236}">
                  <a16:creationId xmlns:a16="http://schemas.microsoft.com/office/drawing/2014/main" id="{DCB8E81B-024F-4BE7-8994-0142CA4EB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1" y="2208"/>
              <a:ext cx="1128" cy="233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1" hangingPunct="1">
                <a:defRPr/>
              </a:pPr>
              <a:r>
                <a:rPr lang="pt-BR" altLang="pt-BR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Processamento </a:t>
              </a:r>
            </a:p>
          </p:txBody>
        </p:sp>
        <p:sp>
          <p:nvSpPr>
            <p:cNvPr id="941065" name="Rectangle 9">
              <a:extLst>
                <a:ext uri="{FF2B5EF4-FFF2-40B4-BE49-F238E27FC236}">
                  <a16:creationId xmlns:a16="http://schemas.microsoft.com/office/drawing/2014/main" id="{9742450B-0345-4FDE-BFA8-AB99B0943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1" y="2198"/>
              <a:ext cx="510" cy="233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1" hangingPunct="1">
                <a:defRPr/>
              </a:pPr>
              <a:r>
                <a:rPr lang="pt-BR" altLang="pt-BR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Saída </a:t>
              </a:r>
            </a:p>
          </p:txBody>
        </p:sp>
        <p:sp>
          <p:nvSpPr>
            <p:cNvPr id="65554" name="Line 10">
              <a:extLst>
                <a:ext uri="{FF2B5EF4-FFF2-40B4-BE49-F238E27FC236}">
                  <a16:creationId xmlns:a16="http://schemas.microsoft.com/office/drawing/2014/main" id="{A05DB4B6-4E58-4B87-9F7B-1D1325265C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29" y="2336"/>
              <a:ext cx="771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65555" name="Line 11">
              <a:extLst>
                <a:ext uri="{FF2B5EF4-FFF2-40B4-BE49-F238E27FC236}">
                  <a16:creationId xmlns:a16="http://schemas.microsoft.com/office/drawing/2014/main" id="{BEAD4E14-D0E7-407B-B4CA-23F3591E35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341"/>
              <a:ext cx="6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65556" name="Rectangle 12">
              <a:extLst>
                <a:ext uri="{FF2B5EF4-FFF2-40B4-BE49-F238E27FC236}">
                  <a16:creationId xmlns:a16="http://schemas.microsoft.com/office/drawing/2014/main" id="{9BFA8887-B5A1-42A2-9755-44A94AA58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" y="2478"/>
              <a:ext cx="1224" cy="582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20000"/>
                </a:spcBef>
                <a:spcAft>
                  <a:spcPct val="5000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ct val="50000"/>
                </a:spcAft>
                <a:buSzPct val="100000"/>
                <a:buFont typeface="Wingdings" panose="05000000000000000000" pitchFamily="2" charset="2"/>
                <a:buChar char="q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Font typeface="Wingdings" panose="05000000000000000000" pitchFamily="2" charset="2"/>
                <a:buChar char="Ø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pt-BR" altLang="pt-BR"/>
                <a:t>São os dados de entrada do algoritmo</a:t>
              </a:r>
            </a:p>
          </p:txBody>
        </p:sp>
        <p:sp>
          <p:nvSpPr>
            <p:cNvPr id="65557" name="Rectangle 13">
              <a:extLst>
                <a:ext uri="{FF2B5EF4-FFF2-40B4-BE49-F238E27FC236}">
                  <a16:creationId xmlns:a16="http://schemas.microsoft.com/office/drawing/2014/main" id="{C5BB8C7E-6C77-472B-ADBD-D87E16CCF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2488"/>
              <a:ext cx="1542" cy="582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20000"/>
                </a:spcBef>
                <a:spcAft>
                  <a:spcPct val="5000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ct val="50000"/>
                </a:spcAft>
                <a:buSzPct val="100000"/>
                <a:buFont typeface="Wingdings" panose="05000000000000000000" pitchFamily="2" charset="2"/>
                <a:buChar char="q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Font typeface="Wingdings" panose="05000000000000000000" pitchFamily="2" charset="2"/>
                <a:buChar char="Ø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pt-BR" altLang="pt-BR"/>
                <a:t>São os procedimentos utilizados para chegar ao resultado final</a:t>
              </a:r>
            </a:p>
          </p:txBody>
        </p:sp>
        <p:sp>
          <p:nvSpPr>
            <p:cNvPr id="65558" name="Rectangle 14">
              <a:extLst>
                <a:ext uri="{FF2B5EF4-FFF2-40B4-BE49-F238E27FC236}">
                  <a16:creationId xmlns:a16="http://schemas.microsoft.com/office/drawing/2014/main" id="{841403BE-308C-4E0F-8929-A62637682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9" y="2478"/>
              <a:ext cx="1180" cy="407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spcBef>
                  <a:spcPct val="20000"/>
                </a:spcBef>
                <a:spcAft>
                  <a:spcPct val="5000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ct val="50000"/>
                </a:spcAft>
                <a:buSzPct val="100000"/>
                <a:buFont typeface="Wingdings" panose="05000000000000000000" pitchFamily="2" charset="2"/>
                <a:buChar char="q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Font typeface="Wingdings" panose="05000000000000000000" pitchFamily="2" charset="2"/>
                <a:buChar char="Ø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pt-BR" altLang="pt-BR"/>
                <a:t> São os dados já processados</a:t>
              </a:r>
            </a:p>
          </p:txBody>
        </p:sp>
      </p:grpSp>
      <p:sp>
        <p:nvSpPr>
          <p:cNvPr id="65544" name="Rectangle 21">
            <a:extLst>
              <a:ext uri="{FF2B5EF4-FFF2-40B4-BE49-F238E27FC236}">
                <a16:creationId xmlns:a16="http://schemas.microsoft.com/office/drawing/2014/main" id="{FF85455C-143E-49E8-A768-DE6525A1C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3484565"/>
            <a:ext cx="1943100" cy="369332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O que preciso?</a:t>
            </a:r>
          </a:p>
        </p:txBody>
      </p:sp>
      <p:sp>
        <p:nvSpPr>
          <p:cNvPr id="65545" name="Rectangle 22">
            <a:extLst>
              <a:ext uri="{FF2B5EF4-FFF2-40B4-BE49-F238E27FC236}">
                <a16:creationId xmlns:a16="http://schemas.microsoft.com/office/drawing/2014/main" id="{604DF221-9487-4F61-9620-C3F1D008B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4" y="3209929"/>
            <a:ext cx="2447925" cy="646331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Como chegar 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ao que quero?</a:t>
            </a:r>
          </a:p>
        </p:txBody>
      </p:sp>
      <p:sp>
        <p:nvSpPr>
          <p:cNvPr id="65546" name="Rectangle 23">
            <a:extLst>
              <a:ext uri="{FF2B5EF4-FFF2-40B4-BE49-F238E27FC236}">
                <a16:creationId xmlns:a16="http://schemas.microsoft.com/office/drawing/2014/main" id="{E8D2E51D-FCCA-45A4-BF44-25D86572A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1815" y="3484565"/>
            <a:ext cx="1873251" cy="369332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O que quero?</a:t>
            </a:r>
          </a:p>
        </p:txBody>
      </p:sp>
      <p:sp>
        <p:nvSpPr>
          <p:cNvPr id="941080" name="Rectangle 24">
            <a:extLst>
              <a:ext uri="{FF2B5EF4-FFF2-40B4-BE49-F238E27FC236}">
                <a16:creationId xmlns:a16="http://schemas.microsoft.com/office/drawing/2014/main" id="{C9499996-A320-40FB-8DC2-1C4DA04DB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441576"/>
            <a:ext cx="5933676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pt-BR" altLang="pt-BR">
                <a:solidFill>
                  <a:srgbClr val="CC3300"/>
                </a:solidFill>
              </a:rPr>
              <a:t>A </a:t>
            </a:r>
            <a:r>
              <a:rPr lang="pt-BR" altLang="pt-BR" b="1" u="sng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entrada de dados</a:t>
            </a:r>
            <a:r>
              <a:rPr lang="pt-BR" altLang="pt-BR">
                <a:solidFill>
                  <a:srgbClr val="CC3300"/>
                </a:solidFill>
              </a:rPr>
              <a:t> será feita através da instrução </a:t>
            </a:r>
            <a:r>
              <a:rPr lang="pt-BR" altLang="pt-BR" b="1">
                <a:solidFill>
                  <a:srgbClr val="CC3300"/>
                </a:solidFill>
              </a:rPr>
              <a:t>ler</a:t>
            </a:r>
          </a:p>
        </p:txBody>
      </p:sp>
      <p:sp>
        <p:nvSpPr>
          <p:cNvPr id="941081" name="Rectangle 25">
            <a:extLst>
              <a:ext uri="{FF2B5EF4-FFF2-40B4-BE49-F238E27FC236}">
                <a16:creationId xmlns:a16="http://schemas.microsoft.com/office/drawing/2014/main" id="{6863ED0D-F3C6-48B6-A3E6-C187ADE4E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9" y="5942013"/>
            <a:ext cx="6210996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pt-BR" altLang="pt-BR">
                <a:solidFill>
                  <a:srgbClr val="CC3300"/>
                </a:solidFill>
              </a:rPr>
              <a:t>A </a:t>
            </a:r>
            <a:r>
              <a:rPr lang="pt-BR" altLang="pt-BR" b="1" u="sng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saída</a:t>
            </a:r>
            <a:r>
              <a:rPr lang="pt-BR" altLang="pt-BR">
                <a:solidFill>
                  <a:srgbClr val="CC3300"/>
                </a:solidFill>
              </a:rPr>
              <a:t> de dados será feita através da instrução </a:t>
            </a:r>
            <a:r>
              <a:rPr lang="pt-BR" altLang="pt-BR" b="1">
                <a:solidFill>
                  <a:srgbClr val="CC3300"/>
                </a:solidFill>
              </a:rPr>
              <a:t>escrever</a:t>
            </a:r>
          </a:p>
        </p:txBody>
      </p:sp>
      <p:sp>
        <p:nvSpPr>
          <p:cNvPr id="941082" name="Oval 26">
            <a:extLst>
              <a:ext uri="{FF2B5EF4-FFF2-40B4-BE49-F238E27FC236}">
                <a16:creationId xmlns:a16="http://schemas.microsoft.com/office/drawing/2014/main" id="{8CE14481-361B-4D1F-A338-D995AC131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7277" y="2365259"/>
            <a:ext cx="488951" cy="519351"/>
          </a:xfrm>
          <a:prstGeom prst="ellips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>
              <a:solidFill>
                <a:schemeClr val="tx1"/>
              </a:solidFill>
            </a:endParaRPr>
          </a:p>
        </p:txBody>
      </p:sp>
      <p:sp>
        <p:nvSpPr>
          <p:cNvPr id="941083" name="Oval 27">
            <a:extLst>
              <a:ext uri="{FF2B5EF4-FFF2-40B4-BE49-F238E27FC236}">
                <a16:creationId xmlns:a16="http://schemas.microsoft.com/office/drawing/2014/main" id="{A6B8F6EF-4352-4CF3-9DA8-0B940D03A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1" y="5870459"/>
            <a:ext cx="1150939" cy="519351"/>
          </a:xfrm>
          <a:prstGeom prst="ellips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4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4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4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1080" grpId="0"/>
      <p:bldP spid="941081" grpId="0"/>
      <p:bldP spid="941082" grpId="0" animBg="1"/>
      <p:bldP spid="94108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1ED57446-9644-48CF-8DF6-C2D9EC45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7674CA-26E8-44C4-BF52-23358A0ACF47}" type="slidenum">
              <a:rPr lang="pt-BR" altLang="pt-BR"/>
              <a:pPr>
                <a:defRPr/>
              </a:pPr>
              <a:t>12</a:t>
            </a:fld>
            <a:endParaRPr lang="pt-BR" altLang="pt-BR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E705ACC4-E55B-4788-9A78-9D1FF8D7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59171" name="Text Box 3">
            <a:extLst>
              <a:ext uri="{FF2B5EF4-FFF2-40B4-BE49-F238E27FC236}">
                <a16:creationId xmlns:a16="http://schemas.microsoft.com/office/drawing/2014/main" id="{4638E44A-A8A0-4333-BBEA-E61A2C4A2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pt-BR" altLang="pt-BR" b="1"/>
              <a:t>Estruturas básicas para construção de algoritmos</a:t>
            </a:r>
            <a:r>
              <a:rPr lang="pt-BR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9CB26187-9AB5-4BD9-8455-6B2FC592D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59173" name="Rectangle 5">
            <a:extLst>
              <a:ext uri="{FF2B5EF4-FFF2-40B4-BE49-F238E27FC236}">
                <a16:creationId xmlns:a16="http://schemas.microsoft.com/office/drawing/2014/main" id="{F12C3A40-392F-4B40-A724-007F54D5B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1793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pt-BR" altLang="pt-BR" b="1" dirty="0">
              <a:effectLst/>
            </a:endParaRP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Nas “</a:t>
            </a:r>
            <a:r>
              <a:rPr lang="pt-BR" altLang="pt-BR" b="1" dirty="0">
                <a:effectLst/>
              </a:rPr>
              <a:t>Operações Lógicas</a:t>
            </a:r>
            <a:r>
              <a:rPr lang="pt-BR" altLang="pt-BR" dirty="0">
                <a:effectLst/>
              </a:rPr>
              <a:t>”, verificamos que na maioria das vezes necessitamos </a:t>
            </a:r>
            <a:r>
              <a:rPr lang="pt-BR" altLang="pt-BR" b="1" dirty="0">
                <a:effectLst/>
              </a:rPr>
              <a:t>tomar decisões</a:t>
            </a:r>
            <a:r>
              <a:rPr lang="pt-BR" altLang="pt-BR" dirty="0">
                <a:effectLst/>
              </a:rPr>
              <a:t> no andamento do algoritmo. Essas decisões interferem diretamente no andamento do programa. Trabalharemos com três tipos de estrutura: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A estrutura </a:t>
            </a:r>
            <a:r>
              <a:rPr lang="pt-BR" altLang="pt-BR" b="1" dirty="0">
                <a:effectLst/>
              </a:rPr>
              <a:t>Sequencial ou Sequenciação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;</a:t>
            </a:r>
            <a:endParaRPr lang="pt-BR" altLang="pt-BR" dirty="0">
              <a:effectLst/>
            </a:endParaRP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 A estrutura de </a:t>
            </a:r>
            <a:r>
              <a:rPr lang="pt-BR" altLang="pt-BR" b="1" dirty="0">
                <a:effectLst/>
              </a:rPr>
              <a:t>Decisão ou Seleção </a:t>
            </a:r>
            <a:r>
              <a:rPr lang="pt-BR" altLang="pt-BR" dirty="0">
                <a:effectLst/>
              </a:rPr>
              <a:t> e,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A estrutura de </a:t>
            </a:r>
            <a:r>
              <a:rPr lang="pt-BR" altLang="pt-BR" b="1" dirty="0">
                <a:effectLst/>
              </a:rPr>
              <a:t>Repetição ou 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Iteração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.</a:t>
            </a:r>
          </a:p>
        </p:txBody>
      </p:sp>
      <p:sp>
        <p:nvSpPr>
          <p:cNvPr id="71687" name="Text Box 6">
            <a:extLst>
              <a:ext uri="{FF2B5EF4-FFF2-40B4-BE49-F238E27FC236}">
                <a16:creationId xmlns:a16="http://schemas.microsoft.com/office/drawing/2014/main" id="{82EFDBB5-C713-47B3-9BB4-860AD0AA3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básicas para construção de algoritmos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1ED57446-9644-48CF-8DF6-C2D9EC45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7674CA-26E8-44C4-BF52-23358A0ACF47}" type="slidenum">
              <a:rPr lang="pt-BR" altLang="pt-BR"/>
              <a:pPr>
                <a:defRPr/>
              </a:pPr>
              <a:t>13</a:t>
            </a:fld>
            <a:endParaRPr lang="pt-BR" altLang="pt-BR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E705ACC4-E55B-4788-9A78-9D1FF8D7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59171" name="Text Box 3">
            <a:extLst>
              <a:ext uri="{FF2B5EF4-FFF2-40B4-BE49-F238E27FC236}">
                <a16:creationId xmlns:a16="http://schemas.microsoft.com/office/drawing/2014/main" id="{4638E44A-A8A0-4333-BBEA-E61A2C4A2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pt-BR" altLang="pt-BR" b="1"/>
              <a:t>Estruturas básicas para construção de algoritmos</a:t>
            </a:r>
            <a:r>
              <a:rPr lang="pt-BR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9CB26187-9AB5-4BD9-8455-6B2FC592D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59173" name="Rectangle 5">
            <a:extLst>
              <a:ext uri="{FF2B5EF4-FFF2-40B4-BE49-F238E27FC236}">
                <a16:creationId xmlns:a16="http://schemas.microsoft.com/office/drawing/2014/main" id="{F12C3A40-392F-4B40-A724-007F54D5B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1793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pt-BR" altLang="pt-BR" b="1" dirty="0">
              <a:effectLst/>
            </a:endParaRP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A estrutura </a:t>
            </a:r>
            <a:r>
              <a:rPr lang="pt-BR" altLang="pt-BR" b="1" dirty="0" err="1">
                <a:effectLst/>
              </a:rPr>
              <a:t>Seqüencial</a:t>
            </a:r>
            <a:r>
              <a:rPr lang="pt-BR" altLang="pt-BR" b="1" dirty="0">
                <a:effectLst/>
              </a:rPr>
              <a:t> ou </a:t>
            </a:r>
            <a:r>
              <a:rPr lang="pt-BR" altLang="pt-BR" b="1" dirty="0" err="1">
                <a:effectLst/>
              </a:rPr>
              <a:t>Seqüenciação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;</a:t>
            </a:r>
            <a:endParaRPr lang="pt-BR" altLang="pt-BR" dirty="0">
              <a:effectLst/>
            </a:endParaRP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 </a:t>
            </a:r>
            <a:endParaRPr lang="pt-BR" altLang="pt-BR" b="1" dirty="0">
              <a:effectLst/>
            </a:endParaRPr>
          </a:p>
        </p:txBody>
      </p:sp>
      <p:sp>
        <p:nvSpPr>
          <p:cNvPr id="71687" name="Text Box 6">
            <a:extLst>
              <a:ext uri="{FF2B5EF4-FFF2-40B4-BE49-F238E27FC236}">
                <a16:creationId xmlns:a16="http://schemas.microsoft.com/office/drawing/2014/main" id="{82EFDBB5-C713-47B3-9BB4-860AD0AA3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básicas para construção de algoritmos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25E0457-A5B2-C9E7-6967-726CB88B2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49" y="2492896"/>
            <a:ext cx="1525705" cy="340120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39E08CD-A722-DA8C-ADC1-C6E7A877AB31}"/>
              </a:ext>
            </a:extLst>
          </p:cNvPr>
          <p:cNvSpPr txBox="1"/>
          <p:nvPr/>
        </p:nvSpPr>
        <p:spPr>
          <a:xfrm>
            <a:off x="3224266" y="2153415"/>
            <a:ext cx="6912569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#include &lt;stdio.h&gt;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#include &lt;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math.h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&gt;</a:t>
            </a:r>
          </a:p>
          <a:p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main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(){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float a, b, soma, sub,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mult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div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elev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("Digite o primeiro numero: ");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scanf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("%f", &amp;a);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("Digite o segundo numero: ");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scanf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("%f", &amp;b);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soma = a + b; // Soma os dois valores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sub  = a - b; // Subtrai os dois valores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mult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= a * b; // Multiplica os dois valores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div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 = a / b; // Divide os dois valores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elev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=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pow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a,b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);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("\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nA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soma dos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numeros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e' igual a: %.2f", soma); 		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("\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nA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subtracao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dos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numeros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e' igual a: %.2f", sub) ;	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("\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nA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multiplicacao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dos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numeros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e' igual a: %.2f",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mult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); 	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("\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nA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divisão dos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numeros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e' igual a: %.2f\n",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div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); 	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("\n%.2f elevado a %.2f = %.2f \n\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n",a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, b,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elev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);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1481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1ED57446-9644-48CF-8DF6-C2D9EC45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7674CA-26E8-44C4-BF52-23358A0ACF47}" type="slidenum">
              <a:rPr lang="pt-BR" altLang="pt-BR"/>
              <a:pPr>
                <a:defRPr/>
              </a:pPr>
              <a:t>14</a:t>
            </a:fld>
            <a:endParaRPr lang="pt-BR" altLang="pt-BR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E705ACC4-E55B-4788-9A78-9D1FF8D7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59171" name="Text Box 3">
            <a:extLst>
              <a:ext uri="{FF2B5EF4-FFF2-40B4-BE49-F238E27FC236}">
                <a16:creationId xmlns:a16="http://schemas.microsoft.com/office/drawing/2014/main" id="{4638E44A-A8A0-4333-BBEA-E61A2C4A2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pt-BR" altLang="pt-BR" b="1"/>
              <a:t>Estruturas básicas para construção de algoritmos</a:t>
            </a:r>
            <a:r>
              <a:rPr lang="pt-BR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9CB26187-9AB5-4BD9-8455-6B2FC592D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59173" name="Rectangle 5">
            <a:extLst>
              <a:ext uri="{FF2B5EF4-FFF2-40B4-BE49-F238E27FC236}">
                <a16:creationId xmlns:a16="http://schemas.microsoft.com/office/drawing/2014/main" id="{F12C3A40-392F-4B40-A724-007F54D5B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1793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A estrutura de </a:t>
            </a:r>
            <a:r>
              <a:rPr lang="pt-BR" altLang="pt-BR" b="1" dirty="0">
                <a:effectLst/>
              </a:rPr>
              <a:t>Decisão ou Seleção </a:t>
            </a:r>
            <a:r>
              <a:rPr lang="pt-BR" altLang="pt-BR" dirty="0">
                <a:effectLst/>
              </a:rPr>
              <a:t> e,</a:t>
            </a:r>
          </a:p>
        </p:txBody>
      </p:sp>
      <p:sp>
        <p:nvSpPr>
          <p:cNvPr id="71687" name="Text Box 6">
            <a:extLst>
              <a:ext uri="{FF2B5EF4-FFF2-40B4-BE49-F238E27FC236}">
                <a16:creationId xmlns:a16="http://schemas.microsoft.com/office/drawing/2014/main" id="{82EFDBB5-C713-47B3-9BB4-860AD0AA3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básicas para construção de algoritmos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AFFE1C5-C1FA-6D3B-8E31-127C7B41C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551" y="2033420"/>
            <a:ext cx="4391095" cy="390564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73805F8-1ADC-30A4-7500-C0F8F7657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626" y="1169784"/>
            <a:ext cx="3731868" cy="560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240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39920-0325-A162-0C3A-F97C3DAC0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52C092E6-3B01-B277-DB3C-27C34FFF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7674CA-26E8-44C4-BF52-23358A0ACF47}" type="slidenum">
              <a:rPr lang="pt-BR" altLang="pt-BR"/>
              <a:pPr>
                <a:defRPr/>
              </a:pPr>
              <a:t>15</a:t>
            </a:fld>
            <a:endParaRPr lang="pt-BR" altLang="pt-BR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53257F15-64BC-4A5B-3E39-F67F4C153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59171" name="Text Box 3">
            <a:extLst>
              <a:ext uri="{FF2B5EF4-FFF2-40B4-BE49-F238E27FC236}">
                <a16:creationId xmlns:a16="http://schemas.microsoft.com/office/drawing/2014/main" id="{ECA97E80-22B8-F8C7-27E7-4E2FE02BA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pt-BR" altLang="pt-BR" b="1"/>
              <a:t>Estruturas básicas para construção de algoritmos</a:t>
            </a:r>
            <a:r>
              <a:rPr lang="pt-BR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C7214A5F-74B2-B152-FB21-0DBEAE9DC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59173" name="Rectangle 5">
            <a:extLst>
              <a:ext uri="{FF2B5EF4-FFF2-40B4-BE49-F238E27FC236}">
                <a16:creationId xmlns:a16="http://schemas.microsoft.com/office/drawing/2014/main" id="{998C4FED-CE8B-2223-A28D-0E2E5A373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1793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A estrutura de </a:t>
            </a:r>
            <a:r>
              <a:rPr lang="pt-BR" altLang="pt-BR" b="1" dirty="0">
                <a:effectLst/>
              </a:rPr>
              <a:t>Decisão ou Seleção </a:t>
            </a:r>
            <a:r>
              <a:rPr lang="pt-BR" altLang="pt-BR" dirty="0">
                <a:effectLst/>
              </a:rPr>
              <a:t> e,</a:t>
            </a:r>
          </a:p>
        </p:txBody>
      </p:sp>
      <p:sp>
        <p:nvSpPr>
          <p:cNvPr id="71687" name="Text Box 6">
            <a:extLst>
              <a:ext uri="{FF2B5EF4-FFF2-40B4-BE49-F238E27FC236}">
                <a16:creationId xmlns:a16="http://schemas.microsoft.com/office/drawing/2014/main" id="{8F7E559A-5973-4D3C-5340-BB0F6A544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básicas para construção de algoritmos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56917D3-3AF2-E700-FF17-F79522D68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12" y="1700808"/>
            <a:ext cx="2319975" cy="206349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3889679-E3C5-F5B4-57E9-D3A6D983CCF1}"/>
              </a:ext>
            </a:extLst>
          </p:cNvPr>
          <p:cNvSpPr txBox="1"/>
          <p:nvPr/>
        </p:nvSpPr>
        <p:spPr>
          <a:xfrm>
            <a:off x="3051070" y="1603386"/>
            <a:ext cx="8321783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#include &lt;stdio.h&gt;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#include &lt;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math.h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&gt;</a:t>
            </a:r>
          </a:p>
          <a:p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main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(){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float a, b, soma, sub,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mult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div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elev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char operador;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("Digite o primeiro numero: ");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scanf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("%f", &amp;a);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("Digite o segundo numero: ");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scanf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("%f", &amp;b);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("Digite a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operacao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: (+) (-)");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scanf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("%s", &amp;operador);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if (operador == '+'){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           		soma = a + b;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          		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("\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nA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soma dos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numeros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e' igual a: %.2f", soma);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	}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else if (operador=='-'){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           		sub  = a - b;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           	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("\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nA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subtracao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dos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numeros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e' igual a: %.2f", sub) 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	}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else {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           		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("\n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Operacao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invalida") ;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		}</a:t>
            </a:r>
          </a:p>
          <a:p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7691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1ED57446-9644-48CF-8DF6-C2D9EC45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7674CA-26E8-44C4-BF52-23358A0ACF47}" type="slidenum">
              <a:rPr lang="pt-BR" altLang="pt-BR"/>
              <a:pPr>
                <a:defRPr/>
              </a:pPr>
              <a:t>16</a:t>
            </a:fld>
            <a:endParaRPr lang="pt-BR" altLang="pt-BR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E705ACC4-E55B-4788-9A78-9D1FF8D7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59171" name="Text Box 3">
            <a:extLst>
              <a:ext uri="{FF2B5EF4-FFF2-40B4-BE49-F238E27FC236}">
                <a16:creationId xmlns:a16="http://schemas.microsoft.com/office/drawing/2014/main" id="{4638E44A-A8A0-4333-BBEA-E61A2C4A2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pt-BR" altLang="pt-BR" b="1"/>
              <a:t>Estruturas básicas para construção de algoritmos</a:t>
            </a:r>
            <a:r>
              <a:rPr lang="pt-BR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9CB26187-9AB5-4BD9-8455-6B2FC592D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59173" name="Rectangle 5">
            <a:extLst>
              <a:ext uri="{FF2B5EF4-FFF2-40B4-BE49-F238E27FC236}">
                <a16:creationId xmlns:a16="http://schemas.microsoft.com/office/drawing/2014/main" id="{F12C3A40-392F-4B40-A724-007F54D5B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1793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>
                <a:effectLst/>
              </a:rPr>
              <a:t>A estrutura de </a:t>
            </a:r>
            <a:r>
              <a:rPr lang="pt-BR" altLang="pt-BR" b="1" dirty="0">
                <a:effectLst/>
              </a:rPr>
              <a:t>Repetição ou 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Iteração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.</a:t>
            </a:r>
          </a:p>
        </p:txBody>
      </p:sp>
      <p:sp>
        <p:nvSpPr>
          <p:cNvPr id="71687" name="Text Box 6">
            <a:extLst>
              <a:ext uri="{FF2B5EF4-FFF2-40B4-BE49-F238E27FC236}">
                <a16:creationId xmlns:a16="http://schemas.microsoft.com/office/drawing/2014/main" id="{82EFDBB5-C713-47B3-9BB4-860AD0AA3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básicas para construção de algoritmos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C8380E-852E-A5E9-DA70-F75630744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542" y="1683192"/>
            <a:ext cx="5605461" cy="503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33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675F1-73D6-1E50-A56E-F926102A4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13241F45-B95E-5340-B566-94A02A2FA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7674CA-26E8-44C4-BF52-23358A0ACF47}" type="slidenum">
              <a:rPr lang="pt-BR" altLang="pt-BR"/>
              <a:pPr>
                <a:defRPr/>
              </a:pPr>
              <a:t>17</a:t>
            </a:fld>
            <a:endParaRPr lang="pt-BR" altLang="pt-BR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83895CF8-08FC-6FF9-4042-0917F5ABD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59171" name="Text Box 3">
            <a:extLst>
              <a:ext uri="{FF2B5EF4-FFF2-40B4-BE49-F238E27FC236}">
                <a16:creationId xmlns:a16="http://schemas.microsoft.com/office/drawing/2014/main" id="{2EDCA883-931A-B37A-6BC1-1557DE6B0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pt-BR" altLang="pt-BR" b="1"/>
              <a:t>Estruturas básicas para construção de algoritmos</a:t>
            </a:r>
            <a:r>
              <a:rPr lang="pt-BR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E682AD7A-C51B-1EF7-2495-28684BE22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159173" name="Rectangle 5">
            <a:extLst>
              <a:ext uri="{FF2B5EF4-FFF2-40B4-BE49-F238E27FC236}">
                <a16:creationId xmlns:a16="http://schemas.microsoft.com/office/drawing/2014/main" id="{B0E4385E-B96F-77AF-C49A-882B6E995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1793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indent="0" eaLnBrk="1" hangingPunct="1">
              <a:defRPr/>
            </a:pPr>
            <a:r>
              <a:rPr lang="pt-BR" altLang="pt-BR" dirty="0">
                <a:effectLst/>
              </a:rPr>
              <a:t>A estrutura de </a:t>
            </a:r>
            <a:r>
              <a:rPr lang="pt-BR" altLang="pt-BR" b="1" dirty="0">
                <a:effectLst/>
              </a:rPr>
              <a:t>Repetição ou 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Iteração</a:t>
            </a:r>
            <a:r>
              <a:rPr lang="pt-BR" altLang="pt-BR" dirty="0"/>
              <a:t> </a:t>
            </a:r>
            <a:r>
              <a:rPr lang="pt-BR" altLang="pt-BR" b="1" dirty="0">
                <a:effectLst/>
              </a:rPr>
              <a:t>.</a:t>
            </a:r>
          </a:p>
        </p:txBody>
      </p:sp>
      <p:sp>
        <p:nvSpPr>
          <p:cNvPr id="71687" name="Text Box 6">
            <a:extLst>
              <a:ext uri="{FF2B5EF4-FFF2-40B4-BE49-F238E27FC236}">
                <a16:creationId xmlns:a16="http://schemas.microsoft.com/office/drawing/2014/main" id="{02F2188A-042F-5BAE-8F8A-8110933BB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Estruturas básicas para construção de algoritmos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D5C780-1D8F-7B0F-0BCD-F8A82BAD2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767590"/>
            <a:ext cx="2743484" cy="246589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36C629C-8789-200E-F64A-851119E60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401" y="1163439"/>
            <a:ext cx="7419975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753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B7A8B44F-F245-4D06-9856-9DA99F56B10A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726C9A9C-330F-46A9-8D78-B4B92F1E73EF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18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78179" name="Rectangle 2">
            <a:extLst>
              <a:ext uri="{FF2B5EF4-FFF2-40B4-BE49-F238E27FC236}">
                <a16:creationId xmlns:a16="http://schemas.microsoft.com/office/drawing/2014/main" id="{B9163267-423C-450E-85FC-DA35301071A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Linguagem de Programação C</a:t>
            </a:r>
            <a:br>
              <a:rPr lang="pt-BR" altLang="pt-BR" b="0" dirty="0">
                <a:effectLst/>
              </a:rPr>
            </a:br>
            <a:endParaRPr lang="pt-BR" altLang="pt-BR" b="0" dirty="0">
              <a:effectLst/>
            </a:endParaRPr>
          </a:p>
        </p:txBody>
      </p:sp>
      <p:sp>
        <p:nvSpPr>
          <p:cNvPr id="1267715" name="Rectangle 3">
            <a:extLst>
              <a:ext uri="{FF2B5EF4-FFF2-40B4-BE49-F238E27FC236}">
                <a16:creationId xmlns:a16="http://schemas.microsoft.com/office/drawing/2014/main" id="{4C142F32-CDEF-4B00-8238-826504947A6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360354" algn="just" eaLnBrk="1" hangingPunct="1">
              <a:defRPr/>
            </a:pPr>
            <a:r>
              <a:rPr lang="pt-BR" altLang="pt-BR">
                <a:effectLst/>
              </a:rPr>
              <a:t>O C é "Case Sensitive", isto é, </a:t>
            </a:r>
            <a:r>
              <a:rPr lang="pt-BR" altLang="pt-BR" b="1">
                <a:effectLst/>
              </a:rPr>
              <a:t>maiúsculas e minúsculas fazem diferença</a:t>
            </a:r>
            <a:r>
              <a:rPr lang="pt-BR" altLang="pt-BR">
                <a:effectLst/>
              </a:rPr>
              <a:t>. Se declarar uma </a:t>
            </a:r>
            <a:r>
              <a:rPr lang="pt-BR" altLang="pt-BR" b="1">
                <a:effectLst/>
              </a:rPr>
              <a:t>variável</a:t>
            </a:r>
            <a:r>
              <a:rPr lang="pt-BR" altLang="pt-BR">
                <a:effectLst/>
              </a:rPr>
              <a:t> com o nome </a:t>
            </a:r>
            <a:r>
              <a:rPr lang="pt-BR" altLang="pt-BR" b="1">
                <a:effectLst/>
              </a:rPr>
              <a:t>soma</a:t>
            </a:r>
            <a:r>
              <a:rPr lang="pt-BR" altLang="pt-BR">
                <a:effectLst/>
              </a:rPr>
              <a:t> ela será diferente de </a:t>
            </a:r>
            <a:r>
              <a:rPr lang="pt-BR" altLang="pt-BR" b="1">
                <a:effectLst/>
              </a:rPr>
              <a:t>Soma, SOMA, SoMa ou sOmA</a:t>
            </a:r>
            <a:r>
              <a:rPr lang="pt-BR" altLang="pt-BR">
                <a:effectLst/>
              </a:rPr>
              <a:t>. Da mesma maneira, os </a:t>
            </a:r>
            <a:r>
              <a:rPr lang="pt-BR" altLang="pt-BR" b="1">
                <a:effectLst/>
              </a:rPr>
              <a:t>comandos</a:t>
            </a:r>
            <a:r>
              <a:rPr lang="pt-BR" altLang="pt-BR">
                <a:effectLst/>
              </a:rPr>
              <a:t> do C </a:t>
            </a:r>
            <a:r>
              <a:rPr lang="pt-BR" altLang="pt-BR" b="1">
                <a:effectLst/>
              </a:rPr>
              <a:t>if </a:t>
            </a:r>
            <a:r>
              <a:rPr lang="pt-BR" altLang="pt-BR">
                <a:effectLst/>
              </a:rPr>
              <a:t>e</a:t>
            </a:r>
            <a:r>
              <a:rPr lang="pt-BR" altLang="pt-BR" b="1">
                <a:effectLst/>
              </a:rPr>
              <a:t> for</a:t>
            </a:r>
            <a:r>
              <a:rPr lang="pt-BR" altLang="pt-BR">
                <a:effectLst/>
              </a:rPr>
              <a:t>, por exemplo, </a:t>
            </a:r>
            <a:r>
              <a:rPr lang="pt-BR" altLang="pt-BR" b="1">
                <a:effectLst/>
              </a:rPr>
              <a:t>só</a:t>
            </a:r>
            <a:r>
              <a:rPr lang="pt-BR" altLang="pt-BR">
                <a:effectLst/>
              </a:rPr>
              <a:t> podem ser escritos em </a:t>
            </a:r>
            <a:r>
              <a:rPr lang="pt-BR" altLang="pt-BR" b="1">
                <a:effectLst/>
              </a:rPr>
              <a:t>minúsculas</a:t>
            </a:r>
            <a:r>
              <a:rPr lang="pt-BR" altLang="pt-BR">
                <a:effectLst/>
              </a:rPr>
              <a:t> pois senão o compilador não irá interpretá-los como sendo comandos, mas sim como variáveis.</a:t>
            </a:r>
            <a:endParaRPr lang="pt-BR" altLang="pt-B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Espaço Reservado para Número de Slide 7">
            <a:extLst>
              <a:ext uri="{FF2B5EF4-FFF2-40B4-BE49-F238E27FC236}">
                <a16:creationId xmlns:a16="http://schemas.microsoft.com/office/drawing/2014/main" id="{61082C74-67F9-483F-8520-5F46938B3896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7CCC0EAD-A75A-4E46-BD26-BD0DDC74EAA2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19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9B32AC62-BB23-480D-830E-12DA9E66F87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Linguagem de Programação C</a:t>
            </a:r>
            <a:br>
              <a:rPr lang="pt-BR" altLang="pt-BR" b="0" dirty="0">
                <a:effectLst/>
              </a:rPr>
            </a:br>
            <a:r>
              <a:rPr lang="pt-BR" altLang="pt-BR" dirty="0">
                <a:effectLst/>
              </a:rPr>
              <a:t>Palavras Chaves</a:t>
            </a:r>
          </a:p>
        </p:txBody>
      </p:sp>
      <p:graphicFrame>
        <p:nvGraphicFramePr>
          <p:cNvPr id="133194" name="Group 74">
            <a:extLst>
              <a:ext uri="{FF2B5EF4-FFF2-40B4-BE49-F238E27FC236}">
                <a16:creationId xmlns:a16="http://schemas.microsoft.com/office/drawing/2014/main" id="{1B7E08C5-D17F-4F29-922C-0AEEEF385F64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3648078" y="1917701"/>
          <a:ext cx="5400676" cy="3600456"/>
        </p:xfrm>
        <a:graphic>
          <a:graphicData uri="http://schemas.openxmlformats.org/drawingml/2006/table">
            <a:tbl>
              <a:tblPr/>
              <a:tblGrid>
                <a:gridCol w="1350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85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auto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double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struct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26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break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else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long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switch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case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enum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register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typedef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26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char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extern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return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union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const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short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unsigned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26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continue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for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signed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void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5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default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goto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sizeof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volatile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263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do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if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static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while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33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7">
            <a:extLst>
              <a:ext uri="{FF2B5EF4-FFF2-40B4-BE49-F238E27FC236}">
                <a16:creationId xmlns:a16="http://schemas.microsoft.com/office/drawing/2014/main" id="{26B1AC42-3565-4E8C-A9F0-A19196EF65ED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F5992296-77E4-40CF-AE70-C965A9A7275D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20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84323" name="Rectangle 2">
            <a:extLst>
              <a:ext uri="{FF2B5EF4-FFF2-40B4-BE49-F238E27FC236}">
                <a16:creationId xmlns:a16="http://schemas.microsoft.com/office/drawing/2014/main" id="{32CB49C2-B14B-43D1-ACF5-A072CE814B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>
                <a:effectLst/>
              </a:rPr>
              <a:t>2.1 - Estrutura/execução de um programa</a:t>
            </a:r>
          </a:p>
        </p:txBody>
      </p:sp>
      <p:sp>
        <p:nvSpPr>
          <p:cNvPr id="1254403" name="Rectangle 3">
            <a:extLst>
              <a:ext uri="{FF2B5EF4-FFF2-40B4-BE49-F238E27FC236}">
                <a16:creationId xmlns:a16="http://schemas.microsoft.com/office/drawing/2014/main" id="{2D4B800F-936A-447A-9066-A9D0E1C72E96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81204" y="1700213"/>
            <a:ext cx="8507413" cy="4608512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pt-BR" altLang="pt-BR" b="1" dirty="0"/>
              <a:t>O que é linguagem estruturada?</a:t>
            </a:r>
          </a:p>
        </p:txBody>
      </p:sp>
      <p:pic>
        <p:nvPicPr>
          <p:cNvPr id="184325" name="Picture 9">
            <a:extLst>
              <a:ext uri="{FF2B5EF4-FFF2-40B4-BE49-F238E27FC236}">
                <a16:creationId xmlns:a16="http://schemas.microsoft.com/office/drawing/2014/main" id="{6E7A9490-101C-4085-B958-EEB20E373271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r="1070" b="8267"/>
          <a:stretch>
            <a:fillRect/>
          </a:stretch>
        </p:blipFill>
        <p:spPr>
          <a:xfrm>
            <a:off x="1806577" y="2133604"/>
            <a:ext cx="8682039" cy="1255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26" name="Picture 11">
            <a:extLst>
              <a:ext uri="{FF2B5EF4-FFF2-40B4-BE49-F238E27FC236}">
                <a16:creationId xmlns:a16="http://schemas.microsoft.com/office/drawing/2014/main" id="{05C9E4E3-8443-4D49-B59B-066CFABEE4C9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1813" y="3455992"/>
            <a:ext cx="8686800" cy="30686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4413" name="Rectangle 13">
            <a:extLst>
              <a:ext uri="{FF2B5EF4-FFF2-40B4-BE49-F238E27FC236}">
                <a16:creationId xmlns:a16="http://schemas.microsoft.com/office/drawing/2014/main" id="{F538B264-D867-4075-A5D7-346003061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9030" y="2200554"/>
            <a:ext cx="1851025" cy="369332"/>
          </a:xfrm>
          <a:prstGeom prst="rect">
            <a:avLst/>
          </a:prstGeom>
          <a:noFill/>
          <a:ln w="38100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54414" name="Rectangle 14">
            <a:extLst>
              <a:ext uri="{FF2B5EF4-FFF2-40B4-BE49-F238E27FC236}">
                <a16:creationId xmlns:a16="http://schemas.microsoft.com/office/drawing/2014/main" id="{26AF53C8-94D3-416F-BB8B-D74BFFAFB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2473603"/>
            <a:ext cx="3898900" cy="369332"/>
          </a:xfrm>
          <a:prstGeom prst="rect">
            <a:avLst/>
          </a:prstGeom>
          <a:noFill/>
          <a:ln w="38100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54415" name="Rectangle 15">
            <a:extLst>
              <a:ext uri="{FF2B5EF4-FFF2-40B4-BE49-F238E27FC236}">
                <a16:creationId xmlns:a16="http://schemas.microsoft.com/office/drawing/2014/main" id="{9E30DE4D-A4A0-4FC1-91DF-65594A3DA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8054" y="3395943"/>
            <a:ext cx="5770563" cy="369332"/>
          </a:xfrm>
          <a:prstGeom prst="rect">
            <a:avLst/>
          </a:prstGeom>
          <a:noFill/>
          <a:ln w="38100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54416" name="Rectangle 16">
            <a:extLst>
              <a:ext uri="{FF2B5EF4-FFF2-40B4-BE49-F238E27FC236}">
                <a16:creationId xmlns:a16="http://schemas.microsoft.com/office/drawing/2014/main" id="{B0EAFB0C-4A39-4426-A23E-65A950C30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3711854"/>
            <a:ext cx="2160588" cy="369332"/>
          </a:xfrm>
          <a:prstGeom prst="rect">
            <a:avLst/>
          </a:prstGeom>
          <a:noFill/>
          <a:ln w="38100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54417" name="Rectangle 17">
            <a:extLst>
              <a:ext uri="{FF2B5EF4-FFF2-40B4-BE49-F238E27FC236}">
                <a16:creationId xmlns:a16="http://schemas.microsoft.com/office/drawing/2014/main" id="{716A33D6-A611-45D0-B539-536859080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0539" y="4923118"/>
            <a:ext cx="8723312" cy="369332"/>
          </a:xfrm>
          <a:prstGeom prst="rect">
            <a:avLst/>
          </a:prstGeom>
          <a:noFill/>
          <a:ln w="38100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54418" name="Rectangle 18">
            <a:extLst>
              <a:ext uri="{FF2B5EF4-FFF2-40B4-BE49-F238E27FC236}">
                <a16:creationId xmlns:a16="http://schemas.microsoft.com/office/drawing/2014/main" id="{567E3B16-334E-4926-94A8-6B9403848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543" y="5872443"/>
            <a:ext cx="184731" cy="36933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54419" name="Rectangle 19">
            <a:extLst>
              <a:ext uri="{FF2B5EF4-FFF2-40B4-BE49-F238E27FC236}">
                <a16:creationId xmlns:a16="http://schemas.microsoft.com/office/drawing/2014/main" id="{0AB1AA11-7330-4333-8FCC-16E3E072C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8" y="6197084"/>
            <a:ext cx="184731" cy="36933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7">
            <a:extLst>
              <a:ext uri="{FF2B5EF4-FFF2-40B4-BE49-F238E27FC236}">
                <a16:creationId xmlns:a16="http://schemas.microsoft.com/office/drawing/2014/main" id="{26B1AC42-3565-4E8C-A9F0-A19196EF65ED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F5992296-77E4-40CF-AE70-C965A9A7275D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21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84323" name="Rectangle 2">
            <a:extLst>
              <a:ext uri="{FF2B5EF4-FFF2-40B4-BE49-F238E27FC236}">
                <a16:creationId xmlns:a16="http://schemas.microsoft.com/office/drawing/2014/main" id="{32CB49C2-B14B-43D1-ACF5-A072CE814B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2.1 - Estrutura/execução de um programa</a:t>
            </a:r>
          </a:p>
        </p:txBody>
      </p:sp>
      <p:sp>
        <p:nvSpPr>
          <p:cNvPr id="1254403" name="Rectangle 3">
            <a:extLst>
              <a:ext uri="{FF2B5EF4-FFF2-40B4-BE49-F238E27FC236}">
                <a16:creationId xmlns:a16="http://schemas.microsoft.com/office/drawing/2014/main" id="{2D4B800F-936A-447A-9066-A9D0E1C72E96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81204" y="1700213"/>
            <a:ext cx="8507413" cy="4608512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pt-BR" altLang="pt-BR" b="1"/>
              <a:t>O que é linguagem estruturada?</a:t>
            </a:r>
          </a:p>
        </p:txBody>
      </p:sp>
      <p:sp>
        <p:nvSpPr>
          <p:cNvPr id="1254418" name="Rectangle 18">
            <a:extLst>
              <a:ext uri="{FF2B5EF4-FFF2-40B4-BE49-F238E27FC236}">
                <a16:creationId xmlns:a16="http://schemas.microsoft.com/office/drawing/2014/main" id="{567E3B16-334E-4926-94A8-6B9403848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543" y="5872443"/>
            <a:ext cx="184731" cy="36933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54419" name="Rectangle 19">
            <a:extLst>
              <a:ext uri="{FF2B5EF4-FFF2-40B4-BE49-F238E27FC236}">
                <a16:creationId xmlns:a16="http://schemas.microsoft.com/office/drawing/2014/main" id="{0AB1AA11-7330-4333-8FCC-16E3E072C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8" y="6197084"/>
            <a:ext cx="184731" cy="36933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B7A6457-49A0-4841-9E62-D0A50CDE5BE1}"/>
              </a:ext>
            </a:extLst>
          </p:cNvPr>
          <p:cNvSpPr/>
          <p:nvPr/>
        </p:nvSpPr>
        <p:spPr>
          <a:xfrm>
            <a:off x="0" y="907462"/>
            <a:ext cx="7355160" cy="6124754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400" dirty="0"/>
              <a:t>#include &lt;</a:t>
            </a:r>
            <a:r>
              <a:rPr lang="pt-BR" sz="1400" dirty="0" err="1"/>
              <a:t>stdio.h</a:t>
            </a:r>
            <a:r>
              <a:rPr lang="pt-BR" sz="1400" dirty="0"/>
              <a:t>&gt;</a:t>
            </a:r>
          </a:p>
          <a:p>
            <a:r>
              <a:rPr lang="pt-BR" sz="1400" dirty="0"/>
              <a:t>#include &lt;</a:t>
            </a:r>
            <a:r>
              <a:rPr lang="pt-BR" sz="1400" dirty="0" err="1"/>
              <a:t>conio.h</a:t>
            </a:r>
            <a:r>
              <a:rPr lang="pt-BR" sz="1400" dirty="0"/>
              <a:t>&gt;</a:t>
            </a:r>
          </a:p>
          <a:p>
            <a:r>
              <a:rPr lang="pt-BR" sz="1400" dirty="0"/>
              <a:t>#include "</a:t>
            </a:r>
            <a:r>
              <a:rPr lang="pt-BR" sz="1400" dirty="0" err="1"/>
              <a:t>Matematica.h</a:t>
            </a:r>
            <a:r>
              <a:rPr lang="pt-BR" sz="1400" dirty="0"/>
              <a:t>"</a:t>
            </a:r>
          </a:p>
          <a:p>
            <a:endParaRPr lang="pt-BR" sz="1400" dirty="0"/>
          </a:p>
          <a:p>
            <a:r>
              <a:rPr lang="pt-BR" sz="1400" dirty="0" err="1"/>
              <a:t>int</a:t>
            </a:r>
            <a:r>
              <a:rPr lang="pt-BR" sz="1400" dirty="0"/>
              <a:t> </a:t>
            </a:r>
            <a:r>
              <a:rPr lang="pt-BR" sz="1400" dirty="0" err="1"/>
              <a:t>main</a:t>
            </a:r>
            <a:r>
              <a:rPr lang="pt-BR" sz="1400" dirty="0"/>
              <a:t>()     {</a:t>
            </a:r>
          </a:p>
          <a:p>
            <a:r>
              <a:rPr lang="pt-BR" sz="1400" dirty="0" err="1"/>
              <a:t>float</a:t>
            </a:r>
            <a:r>
              <a:rPr lang="pt-BR" sz="1400" dirty="0"/>
              <a:t> num_1, num_2, </a:t>
            </a:r>
            <a:r>
              <a:rPr lang="pt-BR" sz="1400" dirty="0" err="1"/>
              <a:t>operacao</a:t>
            </a:r>
            <a:r>
              <a:rPr lang="pt-BR" sz="1400" dirty="0"/>
              <a:t>;</a:t>
            </a:r>
          </a:p>
          <a:p>
            <a:r>
              <a:rPr lang="pt-BR" sz="1400" dirty="0"/>
              <a:t>char </a:t>
            </a:r>
            <a:r>
              <a:rPr lang="pt-BR" sz="1400" dirty="0" err="1"/>
              <a:t>op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("\n Entre com a </a:t>
            </a:r>
            <a:r>
              <a:rPr lang="pt-BR" sz="1400" dirty="0" err="1"/>
              <a:t>operacao</a:t>
            </a:r>
            <a:r>
              <a:rPr lang="pt-BR" sz="1400" dirty="0"/>
              <a:t> desejada: (+), (-) ou para finalizar (.): \n");</a:t>
            </a:r>
          </a:p>
          <a:p>
            <a:r>
              <a:rPr lang="pt-BR" sz="1400" dirty="0" err="1"/>
              <a:t>scanf</a:t>
            </a:r>
            <a:r>
              <a:rPr lang="pt-BR" sz="1400" dirty="0"/>
              <a:t>("%s",&amp;</a:t>
            </a:r>
            <a:r>
              <a:rPr lang="pt-BR" sz="1400" dirty="0" err="1"/>
              <a:t>op</a:t>
            </a:r>
            <a:r>
              <a:rPr lang="pt-BR" sz="1400" dirty="0"/>
              <a:t>);</a:t>
            </a:r>
          </a:p>
          <a:p>
            <a:r>
              <a:rPr lang="pt-BR" sz="1400" dirty="0" err="1"/>
              <a:t>while</a:t>
            </a:r>
            <a:r>
              <a:rPr lang="pt-BR" sz="1400" dirty="0"/>
              <a:t> (</a:t>
            </a:r>
            <a:r>
              <a:rPr lang="pt-BR" sz="1400" dirty="0" err="1"/>
              <a:t>op</a:t>
            </a:r>
            <a:r>
              <a:rPr lang="pt-BR" sz="1400" dirty="0"/>
              <a:t> != '.'){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("Entre com o 1o. Numero:\n ");</a:t>
            </a:r>
          </a:p>
          <a:p>
            <a:r>
              <a:rPr lang="pt-BR" sz="1400" dirty="0" err="1"/>
              <a:t>scanf</a:t>
            </a:r>
            <a:r>
              <a:rPr lang="pt-BR" sz="1400" dirty="0"/>
              <a:t>("%f",&amp;num_1);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("Entre com o 2o. Numero: \n");</a:t>
            </a:r>
          </a:p>
          <a:p>
            <a:r>
              <a:rPr lang="pt-BR" sz="1400" dirty="0" err="1"/>
              <a:t>scanf</a:t>
            </a:r>
            <a:r>
              <a:rPr lang="pt-BR" sz="1400" dirty="0"/>
              <a:t>("%f",&amp;num_2);</a:t>
            </a:r>
          </a:p>
          <a:p>
            <a:r>
              <a:rPr lang="pt-BR" sz="1400" dirty="0"/>
              <a:t>switch(</a:t>
            </a:r>
            <a:r>
              <a:rPr lang="pt-BR" sz="1400" dirty="0" err="1"/>
              <a:t>op</a:t>
            </a:r>
            <a:r>
              <a:rPr lang="pt-BR" sz="1400" dirty="0"/>
              <a:t>){</a:t>
            </a:r>
          </a:p>
          <a:p>
            <a:r>
              <a:rPr lang="pt-BR" sz="1400" dirty="0"/>
              <a:t>case '+' :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operacao</a:t>
            </a:r>
            <a:r>
              <a:rPr lang="pt-BR" sz="1400" dirty="0"/>
              <a:t> = soma(num_1,num_2);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("\</a:t>
            </a:r>
            <a:r>
              <a:rPr lang="pt-BR" sz="1400" dirty="0" err="1"/>
              <a:t>nA</a:t>
            </a:r>
            <a:r>
              <a:rPr lang="pt-BR" sz="1400" dirty="0"/>
              <a:t> soma destes </a:t>
            </a:r>
            <a:r>
              <a:rPr lang="pt-BR" sz="1400" dirty="0" err="1"/>
              <a:t>numeros</a:t>
            </a:r>
            <a:r>
              <a:rPr lang="pt-BR" sz="1400" dirty="0"/>
              <a:t> e' %.2f", </a:t>
            </a:r>
            <a:r>
              <a:rPr lang="pt-BR" sz="1400" dirty="0" err="1"/>
              <a:t>operacao</a:t>
            </a:r>
            <a:r>
              <a:rPr lang="pt-BR" sz="1400" dirty="0"/>
              <a:t>);</a:t>
            </a:r>
          </a:p>
          <a:p>
            <a:r>
              <a:rPr lang="pt-BR" sz="1400" dirty="0"/>
              <a:t>break;</a:t>
            </a:r>
          </a:p>
          <a:p>
            <a:r>
              <a:rPr lang="pt-BR" sz="1400" dirty="0"/>
              <a:t>case '-' :</a:t>
            </a:r>
            <a:r>
              <a:rPr lang="pt-BR" sz="1400" dirty="0" err="1"/>
              <a:t>operacao</a:t>
            </a:r>
            <a:r>
              <a:rPr lang="pt-BR" sz="1400" dirty="0"/>
              <a:t> = </a:t>
            </a:r>
            <a:r>
              <a:rPr lang="pt-BR" sz="1400" dirty="0" err="1"/>
              <a:t>subtracao</a:t>
            </a:r>
            <a:r>
              <a:rPr lang="pt-BR" sz="1400" dirty="0"/>
              <a:t>(num_1,num_2);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("\</a:t>
            </a:r>
            <a:r>
              <a:rPr lang="pt-BR" sz="1400" dirty="0" err="1"/>
              <a:t>nA</a:t>
            </a:r>
            <a:r>
              <a:rPr lang="pt-BR" sz="1400" dirty="0"/>
              <a:t> </a:t>
            </a:r>
            <a:r>
              <a:rPr lang="pt-BR" sz="1400" dirty="0" err="1"/>
              <a:t>subtracao</a:t>
            </a:r>
            <a:r>
              <a:rPr lang="pt-BR" sz="1400" dirty="0"/>
              <a:t> destes </a:t>
            </a:r>
            <a:r>
              <a:rPr lang="pt-BR" sz="1400" dirty="0" err="1"/>
              <a:t>numeros</a:t>
            </a:r>
            <a:r>
              <a:rPr lang="pt-BR" sz="1400" dirty="0"/>
              <a:t> e' %.2f", </a:t>
            </a:r>
            <a:r>
              <a:rPr lang="pt-BR" sz="1400" dirty="0" err="1"/>
              <a:t>operacao</a:t>
            </a:r>
            <a:r>
              <a:rPr lang="pt-BR" sz="1400" dirty="0"/>
              <a:t>);</a:t>
            </a:r>
          </a:p>
          <a:p>
            <a:r>
              <a:rPr lang="pt-BR" sz="1400" dirty="0"/>
              <a:t>break;</a:t>
            </a:r>
          </a:p>
          <a:p>
            <a:r>
              <a:rPr lang="pt-BR" sz="1400" dirty="0"/>
              <a:t>default  : </a:t>
            </a:r>
            <a:r>
              <a:rPr lang="pt-BR" sz="1400" dirty="0" err="1"/>
              <a:t>printf</a:t>
            </a:r>
            <a:r>
              <a:rPr lang="pt-BR" sz="1400" dirty="0"/>
              <a:t>("Operador desconhecido\n");</a:t>
            </a:r>
          </a:p>
          <a:p>
            <a:r>
              <a:rPr lang="pt-BR" sz="1400" dirty="0"/>
              <a:t>}</a:t>
            </a:r>
          </a:p>
          <a:p>
            <a:r>
              <a:rPr lang="pt-BR" sz="1400" dirty="0" err="1"/>
              <a:t>printf</a:t>
            </a:r>
            <a:r>
              <a:rPr lang="pt-BR" sz="1400" dirty="0"/>
              <a:t>("\n Entre com a </a:t>
            </a:r>
            <a:r>
              <a:rPr lang="pt-BR" sz="1400" dirty="0" err="1"/>
              <a:t>operacao</a:t>
            </a:r>
            <a:r>
              <a:rPr lang="pt-BR" sz="1400" dirty="0"/>
              <a:t> desejada: (+), (-) ou para finalizar (.): \n");</a:t>
            </a:r>
          </a:p>
          <a:p>
            <a:r>
              <a:rPr lang="pt-BR" sz="1400" dirty="0" err="1"/>
              <a:t>scanf</a:t>
            </a:r>
            <a:r>
              <a:rPr lang="pt-BR" sz="1400" dirty="0"/>
              <a:t>("%s",&amp;</a:t>
            </a:r>
            <a:r>
              <a:rPr lang="pt-BR" sz="1400" dirty="0" err="1"/>
              <a:t>op</a:t>
            </a:r>
            <a:r>
              <a:rPr lang="pt-BR" sz="1400" dirty="0"/>
              <a:t>);</a:t>
            </a:r>
          </a:p>
          <a:p>
            <a:r>
              <a:rPr lang="pt-BR" sz="1400" dirty="0"/>
              <a:t>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6B756BD-7516-47D2-B0C6-871D4D12B6C4}"/>
              </a:ext>
            </a:extLst>
          </p:cNvPr>
          <p:cNvSpPr/>
          <p:nvPr/>
        </p:nvSpPr>
        <p:spPr>
          <a:xfrm>
            <a:off x="7333205" y="2684980"/>
            <a:ext cx="3538041" cy="313932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pt-BR" dirty="0"/>
              <a:t>//“arquivo </a:t>
            </a:r>
            <a:r>
              <a:rPr lang="pt-BR" dirty="0" err="1"/>
              <a:t>Matematica.h</a:t>
            </a:r>
            <a:r>
              <a:rPr lang="pt-BR" dirty="0"/>
              <a:t>"</a:t>
            </a:r>
          </a:p>
          <a:p>
            <a:r>
              <a:rPr lang="pt-BR" dirty="0" err="1"/>
              <a:t>float</a:t>
            </a:r>
            <a:r>
              <a:rPr lang="pt-BR" dirty="0"/>
              <a:t> soma(</a:t>
            </a:r>
            <a:r>
              <a:rPr lang="pt-BR" dirty="0" err="1"/>
              <a:t>float</a:t>
            </a:r>
            <a:r>
              <a:rPr lang="pt-BR" dirty="0"/>
              <a:t> a, </a:t>
            </a:r>
            <a:r>
              <a:rPr lang="pt-BR" dirty="0" err="1"/>
              <a:t>float</a:t>
            </a:r>
            <a:r>
              <a:rPr lang="pt-BR" dirty="0"/>
              <a:t> b){</a:t>
            </a:r>
          </a:p>
          <a:p>
            <a:r>
              <a:rPr lang="pt-BR" dirty="0"/>
              <a:t>       </a:t>
            </a:r>
            <a:r>
              <a:rPr lang="pt-BR" dirty="0" err="1"/>
              <a:t>float</a:t>
            </a:r>
            <a:r>
              <a:rPr lang="pt-BR" dirty="0"/>
              <a:t> soma1;</a:t>
            </a:r>
          </a:p>
          <a:p>
            <a:r>
              <a:rPr lang="pt-BR" dirty="0"/>
              <a:t>       soma1 = a + b;</a:t>
            </a:r>
          </a:p>
          <a:p>
            <a:r>
              <a:rPr lang="pt-BR" dirty="0"/>
              <a:t>      </a:t>
            </a:r>
            <a:r>
              <a:rPr lang="pt-BR" dirty="0" err="1"/>
              <a:t>return</a:t>
            </a:r>
            <a:r>
              <a:rPr lang="pt-BR" dirty="0"/>
              <a:t>(soma1);</a:t>
            </a:r>
          </a:p>
          <a:p>
            <a:r>
              <a:rPr lang="pt-BR" dirty="0"/>
              <a:t>	}</a:t>
            </a:r>
          </a:p>
          <a:p>
            <a:r>
              <a:rPr lang="pt-BR" dirty="0" err="1"/>
              <a:t>float</a:t>
            </a:r>
            <a:r>
              <a:rPr lang="pt-BR" dirty="0"/>
              <a:t> </a:t>
            </a:r>
            <a:r>
              <a:rPr lang="pt-BR" dirty="0" err="1"/>
              <a:t>subtracao</a:t>
            </a:r>
            <a:r>
              <a:rPr lang="pt-BR" dirty="0"/>
              <a:t>(</a:t>
            </a:r>
            <a:r>
              <a:rPr lang="pt-BR" dirty="0" err="1"/>
              <a:t>float</a:t>
            </a:r>
            <a:r>
              <a:rPr lang="pt-BR" dirty="0"/>
              <a:t> a, </a:t>
            </a:r>
            <a:r>
              <a:rPr lang="pt-BR" dirty="0" err="1"/>
              <a:t>float</a:t>
            </a:r>
            <a:r>
              <a:rPr lang="pt-BR" dirty="0"/>
              <a:t> b){</a:t>
            </a:r>
          </a:p>
          <a:p>
            <a:r>
              <a:rPr lang="pt-BR" dirty="0"/>
              <a:t>     </a:t>
            </a:r>
            <a:r>
              <a:rPr lang="pt-BR" dirty="0" err="1"/>
              <a:t>float</a:t>
            </a:r>
            <a:r>
              <a:rPr lang="pt-BR" dirty="0"/>
              <a:t> sub;</a:t>
            </a:r>
          </a:p>
          <a:p>
            <a:r>
              <a:rPr lang="pt-BR" dirty="0"/>
              <a:t>     sub = a - b;</a:t>
            </a:r>
          </a:p>
          <a:p>
            <a:r>
              <a:rPr lang="pt-BR" dirty="0"/>
              <a:t>     </a:t>
            </a:r>
            <a:r>
              <a:rPr lang="pt-BR" dirty="0" err="1"/>
              <a:t>return</a:t>
            </a:r>
            <a:r>
              <a:rPr lang="pt-BR" dirty="0"/>
              <a:t>(sub);</a:t>
            </a:r>
          </a:p>
          <a:p>
            <a:r>
              <a:rPr lang="pt-BR" dirty="0"/>
              <a:t>	}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3021E0F-4549-F62D-6B36-5E683D0FD4B0}"/>
              </a:ext>
            </a:extLst>
          </p:cNvPr>
          <p:cNvSpPr/>
          <p:nvPr/>
        </p:nvSpPr>
        <p:spPr bwMode="auto">
          <a:xfrm>
            <a:off x="0" y="1340768"/>
            <a:ext cx="2135560" cy="359445"/>
          </a:xfrm>
          <a:prstGeom prst="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D23974F-D2F2-BC98-1173-6BC11F5557C0}"/>
              </a:ext>
            </a:extLst>
          </p:cNvPr>
          <p:cNvSpPr/>
          <p:nvPr/>
        </p:nvSpPr>
        <p:spPr bwMode="auto">
          <a:xfrm>
            <a:off x="7476592" y="2636912"/>
            <a:ext cx="2651856" cy="359445"/>
          </a:xfrm>
          <a:prstGeom prst="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84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9BB13F0F-CE22-484A-B4F6-047A071D8F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2.1 - Estrutura/execução de um programa</a:t>
            </a:r>
            <a:endParaRPr lang="es-ES" altLang="pt-BR">
              <a:effectLst/>
            </a:endParaRPr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EA701FCC-8D96-47BE-B7ED-4135138162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pt-BR" altLang="pt-BR" dirty="0">
                <a:effectLst/>
              </a:rPr>
              <a:t>As funções têm a seguinte estrutura: </a:t>
            </a:r>
          </a:p>
          <a:p>
            <a:pPr algn="l"/>
            <a:r>
              <a:rPr lang="pt-BR" altLang="pt-BR" dirty="0">
                <a:effectLst/>
              </a:rPr>
              <a:t>tipo </a:t>
            </a:r>
            <a:r>
              <a:rPr lang="pt-BR" altLang="pt-BR" dirty="0" err="1">
                <a:effectLst/>
              </a:rPr>
              <a:t>nome_da_funcao</a:t>
            </a:r>
            <a:r>
              <a:rPr lang="pt-BR" altLang="pt-BR" dirty="0">
                <a:effectLst/>
              </a:rPr>
              <a:t>(parâmetros) 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{ 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  variáveis locais </a:t>
            </a:r>
          </a:p>
          <a:p>
            <a:pPr algn="l"/>
            <a:r>
              <a:rPr lang="pt-BR" altLang="pt-BR" dirty="0">
                <a:effectLst/>
              </a:rPr>
              <a:t>  instruções em C 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}</a:t>
            </a:r>
          </a:p>
        </p:txBody>
      </p:sp>
      <p:sp>
        <p:nvSpPr>
          <p:cNvPr id="192516" name="Rectangle 4">
            <a:extLst>
              <a:ext uri="{FF2B5EF4-FFF2-40B4-BE49-F238E27FC236}">
                <a16:creationId xmlns:a16="http://schemas.microsoft.com/office/drawing/2014/main" id="{ECBEDE98-B68C-48F7-B597-1E2C264A9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2" y="2708277"/>
            <a:ext cx="5113339" cy="3108543"/>
          </a:xfrm>
          <a:prstGeom prst="rect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Aft>
                <a:spcPct val="0"/>
              </a:spcAft>
              <a:buSzTx/>
            </a:pPr>
            <a:r>
              <a:rPr lang="pt-BR" altLang="pt-BR" sz="2000" dirty="0">
                <a:solidFill>
                  <a:schemeClr val="tx1"/>
                </a:solidFill>
              </a:rPr>
              <a:t>#include &lt;stdio.h&gt;</a:t>
            </a:r>
          </a:p>
          <a:p>
            <a:pPr algn="l">
              <a:spcAft>
                <a:spcPct val="0"/>
              </a:spcAft>
              <a:buSzTx/>
            </a:pPr>
            <a:r>
              <a:rPr lang="pt-BR" altLang="pt-BR" sz="2000" dirty="0" err="1">
                <a:solidFill>
                  <a:schemeClr val="tx1"/>
                </a:solidFill>
              </a:rPr>
              <a:t>main</a:t>
            </a:r>
            <a:r>
              <a:rPr lang="pt-BR" altLang="pt-BR" sz="2000" dirty="0">
                <a:solidFill>
                  <a:schemeClr val="tx1"/>
                </a:solidFill>
              </a:rPr>
              <a:t>(void) </a:t>
            </a:r>
            <a:br>
              <a:rPr lang="pt-BR" altLang="pt-BR" sz="2000" dirty="0">
                <a:solidFill>
                  <a:schemeClr val="tx1"/>
                </a:solidFill>
              </a:rPr>
            </a:br>
            <a:r>
              <a:rPr lang="pt-BR" altLang="pt-BR" sz="2000" dirty="0">
                <a:solidFill>
                  <a:schemeClr val="tx1"/>
                </a:solidFill>
              </a:rPr>
              <a:t>{ </a:t>
            </a:r>
            <a:br>
              <a:rPr lang="pt-BR" altLang="pt-BR" sz="2000" dirty="0">
                <a:solidFill>
                  <a:schemeClr val="tx1"/>
                </a:solidFill>
              </a:rPr>
            </a:br>
            <a:r>
              <a:rPr lang="pt-BR" altLang="pt-BR" sz="2000" dirty="0">
                <a:solidFill>
                  <a:schemeClr val="tx1"/>
                </a:solidFill>
              </a:rPr>
              <a:t>int i=1;</a:t>
            </a:r>
          </a:p>
          <a:p>
            <a:pPr algn="l">
              <a:buSzTx/>
            </a:pPr>
            <a:r>
              <a:rPr lang="pt-BR" altLang="pt-BR" sz="2000" dirty="0" err="1">
                <a:solidFill>
                  <a:schemeClr val="tx1"/>
                </a:solidFill>
              </a:rPr>
              <a:t>printf</a:t>
            </a:r>
            <a:r>
              <a:rPr lang="pt-BR" altLang="pt-BR" sz="2000" dirty="0">
                <a:solidFill>
                  <a:schemeClr val="tx1"/>
                </a:solidFill>
              </a:rPr>
              <a:t>("Eu gosto de programar em C\n");</a:t>
            </a:r>
          </a:p>
          <a:p>
            <a:pPr algn="l">
              <a:buSzTx/>
            </a:pPr>
            <a:r>
              <a:rPr lang="pt-BR" altLang="pt-BR" sz="2000" dirty="0" err="1">
                <a:solidFill>
                  <a:schemeClr val="tx1"/>
                </a:solidFill>
              </a:rPr>
              <a:t>printf</a:t>
            </a:r>
            <a:r>
              <a:rPr lang="pt-BR" altLang="pt-BR" sz="2000" dirty="0">
                <a:solidFill>
                  <a:schemeClr val="tx1"/>
                </a:solidFill>
              </a:rPr>
              <a:t>(“A variável i = %d “,i);</a:t>
            </a:r>
          </a:p>
          <a:p>
            <a:pPr algn="l">
              <a:buSzTx/>
            </a:pPr>
            <a:br>
              <a:rPr lang="pt-BR" altLang="pt-BR" sz="2000" dirty="0">
                <a:solidFill>
                  <a:schemeClr val="tx1"/>
                </a:solidFill>
              </a:rPr>
            </a:br>
            <a:r>
              <a:rPr lang="pt-BR" altLang="pt-BR" sz="2000" dirty="0">
                <a:solidFill>
                  <a:schemeClr val="tx1"/>
                </a:solidFill>
              </a:rPr>
              <a:t>}</a:t>
            </a:r>
            <a:endParaRPr lang="es-ES" altLang="pt-BR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BCF57E5A-26CC-435D-B2E4-54B4745B5C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2.1 - Estrutura/execução de um programa</a:t>
            </a:r>
            <a:endParaRPr lang="es-ES" altLang="pt-BR">
              <a:effectLst/>
            </a:endParaRPr>
          </a:p>
        </p:txBody>
      </p:sp>
      <p:sp>
        <p:nvSpPr>
          <p:cNvPr id="193539" name="Rectangle 3">
            <a:extLst>
              <a:ext uri="{FF2B5EF4-FFF2-40B4-BE49-F238E27FC236}">
                <a16:creationId xmlns:a16="http://schemas.microsoft.com/office/drawing/2014/main" id="{E29A8976-D174-417E-AB5C-85F850E01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3352" y="1412875"/>
            <a:ext cx="11319048" cy="46085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pt-BR" altLang="pt-BR" dirty="0">
                <a:effectLst/>
              </a:rPr>
              <a:t>Assim o programa:</a:t>
            </a:r>
          </a:p>
          <a:p>
            <a:pPr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Contém apenas uma função (a função </a:t>
            </a:r>
            <a:r>
              <a:rPr lang="pt-BR" altLang="pt-BR" b="1" dirty="0" err="1">
                <a:effectLst/>
              </a:rPr>
              <a:t>main</a:t>
            </a:r>
            <a:r>
              <a:rPr lang="pt-BR" altLang="pt-BR" b="1" dirty="0">
                <a:effectLst/>
              </a:rPr>
              <a:t>()</a:t>
            </a:r>
            <a:r>
              <a:rPr lang="pt-BR" altLang="pt-BR" dirty="0">
                <a:effectLst/>
              </a:rPr>
              <a:t>, que é obrigatória) e que não tem parâmetros (void). </a:t>
            </a:r>
          </a:p>
          <a:p>
            <a:pPr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Como instrução da função temos apenas a chamada a </a:t>
            </a:r>
            <a:r>
              <a:rPr lang="pt-BR" altLang="pt-BR" b="1" dirty="0" err="1">
                <a:effectLst/>
              </a:rPr>
              <a:t>printf</a:t>
            </a:r>
            <a:r>
              <a:rPr lang="pt-BR" altLang="pt-BR" b="1" dirty="0">
                <a:effectLst/>
              </a:rPr>
              <a:t>()</a:t>
            </a:r>
            <a:r>
              <a:rPr lang="pt-BR" altLang="pt-BR" dirty="0">
                <a:effectLst/>
              </a:rPr>
              <a:t>, que escreve no vídeo a frase </a:t>
            </a:r>
            <a:r>
              <a:rPr lang="pt-BR" altLang="pt-BR" b="1" dirty="0">
                <a:effectLst/>
              </a:rPr>
              <a:t>Eu gosto de programar em C</a:t>
            </a:r>
            <a:r>
              <a:rPr lang="pt-BR" altLang="pt-BR" dirty="0">
                <a:effectLst/>
              </a:rPr>
              <a:t> </a:t>
            </a:r>
          </a:p>
          <a:p>
            <a:pPr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A instrução </a:t>
            </a:r>
            <a:r>
              <a:rPr lang="pt-BR" altLang="pt-BR" b="1" dirty="0" err="1">
                <a:effectLst/>
              </a:rPr>
              <a:t>printf</a:t>
            </a:r>
            <a:r>
              <a:rPr lang="pt-BR" altLang="pt-BR" dirty="0">
                <a:effectLst/>
              </a:rPr>
              <a:t> é uma função da biblioteca </a:t>
            </a:r>
            <a:r>
              <a:rPr lang="pt-BR" altLang="pt-BR" b="1" dirty="0">
                <a:effectLst/>
              </a:rPr>
              <a:t>stdio.h</a:t>
            </a:r>
            <a:r>
              <a:rPr lang="pt-BR" altLang="pt-BR" dirty="0">
                <a:effectLst/>
              </a:rPr>
              <a:t>. </a:t>
            </a:r>
          </a:p>
          <a:p>
            <a:pPr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A frase </a:t>
            </a:r>
            <a:r>
              <a:rPr lang="pt-BR" altLang="pt-BR" b="1" dirty="0">
                <a:effectLst/>
              </a:rPr>
              <a:t>Eu gosto de programar em C</a:t>
            </a:r>
            <a:r>
              <a:rPr lang="pt-BR" altLang="pt-BR" dirty="0">
                <a:effectLst/>
              </a:rPr>
              <a:t> é uma cadeia de caracteres chamada de </a:t>
            </a:r>
            <a:r>
              <a:rPr lang="pt-BR" altLang="pt-BR" b="1" i="1" dirty="0" err="1">
                <a:effectLst/>
              </a:rPr>
              <a:t>string</a:t>
            </a:r>
            <a:r>
              <a:rPr lang="pt-BR" altLang="pt-BR" dirty="0">
                <a:effectLst/>
              </a:rPr>
              <a:t>.</a:t>
            </a:r>
          </a:p>
          <a:p>
            <a:pPr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 A combinação </a:t>
            </a:r>
            <a:r>
              <a:rPr lang="pt-BR" altLang="pt-BR" b="1" dirty="0">
                <a:effectLst/>
              </a:rPr>
              <a:t>\n</a:t>
            </a:r>
            <a:r>
              <a:rPr lang="pt-BR" altLang="pt-BR" dirty="0">
                <a:effectLst/>
              </a:rPr>
              <a:t> no fim da </a:t>
            </a:r>
            <a:r>
              <a:rPr lang="pt-BR" altLang="pt-BR" dirty="0" err="1">
                <a:effectLst/>
              </a:rPr>
              <a:t>string</a:t>
            </a:r>
            <a:r>
              <a:rPr lang="pt-BR" altLang="pt-BR" dirty="0">
                <a:effectLst/>
              </a:rPr>
              <a:t> indica uma mudança de linha (o carácter </a:t>
            </a:r>
            <a:r>
              <a:rPr lang="pt-BR" altLang="pt-BR" i="1" dirty="0">
                <a:effectLst/>
              </a:rPr>
              <a:t>new </a:t>
            </a:r>
            <a:r>
              <a:rPr lang="pt-BR" altLang="pt-BR" i="1" dirty="0" err="1">
                <a:effectLst/>
              </a:rPr>
              <a:t>line</a:t>
            </a:r>
            <a:r>
              <a:rPr lang="pt-BR" altLang="pt-BR" dirty="0">
                <a:effectLst/>
              </a:rPr>
              <a:t> ou </a:t>
            </a:r>
            <a:r>
              <a:rPr lang="pt-BR" altLang="pt-BR" i="1" dirty="0" err="1">
                <a:effectLst/>
              </a:rPr>
              <a:t>line</a:t>
            </a:r>
            <a:r>
              <a:rPr lang="pt-BR" altLang="pt-BR" i="1" dirty="0">
                <a:effectLst/>
              </a:rPr>
              <a:t> feed</a:t>
            </a:r>
            <a:r>
              <a:rPr lang="pt-BR" altLang="pt-BR" dirty="0">
                <a:effectLst/>
              </a:rPr>
              <a:t>).</a:t>
            </a:r>
          </a:p>
          <a:p>
            <a:pPr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A frase </a:t>
            </a:r>
            <a:r>
              <a:rPr lang="pt-BR" altLang="pt-BR" b="1" dirty="0"/>
              <a:t>A variável i = %d </a:t>
            </a:r>
            <a:r>
              <a:rPr lang="pt-BR" altLang="pt-BR" dirty="0">
                <a:effectLst/>
              </a:rPr>
              <a:t>é uma cadeia de caracteres “</a:t>
            </a:r>
            <a:r>
              <a:rPr lang="pt-BR" altLang="pt-BR" b="1" i="1" dirty="0" err="1">
                <a:effectLst/>
              </a:rPr>
              <a:t>string</a:t>
            </a:r>
            <a:r>
              <a:rPr lang="pt-BR" altLang="pt-BR" b="1" i="1" dirty="0">
                <a:effectLst/>
              </a:rPr>
              <a:t>”  </a:t>
            </a:r>
            <a:r>
              <a:rPr lang="pt-BR" altLang="pt-BR" dirty="0">
                <a:effectLst/>
              </a:rPr>
              <a:t>e um indicador </a:t>
            </a:r>
            <a:r>
              <a:rPr lang="pt-BR" altLang="pt-BR" b="1" dirty="0">
                <a:effectLst/>
              </a:rPr>
              <a:t>%i (ou %d)</a:t>
            </a:r>
            <a:r>
              <a:rPr lang="pt-BR" altLang="pt-BR" dirty="0">
                <a:effectLst/>
              </a:rPr>
              <a:t> para a variável i ser impressa no texto. </a:t>
            </a:r>
          </a:p>
          <a:p>
            <a:pPr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No final de cada instrução existe sempre um terminador “ </a:t>
            </a:r>
            <a:r>
              <a:rPr lang="pt-BR" altLang="pt-BR" b="1" dirty="0">
                <a:effectLst/>
              </a:rPr>
              <a:t>;</a:t>
            </a:r>
            <a:r>
              <a:rPr lang="es-ES" altLang="pt-BR" dirty="0">
                <a:effectLst/>
              </a:rPr>
              <a:t> ”</a:t>
            </a:r>
            <a:endParaRPr lang="pt-BR" altLang="pt-BR" dirty="0">
              <a:effectLst/>
            </a:endParaRPr>
          </a:p>
        </p:txBody>
      </p:sp>
      <p:sp>
        <p:nvSpPr>
          <p:cNvPr id="116740" name="Rectangle 4">
            <a:extLst>
              <a:ext uri="{FF2B5EF4-FFF2-40B4-BE49-F238E27FC236}">
                <a16:creationId xmlns:a16="http://schemas.microsoft.com/office/drawing/2014/main" id="{FC38BAE9-9F59-4140-A380-A720904E4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0096" y="4642009"/>
            <a:ext cx="5113337" cy="2215991"/>
          </a:xfrm>
          <a:prstGeom prst="rect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Aft>
                <a:spcPct val="0"/>
              </a:spcAft>
              <a:buSzTx/>
            </a:pPr>
            <a:r>
              <a:rPr lang="pt-BR" altLang="pt-BR" sz="2000" dirty="0" err="1">
                <a:solidFill>
                  <a:schemeClr val="tx1"/>
                </a:solidFill>
              </a:rPr>
              <a:t>main</a:t>
            </a:r>
            <a:r>
              <a:rPr lang="pt-BR" altLang="pt-BR" sz="2000" dirty="0">
                <a:solidFill>
                  <a:schemeClr val="tx1"/>
                </a:solidFill>
              </a:rPr>
              <a:t>(void) </a:t>
            </a:r>
            <a:br>
              <a:rPr lang="pt-BR" altLang="pt-BR" sz="2000" dirty="0">
                <a:solidFill>
                  <a:schemeClr val="tx1"/>
                </a:solidFill>
              </a:rPr>
            </a:br>
            <a:r>
              <a:rPr lang="pt-BR" altLang="pt-BR" sz="2000" dirty="0">
                <a:solidFill>
                  <a:schemeClr val="tx1"/>
                </a:solidFill>
              </a:rPr>
              <a:t>{ </a:t>
            </a:r>
            <a:br>
              <a:rPr lang="pt-BR" altLang="pt-BR" sz="2000" dirty="0">
                <a:solidFill>
                  <a:schemeClr val="tx1"/>
                </a:solidFill>
              </a:rPr>
            </a:br>
            <a:r>
              <a:rPr lang="pt-BR" altLang="pt-BR" sz="2000" dirty="0">
                <a:solidFill>
                  <a:schemeClr val="tx1"/>
                </a:solidFill>
              </a:rPr>
              <a:t>int i=1;</a:t>
            </a:r>
          </a:p>
          <a:p>
            <a:pPr algn="l">
              <a:buSzTx/>
            </a:pPr>
            <a:r>
              <a:rPr lang="pt-BR" altLang="pt-BR" sz="2000" dirty="0" err="1">
                <a:solidFill>
                  <a:schemeClr val="tx1"/>
                </a:solidFill>
              </a:rPr>
              <a:t>printf</a:t>
            </a:r>
            <a:r>
              <a:rPr lang="pt-BR" altLang="pt-BR" sz="2000" dirty="0">
                <a:solidFill>
                  <a:schemeClr val="tx1"/>
                </a:solidFill>
              </a:rPr>
              <a:t>("Eu gosto de programar em C\n");</a:t>
            </a:r>
          </a:p>
          <a:p>
            <a:pPr algn="l">
              <a:buSzTx/>
            </a:pPr>
            <a:r>
              <a:rPr lang="pt-BR" altLang="pt-BR" sz="2000" dirty="0" err="1">
                <a:solidFill>
                  <a:schemeClr val="tx1"/>
                </a:solidFill>
              </a:rPr>
              <a:t>printf</a:t>
            </a:r>
            <a:r>
              <a:rPr lang="pt-BR" altLang="pt-BR" sz="2000" dirty="0">
                <a:solidFill>
                  <a:schemeClr val="tx1"/>
                </a:solidFill>
              </a:rPr>
              <a:t>(“A variável i = %d “,i); </a:t>
            </a:r>
            <a:br>
              <a:rPr lang="pt-BR" altLang="pt-BR" sz="2000" dirty="0">
                <a:solidFill>
                  <a:schemeClr val="tx1"/>
                </a:solidFill>
              </a:rPr>
            </a:br>
            <a:r>
              <a:rPr lang="pt-BR" altLang="pt-BR" sz="2000" dirty="0">
                <a:solidFill>
                  <a:schemeClr val="tx1"/>
                </a:solidFill>
              </a:rPr>
              <a:t>}</a:t>
            </a:r>
            <a:endParaRPr lang="es-ES" altLang="pt-BR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41FD1579-8E63-4AF7-AABA-5AB666F64B8D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09F1974A-977D-46B0-8520-7061ADDFEECB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24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96611" name="Rectangle 2">
            <a:extLst>
              <a:ext uri="{FF2B5EF4-FFF2-40B4-BE49-F238E27FC236}">
                <a16:creationId xmlns:a16="http://schemas.microsoft.com/office/drawing/2014/main" id="{FFDCBB37-E1E3-400D-B602-5079A625D15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>
                <a:effectLst/>
              </a:rPr>
              <a:t>2.1 - Estrutura/execução de um programa </a:t>
            </a:r>
            <a:br>
              <a:rPr lang="pt-BR" altLang="pt-BR" b="0">
                <a:effectLst/>
              </a:rPr>
            </a:br>
            <a:r>
              <a:rPr lang="pt-BR" altLang="pt-BR">
                <a:effectLst/>
              </a:rPr>
              <a:t>Primeiro Programa</a:t>
            </a:r>
          </a:p>
        </p:txBody>
      </p:sp>
      <p:sp>
        <p:nvSpPr>
          <p:cNvPr id="1278979" name="Rectangle 3">
            <a:extLst>
              <a:ext uri="{FF2B5EF4-FFF2-40B4-BE49-F238E27FC236}">
                <a16:creationId xmlns:a16="http://schemas.microsoft.com/office/drawing/2014/main" id="{F3FFEDE0-DE80-4A72-9DF6-7BC467F86D7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95400" y="1752600"/>
            <a:ext cx="8229600" cy="4608512"/>
          </a:xfrm>
        </p:spPr>
        <p:txBody>
          <a:bodyPr/>
          <a:lstStyle/>
          <a:p>
            <a:pPr algn="just" eaLnBrk="1" hangingPunct="1">
              <a:defRPr/>
            </a:pPr>
            <a:r>
              <a:rPr lang="pt-BR" altLang="pt-BR" dirty="0"/>
              <a:t>#include &lt;</a:t>
            </a:r>
            <a:r>
              <a:rPr lang="pt-BR" altLang="pt-BR" dirty="0" err="1"/>
              <a:t>stdio.h</a:t>
            </a:r>
            <a:r>
              <a:rPr lang="pt-BR" altLang="pt-BR" dirty="0"/>
              <a:t>&gt;</a:t>
            </a:r>
          </a:p>
          <a:p>
            <a:pPr algn="just" eaLnBrk="1" hangingPunct="1">
              <a:defRPr/>
            </a:pPr>
            <a:r>
              <a:rPr lang="pt-BR" altLang="pt-BR" dirty="0"/>
              <a:t>/* Um Primeiro Programa */</a:t>
            </a:r>
          </a:p>
          <a:p>
            <a:pPr algn="just" eaLnBrk="1" hangingPunct="1">
              <a:defRPr/>
            </a:pPr>
            <a:r>
              <a:rPr lang="pt-BR" altLang="pt-BR" dirty="0" err="1"/>
              <a:t>main</a:t>
            </a:r>
            <a:r>
              <a:rPr lang="pt-BR" altLang="pt-BR" dirty="0"/>
              <a:t> ()</a:t>
            </a:r>
          </a:p>
          <a:p>
            <a:pPr algn="just" eaLnBrk="1" hangingPunct="1">
              <a:defRPr/>
            </a:pPr>
            <a:r>
              <a:rPr lang="pt-BR" altLang="pt-BR" dirty="0"/>
              <a:t>{</a:t>
            </a:r>
          </a:p>
          <a:p>
            <a:pPr algn="just" eaLnBrk="1" hangingPunct="1">
              <a:defRPr/>
            </a:pPr>
            <a:r>
              <a:rPr lang="pt-BR" altLang="pt-BR" dirty="0" err="1"/>
              <a:t>printf</a:t>
            </a:r>
            <a:r>
              <a:rPr lang="pt-BR" altLang="pt-BR" dirty="0"/>
              <a:t> (" Esse e' meu primeiro programa!!\n ");</a:t>
            </a:r>
          </a:p>
          <a:p>
            <a:pPr algn="just" eaLnBrk="1" hangingPunct="1">
              <a:defRPr/>
            </a:pPr>
            <a:r>
              <a:rPr lang="pt-BR" altLang="pt-BR" dirty="0" err="1"/>
              <a:t>return</a:t>
            </a:r>
            <a:r>
              <a:rPr lang="pt-BR" altLang="pt-BR" dirty="0"/>
              <a:t>(0);</a:t>
            </a:r>
          </a:p>
          <a:p>
            <a:pPr algn="just" eaLnBrk="1" hangingPunct="1">
              <a:defRPr/>
            </a:pPr>
            <a:r>
              <a:rPr lang="pt-BR" altLang="pt-BR" dirty="0"/>
              <a:t>}</a:t>
            </a:r>
          </a:p>
          <a:p>
            <a:pPr algn="just" eaLnBrk="1" hangingPunct="1">
              <a:defRPr/>
            </a:pPr>
            <a:endParaRPr lang="pt-BR" altLang="pt-BR" dirty="0"/>
          </a:p>
        </p:txBody>
      </p:sp>
      <p:sp>
        <p:nvSpPr>
          <p:cNvPr id="196613" name="Rectangle 4">
            <a:extLst>
              <a:ext uri="{FF2B5EF4-FFF2-40B4-BE49-F238E27FC236}">
                <a16:creationId xmlns:a16="http://schemas.microsoft.com/office/drawing/2014/main" id="{7498CFEA-1BC7-4B96-8530-69F26BB01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720" y="1586403"/>
            <a:ext cx="8352928" cy="3354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Biblioteca das entradas e saídas padronizadas (</a:t>
            </a:r>
            <a:r>
              <a:rPr lang="pt-BR" altLang="pt-BR" b="1" i="1" dirty="0"/>
              <a:t>standard input output</a:t>
            </a:r>
            <a:r>
              <a:rPr lang="pt-BR" altLang="pt-BR" b="1" dirty="0"/>
              <a:t>)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400" b="1" dirty="0"/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	Comentário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400" b="1" dirty="0"/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Função </a:t>
            </a:r>
            <a:r>
              <a:rPr lang="pt-BR" altLang="pt-BR" b="1" i="1" dirty="0" err="1"/>
              <a:t>main</a:t>
            </a:r>
            <a:endParaRPr lang="pt-BR" altLang="pt-BR" b="1" i="1" dirty="0"/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b="1" dirty="0"/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“{” chave que equivale a “início” do bloco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200" b="1" dirty="0"/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 			Comando “</a:t>
            </a:r>
            <a:r>
              <a:rPr lang="pt-BR" altLang="pt-BR" b="1" dirty="0" err="1"/>
              <a:t>printf</a:t>
            </a:r>
            <a:r>
              <a:rPr lang="pt-BR" altLang="pt-BR" b="1" dirty="0"/>
              <a:t>” para imprimir na tela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000" b="1" dirty="0"/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Retorno da função </a:t>
            </a:r>
            <a:r>
              <a:rPr lang="pt-BR" altLang="pt-BR" b="1" dirty="0" err="1"/>
              <a:t>main</a:t>
            </a:r>
            <a:endParaRPr lang="pt-BR" altLang="pt-BR" b="1" dirty="0"/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b="1" dirty="0"/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“}” chave que equivale a “fim” do bloco ou “fim do código”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30F94C8F-7977-4810-A978-A26ED293019F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CE7AC10C-B369-4F39-BA14-05E1AF5B96FC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25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00707" name="Rectangle 2">
            <a:extLst>
              <a:ext uri="{FF2B5EF4-FFF2-40B4-BE49-F238E27FC236}">
                <a16:creationId xmlns:a16="http://schemas.microsoft.com/office/drawing/2014/main" id="{5083DBA9-4A29-42CF-82ED-CBB5D14A445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>
                <a:effectLst/>
              </a:rPr>
              <a:t>2.1 - Estrutura/execução de um programa </a:t>
            </a:r>
            <a:br>
              <a:rPr lang="pt-BR" altLang="pt-BR" b="0">
                <a:effectLst/>
              </a:rPr>
            </a:br>
            <a:r>
              <a:rPr lang="pt-BR" altLang="pt-BR">
                <a:effectLst/>
              </a:rPr>
              <a:t>Primeiro Programa</a:t>
            </a:r>
          </a:p>
        </p:txBody>
      </p:sp>
      <p:sp>
        <p:nvSpPr>
          <p:cNvPr id="1273859" name="Rectangle 3">
            <a:extLst>
              <a:ext uri="{FF2B5EF4-FFF2-40B4-BE49-F238E27FC236}">
                <a16:creationId xmlns:a16="http://schemas.microsoft.com/office/drawing/2014/main" id="{22ABD9BD-372C-4445-B09A-883B8A56EFF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269868" eaLnBrk="1" hangingPunct="1">
              <a:defRPr/>
            </a:pPr>
            <a:r>
              <a:rPr lang="pt-BR" altLang="pt-BR"/>
              <a:t>Como colocar um Comentário em um programa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>
                <a:effectLst/>
              </a:rPr>
              <a:t>O comentário ajuda a elucidar o funcionamento de um programa. No programa anterior temos um comentário: /* Um Primeiro Programa */. 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>
                <a:effectLst/>
              </a:rPr>
              <a:t>O </a:t>
            </a:r>
            <a:r>
              <a:rPr lang="pt-BR" altLang="pt-BR" b="1">
                <a:effectLst/>
              </a:rPr>
              <a:t>compilador C desconsidera</a:t>
            </a:r>
            <a:r>
              <a:rPr lang="pt-BR" altLang="pt-BR">
                <a:effectLst/>
              </a:rPr>
              <a:t> qualquer coisa que esteja começando com </a:t>
            </a:r>
            <a:r>
              <a:rPr lang="pt-BR" altLang="pt-BR" b="1">
                <a:effectLst/>
              </a:rPr>
              <a:t>/*</a:t>
            </a:r>
            <a:r>
              <a:rPr lang="pt-BR" altLang="pt-BR">
                <a:effectLst/>
              </a:rPr>
              <a:t> e terminando com </a:t>
            </a:r>
            <a:r>
              <a:rPr lang="pt-BR" altLang="pt-BR" b="1">
                <a:effectLst/>
              </a:rPr>
              <a:t>*/</a:t>
            </a:r>
            <a:r>
              <a:rPr lang="pt-BR" altLang="pt-BR">
                <a:effectLst/>
              </a:rPr>
              <a:t>. Um comentário </a:t>
            </a:r>
            <a:r>
              <a:rPr lang="pt-BR" altLang="pt-BR" b="1">
                <a:effectLst/>
              </a:rPr>
              <a:t>pode</a:t>
            </a:r>
            <a:r>
              <a:rPr lang="pt-BR" altLang="pt-BR">
                <a:effectLst/>
              </a:rPr>
              <a:t>, inclusive, </a:t>
            </a:r>
            <a:r>
              <a:rPr lang="pt-BR" altLang="pt-BR" b="1">
                <a:effectLst/>
              </a:rPr>
              <a:t>ter mais de uma linha.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>
                <a:effectLst/>
              </a:rPr>
              <a:t>Quando o comentário é utilizado em apenas uma linha, pode-se utilizar também o</a:t>
            </a:r>
            <a:r>
              <a:rPr lang="pt-BR" altLang="pt-BR" b="1">
                <a:effectLst/>
              </a:rPr>
              <a:t> //</a:t>
            </a:r>
          </a:p>
          <a:p>
            <a:pPr marL="0" indent="269868" algn="just" eaLnBrk="1" hangingPunct="1">
              <a:defRPr/>
            </a:pPr>
            <a:endParaRPr lang="pt-BR" altLang="pt-BR" sz="1200"/>
          </a:p>
        </p:txBody>
      </p:sp>
      <p:sp>
        <p:nvSpPr>
          <p:cNvPr id="200709" name="Rectangle 5">
            <a:extLst>
              <a:ext uri="{FF2B5EF4-FFF2-40B4-BE49-F238E27FC236}">
                <a16:creationId xmlns:a16="http://schemas.microsoft.com/office/drawing/2014/main" id="{BCA71351-4786-49C4-A15E-BBCF52C8B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4868863"/>
            <a:ext cx="7787208" cy="1200329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/>
              <a:t>/* Um Primeiro Programa com comentário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/>
              <a:t>em mais de uma linha*/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/>
              <a:t>ou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/>
              <a:t>// Um Primeiro Programa com comentário em apenas uma linha</a:t>
            </a:r>
            <a:endParaRPr lang="es-ES" altLang="pt-BR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ED9FE3EC-2BEC-4D8D-A189-13737C583CD8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F59557CD-B82E-4C8D-8820-69E7CCF5FB0D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26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02755" name="Rectangle 2">
            <a:extLst>
              <a:ext uri="{FF2B5EF4-FFF2-40B4-BE49-F238E27FC236}">
                <a16:creationId xmlns:a16="http://schemas.microsoft.com/office/drawing/2014/main" id="{E59752FE-321D-4EB3-BF15-D682EE2EBE2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>
                <a:effectLst/>
              </a:rPr>
              <a:t>2.1 - Estrutura/execução de um programa</a:t>
            </a:r>
            <a:br>
              <a:rPr lang="pt-BR" altLang="pt-BR" b="0">
                <a:effectLst/>
              </a:rPr>
            </a:br>
            <a:r>
              <a:rPr lang="pt-BR" altLang="pt-BR">
                <a:effectLst/>
              </a:rPr>
              <a:t>Primeiro Programa</a:t>
            </a:r>
          </a:p>
        </p:txBody>
      </p:sp>
      <p:sp>
        <p:nvSpPr>
          <p:cNvPr id="202756" name="Rectangle 3">
            <a:extLst>
              <a:ext uri="{FF2B5EF4-FFF2-40B4-BE49-F238E27FC236}">
                <a16:creationId xmlns:a16="http://schemas.microsoft.com/office/drawing/2014/main" id="{C3B433B6-D53C-47EF-8B28-BB23A491532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269868" eaLnBrk="1" hangingPunct="1"/>
            <a:r>
              <a:rPr lang="pt-BR" altLang="pt-BR" b="1" dirty="0" err="1">
                <a:effectLst/>
              </a:rPr>
              <a:t>int</a:t>
            </a:r>
            <a:r>
              <a:rPr lang="pt-BR" altLang="pt-BR" b="1" dirty="0">
                <a:effectLst/>
              </a:rPr>
              <a:t> </a:t>
            </a:r>
            <a:r>
              <a:rPr lang="pt-BR" altLang="pt-BR" b="1" dirty="0" err="1">
                <a:effectLst/>
              </a:rPr>
              <a:t>main</a:t>
            </a:r>
            <a:r>
              <a:rPr lang="pt-BR" altLang="pt-BR" b="1" dirty="0">
                <a:effectLst/>
              </a:rPr>
              <a:t>()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A linha </a:t>
            </a:r>
            <a:r>
              <a:rPr lang="pt-BR" altLang="pt-BR" dirty="0" err="1">
                <a:effectLst/>
              </a:rPr>
              <a:t>int</a:t>
            </a:r>
            <a:r>
              <a:rPr lang="pt-BR" altLang="pt-BR" dirty="0">
                <a:effectLst/>
              </a:rPr>
              <a:t> </a:t>
            </a:r>
            <a:r>
              <a:rPr lang="pt-BR" altLang="pt-BR" dirty="0" err="1">
                <a:effectLst/>
              </a:rPr>
              <a:t>main</a:t>
            </a:r>
            <a:r>
              <a:rPr lang="pt-BR" altLang="pt-BR" dirty="0">
                <a:effectLst/>
              </a:rPr>
              <a:t>() indica que estamos definindo uma </a:t>
            </a:r>
            <a:r>
              <a:rPr lang="pt-BR" altLang="pt-BR" b="1" dirty="0">
                <a:effectLst/>
              </a:rPr>
              <a:t>função de nome </a:t>
            </a:r>
            <a:r>
              <a:rPr lang="pt-BR" altLang="pt-BR" b="1" dirty="0" err="1">
                <a:effectLst/>
              </a:rPr>
              <a:t>main</a:t>
            </a:r>
            <a:r>
              <a:rPr lang="pt-BR" altLang="pt-BR" dirty="0">
                <a:effectLst/>
              </a:rPr>
              <a:t>. </a:t>
            </a:r>
            <a:r>
              <a:rPr lang="pt-BR" altLang="pt-BR" b="1" dirty="0">
                <a:effectLst/>
              </a:rPr>
              <a:t>Todos os programas em C têm uma função </a:t>
            </a:r>
            <a:r>
              <a:rPr lang="pt-BR" altLang="pt-BR" b="1" dirty="0" err="1">
                <a:effectLst/>
              </a:rPr>
              <a:t>main</a:t>
            </a:r>
            <a:r>
              <a:rPr lang="pt-BR" altLang="pt-BR" dirty="0">
                <a:effectLst/>
              </a:rPr>
              <a:t>, pois é esta </a:t>
            </a:r>
            <a:r>
              <a:rPr lang="pt-BR" altLang="pt-BR" b="1" dirty="0">
                <a:effectLst/>
              </a:rPr>
              <a:t>função</a:t>
            </a:r>
            <a:r>
              <a:rPr lang="pt-BR" altLang="pt-BR" dirty="0">
                <a:effectLst/>
              </a:rPr>
              <a:t> que será </a:t>
            </a:r>
            <a:r>
              <a:rPr lang="pt-BR" altLang="pt-BR" b="1" dirty="0">
                <a:effectLst/>
              </a:rPr>
              <a:t>chamada</a:t>
            </a:r>
            <a:r>
              <a:rPr lang="pt-BR" altLang="pt-BR" dirty="0">
                <a:effectLst/>
              </a:rPr>
              <a:t> </a:t>
            </a:r>
            <a:r>
              <a:rPr lang="pt-BR" altLang="pt-BR" b="1" dirty="0">
                <a:effectLst/>
              </a:rPr>
              <a:t>quando</a:t>
            </a:r>
            <a:r>
              <a:rPr lang="pt-BR" altLang="pt-BR" dirty="0">
                <a:effectLst/>
              </a:rPr>
              <a:t> o </a:t>
            </a:r>
            <a:r>
              <a:rPr lang="pt-BR" altLang="pt-BR" b="1" dirty="0">
                <a:effectLst/>
              </a:rPr>
              <a:t>programa</a:t>
            </a:r>
            <a:r>
              <a:rPr lang="pt-BR" altLang="pt-BR" dirty="0">
                <a:effectLst/>
              </a:rPr>
              <a:t> </a:t>
            </a:r>
            <a:r>
              <a:rPr lang="pt-BR" altLang="pt-BR" b="1" dirty="0">
                <a:effectLst/>
              </a:rPr>
              <a:t>for</a:t>
            </a:r>
            <a:r>
              <a:rPr lang="pt-BR" altLang="pt-BR" dirty="0">
                <a:effectLst/>
              </a:rPr>
              <a:t> </a:t>
            </a:r>
            <a:r>
              <a:rPr lang="pt-BR" altLang="pt-BR" b="1" dirty="0">
                <a:effectLst/>
              </a:rPr>
              <a:t>executado</a:t>
            </a:r>
            <a:r>
              <a:rPr lang="pt-BR" altLang="pt-BR" dirty="0">
                <a:effectLst/>
              </a:rPr>
              <a:t>. O </a:t>
            </a:r>
            <a:r>
              <a:rPr lang="pt-BR" altLang="pt-BR" b="1" dirty="0">
                <a:effectLst/>
              </a:rPr>
              <a:t>conteúdo</a:t>
            </a:r>
            <a:r>
              <a:rPr lang="pt-BR" altLang="pt-BR" dirty="0">
                <a:effectLst/>
              </a:rPr>
              <a:t> da função é </a:t>
            </a:r>
            <a:r>
              <a:rPr lang="pt-BR" altLang="pt-BR" b="1" dirty="0">
                <a:effectLst/>
              </a:rPr>
              <a:t>delimitado</a:t>
            </a:r>
            <a:r>
              <a:rPr lang="pt-BR" altLang="pt-BR" dirty="0">
                <a:effectLst/>
              </a:rPr>
              <a:t> por chaves { }. 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Quando a função for chamada o </a:t>
            </a:r>
            <a:r>
              <a:rPr lang="pt-BR" altLang="pt-BR" b="1" dirty="0">
                <a:effectLst/>
              </a:rPr>
              <a:t>código que estiver dentro das chaves será executado </a:t>
            </a:r>
            <a:r>
              <a:rPr lang="pt-BR" altLang="pt-BR" b="1" dirty="0" err="1">
                <a:effectLst/>
              </a:rPr>
              <a:t>seqüencialmente</a:t>
            </a:r>
            <a:r>
              <a:rPr lang="pt-BR" altLang="pt-BR" dirty="0">
                <a:effectLst/>
              </a:rPr>
              <a:t>. A palavra </a:t>
            </a:r>
            <a:r>
              <a:rPr lang="pt-BR" altLang="pt-BR" b="1" dirty="0" err="1">
                <a:effectLst/>
              </a:rPr>
              <a:t>int</a:t>
            </a:r>
            <a:r>
              <a:rPr lang="pt-BR" altLang="pt-BR" dirty="0">
                <a:effectLst/>
              </a:rPr>
              <a:t> indica que esta </a:t>
            </a:r>
            <a:r>
              <a:rPr lang="pt-BR" altLang="pt-BR" b="1" dirty="0">
                <a:effectLst/>
              </a:rPr>
              <a:t>função</a:t>
            </a:r>
            <a:r>
              <a:rPr lang="pt-BR" altLang="pt-BR" dirty="0">
                <a:effectLst/>
              </a:rPr>
              <a:t> </a:t>
            </a:r>
            <a:r>
              <a:rPr lang="pt-BR" altLang="pt-BR" b="1" dirty="0">
                <a:effectLst/>
              </a:rPr>
              <a:t>retorna</a:t>
            </a:r>
            <a:r>
              <a:rPr lang="pt-BR" altLang="pt-BR" dirty="0">
                <a:effectLst/>
              </a:rPr>
              <a:t> um </a:t>
            </a:r>
            <a:r>
              <a:rPr lang="pt-BR" altLang="pt-BR" b="1" dirty="0">
                <a:effectLst/>
              </a:rPr>
              <a:t>inteiro</a:t>
            </a:r>
            <a:r>
              <a:rPr lang="pt-BR" altLang="pt-BR" dirty="0">
                <a:effectLst/>
              </a:rPr>
              <a:t>. O que significa este retorno será visto posteriormente, quando estudarmos um pouco mais detalhadamente as funções do C. A última linha do programa, </a:t>
            </a:r>
            <a:r>
              <a:rPr lang="pt-BR" altLang="pt-BR" b="1" dirty="0" err="1">
                <a:effectLst/>
              </a:rPr>
              <a:t>return</a:t>
            </a:r>
            <a:r>
              <a:rPr lang="pt-BR" altLang="pt-BR" b="1" dirty="0">
                <a:effectLst/>
              </a:rPr>
              <a:t>(0</a:t>
            </a:r>
            <a:r>
              <a:rPr lang="pt-BR" altLang="pt-BR" dirty="0">
                <a:effectLst/>
              </a:rPr>
              <a:t>); , indica o </a:t>
            </a:r>
            <a:r>
              <a:rPr lang="pt-BR" altLang="pt-BR" b="1" dirty="0">
                <a:effectLst/>
              </a:rPr>
              <a:t>número inteiro</a:t>
            </a:r>
            <a:r>
              <a:rPr lang="pt-BR" altLang="pt-BR" dirty="0">
                <a:effectLst/>
              </a:rPr>
              <a:t> que </a:t>
            </a:r>
            <a:r>
              <a:rPr lang="pt-BR" altLang="pt-BR" b="1" dirty="0">
                <a:effectLst/>
              </a:rPr>
              <a:t>está</a:t>
            </a:r>
            <a:r>
              <a:rPr lang="pt-BR" altLang="pt-BR" dirty="0">
                <a:effectLst/>
              </a:rPr>
              <a:t> </a:t>
            </a:r>
            <a:r>
              <a:rPr lang="pt-BR" altLang="pt-BR" b="1" dirty="0">
                <a:effectLst/>
              </a:rPr>
              <a:t>sendo</a:t>
            </a:r>
            <a:r>
              <a:rPr lang="pt-BR" altLang="pt-BR" dirty="0">
                <a:effectLst/>
              </a:rPr>
              <a:t> </a:t>
            </a:r>
            <a:r>
              <a:rPr lang="pt-BR" altLang="pt-BR" b="1" dirty="0">
                <a:effectLst/>
              </a:rPr>
              <a:t>retornado</a:t>
            </a:r>
            <a:r>
              <a:rPr lang="pt-BR" altLang="pt-BR" dirty="0">
                <a:effectLst/>
              </a:rPr>
              <a:t> </a:t>
            </a:r>
            <a:r>
              <a:rPr lang="pt-BR" altLang="pt-BR" b="1" dirty="0">
                <a:effectLst/>
              </a:rPr>
              <a:t>pela</a:t>
            </a:r>
            <a:r>
              <a:rPr lang="pt-BR" altLang="pt-BR" dirty="0">
                <a:effectLst/>
              </a:rPr>
              <a:t> </a:t>
            </a:r>
            <a:r>
              <a:rPr lang="pt-BR" altLang="pt-BR" b="1" dirty="0">
                <a:effectLst/>
              </a:rPr>
              <a:t>função</a:t>
            </a:r>
            <a:r>
              <a:rPr lang="pt-BR" altLang="pt-BR" dirty="0">
                <a:effectLst/>
              </a:rPr>
              <a:t>, no caso o número 0.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A28E9992-BA01-4A9B-882D-FB7A6F7FFF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Tipos de dados</a:t>
            </a:r>
            <a:endParaRPr lang="es-ES" altLang="pt-BR" dirty="0">
              <a:effectLst/>
            </a:endParaRPr>
          </a:p>
        </p:txBody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4E1AC961-3100-442D-B1B8-B37DB6FFA86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95400" y="1700213"/>
            <a:ext cx="11233248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/>
            <a:r>
              <a:rPr lang="es-ES" altLang="pt-BR" sz="2200" b="1" dirty="0">
                <a:effectLst/>
              </a:rPr>
              <a:t>Tipos de dados primitivos</a:t>
            </a:r>
          </a:p>
          <a:p>
            <a:pPr marL="285744" indent="-285744" algn="just">
              <a:buFont typeface="Wingdings" panose="05000000000000000000" pitchFamily="2" charset="2"/>
              <a:buChar char="q"/>
            </a:pPr>
            <a:r>
              <a:rPr lang="pt-BR" altLang="pt-BR" sz="2200" dirty="0">
                <a:effectLst/>
              </a:rPr>
              <a:t>A maioria das linguagens declara os tipos inteiro, real, caractere, cadeia de caracteres e </a:t>
            </a:r>
            <a:r>
              <a:rPr lang="pt-BR" altLang="pt-BR" sz="2200" dirty="0" err="1">
                <a:effectLst/>
              </a:rPr>
              <a:t>lógico</a:t>
            </a:r>
            <a:r>
              <a:rPr lang="pt-BR" altLang="pt-BR" sz="2200" dirty="0">
                <a:effectLst/>
              </a:rPr>
              <a:t>. </a:t>
            </a:r>
          </a:p>
          <a:p>
            <a:pPr marL="285744" indent="-285744" algn="just">
              <a:buFont typeface="Wingdings" panose="05000000000000000000" pitchFamily="2" charset="2"/>
              <a:buChar char="q"/>
            </a:pPr>
            <a:r>
              <a:rPr lang="pt-BR" altLang="pt-BR" sz="2200" dirty="0">
                <a:effectLst/>
              </a:rPr>
              <a:t>A Linguagem C </a:t>
            </a:r>
            <a:r>
              <a:rPr lang="pt-BR" altLang="pt-BR" sz="2200" dirty="0" err="1">
                <a:effectLst/>
              </a:rPr>
              <a:t>não</a:t>
            </a:r>
            <a:r>
              <a:rPr lang="pt-BR" altLang="pt-BR" sz="2200" dirty="0">
                <a:effectLst/>
              </a:rPr>
              <a:t> definiu como tipos originais o </a:t>
            </a:r>
            <a:r>
              <a:rPr lang="pt-BR" altLang="pt-BR" sz="2200" dirty="0" err="1">
                <a:effectLst/>
              </a:rPr>
              <a:t>lógico</a:t>
            </a:r>
            <a:r>
              <a:rPr lang="pt-BR" altLang="pt-BR" sz="2200" dirty="0">
                <a:effectLst/>
              </a:rPr>
              <a:t> e a cadeia de caracteres (que chamamos de </a:t>
            </a:r>
            <a:r>
              <a:rPr lang="pt-BR" altLang="pt-BR" sz="2200" dirty="0" err="1">
                <a:effectLst/>
              </a:rPr>
              <a:t>string</a:t>
            </a:r>
            <a:r>
              <a:rPr lang="pt-BR" altLang="pt-BR" sz="2200" dirty="0">
                <a:effectLst/>
              </a:rPr>
              <a:t> – exemplo: “UNIP”).</a:t>
            </a:r>
          </a:p>
          <a:p>
            <a:pPr marL="285744" indent="-285744" algn="just">
              <a:buFont typeface="Wingdings" panose="05000000000000000000" pitchFamily="2" charset="2"/>
              <a:buChar char="q"/>
            </a:pPr>
            <a:r>
              <a:rPr lang="pt-BR" altLang="pt-BR" sz="2200" dirty="0">
                <a:effectLst/>
              </a:rPr>
              <a:t>Devemos, então, utilizar funções predefinidas para manipular esse tipo de dado, em C.</a:t>
            </a:r>
          </a:p>
        </p:txBody>
      </p:sp>
    </p:spTree>
    <p:extLst>
      <p:ext uri="{BB962C8B-B14F-4D97-AF65-F5344CB8AC3E}">
        <p14:creationId xmlns:p14="http://schemas.microsoft.com/office/powerpoint/2010/main" val="3222124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A28E9992-BA01-4A9B-882D-FB7A6F7FFF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Tipos de dados</a:t>
            </a:r>
            <a:endParaRPr lang="es-ES" altLang="pt-BR" dirty="0">
              <a:effectLst/>
            </a:endParaRPr>
          </a:p>
        </p:txBody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4E1AC961-3100-442D-B1B8-B37DB6FFA86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1700808"/>
            <a:ext cx="10729192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/>
            <a:r>
              <a:rPr lang="es-ES" altLang="pt-BR" b="1" dirty="0">
                <a:effectLst/>
              </a:rPr>
              <a:t>Tipos de dados primitivos</a:t>
            </a:r>
          </a:p>
          <a:p>
            <a:pPr marL="0" indent="0" algn="just"/>
            <a:r>
              <a:rPr lang="pt-BR" altLang="pt-BR" dirty="0">
                <a:effectLst/>
              </a:rPr>
              <a:t>Em Linguagem C, temos os seguintes tipos de dados primitivos:</a:t>
            </a:r>
          </a:p>
          <a:p>
            <a:pPr marL="685783" lvl="1" algn="just"/>
            <a:r>
              <a:rPr lang="pt-BR" altLang="pt-BR" dirty="0">
                <a:effectLst/>
              </a:rPr>
              <a:t>Inteiro: palavra reservada </a:t>
            </a:r>
            <a:r>
              <a:rPr lang="pt-BR" altLang="pt-BR" dirty="0" err="1">
                <a:effectLst/>
              </a:rPr>
              <a:t>int</a:t>
            </a:r>
            <a:r>
              <a:rPr lang="pt-BR" altLang="pt-BR" dirty="0">
                <a:effectLst/>
              </a:rPr>
              <a:t> (exemplos: 3, 6, 9, 27).</a:t>
            </a:r>
          </a:p>
          <a:p>
            <a:pPr marL="685783" lvl="1" algn="just"/>
            <a:r>
              <a:rPr lang="pt-BR" altLang="pt-BR" dirty="0">
                <a:effectLst/>
              </a:rPr>
              <a:t>Real: palavra reservada </a:t>
            </a:r>
            <a:r>
              <a:rPr lang="pt-BR" altLang="pt-BR" dirty="0" err="1">
                <a:effectLst/>
              </a:rPr>
              <a:t>float</a:t>
            </a:r>
            <a:r>
              <a:rPr lang="pt-BR" altLang="pt-BR" dirty="0">
                <a:effectLst/>
              </a:rPr>
              <a:t> (exemplos: 3.1416. 8.8).</a:t>
            </a:r>
          </a:p>
          <a:p>
            <a:pPr marL="685783" lvl="1" algn="just"/>
            <a:r>
              <a:rPr lang="pt-BR" altLang="pt-BR" dirty="0">
                <a:effectLst/>
              </a:rPr>
              <a:t>Caractere: palavra reservada char (exemplos: ‘a’, ‘8’) .</a:t>
            </a:r>
          </a:p>
          <a:p>
            <a:pPr marL="685783" lvl="1" algn="just"/>
            <a:r>
              <a:rPr lang="pt-BR" altLang="pt-BR" dirty="0">
                <a:effectLst/>
              </a:rPr>
              <a:t>Real de precisão dupla: palavra reservada </a:t>
            </a:r>
            <a:r>
              <a:rPr lang="pt-BR" altLang="pt-BR" dirty="0" err="1">
                <a:effectLst/>
              </a:rPr>
              <a:t>double</a:t>
            </a:r>
            <a:r>
              <a:rPr lang="pt-BR" altLang="pt-BR" dirty="0">
                <a:effectLst/>
              </a:rPr>
              <a:t>.</a:t>
            </a:r>
          </a:p>
          <a:p>
            <a:pPr marL="685783" lvl="1" algn="just"/>
            <a:r>
              <a:rPr lang="pt-BR" altLang="pt-BR" dirty="0">
                <a:effectLst/>
              </a:rPr>
              <a:t>Tipo sem um valor inicial: palavra reservada </a:t>
            </a:r>
            <a:r>
              <a:rPr lang="pt-BR" altLang="pt-BR" dirty="0" err="1">
                <a:effectLst/>
              </a:rPr>
              <a:t>void</a:t>
            </a:r>
            <a:r>
              <a:rPr lang="pt-BR" altLang="pt-BR" dirty="0">
                <a:effectLst/>
              </a:rPr>
              <a:t>.</a:t>
            </a:r>
            <a:endParaRPr lang="es-ES" altLang="pt-B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571719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F64D356F-0D01-42ED-8E22-3DD3E1C4EF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Tipos de dados</a:t>
            </a:r>
            <a:endParaRPr lang="es-ES" altLang="pt-BR" dirty="0">
              <a:effectLst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73D2FCE1-6FDD-4271-AE4F-A420AAE341A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2" y="1700213"/>
            <a:ext cx="8135939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/>
            <a:r>
              <a:rPr lang="pt-BR" altLang="pt-BR">
                <a:effectLst/>
              </a:rPr>
              <a:t>A tabela abaixo apresenta os tipos de dados simples e os tipos de dados modificados da linguagem C</a:t>
            </a:r>
            <a:r>
              <a:rPr lang="es-ES" altLang="pt-BR">
                <a:effectLst/>
              </a:rPr>
              <a:t> .</a:t>
            </a:r>
          </a:p>
        </p:txBody>
      </p:sp>
      <p:graphicFrame>
        <p:nvGraphicFramePr>
          <p:cNvPr id="277508" name="Group 4">
            <a:extLst>
              <a:ext uri="{FF2B5EF4-FFF2-40B4-BE49-F238E27FC236}">
                <a16:creationId xmlns:a16="http://schemas.microsoft.com/office/drawing/2014/main" id="{AA75A61E-062C-40FB-850C-F5644DC40A4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124077" y="2608267"/>
          <a:ext cx="7894639" cy="3653238"/>
        </p:xfrm>
        <a:graphic>
          <a:graphicData uri="http://schemas.openxmlformats.org/drawingml/2006/table">
            <a:tbl>
              <a:tblPr/>
              <a:tblGrid>
                <a:gridCol w="219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1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66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Tipo de dados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Tamanho (bytes)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 inferior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 superior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66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char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-128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66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unsigned char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66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short int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-32768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32767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unsigned short int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65535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66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int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r>
                        <a:rPr kumimoji="0" lang="en-US" altLang="pt-BR" sz="19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</a:t>
                      </a:r>
                      <a:r>
                        <a:rPr kumimoji="0" lang="en-US" altLang="pt-BR" sz="19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- 1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66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long int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r>
                        <a:rPr kumimoji="0" lang="pt-BR" altLang="pt-BR" sz="19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</a:t>
                      </a:r>
                      <a:r>
                        <a:rPr kumimoji="0" lang="pt-BR" altLang="pt-BR" sz="19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- 1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66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float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-3.2×10</a:t>
                      </a:r>
                      <a:r>
                        <a:rPr kumimoji="0" lang="pt-BR" altLang="pt-BR" sz="19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±38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+3.2×10</a:t>
                      </a:r>
                      <a:r>
                        <a:rPr kumimoji="0" lang="pt-BR" altLang="pt-BR" sz="19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±38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66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double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-1.7×10</a:t>
                      </a:r>
                      <a:r>
                        <a:rPr kumimoji="0" lang="pt-BR" altLang="pt-BR" sz="19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±308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+1.7×10</a:t>
                      </a:r>
                      <a:r>
                        <a:rPr kumimoji="0" lang="pt-BR" altLang="pt-BR" sz="19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±308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7624" name="Rectangle 56">
            <a:extLst>
              <a:ext uri="{FF2B5EF4-FFF2-40B4-BE49-F238E27FC236}">
                <a16:creationId xmlns:a16="http://schemas.microsoft.com/office/drawing/2014/main" id="{17936428-18E0-40FD-B397-4B753B1D9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6481764"/>
            <a:ext cx="3499676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/>
              <a:t>tamanho dos tipos de dados.cpp</a:t>
            </a:r>
          </a:p>
        </p:txBody>
      </p:sp>
    </p:spTree>
    <p:extLst>
      <p:ext uri="{BB962C8B-B14F-4D97-AF65-F5344CB8AC3E}">
        <p14:creationId xmlns:p14="http://schemas.microsoft.com/office/powerpoint/2010/main" val="8885078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A28E9992-BA01-4A9B-882D-FB7A6F7FFF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Tipos de dados</a:t>
            </a:r>
            <a:endParaRPr lang="es-ES" altLang="pt-BR" dirty="0">
              <a:effectLst/>
            </a:endParaRPr>
          </a:p>
        </p:txBody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4E1AC961-3100-442D-B1B8-B37DB6FFA86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23392" y="1556792"/>
            <a:ext cx="11233248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>
              <a:buFont typeface="Wingdings" panose="05000000000000000000" pitchFamily="2" charset="2"/>
              <a:buChar char="§"/>
            </a:pPr>
            <a:r>
              <a:rPr lang="es-ES" altLang="pt-BR" sz="2000" dirty="0">
                <a:effectLst/>
              </a:rPr>
              <a:t> </a:t>
            </a:r>
            <a:r>
              <a:rPr lang="pt-BR" altLang="pt-BR" sz="2000" dirty="0">
                <a:effectLst/>
              </a:rPr>
              <a:t>Geralmente nos sistemas UNIX os tipos </a:t>
            </a:r>
            <a:r>
              <a:rPr lang="pt-BR" altLang="pt-BR" sz="2000" dirty="0" err="1">
                <a:effectLst/>
              </a:rPr>
              <a:t>int</a:t>
            </a:r>
            <a:r>
              <a:rPr lang="pt-BR" altLang="pt-BR" sz="2000" dirty="0">
                <a:effectLst/>
              </a:rPr>
              <a:t> e </a:t>
            </a:r>
            <a:r>
              <a:rPr lang="pt-BR" altLang="pt-BR" sz="2000" dirty="0" err="1">
                <a:effectLst/>
              </a:rPr>
              <a:t>long</a:t>
            </a:r>
            <a:r>
              <a:rPr lang="pt-BR" altLang="pt-BR" sz="2000" dirty="0">
                <a:effectLst/>
              </a:rPr>
              <a:t> </a:t>
            </a:r>
            <a:r>
              <a:rPr lang="pt-BR" altLang="pt-BR" sz="2000" dirty="0" err="1">
                <a:effectLst/>
              </a:rPr>
              <a:t>int</a:t>
            </a:r>
            <a:r>
              <a:rPr lang="pt-BR" altLang="pt-BR" sz="2000" dirty="0">
                <a:effectLst/>
              </a:rPr>
              <a:t> são equivalentes e de tamanho de inteiros de 32 bits (4 bytes).</a:t>
            </a:r>
          </a:p>
          <a:p>
            <a:pPr marL="0" indent="0" algn="l">
              <a:buFont typeface="Wingdings" panose="05000000000000000000" pitchFamily="2" charset="2"/>
              <a:buChar char="§"/>
            </a:pPr>
            <a:r>
              <a:rPr lang="pt-BR" altLang="pt-BR" sz="2000" dirty="0">
                <a:effectLst/>
              </a:rPr>
              <a:t>É possível que em outros sistemas o tipo </a:t>
            </a:r>
            <a:r>
              <a:rPr lang="pt-BR" altLang="pt-BR" sz="2000" b="1" dirty="0" err="1">
                <a:effectLst/>
              </a:rPr>
              <a:t>int</a:t>
            </a:r>
            <a:r>
              <a:rPr lang="pt-BR" altLang="pt-BR" sz="2000" dirty="0">
                <a:effectLst/>
              </a:rPr>
              <a:t> seja equivalente a um short </a:t>
            </a:r>
            <a:r>
              <a:rPr lang="pt-BR" altLang="pt-BR" sz="2000" dirty="0" err="1">
                <a:effectLst/>
              </a:rPr>
              <a:t>int</a:t>
            </a:r>
            <a:r>
              <a:rPr lang="pt-BR" altLang="pt-BR" sz="2000" dirty="0">
                <a:effectLst/>
              </a:rPr>
              <a:t>, ou seja, inteiro de 16 bits (2 bytes). </a:t>
            </a:r>
            <a:endParaRPr lang="es-ES" altLang="pt-BR" sz="2000" dirty="0">
              <a:effectLst/>
            </a:endParaRPr>
          </a:p>
        </p:txBody>
      </p:sp>
      <p:sp>
        <p:nvSpPr>
          <p:cNvPr id="204804" name="Rectangle 69">
            <a:extLst>
              <a:ext uri="{FF2B5EF4-FFF2-40B4-BE49-F238E27FC236}">
                <a16:creationId xmlns:a16="http://schemas.microsoft.com/office/drawing/2014/main" id="{A8582521-489E-4BA7-B425-745CC7799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744" y="2795349"/>
            <a:ext cx="511333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%c </a:t>
            </a:r>
            <a:r>
              <a:rPr lang="pt-BR" altLang="pt-BR" dirty="0"/>
              <a:t>– leitura /escrita de </a:t>
            </a:r>
            <a:r>
              <a:rPr lang="pt-BR" altLang="pt-BR" dirty="0" err="1"/>
              <a:t>caracter</a:t>
            </a:r>
            <a:endParaRPr lang="pt-BR" altLang="pt-BR" dirty="0"/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%d </a:t>
            </a:r>
            <a:r>
              <a:rPr lang="pt-BR" altLang="pt-BR" dirty="0"/>
              <a:t>- leitura /escrita</a:t>
            </a:r>
            <a:r>
              <a:rPr lang="pt-BR" altLang="pt-BR" dirty="0">
                <a:solidFill>
                  <a:schemeClr val="tx1"/>
                </a:solidFill>
              </a:rPr>
              <a:t> </a:t>
            </a:r>
            <a:r>
              <a:rPr lang="pt-BR" altLang="pt-BR" dirty="0"/>
              <a:t>de números inteiros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/>
              <a:t> </a:t>
            </a:r>
            <a:r>
              <a:rPr lang="pt-BR" altLang="pt-BR" b="1" dirty="0"/>
              <a:t>%i </a:t>
            </a:r>
            <a:r>
              <a:rPr lang="pt-BR" altLang="pt-BR" dirty="0"/>
              <a:t>- leitura /escrita</a:t>
            </a:r>
            <a:r>
              <a:rPr lang="pt-BR" altLang="pt-BR" dirty="0">
                <a:solidFill>
                  <a:schemeClr val="tx1"/>
                </a:solidFill>
              </a:rPr>
              <a:t> </a:t>
            </a:r>
            <a:r>
              <a:rPr lang="pt-BR" altLang="pt-BR" dirty="0"/>
              <a:t>de números inteiros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%f </a:t>
            </a:r>
            <a:r>
              <a:rPr lang="pt-BR" altLang="pt-BR" dirty="0"/>
              <a:t>- leitura /escrita</a:t>
            </a:r>
            <a:r>
              <a:rPr lang="pt-BR" altLang="pt-BR" dirty="0">
                <a:solidFill>
                  <a:schemeClr val="tx1"/>
                </a:solidFill>
              </a:rPr>
              <a:t> </a:t>
            </a:r>
            <a:r>
              <a:rPr lang="pt-BR" altLang="pt-BR" dirty="0"/>
              <a:t>de números reais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%s </a:t>
            </a:r>
            <a:r>
              <a:rPr lang="pt-BR" altLang="pt-BR" dirty="0"/>
              <a:t>- leitura /escrita</a:t>
            </a:r>
            <a:r>
              <a:rPr lang="pt-BR" altLang="pt-BR" dirty="0">
                <a:solidFill>
                  <a:schemeClr val="tx1"/>
                </a:solidFill>
              </a:rPr>
              <a:t> </a:t>
            </a:r>
            <a:r>
              <a:rPr lang="pt-BR" altLang="pt-BR" dirty="0"/>
              <a:t>de caracteres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4A16EC-423E-9AEA-9D79-60469BCCA908}"/>
              </a:ext>
            </a:extLst>
          </p:cNvPr>
          <p:cNvSpPr txBox="1"/>
          <p:nvPr/>
        </p:nvSpPr>
        <p:spPr>
          <a:xfrm>
            <a:off x="1698352" y="4272677"/>
            <a:ext cx="9083327" cy="2585323"/>
          </a:xfrm>
          <a:prstGeom prst="rect">
            <a:avLst/>
          </a:prstGeom>
          <a:solidFill>
            <a:schemeClr val="accent4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pt-BR" dirty="0"/>
              <a:t>Tem-se os especificadores de formato, que formatam a entrada e a saída-padrão. </a:t>
            </a:r>
          </a:p>
          <a:p>
            <a:r>
              <a:rPr lang="pt-BR" dirty="0"/>
              <a:t>São eles:</a:t>
            </a:r>
          </a:p>
          <a:p>
            <a:r>
              <a:rPr lang="pt-BR" dirty="0"/>
              <a:t>%d = inteiro decimal</a:t>
            </a:r>
          </a:p>
          <a:p>
            <a:r>
              <a:rPr lang="pt-BR" dirty="0"/>
              <a:t>%f = real (ponto flutuante) </a:t>
            </a:r>
          </a:p>
          <a:p>
            <a:r>
              <a:rPr lang="pt-BR" dirty="0"/>
              <a:t>%o = inteiro octal </a:t>
            </a:r>
          </a:p>
          <a:p>
            <a:r>
              <a:rPr lang="pt-BR" dirty="0"/>
              <a:t>%x = hexadecimal </a:t>
            </a:r>
          </a:p>
          <a:p>
            <a:r>
              <a:rPr lang="pt-BR" dirty="0"/>
              <a:t>%c = caractere em formato ASCII </a:t>
            </a:r>
          </a:p>
          <a:p>
            <a:r>
              <a:rPr lang="pt-BR" dirty="0"/>
              <a:t>%s = </a:t>
            </a:r>
            <a:r>
              <a:rPr lang="pt-BR" dirty="0" err="1"/>
              <a:t>string</a:t>
            </a:r>
            <a:r>
              <a:rPr lang="pt-BR" dirty="0"/>
              <a:t> de caracteres </a:t>
            </a:r>
          </a:p>
          <a:p>
            <a:r>
              <a:rPr lang="pt-BR" dirty="0"/>
              <a:t>%p = valor ponteiro</a:t>
            </a:r>
          </a:p>
        </p:txBody>
      </p:sp>
    </p:spTree>
    <p:extLst>
      <p:ext uri="{BB962C8B-B14F-4D97-AF65-F5344CB8AC3E}">
        <p14:creationId xmlns:p14="http://schemas.microsoft.com/office/powerpoint/2010/main" val="27858469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>
            <a:extLst>
              <a:ext uri="{FF2B5EF4-FFF2-40B4-BE49-F238E27FC236}">
                <a16:creationId xmlns:a16="http://schemas.microsoft.com/office/drawing/2014/main" id="{C0D846AF-A842-4AF7-AFA2-69209A2516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Tipos de dados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 Inteiro</a:t>
            </a:r>
            <a:endParaRPr lang="es-ES" altLang="pt-BR" dirty="0">
              <a:effectLst/>
            </a:endParaRPr>
          </a:p>
        </p:txBody>
      </p:sp>
      <p:sp>
        <p:nvSpPr>
          <p:cNvPr id="229379" name="Rectangle 3">
            <a:extLst>
              <a:ext uri="{FF2B5EF4-FFF2-40B4-BE49-F238E27FC236}">
                <a16:creationId xmlns:a16="http://schemas.microsoft.com/office/drawing/2014/main" id="{6BE252D7-7964-4C9E-856B-46862D2C79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Um tipo de objeto de dados determina como os valores dos dados são representados, que valores pode expressar, e que tipo de operações você pode executar com estes valores.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O tipo inteiro permite a representação numérica e operações com números inteiros com até 4 bytes (dependendo do compilador).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altLang="pt-BR" sz="2800">
              <a:effectLst/>
            </a:endParaRPr>
          </a:p>
          <a:p>
            <a:endParaRPr lang="es-ES" altLang="pt-BR">
              <a:effectLst/>
            </a:endParaRPr>
          </a:p>
        </p:txBody>
      </p:sp>
      <p:sp>
        <p:nvSpPr>
          <p:cNvPr id="229380" name="Rectangle 4">
            <a:extLst>
              <a:ext uri="{FF2B5EF4-FFF2-40B4-BE49-F238E27FC236}">
                <a16:creationId xmlns:a16="http://schemas.microsoft.com/office/drawing/2014/main" id="{1C8DA0A2-9C31-4F5B-A2C8-B7D082B3D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40" y="3933826"/>
            <a:ext cx="1008063" cy="707886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2000"/>
              <a:t>int x;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2000"/>
              <a:t>x=10;</a:t>
            </a:r>
            <a:endParaRPr lang="es-ES" altLang="pt-BR" sz="2000"/>
          </a:p>
        </p:txBody>
      </p:sp>
      <p:sp>
        <p:nvSpPr>
          <p:cNvPr id="229381" name="Text Box 5">
            <a:extLst>
              <a:ext uri="{FF2B5EF4-FFF2-40B4-BE49-F238E27FC236}">
                <a16:creationId xmlns:a16="http://schemas.microsoft.com/office/drawing/2014/main" id="{0ED73666-AB08-4B29-8E48-32DA86571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2" y="6543679"/>
            <a:ext cx="1017330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>
                <a:solidFill>
                  <a:schemeClr val="bg1"/>
                </a:solidFill>
              </a:rPr>
              <a:t>inteiro.cpp</a:t>
            </a:r>
          </a:p>
        </p:txBody>
      </p:sp>
    </p:spTree>
    <p:extLst>
      <p:ext uri="{BB962C8B-B14F-4D97-AF65-F5344CB8AC3E}">
        <p14:creationId xmlns:p14="http://schemas.microsoft.com/office/powerpoint/2010/main" val="17400560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3521FC6E-B380-411B-A071-5E113243B6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Tipos de dados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 Float (ponto flutuante)</a:t>
            </a:r>
            <a:endParaRPr lang="es-ES" altLang="pt-BR" dirty="0">
              <a:effectLst/>
            </a:endParaRPr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CA07F3F4-4951-49D5-A041-15CDCD297F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O tipo </a:t>
            </a:r>
            <a:r>
              <a:rPr lang="pt-BR" altLang="pt-BR" b="1">
                <a:effectLst/>
              </a:rPr>
              <a:t>float</a:t>
            </a:r>
            <a:r>
              <a:rPr lang="pt-BR" altLang="pt-BR">
                <a:effectLst/>
              </a:rPr>
              <a:t> permite a representação numérica e operações com números reais com até 4 bytes.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3 = 11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2 = 10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10 = 1010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38 = 100110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altLang="pt-BR" sz="2800">
              <a:effectLst/>
            </a:endParaRPr>
          </a:p>
          <a:p>
            <a:endParaRPr lang="es-ES" altLang="pt-BR">
              <a:effectLst/>
            </a:endParaRPr>
          </a:p>
        </p:txBody>
      </p:sp>
      <p:sp>
        <p:nvSpPr>
          <p:cNvPr id="230404" name="Rectangle 4">
            <a:extLst>
              <a:ext uri="{FF2B5EF4-FFF2-40B4-BE49-F238E27FC236}">
                <a16:creationId xmlns:a16="http://schemas.microsoft.com/office/drawing/2014/main" id="{CCDCC0A8-D04A-467B-B469-8AD898ECA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42" y="4581526"/>
            <a:ext cx="1152525" cy="707886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2000"/>
              <a:t>float x;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2000"/>
              <a:t>x=10.0;</a:t>
            </a:r>
            <a:endParaRPr lang="es-ES" altLang="pt-BR" sz="2000"/>
          </a:p>
        </p:txBody>
      </p:sp>
      <p:sp>
        <p:nvSpPr>
          <p:cNvPr id="230405" name="Text Box 5">
            <a:extLst>
              <a:ext uri="{FF2B5EF4-FFF2-40B4-BE49-F238E27FC236}">
                <a16:creationId xmlns:a16="http://schemas.microsoft.com/office/drawing/2014/main" id="{1E540369-6865-4410-92CB-826851176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4" y="6543679"/>
            <a:ext cx="872355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>
                <a:solidFill>
                  <a:schemeClr val="bg1"/>
                </a:solidFill>
              </a:rPr>
              <a:t>float.cpp</a:t>
            </a:r>
          </a:p>
        </p:txBody>
      </p:sp>
    </p:spTree>
    <p:extLst>
      <p:ext uri="{BB962C8B-B14F-4D97-AF65-F5344CB8AC3E}">
        <p14:creationId xmlns:p14="http://schemas.microsoft.com/office/powerpoint/2010/main" val="1095651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9BCC6-C7E8-CCA7-2E79-256A967E8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8BDF3BE4-656A-1DBD-133A-43FBB95507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Tipos de dados inteiro</a:t>
            </a:r>
            <a:endParaRPr lang="es-ES" altLang="pt-BR" dirty="0">
              <a:effectLst/>
            </a:endParaRPr>
          </a:p>
        </p:txBody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9A5DDD38-0D8C-97EB-4726-2019D77D610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85122" y="1299331"/>
            <a:ext cx="11233248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OBSERVAÇÃO: </a:t>
            </a:r>
          </a:p>
          <a:p>
            <a:pPr marL="400041" lvl="1" indent="0">
              <a:buFont typeface="Wingdings" panose="05000000000000000000" pitchFamily="2" charset="2"/>
              <a:buChar char="§"/>
            </a:pPr>
            <a:r>
              <a:rPr lang="pt-BR" altLang="pt-BR" sz="1800" dirty="0"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Quando você usa </a:t>
            </a:r>
            <a:r>
              <a:rPr lang="pt-BR" altLang="pt-BR" sz="1800" dirty="0" err="1">
                <a:solidFill>
                  <a:srgbClr val="615CE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pt-BR" altLang="pt-BR" sz="1800" dirty="0"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tanto </a:t>
            </a:r>
            <a:r>
              <a:rPr lang="pt-BR" altLang="pt-BR" sz="1800" dirty="0">
                <a:solidFill>
                  <a:srgbClr val="615CE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%d</a:t>
            </a:r>
            <a:r>
              <a:rPr lang="pt-BR" altLang="pt-BR" sz="1800" dirty="0"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quanto </a:t>
            </a:r>
            <a:r>
              <a:rPr lang="pt-BR" altLang="pt-BR" sz="1800" dirty="0">
                <a:solidFill>
                  <a:srgbClr val="615CE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%i</a:t>
            </a:r>
            <a:r>
              <a:rPr lang="pt-BR" altLang="pt-BR" sz="1800" dirty="0"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imprimem um número inteiro na </a:t>
            </a:r>
            <a:r>
              <a:rPr lang="pt-BR" altLang="pt-BR" sz="1800" dirty="0">
                <a:solidFill>
                  <a:srgbClr val="11182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base decimal (base 10)</a:t>
            </a:r>
            <a:r>
              <a:rPr lang="pt-BR" altLang="pt-BR" sz="1800" dirty="0"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mesma forma.</a:t>
            </a:r>
          </a:p>
          <a:p>
            <a:pPr marL="400041" lvl="1" indent="0">
              <a:buFont typeface="Wingdings" panose="05000000000000000000" pitchFamily="2" charset="2"/>
              <a:buChar char="§"/>
            </a:pPr>
            <a:r>
              <a:rPr lang="pt-BR" altLang="pt-BR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00041" lvl="1" indent="0">
              <a:buFont typeface="Wingdings" panose="05000000000000000000" pitchFamily="2" charset="2"/>
              <a:buChar char="§"/>
            </a:pPr>
            <a:r>
              <a:rPr lang="pt-BR" altLang="pt-BR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800" dirty="0"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diferença aparece no </a:t>
            </a:r>
            <a:r>
              <a:rPr lang="pt-BR" altLang="pt-BR" sz="1800" dirty="0" err="1">
                <a:solidFill>
                  <a:srgbClr val="615CE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scanf</a:t>
            </a:r>
            <a:r>
              <a:rPr lang="pt-BR" altLang="pt-BR" sz="1800" dirty="0"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onde o comportamento de leitura é afetado:</a:t>
            </a:r>
            <a:r>
              <a:rPr lang="pt-BR" altLang="pt-BR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00041" lvl="1" indent="0">
              <a:buFont typeface="Wingdings" panose="05000000000000000000" pitchFamily="2" charset="2"/>
              <a:buChar char="§"/>
            </a:pPr>
            <a:endParaRPr lang="pt-BR" altLang="pt-BR" sz="1800" dirty="0">
              <a:effectLst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B71611F0-2A6F-9D23-9E70-CCC998543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896199"/>
              </p:ext>
            </p:extLst>
          </p:nvPr>
        </p:nvGraphicFramePr>
        <p:xfrm>
          <a:off x="729138" y="4951196"/>
          <a:ext cx="10945216" cy="173736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4032241016"/>
                    </a:ext>
                  </a:extLst>
                </a:gridCol>
                <a:gridCol w="10153128">
                  <a:extLst>
                    <a:ext uri="{9D8B030D-6E8A-4147-A177-3AD203B41FA5}">
                      <a16:colId xmlns:a16="http://schemas.microsoft.com/office/drawing/2014/main" val="3163976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pt-BR" sz="1600" b="0" dirty="0">
                          <a:solidFill>
                            <a:srgbClr val="1D1D20"/>
                          </a:solidFill>
                          <a:effectLst/>
                        </a:rPr>
                        <a:t>%d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pt-BR" sz="1600" b="0" dirty="0">
                          <a:solidFill>
                            <a:srgbClr val="1D1D20"/>
                          </a:solidFill>
                          <a:effectLst/>
                        </a:rPr>
                        <a:t>Lê um número </a:t>
                      </a:r>
                      <a:r>
                        <a:rPr lang="pt-BR" sz="1600" b="0" dirty="0">
                          <a:solidFill>
                            <a:srgbClr val="111827"/>
                          </a:solidFill>
                          <a:effectLst/>
                        </a:rPr>
                        <a:t>inteiro em base decimal (base 10)</a:t>
                      </a:r>
                      <a:r>
                        <a:rPr lang="pt-BR" sz="1600" b="0" dirty="0">
                          <a:solidFill>
                            <a:srgbClr val="1D1D20"/>
                          </a:solidFill>
                          <a:effectLst/>
                        </a:rPr>
                        <a:t>. Se o número começar com 0, ainda é interpretado como decimal.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19471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pt-BR" sz="1600" b="0">
                          <a:solidFill>
                            <a:srgbClr val="1D1D20"/>
                          </a:solidFill>
                          <a:effectLst/>
                        </a:rPr>
                        <a:t>%i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pt-BR" sz="1600" b="0" dirty="0">
                          <a:solidFill>
                            <a:srgbClr val="1D1D20"/>
                          </a:solidFill>
                          <a:effectLst/>
                        </a:rPr>
                        <a:t>Lê um número inteiro em </a:t>
                      </a:r>
                      <a:r>
                        <a:rPr lang="pt-BR" sz="1600" b="0" dirty="0">
                          <a:solidFill>
                            <a:srgbClr val="111827"/>
                          </a:solidFill>
                          <a:effectLst/>
                        </a:rPr>
                        <a:t>qualquer base</a:t>
                      </a:r>
                      <a:r>
                        <a:rPr lang="pt-BR" sz="1600" b="0" dirty="0">
                          <a:solidFill>
                            <a:srgbClr val="1D1D20"/>
                          </a:solidFill>
                          <a:effectLst/>
                        </a:rPr>
                        <a:t>:</a:t>
                      </a:r>
                      <a:br>
                        <a:rPr lang="pt-BR" sz="1600" b="0" dirty="0">
                          <a:solidFill>
                            <a:srgbClr val="1D1D20"/>
                          </a:solidFill>
                          <a:effectLst/>
                        </a:rPr>
                      </a:br>
                      <a:r>
                        <a:rPr lang="pt-BR" sz="1600" b="0" dirty="0">
                          <a:solidFill>
                            <a:srgbClr val="1D1D20"/>
                          </a:solidFill>
                          <a:effectLst/>
                        </a:rPr>
                        <a:t>-123→ decimal</a:t>
                      </a:r>
                      <a:br>
                        <a:rPr lang="pt-BR" sz="1600" b="0" dirty="0">
                          <a:solidFill>
                            <a:srgbClr val="1D1D20"/>
                          </a:solidFill>
                          <a:effectLst/>
                        </a:rPr>
                      </a:br>
                      <a:r>
                        <a:rPr lang="pt-BR" sz="1600" b="0" dirty="0">
                          <a:solidFill>
                            <a:srgbClr val="1D1D20"/>
                          </a:solidFill>
                          <a:effectLst/>
                        </a:rPr>
                        <a:t>-0123→ octal (por causa do 0 à esquerda)</a:t>
                      </a:r>
                      <a:br>
                        <a:rPr lang="pt-BR" sz="1600" b="0" dirty="0">
                          <a:solidFill>
                            <a:srgbClr val="1D1D20"/>
                          </a:solidFill>
                          <a:effectLst/>
                        </a:rPr>
                      </a:br>
                      <a:r>
                        <a:rPr lang="pt-BR" sz="1600" b="0" dirty="0">
                          <a:solidFill>
                            <a:srgbClr val="1D1D20"/>
                          </a:solidFill>
                          <a:effectLst/>
                        </a:rPr>
                        <a:t>-0x1A→ hexadecimal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753888672"/>
                  </a:ext>
                </a:extLst>
              </a:tr>
            </a:tbl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53FA5FDF-3B3E-DE6E-87BF-3A8EBAFEA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9253"/>
            <a:ext cx="65" cy="3385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6176" rIns="0" bIns="76176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EA2E35D-EB05-5BC6-E67A-EBBCCB75F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40" y="2035378"/>
            <a:ext cx="3524250" cy="847725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E8450773-783D-8B64-1D33-3A05C8DC1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9253"/>
            <a:ext cx="65" cy="338506"/>
          </a:xfrm>
          <a:prstGeom prst="rect">
            <a:avLst/>
          </a:prstGeom>
          <a:solidFill>
            <a:srgbClr val="EF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6176" rIns="0" bIns="76176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4D1951B-8558-3720-D56D-26278D846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43" y="3251105"/>
            <a:ext cx="5457825" cy="100965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92DCA3D-1647-87A3-98FC-67D71D016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890" y="3335534"/>
            <a:ext cx="5562600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8500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D40E25E8-558B-410C-BB6F-A173B6A088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Tipos de dados (vetor de </a:t>
            </a:r>
            <a:r>
              <a:rPr lang="pt-BR" altLang="pt-BR" dirty="0" err="1">
                <a:effectLst/>
              </a:rPr>
              <a:t>caracter</a:t>
            </a:r>
            <a:r>
              <a:rPr lang="pt-BR" altLang="pt-BR" dirty="0">
                <a:effectLst/>
              </a:rPr>
              <a:t>)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 </a:t>
            </a:r>
            <a:r>
              <a:rPr lang="pt-BR" altLang="pt-BR" dirty="0" err="1">
                <a:effectLst/>
              </a:rPr>
              <a:t>Strings</a:t>
            </a:r>
            <a:endParaRPr lang="pt-BR" altLang="pt-BR" dirty="0">
              <a:effectLst/>
            </a:endParaRP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897E6EC6-3895-4639-A1FC-8BE131B07C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269868"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Na linguagem C uma </a:t>
            </a:r>
            <a:r>
              <a:rPr lang="pt-BR" altLang="pt-BR" b="1">
                <a:effectLst/>
              </a:rPr>
              <a:t>string é um vetor de caracteres</a:t>
            </a:r>
            <a:r>
              <a:rPr lang="pt-BR" altLang="pt-BR">
                <a:effectLst/>
              </a:rPr>
              <a:t> terminado</a:t>
            </a:r>
            <a:r>
              <a:rPr lang="pt-BR" altLang="pt-BR" b="1">
                <a:effectLst/>
              </a:rPr>
              <a:t> com um caractere nulo</a:t>
            </a:r>
            <a:r>
              <a:rPr lang="pt-BR" altLang="pt-BR">
                <a:effectLst/>
              </a:rPr>
              <a:t>. O caracter nulo é um caractere com valor inteiro igual a zero (código ASCII igual a 0). </a:t>
            </a:r>
          </a:p>
          <a:p>
            <a:pPr marL="0" indent="269868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O terminador nulo também pode ser escrito usando a convenção de barra invertida do C como sendo '\0'. </a:t>
            </a:r>
          </a:p>
          <a:p>
            <a:pPr marL="0" indent="269868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O assunto vetores será discutido posteriormente, mas veremos aqui os fundamentos necessários para que possamos utilizar as strings. Para declarar uma string, podemos usar o seguinte formato geral.:</a:t>
            </a:r>
          </a:p>
        </p:txBody>
      </p:sp>
      <p:sp>
        <p:nvSpPr>
          <p:cNvPr id="224260" name="Rectangle 4">
            <a:extLst>
              <a:ext uri="{FF2B5EF4-FFF2-40B4-BE49-F238E27FC236}">
                <a16:creationId xmlns:a16="http://schemas.microsoft.com/office/drawing/2014/main" id="{32718F86-8EB9-4921-BFBD-AB8B4AE28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5300663"/>
            <a:ext cx="82819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i="1"/>
              <a:t>char nome_da_string[tamanho];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0E6025E-9E80-C745-E418-C12C4FA52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4005064"/>
            <a:ext cx="11089232" cy="707838"/>
          </a:xfrm>
          <a:prstGeom prst="rect">
            <a:avLst/>
          </a:prstGeom>
          <a:solidFill>
            <a:srgbClr val="EF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>
            <a:lvl1pPr marL="342891" indent="-342891" algn="ctr" rtl="0" eaLnBrk="0" fontAlgn="base" hangingPunct="0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+mn-ea"/>
                <a:cs typeface="+mn-cs"/>
              </a:defRPr>
            </a:lvl1pPr>
            <a:lvl2pPr marL="742932" indent="-285744" algn="l" rtl="0" eaLnBrk="0" fontAlgn="base" hangingPunct="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142971" indent="-228594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1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600160" indent="-22859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057349" indent="-22859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514537" indent="-228594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2971726" indent="-228594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428914" indent="-228594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3886103" indent="-228594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kern="0">
                <a:solidFill>
                  <a:srgbClr val="2C2C36"/>
                </a:solidFill>
                <a:effectLst/>
                <a:cs typeface="Arial" panose="020B0604020202020204" pitchFamily="34" charset="0"/>
              </a:rPr>
              <a:t>Em </a:t>
            </a:r>
            <a:r>
              <a:rPr lang="pt-BR" altLang="pt-BR" kern="0"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C </a:t>
            </a:r>
            <a:r>
              <a:rPr lang="pt-BR" altLang="pt-BR" kern="0">
                <a:solidFill>
                  <a:srgbClr val="2C2C36"/>
                </a:solidFill>
                <a:effectLst/>
                <a:cs typeface="Arial" panose="020B0604020202020204" pitchFamily="34" charset="0"/>
              </a:rPr>
              <a:t>, </a:t>
            </a:r>
            <a:r>
              <a:rPr lang="pt-BR" altLang="pt-BR" kern="0"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string </a:t>
            </a:r>
            <a:r>
              <a:rPr lang="pt-BR" altLang="pt-BR" kern="0">
                <a:solidFill>
                  <a:srgbClr val="2C2C36"/>
                </a:solidFill>
                <a:effectLst/>
                <a:cs typeface="Arial" panose="020B0604020202020204" pitchFamily="34" charset="0"/>
              </a:rPr>
              <a:t>não é um tipo primitivo como em outras linguagens (como Python ou Java). Em vez disso, uma string é representada como </a:t>
            </a:r>
            <a:r>
              <a:rPr lang="pt-BR" altLang="pt-BR" kern="0"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um array de caracteres (</a:t>
            </a:r>
            <a:r>
              <a:rPr lang="pt-BR" altLang="pt-BR" kern="0">
                <a:solidFill>
                  <a:srgbClr val="615CED"/>
                </a:solidFill>
                <a:effectLst/>
                <a:cs typeface="Arial" panose="020B0604020202020204" pitchFamily="34" charset="0"/>
              </a:rPr>
              <a:t>char</a:t>
            </a:r>
            <a:r>
              <a:rPr lang="pt-BR" altLang="pt-BR" kern="0"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) </a:t>
            </a:r>
            <a:r>
              <a:rPr lang="pt-BR" altLang="pt-BR" kern="0">
                <a:solidFill>
                  <a:srgbClr val="2C2C36"/>
                </a:solidFill>
                <a:effectLst/>
                <a:cs typeface="Arial" panose="020B0604020202020204" pitchFamily="34" charset="0"/>
              </a:rPr>
              <a:t>terminado pelo caractere nulo </a:t>
            </a:r>
            <a:r>
              <a:rPr lang="pt-BR" altLang="pt-BR" kern="0">
                <a:solidFill>
                  <a:srgbClr val="615CED"/>
                </a:solidFill>
                <a:effectLst/>
                <a:cs typeface="Arial" panose="020B0604020202020204" pitchFamily="34" charset="0"/>
              </a:rPr>
              <a:t>\0</a:t>
            </a:r>
            <a:r>
              <a:rPr lang="pt-BR" altLang="pt-BR" kern="0">
                <a:solidFill>
                  <a:srgbClr val="2C2C36"/>
                </a:solidFill>
                <a:effectLst/>
                <a:cs typeface="Arial" panose="020B0604020202020204" pitchFamily="34" charset="0"/>
              </a:rPr>
              <a:t>.</a:t>
            </a:r>
            <a:r>
              <a:rPr lang="pt-BR" altLang="pt-BR" kern="0">
                <a:effectLst/>
                <a:cs typeface="Arial" panose="020B0604020202020204" pitchFamily="34" charset="0"/>
              </a:rPr>
              <a:t> </a:t>
            </a:r>
            <a:endParaRPr lang="pt-BR" altLang="pt-BR" kern="0" dirty="0">
              <a:effectLst/>
              <a:cs typeface="Arial" panose="020B0604020202020204" pitchFamily="34" charset="0"/>
            </a:endParaRPr>
          </a:p>
        </p:txBody>
      </p:sp>
      <p:sp>
        <p:nvSpPr>
          <p:cNvPr id="3" name="Estrela: 5 Pontas 2">
            <a:extLst>
              <a:ext uri="{FF2B5EF4-FFF2-40B4-BE49-F238E27FC236}">
                <a16:creationId xmlns:a16="http://schemas.microsoft.com/office/drawing/2014/main" id="{B5272842-7C74-640B-728B-23C33D178B4E}"/>
              </a:ext>
            </a:extLst>
          </p:cNvPr>
          <p:cNvSpPr/>
          <p:nvPr/>
        </p:nvSpPr>
        <p:spPr bwMode="auto">
          <a:xfrm>
            <a:off x="10656710" y="402771"/>
            <a:ext cx="914400" cy="914400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2103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9A4EA-AC56-E30C-F053-1F3F3810E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84DFFF90-2F2E-9865-B42C-1DF41C33AE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Tipos de dados (vetor de </a:t>
            </a:r>
            <a:r>
              <a:rPr lang="pt-BR" altLang="pt-BR" dirty="0" err="1">
                <a:effectLst/>
              </a:rPr>
              <a:t>caracter</a:t>
            </a:r>
            <a:r>
              <a:rPr lang="pt-BR" altLang="pt-BR" dirty="0">
                <a:effectLst/>
              </a:rPr>
              <a:t>)</a:t>
            </a:r>
            <a:br>
              <a:rPr lang="pt-BR" altLang="pt-BR" dirty="0">
                <a:effectLst/>
              </a:rPr>
            </a:br>
            <a:r>
              <a:rPr lang="pt-BR" altLang="pt-BR" dirty="0" err="1">
                <a:effectLst/>
              </a:rPr>
              <a:t>Strings</a:t>
            </a:r>
            <a:endParaRPr lang="pt-BR" altLang="pt-BR" dirty="0">
              <a:effectLst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2A532E-0768-36D5-E7A7-42B5BB1CA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dirty="0"/>
              <a:t>char nome[] = "valor";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dirty="0"/>
              <a:t>char nome[tamanho] = "valor";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46996AE-859B-BD29-A4A3-AA9E367E9286}"/>
              </a:ext>
            </a:extLst>
          </p:cNvPr>
          <p:cNvSpPr txBox="1"/>
          <p:nvPr/>
        </p:nvSpPr>
        <p:spPr>
          <a:xfrm>
            <a:off x="8371606" y="555079"/>
            <a:ext cx="3787130" cy="2031325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&lt;stdio.h&gt;</a:t>
            </a:r>
          </a:p>
          <a:p>
            <a:endParaRPr lang="pt-BR" dirty="0"/>
          </a:p>
          <a:p>
            <a:r>
              <a:rPr lang="pt-BR" dirty="0"/>
              <a:t>int </a:t>
            </a:r>
            <a:r>
              <a:rPr lang="pt-BR" dirty="0" err="1"/>
              <a:t>main</a:t>
            </a:r>
            <a:r>
              <a:rPr lang="pt-BR" dirty="0"/>
              <a:t>() { </a:t>
            </a:r>
          </a:p>
          <a:p>
            <a:r>
              <a:rPr lang="pt-BR" dirty="0"/>
              <a:t>   char nome[] = "Joao";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("Nome: %s\n", nome);</a:t>
            </a:r>
          </a:p>
          <a:p>
            <a:r>
              <a:rPr lang="pt-BR" dirty="0"/>
              <a:t>    return 0;</a:t>
            </a:r>
          </a:p>
          <a:p>
            <a:r>
              <a:rPr lang="pt-BR" dirty="0"/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6B1F4CD-FF81-B80A-B8EB-04EDA1083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681" y="1760173"/>
            <a:ext cx="7185670" cy="984837"/>
          </a:xfrm>
          <a:prstGeom prst="rect">
            <a:avLst/>
          </a:prstGeom>
          <a:solidFill>
            <a:srgbClr val="EFEEFF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compilador automaticamente calcula o tamanho do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 base na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fornecida, incluindo o caractere nulo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615CE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\0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05C4E52E-B854-1D43-5903-ED563FBA9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397216"/>
            <a:ext cx="7185670" cy="430839"/>
          </a:xfrm>
          <a:prstGeom prst="rect">
            <a:avLst/>
          </a:prstGeom>
          <a:solidFill>
            <a:srgbClr val="EFEEFF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pt-BR" dirty="0">
                <a:solidFill>
                  <a:srgbClr val="000000"/>
                </a:solidFill>
              </a:rPr>
              <a:t>Você pode definir o tamanho do </a:t>
            </a:r>
            <a:r>
              <a:rPr lang="pt-BR" dirty="0" err="1">
                <a:solidFill>
                  <a:srgbClr val="000000"/>
                </a:solidFill>
              </a:rPr>
              <a:t>array</a:t>
            </a:r>
            <a:r>
              <a:rPr lang="pt-BR" dirty="0">
                <a:solidFill>
                  <a:srgbClr val="000000"/>
                </a:solidFill>
              </a:rPr>
              <a:t> manualmente.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30F2D6A-1114-DB65-262B-63866F3F9017}"/>
              </a:ext>
            </a:extLst>
          </p:cNvPr>
          <p:cNvSpPr txBox="1"/>
          <p:nvPr/>
        </p:nvSpPr>
        <p:spPr>
          <a:xfrm>
            <a:off x="609600" y="4052883"/>
            <a:ext cx="3787130" cy="2031325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&lt;stdio.h&gt;</a:t>
            </a:r>
          </a:p>
          <a:p>
            <a:endParaRPr lang="pt-BR" dirty="0"/>
          </a:p>
          <a:p>
            <a:r>
              <a:rPr lang="pt-BR" dirty="0"/>
              <a:t>int </a:t>
            </a:r>
            <a:r>
              <a:rPr lang="pt-BR" dirty="0" err="1"/>
              <a:t>main</a:t>
            </a:r>
            <a:r>
              <a:rPr lang="pt-BR" dirty="0"/>
              <a:t>() {</a:t>
            </a:r>
          </a:p>
          <a:p>
            <a:r>
              <a:rPr lang="pt-BR" dirty="0"/>
              <a:t>    char nome[50] = "Maria";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("Nome: %s\n", nome);</a:t>
            </a:r>
          </a:p>
          <a:p>
            <a:r>
              <a:rPr lang="pt-BR" dirty="0"/>
              <a:t>    return 0;</a:t>
            </a:r>
          </a:p>
          <a:p>
            <a:r>
              <a:rPr lang="pt-BR" dirty="0"/>
              <a:t>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0A5D5AB-6ACD-6A33-D413-27A1EBA8342D}"/>
              </a:ext>
            </a:extLst>
          </p:cNvPr>
          <p:cNvSpPr txBox="1"/>
          <p:nvPr/>
        </p:nvSpPr>
        <p:spPr>
          <a:xfrm>
            <a:off x="4799856" y="4021709"/>
            <a:ext cx="4608512" cy="2585323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&lt;stdio.h&gt;</a:t>
            </a:r>
          </a:p>
          <a:p>
            <a:endParaRPr lang="pt-BR" dirty="0"/>
          </a:p>
          <a:p>
            <a:r>
              <a:rPr lang="pt-BR" dirty="0"/>
              <a:t>int </a:t>
            </a:r>
            <a:r>
              <a:rPr lang="pt-BR" dirty="0" err="1"/>
              <a:t>main</a:t>
            </a:r>
            <a:r>
              <a:rPr lang="pt-BR" dirty="0"/>
              <a:t>() {</a:t>
            </a:r>
          </a:p>
          <a:p>
            <a:r>
              <a:rPr lang="pt-BR" dirty="0"/>
              <a:t>    char nome[100];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("Digite seu nome: ");</a:t>
            </a:r>
          </a:p>
          <a:p>
            <a:r>
              <a:rPr lang="pt-BR" dirty="0"/>
              <a:t>    </a:t>
            </a:r>
            <a:r>
              <a:rPr lang="pt-BR" dirty="0" err="1"/>
              <a:t>fgets</a:t>
            </a:r>
            <a:r>
              <a:rPr lang="pt-BR" dirty="0"/>
              <a:t>(nome, </a:t>
            </a:r>
            <a:r>
              <a:rPr lang="pt-BR" dirty="0" err="1"/>
              <a:t>sizeof</a:t>
            </a:r>
            <a:r>
              <a:rPr lang="pt-BR" dirty="0"/>
              <a:t>(nome), </a:t>
            </a:r>
            <a:r>
              <a:rPr lang="pt-BR" dirty="0" err="1"/>
              <a:t>stdin</a:t>
            </a:r>
            <a:r>
              <a:rPr lang="pt-BR" dirty="0"/>
              <a:t>);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</a:t>
            </a:r>
            <a:r>
              <a:rPr lang="pt-BR" dirty="0" err="1"/>
              <a:t>Ola</a:t>
            </a:r>
            <a:r>
              <a:rPr lang="pt-BR" dirty="0"/>
              <a:t>, %s", nome);</a:t>
            </a:r>
          </a:p>
          <a:p>
            <a:r>
              <a:rPr lang="pt-BR" dirty="0"/>
              <a:t>    return 0;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85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  <p:bldP spid="12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2E47-D286-0BB4-0172-26BBF6937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F314A24F-288F-FCF7-0189-C2DF9DC8A1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 Tipos de dados (vetor de </a:t>
            </a:r>
            <a:r>
              <a:rPr lang="pt-BR" altLang="pt-BR" dirty="0" err="1">
                <a:effectLst/>
              </a:rPr>
              <a:t>caracter</a:t>
            </a:r>
            <a:r>
              <a:rPr lang="pt-BR" altLang="pt-BR" dirty="0">
                <a:effectLst/>
              </a:rPr>
              <a:t>)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 </a:t>
            </a:r>
            <a:r>
              <a:rPr lang="pt-BR" altLang="pt-BR" dirty="0" err="1">
                <a:effectLst/>
              </a:rPr>
              <a:t>Strings</a:t>
            </a:r>
            <a:endParaRPr lang="pt-BR" altLang="pt-BR" dirty="0">
              <a:effectLst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3325EF-BAF5-7000-61BE-43D7BB419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dirty="0"/>
              <a:t>char *nome = "valor";</a:t>
            </a:r>
          </a:p>
          <a:p>
            <a:pPr algn="just"/>
            <a:endParaRPr lang="pt-BR" dirty="0"/>
          </a:p>
          <a:p>
            <a:pPr algn="l"/>
            <a:r>
              <a:rPr lang="pt-BR" dirty="0" err="1">
                <a:effectLst/>
              </a:rPr>
              <a:t>Strings</a:t>
            </a:r>
            <a:r>
              <a:rPr lang="pt-BR" dirty="0">
                <a:effectLst/>
              </a:rPr>
              <a:t> declaradas dessa forma ficam em memória somente leitura .</a:t>
            </a:r>
          </a:p>
          <a:p>
            <a:pPr algn="l"/>
            <a:r>
              <a:rPr lang="pt-BR" dirty="0">
                <a:effectLst/>
              </a:rPr>
              <a:t>Tentar modificar o conteúdo pode causar falha de segmentação (</a:t>
            </a:r>
            <a:r>
              <a:rPr lang="pt-BR" dirty="0" err="1">
                <a:effectLst/>
              </a:rPr>
              <a:t>segfault</a:t>
            </a:r>
            <a:r>
              <a:rPr lang="pt-BR" dirty="0">
                <a:effectLst/>
              </a:rPr>
              <a:t>) 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9ECED2B-00B7-01C7-DF38-FD6083E2745F}"/>
              </a:ext>
            </a:extLst>
          </p:cNvPr>
          <p:cNvSpPr txBox="1"/>
          <p:nvPr/>
        </p:nvSpPr>
        <p:spPr>
          <a:xfrm>
            <a:off x="839416" y="3387869"/>
            <a:ext cx="4478560" cy="2031325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/>
              <a:t>#include &lt;stdio.h&gt;</a:t>
            </a:r>
          </a:p>
          <a:p>
            <a:endParaRPr lang="pt-BR"/>
          </a:p>
          <a:p>
            <a:r>
              <a:rPr lang="pt-BR"/>
              <a:t>int main() {</a:t>
            </a:r>
          </a:p>
          <a:p>
            <a:r>
              <a:rPr lang="pt-BR"/>
              <a:t>    char *mensagem = "Bem-vindo!";</a:t>
            </a:r>
          </a:p>
          <a:p>
            <a:r>
              <a:rPr lang="pt-BR"/>
              <a:t>    printf("%s\n", mensagem);</a:t>
            </a:r>
          </a:p>
          <a:p>
            <a:r>
              <a:rPr lang="pt-BR"/>
              <a:t>    return 0;</a:t>
            </a:r>
          </a:p>
          <a:p>
            <a:r>
              <a:rPr lang="pt-BR"/>
              <a:t>}</a:t>
            </a:r>
            <a:endParaRPr lang="pt-BR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2C501E7-4CB3-5306-00C5-A8FB186C1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720" y="1438806"/>
            <a:ext cx="4478560" cy="430839"/>
          </a:xfrm>
          <a:prstGeom prst="rect">
            <a:avLst/>
          </a:prstGeom>
          <a:solidFill>
            <a:srgbClr val="EFEEFF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dirty="0">
                <a:solidFill>
                  <a:srgbClr val="000000"/>
                </a:solidFill>
              </a:rPr>
              <a:t>Usando ponteiros para char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906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>
            <a:extLst>
              <a:ext uri="{FF2B5EF4-FFF2-40B4-BE49-F238E27FC236}">
                <a16:creationId xmlns:a16="http://schemas.microsoft.com/office/drawing/2014/main" id="{19A4A05B-94DE-42A3-8DAC-05F9C043A9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 Tipos de dados (vetor de </a:t>
            </a:r>
            <a:r>
              <a:rPr lang="pt-BR" altLang="pt-BR" dirty="0" err="1">
                <a:effectLst/>
              </a:rPr>
              <a:t>caracter</a:t>
            </a:r>
            <a:r>
              <a:rPr lang="pt-BR" altLang="pt-BR" dirty="0">
                <a:effectLst/>
              </a:rPr>
              <a:t>) </a:t>
            </a:r>
            <a:r>
              <a:rPr lang="pt-BR" altLang="pt-BR" dirty="0" err="1">
                <a:effectLst/>
              </a:rPr>
              <a:t>Strings</a:t>
            </a:r>
            <a:endParaRPr lang="pt-BR" altLang="pt-BR" dirty="0">
              <a:effectLst/>
            </a:endParaRPr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BA6FBD05-40BF-4946-BD7F-CF9B0BBCA19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07368" y="1700213"/>
            <a:ext cx="11449271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269868"/>
            <a:endParaRPr lang="pt-BR" altLang="pt-BR" b="1" dirty="0">
              <a:effectLst/>
            </a:endParaRPr>
          </a:p>
          <a:p>
            <a:pPr marL="0" indent="269868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A expressão acima declara um </a:t>
            </a:r>
            <a:r>
              <a:rPr lang="pt-BR" altLang="pt-BR" b="1" dirty="0">
                <a:effectLst/>
              </a:rPr>
              <a:t>vetor de caracteres</a:t>
            </a:r>
            <a:r>
              <a:rPr lang="pt-BR" altLang="pt-BR" dirty="0">
                <a:effectLst/>
              </a:rPr>
              <a:t> (uma </a:t>
            </a:r>
            <a:r>
              <a:rPr lang="pt-BR" altLang="pt-BR" dirty="0" err="1">
                <a:effectLst/>
              </a:rPr>
              <a:t>string</a:t>
            </a:r>
            <a:r>
              <a:rPr lang="pt-BR" altLang="pt-BR" dirty="0">
                <a:effectLst/>
              </a:rPr>
              <a:t>) com </a:t>
            </a:r>
            <a:r>
              <a:rPr lang="pt-BR" altLang="pt-BR" b="1" dirty="0">
                <a:effectLst/>
              </a:rPr>
              <a:t>número de posições</a:t>
            </a:r>
            <a:r>
              <a:rPr lang="pt-BR" altLang="pt-BR" dirty="0">
                <a:effectLst/>
              </a:rPr>
              <a:t> igual a </a:t>
            </a:r>
            <a:r>
              <a:rPr lang="pt-BR" altLang="pt-BR" i="1" dirty="0">
                <a:effectLst/>
              </a:rPr>
              <a:t>7</a:t>
            </a:r>
            <a:r>
              <a:rPr lang="pt-BR" altLang="pt-BR" dirty="0">
                <a:effectLst/>
              </a:rPr>
              <a:t>. </a:t>
            </a:r>
          </a:p>
          <a:p>
            <a:pPr marL="0" indent="269868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Note que, como temos que reservar um caractere para ser o terminador nulo, temos que declarar o comprimento da </a:t>
            </a:r>
            <a:r>
              <a:rPr lang="pt-BR" altLang="pt-BR" dirty="0" err="1">
                <a:effectLst/>
              </a:rPr>
              <a:t>string</a:t>
            </a:r>
            <a:r>
              <a:rPr lang="pt-BR" altLang="pt-BR" dirty="0">
                <a:effectLst/>
              </a:rPr>
              <a:t> como sendo, no mínimo, um caractere maior que a maior </a:t>
            </a:r>
            <a:r>
              <a:rPr lang="pt-BR" altLang="pt-BR" dirty="0" err="1">
                <a:effectLst/>
              </a:rPr>
              <a:t>string</a:t>
            </a:r>
            <a:r>
              <a:rPr lang="pt-BR" altLang="pt-BR" dirty="0">
                <a:effectLst/>
              </a:rPr>
              <a:t> que pretendemos armazenar. </a:t>
            </a:r>
          </a:p>
          <a:p>
            <a:pPr marL="0" indent="269868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Vamos supor que declaremos uma </a:t>
            </a:r>
            <a:r>
              <a:rPr lang="pt-BR" altLang="pt-BR" dirty="0" err="1">
                <a:effectLst/>
              </a:rPr>
              <a:t>string</a:t>
            </a:r>
            <a:r>
              <a:rPr lang="pt-BR" altLang="pt-BR" dirty="0">
                <a:effectLst/>
              </a:rPr>
              <a:t> de 7 posições e coloquemos a palavra João nela.</a:t>
            </a:r>
          </a:p>
          <a:p>
            <a:pPr marL="0" indent="269868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 Teremos:</a:t>
            </a:r>
          </a:p>
        </p:txBody>
      </p:sp>
      <p:sp>
        <p:nvSpPr>
          <p:cNvPr id="226308" name="Rectangle 4">
            <a:extLst>
              <a:ext uri="{FF2B5EF4-FFF2-40B4-BE49-F238E27FC236}">
                <a16:creationId xmlns:a16="http://schemas.microsoft.com/office/drawing/2014/main" id="{42281052-8355-4ACC-9826-3A678E468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1700213"/>
            <a:ext cx="82819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/>
              <a:t>char nome_da_pessoa [7];</a:t>
            </a:r>
          </a:p>
        </p:txBody>
      </p:sp>
      <p:graphicFrame>
        <p:nvGraphicFramePr>
          <p:cNvPr id="212997" name="Group 5">
            <a:extLst>
              <a:ext uri="{FF2B5EF4-FFF2-40B4-BE49-F238E27FC236}">
                <a16:creationId xmlns:a16="http://schemas.microsoft.com/office/drawing/2014/main" id="{D4BE3DDC-D437-4DA3-B6CB-14C0F5621AF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002089" y="5373692"/>
          <a:ext cx="4038605" cy="503237"/>
        </p:xfrm>
        <a:graphic>
          <a:graphicData uri="http://schemas.openxmlformats.org/drawingml/2006/table">
            <a:tbl>
              <a:tblPr/>
              <a:tblGrid>
                <a:gridCol w="577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3237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4A4D0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4A4D0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4A4D0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4A4D0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4A4D0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4A4D0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4A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6327" name="Rectangle 23">
            <a:extLst>
              <a:ext uri="{FF2B5EF4-FFF2-40B4-BE49-F238E27FC236}">
                <a16:creationId xmlns:a16="http://schemas.microsoft.com/office/drawing/2014/main" id="{8722C781-7F19-452D-B341-17912A9E4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481764"/>
            <a:ext cx="1342034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>
                <a:solidFill>
                  <a:schemeClr val="bg1"/>
                </a:solidFill>
              </a:rPr>
              <a:t>String1.cpp</a:t>
            </a:r>
          </a:p>
        </p:txBody>
      </p:sp>
    </p:spTree>
    <p:extLst>
      <p:ext uri="{BB962C8B-B14F-4D97-AF65-F5344CB8AC3E}">
        <p14:creationId xmlns:p14="http://schemas.microsoft.com/office/powerpoint/2010/main" val="6140703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>
            <a:extLst>
              <a:ext uri="{FF2B5EF4-FFF2-40B4-BE49-F238E27FC236}">
                <a16:creationId xmlns:a16="http://schemas.microsoft.com/office/drawing/2014/main" id="{8A7F5D91-C4B7-42FA-BCFB-74EB70D5CA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 Tipos de dados (vetor de </a:t>
            </a:r>
            <a:r>
              <a:rPr lang="pt-BR" altLang="pt-BR" dirty="0" err="1">
                <a:effectLst/>
              </a:rPr>
              <a:t>caracter</a:t>
            </a:r>
            <a:r>
              <a:rPr lang="pt-BR" altLang="pt-BR" dirty="0">
                <a:effectLst/>
              </a:rPr>
              <a:t>)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 </a:t>
            </a:r>
            <a:r>
              <a:rPr lang="pt-BR" altLang="pt-BR" dirty="0" err="1">
                <a:effectLst/>
              </a:rPr>
              <a:t>Strings</a:t>
            </a:r>
            <a:endParaRPr lang="es-ES" altLang="pt-BR" dirty="0">
              <a:effectLst/>
            </a:endParaRPr>
          </a:p>
        </p:txBody>
      </p:sp>
      <p:sp>
        <p:nvSpPr>
          <p:cNvPr id="217134" name="Text Box 46">
            <a:extLst>
              <a:ext uri="{FF2B5EF4-FFF2-40B4-BE49-F238E27FC236}">
                <a16:creationId xmlns:a16="http://schemas.microsoft.com/office/drawing/2014/main" id="{FAE65182-B6A8-46AC-B388-8176687B3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811" y="6477000"/>
            <a:ext cx="2172518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altLang="pt-BR" sz="1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Caracter</a:t>
            </a:r>
            <a:r>
              <a:rPr lang="pt-BR" altLang="pt-BR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com espaço.cpp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DD487F6-3BDE-4311-B772-534D78D76D01}"/>
              </a:ext>
            </a:extLst>
          </p:cNvPr>
          <p:cNvSpPr txBox="1"/>
          <p:nvPr/>
        </p:nvSpPr>
        <p:spPr>
          <a:xfrm>
            <a:off x="2999656" y="1414076"/>
            <a:ext cx="6715191" cy="5062924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700" dirty="0"/>
              <a:t>#include &lt;</a:t>
            </a:r>
            <a:r>
              <a:rPr lang="pt-BR" sz="1700" dirty="0" err="1"/>
              <a:t>stdio.h</a:t>
            </a:r>
            <a:r>
              <a:rPr lang="pt-BR" sz="1700" dirty="0"/>
              <a:t>&gt; </a:t>
            </a:r>
          </a:p>
          <a:p>
            <a:r>
              <a:rPr lang="pt-BR" sz="1700" dirty="0"/>
              <a:t>#include &lt;</a:t>
            </a:r>
            <a:r>
              <a:rPr lang="pt-BR" sz="1700" dirty="0" err="1"/>
              <a:t>conio.h</a:t>
            </a:r>
            <a:r>
              <a:rPr lang="pt-BR" sz="1700" dirty="0"/>
              <a:t>&gt; </a:t>
            </a:r>
          </a:p>
          <a:p>
            <a:r>
              <a:rPr lang="pt-BR" sz="1700" dirty="0" err="1"/>
              <a:t>int</a:t>
            </a:r>
            <a:r>
              <a:rPr lang="pt-BR" sz="1700" dirty="0"/>
              <a:t> </a:t>
            </a:r>
            <a:r>
              <a:rPr lang="pt-BR" sz="1700" dirty="0" err="1"/>
              <a:t>main</a:t>
            </a:r>
            <a:r>
              <a:rPr lang="pt-BR" sz="1700" dirty="0"/>
              <a:t> ()</a:t>
            </a:r>
          </a:p>
          <a:p>
            <a:r>
              <a:rPr lang="pt-BR" sz="1700" dirty="0"/>
              <a:t>{</a:t>
            </a:r>
          </a:p>
          <a:p>
            <a:r>
              <a:rPr lang="pt-BR" sz="1700" dirty="0"/>
              <a:t>char str1[30], str2[30], str3[30];</a:t>
            </a:r>
          </a:p>
          <a:p>
            <a:r>
              <a:rPr lang="pt-BR" sz="1700" dirty="0" err="1"/>
              <a:t>printf</a:t>
            </a:r>
            <a:r>
              <a:rPr lang="pt-BR" sz="1700" dirty="0"/>
              <a:t>("\n Entre com um nome para a </a:t>
            </a:r>
            <a:r>
              <a:rPr lang="pt-BR" sz="1700" dirty="0" err="1"/>
              <a:t>string</a:t>
            </a:r>
            <a:r>
              <a:rPr lang="pt-BR" sz="1700" dirty="0"/>
              <a:t> str1: ");</a:t>
            </a:r>
          </a:p>
          <a:p>
            <a:r>
              <a:rPr lang="pt-BR" sz="1700" dirty="0" err="1"/>
              <a:t>fgets</a:t>
            </a:r>
            <a:r>
              <a:rPr lang="pt-BR" sz="1700" dirty="0"/>
              <a:t>(str1,30,stdin);</a:t>
            </a:r>
          </a:p>
          <a:p>
            <a:r>
              <a:rPr lang="pt-BR" sz="1700" dirty="0" err="1"/>
              <a:t>printf</a:t>
            </a:r>
            <a:r>
              <a:rPr lang="pt-BR" sz="1700" dirty="0"/>
              <a:t>("A </a:t>
            </a:r>
            <a:r>
              <a:rPr lang="pt-BR" sz="1700" dirty="0" err="1"/>
              <a:t>string</a:t>
            </a:r>
            <a:r>
              <a:rPr lang="pt-BR" sz="1700" dirty="0"/>
              <a:t> digitada para str1 foi: ");</a:t>
            </a:r>
          </a:p>
          <a:p>
            <a:r>
              <a:rPr lang="pt-BR" sz="1700" dirty="0" err="1"/>
              <a:t>printf</a:t>
            </a:r>
            <a:r>
              <a:rPr lang="pt-BR" sz="1700" dirty="0"/>
              <a:t> ("%s\n",str1); </a:t>
            </a:r>
          </a:p>
          <a:p>
            <a:endParaRPr lang="pt-BR" sz="1700" dirty="0"/>
          </a:p>
          <a:p>
            <a:r>
              <a:rPr lang="pt-BR" sz="1700" dirty="0" err="1"/>
              <a:t>printf</a:t>
            </a:r>
            <a:r>
              <a:rPr lang="pt-BR" sz="1700" dirty="0"/>
              <a:t>("\n\n Entre com um nome para a </a:t>
            </a:r>
            <a:r>
              <a:rPr lang="pt-BR" sz="1700" dirty="0" err="1"/>
              <a:t>string</a:t>
            </a:r>
            <a:r>
              <a:rPr lang="pt-BR" sz="1700" dirty="0"/>
              <a:t> str2: ");</a:t>
            </a:r>
          </a:p>
          <a:p>
            <a:r>
              <a:rPr lang="pt-BR" sz="1700" dirty="0" err="1"/>
              <a:t>scanf</a:t>
            </a:r>
            <a:r>
              <a:rPr lang="pt-BR" sz="1700" dirty="0"/>
              <a:t>("%[^\n]", str2);</a:t>
            </a:r>
          </a:p>
          <a:p>
            <a:r>
              <a:rPr lang="pt-BR" sz="1700" dirty="0" err="1"/>
              <a:t>printf</a:t>
            </a:r>
            <a:r>
              <a:rPr lang="pt-BR" sz="1700" dirty="0"/>
              <a:t>("A </a:t>
            </a:r>
            <a:r>
              <a:rPr lang="pt-BR" sz="1700" dirty="0" err="1"/>
              <a:t>string</a:t>
            </a:r>
            <a:r>
              <a:rPr lang="pt-BR" sz="1700" dirty="0"/>
              <a:t> digitada para str2 foi: ");</a:t>
            </a:r>
          </a:p>
          <a:p>
            <a:r>
              <a:rPr lang="pt-BR" sz="1700" dirty="0" err="1"/>
              <a:t>printf</a:t>
            </a:r>
            <a:r>
              <a:rPr lang="pt-BR" sz="1700" dirty="0"/>
              <a:t> ("%s",str2);</a:t>
            </a:r>
          </a:p>
          <a:p>
            <a:endParaRPr lang="pt-BR" sz="1700" dirty="0"/>
          </a:p>
          <a:p>
            <a:r>
              <a:rPr lang="pt-BR" sz="1700" dirty="0" err="1"/>
              <a:t>printf</a:t>
            </a:r>
            <a:r>
              <a:rPr lang="pt-BR" sz="1700" dirty="0"/>
              <a:t>("\n\n Entre com um nome para a </a:t>
            </a:r>
            <a:r>
              <a:rPr lang="pt-BR" sz="1700" dirty="0" err="1"/>
              <a:t>string</a:t>
            </a:r>
            <a:r>
              <a:rPr lang="pt-BR" sz="1700" dirty="0"/>
              <a:t> str3: ");</a:t>
            </a:r>
          </a:p>
          <a:p>
            <a:r>
              <a:rPr lang="pt-BR" sz="1700" dirty="0" err="1"/>
              <a:t>fgets</a:t>
            </a:r>
            <a:r>
              <a:rPr lang="pt-BR" sz="1700" dirty="0"/>
              <a:t>(str3,30,stdin);</a:t>
            </a:r>
          </a:p>
          <a:p>
            <a:r>
              <a:rPr lang="pt-BR" sz="1700" dirty="0" err="1"/>
              <a:t>printf</a:t>
            </a:r>
            <a:r>
              <a:rPr lang="pt-BR" sz="1700" dirty="0"/>
              <a:t>("A </a:t>
            </a:r>
            <a:r>
              <a:rPr lang="pt-BR" sz="1700" dirty="0" err="1"/>
              <a:t>string</a:t>
            </a:r>
            <a:r>
              <a:rPr lang="pt-BR" sz="1700" dirty="0"/>
              <a:t> digitada para str3 foi: %s", str3);</a:t>
            </a:r>
          </a:p>
          <a:p>
            <a:r>
              <a:rPr lang="pt-BR" sz="17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202099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96E526C8-0734-4E9C-966C-06DE76E77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E7C50A-30F5-4BBC-8C4F-BA66BEAE60DA}" type="slidenum">
              <a:rPr lang="pt-BR" altLang="pt-BR"/>
              <a:pPr>
                <a:defRPr/>
              </a:pPr>
              <a:t>39</a:t>
            </a:fld>
            <a:endParaRPr lang="pt-BR" altLang="pt-BR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82A7B983-986F-4788-BA75-67773885B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243139" name="Text Box 3">
            <a:extLst>
              <a:ext uri="{FF2B5EF4-FFF2-40B4-BE49-F238E27FC236}">
                <a16:creationId xmlns:a16="http://schemas.microsoft.com/office/drawing/2014/main" id="{7C65BC49-2CD6-482F-B1DE-5F0B9BCA0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pt-BR" altLang="pt-BR" b="1"/>
              <a:t>Estruturas básicas para construção de algoritmos</a:t>
            </a:r>
            <a:r>
              <a:rPr lang="pt-BR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101381" name="Rectangle 4">
            <a:extLst>
              <a:ext uri="{FF2B5EF4-FFF2-40B4-BE49-F238E27FC236}">
                <a16:creationId xmlns:a16="http://schemas.microsoft.com/office/drawing/2014/main" id="{B497455C-C7F4-4021-8554-C9005051D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01382" name="Rectangle 5">
            <a:extLst>
              <a:ext uri="{FF2B5EF4-FFF2-40B4-BE49-F238E27FC236}">
                <a16:creationId xmlns:a16="http://schemas.microsoft.com/office/drawing/2014/main" id="{CC83CC5A-997F-44DF-B050-8618FF005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1196975"/>
            <a:ext cx="11305256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5738" indent="1793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pt-BR" dirty="0"/>
              <a:t>Variáveis são endereços de memória que guardam, temporariamente, um valor utilizado pelo programa.</a:t>
            </a:r>
          </a:p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pt-BR" dirty="0"/>
              <a:t>Toda variável deve ter atributos do tipo nome, tipo, tamanho (que vem do tipo escolhido) e valor.</a:t>
            </a:r>
            <a:r>
              <a:rPr lang="pt-BR" altLang="pt-BR" dirty="0"/>
              <a:t> </a:t>
            </a:r>
          </a:p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pt-BR" altLang="pt-BR" dirty="0"/>
              <a:t>Um nome de variável deve necessariamente começar com uma letra;</a:t>
            </a:r>
          </a:p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pt-BR" altLang="pt-BR" dirty="0"/>
              <a:t> Um nome de variável não deve conter nenhum símbolo especial, exceto a sublinha ( _ ) e nenhum espaço em branco;</a:t>
            </a:r>
          </a:p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pt-BR" altLang="pt-BR" dirty="0"/>
              <a:t> Um nome de variável não poderá ser uma palavra reservada a uma instrução de programa.</a:t>
            </a:r>
          </a:p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pt-BR" altLang="pt-BR" dirty="0"/>
              <a:t> Exemplos de nomes de variáveis:</a:t>
            </a:r>
          </a:p>
        </p:txBody>
      </p:sp>
      <p:sp>
        <p:nvSpPr>
          <p:cNvPr id="101383" name="Text Box 6">
            <a:extLst>
              <a:ext uri="{FF2B5EF4-FFF2-40B4-BE49-F238E27FC236}">
                <a16:creationId xmlns:a16="http://schemas.microsoft.com/office/drawing/2014/main" id="{BA95FD4F-CFCB-4345-BC87-522F0F19A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/>
              <a:t>Variáveis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FF26029-28BC-B2E2-E248-8829CE041975}"/>
              </a:ext>
            </a:extLst>
          </p:cNvPr>
          <p:cNvSpPr txBox="1"/>
          <p:nvPr/>
        </p:nvSpPr>
        <p:spPr>
          <a:xfrm>
            <a:off x="2063751" y="4489352"/>
            <a:ext cx="8280920" cy="2308324"/>
          </a:xfrm>
          <a:prstGeom prst="rect">
            <a:avLst/>
          </a:prstGeom>
          <a:solidFill>
            <a:schemeClr val="accent4">
              <a:lumMod val="10000"/>
            </a:schemeClr>
          </a:solidFill>
        </p:spPr>
        <p:txBody>
          <a:bodyPr wrap="square">
            <a:spAutoFit/>
          </a:bodyPr>
          <a:lstStyle/>
          <a:p>
            <a:pPr lvl="1" eaLnBrk="1" hangingPunct="1">
              <a:buClr>
                <a:schemeClr val="folHlink"/>
              </a:buClr>
              <a:buSzPct val="65000"/>
            </a:pPr>
            <a:r>
              <a:rPr lang="pt-BR" altLang="pt-BR" dirty="0"/>
              <a:t>	Salário 	– correto</a:t>
            </a:r>
            <a:br>
              <a:rPr lang="pt-BR" altLang="pt-BR" dirty="0"/>
            </a:br>
            <a:r>
              <a:rPr lang="pt-BR" altLang="pt-BR" dirty="0"/>
              <a:t>	1ANO	– errado (não começou uma letra)</a:t>
            </a:r>
            <a:br>
              <a:rPr lang="pt-BR" altLang="pt-BR" dirty="0"/>
            </a:br>
            <a:r>
              <a:rPr lang="pt-BR" altLang="pt-BR" dirty="0"/>
              <a:t>	ANO1	– correto</a:t>
            </a:r>
            <a:br>
              <a:rPr lang="pt-BR" altLang="pt-BR" dirty="0"/>
            </a:br>
            <a:r>
              <a:rPr lang="pt-BR" altLang="pt-BR" dirty="0"/>
              <a:t>	a  casa	– errado (contém o caractere branco)</a:t>
            </a:r>
            <a:br>
              <a:rPr lang="pt-BR" altLang="pt-BR" dirty="0"/>
            </a:br>
            <a:r>
              <a:rPr lang="pt-BR" altLang="pt-BR" dirty="0"/>
              <a:t>	SAL/HORA	– errado (contém o caractere “/”)</a:t>
            </a:r>
            <a:br>
              <a:rPr lang="pt-BR" altLang="pt-BR" dirty="0"/>
            </a:br>
            <a:r>
              <a:rPr lang="pt-BR" altLang="pt-BR" dirty="0"/>
              <a:t>	SAL_HORA	– correto</a:t>
            </a:r>
            <a:br>
              <a:rPr lang="pt-BR" altLang="pt-BR" dirty="0"/>
            </a:br>
            <a:r>
              <a:rPr lang="pt-BR" altLang="pt-BR" dirty="0"/>
              <a:t>	_DESCONTO	– correto (começou com o caractere sublinha)</a:t>
            </a:r>
          </a:p>
          <a:p>
            <a:pPr lvl="1" eaLnBrk="1" hangingPunct="1">
              <a:buClr>
                <a:schemeClr val="folHlink"/>
              </a:buClr>
              <a:buSzPct val="65000"/>
            </a:pPr>
            <a:r>
              <a:rPr lang="pt-BR" altLang="pt-BR" dirty="0"/>
              <a:t>	-DESCONTO	– errado (começou com um caractere especial)</a:t>
            </a:r>
          </a:p>
        </p:txBody>
      </p:sp>
    </p:spTree>
    <p:extLst>
      <p:ext uri="{BB962C8B-B14F-4D97-AF65-F5344CB8AC3E}">
        <p14:creationId xmlns:p14="http://schemas.microsoft.com/office/powerpoint/2010/main" val="405502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>
            <a:extLst>
              <a:ext uri="{FF2B5EF4-FFF2-40B4-BE49-F238E27FC236}">
                <a16:creationId xmlns:a16="http://schemas.microsoft.com/office/drawing/2014/main" id="{39708497-BCD2-4C9E-9897-C05CF3ED6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Variáveis simples</a:t>
            </a:r>
            <a:endParaRPr lang="es-ES" altLang="pt-BR" dirty="0">
              <a:effectLst/>
            </a:endParaRPr>
          </a:p>
        </p:txBody>
      </p:sp>
      <p:sp>
        <p:nvSpPr>
          <p:cNvPr id="239619" name="Rectangle 3">
            <a:extLst>
              <a:ext uri="{FF2B5EF4-FFF2-40B4-BE49-F238E27FC236}">
                <a16:creationId xmlns:a16="http://schemas.microsoft.com/office/drawing/2014/main" id="{7F1125D4-A612-42CB-9C1E-785E4974E2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altLang="pt-BR" dirty="0">
                <a:effectLst/>
              </a:rPr>
              <a:t>O C </a:t>
            </a:r>
            <a:r>
              <a:rPr lang="pt-BR" altLang="pt-BR" dirty="0">
                <a:effectLst/>
              </a:rPr>
              <a:t>tem </a:t>
            </a:r>
            <a:r>
              <a:rPr lang="pt-BR" altLang="pt-BR" b="1" dirty="0">
                <a:effectLst/>
              </a:rPr>
              <a:t>5 tipos básicos </a:t>
            </a:r>
            <a:r>
              <a:rPr lang="pt-BR" altLang="pt-BR" dirty="0">
                <a:effectLst/>
              </a:rPr>
              <a:t>de variáveis: </a:t>
            </a:r>
            <a:r>
              <a:rPr lang="pt-BR" altLang="pt-BR" b="1" dirty="0">
                <a:effectLst/>
              </a:rPr>
              <a:t>char, </a:t>
            </a:r>
            <a:r>
              <a:rPr lang="pt-BR" altLang="pt-BR" b="1" dirty="0" err="1">
                <a:effectLst/>
              </a:rPr>
              <a:t>int</a:t>
            </a:r>
            <a:r>
              <a:rPr lang="pt-BR" altLang="pt-BR" b="1" dirty="0">
                <a:effectLst/>
              </a:rPr>
              <a:t>, </a:t>
            </a:r>
            <a:r>
              <a:rPr lang="pt-BR" altLang="pt-BR" b="1" dirty="0" err="1">
                <a:effectLst/>
              </a:rPr>
              <a:t>float</a:t>
            </a:r>
            <a:r>
              <a:rPr lang="pt-BR" altLang="pt-BR" b="1" dirty="0">
                <a:effectLst/>
              </a:rPr>
              <a:t>, </a:t>
            </a:r>
            <a:r>
              <a:rPr lang="pt-BR" altLang="pt-BR" b="1" dirty="0" err="1">
                <a:effectLst/>
              </a:rPr>
              <a:t>void</a:t>
            </a:r>
            <a:r>
              <a:rPr lang="pt-BR" altLang="pt-BR" b="1" dirty="0">
                <a:effectLst/>
              </a:rPr>
              <a:t>, </a:t>
            </a:r>
            <a:r>
              <a:rPr lang="pt-BR" altLang="pt-BR" b="1" dirty="0" err="1">
                <a:effectLst/>
              </a:rPr>
              <a:t>double</a:t>
            </a:r>
            <a:r>
              <a:rPr lang="pt-BR" altLang="pt-BR" dirty="0">
                <a:effectLst/>
              </a:rPr>
              <a:t>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 tipo </a:t>
            </a:r>
            <a:r>
              <a:rPr lang="pt-BR" altLang="pt-BR" b="1" dirty="0">
                <a:effectLst/>
              </a:rPr>
              <a:t>char</a:t>
            </a:r>
            <a:r>
              <a:rPr lang="pt-BR" altLang="pt-BR" dirty="0">
                <a:effectLst/>
              </a:rPr>
              <a:t> é utilizado para a impressão de variáveis que utilizam caracteres,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 tipo </a:t>
            </a:r>
            <a:r>
              <a:rPr lang="pt-BR" altLang="pt-BR" b="1" dirty="0" err="1">
                <a:effectLst/>
              </a:rPr>
              <a:t>int</a:t>
            </a:r>
            <a:r>
              <a:rPr lang="pt-BR" altLang="pt-BR" dirty="0">
                <a:effectLst/>
              </a:rPr>
              <a:t> é utilizado para a impressão de variáveis que utilizam números inteiros, como contadores e controladores de laços de execução.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 tipo </a:t>
            </a:r>
            <a:r>
              <a:rPr lang="pt-BR" altLang="pt-BR" b="1" dirty="0" err="1">
                <a:effectLst/>
              </a:rPr>
              <a:t>float</a:t>
            </a:r>
            <a:r>
              <a:rPr lang="pt-BR" altLang="pt-BR" dirty="0">
                <a:effectLst/>
              </a:rPr>
              <a:t> é utilizado para a impressão de variáveis que utilizam números reais (ponto flutuante).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 tipo </a:t>
            </a:r>
            <a:r>
              <a:rPr lang="pt-BR" altLang="pt-BR" b="1" dirty="0" err="1">
                <a:effectLst/>
              </a:rPr>
              <a:t>double</a:t>
            </a:r>
            <a:r>
              <a:rPr lang="pt-BR" altLang="pt-BR" dirty="0">
                <a:effectLst/>
              </a:rPr>
              <a:t> é o ponto flutuante duplo e pode ser visto como um ponto flutuante com muito mais precisão (números científicos). 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 </a:t>
            </a:r>
            <a:r>
              <a:rPr lang="pt-BR" altLang="pt-BR" b="1" dirty="0" err="1">
                <a:effectLst/>
              </a:rPr>
              <a:t>void</a:t>
            </a:r>
            <a:r>
              <a:rPr lang="pt-BR" altLang="pt-BR" dirty="0">
                <a:effectLst/>
              </a:rPr>
              <a:t> é o tipo vazio, ou um "tipo sem tipo".</a:t>
            </a:r>
          </a:p>
        </p:txBody>
      </p:sp>
    </p:spTree>
    <p:extLst>
      <p:ext uri="{BB962C8B-B14F-4D97-AF65-F5344CB8AC3E}">
        <p14:creationId xmlns:p14="http://schemas.microsoft.com/office/powerpoint/2010/main" val="18674428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78A55D08-D8C3-4100-8E36-7D31D4F751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Declaração de variáveis</a:t>
            </a:r>
            <a:endParaRPr lang="es-ES" altLang="pt-BR" dirty="0">
              <a:effectLst/>
            </a:endParaRPr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F47CB692-A967-41C7-9122-0AC9B8E7235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631504" y="1556792"/>
            <a:ext cx="9937104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>
              <a:buFont typeface="Wingdings" panose="05000000000000000000" pitchFamily="2" charset="2"/>
              <a:buChar char="§"/>
            </a:pPr>
            <a:r>
              <a:rPr lang="es-ES" altLang="pt-BR" dirty="0">
                <a:effectLst/>
              </a:rPr>
              <a:t> </a:t>
            </a:r>
            <a:r>
              <a:rPr lang="pt-BR" altLang="pt-BR" dirty="0">
                <a:effectLst/>
              </a:rPr>
              <a:t>Quando se faz a </a:t>
            </a:r>
            <a:r>
              <a:rPr lang="pt-BR" altLang="pt-BR" b="1" dirty="0">
                <a:effectLst/>
              </a:rPr>
              <a:t>declaração</a:t>
            </a:r>
            <a:r>
              <a:rPr lang="pt-BR" altLang="pt-BR" dirty="0">
                <a:effectLst/>
              </a:rPr>
              <a:t> de uma variável está se determinando que tipo de dado ela vai receber. </a:t>
            </a:r>
          </a:p>
          <a:p>
            <a:pPr marL="0" indent="0" algn="just"/>
            <a:r>
              <a:rPr lang="pt-BR" altLang="pt-BR" dirty="0">
                <a:effectLst/>
              </a:rPr>
              <a:t>	</a:t>
            </a:r>
            <a:r>
              <a:rPr lang="pt-BR" altLang="pt-BR" b="1" dirty="0">
                <a:effectLst/>
              </a:rPr>
              <a:t>Sintaxe:</a:t>
            </a:r>
            <a:r>
              <a:rPr lang="pt-BR" altLang="pt-BR" dirty="0">
                <a:effectLst/>
              </a:rPr>
              <a:t> A sintaxe para a declaração de variáveis é:</a:t>
            </a:r>
            <a:endParaRPr lang="pt-BR" altLang="pt-BR" i="1" dirty="0">
              <a:effectLst/>
            </a:endParaRPr>
          </a:p>
          <a:p>
            <a:pPr marL="0" indent="0" algn="just"/>
            <a:r>
              <a:rPr lang="pt-BR" altLang="pt-BR" i="1" dirty="0">
                <a:effectLst/>
              </a:rPr>
              <a:t>	tipo var_1</a:t>
            </a:r>
            <a:r>
              <a:rPr lang="pt-BR" altLang="pt-BR" dirty="0">
                <a:effectLst/>
              </a:rPr>
              <a:t>;</a:t>
            </a:r>
          </a:p>
          <a:p>
            <a:pPr marL="0" indent="0" algn="l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  O </a:t>
            </a:r>
            <a:r>
              <a:rPr lang="pt-BR" altLang="pt-BR" i="1" dirty="0">
                <a:effectLst/>
              </a:rPr>
              <a:t>tipo</a:t>
            </a:r>
            <a:r>
              <a:rPr lang="pt-BR" altLang="pt-BR" dirty="0">
                <a:effectLst/>
              </a:rPr>
              <a:t> é o tipo de dado, </a:t>
            </a:r>
            <a:r>
              <a:rPr lang="pt-BR" altLang="pt-BR" i="1" dirty="0">
                <a:effectLst/>
              </a:rPr>
              <a:t>var_1</a:t>
            </a:r>
            <a:r>
              <a:rPr lang="pt-BR" altLang="pt-BR" dirty="0">
                <a:effectLst/>
              </a:rPr>
              <a:t> é o nome da variável a ser declarada.</a:t>
            </a:r>
            <a:endParaRPr lang="pt-BR" altLang="pt-BR" b="1" dirty="0">
              <a:effectLst/>
            </a:endParaRPr>
          </a:p>
          <a:p>
            <a:pPr marL="0" indent="0" algn="l"/>
            <a:r>
              <a:rPr lang="pt-BR" altLang="pt-BR" b="1" dirty="0">
                <a:effectLst/>
              </a:rPr>
              <a:t>Exemplo:</a:t>
            </a:r>
            <a:endParaRPr lang="en-US" altLang="pt-BR" dirty="0">
              <a:effectLst/>
            </a:endParaRPr>
          </a:p>
          <a:p>
            <a:pPr marL="0" indent="0" algn="l"/>
            <a:r>
              <a:rPr lang="en-US" altLang="pt-BR" dirty="0">
                <a:effectLst/>
              </a:rPr>
              <a:t>int i;</a:t>
            </a:r>
            <a:endParaRPr lang="pt-BR" altLang="pt-BR" dirty="0">
              <a:effectLst/>
            </a:endParaRPr>
          </a:p>
          <a:p>
            <a:pPr marL="0" indent="0" algn="l"/>
            <a:r>
              <a:rPr lang="pt-BR" altLang="pt-BR" dirty="0">
                <a:effectLst/>
              </a:rPr>
              <a:t>float num;</a:t>
            </a:r>
          </a:p>
          <a:p>
            <a:pPr marL="0" indent="0" algn="l"/>
            <a:r>
              <a:rPr lang="pt-BR" altLang="pt-BR" dirty="0">
                <a:effectLst/>
              </a:rPr>
              <a:t>char nome_1[20]; *nome_2;</a:t>
            </a:r>
          </a:p>
          <a:p>
            <a:pPr marL="0" indent="0" algn="l"/>
            <a:endParaRPr lang="es-ES" altLang="pt-B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388095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FE9B8E33-6854-4349-88CF-4D002024A8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 Inicialização de variáveis</a:t>
            </a:r>
            <a:endParaRPr lang="es-ES" altLang="pt-BR" dirty="0">
              <a:effectLst/>
            </a:endParaRPr>
          </a:p>
        </p:txBody>
      </p:sp>
      <p:sp>
        <p:nvSpPr>
          <p:cNvPr id="241667" name="Rectangle 3">
            <a:extLst>
              <a:ext uri="{FF2B5EF4-FFF2-40B4-BE49-F238E27FC236}">
                <a16:creationId xmlns:a16="http://schemas.microsoft.com/office/drawing/2014/main" id="{FD6900B0-8C6A-447A-A89F-500179FAEC8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2" y="1700213"/>
            <a:ext cx="8135939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 É possível, em C, declarar uma variável e já armazenar nela um valor inicial. Chamamos este procedimento de </a:t>
            </a:r>
            <a:r>
              <a:rPr lang="pt-BR" altLang="pt-BR" b="1">
                <a:effectLst/>
              </a:rPr>
              <a:t>inicialização</a:t>
            </a:r>
            <a:r>
              <a:rPr lang="pt-BR" altLang="pt-BR">
                <a:effectLst/>
              </a:rPr>
              <a:t> de uma variável. </a:t>
            </a:r>
          </a:p>
          <a:p>
            <a:pPr marL="0" indent="0" algn="just"/>
            <a:r>
              <a:rPr lang="pt-BR" altLang="pt-BR">
                <a:effectLst/>
              </a:rPr>
              <a:t>	</a:t>
            </a:r>
            <a:r>
              <a:rPr lang="pt-BR" altLang="pt-BR" b="1">
                <a:effectLst/>
              </a:rPr>
              <a:t>Sintaxe:</a:t>
            </a:r>
            <a:r>
              <a:rPr lang="pt-BR" altLang="pt-BR">
                <a:effectLst/>
              </a:rPr>
              <a:t> A sintaxe para a inicialização de variáveis é:</a:t>
            </a:r>
            <a:endParaRPr lang="pt-BR" altLang="pt-BR" i="1">
              <a:effectLst/>
            </a:endParaRPr>
          </a:p>
          <a:p>
            <a:pPr marL="0" indent="0" algn="just"/>
            <a:r>
              <a:rPr lang="pt-BR" altLang="pt-BR" i="1">
                <a:effectLst/>
              </a:rPr>
              <a:t>tipo var_1 </a:t>
            </a:r>
            <a:r>
              <a:rPr lang="pt-BR" altLang="pt-BR">
                <a:effectLst/>
              </a:rPr>
              <a:t>= </a:t>
            </a:r>
            <a:r>
              <a:rPr lang="pt-BR" altLang="pt-BR" i="1">
                <a:effectLst/>
              </a:rPr>
              <a:t>valor_1 [, var_2 = valor_2, ...] </a:t>
            </a:r>
            <a:r>
              <a:rPr lang="pt-BR" altLang="pt-BR">
                <a:effectLst/>
              </a:rPr>
              <a:t>;</a:t>
            </a:r>
          </a:p>
          <a:p>
            <a:pPr marL="0" indent="0"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O </a:t>
            </a:r>
            <a:r>
              <a:rPr lang="pt-BR" altLang="pt-BR" i="1">
                <a:effectLst/>
              </a:rPr>
              <a:t>tipo</a:t>
            </a:r>
            <a:r>
              <a:rPr lang="pt-BR" altLang="pt-BR">
                <a:effectLst/>
              </a:rPr>
              <a:t> é o tipo de dado, </a:t>
            </a:r>
            <a:r>
              <a:rPr lang="pt-BR" altLang="pt-BR" i="1">
                <a:effectLst/>
              </a:rPr>
              <a:t>var_1</a:t>
            </a:r>
            <a:r>
              <a:rPr lang="pt-BR" altLang="pt-BR">
                <a:effectLst/>
              </a:rPr>
              <a:t> é o nome da variável a ser inicializada e </a:t>
            </a:r>
            <a:r>
              <a:rPr lang="pt-BR" altLang="pt-BR" i="1">
                <a:effectLst/>
              </a:rPr>
              <a:t>valor_1</a:t>
            </a:r>
            <a:r>
              <a:rPr lang="pt-BR" altLang="pt-BR">
                <a:effectLst/>
              </a:rPr>
              <a:t> é o valor inicial da variável.</a:t>
            </a:r>
            <a:endParaRPr lang="pt-BR" altLang="pt-BR" b="1">
              <a:effectLst/>
            </a:endParaRPr>
          </a:p>
          <a:p>
            <a:pPr marL="0" indent="0" algn="l"/>
            <a:r>
              <a:rPr lang="pt-BR" altLang="pt-BR" b="1">
                <a:effectLst/>
              </a:rPr>
              <a:t>Exemplo:</a:t>
            </a:r>
            <a:endParaRPr lang="en-US" altLang="pt-BR">
              <a:effectLst/>
            </a:endParaRPr>
          </a:p>
          <a:p>
            <a:pPr marL="0" indent="0" algn="l"/>
            <a:r>
              <a:rPr lang="en-US" altLang="pt-BR">
                <a:effectLst/>
              </a:rPr>
              <a:t>int i = 0, j = 100;</a:t>
            </a:r>
            <a:endParaRPr lang="pt-BR" altLang="pt-BR">
              <a:effectLst/>
            </a:endParaRPr>
          </a:p>
          <a:p>
            <a:pPr marL="0" indent="0" algn="l"/>
            <a:r>
              <a:rPr lang="pt-BR" altLang="pt-BR">
                <a:effectLst/>
              </a:rPr>
              <a:t>float num = 13.5;</a:t>
            </a:r>
          </a:p>
          <a:p>
            <a:pPr marL="0" indent="0" algn="l"/>
            <a:r>
              <a:rPr lang="pt-BR" altLang="pt-BR">
                <a:effectLst/>
              </a:rPr>
              <a:t>char nome_1 [20] = " Programa Teste ";</a:t>
            </a:r>
          </a:p>
          <a:p>
            <a:pPr marL="0" indent="0" algn="l"/>
            <a:endParaRPr lang="es-ES" altLang="pt-BR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915453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1FD4BAE-16BC-4434-94BF-BF694E3C4FA5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77A7254A-23B9-4880-84AA-E2ECD6D0092E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43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42691" name="Rectangle 2">
            <a:extLst>
              <a:ext uri="{FF2B5EF4-FFF2-40B4-BE49-F238E27FC236}">
                <a16:creationId xmlns:a16="http://schemas.microsoft.com/office/drawing/2014/main" id="{AB388928-CC33-4816-8A2A-34E322AD88D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Declaração de Constantes</a:t>
            </a:r>
          </a:p>
        </p:txBody>
      </p:sp>
      <p:sp>
        <p:nvSpPr>
          <p:cNvPr id="1353731" name="Rectangle 3">
            <a:extLst>
              <a:ext uri="{FF2B5EF4-FFF2-40B4-BE49-F238E27FC236}">
                <a16:creationId xmlns:a16="http://schemas.microsoft.com/office/drawing/2014/main" id="{D5C1DA43-D26A-4734-AEEA-86D9AABB98F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6351" indent="371465" algn="l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 dirty="0"/>
              <a:t>O C possui 4 tipos básicos de </a:t>
            </a:r>
            <a:r>
              <a:rPr lang="pt-BR" altLang="pt-BR" b="1" dirty="0"/>
              <a:t>constantes</a:t>
            </a:r>
            <a:r>
              <a:rPr lang="pt-BR" altLang="pt-BR" dirty="0"/>
              <a:t>: </a:t>
            </a:r>
          </a:p>
          <a:p>
            <a:pPr marL="6351" indent="371465" algn="l" eaLnBrk="1" hangingPunct="1">
              <a:buClr>
                <a:srgbClr val="000000"/>
              </a:buClr>
              <a:defRPr/>
            </a:pPr>
            <a:r>
              <a:rPr lang="pt-BR" altLang="pt-BR" dirty="0"/>
              <a:t> </a:t>
            </a:r>
            <a:r>
              <a:rPr lang="pt-BR" altLang="pt-BR" b="1" dirty="0"/>
              <a:t>Inteiras</a:t>
            </a:r>
            <a:r>
              <a:rPr lang="pt-BR" altLang="pt-BR" dirty="0"/>
              <a:t>;</a:t>
            </a:r>
          </a:p>
          <a:p>
            <a:pPr marL="6351" indent="371465" algn="l" eaLnBrk="1" hangingPunct="1">
              <a:buClr>
                <a:srgbClr val="000000"/>
              </a:buClr>
              <a:defRPr/>
            </a:pPr>
            <a:r>
              <a:rPr lang="pt-BR" altLang="pt-BR" dirty="0"/>
              <a:t> de</a:t>
            </a:r>
            <a:r>
              <a:rPr lang="pt-BR" altLang="pt-BR" b="1" dirty="0"/>
              <a:t> ponto flutuante</a:t>
            </a:r>
            <a:r>
              <a:rPr lang="pt-BR" altLang="pt-BR" dirty="0"/>
              <a:t>;</a:t>
            </a:r>
          </a:p>
          <a:p>
            <a:pPr marL="6351" indent="371465" algn="l" eaLnBrk="1" hangingPunct="1">
              <a:buClr>
                <a:srgbClr val="000000"/>
              </a:buClr>
              <a:defRPr/>
            </a:pPr>
            <a:r>
              <a:rPr lang="pt-BR" altLang="pt-BR" dirty="0"/>
              <a:t> </a:t>
            </a:r>
            <a:r>
              <a:rPr lang="pt-BR" altLang="pt-BR" b="1" dirty="0"/>
              <a:t>caracteres</a:t>
            </a:r>
            <a:r>
              <a:rPr lang="pt-BR" altLang="pt-BR" dirty="0"/>
              <a:t> e,</a:t>
            </a:r>
          </a:p>
          <a:p>
            <a:pPr marL="6351" indent="371465" algn="l" eaLnBrk="1" hangingPunct="1">
              <a:buClr>
                <a:srgbClr val="000000"/>
              </a:buClr>
              <a:defRPr/>
            </a:pPr>
            <a:r>
              <a:rPr lang="pt-BR" altLang="pt-BR" dirty="0"/>
              <a:t> </a:t>
            </a:r>
            <a:r>
              <a:rPr lang="pt-BR" altLang="pt-BR" b="1" i="1" dirty="0" err="1"/>
              <a:t>strings</a:t>
            </a:r>
            <a:r>
              <a:rPr lang="pt-BR" altLang="pt-BR" dirty="0"/>
              <a:t>.</a:t>
            </a:r>
          </a:p>
          <a:p>
            <a:pPr marL="6351" indent="371465" algn="l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 dirty="0"/>
              <a:t> Constantes </a:t>
            </a:r>
            <a:r>
              <a:rPr lang="pt-BR" altLang="pt-BR" b="1" dirty="0"/>
              <a:t>inteiras</a:t>
            </a:r>
            <a:r>
              <a:rPr lang="pt-BR" altLang="pt-BR" dirty="0"/>
              <a:t> e de </a:t>
            </a:r>
            <a:r>
              <a:rPr lang="pt-BR" altLang="pt-BR" b="1" dirty="0"/>
              <a:t>ponto flutuante</a:t>
            </a:r>
            <a:r>
              <a:rPr lang="pt-BR" altLang="pt-BR" dirty="0"/>
              <a:t> representam números de um modo geral. </a:t>
            </a:r>
          </a:p>
          <a:p>
            <a:pPr marL="6351" indent="371465" algn="l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 b="1" dirty="0"/>
              <a:t>Caracteres e </a:t>
            </a:r>
            <a:r>
              <a:rPr lang="pt-BR" altLang="pt-BR" b="1" dirty="0" err="1"/>
              <a:t>strings</a:t>
            </a:r>
            <a:r>
              <a:rPr lang="pt-BR" altLang="pt-BR" dirty="0"/>
              <a:t> representam </a:t>
            </a:r>
            <a:r>
              <a:rPr lang="pt-BR" altLang="pt-BR" b="1" dirty="0"/>
              <a:t>letras</a:t>
            </a:r>
            <a:r>
              <a:rPr lang="pt-BR" altLang="pt-BR" dirty="0"/>
              <a:t> e </a:t>
            </a:r>
            <a:r>
              <a:rPr lang="pt-BR" altLang="pt-BR" b="1" dirty="0"/>
              <a:t>agrupamentos de letras</a:t>
            </a:r>
            <a:r>
              <a:rPr lang="pt-BR" altLang="pt-BR" dirty="0"/>
              <a:t> (palavras).</a:t>
            </a:r>
          </a:p>
        </p:txBody>
      </p:sp>
    </p:spTree>
    <p:extLst>
      <p:ext uri="{BB962C8B-B14F-4D97-AF65-F5344CB8AC3E}">
        <p14:creationId xmlns:p14="http://schemas.microsoft.com/office/powerpoint/2010/main" val="21474479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1FD4BAE-16BC-4434-94BF-BF694E3C4FA5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77A7254A-23B9-4880-84AA-E2ECD6D0092E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44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42691" name="Rectangle 2">
            <a:extLst>
              <a:ext uri="{FF2B5EF4-FFF2-40B4-BE49-F238E27FC236}">
                <a16:creationId xmlns:a16="http://schemas.microsoft.com/office/drawing/2014/main" id="{AB388928-CC33-4816-8A2A-34E322AD88D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Exemplos: variável char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41251E0-D966-A311-CCA1-F431A205C4E8}"/>
              </a:ext>
            </a:extLst>
          </p:cNvPr>
          <p:cNvSpPr txBox="1"/>
          <p:nvPr/>
        </p:nvSpPr>
        <p:spPr>
          <a:xfrm>
            <a:off x="579782" y="1466594"/>
            <a:ext cx="6553168" cy="4278094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600" dirty="0"/>
              <a:t>#include &lt;stdio.h&gt;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conio.h</a:t>
            </a:r>
            <a:r>
              <a:rPr lang="pt-BR" sz="1600" dirty="0"/>
              <a:t>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locale.h</a:t>
            </a:r>
            <a:r>
              <a:rPr lang="pt-BR" sz="1600" dirty="0"/>
              <a:t>&gt;</a:t>
            </a:r>
          </a:p>
          <a:p>
            <a:r>
              <a:rPr lang="pt-BR" sz="1600" dirty="0" err="1"/>
              <a:t>main</a:t>
            </a:r>
            <a:r>
              <a:rPr lang="pt-BR" sz="1600" dirty="0"/>
              <a:t>()</a:t>
            </a:r>
          </a:p>
          <a:p>
            <a:r>
              <a:rPr lang="pt-BR" sz="1600" dirty="0"/>
              <a:t>{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setlocale</a:t>
            </a:r>
            <a:r>
              <a:rPr lang="pt-BR" sz="1600" dirty="0"/>
              <a:t>(LC_ALL, "</a:t>
            </a:r>
            <a:r>
              <a:rPr lang="pt-BR" sz="1600" dirty="0" err="1"/>
              <a:t>Portuguese</a:t>
            </a:r>
            <a:r>
              <a:rPr lang="pt-BR" sz="1600" dirty="0"/>
              <a:t>");</a:t>
            </a:r>
          </a:p>
          <a:p>
            <a:r>
              <a:rPr lang="pt-BR" sz="1600" dirty="0"/>
              <a:t>    char A, nome[100], </a:t>
            </a:r>
            <a:r>
              <a:rPr lang="pt-BR" sz="1600" dirty="0" err="1"/>
              <a:t>ender</a:t>
            </a:r>
            <a:r>
              <a:rPr lang="pt-BR" sz="1600" dirty="0"/>
              <a:t>[20];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printf</a:t>
            </a:r>
            <a:r>
              <a:rPr lang="pt-BR" sz="1600" dirty="0"/>
              <a:t>("Digite o seu nome: \n");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fgets</a:t>
            </a:r>
            <a:r>
              <a:rPr lang="pt-BR" sz="1600" dirty="0"/>
              <a:t>(nome, </a:t>
            </a:r>
            <a:r>
              <a:rPr lang="pt-BR" sz="1600" dirty="0" err="1"/>
              <a:t>sizeof</a:t>
            </a:r>
            <a:r>
              <a:rPr lang="pt-BR" sz="1600" dirty="0"/>
              <a:t>(nome), </a:t>
            </a:r>
            <a:r>
              <a:rPr lang="pt-BR" sz="1600" dirty="0" err="1"/>
              <a:t>stdin</a:t>
            </a:r>
            <a:r>
              <a:rPr lang="pt-BR" sz="1600" dirty="0"/>
              <a:t>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printf</a:t>
            </a:r>
            <a:r>
              <a:rPr lang="pt-BR" sz="1600" dirty="0"/>
              <a:t>("Digite o seu </a:t>
            </a:r>
            <a:r>
              <a:rPr lang="pt-BR" sz="1600" dirty="0" err="1"/>
              <a:t>endereco</a:t>
            </a:r>
            <a:r>
              <a:rPr lang="pt-BR" sz="1600" dirty="0"/>
              <a:t>: \n");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fgets</a:t>
            </a:r>
            <a:r>
              <a:rPr lang="pt-BR" sz="1600" dirty="0"/>
              <a:t>(</a:t>
            </a:r>
            <a:r>
              <a:rPr lang="pt-BR" sz="1600" dirty="0" err="1"/>
              <a:t>ender</a:t>
            </a:r>
            <a:r>
              <a:rPr lang="pt-BR" sz="1600" dirty="0"/>
              <a:t>, </a:t>
            </a:r>
            <a:r>
              <a:rPr lang="pt-BR" sz="1600" dirty="0" err="1"/>
              <a:t>sizeof</a:t>
            </a:r>
            <a:r>
              <a:rPr lang="pt-BR" sz="1600" dirty="0"/>
              <a:t>(</a:t>
            </a:r>
            <a:r>
              <a:rPr lang="pt-BR" sz="1600" dirty="0" err="1"/>
              <a:t>ender</a:t>
            </a:r>
            <a:r>
              <a:rPr lang="pt-BR" sz="1600" dirty="0"/>
              <a:t>), </a:t>
            </a:r>
            <a:r>
              <a:rPr lang="pt-BR" sz="1600" dirty="0" err="1"/>
              <a:t>stdin</a:t>
            </a:r>
            <a:r>
              <a:rPr lang="pt-BR" sz="1600" dirty="0"/>
              <a:t>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printf</a:t>
            </a:r>
            <a:r>
              <a:rPr lang="pt-BR" sz="1600" dirty="0"/>
              <a:t>("Digite um </a:t>
            </a:r>
            <a:r>
              <a:rPr lang="pt-BR" sz="1600" dirty="0" err="1"/>
              <a:t>caracter</a:t>
            </a:r>
            <a:r>
              <a:rPr lang="pt-BR" sz="1600" dirty="0"/>
              <a:t>:\n");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scanf</a:t>
            </a:r>
            <a:r>
              <a:rPr lang="pt-BR" sz="1600" dirty="0"/>
              <a:t>("%c", &amp;A);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printf</a:t>
            </a:r>
            <a:r>
              <a:rPr lang="pt-BR" sz="1600" dirty="0"/>
              <a:t>("O nome digitado foi %s \n", nome);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printf</a:t>
            </a:r>
            <a:r>
              <a:rPr lang="pt-BR" sz="1600" dirty="0"/>
              <a:t>("O </a:t>
            </a:r>
            <a:r>
              <a:rPr lang="pt-BR" sz="1600" dirty="0" err="1"/>
              <a:t>endereco</a:t>
            </a:r>
            <a:r>
              <a:rPr lang="pt-BR" sz="1600" dirty="0"/>
              <a:t> digitado foi: %s \n", </a:t>
            </a:r>
            <a:r>
              <a:rPr lang="pt-BR" sz="1600" dirty="0" err="1"/>
              <a:t>ender</a:t>
            </a:r>
            <a:r>
              <a:rPr lang="pt-BR" sz="1600" dirty="0"/>
              <a:t>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printf</a:t>
            </a:r>
            <a:r>
              <a:rPr lang="pt-BR" sz="1600" dirty="0"/>
              <a:t>("O </a:t>
            </a:r>
            <a:r>
              <a:rPr lang="pt-BR" sz="1600" dirty="0" err="1"/>
              <a:t>caracter</a:t>
            </a:r>
            <a:r>
              <a:rPr lang="pt-BR" sz="1600" dirty="0"/>
              <a:t> da </a:t>
            </a:r>
            <a:r>
              <a:rPr lang="pt-BR" sz="1600" dirty="0" err="1"/>
              <a:t>variavel</a:t>
            </a:r>
            <a:r>
              <a:rPr lang="pt-BR" sz="1600" dirty="0"/>
              <a:t> A: %c \n", A);</a:t>
            </a:r>
          </a:p>
          <a:p>
            <a:r>
              <a:rPr lang="pt-BR" sz="1600" dirty="0"/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52383C0-C1DF-4B17-480F-7891A7A108EA}"/>
              </a:ext>
            </a:extLst>
          </p:cNvPr>
          <p:cNvSpPr txBox="1"/>
          <p:nvPr/>
        </p:nvSpPr>
        <p:spPr>
          <a:xfrm>
            <a:off x="839416" y="5875895"/>
            <a:ext cx="2808312" cy="369332"/>
          </a:xfrm>
          <a:prstGeom prst="rect">
            <a:avLst/>
          </a:prstGeom>
          <a:solidFill>
            <a:srgbClr val="CC0000"/>
          </a:solidFill>
        </p:spPr>
        <p:txBody>
          <a:bodyPr wrap="square">
            <a:spAutoFit/>
          </a:bodyPr>
          <a:lstStyle/>
          <a:p>
            <a:r>
              <a:rPr lang="pt-BR" dirty="0" err="1"/>
              <a:t>scanf</a:t>
            </a:r>
            <a:r>
              <a:rPr lang="pt-BR" dirty="0"/>
              <a:t>("%[^\n]", </a:t>
            </a:r>
            <a:r>
              <a:rPr lang="pt-BR" dirty="0" err="1"/>
              <a:t>ender</a:t>
            </a:r>
            <a:r>
              <a:rPr lang="pt-BR" dirty="0"/>
              <a:t>);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D7A61A9-1DD9-1B83-C13F-E22616417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787" y="1535195"/>
            <a:ext cx="5628403" cy="340597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E3BC895-3F88-02EA-0F4D-F81A689FB65F}"/>
              </a:ext>
            </a:extLst>
          </p:cNvPr>
          <p:cNvSpPr txBox="1"/>
          <p:nvPr/>
        </p:nvSpPr>
        <p:spPr>
          <a:xfrm>
            <a:off x="835426" y="6343560"/>
            <a:ext cx="1804190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</a:rPr>
              <a:t>String.cpp</a:t>
            </a:r>
          </a:p>
        </p:txBody>
      </p:sp>
    </p:spTree>
    <p:extLst>
      <p:ext uri="{BB962C8B-B14F-4D97-AF65-F5344CB8AC3E}">
        <p14:creationId xmlns:p14="http://schemas.microsoft.com/office/powerpoint/2010/main" val="318857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1FD4BAE-16BC-4434-94BF-BF694E3C4FA5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77A7254A-23B9-4880-84AA-E2ECD6D0092E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45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42691" name="Rectangle 2">
            <a:extLst>
              <a:ext uri="{FF2B5EF4-FFF2-40B4-BE49-F238E27FC236}">
                <a16:creationId xmlns:a16="http://schemas.microsoft.com/office/drawing/2014/main" id="{AB388928-CC33-4816-8A2A-34E322AD88D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Exemplos: variáveis </a:t>
            </a:r>
            <a:r>
              <a:rPr lang="pt-BR" altLang="pt-BR" dirty="0" err="1">
                <a:effectLst/>
              </a:rPr>
              <a:t>int</a:t>
            </a:r>
            <a:r>
              <a:rPr lang="pt-BR" altLang="pt-BR" dirty="0">
                <a:effectLst/>
              </a:rPr>
              <a:t>, </a:t>
            </a:r>
            <a:r>
              <a:rPr lang="pt-BR" altLang="pt-BR" dirty="0" err="1">
                <a:effectLst/>
              </a:rPr>
              <a:t>float</a:t>
            </a:r>
            <a:r>
              <a:rPr lang="pt-BR" altLang="pt-BR" dirty="0">
                <a:effectLst/>
              </a:rPr>
              <a:t> e char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57D6D9-F7F4-1227-F660-40B437891AFE}"/>
              </a:ext>
            </a:extLst>
          </p:cNvPr>
          <p:cNvSpPr txBox="1"/>
          <p:nvPr/>
        </p:nvSpPr>
        <p:spPr>
          <a:xfrm>
            <a:off x="1730954" y="1484785"/>
            <a:ext cx="4620986" cy="5078313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</a:t>
            </a:r>
            <a:r>
              <a:rPr lang="pt-BR" dirty="0" err="1"/>
              <a:t>stdio.h</a:t>
            </a:r>
            <a:r>
              <a:rPr lang="pt-BR" dirty="0"/>
              <a:t>&gt;</a:t>
            </a:r>
          </a:p>
          <a:p>
            <a:r>
              <a:rPr lang="pt-BR" dirty="0"/>
              <a:t>#include &lt;</a:t>
            </a:r>
            <a:r>
              <a:rPr lang="pt-BR" dirty="0" err="1"/>
              <a:t>conio.h</a:t>
            </a:r>
            <a:r>
              <a:rPr lang="pt-BR" dirty="0"/>
              <a:t>&gt;</a:t>
            </a:r>
          </a:p>
          <a:p>
            <a:r>
              <a:rPr lang="pt-BR" dirty="0"/>
              <a:t>#include &lt;</a:t>
            </a:r>
            <a:r>
              <a:rPr lang="pt-BR" dirty="0" err="1"/>
              <a:t>math.h</a:t>
            </a:r>
            <a:r>
              <a:rPr lang="pt-BR" dirty="0"/>
              <a:t>&gt;</a:t>
            </a:r>
          </a:p>
          <a:p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(){</a:t>
            </a:r>
          </a:p>
          <a:p>
            <a:r>
              <a:rPr lang="pt-BR" dirty="0"/>
              <a:t> //declaração das variáveis</a:t>
            </a:r>
          </a:p>
          <a:p>
            <a:r>
              <a:rPr lang="pt-BR" dirty="0"/>
              <a:t>  </a:t>
            </a:r>
            <a:r>
              <a:rPr lang="pt-BR" dirty="0" err="1"/>
              <a:t>float</a:t>
            </a:r>
            <a:r>
              <a:rPr lang="pt-BR" dirty="0"/>
              <a:t> x;</a:t>
            </a:r>
          </a:p>
          <a:p>
            <a:r>
              <a:rPr lang="pt-BR" dirty="0"/>
              <a:t>  </a:t>
            </a:r>
            <a:r>
              <a:rPr lang="pt-BR" dirty="0" err="1"/>
              <a:t>int</a:t>
            </a:r>
            <a:r>
              <a:rPr lang="pt-BR" dirty="0"/>
              <a:t> y;</a:t>
            </a:r>
          </a:p>
          <a:p>
            <a:r>
              <a:rPr lang="pt-BR" dirty="0"/>
              <a:t>  char </a:t>
            </a:r>
            <a:r>
              <a:rPr lang="pt-BR" dirty="0" err="1"/>
              <a:t>ch</a:t>
            </a:r>
            <a:r>
              <a:rPr lang="pt-BR" dirty="0"/>
              <a:t>;</a:t>
            </a:r>
          </a:p>
          <a:p>
            <a:r>
              <a:rPr lang="pt-BR" dirty="0"/>
              <a:t> //impressão das variáveis</a:t>
            </a:r>
          </a:p>
          <a:p>
            <a:r>
              <a:rPr lang="pt-BR" dirty="0"/>
              <a:t> x=1.5;</a:t>
            </a:r>
          </a:p>
          <a:p>
            <a:r>
              <a:rPr lang="pt-BR" dirty="0"/>
              <a:t> y=2;</a:t>
            </a:r>
          </a:p>
          <a:p>
            <a:r>
              <a:rPr lang="pt-BR" dirty="0"/>
              <a:t> </a:t>
            </a:r>
            <a:r>
              <a:rPr lang="pt-BR" dirty="0" err="1"/>
              <a:t>ch</a:t>
            </a:r>
            <a:r>
              <a:rPr lang="pt-BR" dirty="0"/>
              <a:t>=98;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("x= %f \</a:t>
            </a:r>
            <a:r>
              <a:rPr lang="pt-BR" dirty="0" err="1"/>
              <a:t>n",x</a:t>
            </a:r>
            <a:r>
              <a:rPr lang="pt-BR" dirty="0"/>
              <a:t>);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("i= %d \</a:t>
            </a:r>
            <a:r>
              <a:rPr lang="pt-BR" dirty="0" err="1"/>
              <a:t>n",y</a:t>
            </a:r>
            <a:r>
              <a:rPr lang="pt-BR" dirty="0"/>
              <a:t>);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("</a:t>
            </a:r>
            <a:r>
              <a:rPr lang="pt-BR" dirty="0" err="1"/>
              <a:t>ch</a:t>
            </a:r>
            <a:r>
              <a:rPr lang="pt-BR" dirty="0"/>
              <a:t>= %d \n",</a:t>
            </a:r>
            <a:r>
              <a:rPr lang="pt-BR" dirty="0" err="1"/>
              <a:t>ch</a:t>
            </a:r>
            <a:r>
              <a:rPr lang="pt-BR" dirty="0"/>
              <a:t>);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("</a:t>
            </a:r>
            <a:r>
              <a:rPr lang="pt-BR" dirty="0" err="1"/>
              <a:t>ch</a:t>
            </a:r>
            <a:r>
              <a:rPr lang="pt-BR" dirty="0"/>
              <a:t>= %c \n",</a:t>
            </a:r>
            <a:r>
              <a:rPr lang="pt-BR" dirty="0" err="1"/>
              <a:t>ch</a:t>
            </a:r>
            <a:r>
              <a:rPr lang="pt-BR" dirty="0"/>
              <a:t>);</a:t>
            </a:r>
          </a:p>
          <a:p>
            <a:r>
              <a:rPr lang="pt-BR" dirty="0" err="1"/>
              <a:t>return</a:t>
            </a:r>
            <a:r>
              <a:rPr lang="pt-BR" dirty="0"/>
              <a:t>(0);</a:t>
            </a:r>
          </a:p>
          <a:p>
            <a:r>
              <a:rPr lang="pt-BR" dirty="0"/>
              <a:t> }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1144A03-E312-987A-7CC2-8B4DA7BB6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276872"/>
            <a:ext cx="40005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71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1FD4BAE-16BC-4434-94BF-BF694E3C4FA5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77A7254A-23B9-4880-84AA-E2ECD6D0092E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46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42691" name="Rectangle 2">
            <a:extLst>
              <a:ext uri="{FF2B5EF4-FFF2-40B4-BE49-F238E27FC236}">
                <a16:creationId xmlns:a16="http://schemas.microsoft.com/office/drawing/2014/main" id="{AB388928-CC33-4816-8A2A-34E322AD88D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Exemplos: variáveis </a:t>
            </a:r>
            <a:r>
              <a:rPr lang="pt-BR" altLang="pt-BR" dirty="0" err="1">
                <a:effectLst/>
              </a:rPr>
              <a:t>int</a:t>
            </a:r>
            <a:r>
              <a:rPr lang="pt-BR" altLang="pt-BR" dirty="0">
                <a:effectLst/>
              </a:rPr>
              <a:t>, </a:t>
            </a:r>
            <a:r>
              <a:rPr lang="pt-BR" altLang="pt-BR" dirty="0" err="1">
                <a:effectLst/>
              </a:rPr>
              <a:t>float</a:t>
            </a:r>
            <a:r>
              <a:rPr lang="pt-BR" altLang="pt-BR" dirty="0">
                <a:effectLst/>
              </a:rPr>
              <a:t> e char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3AF668-DF48-7AD9-12AD-4D660CC454E8}"/>
              </a:ext>
            </a:extLst>
          </p:cNvPr>
          <p:cNvSpPr txBox="1"/>
          <p:nvPr/>
        </p:nvSpPr>
        <p:spPr>
          <a:xfrm>
            <a:off x="586475" y="1341295"/>
            <a:ext cx="4620986" cy="5509200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600" dirty="0"/>
              <a:t>#include &lt;stdio.h&gt;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conio.h</a:t>
            </a:r>
            <a:r>
              <a:rPr lang="pt-BR" sz="1600" dirty="0"/>
              <a:t>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math.h</a:t>
            </a:r>
            <a:r>
              <a:rPr lang="pt-BR" sz="1600" dirty="0"/>
              <a:t>&gt;</a:t>
            </a:r>
          </a:p>
          <a:p>
            <a:r>
              <a:rPr lang="pt-BR" sz="1600" dirty="0"/>
              <a:t>int </a:t>
            </a:r>
            <a:r>
              <a:rPr lang="pt-BR" sz="1600" dirty="0" err="1"/>
              <a:t>main</a:t>
            </a:r>
            <a:r>
              <a:rPr lang="pt-BR" sz="1600" dirty="0"/>
              <a:t>(){</a:t>
            </a:r>
          </a:p>
          <a:p>
            <a:r>
              <a:rPr lang="pt-BR" sz="1600" dirty="0"/>
              <a:t> //declaração das variáveis</a:t>
            </a:r>
          </a:p>
          <a:p>
            <a:r>
              <a:rPr lang="pt-BR" sz="1600" dirty="0"/>
              <a:t>  float x;</a:t>
            </a:r>
          </a:p>
          <a:p>
            <a:r>
              <a:rPr lang="pt-BR" sz="1600" dirty="0"/>
              <a:t>  int y;</a:t>
            </a:r>
          </a:p>
          <a:p>
            <a:r>
              <a:rPr lang="pt-BR" sz="1600" dirty="0"/>
              <a:t>  char </a:t>
            </a:r>
            <a:r>
              <a:rPr lang="pt-BR" sz="1600" dirty="0" err="1"/>
              <a:t>ch</a:t>
            </a:r>
            <a:r>
              <a:rPr lang="pt-BR" sz="1600" dirty="0"/>
              <a:t>;</a:t>
            </a:r>
          </a:p>
          <a:p>
            <a:r>
              <a:rPr lang="pt-BR" sz="1600" dirty="0"/>
              <a:t> //impressão das variáveis</a:t>
            </a:r>
          </a:p>
          <a:p>
            <a:r>
              <a:rPr lang="pt-BR" sz="1600" dirty="0"/>
              <a:t> </a:t>
            </a:r>
            <a:r>
              <a:rPr lang="pt-BR" sz="1600" dirty="0" err="1"/>
              <a:t>printf</a:t>
            </a:r>
            <a:r>
              <a:rPr lang="pt-BR" sz="1600" dirty="0"/>
              <a:t>("Entre com o valor float para x");</a:t>
            </a:r>
          </a:p>
          <a:p>
            <a:r>
              <a:rPr lang="pt-BR" sz="1600" dirty="0"/>
              <a:t> </a:t>
            </a:r>
            <a:r>
              <a:rPr lang="pt-BR" sz="1600" dirty="0" err="1"/>
              <a:t>scanf</a:t>
            </a:r>
            <a:r>
              <a:rPr lang="pt-BR" sz="1600" dirty="0"/>
              <a:t>("%</a:t>
            </a:r>
            <a:r>
              <a:rPr lang="pt-BR" sz="1600" dirty="0" err="1"/>
              <a:t>f",&amp;x</a:t>
            </a:r>
            <a:r>
              <a:rPr lang="pt-BR" sz="1600" dirty="0"/>
              <a:t>);</a:t>
            </a:r>
          </a:p>
          <a:p>
            <a:r>
              <a:rPr lang="pt-BR" sz="1600" dirty="0"/>
              <a:t> </a:t>
            </a:r>
            <a:r>
              <a:rPr lang="pt-BR" sz="1600" dirty="0" err="1"/>
              <a:t>printf</a:t>
            </a:r>
            <a:r>
              <a:rPr lang="pt-BR" sz="1600" dirty="0"/>
              <a:t>("Entre com o valor inteiro para i");</a:t>
            </a:r>
          </a:p>
          <a:p>
            <a:r>
              <a:rPr lang="pt-BR" sz="1600" dirty="0"/>
              <a:t> </a:t>
            </a:r>
            <a:r>
              <a:rPr lang="pt-BR" sz="1600" dirty="0" err="1"/>
              <a:t>scanf</a:t>
            </a:r>
            <a:r>
              <a:rPr lang="pt-BR" sz="1600" dirty="0"/>
              <a:t>("%</a:t>
            </a:r>
            <a:r>
              <a:rPr lang="pt-BR" sz="1600" dirty="0" err="1"/>
              <a:t>i",&amp;y</a:t>
            </a:r>
            <a:r>
              <a:rPr lang="pt-BR" sz="1600" dirty="0"/>
              <a:t>);</a:t>
            </a:r>
          </a:p>
          <a:p>
            <a:r>
              <a:rPr lang="pt-BR" sz="1600" dirty="0"/>
              <a:t> </a:t>
            </a:r>
            <a:r>
              <a:rPr lang="pt-BR" sz="1600" dirty="0" err="1"/>
              <a:t>printf</a:t>
            </a:r>
            <a:r>
              <a:rPr lang="pt-BR" sz="1600" dirty="0"/>
              <a:t>("Entre com um </a:t>
            </a:r>
            <a:r>
              <a:rPr lang="pt-BR" sz="1600" dirty="0" err="1"/>
              <a:t>caracter</a:t>
            </a:r>
            <a:r>
              <a:rPr lang="pt-BR" sz="1600" dirty="0"/>
              <a:t> para </a:t>
            </a:r>
            <a:r>
              <a:rPr lang="pt-BR" sz="1600" dirty="0" err="1"/>
              <a:t>ch</a:t>
            </a:r>
            <a:r>
              <a:rPr lang="pt-BR" sz="1600" dirty="0"/>
              <a:t>");</a:t>
            </a:r>
          </a:p>
          <a:p>
            <a:r>
              <a:rPr lang="pt-BR" sz="1600" dirty="0"/>
              <a:t> </a:t>
            </a:r>
            <a:r>
              <a:rPr lang="pt-BR" sz="1600" dirty="0" err="1"/>
              <a:t>fflush</a:t>
            </a:r>
            <a:r>
              <a:rPr lang="pt-BR" sz="1600" dirty="0"/>
              <a:t>(</a:t>
            </a:r>
            <a:r>
              <a:rPr lang="pt-BR" sz="1600" dirty="0" err="1"/>
              <a:t>stdin</a:t>
            </a:r>
            <a:r>
              <a:rPr lang="pt-BR" sz="1600" dirty="0"/>
              <a:t>);</a:t>
            </a:r>
          </a:p>
          <a:p>
            <a:r>
              <a:rPr lang="pt-BR" sz="1600" dirty="0"/>
              <a:t> </a:t>
            </a:r>
            <a:r>
              <a:rPr lang="pt-BR" sz="1600" dirty="0" err="1"/>
              <a:t>scanf</a:t>
            </a:r>
            <a:r>
              <a:rPr lang="pt-BR" sz="1600" dirty="0"/>
              <a:t>("%c",&amp;</a:t>
            </a:r>
            <a:r>
              <a:rPr lang="pt-BR" sz="1600" dirty="0" err="1"/>
              <a:t>ch</a:t>
            </a:r>
            <a:r>
              <a:rPr lang="pt-BR" sz="1600" dirty="0"/>
              <a:t>);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printf</a:t>
            </a:r>
            <a:r>
              <a:rPr lang="pt-BR" sz="1600" dirty="0"/>
              <a:t>("x= %f \</a:t>
            </a:r>
            <a:r>
              <a:rPr lang="pt-BR" sz="1600" dirty="0" err="1"/>
              <a:t>n",x</a:t>
            </a:r>
            <a:r>
              <a:rPr lang="pt-BR" sz="1600" dirty="0"/>
              <a:t>);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printf</a:t>
            </a:r>
            <a:r>
              <a:rPr lang="pt-BR" sz="1600" dirty="0"/>
              <a:t>("i= %d \</a:t>
            </a:r>
            <a:r>
              <a:rPr lang="pt-BR" sz="1600" dirty="0" err="1"/>
              <a:t>n",y</a:t>
            </a:r>
            <a:r>
              <a:rPr lang="pt-BR" sz="1600" dirty="0"/>
              <a:t>);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printf</a:t>
            </a:r>
            <a:r>
              <a:rPr lang="pt-BR" sz="1600" dirty="0"/>
              <a:t>("</a:t>
            </a:r>
            <a:r>
              <a:rPr lang="pt-BR" sz="1600" dirty="0" err="1"/>
              <a:t>ch</a:t>
            </a:r>
            <a:r>
              <a:rPr lang="pt-BR" sz="1600" dirty="0"/>
              <a:t>= %d \n",</a:t>
            </a:r>
            <a:r>
              <a:rPr lang="pt-BR" sz="1600" dirty="0" err="1"/>
              <a:t>ch</a:t>
            </a:r>
            <a:r>
              <a:rPr lang="pt-BR" sz="1600" dirty="0"/>
              <a:t>);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printf</a:t>
            </a:r>
            <a:r>
              <a:rPr lang="pt-BR" sz="1600" dirty="0"/>
              <a:t>("</a:t>
            </a:r>
            <a:r>
              <a:rPr lang="pt-BR" sz="1600" dirty="0" err="1"/>
              <a:t>ch</a:t>
            </a:r>
            <a:r>
              <a:rPr lang="pt-BR" sz="1600" dirty="0"/>
              <a:t>= %c \n",</a:t>
            </a:r>
            <a:r>
              <a:rPr lang="pt-BR" sz="1600" dirty="0" err="1"/>
              <a:t>ch</a:t>
            </a:r>
            <a:r>
              <a:rPr lang="pt-BR" sz="1600" dirty="0"/>
              <a:t>);</a:t>
            </a:r>
          </a:p>
          <a:p>
            <a:r>
              <a:rPr lang="pt-BR" sz="1600" dirty="0"/>
              <a:t>return(0);</a:t>
            </a:r>
          </a:p>
          <a:p>
            <a:r>
              <a:rPr lang="pt-BR" sz="1600" dirty="0"/>
              <a:t> 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AB3FC6A-AE8B-69AD-93F4-464FD86A2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041" y="1341295"/>
            <a:ext cx="5214317" cy="266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7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6A803A33-9219-4AE4-BF15-01AE1177C37C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1E75DF7A-663B-418E-BAC4-868B82F90246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47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376258" name="Rectangle 2">
            <a:extLst>
              <a:ext uri="{FF2B5EF4-FFF2-40B4-BE49-F238E27FC236}">
                <a16:creationId xmlns:a16="http://schemas.microsoft.com/office/drawing/2014/main" id="{724EC115-57CA-42E9-BC37-C4C10D688B8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altLang="pt-BR" dirty="0">
                <a:effectLst/>
              </a:rPr>
              <a:t>Declaração de Constantes</a:t>
            </a:r>
            <a:r>
              <a:rPr lang="pt-BR" altLang="pt-BR" dirty="0"/>
              <a:t> </a:t>
            </a:r>
            <a:r>
              <a:rPr lang="pt-BR" altLang="pt-BR" dirty="0">
                <a:effectLst/>
              </a:rPr>
              <a:t>Simbólicas</a:t>
            </a:r>
            <a:r>
              <a:rPr lang="pt-BR" altLang="pt-BR" dirty="0"/>
              <a:t> (Macro)</a:t>
            </a:r>
          </a:p>
        </p:txBody>
      </p:sp>
      <p:sp>
        <p:nvSpPr>
          <p:cNvPr id="1376259" name="Rectangle 3">
            <a:extLst>
              <a:ext uri="{FF2B5EF4-FFF2-40B4-BE49-F238E27FC236}">
                <a16:creationId xmlns:a16="http://schemas.microsoft.com/office/drawing/2014/main" id="{764BF77E-002A-4FD9-BB13-30A4DB1476C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174621" algn="l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 dirty="0">
                <a:effectLst/>
              </a:rPr>
              <a:t>  Muitas vezes identificamos uma constante numérica por um símbolo como, por exemplo, Pi = 3,14159. </a:t>
            </a:r>
          </a:p>
          <a:p>
            <a:pPr marL="0" indent="174621" algn="l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 dirty="0">
                <a:effectLst/>
              </a:rPr>
              <a:t>  Podemos definir um nome simbólico para esta constante, isto é, podemos definir uma </a:t>
            </a:r>
            <a:r>
              <a:rPr lang="pt-BR" altLang="pt-BR" b="1" dirty="0">
                <a:effectLst/>
              </a:rPr>
              <a:t>constante simbólica</a:t>
            </a:r>
            <a:r>
              <a:rPr lang="pt-BR" altLang="pt-BR" dirty="0">
                <a:effectLst/>
              </a:rPr>
              <a:t> que represente o valor. </a:t>
            </a:r>
          </a:p>
          <a:p>
            <a:pPr marL="0" indent="174621" algn="l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 b="1" dirty="0">
                <a:effectLst/>
              </a:rPr>
              <a:t> Sintaxe:</a:t>
            </a:r>
            <a:r>
              <a:rPr lang="pt-BR" altLang="pt-BR" dirty="0">
                <a:effectLst/>
              </a:rPr>
              <a:t> A sintaxe da instrução de definição de uma constante simbólica é: </a:t>
            </a:r>
            <a:r>
              <a:rPr lang="pt-BR" altLang="pt-BR" b="1" dirty="0">
                <a:effectLst/>
              </a:rPr>
              <a:t>#define </a:t>
            </a:r>
            <a:r>
              <a:rPr lang="pt-BR" altLang="pt-BR" b="1" i="1" dirty="0">
                <a:effectLst/>
              </a:rPr>
              <a:t>nome valor</a:t>
            </a:r>
            <a:r>
              <a:rPr lang="pt-BR" altLang="pt-BR" dirty="0">
                <a:effectLst/>
              </a:rPr>
              <a:t> .</a:t>
            </a:r>
          </a:p>
          <a:p>
            <a:pPr marL="0" indent="174621" algn="l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 dirty="0">
                <a:effectLst/>
              </a:rPr>
              <a:t>  Onde </a:t>
            </a:r>
            <a:r>
              <a:rPr lang="pt-BR" altLang="pt-BR" b="1" dirty="0">
                <a:effectLst/>
              </a:rPr>
              <a:t>#define</a:t>
            </a:r>
            <a:r>
              <a:rPr lang="pt-BR" altLang="pt-BR" dirty="0">
                <a:effectLst/>
              </a:rPr>
              <a:t> é uma diretiva de compilação que diz ao compilador para trocar as ocorrências do texto </a:t>
            </a:r>
            <a:r>
              <a:rPr lang="pt-BR" altLang="pt-BR" i="1" dirty="0">
                <a:effectLst/>
              </a:rPr>
              <a:t>nome</a:t>
            </a:r>
            <a:r>
              <a:rPr lang="pt-BR" altLang="pt-BR" dirty="0">
                <a:effectLst/>
              </a:rPr>
              <a:t> por </a:t>
            </a:r>
            <a:r>
              <a:rPr lang="pt-BR" altLang="pt-BR" i="1" dirty="0">
                <a:effectLst/>
              </a:rPr>
              <a:t>valor</a:t>
            </a:r>
            <a:r>
              <a:rPr lang="pt-BR" altLang="pt-BR" dirty="0">
                <a:effectLst/>
              </a:rPr>
              <a:t>. Observe que </a:t>
            </a:r>
            <a:r>
              <a:rPr lang="pt-BR" altLang="pt-BR" b="1" dirty="0">
                <a:effectLst/>
              </a:rPr>
              <a:t>não há</a:t>
            </a:r>
            <a:r>
              <a:rPr lang="pt-BR" altLang="pt-BR" dirty="0">
                <a:effectLst/>
              </a:rPr>
              <a:t> </a:t>
            </a:r>
            <a:r>
              <a:rPr lang="pt-BR" altLang="pt-BR" b="1" dirty="0">
                <a:effectLst/>
              </a:rPr>
              <a:t>;</a:t>
            </a:r>
            <a:r>
              <a:rPr lang="pt-BR" altLang="pt-BR" dirty="0">
                <a:effectLst/>
              </a:rPr>
              <a:t> (ponto e vírgula) no final da instrução pois trata-se de um comando para o compilador e não para o processador. </a:t>
            </a:r>
          </a:p>
          <a:p>
            <a:pPr marL="0" indent="174621" algn="l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 dirty="0">
                <a:effectLst/>
              </a:rPr>
              <a:t>  A instrução #define </a:t>
            </a:r>
            <a:r>
              <a:rPr lang="pt-BR" altLang="pt-BR" b="1" dirty="0">
                <a:effectLst/>
              </a:rPr>
              <a:t>deve</a:t>
            </a:r>
            <a:r>
              <a:rPr lang="pt-BR" altLang="pt-BR" dirty="0">
                <a:effectLst/>
              </a:rPr>
              <a:t> ser escrita </a:t>
            </a:r>
            <a:r>
              <a:rPr lang="pt-BR" altLang="pt-BR" b="1" dirty="0">
                <a:effectLst/>
              </a:rPr>
              <a:t>antes</a:t>
            </a:r>
            <a:r>
              <a:rPr lang="pt-BR" altLang="pt-BR" dirty="0">
                <a:effectLst/>
              </a:rPr>
              <a:t> da instrução de declaração da rotina principal.</a:t>
            </a:r>
            <a:r>
              <a:rPr lang="pt-BR" altLang="pt-BR" sz="1200" dirty="0"/>
              <a:t>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386F9AC-079C-4C5E-8A7F-3D7B4D47E498}"/>
              </a:ext>
            </a:extLst>
          </p:cNvPr>
          <p:cNvSpPr/>
          <p:nvPr/>
        </p:nvSpPr>
        <p:spPr>
          <a:xfrm>
            <a:off x="1847528" y="5445129"/>
            <a:ext cx="8229600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pt-BR" dirty="0"/>
              <a:t>Esta diretiva é utilizada para a definição de macros, que são nomes que representam valores constantes. Após a definição da macro, toda ocorrência do seu nome no programa é substituída pelo valor definido. </a:t>
            </a:r>
          </a:p>
          <a:p>
            <a:pPr algn="just"/>
            <a:r>
              <a:rPr lang="pt-BR" b="1" dirty="0"/>
              <a:t>Por convenção todo o nome de macro é escrito em letras maiúsculas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866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7070DDD8-9BE9-43EA-B583-620466B11AF3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912EFFAB-4890-4E49-A5EF-C0FEE218ABC3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48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381378" name="Rectangle 2">
            <a:extLst>
              <a:ext uri="{FF2B5EF4-FFF2-40B4-BE49-F238E27FC236}">
                <a16:creationId xmlns:a16="http://schemas.microsoft.com/office/drawing/2014/main" id="{04E0461E-DB16-4B79-80B7-69FBEC3DCF6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altLang="pt-BR" dirty="0">
                <a:effectLst/>
              </a:rPr>
              <a:t>Declaração de Constantes</a:t>
            </a:r>
            <a:r>
              <a:rPr lang="pt-BR" altLang="pt-BR" dirty="0"/>
              <a:t> </a:t>
            </a:r>
            <a:r>
              <a:rPr lang="pt-BR" altLang="pt-BR" dirty="0">
                <a:effectLst/>
              </a:rPr>
              <a:t>Simbólicas </a:t>
            </a:r>
            <a:r>
              <a:rPr lang="pt-BR" altLang="pt-BR" dirty="0"/>
              <a:t>(Macro)</a:t>
            </a:r>
            <a:endParaRPr lang="pt-BR" altLang="pt-BR" dirty="0">
              <a:effectLst/>
            </a:endParaRPr>
          </a:p>
        </p:txBody>
      </p:sp>
      <p:sp>
        <p:nvSpPr>
          <p:cNvPr id="1381379" name="Rectangle 3">
            <a:extLst>
              <a:ext uri="{FF2B5EF4-FFF2-40B4-BE49-F238E27FC236}">
                <a16:creationId xmlns:a16="http://schemas.microsoft.com/office/drawing/2014/main" id="{2B02C9E3-E1B6-4BE1-B398-E218C290115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174621" algn="l" eaLnBrk="1" hangingPunct="1">
              <a:lnSpc>
                <a:spcPct val="80000"/>
              </a:lnSpc>
              <a:buFont typeface="Wingdings" panose="05000000000000000000" pitchFamily="2" charset="2"/>
              <a:buChar char="§"/>
              <a:defRPr/>
            </a:pPr>
            <a:r>
              <a:rPr lang="pt-BR" altLang="pt-BR"/>
              <a:t>  </a:t>
            </a:r>
            <a:r>
              <a:rPr lang="pt-BR" altLang="pt-BR">
                <a:effectLst/>
              </a:rPr>
              <a:t>Em alguns compiladores C, algumas constantes simbólicas já estão pré-definidas. </a:t>
            </a:r>
          </a:p>
          <a:p>
            <a:pPr marL="0" indent="174621" algn="l" eaLnBrk="1" hangingPunct="1">
              <a:lnSpc>
                <a:spcPct val="80000"/>
              </a:lnSpc>
              <a:buFont typeface="Wingdings" panose="05000000000000000000" pitchFamily="2" charset="2"/>
              <a:buChar char="§"/>
              <a:defRPr/>
            </a:pPr>
            <a:r>
              <a:rPr lang="pt-BR" altLang="pt-BR">
                <a:effectLst/>
              </a:rPr>
              <a:t>  Estas constantes em geral definem alguns valores matemáticos (</a:t>
            </a:r>
            <a:r>
              <a:rPr lang="pt-BR" altLang="pt-BR">
                <a:effectLst/>
                <a:sym typeface="Symbol" panose="05050102010706020507" pitchFamily="18" charset="2"/>
              </a:rPr>
              <a:t></a:t>
            </a:r>
            <a:r>
              <a:rPr lang="pt-BR" altLang="pt-BR">
                <a:effectLst/>
              </a:rPr>
              <a:t>, </a:t>
            </a:r>
            <a:r>
              <a:rPr lang="pt-BR" altLang="pt-BR">
                <a:effectLst/>
                <a:sym typeface="Symbol" panose="05050102010706020507" pitchFamily="18" charset="2"/>
              </a:rPr>
              <a:t></a:t>
            </a:r>
            <a:r>
              <a:rPr lang="pt-BR" altLang="pt-BR">
                <a:effectLst/>
              </a:rPr>
              <a:t>/2, e, etc.). A seguir segue uma tabela contendo algumas (existem muitas outras) constantes simbólicas pré-definidas no compilador Turbo C++ da Borland.</a:t>
            </a:r>
          </a:p>
          <a:p>
            <a:pPr marL="0" indent="174621" algn="l" eaLnBrk="1" hangingPunct="1">
              <a:lnSpc>
                <a:spcPct val="80000"/>
              </a:lnSpc>
              <a:defRPr/>
            </a:pPr>
            <a:r>
              <a:rPr lang="pt-BR" altLang="pt-BR" b="1">
                <a:effectLst/>
              </a:rPr>
              <a:t>Biblioteca   Constante    Valor          Significado</a:t>
            </a:r>
            <a:endParaRPr lang="en-US" altLang="pt-BR">
              <a:effectLst/>
            </a:endParaRPr>
          </a:p>
          <a:p>
            <a:pPr marL="0" indent="174621" algn="l" eaLnBrk="1" hangingPunct="1">
              <a:lnSpc>
                <a:spcPct val="80000"/>
              </a:lnSpc>
              <a:defRPr/>
            </a:pPr>
            <a:r>
              <a:rPr lang="en-US" altLang="pt-BR">
                <a:effectLst/>
              </a:rPr>
              <a:t>math.h            M_PI         3.14159...     </a:t>
            </a:r>
            <a:r>
              <a:rPr lang="pt-BR" altLang="pt-BR">
                <a:effectLst/>
                <a:sym typeface="Symbol" panose="05050102010706020507" pitchFamily="18" charset="2"/>
              </a:rPr>
              <a:t></a:t>
            </a:r>
            <a:endParaRPr lang="en-US" altLang="pt-BR">
              <a:effectLst/>
            </a:endParaRPr>
          </a:p>
          <a:p>
            <a:pPr marL="0" indent="174621" algn="l" eaLnBrk="1" hangingPunct="1">
              <a:lnSpc>
                <a:spcPct val="80000"/>
              </a:lnSpc>
              <a:defRPr/>
            </a:pPr>
            <a:r>
              <a:rPr lang="en-US" altLang="pt-BR">
                <a:effectLst/>
              </a:rPr>
              <a:t>math.h           M_PI_2       1.57079...     </a:t>
            </a:r>
            <a:r>
              <a:rPr lang="pt-BR" altLang="pt-BR">
                <a:effectLst/>
                <a:sym typeface="Symbol" panose="05050102010706020507" pitchFamily="18" charset="2"/>
              </a:rPr>
              <a:t></a:t>
            </a:r>
            <a:r>
              <a:rPr lang="en-US" altLang="pt-BR">
                <a:effectLst/>
              </a:rPr>
              <a:t>/2</a:t>
            </a:r>
          </a:p>
          <a:p>
            <a:pPr marL="0" indent="174621" algn="l" eaLnBrk="1" hangingPunct="1">
              <a:lnSpc>
                <a:spcPct val="80000"/>
              </a:lnSpc>
              <a:defRPr/>
            </a:pPr>
            <a:r>
              <a:rPr lang="en-US" altLang="pt-BR">
                <a:effectLst/>
              </a:rPr>
              <a:t>math.h           M_PI_4       0,78539...     </a:t>
            </a:r>
            <a:r>
              <a:rPr lang="pt-BR" altLang="pt-BR">
                <a:effectLst/>
                <a:sym typeface="Symbol" panose="05050102010706020507" pitchFamily="18" charset="2"/>
              </a:rPr>
              <a:t></a:t>
            </a:r>
            <a:r>
              <a:rPr lang="en-US" altLang="pt-BR">
                <a:effectLst/>
              </a:rPr>
              <a:t>/4</a:t>
            </a:r>
          </a:p>
          <a:p>
            <a:pPr marL="0" indent="174621" algn="l" eaLnBrk="1" hangingPunct="1">
              <a:lnSpc>
                <a:spcPct val="80000"/>
              </a:lnSpc>
              <a:defRPr/>
            </a:pPr>
            <a:r>
              <a:rPr lang="en-US" altLang="pt-BR">
                <a:effectLst/>
              </a:rPr>
              <a:t>math.h           M_1_PI       0,31830...     1/</a:t>
            </a:r>
            <a:r>
              <a:rPr lang="pt-BR" altLang="pt-BR">
                <a:effectLst/>
                <a:sym typeface="Symbol" panose="05050102010706020507" pitchFamily="18" charset="2"/>
              </a:rPr>
              <a:t></a:t>
            </a:r>
            <a:endParaRPr lang="en-US" altLang="pt-BR">
              <a:effectLst/>
            </a:endParaRPr>
          </a:p>
          <a:p>
            <a:pPr marL="0" indent="174621" algn="l" eaLnBrk="1" hangingPunct="1">
              <a:lnSpc>
                <a:spcPct val="80000"/>
              </a:lnSpc>
              <a:defRPr/>
            </a:pPr>
            <a:r>
              <a:rPr lang="en-US" altLang="pt-BR">
                <a:effectLst/>
              </a:rPr>
              <a:t>math.h          M_SQRT2      1,41421...     </a:t>
            </a:r>
            <a:r>
              <a:rPr lang="pt-BR" altLang="pt-BR">
                <a:effectLst/>
                <a:sym typeface="Symbol" panose="05050102010706020507" pitchFamily="18" charset="2"/>
              </a:rPr>
              <a:t></a:t>
            </a:r>
            <a:r>
              <a:rPr lang="pt-BR" altLang="pt-BR">
                <a:effectLst/>
              </a:rPr>
              <a:t>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F07F1AB-27B0-FB3E-05C0-87AA8487CAA7}"/>
              </a:ext>
            </a:extLst>
          </p:cNvPr>
          <p:cNvSpPr txBox="1"/>
          <p:nvPr/>
        </p:nvSpPr>
        <p:spPr>
          <a:xfrm>
            <a:off x="3575720" y="5445125"/>
            <a:ext cx="4620408" cy="923330"/>
          </a:xfrm>
          <a:prstGeom prst="rect">
            <a:avLst/>
          </a:prstGeom>
          <a:solidFill>
            <a:schemeClr val="accent4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pt-BR" dirty="0"/>
              <a:t>#define PI 3.14159 </a:t>
            </a:r>
          </a:p>
          <a:p>
            <a:r>
              <a:rPr lang="pt-BR" dirty="0"/>
              <a:t>#define EU “Renato” </a:t>
            </a:r>
          </a:p>
          <a:p>
            <a:r>
              <a:rPr lang="pt-BR" dirty="0"/>
              <a:t>#define FALSE 0</a:t>
            </a:r>
          </a:p>
        </p:txBody>
      </p:sp>
    </p:spTree>
    <p:extLst>
      <p:ext uri="{BB962C8B-B14F-4D97-AF65-F5344CB8AC3E}">
        <p14:creationId xmlns:p14="http://schemas.microsoft.com/office/powerpoint/2010/main" val="10703730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7070DDD8-9BE9-43EA-B583-620466B11AF3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912EFFAB-4890-4E49-A5EF-C0FEE218ABC3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49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381378" name="Rectangle 2">
            <a:extLst>
              <a:ext uri="{FF2B5EF4-FFF2-40B4-BE49-F238E27FC236}">
                <a16:creationId xmlns:a16="http://schemas.microsoft.com/office/drawing/2014/main" id="{04E0461E-DB16-4B79-80B7-69FBEC3DCF6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altLang="pt-BR" dirty="0">
                <a:effectLst/>
              </a:rPr>
              <a:t>Declaração de Constantes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873FF37-C277-4D74-AD60-AC6B52B517A0}"/>
              </a:ext>
            </a:extLst>
          </p:cNvPr>
          <p:cNvSpPr/>
          <p:nvPr/>
        </p:nvSpPr>
        <p:spPr>
          <a:xfrm>
            <a:off x="1523730" y="1386233"/>
            <a:ext cx="9144000" cy="92948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 eaLnBrk="1" hangingPunct="1">
              <a:lnSpc>
                <a:spcPct val="80000"/>
              </a:lnSpc>
              <a:defRPr/>
            </a:pPr>
            <a:r>
              <a:rPr lang="pt-BR" sz="2400" dirty="0"/>
              <a:t>#define PI 3.141592 // MACRO</a:t>
            </a:r>
          </a:p>
          <a:p>
            <a:pPr algn="ctr" eaLnBrk="1" hangingPunct="1">
              <a:lnSpc>
                <a:spcPct val="80000"/>
              </a:lnSpc>
              <a:defRPr/>
            </a:pPr>
            <a:r>
              <a:rPr lang="pt-BR" altLang="pt-BR" sz="2200" dirty="0" err="1"/>
              <a:t>const</a:t>
            </a:r>
            <a:r>
              <a:rPr lang="pt-BR" altLang="pt-BR" sz="2200" dirty="0"/>
              <a:t> </a:t>
            </a:r>
            <a:r>
              <a:rPr lang="pt-BR" altLang="pt-BR" sz="2200" dirty="0" err="1"/>
              <a:t>float</a:t>
            </a:r>
            <a:r>
              <a:rPr lang="pt-BR" altLang="pt-BR" sz="2200" dirty="0"/>
              <a:t> Pi = 3.141592; // declaração de constante</a:t>
            </a:r>
          </a:p>
          <a:p>
            <a:pPr algn="ctr" eaLnBrk="1" hangingPunct="1">
              <a:lnSpc>
                <a:spcPct val="80000"/>
              </a:lnSpc>
              <a:defRPr/>
            </a:pPr>
            <a:endParaRPr lang="pt-BR" altLang="pt-BR" sz="2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EE7C634-E168-F0F8-86DE-FA37B6EF7B05}"/>
              </a:ext>
            </a:extLst>
          </p:cNvPr>
          <p:cNvSpPr txBox="1"/>
          <p:nvPr/>
        </p:nvSpPr>
        <p:spPr>
          <a:xfrm>
            <a:off x="810888" y="2895678"/>
            <a:ext cx="6373688" cy="3293209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600" dirty="0"/>
              <a:t>#include &lt;</a:t>
            </a:r>
            <a:r>
              <a:rPr lang="pt-BR" sz="1600" dirty="0" err="1"/>
              <a:t>stdio.h</a:t>
            </a:r>
            <a:r>
              <a:rPr lang="pt-BR" sz="1600" dirty="0"/>
              <a:t>&gt;</a:t>
            </a:r>
          </a:p>
          <a:p>
            <a:r>
              <a:rPr lang="pt-BR" sz="1600" dirty="0"/>
              <a:t>#define PI 3.141592</a:t>
            </a:r>
          </a:p>
          <a:p>
            <a:endParaRPr lang="pt-BR" sz="1600" dirty="0"/>
          </a:p>
          <a:p>
            <a:r>
              <a:rPr lang="pt-BR" sz="1600" dirty="0" err="1"/>
              <a:t>int</a:t>
            </a:r>
            <a:r>
              <a:rPr lang="pt-BR" sz="1600" dirty="0"/>
              <a:t> </a:t>
            </a:r>
            <a:r>
              <a:rPr lang="pt-BR" sz="1600" dirty="0" err="1"/>
              <a:t>main</a:t>
            </a:r>
            <a:r>
              <a:rPr lang="pt-BR" sz="1600" dirty="0"/>
              <a:t>(){</a:t>
            </a:r>
          </a:p>
          <a:p>
            <a:r>
              <a:rPr lang="pt-BR" sz="1600" dirty="0" err="1"/>
              <a:t>const</a:t>
            </a:r>
            <a:r>
              <a:rPr lang="pt-BR" sz="1600" dirty="0"/>
              <a:t> </a:t>
            </a:r>
            <a:r>
              <a:rPr lang="pt-BR" sz="1600" dirty="0" err="1"/>
              <a:t>float</a:t>
            </a:r>
            <a:r>
              <a:rPr lang="pt-BR" sz="1600" dirty="0"/>
              <a:t> Pi = 3.141592; /* declaração de constante */</a:t>
            </a:r>
          </a:p>
          <a:p>
            <a:r>
              <a:rPr lang="pt-BR" sz="1600" dirty="0" err="1"/>
              <a:t>float</a:t>
            </a:r>
            <a:r>
              <a:rPr lang="pt-BR" sz="1600" dirty="0"/>
              <a:t> raio, </a:t>
            </a:r>
            <a:r>
              <a:rPr lang="pt-BR" sz="1600" dirty="0" err="1"/>
              <a:t>area</a:t>
            </a:r>
            <a:r>
              <a:rPr lang="pt-BR" sz="1600" dirty="0"/>
              <a:t>; // declaração de variáveis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("Entre com o raio da </a:t>
            </a:r>
            <a:r>
              <a:rPr lang="pt-BR" sz="1600" dirty="0" err="1"/>
              <a:t>circunferencia</a:t>
            </a:r>
            <a:r>
              <a:rPr lang="pt-BR" sz="1600" dirty="0"/>
              <a:t>:");</a:t>
            </a:r>
          </a:p>
          <a:p>
            <a:r>
              <a:rPr lang="pt-BR" sz="1600" dirty="0" err="1"/>
              <a:t>scanf</a:t>
            </a:r>
            <a:r>
              <a:rPr lang="pt-BR" sz="1600" dirty="0"/>
              <a:t>("%</a:t>
            </a:r>
            <a:r>
              <a:rPr lang="pt-BR" sz="1600" dirty="0" err="1"/>
              <a:t>f",&amp;raio</a:t>
            </a:r>
            <a:r>
              <a:rPr lang="pt-BR" sz="1600" dirty="0"/>
              <a:t>);</a:t>
            </a:r>
          </a:p>
          <a:p>
            <a:r>
              <a:rPr lang="pt-BR" sz="1600" dirty="0" err="1"/>
              <a:t>area</a:t>
            </a:r>
            <a:r>
              <a:rPr lang="pt-BR" sz="1600" dirty="0"/>
              <a:t> =  Pi * raio * raio/2;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("\n Area da </a:t>
            </a:r>
            <a:r>
              <a:rPr lang="pt-BR" sz="1600" dirty="0" err="1"/>
              <a:t>circunferencia</a:t>
            </a:r>
            <a:r>
              <a:rPr lang="pt-BR" sz="1600" dirty="0"/>
              <a:t> = %.2f \n\n",</a:t>
            </a:r>
            <a:r>
              <a:rPr lang="pt-BR" sz="1600" dirty="0" err="1"/>
              <a:t>area</a:t>
            </a:r>
            <a:r>
              <a:rPr lang="pt-BR" sz="1600" dirty="0"/>
              <a:t>);</a:t>
            </a:r>
          </a:p>
          <a:p>
            <a:r>
              <a:rPr lang="pt-BR" sz="1600" dirty="0" err="1"/>
              <a:t>area</a:t>
            </a:r>
            <a:r>
              <a:rPr lang="pt-BR" sz="1600" dirty="0"/>
              <a:t> =  PI * raio * raio/2;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("\n\n Area da </a:t>
            </a:r>
            <a:r>
              <a:rPr lang="pt-BR" sz="1600" dirty="0" err="1"/>
              <a:t>circunferencia</a:t>
            </a:r>
            <a:r>
              <a:rPr lang="pt-BR" sz="1600" dirty="0"/>
              <a:t> = %.2f \n\n",</a:t>
            </a:r>
            <a:r>
              <a:rPr lang="pt-BR" sz="1600" dirty="0" err="1"/>
              <a:t>area</a:t>
            </a:r>
            <a:r>
              <a:rPr lang="pt-BR" sz="1600" dirty="0"/>
              <a:t>);</a:t>
            </a:r>
          </a:p>
          <a:p>
            <a:r>
              <a:rPr lang="pt-BR" sz="1600" dirty="0"/>
              <a:t>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4928065-A9C6-BF83-05F9-3D49B1A0C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310" y="2895678"/>
            <a:ext cx="4229193" cy="283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5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58FA-CEC1-0189-DCE7-4E02F7D73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A971D-1EE0-1B05-875B-AB1245A6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Macro – Constante Simbólica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864883-DF81-A7CC-C548-2E9F9599A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l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BR" altLang="pt-BR" sz="2200" b="1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Características:</a:t>
            </a:r>
          </a:p>
          <a:p>
            <a:pPr marL="342900" lvl="0" indent="-342900" algn="l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pt-BR" altLang="pt-BR" sz="2200" dirty="0">
                <a:solidFill>
                  <a:srgbClr val="111827"/>
                </a:solidFill>
                <a:effectLst/>
                <a:latin typeface="+mj-lt"/>
                <a:cs typeface="Arial" panose="020B0604020202020204" pitchFamily="34" charset="0"/>
              </a:rPr>
              <a:t>Não é uma variável</a:t>
            </a:r>
            <a:r>
              <a:rPr lang="pt-BR" altLang="pt-BR" sz="22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, é uma diretiva de pré-processamento.</a:t>
            </a:r>
          </a:p>
          <a:p>
            <a:pPr marL="342900" lvl="0" indent="-342900" algn="l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pt-BR" altLang="pt-BR" sz="22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O </a:t>
            </a:r>
            <a:r>
              <a:rPr lang="pt-BR" altLang="pt-BR" sz="2200" dirty="0" err="1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pré</a:t>
            </a:r>
            <a:r>
              <a:rPr lang="pt-BR" altLang="pt-BR" sz="22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-processador </a:t>
            </a:r>
            <a:r>
              <a:rPr lang="pt-BR" altLang="pt-BR" sz="2200" dirty="0">
                <a:solidFill>
                  <a:srgbClr val="111827"/>
                </a:solidFill>
                <a:effectLst/>
                <a:latin typeface="+mj-lt"/>
                <a:cs typeface="Arial" panose="020B0604020202020204" pitchFamily="34" charset="0"/>
              </a:rPr>
              <a:t>substitui todas as </a:t>
            </a:r>
            <a:r>
              <a:rPr lang="pt-BR" altLang="pt-BR" sz="2200" dirty="0">
                <a:solidFill>
                  <a:schemeClr val="bg2">
                    <a:lumMod val="50000"/>
                  </a:schemeClr>
                </a:solidFill>
                <a:effectLst/>
                <a:latin typeface="+mj-lt"/>
                <a:cs typeface="Arial" panose="020B0604020202020204" pitchFamily="34" charset="0"/>
              </a:rPr>
              <a:t>ocorrências:</a:t>
            </a:r>
          </a:p>
          <a:p>
            <a:pPr marL="742941" lvl="1" indent="-34290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ü"/>
            </a:pPr>
            <a:r>
              <a:rPr lang="pt-BR" altLang="pt-BR" sz="1800" dirty="0">
                <a:solidFill>
                  <a:schemeClr val="bg2">
                    <a:lumMod val="50000"/>
                  </a:schemeClr>
                </a:solidFill>
                <a:effectLst/>
                <a:latin typeface="+mj-lt"/>
                <a:cs typeface="Arial" panose="020B0604020202020204" pitchFamily="34" charset="0"/>
              </a:rPr>
              <a:t>Exemplo #define PI 3.14159 // substitui o PI pelo valor 3.14159 antes da </a:t>
            </a:r>
            <a:r>
              <a:rPr lang="pt-BR" altLang="pt-BR" sz="1800" dirty="0">
                <a:solidFill>
                  <a:srgbClr val="111827"/>
                </a:solidFill>
                <a:effectLst/>
                <a:latin typeface="+mj-lt"/>
                <a:cs typeface="Arial" panose="020B0604020202020204" pitchFamily="34" charset="0"/>
              </a:rPr>
              <a:t>compilação</a:t>
            </a:r>
            <a:r>
              <a:rPr lang="pt-BR" altLang="pt-BR" sz="18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.</a:t>
            </a:r>
          </a:p>
          <a:p>
            <a:pPr marL="742941" lvl="1" indent="-34290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ü"/>
            </a:pPr>
            <a:endParaRPr lang="pt-BR" altLang="pt-BR" sz="1800" dirty="0">
              <a:solidFill>
                <a:srgbClr val="2C2C36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342900" lvl="0" indent="-342900" algn="l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pt-BR" altLang="pt-BR" sz="22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Não ocupa espaço em memória como variável.</a:t>
            </a:r>
          </a:p>
          <a:p>
            <a:pPr marL="342900" lvl="0" indent="-342900" algn="l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pt-BR" altLang="pt-BR" sz="2200" dirty="0">
                <a:solidFill>
                  <a:srgbClr val="111827"/>
                </a:solidFill>
                <a:effectLst/>
                <a:latin typeface="+mj-lt"/>
                <a:cs typeface="Arial" panose="020B0604020202020204" pitchFamily="34" charset="0"/>
              </a:rPr>
              <a:t>Não tem tipo</a:t>
            </a:r>
            <a:r>
              <a:rPr lang="pt-BR" altLang="pt-BR" sz="22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 — o valor é inserido textualmente no código.</a:t>
            </a:r>
          </a:p>
          <a:p>
            <a:pPr marL="342900" lvl="0" indent="-342900" algn="l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pt-BR" altLang="pt-BR" sz="2200" dirty="0">
                <a:solidFill>
                  <a:srgbClr val="111827"/>
                </a:solidFill>
                <a:effectLst/>
                <a:latin typeface="+mj-lt"/>
                <a:cs typeface="Arial" panose="020B0604020202020204" pitchFamily="34" charset="0"/>
              </a:rPr>
              <a:t>Não está sujeita ao escopo de blocos</a:t>
            </a:r>
            <a:r>
              <a:rPr lang="pt-BR" altLang="pt-BR" sz="22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 (não respeita escopo como variáveis).</a:t>
            </a:r>
          </a:p>
          <a:p>
            <a:pPr marL="342900" lvl="0" indent="-342900" algn="l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pt-BR" altLang="pt-BR" sz="2200" dirty="0">
                <a:solidFill>
                  <a:srgbClr val="111827"/>
                </a:solidFill>
                <a:effectLst/>
                <a:latin typeface="+mj-lt"/>
                <a:cs typeface="Arial" panose="020B0604020202020204" pitchFamily="34" charset="0"/>
              </a:rPr>
              <a:t>Não aparece em depuradores (</a:t>
            </a:r>
            <a:r>
              <a:rPr lang="pt-BR" altLang="pt-BR" sz="2200" dirty="0" err="1">
                <a:solidFill>
                  <a:srgbClr val="111827"/>
                </a:solidFill>
                <a:effectLst/>
                <a:latin typeface="+mj-lt"/>
                <a:cs typeface="Arial" panose="020B0604020202020204" pitchFamily="34" charset="0"/>
              </a:rPr>
              <a:t>debuggers</a:t>
            </a:r>
            <a:r>
              <a:rPr lang="pt-BR" altLang="pt-BR" sz="2200" dirty="0">
                <a:solidFill>
                  <a:srgbClr val="111827"/>
                </a:solidFill>
                <a:effectLst/>
                <a:latin typeface="+mj-lt"/>
                <a:cs typeface="Arial" panose="020B0604020202020204" pitchFamily="34" charset="0"/>
              </a:rPr>
              <a:t>)</a:t>
            </a:r>
            <a:r>
              <a:rPr lang="pt-BR" altLang="pt-BR" sz="22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, pois é substituída antes da compilação</a:t>
            </a:r>
            <a:r>
              <a:rPr lang="pt-BR" altLang="pt-BR" sz="2200" dirty="0"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5FD48D-BE11-1F49-B80C-D5529D3CA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50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A8F11BD-92A5-DB31-90AF-7F4114628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4413183"/>
            <a:ext cx="7654910" cy="105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829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3B2B7-D0BC-C174-2106-9784A164F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35CFC-4A7D-6A30-1FA5-95445D902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Macro – Constante Simbólica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F0D37D-3AD6-B33B-A32E-A6524884F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l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BR" altLang="pt-BR" sz="2400" b="1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Características</a:t>
            </a:r>
            <a:r>
              <a:rPr lang="pt-BR" altLang="pt-BR" sz="2200" b="1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:</a:t>
            </a:r>
          </a:p>
          <a:p>
            <a:pPr marL="342900" lvl="0" indent="-342900" algn="l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pt-BR" altLang="pt-BR" sz="24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É uma </a:t>
            </a:r>
            <a:r>
              <a:rPr lang="pt-BR" altLang="pt-BR" sz="2400" dirty="0">
                <a:solidFill>
                  <a:srgbClr val="111827"/>
                </a:solidFill>
                <a:effectLst/>
                <a:latin typeface="+mj-lt"/>
                <a:cs typeface="Arial" panose="020B0604020202020204" pitchFamily="34" charset="0"/>
              </a:rPr>
              <a:t>variável real</a:t>
            </a:r>
            <a:r>
              <a:rPr lang="pt-BR" altLang="pt-BR" sz="24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, mas imutável após inicialização.</a:t>
            </a:r>
          </a:p>
          <a:p>
            <a:pPr marL="342900" lvl="0" indent="-342900" algn="l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pt-BR" altLang="pt-BR" sz="24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Tem </a:t>
            </a:r>
            <a:r>
              <a:rPr lang="pt-BR" altLang="pt-BR" sz="2400" dirty="0">
                <a:solidFill>
                  <a:srgbClr val="111827"/>
                </a:solidFill>
                <a:effectLst/>
                <a:latin typeface="+mj-lt"/>
                <a:cs typeface="Arial" panose="020B0604020202020204" pitchFamily="34" charset="0"/>
              </a:rPr>
              <a:t>tipo definido</a:t>
            </a:r>
            <a:r>
              <a:rPr lang="pt-BR" altLang="pt-BR" sz="24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 (</a:t>
            </a:r>
            <a:r>
              <a:rPr lang="pt-BR" altLang="pt-BR" sz="2400" dirty="0" err="1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ex</a:t>
            </a:r>
            <a:r>
              <a:rPr lang="pt-BR" altLang="pt-BR" sz="24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: </a:t>
            </a:r>
            <a:r>
              <a:rPr lang="pt-BR" altLang="pt-BR" sz="2400" dirty="0">
                <a:solidFill>
                  <a:srgbClr val="615CED"/>
                </a:solidFill>
                <a:effectLst/>
                <a:latin typeface="+mj-lt"/>
                <a:cs typeface="Arial" panose="020B0604020202020204" pitchFamily="34" charset="0"/>
              </a:rPr>
              <a:t>double</a:t>
            </a:r>
            <a:r>
              <a:rPr lang="pt-BR" altLang="pt-BR" sz="24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, </a:t>
            </a:r>
            <a:r>
              <a:rPr lang="pt-BR" altLang="pt-BR" sz="2400" dirty="0">
                <a:solidFill>
                  <a:srgbClr val="615CED"/>
                </a:solidFill>
                <a:effectLst/>
                <a:latin typeface="+mj-lt"/>
                <a:cs typeface="Arial" panose="020B0604020202020204" pitchFamily="34" charset="0"/>
              </a:rPr>
              <a:t>int</a:t>
            </a:r>
            <a:r>
              <a:rPr lang="pt-BR" altLang="pt-BR" sz="24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, etc.).</a:t>
            </a:r>
          </a:p>
          <a:p>
            <a:pPr marL="342900" lvl="0" indent="-342900" algn="l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pt-BR" altLang="pt-BR" sz="24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Exemplo:</a:t>
            </a:r>
          </a:p>
          <a:p>
            <a:pPr marL="742941" lvl="1" indent="-34290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ü"/>
            </a:pPr>
            <a:r>
              <a:rPr lang="pt-BR" altLang="pt-BR" dirty="0" err="1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const</a:t>
            </a:r>
            <a:r>
              <a:rPr lang="pt-BR" altLang="pt-BR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 double PI = 3.14159;</a:t>
            </a:r>
          </a:p>
          <a:p>
            <a:pPr marL="342900" lvl="0" indent="-342900" algn="l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pt-BR" altLang="pt-BR" sz="24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Ocupa </a:t>
            </a:r>
            <a:r>
              <a:rPr lang="pt-BR" altLang="pt-BR" sz="2400" dirty="0">
                <a:solidFill>
                  <a:srgbClr val="111827"/>
                </a:solidFill>
                <a:effectLst/>
                <a:latin typeface="+mj-lt"/>
                <a:cs typeface="Arial" panose="020B0604020202020204" pitchFamily="34" charset="0"/>
              </a:rPr>
              <a:t>espaço em memória</a:t>
            </a:r>
            <a:r>
              <a:rPr lang="pt-BR" altLang="pt-BR" sz="24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 (como qualquer variável).</a:t>
            </a:r>
          </a:p>
          <a:p>
            <a:pPr marL="342900" lvl="0" indent="-342900" algn="l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pt-BR" altLang="pt-BR" sz="24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Respeita </a:t>
            </a:r>
            <a:r>
              <a:rPr lang="pt-BR" altLang="pt-BR" sz="2400" dirty="0">
                <a:solidFill>
                  <a:srgbClr val="111827"/>
                </a:solidFill>
                <a:effectLst/>
                <a:latin typeface="+mj-lt"/>
                <a:cs typeface="Arial" panose="020B0604020202020204" pitchFamily="34" charset="0"/>
              </a:rPr>
              <a:t>escopo de bloco, função, arquivo</a:t>
            </a:r>
            <a:r>
              <a:rPr lang="pt-BR" altLang="pt-BR" sz="24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, etc.</a:t>
            </a:r>
          </a:p>
          <a:p>
            <a:pPr marL="342900" lvl="0" indent="-342900" algn="l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pt-BR" altLang="pt-BR" sz="24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Pode ser usada em </a:t>
            </a:r>
            <a:r>
              <a:rPr lang="pt-BR" altLang="pt-BR" sz="2400" dirty="0">
                <a:solidFill>
                  <a:srgbClr val="111827"/>
                </a:solidFill>
                <a:effectLst/>
                <a:latin typeface="+mj-lt"/>
                <a:cs typeface="Arial" panose="020B0604020202020204" pitchFamily="34" charset="0"/>
              </a:rPr>
              <a:t>depuradores</a:t>
            </a:r>
            <a:r>
              <a:rPr lang="pt-BR" altLang="pt-BR" sz="24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 — você pode inspecionar seu valor.</a:t>
            </a:r>
          </a:p>
          <a:p>
            <a:pPr marL="342900" lvl="0" indent="-342900" algn="l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pt-BR" altLang="pt-BR" sz="24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Pode ser passada por referência (ponteiro para </a:t>
            </a:r>
            <a:r>
              <a:rPr lang="pt-BR" altLang="pt-BR" sz="2400" dirty="0" err="1">
                <a:solidFill>
                  <a:srgbClr val="615CED"/>
                </a:solidFill>
                <a:effectLst/>
                <a:latin typeface="+mj-lt"/>
                <a:cs typeface="Arial" panose="020B0604020202020204" pitchFamily="34" charset="0"/>
              </a:rPr>
              <a:t>const</a:t>
            </a:r>
            <a:r>
              <a:rPr lang="pt-BR" altLang="pt-BR" sz="2400" dirty="0">
                <a:solidFill>
                  <a:srgbClr val="2C2C36"/>
                </a:solidFill>
                <a:effectLst/>
                <a:latin typeface="+mj-lt"/>
                <a:cs typeface="Arial" panose="020B0604020202020204" pitchFamily="34" charset="0"/>
              </a:rPr>
              <a:t>).</a:t>
            </a:r>
          </a:p>
          <a:p>
            <a:pPr marL="0" lvl="0" indent="0" algn="l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pt-BR" altLang="pt-BR" sz="360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25DC44-1382-2319-7F16-C6830C8C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51</a:t>
            </a:fld>
            <a:endParaRPr lang="pt-B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D3847BE-C40A-B45E-9A9E-ABDA3D927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1989617"/>
            <a:ext cx="65" cy="430839"/>
          </a:xfrm>
          <a:prstGeom prst="rect">
            <a:avLst/>
          </a:prstGeom>
          <a:solidFill>
            <a:srgbClr val="EF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6176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235B0A3-0838-7BBD-460B-03CA1C35C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5073488"/>
            <a:ext cx="10300573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4811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908C1C-3146-4504-E8CE-E4416445FA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2600" dirty="0"/>
              <a:t>Comandos de Entrada e Saída em 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0667E6-C0D4-FAE8-4A15-2FBCF93F4F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Comandos de entrada: </a:t>
            </a:r>
            <a:r>
              <a:rPr lang="pt-BR" dirty="0" err="1"/>
              <a:t>scanf</a:t>
            </a:r>
            <a:r>
              <a:rPr lang="pt-BR" dirty="0"/>
              <a:t>, </a:t>
            </a:r>
            <a:r>
              <a:rPr lang="pt-BR" dirty="0" err="1"/>
              <a:t>fgets</a:t>
            </a:r>
            <a:r>
              <a:rPr lang="pt-BR" dirty="0"/>
              <a:t>.</a:t>
            </a:r>
          </a:p>
          <a:p>
            <a:r>
              <a:rPr lang="pt-BR" dirty="0"/>
              <a:t>Comandos de saída: </a:t>
            </a:r>
            <a:r>
              <a:rPr lang="pt-BR" dirty="0" err="1"/>
              <a:t>printf</a:t>
            </a:r>
            <a:r>
              <a:rPr lang="pt-BR" dirty="0"/>
              <a:t>, </a:t>
            </a:r>
            <a:r>
              <a:rPr lang="pt-BR" dirty="0" err="1"/>
              <a:t>puts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600F55-1B41-63DC-6C9C-3080D5E73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46547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F355555E-469A-4F8A-BD91-A705CB84E836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85A2BB61-0AE6-43CF-ABA1-F4544BE7CA90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53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98659" name="Rectangle 2">
            <a:extLst>
              <a:ext uri="{FF2B5EF4-FFF2-40B4-BE49-F238E27FC236}">
                <a16:creationId xmlns:a16="http://schemas.microsoft.com/office/drawing/2014/main" id="{287D58DF-8DDF-420F-B321-22A5E6BFC8D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Estrutura/execução de um programa </a:t>
            </a:r>
            <a:br>
              <a:rPr lang="pt-BR" altLang="pt-BR" b="0" dirty="0">
                <a:effectLst/>
              </a:rPr>
            </a:br>
            <a:r>
              <a:rPr lang="pt-BR" altLang="pt-BR" b="0" dirty="0">
                <a:effectLst/>
              </a:rPr>
              <a:t> </a:t>
            </a:r>
            <a:r>
              <a:rPr lang="pt-BR" altLang="pt-BR" dirty="0">
                <a:effectLst/>
              </a:rPr>
              <a:t>Argumentos</a:t>
            </a:r>
          </a:p>
        </p:txBody>
      </p:sp>
      <p:sp>
        <p:nvSpPr>
          <p:cNvPr id="1270787" name="Rectangle 3">
            <a:extLst>
              <a:ext uri="{FF2B5EF4-FFF2-40B4-BE49-F238E27FC236}">
                <a16:creationId xmlns:a16="http://schemas.microsoft.com/office/drawing/2014/main" id="{9F64EE6A-AC13-4409-A5F1-93D05FFD5F1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269868" algn="just" eaLnBrk="1" hangingPunct="1">
              <a:buFont typeface="Wingdings" panose="05000000000000000000" pitchFamily="2" charset="2"/>
              <a:buChar char="§"/>
              <a:defRPr/>
            </a:pPr>
            <a:endParaRPr lang="pt-BR" altLang="pt-BR" dirty="0">
              <a:effectLst/>
            </a:endParaRPr>
          </a:p>
          <a:p>
            <a:pPr marL="0" indent="269868" algn="just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 dirty="0">
                <a:effectLst/>
              </a:rPr>
              <a:t>Argumentos são as entradas que a função recebe. 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 dirty="0">
                <a:effectLst/>
              </a:rPr>
              <a:t>É através dos argumentos que passamos </a:t>
            </a:r>
            <a:r>
              <a:rPr lang="pt-BR" altLang="pt-BR" i="1" dirty="0">
                <a:effectLst/>
              </a:rPr>
              <a:t>parâmetros </a:t>
            </a:r>
            <a:r>
              <a:rPr lang="pt-BR" altLang="pt-BR" dirty="0">
                <a:effectLst/>
              </a:rPr>
              <a:t>para a função. 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 dirty="0">
                <a:effectLst/>
              </a:rPr>
              <a:t>As funções </a:t>
            </a:r>
            <a:r>
              <a:rPr lang="pt-BR" altLang="pt-BR" b="1" dirty="0" err="1">
                <a:effectLst/>
              </a:rPr>
              <a:t>printf</a:t>
            </a:r>
            <a:r>
              <a:rPr lang="pt-BR" altLang="pt-BR" b="1" dirty="0">
                <a:effectLst/>
              </a:rPr>
              <a:t>() </a:t>
            </a:r>
            <a:r>
              <a:rPr lang="pt-BR" altLang="pt-BR" dirty="0">
                <a:effectLst/>
              </a:rPr>
              <a:t>e </a:t>
            </a:r>
            <a:r>
              <a:rPr lang="pt-BR" altLang="pt-BR" b="1" dirty="0" err="1">
                <a:effectLst/>
              </a:rPr>
              <a:t>scanf</a:t>
            </a:r>
            <a:r>
              <a:rPr lang="pt-BR" altLang="pt-BR" b="1" dirty="0">
                <a:effectLst/>
              </a:rPr>
              <a:t>() </a:t>
            </a:r>
            <a:r>
              <a:rPr lang="pt-BR" altLang="pt-BR" dirty="0">
                <a:effectLst/>
              </a:rPr>
              <a:t>são tipos de funções que recebem argumentos.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 dirty="0">
                <a:effectLst/>
              </a:rPr>
              <a:t>A função </a:t>
            </a:r>
            <a:r>
              <a:rPr lang="pt-BR" altLang="pt-BR" b="1" dirty="0" err="1">
                <a:effectLst/>
              </a:rPr>
              <a:t>printf</a:t>
            </a:r>
            <a:r>
              <a:rPr lang="pt-BR" altLang="pt-BR" dirty="0">
                <a:effectLst/>
              </a:rPr>
              <a:t> é utilizada para imprimir textos e variáveis na tela do computador (instrução de saída).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 dirty="0">
                <a:effectLst/>
              </a:rPr>
              <a:t>A função </a:t>
            </a:r>
            <a:r>
              <a:rPr lang="pt-BR" altLang="pt-BR" b="1" dirty="0" err="1">
                <a:effectLst/>
              </a:rPr>
              <a:t>scanf</a:t>
            </a:r>
            <a:r>
              <a:rPr lang="pt-BR" altLang="pt-BR" dirty="0">
                <a:effectLst/>
              </a:rPr>
              <a:t> é utilizada para receber textos e variáveis pelo teclado do computador (instrução de entrada).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  <a:defRPr/>
            </a:pPr>
            <a:endParaRPr lang="pt-BR" altLang="pt-BR" dirty="0">
              <a:effectLst/>
            </a:endParaRPr>
          </a:p>
          <a:p>
            <a:pPr marL="0" indent="269868" algn="just" eaLnBrk="1" hangingPunct="1">
              <a:defRPr/>
            </a:pPr>
            <a:endParaRPr lang="pt-BR" alt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007D070-DBA7-0F24-54A6-D70BB073BF3F}"/>
              </a:ext>
            </a:extLst>
          </p:cNvPr>
          <p:cNvSpPr txBox="1"/>
          <p:nvPr/>
        </p:nvSpPr>
        <p:spPr>
          <a:xfrm>
            <a:off x="2927648" y="4581128"/>
            <a:ext cx="6144986" cy="646331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800" dirty="0" err="1"/>
              <a:t>printf</a:t>
            </a:r>
            <a:r>
              <a:rPr lang="pt-BR" sz="1800" dirty="0"/>
              <a:t>("</a:t>
            </a:r>
            <a:r>
              <a:rPr lang="pt-BR" sz="1800" b="1" dirty="0">
                <a:solidFill>
                  <a:srgbClr val="FFC000"/>
                </a:solidFill>
              </a:rPr>
              <a:t>Entre com o raio da </a:t>
            </a:r>
            <a:r>
              <a:rPr lang="pt-BR" sz="1800" b="1" dirty="0" err="1">
                <a:solidFill>
                  <a:srgbClr val="FFC000"/>
                </a:solidFill>
              </a:rPr>
              <a:t>circunferencia</a:t>
            </a:r>
            <a:r>
              <a:rPr lang="pt-BR" sz="1800" b="1" dirty="0">
                <a:solidFill>
                  <a:srgbClr val="FFC000"/>
                </a:solidFill>
              </a:rPr>
              <a:t>:</a:t>
            </a:r>
            <a:r>
              <a:rPr lang="pt-BR" sz="1800" dirty="0"/>
              <a:t>");</a:t>
            </a:r>
          </a:p>
          <a:p>
            <a:r>
              <a:rPr lang="pt-BR" sz="1800" dirty="0" err="1"/>
              <a:t>scanf</a:t>
            </a:r>
            <a:r>
              <a:rPr lang="pt-BR" sz="1800" b="1" dirty="0">
                <a:solidFill>
                  <a:srgbClr val="FFC000"/>
                </a:solidFill>
              </a:rPr>
              <a:t>("%</a:t>
            </a:r>
            <a:r>
              <a:rPr lang="pt-BR" sz="1800" b="1" dirty="0" err="1">
                <a:solidFill>
                  <a:srgbClr val="FFC000"/>
                </a:solidFill>
              </a:rPr>
              <a:t>f",&amp;raio</a:t>
            </a:r>
            <a:r>
              <a:rPr lang="pt-BR" sz="1800" dirty="0"/>
              <a:t>);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EE210521-EE22-1145-2378-55B3E6532070}"/>
              </a:ext>
            </a:extLst>
          </p:cNvPr>
          <p:cNvCxnSpPr>
            <a:cxnSpLocks/>
          </p:cNvCxnSpPr>
          <p:nvPr/>
        </p:nvCxnSpPr>
        <p:spPr bwMode="auto">
          <a:xfrm flipV="1">
            <a:off x="5531701" y="2784475"/>
            <a:ext cx="348275" cy="1796653"/>
          </a:xfrm>
          <a:prstGeom prst="straightConnector1">
            <a:avLst/>
          </a:prstGeom>
          <a:ln>
            <a:solidFill>
              <a:srgbClr val="FFC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38BA5A7B-A510-9545-2D8F-D1BB9ED3A232}"/>
              </a:ext>
            </a:extLst>
          </p:cNvPr>
          <p:cNvCxnSpPr>
            <a:cxnSpLocks/>
          </p:cNvCxnSpPr>
          <p:nvPr/>
        </p:nvCxnSpPr>
        <p:spPr bwMode="auto">
          <a:xfrm flipV="1">
            <a:off x="4439816" y="2708920"/>
            <a:ext cx="1080120" cy="2232248"/>
          </a:xfrm>
          <a:prstGeom prst="straightConnector1">
            <a:avLst/>
          </a:prstGeom>
          <a:ln>
            <a:solidFill>
              <a:srgbClr val="FFC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39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BE2AA-7656-AFAF-86C7-C1028A89F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F6A80F31-6E9F-0E55-5BC8-10614913C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F4C478E4-8775-4804-85FE-3ABDE01541F1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54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827" name="Rectangle 2">
            <a:extLst>
              <a:ext uri="{FF2B5EF4-FFF2-40B4-BE49-F238E27FC236}">
                <a16:creationId xmlns:a16="http://schemas.microsoft.com/office/drawing/2014/main" id="{5586D7FE-AEA9-D1A6-0A13-6EAABB4230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Entrada</a:t>
            </a:r>
          </a:p>
        </p:txBody>
      </p:sp>
      <p:sp>
        <p:nvSpPr>
          <p:cNvPr id="1287171" name="Rectangle 3">
            <a:extLst>
              <a:ext uri="{FF2B5EF4-FFF2-40B4-BE49-F238E27FC236}">
                <a16:creationId xmlns:a16="http://schemas.microsoft.com/office/drawing/2014/main" id="{CE38ECA3-0695-6AD6-5C95-CE6DB0C385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eaLnBrk="1" hangingPunct="1">
              <a:defRPr/>
            </a:pPr>
            <a:r>
              <a:rPr lang="en-US" altLang="pt-BR" b="1" dirty="0" err="1">
                <a:effectLst/>
              </a:rPr>
              <a:t>Scanf</a:t>
            </a:r>
            <a:r>
              <a:rPr lang="en-US" altLang="pt-BR" b="1" dirty="0">
                <a:effectLst/>
              </a:rPr>
              <a:t>()</a:t>
            </a:r>
          </a:p>
          <a:p>
            <a:pPr marL="285750" indent="-285750" algn="l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pt-BR" dirty="0">
                <a:effectLst/>
              </a:rPr>
              <a:t>Uma </a:t>
            </a:r>
            <a:r>
              <a:rPr lang="pt-BR" altLang="pt-BR" dirty="0">
                <a:effectLst/>
              </a:rPr>
              <a:t>das mais importantes e poderosas instruções, servirá basicamente para promover leitura de dados (</a:t>
            </a:r>
            <a:r>
              <a:rPr lang="pt-BR" altLang="pt-BR" dirty="0" err="1">
                <a:effectLst/>
              </a:rPr>
              <a:t>tipados</a:t>
            </a:r>
            <a:r>
              <a:rPr lang="pt-BR" altLang="pt-BR" dirty="0">
                <a:effectLst/>
              </a:rPr>
              <a:t>) via teclado.</a:t>
            </a:r>
          </a:p>
          <a:p>
            <a:pPr marL="285750" indent="-285750" algn="just" eaLnBrk="1" hangingPunct="1">
              <a:buFont typeface="Wingdings" panose="05000000000000000000" pitchFamily="2" charset="2"/>
              <a:buChar char="q"/>
              <a:defRPr/>
            </a:pPr>
            <a:r>
              <a:rPr lang="pt-BR" altLang="pt-BR" dirty="0">
                <a:effectLst/>
              </a:rPr>
              <a:t>Sua forma geral é: </a:t>
            </a:r>
            <a:r>
              <a:rPr lang="pt-BR" altLang="pt-BR" dirty="0" err="1">
                <a:effectLst/>
              </a:rPr>
              <a:t>scanf</a:t>
            </a:r>
            <a:r>
              <a:rPr lang="pt-BR" altLang="pt-BR" dirty="0">
                <a:effectLst/>
              </a:rPr>
              <a:t>(“</a:t>
            </a:r>
            <a:r>
              <a:rPr lang="pt-BR" altLang="pt-BR" dirty="0" err="1">
                <a:effectLst/>
              </a:rPr>
              <a:t>string</a:t>
            </a:r>
            <a:r>
              <a:rPr lang="pt-BR" altLang="pt-BR" dirty="0">
                <a:effectLst/>
              </a:rPr>
              <a:t> de controle”, lista de argumentos); no momento, sobre </a:t>
            </a:r>
            <a:r>
              <a:rPr lang="pt-BR" altLang="pt-BR" dirty="0" err="1">
                <a:effectLst/>
              </a:rPr>
              <a:t>string</a:t>
            </a:r>
            <a:r>
              <a:rPr lang="pt-BR" altLang="pt-BR" dirty="0">
                <a:effectLst/>
              </a:rPr>
              <a:t> de controle, devemos saber:</a:t>
            </a:r>
          </a:p>
          <a:p>
            <a:pPr marL="0" indent="269868" algn="just" eaLnBrk="1" hangingPunct="1">
              <a:defRPr/>
            </a:pPr>
            <a:r>
              <a:rPr lang="pt-BR" altLang="pt-BR" b="1" dirty="0">
                <a:effectLst/>
              </a:rPr>
              <a:t>%d - leitura de números inteiros</a:t>
            </a:r>
          </a:p>
          <a:p>
            <a:pPr marL="0" indent="269868" algn="just" eaLnBrk="1" hangingPunct="1">
              <a:defRPr/>
            </a:pPr>
            <a:r>
              <a:rPr lang="pt-BR" altLang="pt-BR" b="1" dirty="0">
                <a:effectLst/>
              </a:rPr>
              <a:t>%f - leitura de números reais</a:t>
            </a:r>
          </a:p>
          <a:p>
            <a:pPr marL="0" indent="269868" algn="just" eaLnBrk="1" hangingPunct="1">
              <a:defRPr/>
            </a:pPr>
            <a:r>
              <a:rPr lang="pt-BR" altLang="pt-BR" b="1" dirty="0">
                <a:effectLst/>
              </a:rPr>
              <a:t>%c - leitura de </a:t>
            </a:r>
            <a:r>
              <a:rPr lang="pt-BR" altLang="pt-BR" b="1" dirty="0" err="1">
                <a:effectLst/>
              </a:rPr>
              <a:t>caracter</a:t>
            </a:r>
            <a:endParaRPr lang="pt-BR" altLang="pt-BR" b="1" dirty="0">
              <a:effectLst/>
            </a:endParaRPr>
          </a:p>
          <a:p>
            <a:pPr marL="0" indent="269868" algn="just" eaLnBrk="1" hangingPunct="1">
              <a:defRPr/>
            </a:pPr>
            <a:r>
              <a:rPr lang="pt-BR" altLang="pt-BR" b="1" dirty="0">
                <a:effectLst/>
              </a:rPr>
              <a:t>%s - leitura de caracter</a:t>
            </a:r>
            <a:r>
              <a:rPr lang="pt-BR" altLang="pt-BR" b="1" u="sng" dirty="0">
                <a:effectLst/>
              </a:rPr>
              <a:t>es</a:t>
            </a:r>
          </a:p>
          <a:p>
            <a:pPr marL="0" indent="269868" eaLnBrk="1" hangingPunct="1">
              <a:defRPr/>
            </a:pPr>
            <a:endParaRPr lang="pt-BR" altLang="pt-BR" dirty="0"/>
          </a:p>
        </p:txBody>
      </p:sp>
      <p:sp>
        <p:nvSpPr>
          <p:cNvPr id="205829" name="Retângulo 1">
            <a:extLst>
              <a:ext uri="{FF2B5EF4-FFF2-40B4-BE49-F238E27FC236}">
                <a16:creationId xmlns:a16="http://schemas.microsoft.com/office/drawing/2014/main" id="{CECDA2DB-B4B9-1378-25FC-42E881497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888" y="3270984"/>
            <a:ext cx="2198038" cy="190821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b="1" dirty="0" err="1">
                <a:solidFill>
                  <a:schemeClr val="tx1"/>
                </a:solidFill>
              </a:rPr>
              <a:t>scanf</a:t>
            </a:r>
            <a:r>
              <a:rPr lang="en-US" altLang="pt-BR" b="1" dirty="0">
                <a:solidFill>
                  <a:schemeClr val="tx1"/>
                </a:solidFill>
              </a:rPr>
              <a:t>(“%</a:t>
            </a:r>
            <a:r>
              <a:rPr lang="en-US" altLang="pt-BR" b="1" dirty="0" err="1">
                <a:solidFill>
                  <a:schemeClr val="tx1"/>
                </a:solidFill>
              </a:rPr>
              <a:t>d”,&amp;x</a:t>
            </a:r>
            <a:r>
              <a:rPr lang="en-US" altLang="pt-BR" b="1" dirty="0">
                <a:solidFill>
                  <a:schemeClr val="tx1"/>
                </a:solidFill>
              </a:rPr>
              <a:t>); 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pt-BR" b="1" dirty="0">
              <a:solidFill>
                <a:schemeClr val="tx1"/>
              </a:solidFill>
            </a:endParaRP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b="1" dirty="0" err="1">
                <a:solidFill>
                  <a:schemeClr val="tx1"/>
                </a:solidFill>
              </a:rPr>
              <a:t>scanf</a:t>
            </a:r>
            <a:r>
              <a:rPr lang="en-US" altLang="pt-BR" b="1" dirty="0">
                <a:solidFill>
                  <a:schemeClr val="tx1"/>
                </a:solidFill>
              </a:rPr>
              <a:t>(“%</a:t>
            </a:r>
            <a:r>
              <a:rPr lang="en-US" altLang="pt-BR" b="1" dirty="0" err="1">
                <a:solidFill>
                  <a:schemeClr val="tx1"/>
                </a:solidFill>
              </a:rPr>
              <a:t>f”,&amp;y</a:t>
            </a:r>
            <a:r>
              <a:rPr lang="en-US" altLang="pt-BR" b="1" dirty="0">
                <a:solidFill>
                  <a:schemeClr val="tx1"/>
                </a:solidFill>
              </a:rPr>
              <a:t>) ;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pt-BR" sz="1400" b="1" dirty="0">
              <a:solidFill>
                <a:schemeClr val="tx1"/>
              </a:solidFill>
            </a:endParaRP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b="1" dirty="0" err="1">
                <a:solidFill>
                  <a:schemeClr val="tx1"/>
                </a:solidFill>
              </a:rPr>
              <a:t>scanf</a:t>
            </a:r>
            <a:r>
              <a:rPr lang="en-US" altLang="pt-BR" b="1" dirty="0">
                <a:solidFill>
                  <a:schemeClr val="tx1"/>
                </a:solidFill>
              </a:rPr>
              <a:t>(“%</a:t>
            </a:r>
            <a:r>
              <a:rPr lang="en-US" altLang="pt-BR" b="1" dirty="0" err="1">
                <a:solidFill>
                  <a:schemeClr val="tx1"/>
                </a:solidFill>
              </a:rPr>
              <a:t>c”,&amp;z</a:t>
            </a:r>
            <a:r>
              <a:rPr lang="en-US" altLang="pt-BR" b="1" dirty="0">
                <a:solidFill>
                  <a:schemeClr val="tx1"/>
                </a:solidFill>
              </a:rPr>
              <a:t>) 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pt-BR" sz="1400" b="1" dirty="0">
              <a:solidFill>
                <a:schemeClr val="tx1"/>
              </a:solidFill>
            </a:endParaRP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b="1" dirty="0" err="1">
                <a:solidFill>
                  <a:schemeClr val="tx1"/>
                </a:solidFill>
              </a:rPr>
              <a:t>scanf</a:t>
            </a:r>
            <a:r>
              <a:rPr lang="en-US" altLang="pt-BR" b="1" dirty="0">
                <a:solidFill>
                  <a:schemeClr val="tx1"/>
                </a:solidFill>
              </a:rPr>
              <a:t>(“%</a:t>
            </a:r>
            <a:r>
              <a:rPr lang="en-US" altLang="pt-BR" b="1" dirty="0" err="1">
                <a:solidFill>
                  <a:schemeClr val="tx1"/>
                </a:solidFill>
              </a:rPr>
              <a:t>s”,&amp;w</a:t>
            </a:r>
            <a:r>
              <a:rPr lang="en-US" altLang="pt-BR" b="1" dirty="0">
                <a:solidFill>
                  <a:schemeClr val="tx1"/>
                </a:solidFill>
              </a:rPr>
              <a:t>)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AFDA83B-9AB3-9FAA-96D8-0E50183032A3}"/>
              </a:ext>
            </a:extLst>
          </p:cNvPr>
          <p:cNvSpPr txBox="1"/>
          <p:nvPr/>
        </p:nvSpPr>
        <p:spPr>
          <a:xfrm>
            <a:off x="7608168" y="3270984"/>
            <a:ext cx="4262419" cy="2585323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&lt;stdio.h&gt;</a:t>
            </a:r>
          </a:p>
          <a:p>
            <a:endParaRPr lang="pt-BR" dirty="0"/>
          </a:p>
          <a:p>
            <a:r>
              <a:rPr lang="pt-BR" dirty="0"/>
              <a:t>int </a:t>
            </a:r>
            <a:r>
              <a:rPr lang="pt-BR" dirty="0" err="1"/>
              <a:t>main</a:t>
            </a:r>
            <a:r>
              <a:rPr lang="pt-BR" dirty="0"/>
              <a:t>() {</a:t>
            </a:r>
          </a:p>
          <a:p>
            <a:r>
              <a:rPr lang="pt-BR" dirty="0"/>
              <a:t>    int x;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("Digite um valor para x: ");</a:t>
            </a:r>
          </a:p>
          <a:p>
            <a:r>
              <a:rPr lang="pt-BR" dirty="0"/>
              <a:t>    </a:t>
            </a:r>
            <a:r>
              <a:rPr lang="pt-BR" dirty="0" err="1"/>
              <a:t>scanf</a:t>
            </a:r>
            <a:r>
              <a:rPr lang="pt-BR" dirty="0"/>
              <a:t>(“%</a:t>
            </a:r>
            <a:r>
              <a:rPr lang="pt-BR" dirty="0" err="1"/>
              <a:t>i”,&amp;x</a:t>
            </a:r>
            <a:r>
              <a:rPr lang="pt-BR" dirty="0"/>
              <a:t>);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(“O valor de x e’:, %i", x);</a:t>
            </a:r>
          </a:p>
          <a:p>
            <a:r>
              <a:rPr lang="pt-BR" dirty="0"/>
              <a:t>    return 0;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50727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ECAE876B-FED0-401A-AFFD-2D4E649E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EA9D6037-7834-4019-B361-72722FB6BA74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55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7875" name="Rectangle 2">
            <a:extLst>
              <a:ext uri="{FF2B5EF4-FFF2-40B4-BE49-F238E27FC236}">
                <a16:creationId xmlns:a16="http://schemas.microsoft.com/office/drawing/2014/main" id="{524CF2E3-DA7F-4480-8CFD-6B15C88EC1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Entrada</a:t>
            </a:r>
          </a:p>
        </p:txBody>
      </p:sp>
      <p:sp>
        <p:nvSpPr>
          <p:cNvPr id="207876" name="Rectangle 3">
            <a:extLst>
              <a:ext uri="{FF2B5EF4-FFF2-40B4-BE49-F238E27FC236}">
                <a16:creationId xmlns:a16="http://schemas.microsoft.com/office/drawing/2014/main" id="{96FB7D0F-481B-40BA-9709-17789FE85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b="1" dirty="0">
                <a:effectLst/>
              </a:rPr>
              <a:t>sintaxe: </a:t>
            </a:r>
            <a:r>
              <a:rPr lang="pt-BR" altLang="pt-BR" b="1" dirty="0" err="1">
                <a:effectLst/>
              </a:rPr>
              <a:t>scanf</a:t>
            </a:r>
            <a:r>
              <a:rPr lang="pt-BR" altLang="pt-BR" b="1" dirty="0">
                <a:effectLst/>
              </a:rPr>
              <a:t> ("%</a:t>
            </a:r>
            <a:r>
              <a:rPr lang="pt-BR" altLang="pt-BR" b="1" dirty="0" err="1">
                <a:effectLst/>
              </a:rPr>
              <a:t>f",&amp;valor</a:t>
            </a:r>
            <a:r>
              <a:rPr lang="pt-BR" altLang="pt-BR" b="1" dirty="0">
                <a:effectLst/>
              </a:rPr>
              <a:t>);</a:t>
            </a:r>
          </a:p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lang="pt-BR" dirty="0" err="1">
                <a:effectLst/>
              </a:rPr>
              <a:t>fgets</a:t>
            </a:r>
            <a:r>
              <a:rPr lang="pt-BR" dirty="0">
                <a:effectLst/>
              </a:rPr>
              <a:t>(nome, 100, </a:t>
            </a:r>
            <a:r>
              <a:rPr lang="pt-BR" dirty="0" err="1">
                <a:effectLst/>
              </a:rPr>
              <a:t>stdin</a:t>
            </a:r>
            <a:r>
              <a:rPr lang="pt-BR" dirty="0">
                <a:effectLst/>
              </a:rPr>
              <a:t>);</a:t>
            </a:r>
            <a:endParaRPr lang="pt-BR" altLang="pt-BR" b="1" dirty="0">
              <a:effectLst/>
            </a:endParaRPr>
          </a:p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</a:pPr>
            <a:endParaRPr lang="pt-BR" altLang="pt-BR" b="1" dirty="0">
              <a:effectLst/>
            </a:endParaRP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%f : variável do tipo real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&amp;valor: o dado lido deverá ser armazenado no endereço (&amp;) alocado para a variável “valor”</a:t>
            </a:r>
          </a:p>
        </p:txBody>
      </p:sp>
      <p:sp>
        <p:nvSpPr>
          <p:cNvPr id="207877" name="Rectangle 6">
            <a:extLst>
              <a:ext uri="{FF2B5EF4-FFF2-40B4-BE49-F238E27FC236}">
                <a16:creationId xmlns:a16="http://schemas.microsoft.com/office/drawing/2014/main" id="{47F06174-6842-4D51-A7E1-39B8512FB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560" y="3501008"/>
            <a:ext cx="6462713" cy="2308324"/>
          </a:xfrm>
          <a:prstGeom prst="rect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</a:t>
            </a:r>
            <a:r>
              <a:rPr lang="pt-BR" altLang="pt-BR" dirty="0" err="1">
                <a:solidFill>
                  <a:schemeClr val="tx1"/>
                </a:solidFill>
              </a:rPr>
              <a:t>stdio.h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int</a:t>
            </a:r>
            <a:r>
              <a:rPr lang="pt-BR" altLang="pt-BR" dirty="0">
                <a:solidFill>
                  <a:schemeClr val="tx1"/>
                </a:solidFill>
              </a:rPr>
              <a:t> </a:t>
            </a:r>
            <a:r>
              <a:rPr lang="pt-BR" altLang="pt-BR" dirty="0" err="1">
                <a:solidFill>
                  <a:schemeClr val="tx1"/>
                </a:solidFill>
              </a:rPr>
              <a:t>main</a:t>
            </a:r>
            <a:r>
              <a:rPr lang="pt-BR" altLang="pt-BR" dirty="0">
                <a:solidFill>
                  <a:schemeClr val="tx1"/>
                </a:solidFill>
              </a:rPr>
              <a:t> 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float x;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 ("Entre com o preço: ");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scanf</a:t>
            </a:r>
            <a:r>
              <a:rPr lang="pt-BR" altLang="pt-BR" dirty="0">
                <a:solidFill>
                  <a:schemeClr val="tx1"/>
                </a:solidFill>
              </a:rPr>
              <a:t> ("%</a:t>
            </a:r>
            <a:r>
              <a:rPr lang="pt-BR" altLang="pt-BR" dirty="0" err="1">
                <a:solidFill>
                  <a:schemeClr val="tx1"/>
                </a:solidFill>
              </a:rPr>
              <a:t>f",&amp;x</a:t>
            </a:r>
            <a:r>
              <a:rPr lang="pt-BR" altLang="pt-BR" dirty="0">
                <a:solidFill>
                  <a:schemeClr val="tx1"/>
                </a:solidFill>
              </a:rPr>
              <a:t>); /* Entrada de Dados*/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 ("\</a:t>
            </a:r>
            <a:r>
              <a:rPr lang="pt-BR" altLang="pt-BR" dirty="0" err="1">
                <a:solidFill>
                  <a:schemeClr val="tx1"/>
                </a:solidFill>
              </a:rPr>
              <a:t>nO</a:t>
            </a:r>
            <a:r>
              <a:rPr lang="pt-BR" altLang="pt-BR" dirty="0">
                <a:solidFill>
                  <a:schemeClr val="tx1"/>
                </a:solidFill>
              </a:rPr>
              <a:t> preço do produto é %f reais.\</a:t>
            </a:r>
            <a:r>
              <a:rPr lang="pt-BR" altLang="pt-BR" dirty="0" err="1">
                <a:solidFill>
                  <a:schemeClr val="tx1"/>
                </a:solidFill>
              </a:rPr>
              <a:t>n",x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0890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EBA692DA-5FF4-42A4-8B79-D10F0829B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0A4FE606-29B9-45F4-A35F-FB0896936CB8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56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9923" name="Rectangle 2">
            <a:extLst>
              <a:ext uri="{FF2B5EF4-FFF2-40B4-BE49-F238E27FC236}">
                <a16:creationId xmlns:a16="http://schemas.microsoft.com/office/drawing/2014/main" id="{281E77A0-09FA-4068-A94E-4C25860311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Entrada</a:t>
            </a:r>
          </a:p>
        </p:txBody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2E427B21-C480-41B5-A3DF-BFA7E4100C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pt-BR" altLang="pt-BR" b="1" dirty="0">
                <a:effectLst/>
              </a:rPr>
              <a:t>sintaxe: </a:t>
            </a:r>
            <a:r>
              <a:rPr lang="pt-BR" altLang="pt-BR" b="1" dirty="0" err="1">
                <a:effectLst/>
              </a:rPr>
              <a:t>scanf</a:t>
            </a:r>
            <a:r>
              <a:rPr lang="pt-BR" altLang="pt-BR" b="1" dirty="0">
                <a:effectLst/>
              </a:rPr>
              <a:t> ("%d",&amp;</a:t>
            </a:r>
            <a:r>
              <a:rPr lang="pt-BR" altLang="pt-BR" dirty="0" err="1"/>
              <a:t>Qtde</a:t>
            </a:r>
            <a:r>
              <a:rPr lang="pt-BR" altLang="pt-BR" b="1" dirty="0">
                <a:effectLst/>
              </a:rPr>
              <a:t>);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 dirty="0">
                <a:effectLst/>
              </a:rPr>
              <a:t>%d ou %i: variável do tipo inteiro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 dirty="0">
                <a:effectLst/>
              </a:rPr>
              <a:t>&amp;</a:t>
            </a:r>
            <a:r>
              <a:rPr lang="pt-BR" altLang="pt-BR" dirty="0" err="1"/>
              <a:t>Qtde</a:t>
            </a:r>
            <a:r>
              <a:rPr lang="pt-BR" altLang="pt-BR" dirty="0"/>
              <a:t> </a:t>
            </a:r>
            <a:r>
              <a:rPr lang="pt-BR" altLang="pt-BR" dirty="0">
                <a:effectLst/>
              </a:rPr>
              <a:t>: o dado lido deverá ser armazenado no endereço (&amp;) alocado para a variável “</a:t>
            </a:r>
            <a:r>
              <a:rPr lang="pt-BR" altLang="pt-BR" dirty="0" err="1"/>
              <a:t>Qtde</a:t>
            </a:r>
            <a:r>
              <a:rPr lang="pt-BR" altLang="pt-BR" dirty="0">
                <a:effectLst/>
              </a:rPr>
              <a:t>”</a:t>
            </a:r>
          </a:p>
        </p:txBody>
      </p:sp>
      <p:sp>
        <p:nvSpPr>
          <p:cNvPr id="209925" name="Rectangle 6">
            <a:extLst>
              <a:ext uri="{FF2B5EF4-FFF2-40B4-BE49-F238E27FC236}">
                <a16:creationId xmlns:a16="http://schemas.microsoft.com/office/drawing/2014/main" id="{3FCBB830-BE90-4A15-90E5-F6C8FBD37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4" y="2924177"/>
            <a:ext cx="6462713" cy="2308324"/>
          </a:xfrm>
          <a:prstGeom prst="rect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</a:t>
            </a:r>
            <a:r>
              <a:rPr lang="pt-BR" altLang="pt-BR" dirty="0" err="1">
                <a:solidFill>
                  <a:schemeClr val="tx1"/>
                </a:solidFill>
              </a:rPr>
              <a:t>stdio.h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int</a:t>
            </a:r>
            <a:r>
              <a:rPr lang="pt-BR" altLang="pt-BR" dirty="0">
                <a:solidFill>
                  <a:schemeClr val="tx1"/>
                </a:solidFill>
              </a:rPr>
              <a:t> </a:t>
            </a:r>
            <a:r>
              <a:rPr lang="pt-BR" altLang="pt-BR" dirty="0" err="1">
                <a:solidFill>
                  <a:schemeClr val="tx1"/>
                </a:solidFill>
              </a:rPr>
              <a:t>main</a:t>
            </a:r>
            <a:r>
              <a:rPr lang="pt-BR" altLang="pt-BR" dirty="0">
                <a:solidFill>
                  <a:schemeClr val="tx1"/>
                </a:solidFill>
              </a:rPr>
              <a:t> 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int</a:t>
            </a:r>
            <a:r>
              <a:rPr lang="pt-BR" altLang="pt-BR" dirty="0">
                <a:solidFill>
                  <a:schemeClr val="tx1"/>
                </a:solidFill>
              </a:rPr>
              <a:t> </a:t>
            </a:r>
            <a:r>
              <a:rPr lang="pt-BR" altLang="pt-BR" dirty="0" err="1">
                <a:solidFill>
                  <a:schemeClr val="tx1"/>
                </a:solidFill>
              </a:rPr>
              <a:t>Qtde</a:t>
            </a:r>
            <a:r>
              <a:rPr lang="pt-BR" altLang="pt-BR" dirty="0">
                <a:solidFill>
                  <a:schemeClr val="tx1"/>
                </a:solidFill>
              </a:rPr>
              <a:t>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 ("Entre com a quantidade: ");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BR" altLang="pt-BR" dirty="0" err="1">
                <a:solidFill>
                  <a:schemeClr val="tx1"/>
                </a:solidFill>
              </a:rPr>
              <a:t>scanf</a:t>
            </a:r>
            <a:r>
              <a:rPr lang="pt-BR" altLang="pt-BR" dirty="0">
                <a:solidFill>
                  <a:schemeClr val="tx1"/>
                </a:solidFill>
              </a:rPr>
              <a:t> ("%d",&amp; </a:t>
            </a:r>
            <a:r>
              <a:rPr lang="pt-BR" altLang="pt-BR" dirty="0" err="1">
                <a:solidFill>
                  <a:schemeClr val="tx1"/>
                </a:solidFill>
              </a:rPr>
              <a:t>Qtde</a:t>
            </a:r>
            <a:r>
              <a:rPr lang="pt-BR" altLang="pt-BR" dirty="0">
                <a:solidFill>
                  <a:schemeClr val="tx1"/>
                </a:solidFill>
              </a:rPr>
              <a:t>); /* Entrada de Dados*/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 ("\A quantidade e’ %d unidades.\n", </a:t>
            </a:r>
            <a:r>
              <a:rPr lang="pt-BR" altLang="pt-BR" dirty="0" err="1">
                <a:solidFill>
                  <a:schemeClr val="tx1"/>
                </a:solidFill>
              </a:rPr>
              <a:t>Qtde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85678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7CC23F58-0C89-48C4-8F81-93E37D87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79F7EE07-D1B3-403F-BD3E-9BD14AE148DE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57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1971" name="Rectangle 2">
            <a:extLst>
              <a:ext uri="{FF2B5EF4-FFF2-40B4-BE49-F238E27FC236}">
                <a16:creationId xmlns:a16="http://schemas.microsoft.com/office/drawing/2014/main" id="{284D10EB-2501-4764-B112-848F506261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Entrada</a:t>
            </a:r>
          </a:p>
        </p:txBody>
      </p:sp>
      <p:sp>
        <p:nvSpPr>
          <p:cNvPr id="211972" name="Rectangle 3">
            <a:extLst>
              <a:ext uri="{FF2B5EF4-FFF2-40B4-BE49-F238E27FC236}">
                <a16:creationId xmlns:a16="http://schemas.microsoft.com/office/drawing/2014/main" id="{49FE64A8-7398-42B8-A6A5-9953C9DE34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b="1" dirty="0">
                <a:effectLst/>
              </a:rPr>
              <a:t>sintaxe: </a:t>
            </a:r>
            <a:r>
              <a:rPr lang="pt-BR" altLang="pt-BR" b="1" dirty="0" err="1">
                <a:effectLst/>
              </a:rPr>
              <a:t>scanf</a:t>
            </a:r>
            <a:r>
              <a:rPr lang="pt-BR" altLang="pt-BR" b="1" dirty="0">
                <a:effectLst/>
              </a:rPr>
              <a:t> ("%c",&amp;</a:t>
            </a:r>
            <a:r>
              <a:rPr lang="pt-BR" altLang="pt-BR" b="1" dirty="0" err="1">
                <a:effectLst/>
              </a:rPr>
              <a:t>opcao</a:t>
            </a:r>
            <a:r>
              <a:rPr lang="pt-BR" altLang="pt-BR" b="1" dirty="0">
                <a:effectLst/>
              </a:rPr>
              <a:t>);//lê apenas um </a:t>
            </a:r>
            <a:r>
              <a:rPr lang="pt-BR" altLang="pt-BR" b="1" dirty="0" err="1">
                <a:effectLst/>
              </a:rPr>
              <a:t>caracter</a:t>
            </a:r>
            <a:endParaRPr lang="pt-BR" altLang="pt-BR" b="1" dirty="0">
              <a:effectLst/>
            </a:endParaRP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%c : variável do tipo </a:t>
            </a:r>
            <a:r>
              <a:rPr lang="pt-BR" altLang="pt-BR" dirty="0" err="1">
                <a:effectLst/>
              </a:rPr>
              <a:t>caracter</a:t>
            </a:r>
            <a:endParaRPr lang="pt-BR" altLang="pt-BR" dirty="0">
              <a:effectLst/>
            </a:endParaRP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&amp;</a:t>
            </a:r>
            <a:r>
              <a:rPr lang="pt-BR" altLang="pt-BR" dirty="0" err="1">
                <a:effectLst/>
              </a:rPr>
              <a:t>opcao</a:t>
            </a:r>
            <a:r>
              <a:rPr lang="pt-BR" altLang="pt-BR" dirty="0">
                <a:effectLst/>
              </a:rPr>
              <a:t>: o dado lido deverá ser armazenado no endereço (&amp;) alocado para a variável “</a:t>
            </a:r>
            <a:r>
              <a:rPr lang="pt-BR" altLang="pt-BR" dirty="0" err="1">
                <a:effectLst/>
              </a:rPr>
              <a:t>opcao</a:t>
            </a:r>
            <a:r>
              <a:rPr lang="pt-BR" altLang="pt-BR" dirty="0">
                <a:effectLst/>
              </a:rPr>
              <a:t>”</a:t>
            </a:r>
          </a:p>
        </p:txBody>
      </p:sp>
      <p:sp>
        <p:nvSpPr>
          <p:cNvPr id="211973" name="Rectangle 6">
            <a:extLst>
              <a:ext uri="{FF2B5EF4-FFF2-40B4-BE49-F238E27FC236}">
                <a16:creationId xmlns:a16="http://schemas.microsoft.com/office/drawing/2014/main" id="{00596529-5AF4-4753-B12A-0895F3A3F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4" y="2924178"/>
            <a:ext cx="6462713" cy="2585323"/>
          </a:xfrm>
          <a:prstGeom prst="rect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</a:t>
            </a:r>
            <a:r>
              <a:rPr lang="pt-BR" altLang="pt-BR" dirty="0" err="1">
                <a:solidFill>
                  <a:schemeClr val="tx1"/>
                </a:solidFill>
              </a:rPr>
              <a:t>stdio.h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int</a:t>
            </a:r>
            <a:r>
              <a:rPr lang="pt-BR" altLang="pt-BR" dirty="0">
                <a:solidFill>
                  <a:schemeClr val="tx1"/>
                </a:solidFill>
              </a:rPr>
              <a:t> </a:t>
            </a:r>
            <a:r>
              <a:rPr lang="pt-BR" altLang="pt-BR" dirty="0" err="1">
                <a:solidFill>
                  <a:schemeClr val="tx1"/>
                </a:solidFill>
              </a:rPr>
              <a:t>main</a:t>
            </a:r>
            <a:r>
              <a:rPr lang="pt-BR" altLang="pt-BR" dirty="0">
                <a:solidFill>
                  <a:schemeClr val="tx1"/>
                </a:solidFill>
              </a:rPr>
              <a:t> 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char </a:t>
            </a:r>
            <a:r>
              <a:rPr lang="pt-BR" altLang="pt-BR" dirty="0" err="1">
                <a:solidFill>
                  <a:schemeClr val="tx1"/>
                </a:solidFill>
              </a:rPr>
              <a:t>opcao</a:t>
            </a:r>
            <a:r>
              <a:rPr lang="pt-BR" altLang="pt-BR" dirty="0">
                <a:solidFill>
                  <a:schemeClr val="tx1"/>
                </a:solidFill>
              </a:rPr>
              <a:t>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 ("Entre com a </a:t>
            </a:r>
            <a:r>
              <a:rPr lang="pt-BR" altLang="pt-BR" dirty="0" err="1">
                <a:solidFill>
                  <a:schemeClr val="tx1"/>
                </a:solidFill>
              </a:rPr>
              <a:t>Opcao</a:t>
            </a:r>
            <a:r>
              <a:rPr lang="pt-BR" altLang="pt-BR" dirty="0">
                <a:solidFill>
                  <a:schemeClr val="tx1"/>
                </a:solidFill>
              </a:rPr>
              <a:t>: ");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 (“(A) Inserir </a:t>
            </a:r>
            <a:r>
              <a:rPr lang="pt-BR" altLang="pt-BR" dirty="0" err="1">
                <a:solidFill>
                  <a:schemeClr val="tx1"/>
                </a:solidFill>
              </a:rPr>
              <a:t>Usuario</a:t>
            </a:r>
            <a:r>
              <a:rPr lang="pt-BR" altLang="pt-BR" dirty="0">
                <a:solidFill>
                  <a:schemeClr val="tx1"/>
                </a:solidFill>
              </a:rPr>
              <a:t> (B) Imprimir </a:t>
            </a:r>
            <a:r>
              <a:rPr lang="pt-BR" altLang="pt-BR" dirty="0" err="1">
                <a:solidFill>
                  <a:schemeClr val="tx1"/>
                </a:solidFill>
              </a:rPr>
              <a:t>Usuario</a:t>
            </a:r>
            <a:r>
              <a:rPr lang="pt-BR" altLang="pt-BR" dirty="0">
                <a:solidFill>
                  <a:schemeClr val="tx1"/>
                </a:solidFill>
              </a:rPr>
              <a:t> ");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BR" altLang="pt-BR" dirty="0" err="1">
                <a:solidFill>
                  <a:schemeClr val="tx1"/>
                </a:solidFill>
              </a:rPr>
              <a:t>scanf</a:t>
            </a:r>
            <a:r>
              <a:rPr lang="pt-BR" altLang="pt-BR" dirty="0">
                <a:solidFill>
                  <a:schemeClr val="tx1"/>
                </a:solidFill>
              </a:rPr>
              <a:t> ("%c",&amp;</a:t>
            </a:r>
            <a:r>
              <a:rPr lang="pt-BR" altLang="pt-BR" dirty="0" err="1">
                <a:solidFill>
                  <a:schemeClr val="tx1"/>
                </a:solidFill>
              </a:rPr>
              <a:t>opcao</a:t>
            </a:r>
            <a:r>
              <a:rPr lang="pt-BR" altLang="pt-BR" dirty="0">
                <a:solidFill>
                  <a:schemeClr val="tx1"/>
                </a:solidFill>
              </a:rPr>
              <a:t>); /* Entrada de Dados*/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 ("\n A </a:t>
            </a:r>
            <a:r>
              <a:rPr lang="pt-BR" altLang="pt-BR" dirty="0" err="1">
                <a:solidFill>
                  <a:schemeClr val="tx1"/>
                </a:solidFill>
              </a:rPr>
              <a:t>Opcao</a:t>
            </a:r>
            <a:r>
              <a:rPr lang="pt-BR" altLang="pt-BR" dirty="0">
                <a:solidFill>
                  <a:schemeClr val="tx1"/>
                </a:solidFill>
              </a:rPr>
              <a:t> selecionada foi %c .\n", </a:t>
            </a:r>
            <a:r>
              <a:rPr lang="pt-BR" altLang="pt-BR" dirty="0" err="1">
                <a:solidFill>
                  <a:schemeClr val="tx1"/>
                </a:solidFill>
              </a:rPr>
              <a:t>opcao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32274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A5F2A-0FDB-1F94-C6AD-A541B771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51DF47AB-81A8-C7E3-D43F-CC88D4C30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79F7EE07-D1B3-403F-BD3E-9BD14AE148DE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58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1971" name="Rectangle 2">
            <a:extLst>
              <a:ext uri="{FF2B5EF4-FFF2-40B4-BE49-F238E27FC236}">
                <a16:creationId xmlns:a16="http://schemas.microsoft.com/office/drawing/2014/main" id="{01B96C6D-D93E-6545-2524-8E4D1E652D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Entrada</a:t>
            </a:r>
          </a:p>
        </p:txBody>
      </p:sp>
      <p:sp>
        <p:nvSpPr>
          <p:cNvPr id="211972" name="Rectangle 3">
            <a:extLst>
              <a:ext uri="{FF2B5EF4-FFF2-40B4-BE49-F238E27FC236}">
                <a16:creationId xmlns:a16="http://schemas.microsoft.com/office/drawing/2014/main" id="{BF1AD9FC-F087-9B66-48A4-2297AB6BD5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algn="l" eaLnBrk="1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b="1" dirty="0">
                <a:effectLst/>
              </a:rPr>
              <a:t>OBSERVAÇÃO: </a:t>
            </a:r>
          </a:p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b="1" dirty="0">
                <a:effectLst/>
              </a:rPr>
              <a:t>Existem outros comandos que </a:t>
            </a:r>
            <a:r>
              <a:rPr lang="pt-BR" altLang="pt-BR" b="1" dirty="0" err="1">
                <a:effectLst/>
              </a:rPr>
              <a:t>lêem</a:t>
            </a:r>
            <a:r>
              <a:rPr lang="pt-BR" altLang="pt-BR" b="1" dirty="0">
                <a:effectLst/>
              </a:rPr>
              <a:t> </a:t>
            </a:r>
            <a:r>
              <a:rPr lang="pt-BR" altLang="pt-BR" b="1" u="sng" dirty="0">
                <a:effectLst/>
              </a:rPr>
              <a:t>apenas um </a:t>
            </a:r>
            <a:r>
              <a:rPr lang="pt-BR" altLang="pt-BR" b="1" dirty="0" err="1">
                <a:effectLst/>
              </a:rPr>
              <a:t>caracter</a:t>
            </a:r>
            <a:r>
              <a:rPr lang="pt-BR" altLang="pt-BR" b="1" dirty="0">
                <a:effectLst/>
              </a:rPr>
              <a:t>: </a:t>
            </a:r>
            <a:r>
              <a:rPr lang="pt-BR" altLang="pt-BR" b="1" dirty="0" err="1">
                <a:effectLst/>
              </a:rPr>
              <a:t>getch</a:t>
            </a:r>
            <a:r>
              <a:rPr lang="pt-BR" altLang="pt-BR" b="1" dirty="0">
                <a:effectLst/>
              </a:rPr>
              <a:t>(), </a:t>
            </a:r>
            <a:r>
              <a:rPr lang="pt-BR" altLang="pt-BR" b="1" dirty="0" err="1">
                <a:effectLst/>
              </a:rPr>
              <a:t>getche</a:t>
            </a:r>
            <a:r>
              <a:rPr lang="pt-BR" altLang="pt-BR" b="1" dirty="0">
                <a:effectLst/>
              </a:rPr>
              <a:t>() e </a:t>
            </a:r>
            <a:r>
              <a:rPr lang="pt-BR" altLang="pt-BR" b="1" dirty="0" err="1">
                <a:effectLst/>
              </a:rPr>
              <a:t>getchar</a:t>
            </a:r>
            <a:r>
              <a:rPr lang="pt-BR" altLang="pt-BR" b="1" dirty="0">
                <a:effectLst/>
              </a:rPr>
              <a:t>()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E628594-F40C-D4C0-CA6C-84E486F0F766}"/>
              </a:ext>
            </a:extLst>
          </p:cNvPr>
          <p:cNvSpPr txBox="1"/>
          <p:nvPr/>
        </p:nvSpPr>
        <p:spPr>
          <a:xfrm>
            <a:off x="1116409" y="1968806"/>
            <a:ext cx="5400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#include &lt;stdio.h&gt;</a:t>
            </a:r>
          </a:p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#include &lt;</a:t>
            </a:r>
            <a:r>
              <a:rPr lang="pt-BR" dirty="0" err="1">
                <a:solidFill>
                  <a:schemeClr val="bg2">
                    <a:lumMod val="50000"/>
                  </a:schemeClr>
                </a:solidFill>
              </a:rPr>
              <a:t>conio.h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&gt;</a:t>
            </a:r>
          </a:p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#include &lt;</a:t>
            </a:r>
            <a:r>
              <a:rPr lang="pt-BR" dirty="0" err="1">
                <a:solidFill>
                  <a:schemeClr val="bg2">
                    <a:lumMod val="50000"/>
                  </a:schemeClr>
                </a:solidFill>
              </a:rPr>
              <a:t>locale.h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&gt;</a:t>
            </a:r>
          </a:p>
          <a:p>
            <a:r>
              <a:rPr lang="pt-BR" dirty="0" err="1">
                <a:solidFill>
                  <a:schemeClr val="bg2">
                    <a:lumMod val="50000"/>
                  </a:schemeClr>
                </a:solidFill>
              </a:rPr>
              <a:t>main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()</a:t>
            </a:r>
          </a:p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{</a:t>
            </a:r>
          </a:p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    </a:t>
            </a:r>
            <a:r>
              <a:rPr lang="pt-BR" dirty="0" err="1">
                <a:solidFill>
                  <a:schemeClr val="bg2">
                    <a:lumMod val="50000"/>
                  </a:schemeClr>
                </a:solidFill>
              </a:rPr>
              <a:t>setlocale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(LC_ALL, "</a:t>
            </a:r>
            <a:r>
              <a:rPr lang="pt-BR" dirty="0" err="1">
                <a:solidFill>
                  <a:schemeClr val="bg2">
                    <a:lumMod val="50000"/>
                  </a:schemeClr>
                </a:solidFill>
              </a:rPr>
              <a:t>Portuguese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");</a:t>
            </a:r>
          </a:p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    char </a:t>
            </a:r>
            <a:r>
              <a:rPr lang="pt-BR" dirty="0" err="1">
                <a:solidFill>
                  <a:schemeClr val="bg2">
                    <a:lumMod val="50000"/>
                  </a:schemeClr>
                </a:solidFill>
              </a:rPr>
              <a:t>a,b,c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;</a:t>
            </a:r>
          </a:p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    </a:t>
            </a:r>
            <a:r>
              <a:rPr lang="pt-BR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("Digite um caractere: ");</a:t>
            </a:r>
          </a:p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    a = </a:t>
            </a:r>
            <a:r>
              <a:rPr lang="pt-BR" dirty="0" err="1">
                <a:solidFill>
                  <a:schemeClr val="bg2">
                    <a:lumMod val="50000"/>
                  </a:schemeClr>
                </a:solidFill>
              </a:rPr>
              <a:t>getch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(); // Lê o caractere</a:t>
            </a:r>
          </a:p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    </a:t>
            </a:r>
            <a:r>
              <a:rPr lang="pt-BR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("\n Você digitou: %c\n", a);</a:t>
            </a:r>
          </a:p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    </a:t>
            </a:r>
            <a:r>
              <a:rPr lang="pt-BR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("\n\n Digite um caractere: ");</a:t>
            </a:r>
          </a:p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    b = </a:t>
            </a:r>
            <a:r>
              <a:rPr lang="pt-BR" dirty="0" err="1">
                <a:solidFill>
                  <a:schemeClr val="bg2">
                    <a:lumMod val="50000"/>
                  </a:schemeClr>
                </a:solidFill>
              </a:rPr>
              <a:t>getche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(); // Lê o caractere</a:t>
            </a:r>
          </a:p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    </a:t>
            </a:r>
            <a:r>
              <a:rPr lang="pt-BR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("\n Você digitou: %c\n", b);</a:t>
            </a:r>
          </a:p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    </a:t>
            </a:r>
            <a:r>
              <a:rPr lang="pt-BR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("\n\n Digite um caractere: ");</a:t>
            </a:r>
          </a:p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    c = </a:t>
            </a:r>
            <a:r>
              <a:rPr lang="pt-BR" dirty="0" err="1">
                <a:solidFill>
                  <a:schemeClr val="bg2">
                    <a:lumMod val="50000"/>
                  </a:schemeClr>
                </a:solidFill>
              </a:rPr>
              <a:t>getchar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(); // Lê o caractere</a:t>
            </a:r>
          </a:p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    </a:t>
            </a:r>
            <a:r>
              <a:rPr lang="pt-BR" dirty="0" err="1">
                <a:solidFill>
                  <a:schemeClr val="bg2">
                    <a:lumMod val="50000"/>
                  </a:schemeClr>
                </a:solidFill>
              </a:rPr>
              <a:t>printf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("\</a:t>
            </a:r>
            <a:r>
              <a:rPr lang="pt-BR" dirty="0" err="1">
                <a:solidFill>
                  <a:schemeClr val="bg2">
                    <a:lumMod val="50000"/>
                  </a:schemeClr>
                </a:solidFill>
              </a:rPr>
              <a:t>nVocê</a:t>
            </a: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 digitou: %c\n", c);</a:t>
            </a:r>
          </a:p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}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DBCF94A-A45D-A53E-4BFB-D7CE8E5B4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136" y="2492896"/>
            <a:ext cx="3084800" cy="335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67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738D390E-3F1E-4EC4-8A08-5794BB45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85E0FBF4-1207-4802-9AF8-EE37B5EBEC83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59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4019" name="Rectangle 2">
            <a:extLst>
              <a:ext uri="{FF2B5EF4-FFF2-40B4-BE49-F238E27FC236}">
                <a16:creationId xmlns:a16="http://schemas.microsoft.com/office/drawing/2014/main" id="{34785A2F-A792-4FA1-BA07-083DEB661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Entrada</a:t>
            </a:r>
          </a:p>
        </p:txBody>
      </p:sp>
      <p:sp>
        <p:nvSpPr>
          <p:cNvPr id="214020" name="Rectangle 3">
            <a:extLst>
              <a:ext uri="{FF2B5EF4-FFF2-40B4-BE49-F238E27FC236}">
                <a16:creationId xmlns:a16="http://schemas.microsoft.com/office/drawing/2014/main" id="{1AD4DE28-C84B-41E1-93FD-0C10B324CA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b="1" dirty="0">
                <a:effectLst/>
              </a:rPr>
              <a:t>sintaxe: </a:t>
            </a:r>
            <a:r>
              <a:rPr lang="pt-BR" altLang="pt-BR" b="1" dirty="0" err="1">
                <a:effectLst/>
              </a:rPr>
              <a:t>scanf</a:t>
            </a:r>
            <a:r>
              <a:rPr lang="pt-BR" altLang="pt-BR" b="1" dirty="0">
                <a:effectLst/>
              </a:rPr>
              <a:t> ("%</a:t>
            </a:r>
            <a:r>
              <a:rPr lang="pt-BR" altLang="pt-BR" b="1" dirty="0" err="1">
                <a:effectLst/>
              </a:rPr>
              <a:t>s",&amp;Nome</a:t>
            </a:r>
            <a:r>
              <a:rPr lang="pt-BR" altLang="pt-BR" b="1" dirty="0">
                <a:effectLst/>
              </a:rPr>
              <a:t>);</a:t>
            </a:r>
          </a:p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lang="pt-BR" b="1" dirty="0" err="1"/>
              <a:t>scanf</a:t>
            </a:r>
            <a:r>
              <a:rPr lang="pt-BR" b="1" dirty="0"/>
              <a:t>("%[^\n]", Nome);</a:t>
            </a:r>
            <a:endParaRPr lang="pt-BR" altLang="pt-BR" b="1" dirty="0">
              <a:effectLst/>
            </a:endParaRP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%s : variável do tipo </a:t>
            </a:r>
            <a:r>
              <a:rPr lang="pt-BR" altLang="pt-BR" dirty="0" err="1">
                <a:effectLst/>
              </a:rPr>
              <a:t>caracter</a:t>
            </a:r>
            <a:endParaRPr lang="pt-BR" altLang="pt-BR" dirty="0">
              <a:effectLst/>
            </a:endParaRP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&amp;</a:t>
            </a:r>
            <a:r>
              <a:rPr lang="pt-BR" altLang="pt-BR" b="1" dirty="0">
                <a:effectLst/>
              </a:rPr>
              <a:t> Nome </a:t>
            </a:r>
            <a:r>
              <a:rPr lang="pt-BR" altLang="pt-BR" dirty="0">
                <a:effectLst/>
              </a:rPr>
              <a:t>: o dado lido deverá ser armazenado no endereço (&amp;) alocado para a variável “</a:t>
            </a:r>
            <a:r>
              <a:rPr lang="pt-BR" altLang="pt-BR" dirty="0" err="1">
                <a:effectLst/>
              </a:rPr>
              <a:t>opcao</a:t>
            </a:r>
            <a:r>
              <a:rPr lang="pt-BR" altLang="pt-BR" dirty="0">
                <a:effectLst/>
              </a:rPr>
              <a:t>”.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Observação: nem todo compilador funciona o </a:t>
            </a:r>
            <a:r>
              <a:rPr lang="pt-BR" altLang="pt-BR" b="1" dirty="0">
                <a:effectLst/>
              </a:rPr>
              <a:t> </a:t>
            </a:r>
            <a:r>
              <a:rPr lang="pt-BR" altLang="pt-BR" b="1" dirty="0" err="1">
                <a:effectLst/>
              </a:rPr>
              <a:t>scanf</a:t>
            </a:r>
            <a:r>
              <a:rPr lang="pt-BR" altLang="pt-BR" b="1" dirty="0">
                <a:effectLst/>
              </a:rPr>
              <a:t> ("%s",&amp;...); </a:t>
            </a:r>
            <a:r>
              <a:rPr lang="pt-BR" altLang="pt-BR" dirty="0">
                <a:effectLst/>
              </a:rPr>
              <a:t>e deve-se utilizar o comando </a:t>
            </a:r>
            <a:r>
              <a:rPr lang="pt-BR" altLang="pt-BR" b="1" dirty="0" err="1">
                <a:effectLst/>
              </a:rPr>
              <a:t>fgets</a:t>
            </a:r>
            <a:r>
              <a:rPr lang="pt-BR" altLang="pt-BR" b="1" dirty="0">
                <a:effectLst/>
              </a:rPr>
              <a:t>(). 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endParaRPr lang="pt-BR" altLang="pt-BR" dirty="0">
              <a:effectLst/>
            </a:endParaRPr>
          </a:p>
        </p:txBody>
      </p:sp>
      <p:sp>
        <p:nvSpPr>
          <p:cNvPr id="214021" name="Rectangle 6">
            <a:extLst>
              <a:ext uri="{FF2B5EF4-FFF2-40B4-BE49-F238E27FC236}">
                <a16:creationId xmlns:a16="http://schemas.microsoft.com/office/drawing/2014/main" id="{2DA1A952-D0E8-42AF-8980-54A88F7BA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529" y="3458796"/>
            <a:ext cx="4896544" cy="3293209"/>
          </a:xfrm>
          <a:prstGeom prst="rect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#include &lt;stdio.h&gt;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#include &lt;</a:t>
            </a:r>
            <a:r>
              <a:rPr lang="pt-BR" altLang="pt-BR" sz="1600" dirty="0" err="1">
                <a:solidFill>
                  <a:schemeClr val="tx1"/>
                </a:solidFill>
              </a:rPr>
              <a:t>locale.h</a:t>
            </a:r>
            <a:r>
              <a:rPr lang="pt-BR" altLang="pt-BR" sz="1600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main</a:t>
            </a:r>
            <a:r>
              <a:rPr lang="pt-BR" altLang="pt-BR" sz="1600" dirty="0">
                <a:solidFill>
                  <a:schemeClr val="tx1"/>
                </a:solidFill>
              </a:rPr>
              <a:t>(){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char Nome[30];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setlocale</a:t>
            </a:r>
            <a:r>
              <a:rPr lang="pt-BR" altLang="pt-BR" sz="1600" dirty="0">
                <a:solidFill>
                  <a:schemeClr val="tx1"/>
                </a:solidFill>
              </a:rPr>
              <a:t>(LC_ALL, "</a:t>
            </a:r>
            <a:r>
              <a:rPr lang="pt-BR" altLang="pt-BR" sz="1600" dirty="0" err="1">
                <a:solidFill>
                  <a:schemeClr val="tx1"/>
                </a:solidFill>
              </a:rPr>
              <a:t>Portuguese</a:t>
            </a:r>
            <a:r>
              <a:rPr lang="pt-BR" altLang="pt-BR" sz="1600" dirty="0">
                <a:solidFill>
                  <a:schemeClr val="tx1"/>
                </a:solidFill>
              </a:rPr>
              <a:t>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 ("Digite o seu nome: 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scanf</a:t>
            </a:r>
            <a:r>
              <a:rPr lang="pt-BR" altLang="pt-BR" sz="1600" dirty="0">
                <a:solidFill>
                  <a:schemeClr val="tx1"/>
                </a:solidFill>
              </a:rPr>
              <a:t> ("%</a:t>
            </a:r>
            <a:r>
              <a:rPr lang="pt-BR" altLang="pt-BR" sz="1600" dirty="0" err="1">
                <a:solidFill>
                  <a:schemeClr val="tx1"/>
                </a:solidFill>
              </a:rPr>
              <a:t>s",&amp;Nome</a:t>
            </a:r>
            <a:r>
              <a:rPr lang="pt-BR" altLang="pt-BR" sz="1600" dirty="0">
                <a:solidFill>
                  <a:schemeClr val="tx1"/>
                </a:solidFill>
              </a:rPr>
              <a:t>); /* Entrada de Dados*/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 ("\O seu  nome e’: %s .\n", Nome);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fflush</a:t>
            </a:r>
            <a:r>
              <a:rPr lang="pt-BR" altLang="pt-BR" sz="1600" dirty="0">
                <a:solidFill>
                  <a:schemeClr val="tx1"/>
                </a:solidFill>
              </a:rPr>
              <a:t>(</a:t>
            </a:r>
            <a:r>
              <a:rPr lang="pt-BR" altLang="pt-BR" sz="1600" dirty="0" err="1">
                <a:solidFill>
                  <a:schemeClr val="tx1"/>
                </a:solidFill>
              </a:rPr>
              <a:t>stdin</a:t>
            </a:r>
            <a:r>
              <a:rPr lang="pt-BR" altLang="pt-BR" sz="1600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 ("\n Digite o seu  nome: 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scanf</a:t>
            </a:r>
            <a:r>
              <a:rPr lang="pt-BR" altLang="pt-BR" sz="1600" dirty="0">
                <a:solidFill>
                  <a:schemeClr val="tx1"/>
                </a:solidFill>
              </a:rPr>
              <a:t>("%[^\n]", Nome);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 ("\O seu  nome e’: %s .\n", Nome);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00BDBDD-AE63-55C4-E751-E763EDF1A483}"/>
              </a:ext>
            </a:extLst>
          </p:cNvPr>
          <p:cNvSpPr txBox="1"/>
          <p:nvPr/>
        </p:nvSpPr>
        <p:spPr>
          <a:xfrm>
            <a:off x="6744073" y="3399204"/>
            <a:ext cx="2808312" cy="369332"/>
          </a:xfrm>
          <a:prstGeom prst="rect">
            <a:avLst/>
          </a:prstGeom>
          <a:solidFill>
            <a:srgbClr val="CC0000"/>
          </a:solidFill>
        </p:spPr>
        <p:txBody>
          <a:bodyPr wrap="square">
            <a:spAutoFit/>
          </a:bodyPr>
          <a:lstStyle/>
          <a:p>
            <a:r>
              <a:rPr lang="pt-BR" dirty="0" err="1"/>
              <a:t>scanf</a:t>
            </a:r>
            <a:r>
              <a:rPr lang="pt-BR" dirty="0"/>
              <a:t>("%[^\n]", </a:t>
            </a:r>
            <a:r>
              <a:rPr lang="pt-BR" dirty="0" err="1"/>
              <a:t>ender</a:t>
            </a:r>
            <a:r>
              <a:rPr lang="pt-BR" dirty="0"/>
              <a:t>);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8B91FC9-4559-F9ED-DA01-3A499B39F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073" y="3849077"/>
            <a:ext cx="4792296" cy="239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3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339BA8AC-7A43-42C4-84C2-873BA02CB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F4C478E4-8775-4804-85FE-3ABDE01541F1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60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827" name="Rectangle 2">
            <a:extLst>
              <a:ext uri="{FF2B5EF4-FFF2-40B4-BE49-F238E27FC236}">
                <a16:creationId xmlns:a16="http://schemas.microsoft.com/office/drawing/2014/main" id="{E081DA12-F75D-4A0D-94AA-89D936341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Entrada: </a:t>
            </a:r>
            <a:r>
              <a:rPr lang="en-US" altLang="pt-BR" dirty="0" err="1">
                <a:effectLst/>
              </a:rPr>
              <a:t>fgets</a:t>
            </a:r>
            <a:r>
              <a:rPr lang="en-US" altLang="pt-BR" dirty="0">
                <a:effectLst/>
              </a:rPr>
              <a:t>() </a:t>
            </a:r>
            <a:endParaRPr lang="pt-BR" altLang="pt-BR" dirty="0">
              <a:effectLst/>
            </a:endParaRPr>
          </a:p>
        </p:txBody>
      </p:sp>
      <p:sp>
        <p:nvSpPr>
          <p:cNvPr id="1287171" name="Rectangle 3">
            <a:extLst>
              <a:ext uri="{FF2B5EF4-FFF2-40B4-BE49-F238E27FC236}">
                <a16:creationId xmlns:a16="http://schemas.microsoft.com/office/drawing/2014/main" id="{0F783FE0-2C81-48C4-83F5-1B00C7052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b="1" dirty="0">
                <a:effectLst/>
              </a:rPr>
              <a:t>OBSERVAÇÃO: </a:t>
            </a:r>
          </a:p>
          <a:p>
            <a:pPr marL="285750" indent="-285750" algn="l" eaLnBrk="1" hangingPunct="1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pt-BR" altLang="pt-BR" b="1" dirty="0">
                <a:effectLst/>
              </a:rPr>
              <a:t>Existem comandos para ler mais de um </a:t>
            </a:r>
            <a:r>
              <a:rPr lang="pt-BR" altLang="pt-BR" b="1" dirty="0" err="1">
                <a:effectLst/>
              </a:rPr>
              <a:t>caracter</a:t>
            </a:r>
            <a:endParaRPr lang="pt-BR" altLang="pt-BR" b="1" dirty="0">
              <a:effectLst/>
            </a:endParaRPr>
          </a:p>
          <a:p>
            <a:pPr marL="285750" indent="-285750" algn="l" eaLnBrk="1" hangingPunct="1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pt-BR" b="1" dirty="0">
                <a:effectLst/>
              </a:rPr>
              <a:t>Ler uma linha de texto (recomendado para </a:t>
            </a:r>
            <a:r>
              <a:rPr lang="pt-BR" b="1" dirty="0" err="1">
                <a:effectLst/>
              </a:rPr>
              <a:t>strings</a:t>
            </a:r>
            <a:r>
              <a:rPr lang="pt-BR" b="1" dirty="0">
                <a:effectLst/>
              </a:rPr>
              <a:t>)</a:t>
            </a:r>
          </a:p>
          <a:p>
            <a:pPr marL="285750" indent="-285750" algn="just" eaLnBrk="1" hangingPunct="1">
              <a:buFont typeface="Wingdings" panose="05000000000000000000" pitchFamily="2" charset="2"/>
              <a:buChar char="ü"/>
              <a:defRPr/>
            </a:pPr>
            <a:r>
              <a:rPr lang="pt-BR" altLang="pt-BR" dirty="0">
                <a:effectLst/>
              </a:rPr>
              <a:t>Sua forma geral é: </a:t>
            </a:r>
            <a:r>
              <a:rPr lang="pt-BR" altLang="pt-BR" dirty="0" err="1">
                <a:effectLst/>
              </a:rPr>
              <a:t>fgets</a:t>
            </a:r>
            <a:r>
              <a:rPr lang="pt-BR" altLang="pt-BR" dirty="0">
                <a:effectLst/>
              </a:rPr>
              <a:t>(variável, tamanho, </a:t>
            </a:r>
            <a:r>
              <a:rPr lang="pt-BR" altLang="pt-BR" dirty="0" err="1">
                <a:effectLst/>
              </a:rPr>
              <a:t>stdin</a:t>
            </a:r>
            <a:r>
              <a:rPr lang="pt-BR" altLang="pt-BR" dirty="0">
                <a:effectLst/>
              </a:rPr>
              <a:t>); :</a:t>
            </a:r>
          </a:p>
          <a:p>
            <a:pPr marL="0" indent="269868" eaLnBrk="1" hangingPunct="1">
              <a:defRPr/>
            </a:pPr>
            <a:endParaRPr lang="pt-BR" alt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5F4CA0-B76E-4C65-99E5-9093AA1FC944}"/>
              </a:ext>
            </a:extLst>
          </p:cNvPr>
          <p:cNvSpPr txBox="1"/>
          <p:nvPr/>
        </p:nvSpPr>
        <p:spPr>
          <a:xfrm>
            <a:off x="3023507" y="2796105"/>
            <a:ext cx="6144986" cy="2585323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&lt;stdio.h&gt;</a:t>
            </a:r>
          </a:p>
          <a:p>
            <a:endParaRPr lang="pt-BR" dirty="0"/>
          </a:p>
          <a:p>
            <a:r>
              <a:rPr lang="pt-BR" dirty="0"/>
              <a:t>int </a:t>
            </a:r>
            <a:r>
              <a:rPr lang="pt-BR" dirty="0" err="1"/>
              <a:t>main</a:t>
            </a:r>
            <a:r>
              <a:rPr lang="pt-BR" dirty="0"/>
              <a:t>() {</a:t>
            </a:r>
          </a:p>
          <a:p>
            <a:r>
              <a:rPr lang="pt-BR" dirty="0"/>
              <a:t>    char nome[100];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("Digite seu nome: ");</a:t>
            </a:r>
          </a:p>
          <a:p>
            <a:r>
              <a:rPr lang="pt-BR" dirty="0"/>
              <a:t>    </a:t>
            </a:r>
            <a:r>
              <a:rPr lang="pt-BR" dirty="0" err="1"/>
              <a:t>fgets</a:t>
            </a:r>
            <a:r>
              <a:rPr lang="pt-BR" dirty="0"/>
              <a:t>(nome, </a:t>
            </a:r>
            <a:r>
              <a:rPr lang="pt-BR" dirty="0" err="1"/>
              <a:t>sizeof</a:t>
            </a:r>
            <a:r>
              <a:rPr lang="pt-BR" dirty="0"/>
              <a:t>(nome), </a:t>
            </a:r>
            <a:r>
              <a:rPr lang="pt-BR" dirty="0" err="1"/>
              <a:t>stdin</a:t>
            </a:r>
            <a:r>
              <a:rPr lang="pt-BR" dirty="0"/>
              <a:t>);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</a:t>
            </a:r>
            <a:r>
              <a:rPr lang="pt-BR" dirty="0" err="1"/>
              <a:t>Ola</a:t>
            </a:r>
            <a:r>
              <a:rPr lang="pt-BR" dirty="0"/>
              <a:t>, %s", nome);</a:t>
            </a:r>
          </a:p>
          <a:p>
            <a:r>
              <a:rPr lang="pt-BR" dirty="0"/>
              <a:t>    return 0;</a:t>
            </a:r>
          </a:p>
          <a:p>
            <a:r>
              <a:rPr lang="pt-BR" dirty="0"/>
              <a:t>}</a:t>
            </a:r>
          </a:p>
        </p:txBody>
      </p:sp>
      <p:sp>
        <p:nvSpPr>
          <p:cNvPr id="2" name="Estrela: 5 Pontas 1">
            <a:extLst>
              <a:ext uri="{FF2B5EF4-FFF2-40B4-BE49-F238E27FC236}">
                <a16:creationId xmlns:a16="http://schemas.microsoft.com/office/drawing/2014/main" id="{5B513307-E37D-54F9-00F8-D058E7117E49}"/>
              </a:ext>
            </a:extLst>
          </p:cNvPr>
          <p:cNvSpPr/>
          <p:nvPr/>
        </p:nvSpPr>
        <p:spPr bwMode="auto">
          <a:xfrm>
            <a:off x="10848528" y="1752600"/>
            <a:ext cx="914400" cy="914400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9852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E9B50-6AF1-471A-EC0C-598F10AFE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E0910163-6D31-F950-A617-E4BD932B60F9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77A7254A-23B9-4880-84AA-E2ECD6D0092E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61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42691" name="Rectangle 2">
            <a:extLst>
              <a:ext uri="{FF2B5EF4-FFF2-40B4-BE49-F238E27FC236}">
                <a16:creationId xmlns:a16="http://schemas.microsoft.com/office/drawing/2014/main" id="{8278DE30-8255-6971-8A13-88248110762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Entrada: </a:t>
            </a:r>
            <a:br>
              <a:rPr lang="pt-BR" altLang="pt-BR" dirty="0">
                <a:effectLst/>
              </a:rPr>
            </a:br>
            <a:r>
              <a:rPr lang="pt-BR" dirty="0" err="1"/>
              <a:t>fgets</a:t>
            </a:r>
            <a:r>
              <a:rPr lang="pt-BR" dirty="0"/>
              <a:t>(</a:t>
            </a:r>
            <a:r>
              <a:rPr lang="pt-BR" dirty="0" err="1"/>
              <a:t>nome_da_variavel</a:t>
            </a:r>
            <a:r>
              <a:rPr lang="pt-BR" dirty="0"/>
              <a:t>, </a:t>
            </a:r>
            <a:r>
              <a:rPr lang="pt-BR" dirty="0" err="1"/>
              <a:t>sizeof</a:t>
            </a:r>
            <a:r>
              <a:rPr lang="pt-BR" dirty="0"/>
              <a:t>(</a:t>
            </a:r>
            <a:r>
              <a:rPr lang="pt-BR" dirty="0" err="1"/>
              <a:t>nome_da_variavel</a:t>
            </a:r>
            <a:r>
              <a:rPr lang="pt-BR" dirty="0"/>
              <a:t>), </a:t>
            </a:r>
            <a:r>
              <a:rPr lang="pt-BR" dirty="0" err="1"/>
              <a:t>stdin</a:t>
            </a:r>
            <a:r>
              <a:rPr lang="pt-BR" dirty="0"/>
              <a:t>);</a:t>
            </a:r>
            <a:endParaRPr lang="pt-BR" altLang="pt-BR" dirty="0">
              <a:effectLst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8F31CE5-5276-5A0B-33ED-08E6A7370F30}"/>
              </a:ext>
            </a:extLst>
          </p:cNvPr>
          <p:cNvSpPr txBox="1"/>
          <p:nvPr/>
        </p:nvSpPr>
        <p:spPr>
          <a:xfrm>
            <a:off x="406928" y="2375961"/>
            <a:ext cx="6553168" cy="2800767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600" dirty="0"/>
              <a:t>#include &lt;stdio.h&gt;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conio.h</a:t>
            </a:r>
            <a:r>
              <a:rPr lang="pt-BR" sz="1600" dirty="0"/>
              <a:t>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locale.h</a:t>
            </a:r>
            <a:r>
              <a:rPr lang="pt-BR" sz="1600" dirty="0"/>
              <a:t>&gt;</a:t>
            </a:r>
          </a:p>
          <a:p>
            <a:r>
              <a:rPr lang="pt-BR" sz="1600" dirty="0" err="1"/>
              <a:t>main</a:t>
            </a:r>
            <a:r>
              <a:rPr lang="pt-BR" sz="1600" dirty="0"/>
              <a:t>()</a:t>
            </a:r>
          </a:p>
          <a:p>
            <a:r>
              <a:rPr lang="pt-BR" sz="1600" dirty="0"/>
              <a:t>{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setlocale</a:t>
            </a:r>
            <a:r>
              <a:rPr lang="pt-BR" sz="1600" dirty="0"/>
              <a:t>(LC_ALL, "</a:t>
            </a:r>
            <a:r>
              <a:rPr lang="pt-BR" sz="1600" dirty="0" err="1"/>
              <a:t>Portuguese</a:t>
            </a:r>
            <a:r>
              <a:rPr lang="pt-BR" sz="1600" dirty="0"/>
              <a:t>");</a:t>
            </a:r>
          </a:p>
          <a:p>
            <a:r>
              <a:rPr lang="pt-BR" sz="1600" dirty="0"/>
              <a:t>    char  nome[100];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printf</a:t>
            </a:r>
            <a:r>
              <a:rPr lang="pt-BR" sz="1600" dirty="0"/>
              <a:t>("Digite o seu nome: \n");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fgets</a:t>
            </a:r>
            <a:r>
              <a:rPr lang="pt-BR" sz="1600" dirty="0"/>
              <a:t>(nome, </a:t>
            </a:r>
            <a:r>
              <a:rPr lang="pt-BR" sz="1600" dirty="0" err="1"/>
              <a:t>sizeof</a:t>
            </a:r>
            <a:r>
              <a:rPr lang="pt-BR" sz="1600" dirty="0"/>
              <a:t>(nome), </a:t>
            </a:r>
            <a:r>
              <a:rPr lang="pt-BR" sz="1600" dirty="0" err="1"/>
              <a:t>stdin</a:t>
            </a:r>
            <a:r>
              <a:rPr lang="pt-BR" sz="1600" dirty="0"/>
              <a:t>);    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printf</a:t>
            </a:r>
            <a:r>
              <a:rPr lang="pt-BR" sz="1600" dirty="0"/>
              <a:t>("O nome digitado foi %s \n", nome);</a:t>
            </a:r>
          </a:p>
          <a:p>
            <a:r>
              <a:rPr lang="pt-BR" sz="1600" dirty="0"/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C4B7646-22F4-E419-6F88-8C250BD799A4}"/>
              </a:ext>
            </a:extLst>
          </p:cNvPr>
          <p:cNvSpPr txBox="1"/>
          <p:nvPr/>
        </p:nvSpPr>
        <p:spPr>
          <a:xfrm>
            <a:off x="4151784" y="4287849"/>
            <a:ext cx="2808312" cy="369332"/>
          </a:xfrm>
          <a:prstGeom prst="rect">
            <a:avLst/>
          </a:prstGeom>
          <a:solidFill>
            <a:srgbClr val="CC0000"/>
          </a:solidFill>
        </p:spPr>
        <p:txBody>
          <a:bodyPr wrap="square">
            <a:spAutoFit/>
          </a:bodyPr>
          <a:lstStyle/>
          <a:p>
            <a:r>
              <a:rPr lang="pt-BR" dirty="0" err="1"/>
              <a:t>scanf</a:t>
            </a:r>
            <a:r>
              <a:rPr lang="pt-BR" dirty="0"/>
              <a:t>("%[^\n]", nome);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F40C644-A729-A3CC-C861-80D8013DF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144" y="2842419"/>
            <a:ext cx="4545795" cy="176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>
            <a:extLst>
              <a:ext uri="{FF2B5EF4-FFF2-40B4-BE49-F238E27FC236}">
                <a16:creationId xmlns:a16="http://schemas.microsoft.com/office/drawing/2014/main" id="{D3EE5385-27C9-4A02-BAAF-E53D7FF4E9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 2.7 - Comandos de entrada e saída</a:t>
            </a:r>
            <a:br>
              <a:rPr lang="pt-BR" altLang="pt-BR">
                <a:effectLst/>
              </a:rPr>
            </a:br>
            <a:r>
              <a:rPr lang="pt-BR" altLang="pt-BR">
                <a:effectLst/>
              </a:rPr>
              <a:t>Função  getch() e getche()</a:t>
            </a:r>
          </a:p>
        </p:txBody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8F896ED6-387B-4C2C-83FD-0FC2BD3591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269868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Muitas vezes queremos ler um caractere fornecido pelo usuário. Para isto as funções mais usadas, quando se está trabalhando em ambiente DOS ou Windows, são </a:t>
            </a:r>
            <a:r>
              <a:rPr lang="pt-BR" altLang="pt-BR" b="1">
                <a:effectLst/>
              </a:rPr>
              <a:t>getch() </a:t>
            </a:r>
            <a:r>
              <a:rPr lang="pt-BR" altLang="pt-BR">
                <a:effectLst/>
              </a:rPr>
              <a:t>e </a:t>
            </a:r>
            <a:r>
              <a:rPr lang="pt-BR" altLang="pt-BR" b="1">
                <a:effectLst/>
              </a:rPr>
              <a:t>getche()</a:t>
            </a:r>
            <a:r>
              <a:rPr lang="pt-BR" altLang="pt-BR">
                <a:effectLst/>
              </a:rPr>
              <a:t>. </a:t>
            </a:r>
          </a:p>
          <a:p>
            <a:pPr marL="0" indent="269868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Ambas retornam o caractere pressionado. </a:t>
            </a:r>
            <a:r>
              <a:rPr lang="pt-BR" altLang="pt-BR" b="1">
                <a:effectLst/>
              </a:rPr>
              <a:t>getche() </a:t>
            </a:r>
            <a:r>
              <a:rPr lang="pt-BR" altLang="pt-BR">
                <a:effectLst/>
              </a:rPr>
              <a:t>imprime o caractere na tela antes de retorná-lo e </a:t>
            </a:r>
            <a:r>
              <a:rPr lang="pt-BR" altLang="pt-BR" b="1">
                <a:effectLst/>
              </a:rPr>
              <a:t>getch() </a:t>
            </a:r>
            <a:r>
              <a:rPr lang="pt-BR" altLang="pt-BR">
                <a:effectLst/>
              </a:rPr>
              <a:t>apenas retorna o caractere pressionado sem imprimí-lo na tela. </a:t>
            </a:r>
          </a:p>
          <a:p>
            <a:pPr marL="0" indent="269868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Ambas as funções podem ser encontradas no arquivo de cabeçalho </a:t>
            </a:r>
            <a:r>
              <a:rPr lang="pt-BR" altLang="pt-BR" b="1">
                <a:effectLst/>
              </a:rPr>
              <a:t>conio.h</a:t>
            </a:r>
            <a:r>
              <a:rPr lang="pt-BR" altLang="pt-BR">
                <a:effectLst/>
              </a:rPr>
              <a:t>. Geralmente estas funções </a:t>
            </a:r>
            <a:r>
              <a:rPr lang="pt-BR" altLang="pt-BR" b="1">
                <a:effectLst/>
              </a:rPr>
              <a:t>não estão disponíveis em ambiente Unix </a:t>
            </a:r>
            <a:r>
              <a:rPr lang="pt-BR" altLang="pt-BR">
                <a:effectLst/>
              </a:rPr>
              <a:t>(compiladores cc e gcc), pois não fazem parte do padrão ANSI. (Exemplo 1)</a:t>
            </a:r>
          </a:p>
        </p:txBody>
      </p:sp>
      <p:sp>
        <p:nvSpPr>
          <p:cNvPr id="222212" name="Rectangle 4">
            <a:extLst>
              <a:ext uri="{FF2B5EF4-FFF2-40B4-BE49-F238E27FC236}">
                <a16:creationId xmlns:a16="http://schemas.microsoft.com/office/drawing/2014/main" id="{08ACB8D5-4164-45D7-A469-4049A8013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875" y="3429002"/>
            <a:ext cx="8496300" cy="2862322"/>
          </a:xfrm>
          <a:prstGeom prst="rect">
            <a:avLst/>
          </a:prstGeom>
          <a:solidFill>
            <a:srgbClr val="A4A4D0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#include &lt;stdio.h&gt;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#include &lt;conio.h&gt;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/* Este programa usa conio.h . */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int main 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char Ch;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Ch=getch();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printf ("Voce pressionou a tecla %c",Ch);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return(0);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}</a:t>
            </a:r>
          </a:p>
        </p:txBody>
      </p:sp>
      <p:sp>
        <p:nvSpPr>
          <p:cNvPr id="284677" name="Rectangle 5">
            <a:extLst>
              <a:ext uri="{FF2B5EF4-FFF2-40B4-BE49-F238E27FC236}">
                <a16:creationId xmlns:a16="http://schemas.microsoft.com/office/drawing/2014/main" id="{1B82562B-A59B-4015-A07A-3F2B2376D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4" y="6481764"/>
            <a:ext cx="955711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>
                <a:solidFill>
                  <a:schemeClr val="bg1"/>
                </a:solidFill>
              </a:rPr>
              <a:t>string 4</a:t>
            </a:r>
          </a:p>
        </p:txBody>
      </p:sp>
      <p:sp>
        <p:nvSpPr>
          <p:cNvPr id="284678" name="Rectangle 6">
            <a:extLst>
              <a:ext uri="{FF2B5EF4-FFF2-40B4-BE49-F238E27FC236}">
                <a16:creationId xmlns:a16="http://schemas.microsoft.com/office/drawing/2014/main" id="{47411FE7-B266-4432-9B84-41373D994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0740" y="6481764"/>
            <a:ext cx="955711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>
                <a:solidFill>
                  <a:schemeClr val="bg1"/>
                </a:solidFill>
              </a:rPr>
              <a:t>string 5</a:t>
            </a:r>
          </a:p>
        </p:txBody>
      </p:sp>
    </p:spTree>
    <p:extLst>
      <p:ext uri="{BB962C8B-B14F-4D97-AF65-F5344CB8AC3E}">
        <p14:creationId xmlns:p14="http://schemas.microsoft.com/office/powerpoint/2010/main" val="1483355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23E9F-D531-144E-F5C4-85272BFC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D5758C12-7D5C-F001-B153-CB0D1E13C930}"/>
              </a:ext>
            </a:extLst>
          </p:cNvPr>
          <p:cNvSpPr txBox="1">
            <a:spLocks noGrp="1"/>
          </p:cNvSpPr>
          <p:nvPr/>
        </p:nvSpPr>
        <p:spPr bwMode="auto">
          <a:xfrm>
            <a:off x="9849048" y="6238874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3451F206-9B03-4747-9E19-8CAFE8137753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63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16067" name="Rectangle 2">
            <a:extLst>
              <a:ext uri="{FF2B5EF4-FFF2-40B4-BE49-F238E27FC236}">
                <a16:creationId xmlns:a16="http://schemas.microsoft.com/office/drawing/2014/main" id="{AD1F2741-CA39-FABC-2F20-997539DD7DE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Saída</a:t>
            </a:r>
            <a:br>
              <a:rPr lang="pt-BR" altLang="pt-BR" b="0" dirty="0">
                <a:effectLst/>
              </a:rPr>
            </a:br>
            <a:r>
              <a:rPr lang="pt-BR" altLang="pt-BR" b="0" dirty="0">
                <a:effectLst/>
              </a:rPr>
              <a:t> </a:t>
            </a:r>
            <a:r>
              <a:rPr lang="pt-BR" altLang="pt-BR" dirty="0">
                <a:effectLst/>
              </a:rPr>
              <a:t>Função </a:t>
            </a:r>
            <a:r>
              <a:rPr lang="pt-BR" altLang="pt-BR" dirty="0" err="1">
                <a:effectLst/>
              </a:rPr>
              <a:t>printf</a:t>
            </a:r>
            <a:r>
              <a:rPr lang="pt-BR" altLang="pt-BR" dirty="0">
                <a:effectLst/>
              </a:rPr>
              <a:t>() </a:t>
            </a:r>
          </a:p>
        </p:txBody>
      </p:sp>
      <p:sp>
        <p:nvSpPr>
          <p:cNvPr id="216068" name="Rectangle 3">
            <a:extLst>
              <a:ext uri="{FF2B5EF4-FFF2-40B4-BE49-F238E27FC236}">
                <a16:creationId xmlns:a16="http://schemas.microsoft.com/office/drawing/2014/main" id="{C60B287A-CE53-7087-4B1C-DA553579BEA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269868" eaLnBrk="1" hangingPunct="1">
              <a:lnSpc>
                <a:spcPct val="80000"/>
              </a:lnSpc>
            </a:pPr>
            <a:endParaRPr lang="pt-BR" altLang="pt-BR" b="1" dirty="0">
              <a:effectLst/>
            </a:endParaRPr>
          </a:p>
          <a:p>
            <a:pPr marL="0" indent="269868" algn="just"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A função</a:t>
            </a:r>
            <a:r>
              <a:rPr lang="pt-BR" altLang="pt-BR" b="1" dirty="0">
                <a:effectLst/>
              </a:rPr>
              <a:t> </a:t>
            </a:r>
            <a:r>
              <a:rPr lang="pt-BR" altLang="pt-BR" b="1" dirty="0" err="1">
                <a:effectLst/>
              </a:rPr>
              <a:t>printf</a:t>
            </a:r>
            <a:r>
              <a:rPr lang="pt-BR" altLang="pt-BR" b="1" dirty="0">
                <a:effectLst/>
              </a:rPr>
              <a:t>() </a:t>
            </a:r>
            <a:r>
              <a:rPr lang="pt-BR" altLang="pt-BR" dirty="0">
                <a:effectLst/>
              </a:rPr>
              <a:t>coloca na tela do computador o que se deseja imprimir: variáveis e/ou cadeia de caracteres.</a:t>
            </a:r>
          </a:p>
        </p:txBody>
      </p:sp>
      <p:sp>
        <p:nvSpPr>
          <p:cNvPr id="216069" name="Rectangle 5">
            <a:extLst>
              <a:ext uri="{FF2B5EF4-FFF2-40B4-BE49-F238E27FC236}">
                <a16:creationId xmlns:a16="http://schemas.microsoft.com/office/drawing/2014/main" id="{CB97AB71-A548-52F6-DF5B-4D3CA9D8D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5" y="6476999"/>
            <a:ext cx="854721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 dirty="0">
                <a:solidFill>
                  <a:schemeClr val="bg1"/>
                </a:solidFill>
              </a:rPr>
              <a:t>printf1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3589CE8-60D0-F4C4-2F41-D6B924391CBE}"/>
              </a:ext>
            </a:extLst>
          </p:cNvPr>
          <p:cNvSpPr txBox="1"/>
          <p:nvPr/>
        </p:nvSpPr>
        <p:spPr>
          <a:xfrm>
            <a:off x="983432" y="2322016"/>
            <a:ext cx="6264696" cy="4524315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600" dirty="0"/>
              <a:t>#include &lt;stdio.h&gt;</a:t>
            </a:r>
          </a:p>
          <a:p>
            <a:r>
              <a:rPr lang="pt-BR" sz="1600" dirty="0" err="1"/>
              <a:t>main</a:t>
            </a:r>
            <a:r>
              <a:rPr lang="pt-BR" sz="1600" dirty="0"/>
              <a:t>(){</a:t>
            </a:r>
          </a:p>
          <a:p>
            <a:r>
              <a:rPr lang="pt-BR" sz="1600" dirty="0"/>
              <a:t> /* </a:t>
            </a:r>
            <a:r>
              <a:rPr lang="pt-BR" sz="1600" dirty="0" err="1"/>
              <a:t>Declaracao</a:t>
            </a:r>
            <a:r>
              <a:rPr lang="pt-BR" sz="1600" dirty="0"/>
              <a:t> de </a:t>
            </a:r>
            <a:r>
              <a:rPr lang="pt-BR" sz="1600" dirty="0" err="1"/>
              <a:t>Variaveis</a:t>
            </a:r>
            <a:r>
              <a:rPr lang="pt-BR" sz="1600" dirty="0"/>
              <a:t> */</a:t>
            </a:r>
          </a:p>
          <a:p>
            <a:r>
              <a:rPr lang="pt-BR" sz="1600" dirty="0"/>
              <a:t>int x;</a:t>
            </a:r>
          </a:p>
          <a:p>
            <a:r>
              <a:rPr lang="pt-BR" sz="1600" dirty="0"/>
              <a:t>float v;</a:t>
            </a:r>
          </a:p>
          <a:p>
            <a:r>
              <a:rPr lang="pt-BR" sz="1600" dirty="0"/>
              <a:t>char  letra;</a:t>
            </a:r>
          </a:p>
          <a:p>
            <a:r>
              <a:rPr lang="pt-BR" sz="1600" dirty="0"/>
              <a:t>char nome[15]={"Pedro"};</a:t>
            </a:r>
          </a:p>
          <a:p>
            <a:r>
              <a:rPr lang="pt-BR" sz="1600" dirty="0"/>
              <a:t>/* Entrada de Dados*/</a:t>
            </a:r>
          </a:p>
          <a:p>
            <a:r>
              <a:rPr lang="pt-BR" sz="1600" dirty="0"/>
              <a:t>x=10;</a:t>
            </a:r>
          </a:p>
          <a:p>
            <a:r>
              <a:rPr lang="pt-BR" sz="1600" dirty="0"/>
              <a:t>v=5.2;</a:t>
            </a:r>
          </a:p>
          <a:p>
            <a:r>
              <a:rPr lang="pt-BR" sz="1600" dirty="0"/>
              <a:t>letra='D';</a:t>
            </a:r>
          </a:p>
          <a:p>
            <a:r>
              <a:rPr lang="pt-BR" sz="1600" dirty="0"/>
              <a:t> /* Impressão de Dados*/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 ("Esse programa apresenta a </a:t>
            </a:r>
            <a:r>
              <a:rPr lang="pt-BR" sz="1600" dirty="0" err="1"/>
              <a:t>impressao</a:t>
            </a:r>
            <a:r>
              <a:rPr lang="pt-BR" sz="1600" dirty="0"/>
              <a:t> de </a:t>
            </a:r>
            <a:r>
              <a:rPr lang="pt-BR" sz="1600" dirty="0" err="1"/>
              <a:t>variaveis</a:t>
            </a:r>
            <a:r>
              <a:rPr lang="pt-BR" sz="1600" dirty="0"/>
              <a:t> \n");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 (" \n O Volume do </a:t>
            </a:r>
            <a:r>
              <a:rPr lang="pt-BR" sz="1600" dirty="0" err="1"/>
              <a:t>paralelepipedo</a:t>
            </a:r>
            <a:r>
              <a:rPr lang="pt-BR" sz="1600" dirty="0"/>
              <a:t> e %.4f ",v);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 ("\n  Foram produzidas %d pecas .",x);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 ("\n  O nome do gerente e' %s .",nome);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 ("\n  A letra escolhida foi %c .\n ",letra);</a:t>
            </a:r>
          </a:p>
          <a:p>
            <a:r>
              <a:rPr lang="pt-BR" sz="1600" dirty="0"/>
              <a:t>}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C968A4C-CFC8-7F10-C176-DC05BE60A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104" y="4898631"/>
            <a:ext cx="5166650" cy="194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7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85C4520D-671C-46E2-A175-1D5677D5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56E597-DDDC-41C1-B783-DAE190E98713}" type="slidenum">
              <a:rPr lang="pt-BR" altLang="pt-BR"/>
              <a:pPr>
                <a:defRPr/>
              </a:pPr>
              <a:t>64</a:t>
            </a:fld>
            <a:endParaRPr lang="pt-BR" altLang="pt-BR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54E1693E-BA0C-414D-96AF-A2FEE5AD4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73732" name="Text Box 3">
            <a:extLst>
              <a:ext uri="{FF2B5EF4-FFF2-40B4-BE49-F238E27FC236}">
                <a16:creationId xmlns:a16="http://schemas.microsoft.com/office/drawing/2014/main" id="{7E03ECA2-7A89-473F-ACBA-C3FF5C4D5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531" y="836617"/>
            <a:ext cx="84458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pt-BR" altLang="pt-BR" b="1" dirty="0"/>
              <a:t> Escreva o algoritmo abaixo em linguagem C que realiza a soma de dois números.</a:t>
            </a:r>
            <a:endParaRPr lang="el-GR" altLang="pt-BR" b="1" dirty="0"/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 </a:t>
            </a:r>
          </a:p>
        </p:txBody>
      </p:sp>
      <p:sp>
        <p:nvSpPr>
          <p:cNvPr id="73733" name="Rectangle 4">
            <a:extLst>
              <a:ext uri="{FF2B5EF4-FFF2-40B4-BE49-F238E27FC236}">
                <a16:creationId xmlns:a16="http://schemas.microsoft.com/office/drawing/2014/main" id="{C6CD7686-59E8-4193-8481-5E3CE5EFE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220613" name="Rectangle 5">
            <a:extLst>
              <a:ext uri="{FF2B5EF4-FFF2-40B4-BE49-F238E27FC236}">
                <a16:creationId xmlns:a16="http://schemas.microsoft.com/office/drawing/2014/main" id="{41FA3B11-D8B4-406F-B150-78DEAE551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908051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pt-BR" altLang="pt-BR" b="1" dirty="0">
              <a:effectLst/>
            </a:endParaRPr>
          </a:p>
          <a:p>
            <a:pPr lvl="1" eaLnBrk="1" hangingPunct="1">
              <a:defRPr/>
            </a:pPr>
            <a:endParaRPr lang="pt-BR" altLang="pt-BR" sz="1800" dirty="0"/>
          </a:p>
        </p:txBody>
      </p:sp>
      <p:sp>
        <p:nvSpPr>
          <p:cNvPr id="1220615" name="Rectangle 7">
            <a:extLst>
              <a:ext uri="{FF2B5EF4-FFF2-40B4-BE49-F238E27FC236}">
                <a16:creationId xmlns:a16="http://schemas.microsoft.com/office/drawing/2014/main" id="{76D000DA-B388-4FCF-AF1E-B54CCD9DD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456" y="1703567"/>
            <a:ext cx="5545559" cy="28931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 sz="1400" b="1" dirty="0"/>
              <a:t>algoritmo "soma"</a:t>
            </a:r>
          </a:p>
          <a:p>
            <a:r>
              <a:rPr lang="pt-BR" altLang="pt-BR" sz="1400" b="1" dirty="0"/>
              <a:t>var</a:t>
            </a:r>
          </a:p>
          <a:p>
            <a:r>
              <a:rPr lang="pt-BR" altLang="pt-BR" sz="1400" b="1" dirty="0"/>
              <a:t>      a, b, c: real</a:t>
            </a:r>
          </a:p>
          <a:p>
            <a:r>
              <a:rPr lang="pt-BR" altLang="pt-BR" sz="1400" b="1" dirty="0"/>
              <a:t>inicio</a:t>
            </a:r>
          </a:p>
          <a:p>
            <a:r>
              <a:rPr lang="pt-BR" altLang="pt-BR" sz="1400" b="1" dirty="0"/>
              <a:t>escreva("Entre com o primeiro numero:")</a:t>
            </a:r>
          </a:p>
          <a:p>
            <a:r>
              <a:rPr lang="pt-BR" altLang="pt-BR" sz="1400" b="1" dirty="0"/>
              <a:t>Leia (a)</a:t>
            </a:r>
          </a:p>
          <a:p>
            <a:r>
              <a:rPr lang="pt-BR" altLang="pt-BR" sz="1400" b="1" dirty="0"/>
              <a:t>Escreva("Entre com o segundo numero:")</a:t>
            </a:r>
          </a:p>
          <a:p>
            <a:r>
              <a:rPr lang="pt-BR" altLang="pt-BR" sz="1400" b="1" dirty="0"/>
              <a:t>Leia (b)</a:t>
            </a:r>
          </a:p>
          <a:p>
            <a:r>
              <a:rPr lang="pt-BR" altLang="pt-BR" sz="1400" b="1" dirty="0"/>
              <a:t>c&lt;-</a:t>
            </a:r>
            <a:r>
              <a:rPr lang="pt-BR" altLang="pt-BR" sz="1400" b="1" dirty="0" err="1"/>
              <a:t>a+b</a:t>
            </a:r>
            <a:endParaRPr lang="pt-BR" altLang="pt-BR" sz="1400" b="1" dirty="0"/>
          </a:p>
          <a:p>
            <a:r>
              <a:rPr lang="pt-BR" altLang="pt-BR" sz="1400" b="1" dirty="0" err="1"/>
              <a:t>Escreval</a:t>
            </a:r>
            <a:r>
              <a:rPr lang="pt-BR" altLang="pt-BR" sz="1400" b="1" dirty="0"/>
              <a:t>("A soma é:",c)</a:t>
            </a:r>
          </a:p>
          <a:p>
            <a:r>
              <a:rPr lang="pt-BR" altLang="pt-BR" sz="1400" b="1" dirty="0" err="1"/>
              <a:t>Fimalgoritmo</a:t>
            </a:r>
            <a:endParaRPr lang="pt-BR" altLang="pt-BR" sz="1400" b="1" dirty="0"/>
          </a:p>
          <a:p>
            <a:endParaRPr lang="pt-BR" altLang="pt-BR" sz="1400" b="1" dirty="0"/>
          </a:p>
          <a:p>
            <a:r>
              <a:rPr lang="pt-BR" altLang="pt-BR" sz="1400" b="1" dirty="0"/>
              <a:t>c = a + b;</a:t>
            </a:r>
          </a:p>
        </p:txBody>
      </p:sp>
    </p:spTree>
    <p:extLst>
      <p:ext uri="{BB962C8B-B14F-4D97-AF65-F5344CB8AC3E}">
        <p14:creationId xmlns:p14="http://schemas.microsoft.com/office/powerpoint/2010/main" val="76232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061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EF5622-A464-484B-9BB7-89716569F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908720"/>
            <a:ext cx="8229600" cy="4608512"/>
          </a:xfrm>
        </p:spPr>
        <p:txBody>
          <a:bodyPr/>
          <a:lstStyle/>
          <a:p>
            <a:pPr marL="0" indent="352417" algn="just">
              <a:defRPr/>
            </a:pPr>
            <a:r>
              <a:rPr lang="pt-BR" altLang="pt-BR" b="1" dirty="0"/>
              <a:t>Escreva o algoritmo abaixo em linguagem C </a:t>
            </a:r>
            <a:r>
              <a:rPr lang="pt-BR" b="1" dirty="0"/>
              <a:t>para que um software a ser desenvolvido </a:t>
            </a:r>
            <a:r>
              <a:rPr lang="pt-BR" b="1" dirty="0">
                <a:highlight>
                  <a:srgbClr val="FFFF00"/>
                </a:highlight>
              </a:rPr>
              <a:t>solicite</a:t>
            </a:r>
            <a:r>
              <a:rPr lang="pt-BR" b="1" dirty="0"/>
              <a:t> do usuário as seguintes informações:</a:t>
            </a:r>
            <a:r>
              <a:rPr lang="pt-BR" b="1" u="sng" dirty="0"/>
              <a:t> nome, rua, número, bairro, CEP e cidade.</a:t>
            </a:r>
          </a:p>
          <a:p>
            <a:pPr marL="0" indent="352417" algn="just">
              <a:defRPr/>
            </a:pPr>
            <a:r>
              <a:rPr lang="pt-BR" b="1" u="sng" dirty="0"/>
              <a:t>O algoritmo deverá fazer</a:t>
            </a:r>
            <a:r>
              <a:rPr lang="pt-BR" b="1" dirty="0"/>
              <a:t> a </a:t>
            </a:r>
            <a:r>
              <a:rPr lang="pt-BR" b="1" dirty="0">
                <a:highlight>
                  <a:srgbClr val="FFFF00"/>
                </a:highlight>
              </a:rPr>
              <a:t>impressão</a:t>
            </a:r>
            <a:r>
              <a:rPr lang="pt-BR" b="1" dirty="0"/>
              <a:t> de todas as informações na tela do computador</a:t>
            </a:r>
          </a:p>
          <a:p>
            <a:pPr marL="0" indent="0" algn="just">
              <a:buFont typeface="Wingdings" panose="05000000000000000000" pitchFamily="2" charset="2"/>
              <a:buAutoNum type="alphaLcParenR"/>
              <a:defRPr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476A58-FB8C-415F-8CC7-D8486900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pt-BR" dirty="0"/>
          </a:p>
          <a:p>
            <a:pPr>
              <a:defRPr/>
            </a:pPr>
            <a:fld id="{745C76F7-F327-4B84-AD11-403750F909E0}" type="slidenum">
              <a:rPr lang="pt-BR" smtClean="0"/>
              <a:pPr>
                <a:defRPr/>
              </a:pPr>
              <a:t>65</a:t>
            </a:fld>
            <a:endParaRPr lang="pt-BR" dirty="0"/>
          </a:p>
        </p:txBody>
      </p:sp>
      <p:sp>
        <p:nvSpPr>
          <p:cNvPr id="90118" name="Retângulo 5">
            <a:extLst>
              <a:ext uri="{FF2B5EF4-FFF2-40B4-BE49-F238E27FC236}">
                <a16:creationId xmlns:a16="http://schemas.microsoft.com/office/drawing/2014/main" id="{D593C47A-9F1F-4BE4-903A-F22DAA5B3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724" y="2700431"/>
            <a:ext cx="6445695" cy="375487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400" b="1" dirty="0"/>
              <a:t>Algoritmo "Nome e Endereço"</a:t>
            </a:r>
          </a:p>
          <a:p>
            <a:r>
              <a:rPr lang="pt-BR" altLang="pt-BR" sz="1400" b="1" dirty="0"/>
              <a:t>Var</a:t>
            </a:r>
          </a:p>
          <a:p>
            <a:r>
              <a:rPr lang="pt-BR" altLang="pt-BR" sz="1400" b="1" dirty="0"/>
              <a:t> N1, Rua: caractere</a:t>
            </a:r>
          </a:p>
          <a:p>
            <a:r>
              <a:rPr lang="pt-BR" altLang="pt-BR" sz="1400" b="1" dirty="0"/>
              <a:t>Inicio</a:t>
            </a:r>
          </a:p>
          <a:p>
            <a:r>
              <a:rPr lang="pt-BR" altLang="pt-BR" sz="1400" b="1" dirty="0"/>
              <a:t>      </a:t>
            </a:r>
            <a:r>
              <a:rPr lang="pt-BR" altLang="pt-BR" sz="1400" b="1" dirty="0" err="1"/>
              <a:t>Escreval</a:t>
            </a:r>
            <a:r>
              <a:rPr lang="pt-BR" altLang="pt-BR" sz="1400" b="1" dirty="0"/>
              <a:t>("#########Nome e Endereço#########")</a:t>
            </a:r>
          </a:p>
          <a:p>
            <a:r>
              <a:rPr lang="pt-BR" altLang="pt-BR" sz="1400" b="1" dirty="0"/>
              <a:t>      </a:t>
            </a:r>
            <a:r>
              <a:rPr lang="pt-BR" altLang="pt-BR" sz="1400" b="1" dirty="0" err="1"/>
              <a:t>Escreval</a:t>
            </a:r>
            <a:r>
              <a:rPr lang="pt-BR" altLang="pt-BR" sz="1400" b="1" dirty="0"/>
              <a:t>()</a:t>
            </a:r>
          </a:p>
          <a:p>
            <a:r>
              <a:rPr lang="pt-BR" altLang="pt-BR" sz="1400" b="1" dirty="0"/>
              <a:t>      //Entrada de Dados</a:t>
            </a:r>
          </a:p>
          <a:p>
            <a:r>
              <a:rPr lang="pt-BR" altLang="pt-BR" sz="1400" b="1" dirty="0"/>
              <a:t>      </a:t>
            </a:r>
            <a:r>
              <a:rPr lang="pt-BR" altLang="pt-BR" sz="1400" b="1" dirty="0" err="1"/>
              <a:t>Escreval</a:t>
            </a:r>
            <a:r>
              <a:rPr lang="pt-BR" altLang="pt-BR" sz="1400" b="1" dirty="0"/>
              <a:t>(" Entre com o seu nome:")</a:t>
            </a:r>
          </a:p>
          <a:p>
            <a:r>
              <a:rPr lang="pt-BR" altLang="pt-BR" sz="1400" b="1" dirty="0"/>
              <a:t>      Leia( N1 )</a:t>
            </a:r>
          </a:p>
          <a:p>
            <a:r>
              <a:rPr lang="pt-BR" altLang="pt-BR" sz="1400" b="1" dirty="0"/>
              <a:t>      </a:t>
            </a:r>
            <a:r>
              <a:rPr lang="pt-BR" altLang="pt-BR" sz="1400" b="1" dirty="0" err="1"/>
              <a:t>Escreval</a:t>
            </a:r>
            <a:r>
              <a:rPr lang="pt-BR" altLang="pt-BR" sz="1400" b="1" dirty="0"/>
              <a:t>(" Entre com a rua em que reside:")</a:t>
            </a:r>
          </a:p>
          <a:p>
            <a:r>
              <a:rPr lang="pt-BR" altLang="pt-BR" sz="1400" b="1" dirty="0"/>
              <a:t>      Leia( Rua )</a:t>
            </a:r>
          </a:p>
          <a:p>
            <a:r>
              <a:rPr lang="pt-BR" altLang="pt-BR" sz="1400" b="1" dirty="0"/>
              <a:t>      //saída de dados</a:t>
            </a:r>
          </a:p>
          <a:p>
            <a:r>
              <a:rPr lang="pt-BR" altLang="pt-BR" sz="1400" b="1" dirty="0"/>
              <a:t>      Escreva(" O nome do usuário é: ")</a:t>
            </a:r>
          </a:p>
          <a:p>
            <a:r>
              <a:rPr lang="pt-BR" altLang="pt-BR" sz="1400" b="1" dirty="0"/>
              <a:t>      </a:t>
            </a:r>
            <a:r>
              <a:rPr lang="pt-BR" altLang="pt-BR" sz="1400" b="1" dirty="0" err="1"/>
              <a:t>Escreval</a:t>
            </a:r>
            <a:r>
              <a:rPr lang="pt-BR" altLang="pt-BR" sz="1400" b="1" dirty="0"/>
              <a:t>( N1 )</a:t>
            </a:r>
          </a:p>
          <a:p>
            <a:r>
              <a:rPr lang="pt-BR" altLang="pt-BR" sz="1400" b="1" dirty="0"/>
              <a:t>      Escreva(" O nome da rua em que reside é: ")</a:t>
            </a:r>
          </a:p>
          <a:p>
            <a:r>
              <a:rPr lang="pt-BR" altLang="pt-BR" sz="1400" b="1" dirty="0"/>
              <a:t>      Escreva(  Rua )</a:t>
            </a:r>
          </a:p>
          <a:p>
            <a:r>
              <a:rPr lang="pt-BR" altLang="pt-BR" sz="1400" b="1" dirty="0" err="1"/>
              <a:t>Fimalgoritmo</a:t>
            </a:r>
            <a:endParaRPr lang="pt-BR" alt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26022265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9A1C17DB-9963-481C-9830-F258E5C2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48E35-1F3C-4ADF-8353-FCE29197445C}" type="slidenum">
              <a:rPr lang="pt-BR" altLang="pt-BR"/>
              <a:pPr>
                <a:defRPr/>
              </a:pPr>
              <a:t>66</a:t>
            </a:fld>
            <a:endParaRPr lang="pt-BR" altLang="pt-BR" dirty="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C92F701C-3A63-4DC6-8693-D5C3DD0D4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77829" name="Rectangle 4">
            <a:extLst>
              <a:ext uri="{FF2B5EF4-FFF2-40B4-BE49-F238E27FC236}">
                <a16:creationId xmlns:a16="http://schemas.microsoft.com/office/drawing/2014/main" id="{B2B9A33E-692A-466D-A756-B024C7C56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77830" name="Rectangle 5">
            <a:extLst>
              <a:ext uri="{FF2B5EF4-FFF2-40B4-BE49-F238E27FC236}">
                <a16:creationId xmlns:a16="http://schemas.microsoft.com/office/drawing/2014/main" id="{25A3FCB9-515E-454F-BDEA-DC9CC0748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800" b="1" dirty="0"/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pt-BR" b="1" dirty="0"/>
              <a:t>Escreva o algoritmo abaixo em linguagem C que realiza o cálculo da média final dos alunos com 4 notas.</a:t>
            </a:r>
          </a:p>
        </p:txBody>
      </p:sp>
      <p:sp>
        <p:nvSpPr>
          <p:cNvPr id="1226760" name="Rectangle 8">
            <a:extLst>
              <a:ext uri="{FF2B5EF4-FFF2-40B4-BE49-F238E27FC236}">
                <a16:creationId xmlns:a16="http://schemas.microsoft.com/office/drawing/2014/main" id="{574A5725-8028-45A1-9073-06D74D4F1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9" y="2276875"/>
            <a:ext cx="5400675" cy="310854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 sz="1400" b="1" dirty="0"/>
              <a:t>algoritmo "media"</a:t>
            </a:r>
          </a:p>
          <a:p>
            <a:endParaRPr lang="pt-BR" altLang="pt-BR" sz="1400" b="1" dirty="0"/>
          </a:p>
          <a:p>
            <a:r>
              <a:rPr lang="pt-BR" altLang="pt-BR" sz="1400" b="1" dirty="0"/>
              <a:t>var  media, nota1, nota2, nota3, nota4: real</a:t>
            </a:r>
          </a:p>
          <a:p>
            <a:endParaRPr lang="pt-BR" altLang="pt-BR" sz="1400" b="1" dirty="0"/>
          </a:p>
          <a:p>
            <a:r>
              <a:rPr lang="pt-BR" altLang="pt-BR" sz="1400" b="1" dirty="0"/>
              <a:t>inicio</a:t>
            </a:r>
          </a:p>
          <a:p>
            <a:r>
              <a:rPr lang="pt-BR" altLang="pt-BR" sz="1400" b="1" dirty="0" err="1"/>
              <a:t>Escreval</a:t>
            </a:r>
            <a:r>
              <a:rPr lang="pt-BR" altLang="pt-BR" sz="1400" b="1" dirty="0"/>
              <a:t>("Entre com as 4 notas")</a:t>
            </a:r>
          </a:p>
          <a:p>
            <a:r>
              <a:rPr lang="pt-BR" altLang="pt-BR" sz="1400" b="1" dirty="0"/>
              <a:t>Leia(Nota1)</a:t>
            </a:r>
          </a:p>
          <a:p>
            <a:r>
              <a:rPr lang="pt-BR" altLang="pt-BR" sz="1400" b="1" dirty="0"/>
              <a:t>Leia(Nota2)</a:t>
            </a:r>
          </a:p>
          <a:p>
            <a:r>
              <a:rPr lang="pt-BR" altLang="pt-BR" sz="1400" b="1" dirty="0"/>
              <a:t>Leia(Nota3)</a:t>
            </a:r>
          </a:p>
          <a:p>
            <a:r>
              <a:rPr lang="pt-BR" altLang="pt-BR" sz="1400" b="1" dirty="0"/>
              <a:t>Leia(Nota4)</a:t>
            </a:r>
          </a:p>
          <a:p>
            <a:r>
              <a:rPr lang="pt-BR" altLang="pt-BR" sz="1400" b="1" dirty="0"/>
              <a:t>Media:=(Nota1 + Nota2 + Nota3 +nota4)/4</a:t>
            </a:r>
          </a:p>
          <a:p>
            <a:r>
              <a:rPr lang="pt-BR" altLang="pt-BR" sz="1400" b="1" dirty="0"/>
              <a:t>Escreva(" A media é:",media)</a:t>
            </a:r>
          </a:p>
          <a:p>
            <a:endParaRPr lang="pt-BR" altLang="pt-BR" sz="1400" b="1" dirty="0"/>
          </a:p>
          <a:p>
            <a:r>
              <a:rPr lang="pt-BR" altLang="pt-BR" sz="1400" b="1" dirty="0" err="1"/>
              <a:t>fimalgoritmo</a:t>
            </a:r>
            <a:endParaRPr lang="pt-BR" alt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111061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6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676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Número de Slide 3">
            <a:extLst>
              <a:ext uri="{FF2B5EF4-FFF2-40B4-BE49-F238E27FC236}">
                <a16:creationId xmlns:a16="http://schemas.microsoft.com/office/drawing/2014/main" id="{AFA704D1-91B6-4D18-81B6-374D150B2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431C75-128C-41FF-B2F7-34A916547780}" type="slidenum">
              <a:rPr lang="pt-BR" altLang="pt-BR"/>
              <a:pPr>
                <a:defRPr/>
              </a:pPr>
              <a:t>67</a:t>
            </a:fld>
            <a:endParaRPr lang="pt-BR" altLang="pt-BR"/>
          </a:p>
        </p:txBody>
      </p:sp>
      <p:sp>
        <p:nvSpPr>
          <p:cNvPr id="231427" name="Rectangle 2">
            <a:extLst>
              <a:ext uri="{FF2B5EF4-FFF2-40B4-BE49-F238E27FC236}">
                <a16:creationId xmlns:a16="http://schemas.microsoft.com/office/drawing/2014/main" id="{4BA4FFC8-656D-485F-8527-FDD8ED61E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231428" name="Text Box 3">
            <a:extLst>
              <a:ext uri="{FF2B5EF4-FFF2-40B4-BE49-F238E27FC236}">
                <a16:creationId xmlns:a16="http://schemas.microsoft.com/office/drawing/2014/main" id="{1FFAAEA6-959F-4CF7-AC7F-9E359BCE1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b="1">
              <a:solidFill>
                <a:schemeClr val="bg2"/>
              </a:solidFill>
            </a:endParaRPr>
          </a:p>
        </p:txBody>
      </p:sp>
      <p:sp>
        <p:nvSpPr>
          <p:cNvPr id="231429" name="Rectangle 4">
            <a:extLst>
              <a:ext uri="{FF2B5EF4-FFF2-40B4-BE49-F238E27FC236}">
                <a16:creationId xmlns:a16="http://schemas.microsoft.com/office/drawing/2014/main" id="{5F4651AD-6401-46B0-A876-B1F16869E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231430" name="Rectangle 5">
            <a:extLst>
              <a:ext uri="{FF2B5EF4-FFF2-40B4-BE49-F238E27FC236}">
                <a16:creationId xmlns:a16="http://schemas.microsoft.com/office/drawing/2014/main" id="{8375DF5A-C999-44BD-9A7F-5E1B1CAD7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800" b="1"/>
          </a:p>
          <a:p>
            <a:pPr algn="l" eaLnBrk="1" hangingPunct="1">
              <a:buFont typeface="Wingdings" panose="05000000000000000000" pitchFamily="2" charset="2"/>
              <a:buChar char="n"/>
            </a:pPr>
            <a:endParaRPr lang="pt-BR" altLang="pt-BR" b="1"/>
          </a:p>
        </p:txBody>
      </p:sp>
      <p:sp>
        <p:nvSpPr>
          <p:cNvPr id="231431" name="Rectangle 6">
            <a:extLst>
              <a:ext uri="{FF2B5EF4-FFF2-40B4-BE49-F238E27FC236}">
                <a16:creationId xmlns:a16="http://schemas.microsoft.com/office/drawing/2014/main" id="{5E6CE07D-586F-47DF-A167-AAEB8D131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1484313"/>
            <a:ext cx="84963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93663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22325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230313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383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pt-BR" altLang="pt-BR" b="1" dirty="0"/>
              <a:t>Escreva o algoritmo abaixo em linguagem C</a:t>
            </a:r>
            <a:endParaRPr lang="el-GR" altLang="pt-BR" b="1" dirty="0"/>
          </a:p>
          <a:p>
            <a:pPr lvl="1" eaLnBrk="1" hangingPunct="1">
              <a:lnSpc>
                <a:spcPct val="80000"/>
              </a:lnSpc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 sz="1800" b="1" dirty="0"/>
          </a:p>
        </p:txBody>
      </p:sp>
      <p:sp>
        <p:nvSpPr>
          <p:cNvPr id="1234951" name="Rectangle 7">
            <a:extLst>
              <a:ext uri="{FF2B5EF4-FFF2-40B4-BE49-F238E27FC236}">
                <a16:creationId xmlns:a16="http://schemas.microsoft.com/office/drawing/2014/main" id="{ED0EA7DE-6830-4C20-B922-B96AC9253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29" y="2170117"/>
            <a:ext cx="6251575" cy="33239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Algoritmo 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Veloc</a:t>
            </a:r>
            <a:endParaRPr lang="pt-BR" altLang="pt-BR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endParaRPr lang="pt-BR" altLang="pt-BR" sz="12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Variaveis</a:t>
            </a:r>
            <a:endParaRPr lang="pt-BR" altLang="pt-BR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V, 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Vo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a, DS, S, 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: Real</a:t>
            </a:r>
          </a:p>
          <a:p>
            <a:pPr eaLnBrk="1" hangingPunct="1">
              <a:defRPr/>
            </a:pPr>
            <a:endParaRPr lang="pt-BR" altLang="pt-BR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Inicio</a:t>
            </a:r>
          </a:p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Escreva(“Entre com os valores de 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Vo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a, S e 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”) </a:t>
            </a:r>
          </a:p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Leia (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Vo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a,S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</a:t>
            </a:r>
            <a:r>
              <a:rPr lang="pt-BR" altLang="pt-B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DS=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S-So</a:t>
            </a:r>
            <a:endParaRPr lang="pt-BR" altLang="pt-BR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V=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sqrt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Vo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**2 + 2*a*DS)</a:t>
            </a:r>
          </a:p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Escreva (“A velocidade e:”,V)</a:t>
            </a:r>
          </a:p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Fim</a:t>
            </a:r>
          </a:p>
        </p:txBody>
      </p:sp>
      <p:graphicFrame>
        <p:nvGraphicFramePr>
          <p:cNvPr id="1234952" name="Object 8">
            <a:extLst>
              <a:ext uri="{FF2B5EF4-FFF2-40B4-BE49-F238E27FC236}">
                <a16:creationId xmlns:a16="http://schemas.microsoft.com/office/drawing/2014/main" id="{D249C035-06F7-40EC-A595-0EBB50BC11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2588" y="2708279"/>
          <a:ext cx="201771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032" imgH="304668" progId="Equation.3">
                  <p:embed/>
                </p:oleObj>
              </mc:Choice>
              <mc:Fallback>
                <p:oleObj name="Equation" r:id="rId3" imgW="1079032" imgH="30466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2588" y="2708279"/>
                        <a:ext cx="2017712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4953" name="Object 9">
            <a:extLst>
              <a:ext uri="{FF2B5EF4-FFF2-40B4-BE49-F238E27FC236}">
                <a16:creationId xmlns:a16="http://schemas.microsoft.com/office/drawing/2014/main" id="{2650A3B9-CB82-4ED2-8758-AC3457B3BD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8304" y="2132017"/>
          <a:ext cx="1827213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77900" imgH="241300" progId="Equation.3">
                  <p:embed/>
                </p:oleObj>
              </mc:Choice>
              <mc:Fallback>
                <p:oleObj name="Equation" r:id="rId5" imgW="977900" imgH="241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8304" y="2132017"/>
                        <a:ext cx="1827213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4954" name="Text Box 10">
            <a:extLst>
              <a:ext uri="{FF2B5EF4-FFF2-40B4-BE49-F238E27FC236}">
                <a16:creationId xmlns:a16="http://schemas.microsoft.com/office/drawing/2014/main" id="{73220365-B2CE-42F5-B58F-1A4C48EE6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6144796"/>
            <a:ext cx="1317027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pt-BR" altLang="pt-BR" sz="16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Torricelli.cpp</a:t>
            </a:r>
          </a:p>
        </p:txBody>
      </p:sp>
      <p:sp>
        <p:nvSpPr>
          <p:cNvPr id="231436" name="CaixaDeTexto 1">
            <a:extLst>
              <a:ext uri="{FF2B5EF4-FFF2-40B4-BE49-F238E27FC236}">
                <a16:creationId xmlns:a16="http://schemas.microsoft.com/office/drawing/2014/main" id="{8008126E-AFF5-4B1A-9D64-3FFBDEAC9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999" y="5934670"/>
            <a:ext cx="7831137" cy="92333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Obs</a:t>
            </a:r>
            <a:r>
              <a:rPr lang="pt-BR" altLang="pt-BR" dirty="0">
                <a:solidFill>
                  <a:schemeClr val="tx1"/>
                </a:solidFill>
              </a:rPr>
              <a:t>: a instrução que calcula uma raiz quadrada na linguagem C é: </a:t>
            </a:r>
            <a:r>
              <a:rPr lang="pt-BR" altLang="pt-BR" dirty="0" err="1">
                <a:solidFill>
                  <a:schemeClr val="tx1"/>
                </a:solidFill>
              </a:rPr>
              <a:t>sqrt</a:t>
            </a:r>
            <a:r>
              <a:rPr lang="pt-BR" altLang="pt-BR" dirty="0">
                <a:solidFill>
                  <a:schemeClr val="tx1"/>
                </a:solidFill>
              </a:rPr>
              <a:t>( ).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No escopo (início do código’) é necessário escrever a instrução #include &lt;</a:t>
            </a:r>
            <a:r>
              <a:rPr lang="pt-BR" altLang="pt-BR" dirty="0" err="1">
                <a:solidFill>
                  <a:schemeClr val="tx1"/>
                </a:solidFill>
              </a:rPr>
              <a:t>math.h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34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34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34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495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1AEFD6AE-6BF2-4259-927C-924B63E3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0B544D-434B-4232-A329-53C39B709490}" type="slidenum">
              <a:rPr lang="pt-BR" altLang="pt-BR"/>
              <a:pPr>
                <a:defRPr/>
              </a:pPr>
              <a:t>68</a:t>
            </a:fld>
            <a:endParaRPr lang="pt-BR" altLang="pt-BR"/>
          </a:p>
        </p:txBody>
      </p:sp>
      <p:sp>
        <p:nvSpPr>
          <p:cNvPr id="233475" name="Rectangle 2">
            <a:extLst>
              <a:ext uri="{FF2B5EF4-FFF2-40B4-BE49-F238E27FC236}">
                <a16:creationId xmlns:a16="http://schemas.microsoft.com/office/drawing/2014/main" id="{5EEA15F9-9E85-438C-8ED4-0004365C2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233476" name="Text Box 3">
            <a:extLst>
              <a:ext uri="{FF2B5EF4-FFF2-40B4-BE49-F238E27FC236}">
                <a16:creationId xmlns:a16="http://schemas.microsoft.com/office/drawing/2014/main" id="{2A4B127A-8C46-45FC-AD52-A74FF7C47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b="1">
              <a:solidFill>
                <a:schemeClr val="bg2"/>
              </a:solidFill>
            </a:endParaRPr>
          </a:p>
        </p:txBody>
      </p:sp>
      <p:sp>
        <p:nvSpPr>
          <p:cNvPr id="233477" name="Rectangle 4">
            <a:extLst>
              <a:ext uri="{FF2B5EF4-FFF2-40B4-BE49-F238E27FC236}">
                <a16:creationId xmlns:a16="http://schemas.microsoft.com/office/drawing/2014/main" id="{7F33BAE6-EE50-48F8-B400-F8E2AFDC1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233478" name="Rectangle 5">
            <a:extLst>
              <a:ext uri="{FF2B5EF4-FFF2-40B4-BE49-F238E27FC236}">
                <a16:creationId xmlns:a16="http://schemas.microsoft.com/office/drawing/2014/main" id="{EA88D50E-D912-4128-8537-2774F1104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800" b="1"/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pt-BR" b="1"/>
              <a:t>Escreva em linguagem C o algoritmo abaixo escrito em pseudocódigo</a:t>
            </a:r>
          </a:p>
        </p:txBody>
      </p:sp>
      <p:sp>
        <p:nvSpPr>
          <p:cNvPr id="233479" name="Rectangle 7">
            <a:extLst>
              <a:ext uri="{FF2B5EF4-FFF2-40B4-BE49-F238E27FC236}">
                <a16:creationId xmlns:a16="http://schemas.microsoft.com/office/drawing/2014/main" id="{5E536B1C-5099-47DE-A6E0-61A3F8FED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7" y="4756428"/>
            <a:ext cx="184731" cy="36933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>
              <a:solidFill>
                <a:schemeClr val="tx1"/>
              </a:solidFill>
            </a:endParaRPr>
          </a:p>
        </p:txBody>
      </p:sp>
      <p:sp>
        <p:nvSpPr>
          <p:cNvPr id="1237000" name="Rectangle 8">
            <a:extLst>
              <a:ext uri="{FF2B5EF4-FFF2-40B4-BE49-F238E27FC236}">
                <a16:creationId xmlns:a16="http://schemas.microsoft.com/office/drawing/2014/main" id="{5C78B6A9-4D8F-471B-8482-6A14043D8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92" y="2930525"/>
            <a:ext cx="6842125" cy="351570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Algoritmo "Estoque medio"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Var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Est_Med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Qde_Min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Qde_Max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: Real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Inicio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Escreval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("entre com o valor da quantidade 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mímnima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e máxima")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Leia (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Qde_Min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Qde_Max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Est_Med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:= (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Qde_Min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+ 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Qde_Max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)/2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Escreva ("O estoque médio é:",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Est_Med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Fimalgoritmo</a:t>
            </a:r>
            <a:endParaRPr lang="pt-BR" altLang="pt-BR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37001" name="Text Box 9">
            <a:extLst>
              <a:ext uri="{FF2B5EF4-FFF2-40B4-BE49-F238E27FC236}">
                <a16:creationId xmlns:a16="http://schemas.microsoft.com/office/drawing/2014/main" id="{BEE5BBAC-45CA-41B4-8780-C62EFB79D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2" y="6521451"/>
            <a:ext cx="1734577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pt-BR" altLang="pt-BR" sz="16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Estoq_medio.cpp</a:t>
            </a:r>
          </a:p>
        </p:txBody>
      </p:sp>
      <p:grpSp>
        <p:nvGrpSpPr>
          <p:cNvPr id="233482" name="Grupo 2">
            <a:extLst>
              <a:ext uri="{FF2B5EF4-FFF2-40B4-BE49-F238E27FC236}">
                <a16:creationId xmlns:a16="http://schemas.microsoft.com/office/drawing/2014/main" id="{31361333-39D5-4AB0-9EE6-6C6947F95B5A}"/>
              </a:ext>
            </a:extLst>
          </p:cNvPr>
          <p:cNvGrpSpPr>
            <a:grpSpLocks/>
          </p:cNvGrpSpPr>
          <p:nvPr/>
        </p:nvGrpSpPr>
        <p:grpSpPr bwMode="auto">
          <a:xfrm>
            <a:off x="2027243" y="1909767"/>
            <a:ext cx="7921625" cy="865187"/>
            <a:chOff x="503237" y="1910555"/>
            <a:chExt cx="7921625" cy="865188"/>
          </a:xfrm>
        </p:grpSpPr>
        <p:pic>
          <p:nvPicPr>
            <p:cNvPr id="233483" name="Picture 6">
              <a:extLst>
                <a:ext uri="{FF2B5EF4-FFF2-40B4-BE49-F238E27FC236}">
                  <a16:creationId xmlns:a16="http://schemas.microsoft.com/office/drawing/2014/main" id="{7148673F-E0C7-4802-BC95-975064636F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46" t="37286" r="13818" b="52344"/>
            <a:stretch>
              <a:fillRect/>
            </a:stretch>
          </p:blipFill>
          <p:spPr bwMode="auto">
            <a:xfrm>
              <a:off x="503237" y="1910555"/>
              <a:ext cx="7921625" cy="865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CE2E373A-6503-4075-B186-7F60752FFFFE}"/>
                </a:ext>
              </a:extLst>
            </p:cNvPr>
            <p:cNvSpPr/>
            <p:nvPr/>
          </p:nvSpPr>
          <p:spPr bwMode="auto">
            <a:xfrm>
              <a:off x="539749" y="2140742"/>
              <a:ext cx="2736851" cy="36933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endPara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7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700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BC8DD7ED-7B30-447C-911D-5B24BB57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B97307-C413-4AC7-AC8A-3A26B0A0A95E}" type="slidenum">
              <a:rPr lang="pt-BR" altLang="pt-BR"/>
              <a:pPr>
                <a:defRPr/>
              </a:pPr>
              <a:t>69</a:t>
            </a:fld>
            <a:endParaRPr lang="pt-BR" altLang="pt-BR"/>
          </a:p>
        </p:txBody>
      </p:sp>
      <p:sp>
        <p:nvSpPr>
          <p:cNvPr id="235523" name="Rectangle 2">
            <a:extLst>
              <a:ext uri="{FF2B5EF4-FFF2-40B4-BE49-F238E27FC236}">
                <a16:creationId xmlns:a16="http://schemas.microsoft.com/office/drawing/2014/main" id="{9AA37058-CD8C-4E46-871E-1D6496EF6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235524" name="Text Box 3">
            <a:extLst>
              <a:ext uri="{FF2B5EF4-FFF2-40B4-BE49-F238E27FC236}">
                <a16:creationId xmlns:a16="http://schemas.microsoft.com/office/drawing/2014/main" id="{C0EE6757-C777-4509-B386-7054C77E6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b="1">
              <a:solidFill>
                <a:schemeClr val="bg2"/>
              </a:solidFill>
            </a:endParaRPr>
          </a:p>
        </p:txBody>
      </p:sp>
      <p:sp>
        <p:nvSpPr>
          <p:cNvPr id="235525" name="Rectangle 4">
            <a:extLst>
              <a:ext uri="{FF2B5EF4-FFF2-40B4-BE49-F238E27FC236}">
                <a16:creationId xmlns:a16="http://schemas.microsoft.com/office/drawing/2014/main" id="{B0483C32-6967-4E40-9AEC-781FA0D54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235526" name="Rectangle 5">
            <a:extLst>
              <a:ext uri="{FF2B5EF4-FFF2-40B4-BE49-F238E27FC236}">
                <a16:creationId xmlns:a16="http://schemas.microsoft.com/office/drawing/2014/main" id="{711FE9E0-F1AE-4D02-9E26-0237AFCC7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1196975"/>
            <a:ext cx="11089232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800" b="1" dirty="0"/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pt-BR" b="1" dirty="0"/>
              <a:t>Escreva em linguagem C o algoritmo abaixo escrito em pseudocódigo</a:t>
            </a:r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pt-BR" dirty="0"/>
              <a:t>O </a:t>
            </a:r>
            <a:r>
              <a:rPr lang="pt-BR" altLang="pt-BR" dirty="0" err="1"/>
              <a:t>algortimo</a:t>
            </a:r>
            <a:r>
              <a:rPr lang="pt-BR" altLang="pt-BR" dirty="0"/>
              <a:t> faz a leitura de dois pontos quaisquer no plano, p1(x1,y1) e p2(x2,y2) e calcule a distância entre eles.</a:t>
            </a:r>
          </a:p>
          <a:p>
            <a:pPr algn="l" eaLnBrk="1" hangingPunct="1">
              <a:buFont typeface="Wingdings" panose="05000000000000000000" pitchFamily="2" charset="2"/>
              <a:buChar char="n"/>
            </a:pPr>
            <a:endParaRPr lang="pt-BR" altLang="pt-BR" dirty="0"/>
          </a:p>
          <a:p>
            <a:pPr eaLnBrk="1" hangingPunct="1"/>
            <a:endParaRPr lang="pt-BR" altLang="pt-BR" dirty="0"/>
          </a:p>
          <a:p>
            <a:pPr algn="l" eaLnBrk="1" hangingPunct="1">
              <a:buFont typeface="Wingdings" panose="05000000000000000000" pitchFamily="2" charset="2"/>
              <a:buChar char="n"/>
            </a:pPr>
            <a:endParaRPr lang="pt-BR" altLang="pt-BR" b="1" dirty="0"/>
          </a:p>
        </p:txBody>
      </p:sp>
      <p:sp>
        <p:nvSpPr>
          <p:cNvPr id="235527" name="Rectangle 6">
            <a:extLst>
              <a:ext uri="{FF2B5EF4-FFF2-40B4-BE49-F238E27FC236}">
                <a16:creationId xmlns:a16="http://schemas.microsoft.com/office/drawing/2014/main" id="{AC4EA118-9222-4775-B9A1-E2D113085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7" y="4756428"/>
            <a:ext cx="184731" cy="36933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>
              <a:solidFill>
                <a:schemeClr val="tx1"/>
              </a:solidFill>
            </a:endParaRPr>
          </a:p>
        </p:txBody>
      </p:sp>
      <p:sp>
        <p:nvSpPr>
          <p:cNvPr id="1239047" name="Rectangle 7">
            <a:extLst>
              <a:ext uri="{FF2B5EF4-FFF2-40B4-BE49-F238E27FC236}">
                <a16:creationId xmlns:a16="http://schemas.microsoft.com/office/drawing/2014/main" id="{EA91745C-8D06-44DA-BCF4-98118F92A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5" y="2689227"/>
            <a:ext cx="5834063" cy="30469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Algoritmo </a:t>
            </a:r>
            <a:r>
              <a:rPr lang="pt-BR" altLang="pt-BR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distancia_dois_pontos</a:t>
            </a:r>
            <a:endParaRPr lang="pt-BR" altLang="pt-BR" sz="16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Variáveis</a:t>
            </a: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x2,x1,y2,y1,d : Real</a:t>
            </a:r>
          </a:p>
          <a:p>
            <a:pPr eaLnBrk="1" hangingPunct="1">
              <a:defRPr/>
            </a:pPr>
            <a:endParaRPr lang="pt-BR" altLang="pt-BR" sz="16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Inicio</a:t>
            </a: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Escreva(“Entre com os pontos x1,y1 e x2,y2”)</a:t>
            </a: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Leia (x1, y1)</a:t>
            </a: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Leia (x2, y2)</a:t>
            </a: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d = </a:t>
            </a:r>
            <a:r>
              <a:rPr lang="pt-BR" altLang="pt-BR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sqrt</a:t>
            </a: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((x2-x1)**2+(y2-y1)**2) </a:t>
            </a: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Escreva (“A distancia entre os dois pontos e:”,d)</a:t>
            </a:r>
          </a:p>
          <a:p>
            <a:pPr eaLnBrk="1" hangingPunct="1">
              <a:defRPr/>
            </a:pPr>
            <a:endParaRPr lang="pt-BR" altLang="pt-BR" sz="16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Fim</a:t>
            </a:r>
          </a:p>
        </p:txBody>
      </p:sp>
      <p:graphicFrame>
        <p:nvGraphicFramePr>
          <p:cNvPr id="235529" name="Object 8">
            <a:extLst>
              <a:ext uri="{FF2B5EF4-FFF2-40B4-BE49-F238E27FC236}">
                <a16:creationId xmlns:a16="http://schemas.microsoft.com/office/drawing/2014/main" id="{6DDB25AA-73CA-485F-B891-EE77E209C8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6726" y="2349504"/>
          <a:ext cx="31369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63700" imgH="292100" progId="Equation.3">
                  <p:embed/>
                </p:oleObj>
              </mc:Choice>
              <mc:Fallback>
                <p:oleObj name="Equation" r:id="rId3" imgW="1663700" imgH="292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6" y="2349504"/>
                        <a:ext cx="313690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049" name="Text Box 9">
            <a:extLst>
              <a:ext uri="{FF2B5EF4-FFF2-40B4-BE49-F238E27FC236}">
                <a16:creationId xmlns:a16="http://schemas.microsoft.com/office/drawing/2014/main" id="{EFF19A90-8F0D-45D1-98C0-3345BE2E4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65" y="6520354"/>
            <a:ext cx="2055371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pt-BR" altLang="pt-BR" sz="1600" dirty="0">
                <a:solidFill>
                  <a:srgbClr val="000000"/>
                </a:solidFill>
              </a:rPr>
              <a:t>Distancia2pontos.alg</a:t>
            </a:r>
          </a:p>
        </p:txBody>
      </p:sp>
      <p:sp>
        <p:nvSpPr>
          <p:cNvPr id="235531" name="CaixaDeTexto 10">
            <a:extLst>
              <a:ext uri="{FF2B5EF4-FFF2-40B4-BE49-F238E27FC236}">
                <a16:creationId xmlns:a16="http://schemas.microsoft.com/office/drawing/2014/main" id="{191EA42E-482F-450A-BAA0-21595351B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832" y="5657852"/>
            <a:ext cx="6696744" cy="120032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Obs</a:t>
            </a:r>
            <a:r>
              <a:rPr lang="pt-BR" altLang="pt-BR" dirty="0">
                <a:solidFill>
                  <a:schemeClr val="tx1"/>
                </a:solidFill>
              </a:rPr>
              <a:t>: a instrução que calcula o quadrado de um número na linguagem C é: </a:t>
            </a:r>
            <a:r>
              <a:rPr lang="pt-BR" altLang="pt-BR" dirty="0" err="1">
                <a:solidFill>
                  <a:schemeClr val="tx1"/>
                </a:solidFill>
              </a:rPr>
              <a:t>pow</a:t>
            </a:r>
            <a:r>
              <a:rPr lang="pt-BR" altLang="pt-BR" dirty="0">
                <a:solidFill>
                  <a:schemeClr val="tx1"/>
                </a:solidFill>
              </a:rPr>
              <a:t>(x,2).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No escopo (início do código’) é necessário escrever a instrução #include &lt;</a:t>
            </a:r>
            <a:r>
              <a:rPr lang="pt-BR" altLang="pt-BR" dirty="0" err="1">
                <a:solidFill>
                  <a:schemeClr val="tx1"/>
                </a:solidFill>
              </a:rPr>
              <a:t>math.h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4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6A589-3CB9-6401-07AF-50E52DEC74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Complemento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CF5CBD-1DBB-7553-26F3-800C3DE11A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Exercícios do livro iniciam na página 16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9D59E4-699A-1346-21E4-08CAD0170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70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77008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E26FA03-0A34-5AE2-E165-D34341F8C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71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5D183A7-739F-BDDC-A886-41849E402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127651"/>
            <a:ext cx="8206669" cy="535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822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035BE-A640-95E1-FF8E-E86F2C4B4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5D60C-949D-E21B-92FC-1F0F986C66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Complemento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A3CA5-A05E-7FA5-BF52-3FDB7E7534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Exercícios do livro iniciam na página 46</a:t>
            </a:r>
          </a:p>
          <a:p>
            <a:r>
              <a:rPr lang="pt-BR" dirty="0"/>
              <a:t>Tipos de dados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71E8E2-9BE4-4741-9DF8-163FF34D2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72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0566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E98D0F3-D5EE-AF83-AC85-AAFBBD45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73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62D664B-BA57-AB05-59A4-2C9DC7A08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836712"/>
            <a:ext cx="6642176" cy="450297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021A327-B1F8-2920-8114-7787901DE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908720"/>
            <a:ext cx="5535382" cy="388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5794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Número de Slide 3">
            <a:extLst>
              <a:ext uri="{FF2B5EF4-FFF2-40B4-BE49-F238E27FC236}">
                <a16:creationId xmlns:a16="http://schemas.microsoft.com/office/drawing/2014/main" id="{BA676D10-49DE-48AB-A30D-1528E6478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CD38A5-BCD4-43D2-82DB-5241DED0F6B5}" type="slidenum">
              <a:rPr lang="pt-BR" altLang="pt-BR"/>
              <a:pPr>
                <a:defRPr/>
              </a:pPr>
              <a:t>74</a:t>
            </a:fld>
            <a:endParaRPr lang="pt-BR" altLang="pt-BR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665746B5-A6C9-4516-BC56-C35EE9C23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098E6E13-EB9F-4863-933C-7C8B93B32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253380" name="Rectangle 4">
            <a:extLst>
              <a:ext uri="{FF2B5EF4-FFF2-40B4-BE49-F238E27FC236}">
                <a16:creationId xmlns:a16="http://schemas.microsoft.com/office/drawing/2014/main" id="{3E8690AC-A573-4B11-93A5-FC6BA719E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1196975"/>
            <a:ext cx="11449272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pt-BR" altLang="pt-BR" b="1" dirty="0"/>
          </a:p>
          <a:p>
            <a:pPr algn="l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/>
              <a:t>É representada pela conexão de dois ou mais símbolos de processamento, ligados por um símbolo indicativo do sentido do fluxo de execução. </a:t>
            </a:r>
          </a:p>
          <a:p>
            <a:pPr algn="l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/>
              <a:t>Os comandos são executados numa </a:t>
            </a:r>
            <a:r>
              <a:rPr lang="pt-BR" altLang="pt-BR" dirty="0" err="1"/>
              <a:t>seqüência</a:t>
            </a:r>
            <a:r>
              <a:rPr lang="pt-BR" altLang="pt-BR" dirty="0"/>
              <a:t> pré-estabelecida.</a:t>
            </a:r>
          </a:p>
          <a:p>
            <a:pPr algn="l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/>
              <a:t>Cada comando somente é executado após o término do comando anterior.</a:t>
            </a:r>
          </a:p>
          <a:p>
            <a:pPr algn="l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pt-BR" dirty="0"/>
              <a:t>Todo algoritmo é uma </a:t>
            </a:r>
            <a:r>
              <a:rPr lang="pt-BR" altLang="pt-BR" dirty="0" err="1"/>
              <a:t>seqüência</a:t>
            </a:r>
            <a:r>
              <a:rPr lang="pt-BR" altLang="pt-BR" dirty="0"/>
              <a:t>. A </a:t>
            </a:r>
            <a:r>
              <a:rPr lang="pt-BR" altLang="pt-BR" dirty="0" err="1"/>
              <a:t>seqüenciação</a:t>
            </a:r>
            <a:r>
              <a:rPr lang="pt-BR" altLang="pt-BR" dirty="0"/>
              <a:t> é aplicada quando a solução do problema pode ser decomposta em passos individuais.</a:t>
            </a:r>
            <a:endParaRPr lang="pt-BR" altLang="pt-BR" dirty="0">
              <a:effectLst/>
            </a:endParaRPr>
          </a:p>
          <a:p>
            <a:pPr algn="l" eaLnBrk="1" hangingPunct="1">
              <a:buFont typeface="Wingdings" panose="05000000000000000000" pitchFamily="2" charset="2"/>
              <a:buChar char="n"/>
              <a:defRPr/>
            </a:pPr>
            <a:endParaRPr lang="pt-BR" altLang="pt-BR" dirty="0">
              <a:effectLst/>
            </a:endParaRPr>
          </a:p>
        </p:txBody>
      </p:sp>
      <p:sp>
        <p:nvSpPr>
          <p:cNvPr id="111622" name="Text Box 5">
            <a:extLst>
              <a:ext uri="{FF2B5EF4-FFF2-40B4-BE49-F238E27FC236}">
                <a16:creationId xmlns:a16="http://schemas.microsoft.com/office/drawing/2014/main" id="{68C8529C-3C4C-4A7A-8B5A-6DB114145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/>
              <a:t>Estrutura Sequencial</a:t>
            </a:r>
          </a:p>
        </p:txBody>
      </p:sp>
      <p:grpSp>
        <p:nvGrpSpPr>
          <p:cNvPr id="111623" name="Group 6">
            <a:extLst>
              <a:ext uri="{FF2B5EF4-FFF2-40B4-BE49-F238E27FC236}">
                <a16:creationId xmlns:a16="http://schemas.microsoft.com/office/drawing/2014/main" id="{7285F527-964B-45F3-9BCF-92189CEE1CB8}"/>
              </a:ext>
            </a:extLst>
          </p:cNvPr>
          <p:cNvGrpSpPr>
            <a:grpSpLocks/>
          </p:cNvGrpSpPr>
          <p:nvPr/>
        </p:nvGrpSpPr>
        <p:grpSpPr bwMode="auto">
          <a:xfrm>
            <a:off x="5303840" y="4005265"/>
            <a:ext cx="1871663" cy="2519363"/>
            <a:chOff x="2675" y="2115"/>
            <a:chExt cx="749" cy="748"/>
          </a:xfrm>
        </p:grpSpPr>
        <p:sp>
          <p:nvSpPr>
            <p:cNvPr id="111625" name="Line 7">
              <a:extLst>
                <a:ext uri="{FF2B5EF4-FFF2-40B4-BE49-F238E27FC236}">
                  <a16:creationId xmlns:a16="http://schemas.microsoft.com/office/drawing/2014/main" id="{6CCE0425-D9E6-4094-B83D-84D826B87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1" y="2748"/>
              <a:ext cx="1" cy="1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1626" name="Line 8">
              <a:extLst>
                <a:ext uri="{FF2B5EF4-FFF2-40B4-BE49-F238E27FC236}">
                  <a16:creationId xmlns:a16="http://schemas.microsoft.com/office/drawing/2014/main" id="{53E3F691-407D-4C03-9E00-B551B7C176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1" y="2461"/>
              <a:ext cx="1" cy="1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1627" name="AutoShape 9">
              <a:extLst>
                <a:ext uri="{FF2B5EF4-FFF2-40B4-BE49-F238E27FC236}">
                  <a16:creationId xmlns:a16="http://schemas.microsoft.com/office/drawing/2014/main" id="{9BC386AD-67CF-422A-B56B-63B15A15A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5" y="2576"/>
              <a:ext cx="749" cy="173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spcBef>
                  <a:spcPct val="20000"/>
                </a:spcBef>
                <a:spcAft>
                  <a:spcPct val="5000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ct val="50000"/>
                </a:spcAft>
                <a:buSzPct val="100000"/>
                <a:buFont typeface="Wingdings" panose="05000000000000000000" pitchFamily="2" charset="2"/>
                <a:buChar char="q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Font typeface="Wingdings" panose="05000000000000000000" pitchFamily="2" charset="2"/>
                <a:buChar char="Ø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pt-BR" altLang="pt-BR" sz="1200"/>
                <a:t> </a:t>
              </a:r>
              <a:r>
                <a:rPr lang="pt-BR" altLang="pt-BR" b="1"/>
                <a:t>Comando  2</a:t>
              </a:r>
            </a:p>
          </p:txBody>
        </p:sp>
        <p:sp>
          <p:nvSpPr>
            <p:cNvPr id="1253386" name="AutoShape 10">
              <a:extLst>
                <a:ext uri="{FF2B5EF4-FFF2-40B4-BE49-F238E27FC236}">
                  <a16:creationId xmlns:a16="http://schemas.microsoft.com/office/drawing/2014/main" id="{3A07C8F8-CC1B-4D7E-A51E-215D55304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5" y="2288"/>
              <a:ext cx="749" cy="173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defRPr/>
              </a:pPr>
              <a:r>
                <a:rPr lang="pt-BR" altLang="pt-BR" b="1">
                  <a:solidFill>
                    <a:srgbClr val="000000"/>
                  </a:solidFill>
                </a:rPr>
                <a:t>Comando 1</a:t>
              </a:r>
              <a:endParaRPr lang="pt-BR" altLang="pt-BR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11629" name="Line 11">
              <a:extLst>
                <a:ext uri="{FF2B5EF4-FFF2-40B4-BE49-F238E27FC236}">
                  <a16:creationId xmlns:a16="http://schemas.microsoft.com/office/drawing/2014/main" id="{7B86BA89-567F-41FA-90D4-D88A7883D6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1" y="2115"/>
              <a:ext cx="1" cy="1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95210679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91D566F8-7E19-42F5-84D4-5E94589DE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BCE731E1-C4CE-41C4-A5DD-4831C334021C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75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88771" name="Rectangle 2">
            <a:extLst>
              <a:ext uri="{FF2B5EF4-FFF2-40B4-BE49-F238E27FC236}">
                <a16:creationId xmlns:a16="http://schemas.microsoft.com/office/drawing/2014/main" id="{88F8F890-1C66-4E01-9E81-E1FCAEAA9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Linguagem de Programação C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Estrutura de Controle - </a:t>
            </a:r>
            <a:r>
              <a:rPr lang="pt-BR" altLang="pt-BR" dirty="0" err="1">
                <a:effectLst/>
              </a:rPr>
              <a:t>Seqüenciação</a:t>
            </a:r>
            <a:endParaRPr lang="pt-BR" altLang="pt-BR" dirty="0">
              <a:effectLst/>
            </a:endParaRPr>
          </a:p>
        </p:txBody>
      </p:sp>
      <p:sp>
        <p:nvSpPr>
          <p:cNvPr id="1282053" name="Rectangle 5">
            <a:extLst>
              <a:ext uri="{FF2B5EF4-FFF2-40B4-BE49-F238E27FC236}">
                <a16:creationId xmlns:a16="http://schemas.microsoft.com/office/drawing/2014/main" id="{66F0DB04-3E9D-422F-8734-AAFA9A08DB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>
                <a:effectLst/>
              </a:rPr>
              <a:t>#include &lt;</a:t>
            </a:r>
            <a:r>
              <a:rPr lang="pt-BR" altLang="pt-BR" dirty="0" err="1">
                <a:effectLst/>
              </a:rPr>
              <a:t>stdio.h</a:t>
            </a:r>
            <a:r>
              <a:rPr lang="pt-BR" altLang="pt-BR" dirty="0">
                <a:effectLst/>
              </a:rPr>
              <a:t>&gt;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 err="1">
                <a:effectLst/>
              </a:rPr>
              <a:t>int</a:t>
            </a:r>
            <a:r>
              <a:rPr lang="pt-BR" altLang="pt-BR" dirty="0">
                <a:effectLst/>
              </a:rPr>
              <a:t> </a:t>
            </a:r>
            <a:r>
              <a:rPr lang="pt-BR" altLang="pt-BR" dirty="0" err="1">
                <a:effectLst/>
              </a:rPr>
              <a:t>main</a:t>
            </a:r>
            <a:r>
              <a:rPr lang="pt-BR" altLang="pt-BR" dirty="0">
                <a:effectLst/>
              </a:rPr>
              <a:t> ()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>
                <a:effectLst/>
              </a:rPr>
              <a:t>{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 err="1">
                <a:effectLst/>
              </a:rPr>
              <a:t>int</a:t>
            </a:r>
            <a:r>
              <a:rPr lang="pt-BR" altLang="pt-BR" dirty="0">
                <a:effectLst/>
              </a:rPr>
              <a:t> Dias; /* </a:t>
            </a:r>
            <a:r>
              <a:rPr lang="pt-BR" altLang="pt-BR" dirty="0" err="1">
                <a:effectLst/>
              </a:rPr>
              <a:t>Declaracao</a:t>
            </a:r>
            <a:r>
              <a:rPr lang="pt-BR" altLang="pt-BR" dirty="0">
                <a:effectLst/>
              </a:rPr>
              <a:t> de </a:t>
            </a:r>
            <a:r>
              <a:rPr lang="pt-BR" altLang="pt-BR" dirty="0" err="1">
                <a:effectLst/>
              </a:rPr>
              <a:t>Variaveis</a:t>
            </a:r>
            <a:r>
              <a:rPr lang="pt-BR" altLang="pt-BR" dirty="0">
                <a:effectLst/>
              </a:rPr>
              <a:t> */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 err="1">
                <a:effectLst/>
              </a:rPr>
              <a:t>float</a:t>
            </a:r>
            <a:r>
              <a:rPr lang="pt-BR" altLang="pt-BR" dirty="0">
                <a:effectLst/>
              </a:rPr>
              <a:t> Anos;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 err="1">
                <a:effectLst/>
              </a:rPr>
              <a:t>printf</a:t>
            </a:r>
            <a:r>
              <a:rPr lang="pt-BR" altLang="pt-BR" dirty="0">
                <a:effectLst/>
              </a:rPr>
              <a:t> ("Entre com o número de dias: "); /* Entrada de Dados*/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 err="1">
                <a:effectLst/>
              </a:rPr>
              <a:t>scanf</a:t>
            </a:r>
            <a:r>
              <a:rPr lang="pt-BR" altLang="pt-BR" dirty="0">
                <a:effectLst/>
              </a:rPr>
              <a:t> ("%</a:t>
            </a:r>
            <a:r>
              <a:rPr lang="pt-BR" altLang="pt-BR" dirty="0" err="1">
                <a:effectLst/>
              </a:rPr>
              <a:t>d",&amp;Dias</a:t>
            </a:r>
            <a:r>
              <a:rPr lang="pt-BR" altLang="pt-BR" dirty="0">
                <a:effectLst/>
              </a:rPr>
              <a:t>);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>
                <a:effectLst/>
              </a:rPr>
              <a:t>Anos=Dias/365.25; /* </a:t>
            </a:r>
            <a:r>
              <a:rPr lang="pt-BR" altLang="pt-BR" dirty="0" err="1">
                <a:effectLst/>
              </a:rPr>
              <a:t>Conversao</a:t>
            </a:r>
            <a:r>
              <a:rPr lang="pt-BR" altLang="pt-BR" dirty="0">
                <a:effectLst/>
              </a:rPr>
              <a:t> Dias-&gt;Anos */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 err="1">
                <a:effectLst/>
              </a:rPr>
              <a:t>printf</a:t>
            </a:r>
            <a:r>
              <a:rPr lang="pt-BR" altLang="pt-BR" dirty="0">
                <a:effectLst/>
              </a:rPr>
              <a:t> ("\n\</a:t>
            </a:r>
            <a:r>
              <a:rPr lang="pt-BR" altLang="pt-BR" dirty="0" err="1">
                <a:effectLst/>
              </a:rPr>
              <a:t>n%d</a:t>
            </a:r>
            <a:r>
              <a:rPr lang="pt-BR" altLang="pt-BR" dirty="0">
                <a:effectLst/>
              </a:rPr>
              <a:t> dias equivalem a %f anos.\n",</a:t>
            </a:r>
            <a:r>
              <a:rPr lang="pt-BR" altLang="pt-BR" dirty="0" err="1">
                <a:effectLst/>
              </a:rPr>
              <a:t>Dias,Anos</a:t>
            </a:r>
            <a:r>
              <a:rPr lang="pt-BR" altLang="pt-BR" dirty="0">
                <a:effectLst/>
              </a:rPr>
              <a:t>);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 err="1">
                <a:effectLst/>
              </a:rPr>
              <a:t>return</a:t>
            </a:r>
            <a:r>
              <a:rPr lang="pt-BR" altLang="pt-BR" dirty="0">
                <a:effectLst/>
              </a:rPr>
              <a:t>(0);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sz="1200" dirty="0">
                <a:effectLst/>
              </a:rPr>
              <a:t>}</a:t>
            </a:r>
          </a:p>
          <a:p>
            <a:pPr eaLnBrk="1" hangingPunct="1">
              <a:defRPr/>
            </a:pPr>
            <a:endParaRPr lang="pt-BR" altLang="pt-BR" sz="1200" dirty="0"/>
          </a:p>
        </p:txBody>
      </p:sp>
      <p:sp>
        <p:nvSpPr>
          <p:cNvPr id="1282054" name="Text Box 6">
            <a:extLst>
              <a:ext uri="{FF2B5EF4-FFF2-40B4-BE49-F238E27FC236}">
                <a16:creationId xmlns:a16="http://schemas.microsoft.com/office/drawing/2014/main" id="{46FFFC8C-2995-4EED-8378-1E14748F7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554" y="4956176"/>
            <a:ext cx="253274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segundo programa.cpp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34E15B04-8868-4CF2-8F38-AEB80582E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FF8752CB-2F14-43F4-8977-07A58C2ABCA5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76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0819" name="Rectangle 5">
            <a:extLst>
              <a:ext uri="{FF2B5EF4-FFF2-40B4-BE49-F238E27FC236}">
                <a16:creationId xmlns:a16="http://schemas.microsoft.com/office/drawing/2014/main" id="{9AEF769B-0BB4-4B0D-81E7-B0F92C1814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>
                <a:effectLst/>
              </a:rPr>
              <a:t> 2.8 - Bloco de instruções</a:t>
            </a:r>
          </a:p>
        </p:txBody>
      </p:sp>
      <p:pic>
        <p:nvPicPr>
          <p:cNvPr id="290820" name="Picture 4">
            <a:extLst>
              <a:ext uri="{FF2B5EF4-FFF2-40B4-BE49-F238E27FC236}">
                <a16:creationId xmlns:a16="http://schemas.microsoft.com/office/drawing/2014/main" id="{488A104E-0DC0-42B8-AC72-FAF1F933C0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9"/>
          <a:stretch>
            <a:fillRect/>
          </a:stretch>
        </p:blipFill>
        <p:spPr>
          <a:xfrm>
            <a:off x="1981200" y="2349504"/>
            <a:ext cx="8229600" cy="2930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9529" name="Rectangle 9">
            <a:extLst>
              <a:ext uri="{FF2B5EF4-FFF2-40B4-BE49-F238E27FC236}">
                <a16:creationId xmlns:a16="http://schemas.microsoft.com/office/drawing/2014/main" id="{D72BBEF9-6367-429F-9ACA-6AE4AFE84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7" y="2378352"/>
            <a:ext cx="704851" cy="369332"/>
          </a:xfrm>
          <a:prstGeom prst="rect">
            <a:avLst/>
          </a:prstGeom>
          <a:noFill/>
          <a:ln w="38100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Número de Slide 7">
            <a:extLst>
              <a:ext uri="{FF2B5EF4-FFF2-40B4-BE49-F238E27FC236}">
                <a16:creationId xmlns:a16="http://schemas.microsoft.com/office/drawing/2014/main" id="{7EEAFB54-D619-42CE-929A-F57B86E50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797DC8E5-C144-47C1-9628-3B703F149586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77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2867" name="Rectangle 5">
            <a:extLst>
              <a:ext uri="{FF2B5EF4-FFF2-40B4-BE49-F238E27FC236}">
                <a16:creationId xmlns:a16="http://schemas.microsoft.com/office/drawing/2014/main" id="{FC527EF8-6BF5-42D1-ADAC-CDD3E55ECB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</p:spPr>
        <p:txBody>
          <a:bodyPr/>
          <a:lstStyle/>
          <a:p>
            <a:pPr eaLnBrk="1" hangingPunct="1"/>
            <a:r>
              <a:rPr lang="pt-BR" altLang="pt-BR">
                <a:effectLst/>
              </a:rPr>
              <a:t> 2.8 - Bloco de instruções</a:t>
            </a:r>
          </a:p>
        </p:txBody>
      </p:sp>
      <p:sp>
        <p:nvSpPr>
          <p:cNvPr id="1261571" name="Rectangle 3">
            <a:extLst>
              <a:ext uri="{FF2B5EF4-FFF2-40B4-BE49-F238E27FC236}">
                <a16:creationId xmlns:a16="http://schemas.microsoft.com/office/drawing/2014/main" id="{54A93820-0A85-4424-8607-647A9483BD3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3" y="1700213"/>
            <a:ext cx="8362951" cy="4608512"/>
          </a:xfrm>
        </p:spPr>
        <p:txBody>
          <a:bodyPr/>
          <a:lstStyle/>
          <a:p>
            <a:pPr marL="0" indent="0" eaLnBrk="1" hangingPunct="1">
              <a:defRPr/>
            </a:pPr>
            <a:endParaRPr lang="pt-BR" altLang="pt-BR" sz="1000"/>
          </a:p>
          <a:p>
            <a:pPr marL="0" indent="0" eaLnBrk="1" hangingPunct="1">
              <a:defRPr/>
            </a:pPr>
            <a:endParaRPr lang="pt-BR" altLang="pt-BR" sz="1000"/>
          </a:p>
          <a:p>
            <a:pPr marL="0" indent="0" eaLnBrk="1" hangingPunct="1">
              <a:defRPr/>
            </a:pPr>
            <a:endParaRPr lang="pt-BR" altLang="pt-BR" sz="1000"/>
          </a:p>
          <a:p>
            <a:pPr marL="0" indent="0" eaLnBrk="1" hangingPunct="1">
              <a:defRPr/>
            </a:pPr>
            <a:endParaRPr lang="pt-BR" altLang="pt-BR" sz="1000"/>
          </a:p>
          <a:p>
            <a:pPr marL="0" indent="0" eaLnBrk="1" hangingPunct="1">
              <a:defRPr/>
            </a:pPr>
            <a:endParaRPr lang="pt-BR" altLang="pt-BR" sz="1000"/>
          </a:p>
          <a:p>
            <a:pPr marL="0" indent="0" eaLnBrk="1" hangingPunct="1">
              <a:defRPr/>
            </a:pPr>
            <a:endParaRPr lang="pt-BR" altLang="pt-BR" sz="1000"/>
          </a:p>
          <a:p>
            <a:pPr marL="0" indent="0" eaLnBrk="1" hangingPunct="1">
              <a:defRPr/>
            </a:pPr>
            <a:endParaRPr lang="pt-BR" altLang="pt-BR" sz="1000"/>
          </a:p>
        </p:txBody>
      </p:sp>
      <p:pic>
        <p:nvPicPr>
          <p:cNvPr id="292869" name="Picture 4">
            <a:extLst>
              <a:ext uri="{FF2B5EF4-FFF2-40B4-BE49-F238E27FC236}">
                <a16:creationId xmlns:a16="http://schemas.microsoft.com/office/drawing/2014/main" id="{4B3B885D-FBE0-4E76-8B3D-FEB99A4B322D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"/>
          <a:stretch>
            <a:fillRect/>
          </a:stretch>
        </p:blipFill>
        <p:spPr>
          <a:xfrm>
            <a:off x="1752600" y="1700218"/>
            <a:ext cx="8686800" cy="192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1577" name="Rectangle 9">
            <a:extLst>
              <a:ext uri="{FF2B5EF4-FFF2-40B4-BE49-F238E27FC236}">
                <a16:creationId xmlns:a16="http://schemas.microsoft.com/office/drawing/2014/main" id="{C67F5FE2-0AD5-4E6E-862D-0FC671817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2416454"/>
            <a:ext cx="3240088" cy="369332"/>
          </a:xfrm>
          <a:prstGeom prst="rect">
            <a:avLst/>
          </a:prstGeom>
          <a:noFill/>
          <a:ln w="38100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61578" name="Rectangle 10">
            <a:extLst>
              <a:ext uri="{FF2B5EF4-FFF2-40B4-BE49-F238E27FC236}">
                <a16:creationId xmlns:a16="http://schemas.microsoft.com/office/drawing/2014/main" id="{759D35EE-507C-45F9-9D84-FC5DE08EE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3" y="2833967"/>
            <a:ext cx="7575551" cy="369332"/>
          </a:xfrm>
          <a:prstGeom prst="rect">
            <a:avLst/>
          </a:prstGeom>
          <a:noFill/>
          <a:ln w="38100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61579" name="Rectangle 11">
            <a:extLst>
              <a:ext uri="{FF2B5EF4-FFF2-40B4-BE49-F238E27FC236}">
                <a16:creationId xmlns:a16="http://schemas.microsoft.com/office/drawing/2014/main" id="{E94E18EC-8151-4318-AFA2-4EF4A4E1A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4855" y="3251479"/>
            <a:ext cx="892175" cy="369332"/>
          </a:xfrm>
          <a:prstGeom prst="rect">
            <a:avLst/>
          </a:prstGeom>
          <a:noFill/>
          <a:ln w="38100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61581" name="Rectangle 13">
            <a:extLst>
              <a:ext uri="{FF2B5EF4-FFF2-40B4-BE49-F238E27FC236}">
                <a16:creationId xmlns:a16="http://schemas.microsoft.com/office/drawing/2014/main" id="{13B6B615-D5A9-4BBD-9DF2-0398FE68E3CB}"/>
              </a:ext>
            </a:extLst>
          </p:cNvPr>
          <p:cNvSpPr>
            <a:spLocks noGrp="1" noChangeArrowheads="1"/>
          </p:cNvSpPr>
          <p:nvPr>
            <p:ph sz="quarter" idx="3"/>
          </p:nvPr>
        </p:nvSpPr>
        <p:spPr>
          <a:xfrm>
            <a:off x="2424117" y="4079877"/>
            <a:ext cx="7786687" cy="2228851"/>
          </a:xfrm>
        </p:spPr>
        <p:txBody>
          <a:bodyPr/>
          <a:lstStyle/>
          <a:p>
            <a:pPr marL="0" indent="0" algn="l" eaLnBrk="1" hangingPunct="1">
              <a:spcAft>
                <a:spcPct val="0"/>
              </a:spcAft>
              <a:defRPr/>
            </a:pPr>
            <a:r>
              <a:rPr lang="pt-BR" altLang="pt-BR" sz="1400"/>
              <a:t>/* Um Primeiro Programa */</a:t>
            </a:r>
          </a:p>
          <a:p>
            <a:pPr marL="0" indent="0" algn="l" eaLnBrk="1" hangingPunct="1">
              <a:spcAft>
                <a:spcPct val="0"/>
              </a:spcAft>
              <a:defRPr/>
            </a:pPr>
            <a:r>
              <a:rPr lang="pt-BR" altLang="pt-BR" sz="1400"/>
              <a:t>int main ()</a:t>
            </a:r>
          </a:p>
          <a:p>
            <a:pPr marL="0" indent="0" algn="l" eaLnBrk="1" hangingPunct="1">
              <a:spcAft>
                <a:spcPct val="0"/>
              </a:spcAft>
              <a:defRPr/>
            </a:pPr>
            <a:r>
              <a:rPr lang="pt-BR" altLang="pt-BR" sz="1400"/>
              <a:t>{</a:t>
            </a:r>
          </a:p>
          <a:p>
            <a:pPr marL="0" indent="0" algn="l" eaLnBrk="1" hangingPunct="1">
              <a:spcAft>
                <a:spcPct val="0"/>
              </a:spcAft>
              <a:defRPr/>
            </a:pPr>
            <a:r>
              <a:rPr lang="pt-BR" altLang="pt-BR" sz="1400"/>
              <a:t>printf ("Primeiro Programa\n");</a:t>
            </a:r>
          </a:p>
          <a:p>
            <a:pPr marL="0" indent="0" algn="l" eaLnBrk="1" hangingPunct="1">
              <a:spcAft>
                <a:spcPct val="0"/>
              </a:spcAft>
              <a:defRPr/>
            </a:pPr>
            <a:r>
              <a:rPr lang="pt-BR" altLang="pt-BR" sz="1400"/>
              <a:t>return(0);</a:t>
            </a:r>
          </a:p>
          <a:p>
            <a:pPr marL="0" indent="0" algn="l" eaLnBrk="1" hangingPunct="1">
              <a:spcAft>
                <a:spcPct val="0"/>
              </a:spcAft>
              <a:defRPr/>
            </a:pPr>
            <a:r>
              <a:rPr lang="pt-BR" altLang="pt-BR" sz="1400"/>
              <a:t>}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6D1EC645-E7A1-42F4-88FD-87F6ADDF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E34C39D4-F72C-4F20-B676-0C1FC51BB3C9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78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4915" name="Rectangle 2">
            <a:extLst>
              <a:ext uri="{FF2B5EF4-FFF2-40B4-BE49-F238E27FC236}">
                <a16:creationId xmlns:a16="http://schemas.microsoft.com/office/drawing/2014/main" id="{2092104B-4C39-41C9-8AA0-B214BC8CB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>
                <a:effectLst/>
              </a:rPr>
              <a:t> 2.9 - Arquivos de cabeçalho</a:t>
            </a:r>
          </a:p>
        </p:txBody>
      </p:sp>
      <p:sp>
        <p:nvSpPr>
          <p:cNvPr id="1300483" name="Rectangle 3">
            <a:extLst>
              <a:ext uri="{FF2B5EF4-FFF2-40B4-BE49-F238E27FC236}">
                <a16:creationId xmlns:a16="http://schemas.microsoft.com/office/drawing/2014/main" id="{D2E4FAF9-345D-4C26-A16E-7762E072F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eaLnBrk="1" hangingPunct="1">
              <a:lnSpc>
                <a:spcPct val="90000"/>
              </a:lnSpc>
              <a:defRPr/>
            </a:pPr>
            <a:r>
              <a:rPr lang="pt-BR" altLang="pt-BR"/>
              <a:t>Arquivo Cabeçalho - #include &lt;stdio.h&gt;</a:t>
            </a:r>
          </a:p>
          <a:p>
            <a:pPr marL="0" indent="269868" algn="just" eaLnBrk="1" hangingPunct="1">
              <a:lnSpc>
                <a:spcPct val="90000"/>
              </a:lnSpc>
              <a:defRPr/>
            </a:pPr>
            <a:r>
              <a:rPr lang="pt-BR" altLang="pt-BR">
                <a:effectLst/>
              </a:rPr>
              <a:t>A linha</a:t>
            </a:r>
            <a:r>
              <a:rPr lang="pt-BR" altLang="pt-BR" b="1">
                <a:effectLst/>
              </a:rPr>
              <a:t> #include &lt;stdio.h&gt;</a:t>
            </a:r>
            <a:r>
              <a:rPr lang="pt-BR" altLang="pt-BR">
                <a:effectLst/>
              </a:rPr>
              <a:t> diz ao compilador que ele deve </a:t>
            </a:r>
            <a:r>
              <a:rPr lang="pt-BR" altLang="pt-BR" b="1">
                <a:effectLst/>
              </a:rPr>
              <a:t>incluir</a:t>
            </a:r>
            <a:r>
              <a:rPr lang="pt-BR" altLang="pt-BR">
                <a:effectLst/>
              </a:rPr>
              <a:t> o </a:t>
            </a:r>
            <a:r>
              <a:rPr lang="pt-BR" altLang="pt-BR" b="1">
                <a:effectLst/>
              </a:rPr>
              <a:t>arquivo-cabeçalho stdio.h</a:t>
            </a:r>
            <a:r>
              <a:rPr lang="pt-BR" altLang="pt-BR">
                <a:effectLst/>
              </a:rPr>
              <a:t>. Neste arquivo existem declarações de </a:t>
            </a:r>
            <a:r>
              <a:rPr lang="pt-BR" altLang="pt-BR" b="1">
                <a:effectLst/>
              </a:rPr>
              <a:t>funções</a:t>
            </a:r>
            <a:r>
              <a:rPr lang="pt-BR" altLang="pt-BR">
                <a:effectLst/>
              </a:rPr>
              <a:t> úteis para </a:t>
            </a:r>
            <a:r>
              <a:rPr lang="pt-BR" altLang="pt-BR" b="1">
                <a:effectLst/>
              </a:rPr>
              <a:t>entrada e saída</a:t>
            </a:r>
            <a:r>
              <a:rPr lang="pt-BR" altLang="pt-BR">
                <a:effectLst/>
              </a:rPr>
              <a:t> de dados (</a:t>
            </a:r>
            <a:r>
              <a:rPr lang="pt-BR" altLang="pt-BR" b="1">
                <a:effectLst/>
              </a:rPr>
              <a:t>std</a:t>
            </a:r>
            <a:r>
              <a:rPr lang="pt-BR" altLang="pt-BR">
                <a:effectLst/>
              </a:rPr>
              <a:t> = </a:t>
            </a:r>
            <a:r>
              <a:rPr lang="pt-BR" altLang="pt-BR" b="1">
                <a:effectLst/>
              </a:rPr>
              <a:t>standard</a:t>
            </a:r>
            <a:r>
              <a:rPr lang="pt-BR" altLang="pt-BR">
                <a:effectLst/>
              </a:rPr>
              <a:t>, padrão em inglês; </a:t>
            </a:r>
            <a:r>
              <a:rPr lang="pt-BR" altLang="pt-BR" b="1">
                <a:effectLst/>
              </a:rPr>
              <a:t>io</a:t>
            </a:r>
            <a:r>
              <a:rPr lang="pt-BR" altLang="pt-BR">
                <a:effectLst/>
              </a:rPr>
              <a:t> = </a:t>
            </a:r>
            <a:r>
              <a:rPr lang="pt-BR" altLang="pt-BR" b="1">
                <a:effectLst/>
              </a:rPr>
              <a:t>Input/Output</a:t>
            </a:r>
            <a:r>
              <a:rPr lang="pt-BR" altLang="pt-BR">
                <a:effectLst/>
              </a:rPr>
              <a:t>, entrada e saída ==&gt; </a:t>
            </a:r>
            <a:r>
              <a:rPr lang="pt-BR" altLang="pt-BR" b="1">
                <a:effectLst/>
              </a:rPr>
              <a:t>stdio</a:t>
            </a:r>
            <a:r>
              <a:rPr lang="pt-BR" altLang="pt-BR">
                <a:effectLst/>
              </a:rPr>
              <a:t> = </a:t>
            </a:r>
            <a:r>
              <a:rPr lang="pt-BR" altLang="pt-BR" b="1">
                <a:effectLst/>
              </a:rPr>
              <a:t>Entrada e saída padronizadas</a:t>
            </a:r>
            <a:r>
              <a:rPr lang="pt-BR" altLang="pt-BR">
                <a:effectLst/>
              </a:rPr>
              <a:t>). Toda vez que você quiser usar uma destas funções deve-se incluir este comando. </a:t>
            </a:r>
            <a:r>
              <a:rPr lang="pt-BR" altLang="pt-BR" b="1">
                <a:effectLst/>
              </a:rPr>
              <a:t>O C possui diversos Arquivos-cabeçalho.</a:t>
            </a:r>
          </a:p>
          <a:p>
            <a:pPr marL="0" indent="269868" algn="l" eaLnBrk="1" hangingPunct="1">
              <a:lnSpc>
                <a:spcPct val="90000"/>
              </a:lnSpc>
              <a:defRPr/>
            </a:pPr>
            <a:r>
              <a:rPr lang="pt-BR" altLang="pt-BR">
                <a:effectLst/>
              </a:rPr>
              <a:t>Por exemplo, </a:t>
            </a:r>
            <a:r>
              <a:rPr lang="pt-BR" altLang="pt-BR" b="1">
                <a:effectLst/>
              </a:rPr>
              <a:t>constantes e funções matemáticas</a:t>
            </a:r>
            <a:r>
              <a:rPr lang="pt-BR" altLang="pt-BR">
                <a:effectLst/>
              </a:rPr>
              <a:t> estão guardadas na biblioteca </a:t>
            </a:r>
            <a:r>
              <a:rPr lang="pt-BR" altLang="pt-BR" b="1">
                <a:effectLst/>
              </a:rPr>
              <a:t>math.h</a:t>
            </a:r>
            <a:r>
              <a:rPr lang="pt-BR" altLang="pt-BR">
                <a:effectLst/>
              </a:rPr>
              <a:t> (</a:t>
            </a:r>
            <a:r>
              <a:rPr lang="pt-BR" altLang="pt-BR" i="1" u="sng">
                <a:effectLst/>
              </a:rPr>
              <a:t>math</a:t>
            </a:r>
            <a:r>
              <a:rPr lang="pt-BR" altLang="pt-BR" i="1">
                <a:effectLst/>
              </a:rPr>
              <a:t>ematical functions</a:t>
            </a:r>
            <a:r>
              <a:rPr lang="pt-BR" altLang="pt-BR">
                <a:effectLst/>
              </a:rPr>
              <a:t>), constantes e funções de </a:t>
            </a:r>
            <a:r>
              <a:rPr lang="pt-BR" altLang="pt-BR" b="1">
                <a:effectLst/>
              </a:rPr>
              <a:t>manipulação teclado e monitor</a:t>
            </a:r>
            <a:r>
              <a:rPr lang="pt-BR" altLang="pt-BR">
                <a:effectLst/>
              </a:rPr>
              <a:t> estão guardadas na biblioteca </a:t>
            </a:r>
            <a:r>
              <a:rPr lang="pt-BR" altLang="pt-BR" b="1">
                <a:effectLst/>
              </a:rPr>
              <a:t>conio.h</a:t>
            </a:r>
            <a:r>
              <a:rPr lang="pt-BR" altLang="pt-BR">
                <a:effectLst/>
              </a:rPr>
              <a:t> (</a:t>
            </a:r>
            <a:r>
              <a:rPr lang="pt-BR" altLang="pt-BR" i="1" u="sng">
                <a:effectLst/>
              </a:rPr>
              <a:t>con</a:t>
            </a:r>
            <a:r>
              <a:rPr lang="pt-BR" altLang="pt-BR" i="1">
                <a:effectLst/>
              </a:rPr>
              <a:t>sole </a:t>
            </a:r>
            <a:r>
              <a:rPr lang="pt-BR" altLang="pt-BR" i="1" u="sng">
                <a:effectLst/>
              </a:rPr>
              <a:t>i</a:t>
            </a:r>
            <a:r>
              <a:rPr lang="pt-BR" altLang="pt-BR" i="1">
                <a:effectLst/>
              </a:rPr>
              <a:t>nput and </a:t>
            </a:r>
            <a:r>
              <a:rPr lang="pt-BR" altLang="pt-BR" i="1" u="sng">
                <a:effectLst/>
              </a:rPr>
              <a:t>o</a:t>
            </a:r>
            <a:r>
              <a:rPr lang="pt-BR" altLang="pt-BR" i="1">
                <a:effectLst/>
              </a:rPr>
              <a:t>utput</a:t>
            </a:r>
            <a:r>
              <a:rPr lang="pt-BR" altLang="pt-BR">
                <a:effectLst/>
              </a:rPr>
              <a:t>). Para que se possa usar a constante simbólica em um programa é preciso incluir a biblioteca na compilação do programa. </a:t>
            </a:r>
          </a:p>
          <a:p>
            <a:pPr marL="0" indent="269868" algn="l" eaLnBrk="1" hangingPunct="1">
              <a:lnSpc>
                <a:spcPct val="90000"/>
              </a:lnSpc>
              <a:defRPr/>
            </a:pPr>
            <a:r>
              <a:rPr lang="pt-BR" altLang="pt-BR">
                <a:effectLst/>
              </a:rPr>
              <a:t>Sintaxe: A sintaxe de inclusão de bibliotecas é a seguinte:</a:t>
            </a:r>
          </a:p>
          <a:p>
            <a:pPr marL="0" indent="269868" algn="l" eaLnBrk="1" hangingPunct="1">
              <a:lnSpc>
                <a:spcPct val="90000"/>
              </a:lnSpc>
              <a:defRPr/>
            </a:pPr>
            <a:r>
              <a:rPr lang="pt-BR" altLang="pt-BR">
                <a:effectLst/>
              </a:rPr>
              <a:t>#include &lt;</a:t>
            </a:r>
            <a:r>
              <a:rPr lang="pt-BR" altLang="pt-BR" i="1">
                <a:effectLst/>
              </a:rPr>
              <a:t>nome_bib</a:t>
            </a:r>
            <a:r>
              <a:rPr lang="pt-BR" altLang="pt-BR">
                <a:effectLst/>
              </a:rPr>
              <a:t>&gt;</a:t>
            </a:r>
          </a:p>
          <a:p>
            <a:pPr marL="0" indent="269868" algn="just" eaLnBrk="1" hangingPunct="1">
              <a:lnSpc>
                <a:spcPct val="90000"/>
              </a:lnSpc>
              <a:defRPr/>
            </a:pPr>
            <a:endParaRPr lang="pt-BR" altLang="pt-BR"/>
          </a:p>
        </p:txBody>
      </p:sp>
      <p:sp>
        <p:nvSpPr>
          <p:cNvPr id="2" name="Estrela: 5 Pontas 1">
            <a:extLst>
              <a:ext uri="{FF2B5EF4-FFF2-40B4-BE49-F238E27FC236}">
                <a16:creationId xmlns:a16="http://schemas.microsoft.com/office/drawing/2014/main" id="{B5C19C5B-36F7-4886-8840-E309D1BAE318}"/>
              </a:ext>
            </a:extLst>
          </p:cNvPr>
          <p:cNvSpPr/>
          <p:nvPr/>
        </p:nvSpPr>
        <p:spPr bwMode="auto">
          <a:xfrm>
            <a:off x="2063552" y="793910"/>
            <a:ext cx="914400" cy="958691"/>
          </a:xfrm>
          <a:prstGeom prst="star5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F88CE31-59CB-4684-B8B4-C16F5BBC9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48C36889-D6B9-4602-84DA-6CBA42ABA7E7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79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89218" name="Rectangle 2">
            <a:extLst>
              <a:ext uri="{FF2B5EF4-FFF2-40B4-BE49-F238E27FC236}">
                <a16:creationId xmlns:a16="http://schemas.microsoft.com/office/drawing/2014/main" id="{00441BA8-32DC-4973-84B7-14AD5AA20B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altLang="pt-BR"/>
              <a:t>Exemplo</a:t>
            </a:r>
          </a:p>
        </p:txBody>
      </p:sp>
      <p:sp>
        <p:nvSpPr>
          <p:cNvPr id="1289219" name="Rectangle 3">
            <a:extLst>
              <a:ext uri="{FF2B5EF4-FFF2-40B4-BE49-F238E27FC236}">
                <a16:creationId xmlns:a16="http://schemas.microsoft.com/office/drawing/2014/main" id="{FE617E43-9F45-4EA8-BCFB-E0E237121F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eaLnBrk="1" hangingPunct="1">
              <a:buClr>
                <a:srgbClr val="000000"/>
              </a:buClr>
              <a:defRPr/>
            </a:pPr>
            <a:r>
              <a:rPr lang="pt-BR" altLang="pt-BR"/>
              <a:t>Fazer o exercício abaixo em Linguagem C:</a:t>
            </a:r>
          </a:p>
          <a:p>
            <a:pPr algn="l" eaLnBrk="1" hangingPunct="1">
              <a:buClr>
                <a:srgbClr val="000000"/>
              </a:buClr>
              <a:defRPr/>
            </a:pPr>
            <a:r>
              <a:rPr lang="pt-BR" altLang="pt-BR"/>
              <a:t>Calcular e apresentar em vídeo o volume de uma caixa retangular utilizando a fórmula: Volume = Comprimento * Altura * Largura.</a:t>
            </a:r>
          </a:p>
        </p:txBody>
      </p:sp>
      <p:sp>
        <p:nvSpPr>
          <p:cNvPr id="1289220" name="Text Box 4">
            <a:extLst>
              <a:ext uri="{FF2B5EF4-FFF2-40B4-BE49-F238E27FC236}">
                <a16:creationId xmlns:a16="http://schemas.microsoft.com/office/drawing/2014/main" id="{4AA44053-B0FA-4DC5-B9B3-DAA3BB661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553" y="4956176"/>
            <a:ext cx="247324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Terceiro programa.cpp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3CA043DF-3E0A-4C8B-BF9A-CBBA894A3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275ABDAF-B7E2-411B-A5BC-AB50D5E8D105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80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02530" name="Rectangle 2">
            <a:extLst>
              <a:ext uri="{FF2B5EF4-FFF2-40B4-BE49-F238E27FC236}">
                <a16:creationId xmlns:a16="http://schemas.microsoft.com/office/drawing/2014/main" id="{CD8B8C26-2839-46D0-A6E9-7D72822374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altLang="pt-BR"/>
              <a:t>Exercícios</a:t>
            </a:r>
          </a:p>
        </p:txBody>
      </p:sp>
      <p:sp>
        <p:nvSpPr>
          <p:cNvPr id="1302531" name="Rectangle 3">
            <a:extLst>
              <a:ext uri="{FF2B5EF4-FFF2-40B4-BE49-F238E27FC236}">
                <a16:creationId xmlns:a16="http://schemas.microsoft.com/office/drawing/2014/main" id="{5D55EB00-2B21-4D3A-9525-57C8D3A9E6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63751" y="1125539"/>
            <a:ext cx="7689851" cy="46085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pt-BR" altLang="pt-BR" sz="1600"/>
              <a:t>/* programa volume de um paralelepipedo*/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#include &lt;iostream&gt;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#include &lt;conio.h&gt;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main()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{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pt-BR" altLang="pt-BR" sz="1600"/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 /* Declaracao de Variaveis */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 float a,c,l,v;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 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/* Entrada de Dados*/ 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 printf ("Esse programa calcula o volume de um paralelepipedo \n\n"); 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pt-BR" altLang="pt-BR" sz="1600"/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 printf ("Entre com a altura do paralelepipedo : ");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 scanf ("%f",&amp;a);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 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 printf ("Entre com a largura do paralelepipedo: ");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 scanf ("%f",&amp;l);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 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 printf ("Entre com a comprimento do paralelepipedo: ");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 scanf ("%f",&amp;c);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  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 v=(a*l*c); /* Calculo do volume */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 printf ("\n O Volume do paralelepipedo e %f .\n\n",v);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 /* Verificação Aluno */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   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//    getch();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/>
              <a:t>}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E72F70CB-9D78-43F5-800C-676DCBCE3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3ED75C79-2E82-44E6-8C61-0FF9AFBAD76F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81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91266" name="Rectangle 2">
            <a:extLst>
              <a:ext uri="{FF2B5EF4-FFF2-40B4-BE49-F238E27FC236}">
                <a16:creationId xmlns:a16="http://schemas.microsoft.com/office/drawing/2014/main" id="{52FDD1D9-580A-4544-A165-6F5BA74D5C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altLang="pt-BR"/>
              <a:t>Exercícios</a:t>
            </a:r>
          </a:p>
        </p:txBody>
      </p:sp>
      <p:sp>
        <p:nvSpPr>
          <p:cNvPr id="1291267" name="Rectangle 3">
            <a:extLst>
              <a:ext uri="{FF2B5EF4-FFF2-40B4-BE49-F238E27FC236}">
                <a16:creationId xmlns:a16="http://schemas.microsoft.com/office/drawing/2014/main" id="{FC0FA18C-E400-4D95-AC92-22763A54EE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eaLnBrk="1" hangingPunct="1">
              <a:buClr>
                <a:srgbClr val="000000"/>
              </a:buClr>
              <a:defRPr/>
            </a:pPr>
            <a:r>
              <a:rPr lang="pt-BR" altLang="pt-BR" dirty="0"/>
              <a:t>Fazer o exercício abaixo em Linguagem C:</a:t>
            </a:r>
          </a:p>
          <a:p>
            <a:pPr algn="l" eaLnBrk="1" hangingPunct="1">
              <a:buClr>
                <a:srgbClr val="000000"/>
              </a:buClr>
              <a:defRPr/>
            </a:pPr>
            <a:r>
              <a:rPr lang="pt-BR" altLang="pt-BR" b="1" dirty="0"/>
              <a:t>Calcular e apresentar</a:t>
            </a:r>
            <a:r>
              <a:rPr lang="pt-BR" altLang="pt-BR" dirty="0"/>
              <a:t> o valor do </a:t>
            </a:r>
            <a:r>
              <a:rPr lang="pt-BR" altLang="pt-BR" b="1" dirty="0"/>
              <a:t>volume</a:t>
            </a:r>
            <a:r>
              <a:rPr lang="pt-BR" altLang="pt-BR" dirty="0"/>
              <a:t> de uma lata de óleo sabendo-se que Volume = 3.14159 * RAIO² * ALTURA</a:t>
            </a:r>
            <a:r>
              <a:rPr lang="pt-BR" altLang="pt-BR" sz="1200" dirty="0"/>
              <a:t> 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0C45192-0336-4421-AE85-B4F613F51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89D49ACC-6121-45BF-B129-A9A479BFE540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82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03554" name="Rectangle 2">
            <a:extLst>
              <a:ext uri="{FF2B5EF4-FFF2-40B4-BE49-F238E27FC236}">
                <a16:creationId xmlns:a16="http://schemas.microsoft.com/office/drawing/2014/main" id="{FA82ED4B-04B8-4D32-89FC-58047E8A1A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altLang="pt-BR"/>
              <a:t>Exercícios</a:t>
            </a:r>
          </a:p>
        </p:txBody>
      </p:sp>
      <p:sp>
        <p:nvSpPr>
          <p:cNvPr id="1303555" name="Rectangle 3">
            <a:extLst>
              <a:ext uri="{FF2B5EF4-FFF2-40B4-BE49-F238E27FC236}">
                <a16:creationId xmlns:a16="http://schemas.microsoft.com/office/drawing/2014/main" id="{8933A5BD-4F36-46CF-B059-AE2078E53D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908054"/>
            <a:ext cx="8229600" cy="5400675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#include &lt;iostream&gt;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#include &lt;conio.h&gt;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main()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{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pt-BR" altLang="pt-BR"/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/* Declaracao de Variaveis */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float r,l,v;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/* Entrada de Dados*/ 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printf ("Esse programa calcula o volume de uma lata \n\n"); 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pt-BR" altLang="pt-BR"/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printf ("Entre com o raio : ");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scanf ("%f",&amp;r);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printf ("Entre com a altura: ");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scanf ("%f",&amp;l);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 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v=(3.14*r*r*l); /* Calculo do volume */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printf ("\n O Volume da lata e %.2f .\n\n",v);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/* Verificação Aluno */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  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  getch();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}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E1CA5-92B8-C057-1615-CAC4D50C1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effectLst/>
              </a:rPr>
              <a:t>2. ESTRUTURAS BÁSICAS EM C</a:t>
            </a:r>
            <a:endParaRPr lang="pt-BR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B85025-7293-C177-A163-A0F178872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pt-PT" dirty="0">
                <a:effectLst/>
              </a:rPr>
              <a:t>2.1 Operadores Aritméticos, Relacionais e Lógicos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2.1.1 Operadores Aritméticos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2.1.2 Operadores Relacionais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2.1.3 Operadores Lógicos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2.2 Aplicações e Exemplos do Uso de Operadores na Linguagem C</a:t>
            </a:r>
            <a:endParaRPr lang="pt-BR" dirty="0">
              <a:effectLst/>
            </a:endParaRP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146E5A-FB57-1C8D-CB65-DBCE4200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83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134272"/>
      </p:ext>
    </p:extLst>
  </p:cSld>
  <p:clrMapOvr>
    <a:masterClrMapping/>
  </p:clrMapOvr>
</p:sld>
</file>

<file path=ppt/theme/theme1.xml><?xml version="1.0" encoding="utf-8"?>
<a:theme xmlns:a="http://schemas.openxmlformats.org/drawingml/2006/main" name="1_Texturizado">
  <a:themeElements>
    <a:clrScheme name="Texturizado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Texturizad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lnDef>
  </a:objectDefaults>
  <a:extraClrSchemeLst>
    <a:extraClrScheme>
      <a:clrScheme name="Texturizado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izado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31A93D2CB35614FA45893B80519B5BE" ma:contentTypeVersion="7" ma:contentTypeDescription="Crie um novo documento." ma:contentTypeScope="" ma:versionID="d5819fe5c110c5934286adf054d8c361">
  <xsd:schema xmlns:xsd="http://www.w3.org/2001/XMLSchema" xmlns:xs="http://www.w3.org/2001/XMLSchema" xmlns:p="http://schemas.microsoft.com/office/2006/metadata/properties" xmlns:ns2="d4266379-08b9-4d9e-9b69-a807b6d0c153" targetNamespace="http://schemas.microsoft.com/office/2006/metadata/properties" ma:root="true" ma:fieldsID="e76dccc702da44555f125f79004340bd" ns2:_="">
    <xsd:import namespace="d4266379-08b9-4d9e-9b69-a807b6d0c1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266379-08b9-4d9e-9b69-a807b6d0c1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37C1978-E1EA-43FD-9EFD-435DD96A5ED3}"/>
</file>

<file path=customXml/itemProps2.xml><?xml version="1.0" encoding="utf-8"?>
<ds:datastoreItem xmlns:ds="http://schemas.openxmlformats.org/officeDocument/2006/customXml" ds:itemID="{A8C9F4BD-44BA-4796-ADB6-8CB7B80623FA}"/>
</file>

<file path=customXml/itemProps3.xml><?xml version="1.0" encoding="utf-8"?>
<ds:datastoreItem xmlns:ds="http://schemas.openxmlformats.org/officeDocument/2006/customXml" ds:itemID="{9B3B9B05-BE6B-4118-82CB-5A15DA8E2A6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53393</TotalTime>
  <Words>7888</Words>
  <Application>Microsoft Office PowerPoint</Application>
  <PresentationFormat>Widescreen</PresentationFormat>
  <Paragraphs>1149</Paragraphs>
  <Slides>83</Slides>
  <Notes>52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83</vt:i4>
      </vt:variant>
    </vt:vector>
  </HeadingPairs>
  <TitlesOfParts>
    <vt:vector size="91" baseType="lpstr">
      <vt:lpstr>Arial</vt:lpstr>
      <vt:lpstr>Arial Unicode MS</vt:lpstr>
      <vt:lpstr>Symbol</vt:lpstr>
      <vt:lpstr>Tahoma</vt:lpstr>
      <vt:lpstr>Times New Roman</vt:lpstr>
      <vt:lpstr>Wingdings</vt:lpstr>
      <vt:lpstr>1_Texturizado</vt:lpstr>
      <vt:lpstr>Equation</vt:lpstr>
      <vt:lpstr>Linguagem de Programação em C Prof. Dr. Pedro Euphrásio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Linguagem de Programação C </vt:lpstr>
      <vt:lpstr>Linguagem de Programação C Palavras Chaves</vt:lpstr>
      <vt:lpstr>2.1 - Estrutura/execução de um programa</vt:lpstr>
      <vt:lpstr>2.1 - Estrutura/execução de um programa</vt:lpstr>
      <vt:lpstr>2.1 - Estrutura/execução de um programa</vt:lpstr>
      <vt:lpstr>2.1 - Estrutura/execução de um programa</vt:lpstr>
      <vt:lpstr>2.1 - Estrutura/execução de um programa  Primeiro Programa</vt:lpstr>
      <vt:lpstr>2.1 - Estrutura/execução de um programa  Primeiro Programa</vt:lpstr>
      <vt:lpstr>2.1 - Estrutura/execução de um programa Primeiro Programa</vt:lpstr>
      <vt:lpstr>Tipos de dados</vt:lpstr>
      <vt:lpstr>Tipos de dados</vt:lpstr>
      <vt:lpstr>Tipos de dados</vt:lpstr>
      <vt:lpstr>Tipos de dados</vt:lpstr>
      <vt:lpstr>Tipos de dados  Inteiro</vt:lpstr>
      <vt:lpstr>Tipos de dados  Float (ponto flutuante)</vt:lpstr>
      <vt:lpstr>Tipos de dados inteiro</vt:lpstr>
      <vt:lpstr>Tipos de dados (vetor de caracter)  Strings</vt:lpstr>
      <vt:lpstr>Tipos de dados (vetor de caracter) Strings</vt:lpstr>
      <vt:lpstr> Tipos de dados (vetor de caracter)  Strings</vt:lpstr>
      <vt:lpstr> Tipos de dados (vetor de caracter) Strings</vt:lpstr>
      <vt:lpstr> Tipos de dados (vetor de caracter)  Strings</vt:lpstr>
      <vt:lpstr>Apresentação do PowerPoint</vt:lpstr>
      <vt:lpstr>Variáveis simples</vt:lpstr>
      <vt:lpstr>Declaração de variáveis</vt:lpstr>
      <vt:lpstr> Inicialização de variáveis</vt:lpstr>
      <vt:lpstr>Declaração de Constantes</vt:lpstr>
      <vt:lpstr>Exemplos: variável char</vt:lpstr>
      <vt:lpstr>Exemplos: variáveis int, float e char</vt:lpstr>
      <vt:lpstr>Exemplos: variáveis int, float e char</vt:lpstr>
      <vt:lpstr>Declaração de Constantes Simbólicas (Macro)</vt:lpstr>
      <vt:lpstr>Declaração de Constantes Simbólicas (Macro)</vt:lpstr>
      <vt:lpstr>Declaração de Constantes</vt:lpstr>
      <vt:lpstr>Macro – Constante Simbólica</vt:lpstr>
      <vt:lpstr>Macro – Constante Simbólica</vt:lpstr>
      <vt:lpstr>Comandos de Entrada e Saída em C</vt:lpstr>
      <vt:lpstr>Estrutura/execução de um programa   Argumentos</vt:lpstr>
      <vt:lpstr>Comandos de Entrada</vt:lpstr>
      <vt:lpstr>Comandos de Entrada</vt:lpstr>
      <vt:lpstr>Comandos de Entrada</vt:lpstr>
      <vt:lpstr>Comandos de Entrada</vt:lpstr>
      <vt:lpstr>Comandos de Entrada</vt:lpstr>
      <vt:lpstr>Comandos de Entrada</vt:lpstr>
      <vt:lpstr>Comandos de Entrada: fgets() </vt:lpstr>
      <vt:lpstr>Comandos de Entrada:  fgets(nome_da_variavel, sizeof(nome_da_variavel), stdin);</vt:lpstr>
      <vt:lpstr> 2.7 - Comandos de entrada e saída Função  getch() e getche()</vt:lpstr>
      <vt:lpstr>Comandos de Saída  Função printf()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Complemento</vt:lpstr>
      <vt:lpstr>Apresentação do PowerPoint</vt:lpstr>
      <vt:lpstr>Complemento</vt:lpstr>
      <vt:lpstr>Apresentação do PowerPoint</vt:lpstr>
      <vt:lpstr>Apresentação do PowerPoint</vt:lpstr>
      <vt:lpstr> Linguagem de Programação C Estrutura de Controle - Seqüenciação</vt:lpstr>
      <vt:lpstr> 2.8 - Bloco de instruções</vt:lpstr>
      <vt:lpstr> 2.8 - Bloco de instruções</vt:lpstr>
      <vt:lpstr> 2.9 - Arquivos de cabeçalho</vt:lpstr>
      <vt:lpstr>Exemplo</vt:lpstr>
      <vt:lpstr>Exercícios</vt:lpstr>
      <vt:lpstr>Exercícios</vt:lpstr>
      <vt:lpstr>Exercícios</vt:lpstr>
      <vt:lpstr>2. ESTRUTURAS BÁSICAS EM C</vt:lpstr>
    </vt:vector>
  </TitlesOfParts>
  <Company>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INSTITUTO TECNOLOGICO DE AERO</dc:creator>
  <cp:lastModifiedBy>PEDRO EUPHRASIO</cp:lastModifiedBy>
  <cp:revision>753</cp:revision>
  <dcterms:created xsi:type="dcterms:W3CDTF">2003-07-17T00:20:49Z</dcterms:created>
  <dcterms:modified xsi:type="dcterms:W3CDTF">2025-08-20T19:46:30Z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0x010100C31A93D2CB35614FA45893B80519B5BE</vt:lpwstr>
  </property>
</Properties>
</file>