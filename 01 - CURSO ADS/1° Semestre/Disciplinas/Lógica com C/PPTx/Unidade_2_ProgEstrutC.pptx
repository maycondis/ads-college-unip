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7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</p:sldMasterIdLst>
  <p:notesMasterIdLst>
    <p:notesMasterId r:id="rId34"/>
  </p:notesMasterIdLst>
  <p:handoutMasterIdLst>
    <p:handoutMasterId r:id="rId35"/>
  </p:handoutMasterIdLst>
  <p:sldIdLst>
    <p:sldId id="1058" r:id="rId2"/>
    <p:sldId id="1056" r:id="rId3"/>
    <p:sldId id="1012" r:id="rId4"/>
    <p:sldId id="904" r:id="rId5"/>
    <p:sldId id="905" r:id="rId6"/>
    <p:sldId id="906" r:id="rId7"/>
    <p:sldId id="907" r:id="rId8"/>
    <p:sldId id="854" r:id="rId9"/>
    <p:sldId id="855" r:id="rId10"/>
    <p:sldId id="856" r:id="rId11"/>
    <p:sldId id="908" r:id="rId12"/>
    <p:sldId id="1076" r:id="rId13"/>
    <p:sldId id="909" r:id="rId14"/>
    <p:sldId id="911" r:id="rId15"/>
    <p:sldId id="910" r:id="rId16"/>
    <p:sldId id="1078" r:id="rId17"/>
    <p:sldId id="1088" r:id="rId18"/>
    <p:sldId id="912" r:id="rId19"/>
    <p:sldId id="913" r:id="rId20"/>
    <p:sldId id="1081" r:id="rId21"/>
    <p:sldId id="1082" r:id="rId22"/>
    <p:sldId id="1079" r:id="rId23"/>
    <p:sldId id="914" r:id="rId24"/>
    <p:sldId id="915" r:id="rId25"/>
    <p:sldId id="1080" r:id="rId26"/>
    <p:sldId id="1087" r:id="rId27"/>
    <p:sldId id="916" r:id="rId28"/>
    <p:sldId id="824" r:id="rId29"/>
    <p:sldId id="1083" r:id="rId30"/>
    <p:sldId id="1084" r:id="rId31"/>
    <p:sldId id="1085" r:id="rId32"/>
    <p:sldId id="1086" r:id="rId33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6600"/>
    <a:srgbClr val="CC0000"/>
    <a:srgbClr val="009999"/>
    <a:srgbClr val="009900"/>
    <a:srgbClr val="00E7E2"/>
    <a:srgbClr val="00B0AC"/>
    <a:srgbClr val="BDD2E9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Estilo com Tema 1 - Ênfase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38B1855-1B75-4FBE-930C-398BA8C253C6}" styleName="Estilo com Tema 2 - Ênfase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7437" autoAdjust="0"/>
  </p:normalViewPr>
  <p:slideViewPr>
    <p:cSldViewPr>
      <p:cViewPr varScale="1">
        <p:scale>
          <a:sx n="70" d="100"/>
          <a:sy n="70" d="100"/>
        </p:scale>
        <p:origin x="1046" y="4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9411"/>
    </p:cViewPr>
  </p:sorterViewPr>
  <p:notesViewPr>
    <p:cSldViewPr>
      <p:cViewPr varScale="1">
        <p:scale>
          <a:sx n="53" d="100"/>
          <a:sy n="53" d="100"/>
        </p:scale>
        <p:origin x="-1842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customXml" Target="../customXml/item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DC3E22C5-49E1-4DF9-A545-47B5ABA4B33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pt-BR"/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B4C96268-F3F4-4C0C-89B6-86229C956BF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pt-BR"/>
          </a:p>
        </p:txBody>
      </p:sp>
      <p:sp>
        <p:nvSpPr>
          <p:cNvPr id="22532" name="Rectangle 4">
            <a:extLst>
              <a:ext uri="{FF2B5EF4-FFF2-40B4-BE49-F238E27FC236}">
                <a16:creationId xmlns:a16="http://schemas.microsoft.com/office/drawing/2014/main" id="{678E64E3-BDC3-4441-B398-3532D9575F2F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pt-BR"/>
          </a:p>
        </p:txBody>
      </p:sp>
      <p:sp>
        <p:nvSpPr>
          <p:cNvPr id="22533" name="Rectangle 5">
            <a:extLst>
              <a:ext uri="{FF2B5EF4-FFF2-40B4-BE49-F238E27FC236}">
                <a16:creationId xmlns:a16="http://schemas.microsoft.com/office/drawing/2014/main" id="{7F415B9C-90A4-4E66-BC5C-89CD68EDEA8D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9D2E1B55-8E05-40DE-8E40-0F12E932A465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848" units="cm"/>
          <inkml:channel name="T" type="integer" max="2.14748E9" units="dev"/>
        </inkml:traceFormat>
        <inkml:channelProperties>
          <inkml:channelProperty channel="X" name="resolution" value="37.72102" units="1/cm"/>
          <inkml:channelProperty channel="Y" name="resolution" value="64.61539" units="1/cm"/>
          <inkml:channelProperty channel="T" name="resolution" value="1" units="1/dev"/>
        </inkml:channelProperties>
      </inkml:inkSource>
      <inkml:timestamp xml:id="ts0" timeString="2020-09-17T22:55:27.5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14482 10178 0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848" units="cm"/>
          <inkml:channel name="T" type="integer" max="2.14748E9" units="dev"/>
        </inkml:traceFormat>
        <inkml:channelProperties>
          <inkml:channelProperty channel="X" name="resolution" value="37.72102" units="1/cm"/>
          <inkml:channelProperty channel="Y" name="resolution" value="64.61539" units="1/cm"/>
          <inkml:channelProperty channel="T" name="resolution" value="1" units="1/dev"/>
        </inkml:channelProperties>
      </inkml:inkSource>
      <inkml:timestamp xml:id="ts0" timeString="2020-09-17T22:55:27.5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14482 10178 0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B64E1D65-247C-484B-856C-160A63D1214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pt-BR"/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DECB6F90-5B74-4F9A-AAD0-FA3C91A4960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pt-BR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445E03E4-2B1D-447F-9D08-7BA3061BAD2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2773" name="Rectangle 5">
            <a:extLst>
              <a:ext uri="{FF2B5EF4-FFF2-40B4-BE49-F238E27FC236}">
                <a16:creationId xmlns:a16="http://schemas.microsoft.com/office/drawing/2014/main" id="{ABE83A7C-00F0-4571-ABA6-641FFB2F8F0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 noProof="0"/>
              <a:t>Click to edit Master text styles</a:t>
            </a:r>
          </a:p>
          <a:p>
            <a:pPr lvl="1"/>
            <a:r>
              <a:rPr lang="en-US" altLang="pt-BR" noProof="0"/>
              <a:t>Second level</a:t>
            </a:r>
          </a:p>
          <a:p>
            <a:pPr lvl="2"/>
            <a:r>
              <a:rPr lang="en-US" altLang="pt-BR" noProof="0"/>
              <a:t>Third level</a:t>
            </a:r>
          </a:p>
          <a:p>
            <a:pPr lvl="3"/>
            <a:r>
              <a:rPr lang="en-US" altLang="pt-BR" noProof="0"/>
              <a:t>Fourth level</a:t>
            </a:r>
          </a:p>
          <a:p>
            <a:pPr lvl="4"/>
            <a:r>
              <a:rPr lang="en-US" altLang="pt-BR" noProof="0"/>
              <a:t>Fifth level</a:t>
            </a:r>
          </a:p>
        </p:txBody>
      </p:sp>
      <p:sp>
        <p:nvSpPr>
          <p:cNvPr id="32774" name="Rectangle 6">
            <a:extLst>
              <a:ext uri="{FF2B5EF4-FFF2-40B4-BE49-F238E27FC236}">
                <a16:creationId xmlns:a16="http://schemas.microsoft.com/office/drawing/2014/main" id="{2AED54D6-B7D6-4FA9-8A90-C49ED5442B3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pt-BR"/>
          </a:p>
        </p:txBody>
      </p:sp>
      <p:sp>
        <p:nvSpPr>
          <p:cNvPr id="32775" name="Rectangle 7">
            <a:extLst>
              <a:ext uri="{FF2B5EF4-FFF2-40B4-BE49-F238E27FC236}">
                <a16:creationId xmlns:a16="http://schemas.microsoft.com/office/drawing/2014/main" id="{48D815C7-6E7F-487A-A288-6610E6D1C3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BF18CBD4-2DB1-436D-B016-CD34C6919802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>
            <a:extLst>
              <a:ext uri="{FF2B5EF4-FFF2-40B4-BE49-F238E27FC236}">
                <a16:creationId xmlns:a16="http://schemas.microsoft.com/office/drawing/2014/main" id="{F2485E1F-8A9E-4DCC-B56A-3331CF9656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49859" name="Rectangle 3">
            <a:extLst>
              <a:ext uri="{FF2B5EF4-FFF2-40B4-BE49-F238E27FC236}">
                <a16:creationId xmlns:a16="http://schemas.microsoft.com/office/drawing/2014/main" id="{FE46AA8B-5188-49BB-81AE-35048385B8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4936634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>
            <a:extLst>
              <a:ext uri="{FF2B5EF4-FFF2-40B4-BE49-F238E27FC236}">
                <a16:creationId xmlns:a16="http://schemas.microsoft.com/office/drawing/2014/main" id="{B4246879-F6FA-456F-BDEC-CB557EBF15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51907" name="Rectangle 3">
            <a:extLst>
              <a:ext uri="{FF2B5EF4-FFF2-40B4-BE49-F238E27FC236}">
                <a16:creationId xmlns:a16="http://schemas.microsoft.com/office/drawing/2014/main" id="{BC7FD5BC-E6C3-4838-9F12-B552C77F58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8758137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>
            <a:extLst>
              <a:ext uri="{FF2B5EF4-FFF2-40B4-BE49-F238E27FC236}">
                <a16:creationId xmlns:a16="http://schemas.microsoft.com/office/drawing/2014/main" id="{A96FC759-3327-4277-A398-E1580EC600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53955" name="Rectangle 3">
            <a:extLst>
              <a:ext uri="{FF2B5EF4-FFF2-40B4-BE49-F238E27FC236}">
                <a16:creationId xmlns:a16="http://schemas.microsoft.com/office/drawing/2014/main" id="{2DB54EA7-500E-429E-A7C1-02131BCD25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9885162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>
            <a:extLst>
              <a:ext uri="{FF2B5EF4-FFF2-40B4-BE49-F238E27FC236}">
                <a16:creationId xmlns:a16="http://schemas.microsoft.com/office/drawing/2014/main" id="{055C1ABC-B837-47B8-9F7B-7F2BCC864C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73411" name="Rectangle 3">
            <a:extLst>
              <a:ext uri="{FF2B5EF4-FFF2-40B4-BE49-F238E27FC236}">
                <a16:creationId xmlns:a16="http://schemas.microsoft.com/office/drawing/2014/main" id="{653B8808-1296-4BDE-961F-417E6B8058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6393242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2">
            <a:extLst>
              <a:ext uri="{FF2B5EF4-FFF2-40B4-BE49-F238E27FC236}">
                <a16:creationId xmlns:a16="http://schemas.microsoft.com/office/drawing/2014/main" id="{2DCB83B7-397A-4781-8B58-5B75200169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75459" name="Rectangle 3">
            <a:extLst>
              <a:ext uri="{FF2B5EF4-FFF2-40B4-BE49-F238E27FC236}">
                <a16:creationId xmlns:a16="http://schemas.microsoft.com/office/drawing/2014/main" id="{3D261159-1DAB-476C-8B90-778D044A43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1332049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6" name="Rectangle 2">
            <a:extLst>
              <a:ext uri="{FF2B5EF4-FFF2-40B4-BE49-F238E27FC236}">
                <a16:creationId xmlns:a16="http://schemas.microsoft.com/office/drawing/2014/main" id="{66BA2B6E-D0C5-40AC-99F2-EBBB155E56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77507" name="Rectangle 3">
            <a:extLst>
              <a:ext uri="{FF2B5EF4-FFF2-40B4-BE49-F238E27FC236}">
                <a16:creationId xmlns:a16="http://schemas.microsoft.com/office/drawing/2014/main" id="{861C60B4-4930-4E10-BB1A-6C6360A478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6288527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Rectangle 2">
            <a:extLst>
              <a:ext uri="{FF2B5EF4-FFF2-40B4-BE49-F238E27FC236}">
                <a16:creationId xmlns:a16="http://schemas.microsoft.com/office/drawing/2014/main" id="{8375F9AC-0DFE-4A17-8636-1553E74539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57027" name="Rectangle 3">
            <a:extLst>
              <a:ext uri="{FF2B5EF4-FFF2-40B4-BE49-F238E27FC236}">
                <a16:creationId xmlns:a16="http://schemas.microsoft.com/office/drawing/2014/main" id="{8D3A386B-DED4-439E-99FE-89A474DB32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4487918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F39B7-AFE9-BDA3-0F5F-51DA2DA1D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Rectangle 2">
            <a:extLst>
              <a:ext uri="{FF2B5EF4-FFF2-40B4-BE49-F238E27FC236}">
                <a16:creationId xmlns:a16="http://schemas.microsoft.com/office/drawing/2014/main" id="{BAE589FE-C941-B443-7FC0-8C632354AF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57027" name="Rectangle 3">
            <a:extLst>
              <a:ext uri="{FF2B5EF4-FFF2-40B4-BE49-F238E27FC236}">
                <a16:creationId xmlns:a16="http://schemas.microsoft.com/office/drawing/2014/main" id="{E0C541AB-77E5-C5C2-DA0C-8D2A74B823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5702339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2">
            <a:extLst>
              <a:ext uri="{FF2B5EF4-FFF2-40B4-BE49-F238E27FC236}">
                <a16:creationId xmlns:a16="http://schemas.microsoft.com/office/drawing/2014/main" id="{F01F59E5-77E2-4C1F-A744-99D4D9DC75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59075" name="Rectangle 3">
            <a:extLst>
              <a:ext uri="{FF2B5EF4-FFF2-40B4-BE49-F238E27FC236}">
                <a16:creationId xmlns:a16="http://schemas.microsoft.com/office/drawing/2014/main" id="{5AFCCD15-6084-4222-8BF8-F0C112A5FE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5922060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Rectangle 2">
            <a:extLst>
              <a:ext uri="{FF2B5EF4-FFF2-40B4-BE49-F238E27FC236}">
                <a16:creationId xmlns:a16="http://schemas.microsoft.com/office/drawing/2014/main" id="{47B40FBB-D482-4507-AD3B-964A746712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61123" name="Rectangle 3">
            <a:extLst>
              <a:ext uri="{FF2B5EF4-FFF2-40B4-BE49-F238E27FC236}">
                <a16:creationId xmlns:a16="http://schemas.microsoft.com/office/drawing/2014/main" id="{D1F6F620-0B47-49C9-9477-3829C7B050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6176351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1AE2D-7ED1-91FA-5DB6-872CCE14E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2">
            <a:extLst>
              <a:ext uri="{FF2B5EF4-FFF2-40B4-BE49-F238E27FC236}">
                <a16:creationId xmlns:a16="http://schemas.microsoft.com/office/drawing/2014/main" id="{185D2F05-DA41-00E2-5BA4-F94C865A31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59075" name="Rectangle 3">
            <a:extLst>
              <a:ext uri="{FF2B5EF4-FFF2-40B4-BE49-F238E27FC236}">
                <a16:creationId xmlns:a16="http://schemas.microsoft.com/office/drawing/2014/main" id="{1E935949-C01C-5A2A-3932-F3E9AFCBA7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7232128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8" name="Rectangle 2">
            <a:extLst>
              <a:ext uri="{FF2B5EF4-FFF2-40B4-BE49-F238E27FC236}">
                <a16:creationId xmlns:a16="http://schemas.microsoft.com/office/drawing/2014/main" id="{95E1CDF2-5A68-4DA7-92BA-BECC8CE00D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65219" name="Rectangle 3">
            <a:extLst>
              <a:ext uri="{FF2B5EF4-FFF2-40B4-BE49-F238E27FC236}">
                <a16:creationId xmlns:a16="http://schemas.microsoft.com/office/drawing/2014/main" id="{AB5DB468-B8E7-427A-AACF-0642003913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5382705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0C19E-8177-C6D9-A0AE-61CF1EECB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8" name="Rectangle 2">
            <a:extLst>
              <a:ext uri="{FF2B5EF4-FFF2-40B4-BE49-F238E27FC236}">
                <a16:creationId xmlns:a16="http://schemas.microsoft.com/office/drawing/2014/main" id="{A7FAA6FD-22A4-FDBA-2769-FBEC464585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65219" name="Rectangle 3">
            <a:extLst>
              <a:ext uri="{FF2B5EF4-FFF2-40B4-BE49-F238E27FC236}">
                <a16:creationId xmlns:a16="http://schemas.microsoft.com/office/drawing/2014/main" id="{B698E11A-1D01-90BC-19CE-95F0BD6BF6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2890965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533E1-5BFB-90CF-A9F8-4B7447950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8" name="Rectangle 2">
            <a:extLst>
              <a:ext uri="{FF2B5EF4-FFF2-40B4-BE49-F238E27FC236}">
                <a16:creationId xmlns:a16="http://schemas.microsoft.com/office/drawing/2014/main" id="{D2EF71C1-36EA-52FC-AEC2-47F0DF9F94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65219" name="Rectangle 3">
            <a:extLst>
              <a:ext uri="{FF2B5EF4-FFF2-40B4-BE49-F238E27FC236}">
                <a16:creationId xmlns:a16="http://schemas.microsoft.com/office/drawing/2014/main" id="{C1E53FEF-31B3-0B9A-469A-1FB6648EB9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5062960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E8831-956F-B942-ADF2-536A6D77E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8" name="Rectangle 2">
            <a:extLst>
              <a:ext uri="{FF2B5EF4-FFF2-40B4-BE49-F238E27FC236}">
                <a16:creationId xmlns:a16="http://schemas.microsoft.com/office/drawing/2014/main" id="{CB54C31E-EEC3-408A-2316-653D649BD2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65219" name="Rectangle 3">
            <a:extLst>
              <a:ext uri="{FF2B5EF4-FFF2-40B4-BE49-F238E27FC236}">
                <a16:creationId xmlns:a16="http://schemas.microsoft.com/office/drawing/2014/main" id="{C643B5E3-1039-4CDC-B4D8-9E57A06C74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4834083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>
            <a:extLst>
              <a:ext uri="{FF2B5EF4-FFF2-40B4-BE49-F238E27FC236}">
                <a16:creationId xmlns:a16="http://schemas.microsoft.com/office/drawing/2014/main" id="{7314616D-95D2-43D6-A8A7-13C68E81B3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67267" name="Rectangle 3">
            <a:extLst>
              <a:ext uri="{FF2B5EF4-FFF2-40B4-BE49-F238E27FC236}">
                <a16:creationId xmlns:a16="http://schemas.microsoft.com/office/drawing/2014/main" id="{C9CA30EF-FC37-4EC5-8DF3-E945DC10B6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6028567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Rectangle 2">
            <a:extLst>
              <a:ext uri="{FF2B5EF4-FFF2-40B4-BE49-F238E27FC236}">
                <a16:creationId xmlns:a16="http://schemas.microsoft.com/office/drawing/2014/main" id="{389D4BD6-6F2F-4838-9657-2C2E477FA0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69315" name="Rectangle 3">
            <a:extLst>
              <a:ext uri="{FF2B5EF4-FFF2-40B4-BE49-F238E27FC236}">
                <a16:creationId xmlns:a16="http://schemas.microsoft.com/office/drawing/2014/main" id="{69E17007-06F5-4FB7-8543-436CAA965C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0457635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B02B9-D560-6914-0974-F3E615DC1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Rectangle 2">
            <a:extLst>
              <a:ext uri="{FF2B5EF4-FFF2-40B4-BE49-F238E27FC236}">
                <a16:creationId xmlns:a16="http://schemas.microsoft.com/office/drawing/2014/main" id="{03BDD0F0-3C51-825F-B574-7125AC84DD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69315" name="Rectangle 3">
            <a:extLst>
              <a:ext uri="{FF2B5EF4-FFF2-40B4-BE49-F238E27FC236}">
                <a16:creationId xmlns:a16="http://schemas.microsoft.com/office/drawing/2014/main" id="{20D24940-B54E-F685-4A48-94E959D052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0528771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Rectangle 2">
            <a:extLst>
              <a:ext uri="{FF2B5EF4-FFF2-40B4-BE49-F238E27FC236}">
                <a16:creationId xmlns:a16="http://schemas.microsoft.com/office/drawing/2014/main" id="{9301236F-D8C8-4F7C-8A7F-C979AA08F3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71363" name="Rectangle 3">
            <a:extLst>
              <a:ext uri="{FF2B5EF4-FFF2-40B4-BE49-F238E27FC236}">
                <a16:creationId xmlns:a16="http://schemas.microsoft.com/office/drawing/2014/main" id="{E994673B-ABC0-4390-9B05-6CEF3C6CE6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8485168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7">
            <a:extLst>
              <a:ext uri="{FF2B5EF4-FFF2-40B4-BE49-F238E27FC236}">
                <a16:creationId xmlns:a16="http://schemas.microsoft.com/office/drawing/2014/main" id="{9C654A9C-014E-4C1F-AE8E-603E42A70B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822D6D99-66C1-4538-B43E-E25412C6A277}" type="slidenum">
              <a:rPr lang="en-US" altLang="pt-BR" smtClean="0">
                <a:latin typeface="Times New Roman" panose="02020603050405020304" pitchFamily="18" charset="0"/>
              </a:rPr>
              <a:pPr/>
              <a:t>28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236547" name="Rectangle 2">
            <a:extLst>
              <a:ext uri="{FF2B5EF4-FFF2-40B4-BE49-F238E27FC236}">
                <a16:creationId xmlns:a16="http://schemas.microsoft.com/office/drawing/2014/main" id="{24FCE148-45C6-4EEB-BCB0-76E8C00AE9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36548" name="Rectangle 3">
            <a:extLst>
              <a:ext uri="{FF2B5EF4-FFF2-40B4-BE49-F238E27FC236}">
                <a16:creationId xmlns:a16="http://schemas.microsoft.com/office/drawing/2014/main" id="{696DCD89-A62A-45FD-A86B-CD615D5EDE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0F992-C9A5-463F-D4D4-C3F42A914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7">
            <a:extLst>
              <a:ext uri="{FF2B5EF4-FFF2-40B4-BE49-F238E27FC236}">
                <a16:creationId xmlns:a16="http://schemas.microsoft.com/office/drawing/2014/main" id="{00FD08F2-7A2E-66E2-6B2B-894E7E6033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822D6D99-66C1-4538-B43E-E25412C6A277}" type="slidenum">
              <a:rPr lang="en-US" altLang="pt-BR" smtClean="0">
                <a:latin typeface="Times New Roman" panose="02020603050405020304" pitchFamily="18" charset="0"/>
              </a:rPr>
              <a:pPr/>
              <a:t>29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236547" name="Rectangle 2">
            <a:extLst>
              <a:ext uri="{FF2B5EF4-FFF2-40B4-BE49-F238E27FC236}">
                <a16:creationId xmlns:a16="http://schemas.microsoft.com/office/drawing/2014/main" id="{65FBF973-5B76-9B9A-2FF1-263798FC6E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36548" name="Rectangle 3">
            <a:extLst>
              <a:ext uri="{FF2B5EF4-FFF2-40B4-BE49-F238E27FC236}">
                <a16:creationId xmlns:a16="http://schemas.microsoft.com/office/drawing/2014/main" id="{A2EC15F1-8C00-324B-3D68-0B439A2AAB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8534674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65C33-4373-FCB1-D266-4E68258D0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7">
            <a:extLst>
              <a:ext uri="{FF2B5EF4-FFF2-40B4-BE49-F238E27FC236}">
                <a16:creationId xmlns:a16="http://schemas.microsoft.com/office/drawing/2014/main" id="{CA351617-28D0-32E9-52D9-AFA10B0FC9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822D6D99-66C1-4538-B43E-E25412C6A277}" type="slidenum">
              <a:rPr lang="en-US" altLang="pt-BR" smtClean="0">
                <a:latin typeface="Times New Roman" panose="02020603050405020304" pitchFamily="18" charset="0"/>
              </a:rPr>
              <a:pPr/>
              <a:t>30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236547" name="Rectangle 2">
            <a:extLst>
              <a:ext uri="{FF2B5EF4-FFF2-40B4-BE49-F238E27FC236}">
                <a16:creationId xmlns:a16="http://schemas.microsoft.com/office/drawing/2014/main" id="{DE669702-E917-6C80-0FD7-219347B67F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36548" name="Rectangle 3">
            <a:extLst>
              <a:ext uri="{FF2B5EF4-FFF2-40B4-BE49-F238E27FC236}">
                <a16:creationId xmlns:a16="http://schemas.microsoft.com/office/drawing/2014/main" id="{7042DF4E-087C-ED9E-6A5F-1E89E7171C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445952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14400" y="2130430"/>
            <a:ext cx="10363200" cy="14700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189" indent="0" algn="ctr">
              <a:buNone/>
              <a:defRPr/>
            </a:lvl2pPr>
            <a:lvl3pPr marL="914377" indent="0" algn="ctr">
              <a:buNone/>
              <a:defRPr/>
            </a:lvl3pPr>
            <a:lvl4pPr marL="1371566" indent="0" algn="ctr">
              <a:buNone/>
              <a:defRPr/>
            </a:lvl4pPr>
            <a:lvl5pPr marL="1828754" indent="0" algn="ctr">
              <a:buNone/>
              <a:defRPr/>
            </a:lvl5pPr>
            <a:lvl6pPr marL="2285943" indent="0" algn="ctr">
              <a:buNone/>
              <a:defRPr/>
            </a:lvl6pPr>
            <a:lvl7pPr marL="2743131" indent="0" algn="ctr">
              <a:buNone/>
              <a:defRPr/>
            </a:lvl7pPr>
            <a:lvl8pPr marL="3200320" indent="0" algn="ctr">
              <a:buNone/>
              <a:defRPr/>
            </a:lvl8pPr>
            <a:lvl9pPr marL="3657509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67C8141-31ED-457C-99D9-350DD624204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20A417-9999-46FF-A3D3-7D6E9909C221}" type="datetime1">
              <a:rPr lang="pt-BR"/>
              <a:pPr>
                <a:defRPr/>
              </a:pPr>
              <a:t>02/09/2025</a:t>
            </a:fld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6281E46-F80A-43DE-A8EE-AACED3E3A1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B337B06-63DC-4C16-B745-4E09C00C98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4FCE15-2783-440C-88D3-6F0C5FF98BE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0064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71F01C7-2C02-4523-A306-7A836760685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66582C-A7B1-4F89-A69D-6194BC6EC2B0}" type="datetime1">
              <a:rPr lang="pt-BR"/>
              <a:pPr>
                <a:defRPr/>
              </a:pPr>
              <a:t>02/09/2025</a:t>
            </a:fld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3F24264-E0B8-4BED-B97D-3BBE7E8AE80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2033101-1BBF-4E14-8C86-4E4F3042ECB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85801B-C5F4-4CE9-9972-7743B2F4CE51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709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09600" y="1412875"/>
            <a:ext cx="5384800" cy="4608513"/>
          </a:xfrm>
        </p:spPr>
        <p:txBody>
          <a:bodyPr/>
          <a:lstStyle>
            <a:lvl1pPr>
              <a:defRPr sz="2000"/>
            </a:lvl1pPr>
            <a:lvl2pPr marL="742932" indent="-285744">
              <a:buFont typeface="Wingdings" pitchFamily="2" charset="2"/>
              <a:buChar char="q"/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1412875"/>
            <a:ext cx="5384800" cy="4608513"/>
          </a:xfrm>
        </p:spPr>
        <p:txBody>
          <a:bodyPr/>
          <a:lstStyle>
            <a:lvl1pPr>
              <a:defRPr sz="2000"/>
            </a:lvl1pPr>
            <a:lvl2pPr marL="742932" indent="-285744">
              <a:buFont typeface="Wingdings" pitchFamily="2" charset="2"/>
              <a:buChar char="q"/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326173-26BC-4593-B7C1-E23A39BAD9E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C00D5B-FDAC-46D3-9687-F926429DCC10}" type="datetime1">
              <a:rPr lang="pt-BR"/>
              <a:pPr>
                <a:defRPr/>
              </a:pPr>
              <a:t>02/09/2025</a:t>
            </a:fld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0E97B9-108A-4600-B9C1-E3BF0A253A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C5B66E-9252-42CC-90D1-5DEB7085906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2F0441-4EC9-4D83-B239-7463ECDC42F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6183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2E7C19D-4C42-49E6-94D3-79C728B637F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48E6D0-1A2F-4A71-B242-3E6441E27A95}" type="datetime1">
              <a:rPr lang="pt-BR"/>
              <a:pPr>
                <a:defRPr/>
              </a:pPr>
              <a:t>02/09/2025</a:t>
            </a:fld>
            <a:endParaRPr lang="pt-BR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65AFFB6-CCED-4204-98D9-2972E4D1289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325C3F6-19C6-47EF-8085-B30510B2BB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F6144B-F5AC-45C6-AD42-115683CD4F0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6305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E3F46D3C-89E2-4078-A10B-F0ABA42634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814CF8-0B47-4FC1-935E-FC6DC1E2DBBD}" type="datetime1">
              <a:rPr lang="pt-BR"/>
              <a:pPr>
                <a:defRPr/>
              </a:pPr>
              <a:t>02/09/2025</a:t>
            </a:fld>
            <a:endParaRPr lang="pt-BR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AAF5F02-3FCC-4A49-9274-43B56B22A9D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C38D0CC-248C-430A-BF16-D9FD28C2A83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84DC04-8A4B-4E30-A426-0A3F9942E9A1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3338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ítulo, text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10972800" cy="1371600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609600" y="1412875"/>
            <a:ext cx="5384800" cy="4608513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1412875"/>
            <a:ext cx="5384800" cy="4608513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A0B2FE-7097-4C71-8061-730F03BFF78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D3251E-F713-4CE6-8B62-9899E9E8582B}" type="datetime1">
              <a:rPr lang="pt-BR"/>
              <a:pPr>
                <a:defRPr/>
              </a:pPr>
              <a:t>02/09/2025</a:t>
            </a:fld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8C7502-EAE8-40C9-9664-DB03162335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086C1F-3AA3-4F13-9300-DEED0BD53F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3B2F3D-B7EF-454B-8194-275E64B27B2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3312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946" name="Rectangle 2">
            <a:extLst>
              <a:ext uri="{FF2B5EF4-FFF2-40B4-BE49-F238E27FC236}">
                <a16:creationId xmlns:a16="http://schemas.microsoft.com/office/drawing/2014/main" id="{EB07AEED-CB4C-4B99-9566-65B71564A4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81000"/>
            <a:ext cx="10972800" cy="1371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dirty="0"/>
              <a:t>Clique para editar o estilo do título mestre</a:t>
            </a:r>
          </a:p>
        </p:txBody>
      </p:sp>
      <p:sp>
        <p:nvSpPr>
          <p:cNvPr id="338947" name="Rectangle 3">
            <a:extLst>
              <a:ext uri="{FF2B5EF4-FFF2-40B4-BE49-F238E27FC236}">
                <a16:creationId xmlns:a16="http://schemas.microsoft.com/office/drawing/2014/main" id="{6DA0794B-C626-423E-A998-A04538A0E0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412875"/>
            <a:ext cx="10972800" cy="46085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338948" name="Rectangle 4">
            <a:extLst>
              <a:ext uri="{FF2B5EF4-FFF2-40B4-BE49-F238E27FC236}">
                <a16:creationId xmlns:a16="http://schemas.microsoft.com/office/drawing/2014/main" id="{C4BCC6E3-DDE2-4A10-8502-B3852B7AAF3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3278717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4FBE505E-E1E7-4E61-88B5-0C68E18CBBD9}" type="datetime1">
              <a:rPr lang="pt-BR"/>
              <a:pPr>
                <a:defRPr/>
              </a:pPr>
              <a:t>02/09/2025</a:t>
            </a:fld>
            <a:endParaRPr lang="pt-BR"/>
          </a:p>
        </p:txBody>
      </p:sp>
      <p:sp>
        <p:nvSpPr>
          <p:cNvPr id="338949" name="Rectangle 5">
            <a:extLst>
              <a:ext uri="{FF2B5EF4-FFF2-40B4-BE49-F238E27FC236}">
                <a16:creationId xmlns:a16="http://schemas.microsoft.com/office/drawing/2014/main" id="{58BFDDC7-D4C5-4F75-9DEA-B46A6BAD3EA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38950" name="Rectangle 6">
            <a:extLst>
              <a:ext uri="{FF2B5EF4-FFF2-40B4-BE49-F238E27FC236}">
                <a16:creationId xmlns:a16="http://schemas.microsoft.com/office/drawing/2014/main" id="{6F51F4DB-BB4E-4A65-9F25-B60009485EA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FEE72B94-7C31-49CC-9D5B-A245C9B8AE25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338951" name="Rectangle 7">
            <a:extLst>
              <a:ext uri="{FF2B5EF4-FFF2-40B4-BE49-F238E27FC236}">
                <a16:creationId xmlns:a16="http://schemas.microsoft.com/office/drawing/2014/main" id="{8C74081F-4F76-4ABE-8838-D06EDC927A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511"/>
            <a:ext cx="12192000" cy="646331"/>
          </a:xfrm>
          <a:prstGeom prst="rect">
            <a:avLst/>
          </a:prstGeom>
          <a:solidFill>
            <a:schemeClr val="accent4">
              <a:lumMod val="10000"/>
            </a:schemeClr>
          </a:solidFill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anchor="ctr">
            <a:spAutoFit/>
          </a:bodyPr>
          <a:lstStyle/>
          <a:p>
            <a:pPr algn="ctr" eaLnBrk="1" hangingPunct="1">
              <a:defRPr/>
            </a:pPr>
            <a:r>
              <a:rPr lang="pt-BR" altLang="pt-BR" sz="1800" b="1" dirty="0"/>
              <a:t>CURSO SUPERIOR DE TECNOLOGIA EM ANÁLISE </a:t>
            </a:r>
          </a:p>
          <a:p>
            <a:pPr algn="ctr" eaLnBrk="1" hangingPunct="1">
              <a:defRPr/>
            </a:pPr>
            <a:r>
              <a:rPr lang="pt-BR" altLang="pt-BR" sz="1800" b="1" dirty="0"/>
              <a:t>E DESENVOLVIMENTO DE SISTEMAS</a:t>
            </a: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34" name="Imagem 1">
            <a:extLst>
              <a:ext uri="{FF2B5EF4-FFF2-40B4-BE49-F238E27FC236}">
                <a16:creationId xmlns:a16="http://schemas.microsoft.com/office/drawing/2014/main" id="{CFD722A8-AFE6-44AC-8E13-AA56413C0929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67" y="133355"/>
            <a:ext cx="20447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dk2" tx1="lt1" bg2="dk1" tx2="lt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000" b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000" b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000" b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000" b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000" b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5pPr>
      <a:lvl6pPr marL="457189" algn="ctr" rtl="0" fontAlgn="base">
        <a:spcBef>
          <a:spcPct val="0"/>
        </a:spcBef>
        <a:spcAft>
          <a:spcPct val="0"/>
        </a:spcAft>
        <a:defRPr sz="2000" b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6pPr>
      <a:lvl7pPr marL="914377" algn="ctr" rtl="0" fontAlgn="base">
        <a:spcBef>
          <a:spcPct val="0"/>
        </a:spcBef>
        <a:spcAft>
          <a:spcPct val="0"/>
        </a:spcAft>
        <a:defRPr sz="2000" b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7pPr>
      <a:lvl8pPr marL="1371566" algn="ctr" rtl="0" fontAlgn="base">
        <a:spcBef>
          <a:spcPct val="0"/>
        </a:spcBef>
        <a:spcAft>
          <a:spcPct val="0"/>
        </a:spcAft>
        <a:defRPr sz="2000" b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8pPr>
      <a:lvl9pPr marL="1828754" algn="ctr" rtl="0" fontAlgn="base">
        <a:spcBef>
          <a:spcPct val="0"/>
        </a:spcBef>
        <a:spcAft>
          <a:spcPct val="0"/>
        </a:spcAft>
        <a:defRPr sz="2000" b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9pPr>
    </p:titleStyle>
    <p:bodyStyle>
      <a:lvl1pPr marL="342891" indent="-342891" algn="ctr" rtl="0" eaLnBrk="0" fontAlgn="base" hangingPunct="0">
        <a:spcBef>
          <a:spcPct val="20000"/>
        </a:spcBef>
        <a:spcAft>
          <a:spcPct val="50000"/>
        </a:spcAft>
        <a:buClr>
          <a:schemeClr val="hlink"/>
        </a:buClr>
        <a:buSzPct val="65000"/>
        <a:buFont typeface="Wingdings" panose="05000000000000000000" pitchFamily="2" charset="2"/>
        <a:defRPr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32" indent="-285744" algn="l" rtl="0" eaLnBrk="0" fontAlgn="base" hangingPunct="0">
        <a:spcBef>
          <a:spcPct val="20000"/>
        </a:spcBef>
        <a:spcAft>
          <a:spcPct val="50000"/>
        </a:spcAft>
        <a:buSzPct val="100000"/>
        <a:buFont typeface="Wingdings" panose="05000000000000000000" pitchFamily="2" charset="2"/>
        <a:buChar char="q"/>
        <a:defRPr sz="20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2pPr>
      <a:lvl3pPr marL="1142971" indent="-228594" algn="l" rtl="0" eaLnBrk="0" fontAlgn="base" hangingPunct="0">
        <a:spcBef>
          <a:spcPct val="20000"/>
        </a:spcBef>
        <a:spcAft>
          <a:spcPct val="0"/>
        </a:spcAft>
        <a:buSzPct val="100000"/>
        <a:buFont typeface="Wingdings" panose="05000000000000000000" pitchFamily="2" charset="2"/>
        <a:buChar char="Ø"/>
        <a:defRPr sz="16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5000"/>
        <a:buFont typeface="Wingdings" panose="05000000000000000000" pitchFamily="2" charset="2"/>
        <a:buChar char="n"/>
        <a:defRPr sz="16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4pPr>
      <a:lvl5pPr marL="2057349" indent="-228594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anose="05000000000000000000" pitchFamily="2" charset="2"/>
        <a:buChar char="n"/>
        <a:defRPr sz="16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5pPr>
      <a:lvl6pPr marL="2514537" indent="-228594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16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6pPr>
      <a:lvl7pPr marL="2971726" indent="-228594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16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7pPr>
      <a:lvl8pPr marL="3428914" indent="-228594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16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8pPr>
      <a:lvl9pPr marL="3886103" indent="-228594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16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9pPr>
    </p:bodyStyle>
    <p:otherStyle>
      <a:defPPr>
        <a:defRPr lang="pt-BR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D430A5-504C-FD69-4F20-3A32AE7382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Linguagem de Programação em C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E35948D-EDE4-9F33-855F-95A573831C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Conteúdo Programático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CF2F7E6-0681-EE53-38D2-3E98A85AC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4FCE15-2783-440C-88D3-6F0C5FF98BE2}" type="slidenum">
              <a:rPr lang="pt-BR" smtClean="0"/>
              <a:pPr>
                <a:defRPr/>
              </a:pPr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242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ED2269FD-C1CB-7CF5-1C34-818075BAE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84DC04-8A4B-4E30-A426-0A3F9942E9A1}" type="slidenum">
              <a:rPr lang="pt-BR" smtClean="0"/>
              <a:pPr>
                <a:defRPr/>
              </a:pPr>
              <a:t>2</a:t>
            </a:fld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6B657C7-772E-D7FF-0DDB-5041AC520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3" y="836712"/>
            <a:ext cx="4699104" cy="5699971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44666C79-D47E-BEA3-2E44-625E2BA1D9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71" y="-13387"/>
            <a:ext cx="3637490" cy="6858000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16A49B29-81CD-C865-B65D-DDB87DEEDA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351" y="-13387"/>
            <a:ext cx="2955285" cy="6858000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B505119B-E79C-B6F2-3623-1C7A45C529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8636" y="0"/>
            <a:ext cx="3013364" cy="6858000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62994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2E1CA5-92B8-C057-1615-CAC4D50C1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>
                <a:effectLst/>
              </a:rPr>
              <a:t>2. ESTRUTURAS BÁSICAS EM C</a:t>
            </a:r>
            <a:endParaRPr lang="pt-BR" dirty="0">
              <a:effectLst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CB85025-7293-C177-A163-A0F178872E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pt-PT" dirty="0">
                <a:effectLst/>
              </a:rPr>
              <a:t>2.1 Operadores Aritméticos, Relacionais e Lógicos</a:t>
            </a:r>
            <a:endParaRPr lang="pt-BR" dirty="0">
              <a:effectLst/>
            </a:endParaRPr>
          </a:p>
          <a:p>
            <a:pPr algn="l"/>
            <a:r>
              <a:rPr lang="pt-PT" dirty="0">
                <a:effectLst/>
              </a:rPr>
              <a:t>2.1.1 Operadores Aritméticos</a:t>
            </a:r>
            <a:endParaRPr lang="pt-BR" dirty="0">
              <a:effectLst/>
            </a:endParaRPr>
          </a:p>
          <a:p>
            <a:pPr algn="l"/>
            <a:r>
              <a:rPr lang="pt-PT" dirty="0">
                <a:effectLst/>
              </a:rPr>
              <a:t>2.1.2 Operadores Relacionais</a:t>
            </a:r>
            <a:endParaRPr lang="pt-BR" dirty="0">
              <a:effectLst/>
            </a:endParaRPr>
          </a:p>
          <a:p>
            <a:pPr algn="l"/>
            <a:r>
              <a:rPr lang="pt-PT" dirty="0">
                <a:effectLst/>
              </a:rPr>
              <a:t>2.1.3 Operadores Lógicos</a:t>
            </a:r>
            <a:endParaRPr lang="pt-BR" dirty="0">
              <a:effectLst/>
            </a:endParaRPr>
          </a:p>
          <a:p>
            <a:pPr algn="l"/>
            <a:r>
              <a:rPr lang="pt-PT" dirty="0">
                <a:effectLst/>
              </a:rPr>
              <a:t>2.2 Aplicações e Exemplos do Uso de Operadores na Linguagem C</a:t>
            </a:r>
            <a:endParaRPr lang="pt-BR" dirty="0">
              <a:effectLst/>
            </a:endParaRPr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3146E5A-FB57-1C8D-CB65-DBCE42001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85801B-C5F4-4CE9-9972-7743B2F4CE51}" type="slidenum">
              <a:rPr lang="pt-BR" smtClean="0"/>
              <a:pPr>
                <a:defRPr/>
              </a:pPr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970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Rectangle 2">
            <a:extLst>
              <a:ext uri="{FF2B5EF4-FFF2-40B4-BE49-F238E27FC236}">
                <a16:creationId xmlns:a16="http://schemas.microsoft.com/office/drawing/2014/main" id="{316B3C92-509F-4367-9C88-DDD8DF0986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altLang="pt-BR" dirty="0">
                <a:effectLst/>
              </a:rPr>
              <a:t> 2.5 - Expressões aritméticas e lógicas; </a:t>
            </a:r>
            <a:br>
              <a:rPr lang="pt-BR" altLang="pt-BR" dirty="0">
                <a:effectLst/>
              </a:rPr>
            </a:br>
            <a:r>
              <a:rPr lang="pt-BR" altLang="pt-BR" dirty="0">
                <a:effectLst/>
              </a:rPr>
              <a:t>Operadores Aritméticos</a:t>
            </a:r>
            <a:endParaRPr lang="pt-BR" altLang="pt-BR" b="0" dirty="0">
              <a:effectLst/>
            </a:endParaRPr>
          </a:p>
        </p:txBody>
      </p:sp>
      <p:sp>
        <p:nvSpPr>
          <p:cNvPr id="248835" name="Rectangle 3">
            <a:extLst>
              <a:ext uri="{FF2B5EF4-FFF2-40B4-BE49-F238E27FC236}">
                <a16:creationId xmlns:a16="http://schemas.microsoft.com/office/drawing/2014/main" id="{1FAAEC73-259B-47BF-B917-A23B747DFA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effectLst/>
            </a:endParaRPr>
          </a:p>
        </p:txBody>
      </p:sp>
      <p:graphicFrame>
        <p:nvGraphicFramePr>
          <p:cNvPr id="247844" name="Group 36">
            <a:extLst>
              <a:ext uri="{FF2B5EF4-FFF2-40B4-BE49-F238E27FC236}">
                <a16:creationId xmlns:a16="http://schemas.microsoft.com/office/drawing/2014/main" id="{C47FAF44-3C62-4337-88DD-971E6A5944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845566"/>
              </p:ext>
            </p:extLst>
          </p:nvPr>
        </p:nvGraphicFramePr>
        <p:xfrm>
          <a:off x="609600" y="1687173"/>
          <a:ext cx="7504113" cy="4450080"/>
        </p:xfrm>
        <a:graphic>
          <a:graphicData uri="http://schemas.openxmlformats.org/drawingml/2006/table">
            <a:tbl>
              <a:tblPr>
                <a:tableStyleId>{638B1855-1B75-4FBE-930C-398BA8C253C6}</a:tableStyleId>
              </a:tblPr>
              <a:tblGrid>
                <a:gridCol w="12557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4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1040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Operador</a:t>
                      </a:r>
                      <a:endParaRPr kumimoji="0" lang="pt-BR" altLang="pt-B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Ação</a:t>
                      </a:r>
                      <a:endParaRPr kumimoji="0" lang="pt-BR" altLang="pt-B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+</a:t>
                      </a:r>
                      <a:endParaRPr kumimoji="0" lang="pt-BR" altLang="pt-B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Soma (inteira e ponto flutuante)</a:t>
                      </a:r>
                      <a:endParaRPr kumimoji="0" lang="pt-BR" altLang="pt-B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kumimoji="0" lang="pt-BR" altLang="pt-B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Subtração ou Troca de sinal (inteira e ponto flutuante)</a:t>
                      </a:r>
                      <a:endParaRPr kumimoji="0" lang="pt-BR" altLang="pt-B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*</a:t>
                      </a:r>
                      <a:endParaRPr kumimoji="0" lang="pt-BR" altLang="pt-B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Multiplicação (inteira e ponto flutuante)</a:t>
                      </a:r>
                      <a:endParaRPr kumimoji="0" lang="pt-BR" altLang="pt-B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endParaRPr kumimoji="0" lang="pt-BR" altLang="pt-B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Divisão (inteira e ponto flutuante)</a:t>
                      </a:r>
                      <a:endParaRPr kumimoji="0" lang="pt-BR" altLang="pt-B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%</a:t>
                      </a:r>
                      <a:endParaRPr kumimoji="0" lang="pt-BR" altLang="pt-B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Resto de divisão (de inteiros)</a:t>
                      </a:r>
                      <a:endParaRPr kumimoji="0" lang="pt-BR" altLang="pt-B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00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++</a:t>
                      </a:r>
                      <a:endParaRPr kumimoji="0" lang="pt-BR" altLang="pt-B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Incremento (inteiro e ponto flutuante)</a:t>
                      </a:r>
                      <a:endParaRPr kumimoji="0" lang="pt-BR" altLang="pt-B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000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--</a:t>
                      </a:r>
                      <a:endParaRPr kumimoji="0" lang="pt-BR" altLang="pt-B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Decremento (inteiro e ponto flutuante)</a:t>
                      </a:r>
                      <a:endParaRPr kumimoji="0" lang="pt-BR" altLang="pt-BR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202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Rectangle 2">
            <a:extLst>
              <a:ext uri="{FF2B5EF4-FFF2-40B4-BE49-F238E27FC236}">
                <a16:creationId xmlns:a16="http://schemas.microsoft.com/office/drawing/2014/main" id="{308B4D7B-CD05-4F13-9C8B-32D5DD496E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altLang="pt-BR">
                <a:effectLst/>
              </a:rPr>
              <a:t> 2.5 - Expressões aritméticas e lógicas; </a:t>
            </a:r>
            <a:br>
              <a:rPr lang="pt-BR" altLang="pt-BR">
                <a:effectLst/>
              </a:rPr>
            </a:br>
            <a:r>
              <a:rPr lang="pt-BR" altLang="pt-BR">
                <a:effectLst/>
              </a:rPr>
              <a:t>Operadores Aritméticos</a:t>
            </a:r>
            <a:endParaRPr lang="pt-BR" altLang="pt-BR" b="0">
              <a:effectLst/>
            </a:endParaRPr>
          </a:p>
        </p:txBody>
      </p:sp>
      <p:sp>
        <p:nvSpPr>
          <p:cNvPr id="250883" name="Rectangle 3">
            <a:extLst>
              <a:ext uri="{FF2B5EF4-FFF2-40B4-BE49-F238E27FC236}">
                <a16:creationId xmlns:a16="http://schemas.microsoft.com/office/drawing/2014/main" id="{5BEA2F5F-0534-436F-976C-E3DC810298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altLang="pt-BR" b="1" dirty="0">
                <a:effectLst/>
              </a:rPr>
              <a:t>Restrições de operandos.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   Os operandos dos operadores aritméticos devem ser constantes numéricas ou identificadores de variáveis numéricas.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Os operadores +, -, *, / podem operar números de todos os tipos (inteiros ou reais) porém o operador </a:t>
            </a:r>
            <a:r>
              <a:rPr lang="pt-BR" altLang="pt-BR" b="1" dirty="0">
                <a:effectLst/>
              </a:rPr>
              <a:t>%</a:t>
            </a:r>
            <a:r>
              <a:rPr lang="pt-BR" altLang="pt-BR" dirty="0">
                <a:effectLst/>
              </a:rPr>
              <a:t> somente aceita operandos </a:t>
            </a:r>
            <a:r>
              <a:rPr lang="pt-BR" altLang="pt-BR" b="1" dirty="0">
                <a:effectLst/>
              </a:rPr>
              <a:t>inteiros</a:t>
            </a:r>
            <a:r>
              <a:rPr lang="pt-BR" altLang="pt-BR" dirty="0">
                <a:effectLst/>
              </a:rPr>
              <a:t>. </a:t>
            </a:r>
          </a:p>
          <a:p>
            <a:pPr algn="just"/>
            <a:r>
              <a:rPr lang="pt-BR" altLang="pt-BR" dirty="0">
                <a:effectLst/>
              </a:rPr>
              <a:t>	</a:t>
            </a:r>
            <a:r>
              <a:rPr lang="pt-BR" altLang="pt-BR" b="1" dirty="0">
                <a:effectLst/>
              </a:rPr>
              <a:t>Exemplo:</a:t>
            </a:r>
            <a:r>
              <a:rPr lang="pt-BR" altLang="pt-BR" dirty="0">
                <a:effectLst/>
              </a:rPr>
              <a:t>  Expressões válidas</a:t>
            </a:r>
          </a:p>
          <a:p>
            <a:pPr algn="l"/>
            <a:r>
              <a:rPr lang="pt-BR" altLang="pt-BR" dirty="0">
                <a:effectLst/>
              </a:rPr>
              <a:t>	</a:t>
            </a:r>
          </a:p>
          <a:p>
            <a:pPr algn="l"/>
            <a:r>
              <a:rPr lang="pt-BR" altLang="pt-BR" dirty="0">
                <a:effectLst/>
              </a:rPr>
              <a:t>	</a:t>
            </a: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AB52AE00-D0F9-F8B2-95F2-101E94B066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1346348"/>
              </p:ext>
            </p:extLst>
          </p:nvPr>
        </p:nvGraphicFramePr>
        <p:xfrm>
          <a:off x="983432" y="3992881"/>
          <a:ext cx="252028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1130">
                  <a:extLst>
                    <a:ext uri="{9D8B030D-6E8A-4147-A177-3AD203B41FA5}">
                      <a16:colId xmlns:a16="http://schemas.microsoft.com/office/drawing/2014/main" val="4048676686"/>
                    </a:ext>
                  </a:extLst>
                </a:gridCol>
                <a:gridCol w="1099150">
                  <a:extLst>
                    <a:ext uri="{9D8B030D-6E8A-4147-A177-3AD203B41FA5}">
                      <a16:colId xmlns:a16="http://schemas.microsoft.com/office/drawing/2014/main" val="10911709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altLang="pt-BR" b="1" dirty="0">
                          <a:effectLst/>
                        </a:rPr>
                        <a:t>Expressão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pt-BR" b="1" dirty="0">
                          <a:effectLst/>
                        </a:rPr>
                        <a:t>Valor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2986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altLang="pt-BR" dirty="0">
                          <a:effectLst/>
                        </a:rPr>
                        <a:t>6.4 + 2.1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pt-BR" dirty="0">
                          <a:effectLst/>
                        </a:rPr>
                        <a:t>8.5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2705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pt-BR" dirty="0">
                          <a:effectLst/>
                        </a:rPr>
                        <a:t>7 - 2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pt-BR" dirty="0">
                          <a:effectLst/>
                        </a:rPr>
                        <a:t>5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5478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altLang="pt-BR" dirty="0">
                          <a:effectLst/>
                        </a:rPr>
                        <a:t>2.0 * 2.0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pt-BR" dirty="0">
                          <a:effectLst/>
                        </a:rPr>
                        <a:t>4.0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8954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pt-BR" dirty="0">
                          <a:effectLst/>
                        </a:rPr>
                        <a:t>6 / 3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pt-BR" dirty="0">
                          <a:effectLst/>
                        </a:rPr>
                        <a:t>2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3978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altLang="pt-BR" dirty="0">
                          <a:solidFill>
                            <a:srgbClr val="FF0000"/>
                          </a:solidFill>
                          <a:effectLst/>
                        </a:rPr>
                        <a:t>47 % 2</a:t>
                      </a:r>
                      <a:endParaRPr lang="pt-BR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pt-BR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pt-BR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7239422"/>
                  </a:ext>
                </a:extLst>
              </a:tr>
            </a:tbl>
          </a:graphicData>
        </a:graphic>
      </p:graphicFrame>
      <p:pic>
        <p:nvPicPr>
          <p:cNvPr id="4" name="Imagem 3">
            <a:extLst>
              <a:ext uri="{FF2B5EF4-FFF2-40B4-BE49-F238E27FC236}">
                <a16:creationId xmlns:a16="http://schemas.microsoft.com/office/drawing/2014/main" id="{FECB6313-1058-C7B7-BD58-8664378B77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9936" y="3573016"/>
            <a:ext cx="5391150" cy="2733675"/>
          </a:xfrm>
          <a:prstGeom prst="rect">
            <a:avLst/>
          </a:prstGeom>
        </p:spPr>
      </p:pic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FED4C06D-404C-BD3D-6A67-C0CBB17A88ED}"/>
              </a:ext>
            </a:extLst>
          </p:cNvPr>
          <p:cNvCxnSpPr>
            <a:cxnSpLocks/>
          </p:cNvCxnSpPr>
          <p:nvPr/>
        </p:nvCxnSpPr>
        <p:spPr bwMode="auto">
          <a:xfrm flipV="1">
            <a:off x="3503712" y="5301208"/>
            <a:ext cx="4032448" cy="720180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414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>
            <a:extLst>
              <a:ext uri="{FF2B5EF4-FFF2-40B4-BE49-F238E27FC236}">
                <a16:creationId xmlns:a16="http://schemas.microsoft.com/office/drawing/2014/main" id="{5538C6E9-8319-4608-B493-E023745DD5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04813"/>
            <a:ext cx="8229600" cy="1371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altLang="pt-BR">
                <a:effectLst/>
              </a:rPr>
              <a:t> 2.5 - Precedência de Operadores</a:t>
            </a:r>
          </a:p>
        </p:txBody>
      </p:sp>
      <p:sp>
        <p:nvSpPr>
          <p:cNvPr id="252931" name="Rectangle 3">
            <a:extLst>
              <a:ext uri="{FF2B5EF4-FFF2-40B4-BE49-F238E27FC236}">
                <a16:creationId xmlns:a16="http://schemas.microsoft.com/office/drawing/2014/main" id="{D1D5B78F-BEB6-4045-BA28-9FA1038EC06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51384" y="1700213"/>
            <a:ext cx="11161240" cy="46085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algn="just">
              <a:buFont typeface="Wingdings" panose="05000000000000000000" pitchFamily="2" charset="2"/>
              <a:buChar char="§"/>
            </a:pPr>
            <a:r>
              <a:rPr lang="pt-BR" altLang="pt-BR">
                <a:effectLst/>
              </a:rPr>
              <a:t>  Quando mais de um operador se encontram em uma expressão aritmética as operações são efetuadas uma de cada vez respeitando algumas regras de precedência: Estas regras de precedência são as mesmas da matemática elementar.</a:t>
            </a:r>
          </a:p>
          <a:p>
            <a:pPr marL="0" indent="0" algn="just">
              <a:buFont typeface="Wingdings" panose="05000000000000000000" pitchFamily="2" charset="2"/>
              <a:buChar char="§"/>
            </a:pPr>
            <a:r>
              <a:rPr lang="pt-BR" altLang="pt-BR">
                <a:effectLst/>
              </a:rPr>
              <a:t>  Os operadores de multiplicação (*), divisão (/) e módulo (%) tem precedência sobre os operadores de adição (+) e subtração (-). Entre operadores de mesma precedência as operações são efetuadas da </a:t>
            </a:r>
            <a:r>
              <a:rPr lang="pt-BR" altLang="pt-BR" b="1">
                <a:effectLst/>
              </a:rPr>
              <a:t>esquerda</a:t>
            </a:r>
            <a:r>
              <a:rPr lang="pt-BR" altLang="pt-BR">
                <a:effectLst/>
              </a:rPr>
              <a:t> para a </a:t>
            </a:r>
            <a:r>
              <a:rPr lang="pt-BR" altLang="pt-BR" b="1">
                <a:effectLst/>
              </a:rPr>
              <a:t>direita</a:t>
            </a:r>
            <a:r>
              <a:rPr lang="pt-BR" altLang="pt-BR">
                <a:effectLst/>
              </a:rPr>
              <a:t>. </a:t>
            </a:r>
            <a:r>
              <a:rPr lang="pt-BR" altLang="pt-BR" b="1">
                <a:effectLst/>
              </a:rPr>
              <a:t>Exemplo:</a:t>
            </a:r>
            <a:r>
              <a:rPr lang="pt-BR" altLang="pt-BR">
                <a:effectLst/>
              </a:rPr>
              <a:t> observe, nas expressões abaixo, o seu valor e a ordem das operações efetuadas:</a:t>
            </a:r>
          </a:p>
        </p:txBody>
      </p:sp>
      <p:graphicFrame>
        <p:nvGraphicFramePr>
          <p:cNvPr id="251940" name="Group 36">
            <a:extLst>
              <a:ext uri="{FF2B5EF4-FFF2-40B4-BE49-F238E27FC236}">
                <a16:creationId xmlns:a16="http://schemas.microsoft.com/office/drawing/2014/main" id="{9C946BAD-84BA-4846-AF51-E59B1EE0F3C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14460298"/>
              </p:ext>
            </p:extLst>
          </p:nvPr>
        </p:nvGraphicFramePr>
        <p:xfrm>
          <a:off x="6456040" y="3717032"/>
          <a:ext cx="3852865" cy="2398713"/>
        </p:xfrm>
        <a:graphic>
          <a:graphicData uri="http://schemas.openxmlformats.org/drawingml/2006/table">
            <a:tbl>
              <a:tblPr/>
              <a:tblGrid>
                <a:gridCol w="2111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91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23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9425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Expressão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FB79"/>
                    </a:solidFill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Valor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FB79"/>
                    </a:solidFill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Ordem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FB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013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 + 2 - 3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+ 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425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24 - 3 * 5   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* 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425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4 - 2 * 6 / 4 + 1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* / - 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9425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6 / 2 + </a:t>
                      </a:r>
                      <a:r>
                        <a:rPr kumimoji="0" lang="pt-BR" altLang="pt-B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anose="020B0604030504040204" pitchFamily="34" charset="0"/>
                        </a:rPr>
                        <a:t>11 % 3 * 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/ % * 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2958" name="Rectangle 30">
            <a:extLst>
              <a:ext uri="{FF2B5EF4-FFF2-40B4-BE49-F238E27FC236}">
                <a16:creationId xmlns:a16="http://schemas.microsoft.com/office/drawing/2014/main" id="{85F04638-2541-4D3D-85EE-4787B02D86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3" y="6481764"/>
            <a:ext cx="1907895" cy="369332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pt-BR" altLang="pt-BR">
                <a:solidFill>
                  <a:schemeClr val="bg1"/>
                </a:solidFill>
              </a:rPr>
              <a:t>Precedência .cpp</a:t>
            </a:r>
          </a:p>
        </p:txBody>
      </p:sp>
      <p:sp>
        <p:nvSpPr>
          <p:cNvPr id="251935" name="Rectangle 31">
            <a:extLst>
              <a:ext uri="{FF2B5EF4-FFF2-40B4-BE49-F238E27FC236}">
                <a16:creationId xmlns:a16="http://schemas.microsoft.com/office/drawing/2014/main" id="{434D5FA9-9B62-40C8-BE15-50A7063D3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448" y="5003694"/>
            <a:ext cx="5184453" cy="64633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pt-BR" altLang="pt-BR" dirty="0" err="1">
                <a:solidFill>
                  <a:schemeClr val="bg1"/>
                </a:solidFill>
              </a:rPr>
              <a:t>Obs</a:t>
            </a:r>
            <a:r>
              <a:rPr lang="pt-BR" altLang="pt-BR" dirty="0">
                <a:solidFill>
                  <a:schemeClr val="bg1"/>
                </a:solidFill>
              </a:rPr>
              <a:t>: a ordem de precedência dos operadores pode ser quebrada usando-se parênteses: ( ).</a:t>
            </a:r>
            <a:r>
              <a:rPr lang="en-US" altLang="pt-BR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A1E1FC6-4E71-C020-7241-0D41F7DC8C3E}"/>
              </a:ext>
            </a:extLst>
          </p:cNvPr>
          <p:cNvSpPr txBox="1"/>
          <p:nvPr/>
        </p:nvSpPr>
        <p:spPr>
          <a:xfrm>
            <a:off x="6870427" y="6158598"/>
            <a:ext cx="1512045" cy="646331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pt-BR" dirty="0"/>
              <a:t>11 % 3 = 2</a:t>
            </a:r>
          </a:p>
          <a:p>
            <a:r>
              <a:rPr lang="pt-BR" dirty="0"/>
              <a:t>2 * 4 = 8</a:t>
            </a:r>
          </a:p>
        </p:txBody>
      </p:sp>
    </p:spTree>
    <p:extLst>
      <p:ext uri="{BB962C8B-B14F-4D97-AF65-F5344CB8AC3E}">
        <p14:creationId xmlns:p14="http://schemas.microsoft.com/office/powerpoint/2010/main" val="1498805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1B488D25-940E-4F57-8BED-4ECEC3F65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38DC38-E9B8-423E-89A8-CC7F213F9568}" type="slidenum">
              <a:rPr lang="pt-BR" smtClean="0"/>
              <a:pPr>
                <a:defRPr/>
              </a:pPr>
              <a:t>7</a:t>
            </a:fld>
            <a:endParaRPr lang="pt-BR"/>
          </a:p>
        </p:txBody>
      </p:sp>
      <p:sp>
        <p:nvSpPr>
          <p:cNvPr id="254979" name="Retângulo 2">
            <a:extLst>
              <a:ext uri="{FF2B5EF4-FFF2-40B4-BE49-F238E27FC236}">
                <a16:creationId xmlns:a16="http://schemas.microsoft.com/office/drawing/2014/main" id="{CC86C147-EB6F-4E36-B62F-7B633DD3F6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384" y="1844824"/>
            <a:ext cx="6400800" cy="34163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#include &lt;stdio.h&gt;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#include &lt;</a:t>
            </a:r>
            <a:r>
              <a:rPr lang="pt-BR" altLang="pt-BR" dirty="0" err="1">
                <a:solidFill>
                  <a:schemeClr val="tx1"/>
                </a:solidFill>
              </a:rPr>
              <a:t>math.h</a:t>
            </a:r>
            <a:r>
              <a:rPr lang="pt-BR" altLang="pt-BR" dirty="0">
                <a:solidFill>
                  <a:schemeClr val="tx1"/>
                </a:solidFill>
              </a:rPr>
              <a:t>&gt;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 err="1">
                <a:solidFill>
                  <a:schemeClr val="tx1"/>
                </a:solidFill>
              </a:rPr>
              <a:t>main</a:t>
            </a:r>
            <a:r>
              <a:rPr lang="pt-BR" altLang="pt-BR" dirty="0">
                <a:solidFill>
                  <a:schemeClr val="tx1"/>
                </a:solidFill>
              </a:rPr>
              <a:t>()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 {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  float </a:t>
            </a:r>
            <a:r>
              <a:rPr lang="pt-BR" altLang="pt-BR" dirty="0" err="1">
                <a:solidFill>
                  <a:schemeClr val="tx1"/>
                </a:solidFill>
              </a:rPr>
              <a:t>x,y,z</a:t>
            </a:r>
            <a:r>
              <a:rPr lang="pt-BR" altLang="pt-BR" dirty="0">
                <a:solidFill>
                  <a:schemeClr val="tx1"/>
                </a:solidFill>
              </a:rPr>
              <a:t>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  y = 4 - 2 * 6 / 4 + 1;// 4-3+1 = 2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  x=6 / 2 + 11 % 2 * 4;// 3+1*4=7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  z=6 / 2 + 11 % (2*4);// 3+11%8=3+1=4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  </a:t>
            </a:r>
            <a:r>
              <a:rPr lang="pt-BR" altLang="pt-BR" dirty="0" err="1">
                <a:solidFill>
                  <a:schemeClr val="tx1"/>
                </a:solidFill>
              </a:rPr>
              <a:t>printf</a:t>
            </a:r>
            <a:r>
              <a:rPr lang="pt-BR" altLang="pt-BR" dirty="0">
                <a:solidFill>
                  <a:schemeClr val="tx1"/>
                </a:solidFill>
              </a:rPr>
              <a:t>(" y= %.2f, \</a:t>
            </a:r>
            <a:r>
              <a:rPr lang="pt-BR" altLang="pt-BR" dirty="0" err="1">
                <a:solidFill>
                  <a:schemeClr val="tx1"/>
                </a:solidFill>
              </a:rPr>
              <a:t>n",y</a:t>
            </a:r>
            <a:r>
              <a:rPr lang="pt-BR" altLang="pt-BR" dirty="0">
                <a:solidFill>
                  <a:schemeClr val="tx1"/>
                </a:solidFill>
              </a:rPr>
              <a:t>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  </a:t>
            </a:r>
            <a:r>
              <a:rPr lang="pt-BR" altLang="pt-BR" dirty="0" err="1">
                <a:solidFill>
                  <a:schemeClr val="tx1"/>
                </a:solidFill>
              </a:rPr>
              <a:t>printf</a:t>
            </a:r>
            <a:r>
              <a:rPr lang="pt-BR" altLang="pt-BR" dirty="0">
                <a:solidFill>
                  <a:schemeClr val="tx1"/>
                </a:solidFill>
              </a:rPr>
              <a:t>(" x= %.2f, \</a:t>
            </a:r>
            <a:r>
              <a:rPr lang="pt-BR" altLang="pt-BR" dirty="0" err="1">
                <a:solidFill>
                  <a:schemeClr val="tx1"/>
                </a:solidFill>
              </a:rPr>
              <a:t>n",x</a:t>
            </a:r>
            <a:r>
              <a:rPr lang="pt-BR" altLang="pt-BR" dirty="0">
                <a:solidFill>
                  <a:schemeClr val="tx1"/>
                </a:solidFill>
              </a:rPr>
              <a:t>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  </a:t>
            </a:r>
            <a:r>
              <a:rPr lang="pt-BR" altLang="pt-BR" dirty="0" err="1">
                <a:solidFill>
                  <a:schemeClr val="tx1"/>
                </a:solidFill>
              </a:rPr>
              <a:t>printf</a:t>
            </a:r>
            <a:r>
              <a:rPr lang="pt-BR" altLang="pt-BR" dirty="0">
                <a:solidFill>
                  <a:schemeClr val="tx1"/>
                </a:solidFill>
              </a:rPr>
              <a:t>(" z= %.2f, \</a:t>
            </a:r>
            <a:r>
              <a:rPr lang="pt-BR" altLang="pt-BR" dirty="0" err="1">
                <a:solidFill>
                  <a:schemeClr val="tx1"/>
                </a:solidFill>
              </a:rPr>
              <a:t>n",z</a:t>
            </a:r>
            <a:r>
              <a:rPr lang="pt-BR" altLang="pt-BR" dirty="0">
                <a:solidFill>
                  <a:schemeClr val="tx1"/>
                </a:solidFill>
              </a:rPr>
              <a:t>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 }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7E5C6C8-71B1-40B8-8B72-3C9ECA6993C7}"/>
              </a:ext>
            </a:extLst>
          </p:cNvPr>
          <p:cNvSpPr txBox="1">
            <a:spLocks noChangeArrowheads="1"/>
          </p:cNvSpPr>
          <p:nvPr/>
        </p:nvSpPr>
        <p:spPr>
          <a:xfrm>
            <a:off x="1987551" y="882651"/>
            <a:ext cx="8229600" cy="1371600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9pPr>
          </a:lstStyle>
          <a:p>
            <a:pPr>
              <a:defRPr/>
            </a:pPr>
            <a:r>
              <a:rPr lang="pt-BR" altLang="pt-BR" kern="0" dirty="0">
                <a:effectLst/>
              </a:rPr>
              <a:t>Precedência de Operadores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C38F528-7DD4-26DE-C8B1-50378424C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4112" y="3287075"/>
            <a:ext cx="1930698" cy="196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306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>
            <a:extLst>
              <a:ext uri="{FF2B5EF4-FFF2-40B4-BE49-F238E27FC236}">
                <a16:creationId xmlns:a16="http://schemas.microsoft.com/office/drawing/2014/main" id="{AC3645F9-A961-42C7-9721-1FE1B611D5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altLang="pt-BR">
                <a:effectLst/>
              </a:rPr>
              <a:t>2.6 - Comando de atribuição </a:t>
            </a:r>
            <a:br>
              <a:rPr lang="pt-BR" altLang="pt-BR">
                <a:effectLst/>
              </a:rPr>
            </a:br>
            <a:endParaRPr lang="pt-BR" altLang="pt-BR">
              <a:effectLst/>
            </a:endParaRPr>
          </a:p>
        </p:txBody>
      </p:sp>
      <p:sp>
        <p:nvSpPr>
          <p:cNvPr id="272387" name="Rectangle 3">
            <a:extLst>
              <a:ext uri="{FF2B5EF4-FFF2-40B4-BE49-F238E27FC236}">
                <a16:creationId xmlns:a16="http://schemas.microsoft.com/office/drawing/2014/main" id="{1AF654EF-010E-4DCE-AD53-B4DF86BB8A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361942" algn="just"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O operador de atribuição do C é o </a:t>
            </a:r>
            <a:r>
              <a:rPr lang="pt-BR" altLang="pt-BR" b="1" dirty="0">
                <a:effectLst/>
              </a:rPr>
              <a:t>=.</a:t>
            </a:r>
            <a:r>
              <a:rPr lang="pt-BR" altLang="pt-BR" dirty="0">
                <a:effectLst/>
              </a:rPr>
              <a:t> </a:t>
            </a:r>
          </a:p>
          <a:p>
            <a:pPr marL="0" indent="361942" algn="just"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O que ele faz é pegar o valor à direita e atribuir à variável da esquerda. Além disto ele retorna o valor que ele atribuiu. Isto faz com que as seguintes expressões sejam válidas: </a:t>
            </a:r>
          </a:p>
          <a:p>
            <a:pPr marL="0" indent="361942" algn="just"/>
            <a:r>
              <a:rPr lang="pt-BR" altLang="pt-BR" dirty="0">
                <a:effectLst/>
              </a:rPr>
              <a:t>float x=1.5, k=2.3, w=3.5; /* </a:t>
            </a:r>
            <a:r>
              <a:rPr lang="pt-BR" altLang="pt-BR" dirty="0" err="1">
                <a:effectLst/>
              </a:rPr>
              <a:t>Expressao</a:t>
            </a:r>
            <a:r>
              <a:rPr lang="pt-BR" altLang="pt-BR" dirty="0">
                <a:effectLst/>
              </a:rPr>
              <a:t> 1 */</a:t>
            </a:r>
          </a:p>
          <a:p>
            <a:pPr marL="0" indent="361942" algn="just"/>
            <a:r>
              <a:rPr lang="pt-BR" altLang="pt-BR" dirty="0">
                <a:effectLst/>
              </a:rPr>
              <a:t>if (k==w) ... /* Expressão 2 */</a:t>
            </a:r>
          </a:p>
          <a:p>
            <a:pPr marL="0" indent="361942"/>
            <a:endParaRPr lang="pt-BR" altLang="pt-BR" dirty="0">
              <a:effectLst/>
            </a:endParaRPr>
          </a:p>
        </p:txBody>
      </p:sp>
      <p:sp>
        <p:nvSpPr>
          <p:cNvPr id="272388" name="Rectangle 4">
            <a:extLst>
              <a:ext uri="{FF2B5EF4-FFF2-40B4-BE49-F238E27FC236}">
                <a16:creationId xmlns:a16="http://schemas.microsoft.com/office/drawing/2014/main" id="{B22F58F8-7855-4027-B398-CE03232399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88668"/>
            <a:ext cx="1626920" cy="369332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pt-BR" altLang="pt-BR">
                <a:solidFill>
                  <a:schemeClr val="bg1"/>
                </a:solidFill>
              </a:rPr>
              <a:t>Atribuição.cpp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BDBEA84-FA87-4559-A1E5-CC7BC3A58546}"/>
              </a:ext>
            </a:extLst>
          </p:cNvPr>
          <p:cNvSpPr txBox="1"/>
          <p:nvPr/>
        </p:nvSpPr>
        <p:spPr>
          <a:xfrm>
            <a:off x="1751856" y="3564791"/>
            <a:ext cx="4248472" cy="3108543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pt-BR" sz="1400" dirty="0"/>
              <a:t>#include &lt;stdio.h&gt;</a:t>
            </a:r>
          </a:p>
          <a:p>
            <a:r>
              <a:rPr lang="pt-BR" sz="1400" dirty="0" err="1"/>
              <a:t>main</a:t>
            </a:r>
            <a:r>
              <a:rPr lang="pt-BR" sz="1400" dirty="0"/>
              <a:t>()</a:t>
            </a:r>
          </a:p>
          <a:p>
            <a:r>
              <a:rPr lang="pt-BR" sz="1400" dirty="0"/>
              <a:t> {</a:t>
            </a:r>
          </a:p>
          <a:p>
            <a:r>
              <a:rPr lang="pt-BR" sz="1400" dirty="0"/>
              <a:t>  float x;</a:t>
            </a:r>
          </a:p>
          <a:p>
            <a:r>
              <a:rPr lang="pt-BR" sz="1400" dirty="0"/>
              <a:t>  int i;</a:t>
            </a:r>
          </a:p>
          <a:p>
            <a:r>
              <a:rPr lang="pt-BR" sz="1400" dirty="0"/>
              <a:t>  char </a:t>
            </a:r>
            <a:r>
              <a:rPr lang="pt-BR" sz="1400" dirty="0" err="1"/>
              <a:t>ch</a:t>
            </a:r>
            <a:r>
              <a:rPr lang="pt-BR" sz="1400" dirty="0"/>
              <a:t>;</a:t>
            </a:r>
          </a:p>
          <a:p>
            <a:r>
              <a:rPr lang="pt-BR" sz="1400" dirty="0"/>
              <a:t> x=1.5;</a:t>
            </a:r>
          </a:p>
          <a:p>
            <a:r>
              <a:rPr lang="pt-BR" sz="1400" dirty="0"/>
              <a:t> i=2;</a:t>
            </a:r>
          </a:p>
          <a:p>
            <a:r>
              <a:rPr lang="pt-BR" sz="1400" dirty="0"/>
              <a:t> </a:t>
            </a:r>
            <a:r>
              <a:rPr lang="pt-BR" sz="1400" dirty="0" err="1"/>
              <a:t>ch</a:t>
            </a:r>
            <a:r>
              <a:rPr lang="pt-BR" sz="1400" dirty="0"/>
              <a:t>=87;</a:t>
            </a:r>
          </a:p>
          <a:p>
            <a:r>
              <a:rPr lang="pt-BR" sz="1400" dirty="0"/>
              <a:t>  </a:t>
            </a:r>
            <a:r>
              <a:rPr lang="pt-BR" sz="1400" dirty="0" err="1"/>
              <a:t>printf</a:t>
            </a:r>
            <a:r>
              <a:rPr lang="pt-BR" sz="1400" dirty="0"/>
              <a:t>("x= %f \</a:t>
            </a:r>
            <a:r>
              <a:rPr lang="pt-BR" sz="1400" dirty="0" err="1"/>
              <a:t>n",x</a:t>
            </a:r>
            <a:r>
              <a:rPr lang="pt-BR" sz="1400" dirty="0"/>
              <a:t>);</a:t>
            </a:r>
          </a:p>
          <a:p>
            <a:r>
              <a:rPr lang="pt-BR" sz="1400" dirty="0"/>
              <a:t>  </a:t>
            </a:r>
            <a:r>
              <a:rPr lang="pt-BR" sz="1400" dirty="0" err="1"/>
              <a:t>printf</a:t>
            </a:r>
            <a:r>
              <a:rPr lang="pt-BR" sz="1400" dirty="0"/>
              <a:t>("i= %d \</a:t>
            </a:r>
            <a:r>
              <a:rPr lang="pt-BR" sz="1400" dirty="0" err="1"/>
              <a:t>n",i</a:t>
            </a:r>
            <a:r>
              <a:rPr lang="pt-BR" sz="1400" dirty="0"/>
              <a:t>);</a:t>
            </a:r>
          </a:p>
          <a:p>
            <a:r>
              <a:rPr lang="pt-BR" sz="1400" dirty="0"/>
              <a:t>  </a:t>
            </a:r>
            <a:r>
              <a:rPr lang="pt-BR" sz="1400" dirty="0" err="1"/>
              <a:t>printf</a:t>
            </a:r>
            <a:r>
              <a:rPr lang="pt-BR" sz="1400" dirty="0"/>
              <a:t>("</a:t>
            </a:r>
            <a:r>
              <a:rPr lang="pt-BR" sz="1400" dirty="0" err="1"/>
              <a:t>ch</a:t>
            </a:r>
            <a:r>
              <a:rPr lang="pt-BR" sz="1400" dirty="0"/>
              <a:t>= %d \n",</a:t>
            </a:r>
            <a:r>
              <a:rPr lang="pt-BR" sz="1400" dirty="0" err="1"/>
              <a:t>ch</a:t>
            </a:r>
            <a:r>
              <a:rPr lang="pt-BR" sz="1400" dirty="0"/>
              <a:t>);</a:t>
            </a:r>
          </a:p>
          <a:p>
            <a:r>
              <a:rPr lang="pt-BR" sz="1400" dirty="0"/>
              <a:t>  </a:t>
            </a:r>
            <a:r>
              <a:rPr lang="pt-BR" sz="1400" dirty="0" err="1"/>
              <a:t>printf</a:t>
            </a:r>
            <a:r>
              <a:rPr lang="pt-BR" sz="1400" dirty="0"/>
              <a:t>("</a:t>
            </a:r>
            <a:r>
              <a:rPr lang="pt-BR" sz="1400" dirty="0" err="1"/>
              <a:t>ch</a:t>
            </a:r>
            <a:r>
              <a:rPr lang="pt-BR" sz="1400" dirty="0"/>
              <a:t>= %c \n",</a:t>
            </a:r>
            <a:r>
              <a:rPr lang="pt-BR" sz="1400" dirty="0" err="1"/>
              <a:t>ch</a:t>
            </a:r>
            <a:r>
              <a:rPr lang="pt-BR" sz="1400" dirty="0"/>
              <a:t>);</a:t>
            </a:r>
          </a:p>
          <a:p>
            <a:r>
              <a:rPr lang="pt-BR" sz="1400" dirty="0"/>
              <a:t> }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FCC672E-34E6-AF8E-FC6C-C21A35B4D4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9457" y="4641370"/>
            <a:ext cx="1842944" cy="203196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2C68CE58-5B28-E956-4B55-6387B7CB70F4}"/>
              </a:ext>
            </a:extLst>
          </p:cNvPr>
          <p:cNvSpPr txBox="1"/>
          <p:nvPr/>
        </p:nvSpPr>
        <p:spPr>
          <a:xfrm>
            <a:off x="4885521" y="3108543"/>
            <a:ext cx="7272808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O operador ‘==‘ é um operador de comparação e não de atribuição</a:t>
            </a: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4CCD3665-642C-CE8A-235D-180D583F3096}"/>
              </a:ext>
            </a:extLst>
          </p:cNvPr>
          <p:cNvCxnSpPr>
            <a:stCxn id="2" idx="1"/>
          </p:cNvCxnSpPr>
          <p:nvPr/>
        </p:nvCxnSpPr>
        <p:spPr bwMode="auto">
          <a:xfrm flipH="1" flipV="1">
            <a:off x="2063552" y="3284984"/>
            <a:ext cx="2821969" cy="8225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4105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2">
            <a:extLst>
              <a:ext uri="{FF2B5EF4-FFF2-40B4-BE49-F238E27FC236}">
                <a16:creationId xmlns:a16="http://schemas.microsoft.com/office/drawing/2014/main" id="{3BDE23DC-683F-4330-9310-BD7D29084D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altLang="pt-BR">
                <a:effectLst/>
              </a:rPr>
              <a:t>2.6 - Comando de atribuição </a:t>
            </a:r>
            <a:br>
              <a:rPr lang="pt-BR" altLang="pt-BR">
                <a:effectLst/>
              </a:rPr>
            </a:br>
            <a:endParaRPr lang="pt-BR" altLang="pt-BR">
              <a:effectLst/>
            </a:endParaRPr>
          </a:p>
        </p:txBody>
      </p:sp>
      <p:sp>
        <p:nvSpPr>
          <p:cNvPr id="274435" name="Rectangle 3">
            <a:extLst>
              <a:ext uri="{FF2B5EF4-FFF2-40B4-BE49-F238E27FC236}">
                <a16:creationId xmlns:a16="http://schemas.microsoft.com/office/drawing/2014/main" id="{E1DC9C7C-CD35-48BC-8605-A25C06ED14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pt-BR" altLang="pt-BR">
                <a:effectLst/>
              </a:rPr>
              <a:t>  Observem que o símbolo de atribuição ( = ) </a:t>
            </a:r>
            <a:r>
              <a:rPr lang="pt-BR" altLang="pt-BR" b="1">
                <a:effectLst/>
              </a:rPr>
              <a:t>não tem</a:t>
            </a:r>
            <a:r>
              <a:rPr lang="pt-BR" altLang="pt-BR">
                <a:effectLst/>
              </a:rPr>
              <a:t> o mesmo significado que o usual da matemática que representa a igualdade de valores.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altLang="pt-BR">
                <a:effectLst/>
              </a:rPr>
              <a:t>  Este símbolo, em C, representa a atribuição do valor calculado em </a:t>
            </a:r>
            <a:r>
              <a:rPr lang="pt-BR" altLang="pt-BR" i="1">
                <a:effectLst/>
              </a:rPr>
              <a:t>expressão</a:t>
            </a:r>
            <a:r>
              <a:rPr lang="pt-BR" altLang="pt-BR">
                <a:effectLst/>
              </a:rPr>
              <a:t>  a variável </a:t>
            </a:r>
            <a:r>
              <a:rPr lang="pt-BR" altLang="pt-BR" i="1">
                <a:effectLst/>
              </a:rPr>
              <a:t>identificador</a:t>
            </a:r>
            <a:r>
              <a:rPr lang="pt-BR" altLang="pt-BR">
                <a:effectLst/>
              </a:rPr>
              <a:t>. Em pseudo-linguagem o operador de atribuição é representado como </a:t>
            </a:r>
            <a:r>
              <a:rPr lang="pt-BR" altLang="pt-BR">
                <a:effectLst/>
                <a:sym typeface="Symbol" panose="05050102010706020507" pitchFamily="18" charset="2"/>
              </a:rPr>
              <a:t></a:t>
            </a:r>
            <a:r>
              <a:rPr lang="pt-BR" altLang="pt-BR">
                <a:effectLst/>
              </a:rPr>
              <a:t>.  Também não se pode confundir o operador de atribuição ( = ) com o operador relacional de igualdade ( == ) </a:t>
            </a:r>
          </a:p>
          <a:p>
            <a:r>
              <a:rPr lang="pt-BR" altLang="pt-BR" b="1">
                <a:effectLst/>
              </a:rPr>
              <a:t>Exemplo: </a:t>
            </a:r>
            <a:r>
              <a:rPr lang="pt-BR" altLang="pt-BR">
                <a:effectLst/>
              </a:rPr>
              <a:t>A seguir são mostradas algumas atribuições </a:t>
            </a:r>
            <a:r>
              <a:rPr lang="pt-BR" altLang="pt-BR" b="1">
                <a:effectLst/>
              </a:rPr>
              <a:t>inválidas</a:t>
            </a:r>
            <a:r>
              <a:rPr lang="pt-BR" altLang="pt-BR">
                <a:effectLst/>
              </a:rPr>
              <a:t>:</a:t>
            </a:r>
          </a:p>
          <a:p>
            <a:r>
              <a:rPr lang="pt-BR" altLang="pt-BR">
                <a:effectLst/>
              </a:rPr>
              <a:t>	1 = a;          // constante! </a:t>
            </a:r>
          </a:p>
          <a:p>
            <a:r>
              <a:rPr lang="pt-BR" altLang="pt-BR">
                <a:effectLst/>
              </a:rPr>
              <a:t>	b + 1 = a;      // expressão!</a:t>
            </a:r>
          </a:p>
        </p:txBody>
      </p:sp>
    </p:spTree>
    <p:extLst>
      <p:ext uri="{BB962C8B-B14F-4D97-AF65-F5344CB8AC3E}">
        <p14:creationId xmlns:p14="http://schemas.microsoft.com/office/powerpoint/2010/main" val="1236787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2" name="Rectangle 2">
            <a:extLst>
              <a:ext uri="{FF2B5EF4-FFF2-40B4-BE49-F238E27FC236}">
                <a16:creationId xmlns:a16="http://schemas.microsoft.com/office/drawing/2014/main" id="{C753E7C8-8D74-48BE-BAAD-B43D372586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altLang="pt-BR">
                <a:effectLst/>
              </a:rPr>
              <a:t>2.6 - Comando de atribuição</a:t>
            </a:r>
            <a:br>
              <a:rPr lang="pt-BR" altLang="pt-BR">
                <a:effectLst/>
              </a:rPr>
            </a:br>
            <a:r>
              <a:rPr lang="pt-BR" altLang="pt-BR">
                <a:effectLst/>
              </a:rPr>
              <a:t>Atribuição múltipla</a:t>
            </a:r>
          </a:p>
        </p:txBody>
      </p:sp>
      <p:sp>
        <p:nvSpPr>
          <p:cNvPr id="276483" name="Rectangle 3">
            <a:extLst>
              <a:ext uri="{FF2B5EF4-FFF2-40B4-BE49-F238E27FC236}">
                <a16:creationId xmlns:a16="http://schemas.microsoft.com/office/drawing/2014/main" id="{E67BD1BD-6834-4FF0-9AF3-A448A4BA05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174621" algn="l"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E possível atribuir um valor a muitas variáveis em uma única instrução. A esta operação dá-se o nome de </a:t>
            </a:r>
            <a:r>
              <a:rPr lang="pt-BR" altLang="pt-BR" b="1" dirty="0">
                <a:effectLst/>
              </a:rPr>
              <a:t>atribuição múltipla</a:t>
            </a:r>
            <a:r>
              <a:rPr lang="pt-BR" altLang="pt-BR" dirty="0">
                <a:effectLst/>
              </a:rPr>
              <a:t>.</a:t>
            </a:r>
            <a:endParaRPr lang="pt-BR" altLang="pt-BR" b="1" dirty="0">
              <a:effectLst/>
            </a:endParaRPr>
          </a:p>
          <a:p>
            <a:pPr marL="0" indent="174621" algn="just"/>
            <a:r>
              <a:rPr lang="pt-BR" altLang="pt-BR" b="1" dirty="0">
                <a:effectLst/>
              </a:rPr>
              <a:t>Sintaxe:</a:t>
            </a:r>
            <a:r>
              <a:rPr lang="pt-BR" altLang="pt-BR" dirty="0">
                <a:effectLst/>
              </a:rPr>
              <a:t> A sintaxe da atribuição múltipla é seguinte: </a:t>
            </a:r>
            <a:r>
              <a:rPr lang="pt-BR" altLang="pt-BR" i="1" dirty="0">
                <a:effectLst/>
              </a:rPr>
              <a:t>var_1</a:t>
            </a:r>
            <a:r>
              <a:rPr lang="pt-BR" altLang="pt-BR" dirty="0">
                <a:effectLst/>
              </a:rPr>
              <a:t> = [</a:t>
            </a:r>
            <a:r>
              <a:rPr lang="pt-BR" altLang="pt-BR" i="1" dirty="0">
                <a:effectLst/>
              </a:rPr>
              <a:t>var_2</a:t>
            </a:r>
            <a:r>
              <a:rPr lang="pt-BR" altLang="pt-BR" dirty="0">
                <a:effectLst/>
              </a:rPr>
              <a:t> = ... ] </a:t>
            </a:r>
            <a:r>
              <a:rPr lang="pt-BR" altLang="pt-BR" i="1" dirty="0">
                <a:effectLst/>
              </a:rPr>
              <a:t>expressão</a:t>
            </a:r>
            <a:r>
              <a:rPr lang="pt-BR" altLang="pt-BR" dirty="0">
                <a:effectLst/>
              </a:rPr>
              <a:t>;</a:t>
            </a:r>
          </a:p>
          <a:p>
            <a:pPr marL="0" indent="174621" algn="just"/>
            <a:r>
              <a:rPr lang="pt-BR" altLang="pt-BR" dirty="0">
                <a:effectLst/>
              </a:rPr>
              <a:t>onde </a:t>
            </a:r>
            <a:r>
              <a:rPr lang="pt-BR" altLang="pt-BR" i="1" dirty="0">
                <a:effectLst/>
              </a:rPr>
              <a:t>var_1</a:t>
            </a:r>
            <a:r>
              <a:rPr lang="pt-BR" altLang="pt-BR" dirty="0">
                <a:effectLst/>
              </a:rPr>
              <a:t>, </a:t>
            </a:r>
            <a:r>
              <a:rPr lang="pt-BR" altLang="pt-BR" i="1" dirty="0">
                <a:effectLst/>
              </a:rPr>
              <a:t>var_2</a:t>
            </a:r>
            <a:r>
              <a:rPr lang="pt-BR" altLang="pt-BR" dirty="0">
                <a:effectLst/>
              </a:rPr>
              <a:t>, ... são os identificadores de variáveis e </a:t>
            </a:r>
            <a:r>
              <a:rPr lang="pt-BR" altLang="pt-BR" i="1" dirty="0">
                <a:effectLst/>
              </a:rPr>
              <a:t>expressão</a:t>
            </a:r>
            <a:r>
              <a:rPr lang="pt-BR" altLang="pt-BR" dirty="0">
                <a:effectLst/>
              </a:rPr>
              <a:t> é uma expressão válida.</a:t>
            </a:r>
          </a:p>
          <a:p>
            <a:pPr marL="0" indent="174621" algn="just"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   Observe que na atribuição múltipla as operações ocorrem da </a:t>
            </a:r>
            <a:r>
              <a:rPr lang="pt-BR" altLang="pt-BR" b="1" dirty="0">
                <a:effectLst/>
              </a:rPr>
              <a:t>direita</a:t>
            </a:r>
            <a:r>
              <a:rPr lang="pt-BR" altLang="pt-BR" dirty="0">
                <a:effectLst/>
              </a:rPr>
              <a:t> para a </a:t>
            </a:r>
            <a:r>
              <a:rPr lang="pt-BR" altLang="pt-BR" b="1" dirty="0">
                <a:effectLst/>
              </a:rPr>
              <a:t>esquerda</a:t>
            </a:r>
            <a:r>
              <a:rPr lang="pt-BR" altLang="pt-BR" dirty="0">
                <a:effectLst/>
              </a:rPr>
              <a:t>, isto é, inicialmente o valor de </a:t>
            </a:r>
            <a:r>
              <a:rPr lang="pt-BR" altLang="pt-BR" i="1" dirty="0">
                <a:effectLst/>
              </a:rPr>
              <a:t>expressão</a:t>
            </a:r>
            <a:r>
              <a:rPr lang="pt-BR" altLang="pt-BR" dirty="0">
                <a:effectLst/>
              </a:rPr>
              <a:t> é atribuído a </a:t>
            </a:r>
            <a:r>
              <a:rPr lang="pt-BR" altLang="pt-BR" i="1" dirty="0">
                <a:effectLst/>
              </a:rPr>
              <a:t>var_2</a:t>
            </a:r>
            <a:r>
              <a:rPr lang="pt-BR" altLang="pt-BR" dirty="0">
                <a:effectLst/>
              </a:rPr>
              <a:t> e depois o valor de </a:t>
            </a:r>
            <a:r>
              <a:rPr lang="pt-BR" altLang="pt-BR" i="1" dirty="0">
                <a:effectLst/>
              </a:rPr>
              <a:t>var_2</a:t>
            </a:r>
            <a:r>
              <a:rPr lang="pt-BR" altLang="pt-BR" dirty="0">
                <a:effectLst/>
              </a:rPr>
              <a:t> é atribuído a </a:t>
            </a:r>
            <a:r>
              <a:rPr lang="pt-BR" altLang="pt-BR" i="1" dirty="0">
                <a:effectLst/>
              </a:rPr>
              <a:t>var_1</a:t>
            </a:r>
            <a:r>
              <a:rPr lang="pt-BR" altLang="pt-BR" dirty="0">
                <a:effectLst/>
              </a:rPr>
              <a:t>. Deve-se tomar cuidado com as conversões de tipo e limites de intervalo para atribuições de tipos diferentes.</a:t>
            </a:r>
          </a:p>
        </p:txBody>
      </p:sp>
      <p:sp>
        <p:nvSpPr>
          <p:cNvPr id="276484" name="Rectangle 4">
            <a:extLst>
              <a:ext uri="{FF2B5EF4-FFF2-40B4-BE49-F238E27FC236}">
                <a16:creationId xmlns:a16="http://schemas.microsoft.com/office/drawing/2014/main" id="{C2F9F4AE-E3D5-4F3C-AA75-61B2FEF2D5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31128" y="6477000"/>
            <a:ext cx="1827744" cy="369332"/>
          </a:xfrm>
          <a:prstGeom prst="rect">
            <a:avLst/>
          </a:prstGeom>
          <a:solidFill>
            <a:srgbClr val="ECFB79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pt-BR" altLang="pt-BR">
                <a:solidFill>
                  <a:schemeClr val="bg1"/>
                </a:solidFill>
              </a:rPr>
              <a:t>Atribuição 2.cpp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6EE1EFF-ABE4-A072-480F-D1BC0043C909}"/>
              </a:ext>
            </a:extLst>
          </p:cNvPr>
          <p:cNvSpPr txBox="1"/>
          <p:nvPr/>
        </p:nvSpPr>
        <p:spPr>
          <a:xfrm>
            <a:off x="1775520" y="3951721"/>
            <a:ext cx="6144986" cy="2893100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pt-BR" sz="1400" dirty="0"/>
              <a:t>#include &lt;stdio.h&gt;</a:t>
            </a:r>
          </a:p>
          <a:p>
            <a:r>
              <a:rPr lang="pt-BR" sz="1400" dirty="0"/>
              <a:t>#include &lt;</a:t>
            </a:r>
            <a:r>
              <a:rPr lang="pt-BR" sz="1400" dirty="0" err="1"/>
              <a:t>math.h</a:t>
            </a:r>
            <a:r>
              <a:rPr lang="pt-BR" sz="1400" dirty="0"/>
              <a:t>&gt;</a:t>
            </a:r>
          </a:p>
          <a:p>
            <a:r>
              <a:rPr lang="pt-BR" sz="1400" dirty="0" err="1"/>
              <a:t>main</a:t>
            </a:r>
            <a:r>
              <a:rPr lang="pt-BR" sz="1400" dirty="0"/>
              <a:t>()</a:t>
            </a:r>
          </a:p>
          <a:p>
            <a:r>
              <a:rPr lang="pt-BR" sz="1400" dirty="0"/>
              <a:t> {</a:t>
            </a:r>
          </a:p>
          <a:p>
            <a:r>
              <a:rPr lang="pt-BR" sz="1400" dirty="0"/>
              <a:t>  int i, j, k;</a:t>
            </a:r>
          </a:p>
          <a:p>
            <a:r>
              <a:rPr lang="pt-BR" sz="1400" dirty="0"/>
              <a:t>  float x, y;</a:t>
            </a:r>
          </a:p>
          <a:p>
            <a:r>
              <a:rPr lang="pt-BR" sz="1400" dirty="0"/>
              <a:t>  i = j = k = 1;</a:t>
            </a:r>
          </a:p>
          <a:p>
            <a:r>
              <a:rPr lang="pt-BR" sz="1400" dirty="0"/>
              <a:t>  x = y = 10.0;</a:t>
            </a:r>
          </a:p>
          <a:p>
            <a:r>
              <a:rPr lang="pt-BR" sz="1400" dirty="0"/>
              <a:t>  </a:t>
            </a:r>
            <a:r>
              <a:rPr lang="pt-BR" sz="1400" dirty="0" err="1"/>
              <a:t>printf</a:t>
            </a:r>
            <a:r>
              <a:rPr lang="pt-BR" sz="1400" dirty="0"/>
              <a:t>(" i= %d, j= %d k=%d \n",</a:t>
            </a:r>
            <a:r>
              <a:rPr lang="pt-BR" sz="1400" dirty="0" err="1"/>
              <a:t>i,j,k</a:t>
            </a:r>
            <a:r>
              <a:rPr lang="pt-BR" sz="1400" dirty="0"/>
              <a:t>);</a:t>
            </a:r>
          </a:p>
          <a:p>
            <a:r>
              <a:rPr lang="pt-BR" sz="1400" dirty="0"/>
              <a:t>  </a:t>
            </a:r>
            <a:r>
              <a:rPr lang="pt-BR" sz="1400" dirty="0" err="1"/>
              <a:t>printf</a:t>
            </a:r>
            <a:r>
              <a:rPr lang="pt-BR" sz="1400" dirty="0"/>
              <a:t>(" x= %.2f, y= %.2f \n",</a:t>
            </a:r>
            <a:r>
              <a:rPr lang="pt-BR" sz="1400" dirty="0" err="1"/>
              <a:t>x,y</a:t>
            </a:r>
            <a:r>
              <a:rPr lang="pt-BR" sz="1400" dirty="0"/>
              <a:t>);</a:t>
            </a:r>
          </a:p>
          <a:p>
            <a:r>
              <a:rPr lang="pt-BR" sz="1400" dirty="0"/>
              <a:t>  x=</a:t>
            </a:r>
            <a:r>
              <a:rPr lang="pt-BR" sz="1400" dirty="0" err="1"/>
              <a:t>sqrt</a:t>
            </a:r>
            <a:r>
              <a:rPr lang="pt-BR" sz="1400" dirty="0"/>
              <a:t>(4);</a:t>
            </a:r>
          </a:p>
          <a:p>
            <a:r>
              <a:rPr lang="pt-BR" sz="1400" dirty="0"/>
              <a:t>  </a:t>
            </a:r>
            <a:r>
              <a:rPr lang="pt-BR" sz="1400" dirty="0" err="1"/>
              <a:t>printf</a:t>
            </a:r>
            <a:r>
              <a:rPr lang="pt-BR" sz="1400" dirty="0"/>
              <a:t>(" x= %.2f\</a:t>
            </a:r>
            <a:r>
              <a:rPr lang="pt-BR" sz="1400" dirty="0" err="1"/>
              <a:t>n",x</a:t>
            </a:r>
            <a:r>
              <a:rPr lang="pt-BR" sz="1400" dirty="0"/>
              <a:t>);</a:t>
            </a:r>
          </a:p>
          <a:p>
            <a:r>
              <a:rPr lang="pt-BR" sz="1400" dirty="0"/>
              <a:t> }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D3BF073-B383-DA56-7B57-5003EE01DF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8816" y="5021201"/>
            <a:ext cx="2785696" cy="1640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032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>
            <a:extLst>
              <a:ext uri="{FF2B5EF4-FFF2-40B4-BE49-F238E27FC236}">
                <a16:creationId xmlns:a16="http://schemas.microsoft.com/office/drawing/2014/main" id="{87CF93F9-FC74-45B5-8884-960CD6AD12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altLang="pt-BR" dirty="0">
                <a:effectLst/>
              </a:rPr>
              <a:t>Expressões aritméticas e lógicas; </a:t>
            </a:r>
            <a:br>
              <a:rPr lang="pt-BR" altLang="pt-BR" dirty="0">
                <a:effectLst/>
              </a:rPr>
            </a:br>
            <a:r>
              <a:rPr lang="pt-BR" altLang="pt-BR" dirty="0">
                <a:effectLst/>
              </a:rPr>
              <a:t>Operadores de Atribuição Aritmética </a:t>
            </a:r>
          </a:p>
        </p:txBody>
      </p:sp>
      <p:sp>
        <p:nvSpPr>
          <p:cNvPr id="256003" name="Rectangle 3">
            <a:extLst>
              <a:ext uri="{FF2B5EF4-FFF2-40B4-BE49-F238E27FC236}">
                <a16:creationId xmlns:a16="http://schemas.microsoft.com/office/drawing/2014/main" id="{2DC403B9-A209-4A82-925E-FE7D2E787F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>
              <a:buFont typeface="Wingdings" panose="05000000000000000000" pitchFamily="2" charset="2"/>
              <a:buChar char="§"/>
            </a:pPr>
            <a:r>
              <a:rPr lang="pt-BR" altLang="pt-BR">
                <a:effectLst/>
              </a:rPr>
              <a:t>  Muitas vezes queremos alterar o valor de uma variável realizando alguma operação aritmética com ela (i = i + 1) (val = val * 2).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altLang="pt-BR">
                <a:effectLst/>
              </a:rPr>
              <a:t>  Embora seja perfeitamente possível escrever estas instruções, foi desenvolvido na linguagem C uma instruções </a:t>
            </a:r>
            <a:r>
              <a:rPr lang="pt-BR" altLang="pt-BR" b="1">
                <a:effectLst/>
              </a:rPr>
              <a:t>otimizadas</a:t>
            </a:r>
            <a:r>
              <a:rPr lang="pt-BR" altLang="pt-BR">
                <a:effectLst/>
              </a:rPr>
              <a:t> com o uso de operadores ditos </a:t>
            </a:r>
            <a:r>
              <a:rPr lang="pt-BR" altLang="pt-BR" b="1">
                <a:effectLst/>
              </a:rPr>
              <a:t>operadores de atribuição aritmética</a:t>
            </a:r>
            <a:r>
              <a:rPr lang="pt-BR" altLang="pt-BR">
                <a:effectLst/>
              </a:rPr>
              <a:t>. 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altLang="pt-BR">
                <a:effectLst/>
              </a:rPr>
              <a:t>Os símbolos usado são (+=, -=, *=, /= , %=). Deste modo as instruções acima podem ser rescritas como: i += 1 e val *= 2, respectivamente.</a:t>
            </a:r>
            <a:endParaRPr lang="pt-BR" altLang="pt-BR" b="1">
              <a:effectLst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altLang="pt-BR" b="1">
                <a:effectLst/>
              </a:rPr>
              <a:t>Sintaxe:</a:t>
            </a:r>
            <a:r>
              <a:rPr lang="pt-BR" altLang="pt-BR">
                <a:effectLst/>
              </a:rPr>
              <a:t> A sintaxe da atribuição aritmética é a seguinte:</a:t>
            </a:r>
            <a:endParaRPr lang="pt-BR" altLang="pt-BR" i="1">
              <a:effectLst/>
            </a:endParaRPr>
          </a:p>
        </p:txBody>
      </p:sp>
      <p:sp>
        <p:nvSpPr>
          <p:cNvPr id="256004" name="Rectangle 4">
            <a:extLst>
              <a:ext uri="{FF2B5EF4-FFF2-40B4-BE49-F238E27FC236}">
                <a16:creationId xmlns:a16="http://schemas.microsoft.com/office/drawing/2014/main" id="{73D06E21-72B6-407A-BF08-CC3EFEA6BD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4972" y="4123946"/>
            <a:ext cx="2016125" cy="1477328"/>
          </a:xfrm>
          <a:prstGeom prst="rect">
            <a:avLst/>
          </a:prstGeom>
          <a:solidFill>
            <a:srgbClr val="ECFB79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i="1"/>
              <a:t>var</a:t>
            </a:r>
            <a:r>
              <a:rPr lang="pt-BR" altLang="pt-BR"/>
              <a:t> += </a:t>
            </a:r>
            <a:r>
              <a:rPr lang="pt-BR" altLang="pt-BR" i="1"/>
              <a:t>exp</a:t>
            </a:r>
            <a:r>
              <a:rPr lang="pt-BR" altLang="pt-BR"/>
              <a:t>;</a:t>
            </a:r>
            <a:endParaRPr lang="pt-BR" altLang="pt-BR" i="1"/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i="1"/>
              <a:t>var</a:t>
            </a:r>
            <a:r>
              <a:rPr lang="pt-BR" altLang="pt-BR"/>
              <a:t> -= </a:t>
            </a:r>
            <a:r>
              <a:rPr lang="pt-BR" altLang="pt-BR" i="1"/>
              <a:t>exp</a:t>
            </a:r>
            <a:r>
              <a:rPr lang="pt-BR" altLang="pt-BR"/>
              <a:t>;</a:t>
            </a:r>
            <a:r>
              <a:rPr lang="pt-BR" altLang="pt-BR" i="1"/>
              <a:t> 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i="1"/>
              <a:t>var</a:t>
            </a:r>
            <a:r>
              <a:rPr lang="pt-BR" altLang="pt-BR"/>
              <a:t> *= </a:t>
            </a:r>
            <a:r>
              <a:rPr lang="pt-BR" altLang="pt-BR" i="1"/>
              <a:t>exp</a:t>
            </a:r>
            <a:r>
              <a:rPr lang="pt-BR" altLang="pt-BR"/>
              <a:t>;</a:t>
            </a:r>
            <a:r>
              <a:rPr lang="pt-BR" altLang="pt-BR" i="1"/>
              <a:t> 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i="1"/>
              <a:t>var</a:t>
            </a:r>
            <a:r>
              <a:rPr lang="pt-BR" altLang="pt-BR"/>
              <a:t> /= </a:t>
            </a:r>
            <a:r>
              <a:rPr lang="pt-BR" altLang="pt-BR" i="1"/>
              <a:t>exp</a:t>
            </a:r>
            <a:r>
              <a:rPr lang="pt-BR" altLang="pt-BR"/>
              <a:t>;</a:t>
            </a:r>
            <a:r>
              <a:rPr lang="pt-BR" altLang="pt-BR" i="1"/>
              <a:t> 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i="1"/>
              <a:t>var</a:t>
            </a:r>
            <a:r>
              <a:rPr lang="pt-BR" altLang="pt-BR"/>
              <a:t> %= </a:t>
            </a:r>
            <a:r>
              <a:rPr lang="pt-BR" altLang="pt-BR" i="1"/>
              <a:t>exp</a:t>
            </a:r>
            <a:r>
              <a:rPr lang="pt-BR" altLang="pt-BR"/>
              <a:t>;</a:t>
            </a:r>
          </a:p>
        </p:txBody>
      </p:sp>
      <p:sp>
        <p:nvSpPr>
          <p:cNvPr id="256005" name="Rectangle 5">
            <a:extLst>
              <a:ext uri="{FF2B5EF4-FFF2-40B4-BE49-F238E27FC236}">
                <a16:creationId xmlns:a16="http://schemas.microsoft.com/office/drawing/2014/main" id="{4CA9ABC0-6EDB-42B4-8606-B910882456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2130" y="4123946"/>
            <a:ext cx="2407197" cy="1477328"/>
          </a:xfrm>
          <a:prstGeom prst="rect">
            <a:avLst/>
          </a:prstGeom>
          <a:solidFill>
            <a:srgbClr val="ECFB79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457200"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 i="1"/>
              <a:t>var</a:t>
            </a:r>
            <a:r>
              <a:rPr lang="en-US" altLang="pt-BR"/>
              <a:t> = var + </a:t>
            </a:r>
            <a:r>
              <a:rPr lang="en-US" altLang="pt-BR" i="1"/>
              <a:t>exp</a:t>
            </a:r>
            <a:r>
              <a:rPr lang="en-US" altLang="pt-BR"/>
              <a:t>;</a:t>
            </a:r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 i="1"/>
              <a:t>var</a:t>
            </a:r>
            <a:r>
              <a:rPr lang="en-US" altLang="pt-BR"/>
              <a:t> = var - </a:t>
            </a:r>
            <a:r>
              <a:rPr lang="en-US" altLang="pt-BR" i="1"/>
              <a:t>exp</a:t>
            </a:r>
            <a:r>
              <a:rPr lang="en-US" altLang="pt-BR"/>
              <a:t>;</a:t>
            </a:r>
            <a:r>
              <a:rPr lang="en-US" altLang="pt-BR" i="1"/>
              <a:t> </a:t>
            </a:r>
            <a:endParaRPr lang="en-US" altLang="pt-BR"/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 i="1"/>
              <a:t>var</a:t>
            </a:r>
            <a:r>
              <a:rPr lang="en-US" altLang="pt-BR"/>
              <a:t> = var * </a:t>
            </a:r>
            <a:r>
              <a:rPr lang="en-US" altLang="pt-BR" i="1"/>
              <a:t>exp</a:t>
            </a:r>
            <a:r>
              <a:rPr lang="en-US" altLang="pt-BR"/>
              <a:t>;</a:t>
            </a:r>
            <a:r>
              <a:rPr lang="en-US" altLang="pt-BR" i="1"/>
              <a:t> </a:t>
            </a:r>
            <a:endParaRPr lang="en-US" altLang="pt-BR"/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 i="1"/>
              <a:t>var</a:t>
            </a:r>
            <a:r>
              <a:rPr lang="en-US" altLang="pt-BR"/>
              <a:t> = var / </a:t>
            </a:r>
            <a:r>
              <a:rPr lang="en-US" altLang="pt-BR" i="1"/>
              <a:t>exp</a:t>
            </a:r>
            <a:r>
              <a:rPr lang="en-US" altLang="pt-BR"/>
              <a:t>;</a:t>
            </a:r>
            <a:r>
              <a:rPr lang="en-US" altLang="pt-BR" i="1"/>
              <a:t> </a:t>
            </a:r>
            <a:endParaRPr lang="en-US" altLang="pt-BR"/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 i="1"/>
              <a:t>var</a:t>
            </a:r>
            <a:r>
              <a:rPr lang="en-US" altLang="pt-BR"/>
              <a:t> = var % </a:t>
            </a:r>
            <a:r>
              <a:rPr lang="en-US" altLang="pt-BR" i="1"/>
              <a:t>exp</a:t>
            </a:r>
            <a:r>
              <a:rPr lang="en-US" altLang="pt-BR"/>
              <a:t>;</a:t>
            </a:r>
          </a:p>
        </p:txBody>
      </p:sp>
      <p:sp>
        <p:nvSpPr>
          <p:cNvPr id="253958" name="Rectangle 6">
            <a:extLst>
              <a:ext uri="{FF2B5EF4-FFF2-40B4-BE49-F238E27FC236}">
                <a16:creationId xmlns:a16="http://schemas.microsoft.com/office/drawing/2014/main" id="{7FCF3308-A9BA-4FE2-8304-DFB106034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7668" y="4661919"/>
            <a:ext cx="2194832" cy="369332"/>
          </a:xfrm>
          <a:prstGeom prst="rect">
            <a:avLst/>
          </a:prstGeom>
          <a:solidFill>
            <a:srgbClr val="A4A4D0"/>
          </a:solidFill>
          <a:ln w="57150" cmpd="thinThick" algn="ctr">
            <a:solidFill>
              <a:srgbClr val="A5002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pt-BR" altLang="pt-BR" dirty="0">
                <a:solidFill>
                  <a:srgbClr val="000000"/>
                </a:solidFill>
              </a:rPr>
              <a:t>i+= 1&lt;-&gt;</a:t>
            </a:r>
            <a:r>
              <a:rPr lang="pt-BR" altLang="pt-BR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pt-BR" altLang="pt-BR" dirty="0">
                <a:solidFill>
                  <a:srgbClr val="000000"/>
                </a:solidFill>
              </a:rPr>
              <a:t>i = i + 1 </a:t>
            </a:r>
          </a:p>
        </p:txBody>
      </p:sp>
      <p:sp>
        <p:nvSpPr>
          <p:cNvPr id="256007" name="Rectangle 7">
            <a:extLst>
              <a:ext uri="{FF2B5EF4-FFF2-40B4-BE49-F238E27FC236}">
                <a16:creationId xmlns:a16="http://schemas.microsoft.com/office/drawing/2014/main" id="{8B51C424-F1B9-4AC8-9BBD-19746FDC6E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424" y="6363425"/>
            <a:ext cx="2781980" cy="369332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pt-BR" altLang="pt-BR">
                <a:solidFill>
                  <a:schemeClr val="bg1"/>
                </a:solidFill>
              </a:rPr>
              <a:t>Atribuiçao aritmética .cpp</a:t>
            </a:r>
          </a:p>
        </p:txBody>
      </p:sp>
      <p:sp>
        <p:nvSpPr>
          <p:cNvPr id="2" name="Seta: da Esquerda para a Direita 1">
            <a:extLst>
              <a:ext uri="{FF2B5EF4-FFF2-40B4-BE49-F238E27FC236}">
                <a16:creationId xmlns:a16="http://schemas.microsoft.com/office/drawing/2014/main" id="{60A6DEDD-19D0-6369-19E6-56E785E04E94}"/>
              </a:ext>
            </a:extLst>
          </p:cNvPr>
          <p:cNvSpPr/>
          <p:nvPr/>
        </p:nvSpPr>
        <p:spPr bwMode="auto">
          <a:xfrm>
            <a:off x="3094207" y="4725190"/>
            <a:ext cx="792088" cy="242791"/>
          </a:xfrm>
          <a:prstGeom prst="left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89408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8183F-0768-D8CF-0AF4-03C889948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>
            <a:extLst>
              <a:ext uri="{FF2B5EF4-FFF2-40B4-BE49-F238E27FC236}">
                <a16:creationId xmlns:a16="http://schemas.microsoft.com/office/drawing/2014/main" id="{77323D9D-2E6D-D994-2A5B-4DA5521352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altLang="pt-BR" dirty="0">
                <a:effectLst/>
              </a:rPr>
              <a:t>Expressões aritméticas e lógicas; </a:t>
            </a:r>
            <a:br>
              <a:rPr lang="pt-BR" altLang="pt-BR" dirty="0">
                <a:effectLst/>
              </a:rPr>
            </a:br>
            <a:r>
              <a:rPr lang="pt-BR" altLang="pt-BR" dirty="0">
                <a:effectLst/>
              </a:rPr>
              <a:t>Operadores de Atribuição Aritmética </a:t>
            </a:r>
          </a:p>
        </p:txBody>
      </p:sp>
      <p:sp>
        <p:nvSpPr>
          <p:cNvPr id="256007" name="Rectangle 7">
            <a:extLst>
              <a:ext uri="{FF2B5EF4-FFF2-40B4-BE49-F238E27FC236}">
                <a16:creationId xmlns:a16="http://schemas.microsoft.com/office/drawing/2014/main" id="{6FAD7327-7F16-BEEE-3A9B-A7D08490AF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8986" y="5994093"/>
            <a:ext cx="2781980" cy="369332"/>
          </a:xfrm>
          <a:prstGeom prst="rect">
            <a:avLst/>
          </a:prstGeom>
          <a:solidFill>
            <a:srgbClr val="FF6600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pt-BR" altLang="pt-BR"/>
              <a:t>Atribuiçao aritmética .cpp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5107B1F-8738-6D9E-0189-8DBA9A72FEE2}"/>
              </a:ext>
            </a:extLst>
          </p:cNvPr>
          <p:cNvSpPr txBox="1"/>
          <p:nvPr/>
        </p:nvSpPr>
        <p:spPr>
          <a:xfrm>
            <a:off x="201034" y="692696"/>
            <a:ext cx="5750950" cy="6340197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pt-BR" sz="1400" dirty="0"/>
              <a:t>#include &lt;stdio.h&gt;</a:t>
            </a:r>
          </a:p>
          <a:p>
            <a:r>
              <a:rPr lang="pt-BR" sz="1400" dirty="0"/>
              <a:t>#include &lt;</a:t>
            </a:r>
            <a:r>
              <a:rPr lang="pt-BR" sz="1400" dirty="0" err="1"/>
              <a:t>math.h</a:t>
            </a:r>
            <a:r>
              <a:rPr lang="pt-BR" sz="1400" dirty="0"/>
              <a:t>&gt;</a:t>
            </a:r>
          </a:p>
          <a:p>
            <a:r>
              <a:rPr lang="pt-BR" sz="1400" dirty="0" err="1"/>
              <a:t>main</a:t>
            </a:r>
            <a:r>
              <a:rPr lang="pt-BR" sz="1400" dirty="0"/>
              <a:t>() {</a:t>
            </a:r>
          </a:p>
          <a:p>
            <a:r>
              <a:rPr lang="pt-BR" sz="1400" dirty="0"/>
              <a:t>  float </a:t>
            </a:r>
            <a:r>
              <a:rPr lang="pt-BR" sz="1400" dirty="0" err="1"/>
              <a:t>i,j,val,num</a:t>
            </a:r>
            <a:r>
              <a:rPr lang="pt-BR" sz="1400" dirty="0"/>
              <a:t>=1.0, x=20.0,k;  </a:t>
            </a:r>
          </a:p>
          <a:p>
            <a:r>
              <a:rPr lang="pt-BR" sz="1400" dirty="0"/>
              <a:t>  i=0;</a:t>
            </a:r>
          </a:p>
          <a:p>
            <a:r>
              <a:rPr lang="pt-BR" sz="1400" dirty="0"/>
              <a:t>  i += 1; // i = i + 1</a:t>
            </a:r>
          </a:p>
          <a:p>
            <a:r>
              <a:rPr lang="pt-BR" sz="1400" b="1" dirty="0"/>
              <a:t>  </a:t>
            </a:r>
            <a:r>
              <a:rPr lang="pt-BR" sz="1400" b="1" dirty="0" err="1"/>
              <a:t>printf</a:t>
            </a:r>
            <a:r>
              <a:rPr lang="pt-BR" sz="1400" b="1" dirty="0"/>
              <a:t>("i += 1 -&gt; i= %.2f, \</a:t>
            </a:r>
            <a:r>
              <a:rPr lang="pt-BR" sz="1400" b="1" dirty="0" err="1"/>
              <a:t>n",i</a:t>
            </a:r>
            <a:r>
              <a:rPr lang="pt-BR" sz="1400" b="1" dirty="0"/>
              <a:t>);</a:t>
            </a:r>
          </a:p>
          <a:p>
            <a:r>
              <a:rPr lang="pt-BR" sz="1400" dirty="0"/>
              <a:t>  i=0;</a:t>
            </a:r>
          </a:p>
          <a:p>
            <a:r>
              <a:rPr lang="pt-BR" sz="1400" dirty="0"/>
              <a:t>  i = i + 1;</a:t>
            </a:r>
          </a:p>
          <a:p>
            <a:r>
              <a:rPr lang="pt-BR" sz="1400" dirty="0"/>
              <a:t>  </a:t>
            </a:r>
            <a:r>
              <a:rPr lang="pt-BR" sz="1400" b="1" dirty="0" err="1"/>
              <a:t>printf</a:t>
            </a:r>
            <a:r>
              <a:rPr lang="pt-BR" sz="1400" b="1" dirty="0"/>
              <a:t>("i = i + 1 -&gt; i= %.2f, \n\</a:t>
            </a:r>
            <a:r>
              <a:rPr lang="pt-BR" sz="1400" b="1" dirty="0" err="1"/>
              <a:t>n",i</a:t>
            </a:r>
            <a:r>
              <a:rPr lang="pt-BR" sz="1400" b="1" dirty="0"/>
              <a:t>);</a:t>
            </a:r>
          </a:p>
          <a:p>
            <a:r>
              <a:rPr lang="pt-BR" sz="1400" dirty="0"/>
              <a:t>  </a:t>
            </a:r>
            <a:r>
              <a:rPr lang="pt-BR" sz="1400" dirty="0" err="1"/>
              <a:t>val</a:t>
            </a:r>
            <a:r>
              <a:rPr lang="pt-BR" sz="1400" dirty="0"/>
              <a:t>=1.0;</a:t>
            </a:r>
          </a:p>
          <a:p>
            <a:r>
              <a:rPr lang="pt-BR" sz="1400" dirty="0"/>
              <a:t>  j=2.0;</a:t>
            </a:r>
          </a:p>
          <a:p>
            <a:r>
              <a:rPr lang="pt-BR" sz="1400" dirty="0"/>
              <a:t>  j -= </a:t>
            </a:r>
            <a:r>
              <a:rPr lang="pt-BR" sz="1400" dirty="0" err="1"/>
              <a:t>val</a:t>
            </a:r>
            <a:r>
              <a:rPr lang="pt-BR" sz="1400" dirty="0"/>
              <a:t>; // j = j - </a:t>
            </a:r>
            <a:r>
              <a:rPr lang="pt-BR" sz="1400" dirty="0" err="1"/>
              <a:t>val</a:t>
            </a:r>
            <a:endParaRPr lang="pt-BR" sz="1400" dirty="0"/>
          </a:p>
          <a:p>
            <a:r>
              <a:rPr lang="pt-BR" sz="1400" dirty="0"/>
              <a:t>  </a:t>
            </a:r>
            <a:r>
              <a:rPr lang="pt-BR" sz="1400" b="1" dirty="0" err="1"/>
              <a:t>printf</a:t>
            </a:r>
            <a:r>
              <a:rPr lang="pt-BR" sz="1400" b="1" dirty="0"/>
              <a:t>("j -= </a:t>
            </a:r>
            <a:r>
              <a:rPr lang="pt-BR" sz="1400" b="1" dirty="0" err="1"/>
              <a:t>val</a:t>
            </a:r>
            <a:r>
              <a:rPr lang="pt-BR" sz="1400" b="1" dirty="0"/>
              <a:t> -&gt; j= %.2f, \</a:t>
            </a:r>
            <a:r>
              <a:rPr lang="pt-BR" sz="1400" b="1" dirty="0" err="1"/>
              <a:t>n",j</a:t>
            </a:r>
            <a:r>
              <a:rPr lang="pt-BR" sz="1400" b="1" dirty="0"/>
              <a:t>);  </a:t>
            </a:r>
          </a:p>
          <a:p>
            <a:r>
              <a:rPr lang="pt-BR" sz="1400" dirty="0"/>
              <a:t>  j=2.0;val=1.0;</a:t>
            </a:r>
          </a:p>
          <a:p>
            <a:r>
              <a:rPr lang="pt-BR" sz="1400" dirty="0"/>
              <a:t>  j = j - </a:t>
            </a:r>
            <a:r>
              <a:rPr lang="pt-BR" sz="1400" dirty="0" err="1"/>
              <a:t>val</a:t>
            </a:r>
            <a:r>
              <a:rPr lang="pt-BR" sz="1400" dirty="0"/>
              <a:t>;</a:t>
            </a:r>
          </a:p>
          <a:p>
            <a:r>
              <a:rPr lang="pt-BR" sz="1400" dirty="0"/>
              <a:t>  </a:t>
            </a:r>
            <a:r>
              <a:rPr lang="pt-BR" sz="1400" b="1" dirty="0" err="1"/>
              <a:t>printf</a:t>
            </a:r>
            <a:r>
              <a:rPr lang="pt-BR" sz="1400" b="1" dirty="0"/>
              <a:t>("j = j - </a:t>
            </a:r>
            <a:r>
              <a:rPr lang="pt-BR" sz="1400" b="1" dirty="0" err="1"/>
              <a:t>val</a:t>
            </a:r>
            <a:r>
              <a:rPr lang="pt-BR" sz="1400" b="1" dirty="0"/>
              <a:t> -&gt; j= %.2f, \n\</a:t>
            </a:r>
            <a:r>
              <a:rPr lang="pt-BR" sz="1400" b="1" dirty="0" err="1"/>
              <a:t>n",j</a:t>
            </a:r>
            <a:r>
              <a:rPr lang="pt-BR" sz="1400" b="1" dirty="0"/>
              <a:t>);</a:t>
            </a:r>
          </a:p>
          <a:p>
            <a:r>
              <a:rPr lang="pt-BR" sz="1400" dirty="0"/>
              <a:t>  k=7.5544444;</a:t>
            </a:r>
          </a:p>
          <a:p>
            <a:r>
              <a:rPr lang="pt-BR" sz="1400" dirty="0"/>
              <a:t>  num *= 5 + k; // num = num * 5 + k</a:t>
            </a:r>
          </a:p>
          <a:p>
            <a:r>
              <a:rPr lang="pt-BR" sz="1400" dirty="0"/>
              <a:t>  </a:t>
            </a:r>
            <a:r>
              <a:rPr lang="pt-BR" sz="1400" b="1" dirty="0" err="1"/>
              <a:t>printf</a:t>
            </a:r>
            <a:r>
              <a:rPr lang="pt-BR" sz="1400" b="1" dirty="0"/>
              <a:t>("num *= 2 + k -&gt; num= %.2f, \</a:t>
            </a:r>
            <a:r>
              <a:rPr lang="pt-BR" sz="1400" b="1" dirty="0" err="1"/>
              <a:t>n",num</a:t>
            </a:r>
            <a:r>
              <a:rPr lang="pt-BR" sz="1400" b="1" dirty="0"/>
              <a:t>);</a:t>
            </a:r>
          </a:p>
          <a:p>
            <a:r>
              <a:rPr lang="pt-BR" sz="1400" dirty="0"/>
              <a:t>  num=1.0;k=2.0;</a:t>
            </a:r>
          </a:p>
          <a:p>
            <a:r>
              <a:rPr lang="pt-BR" sz="1400" dirty="0"/>
              <a:t>  num = num * 2 + k;</a:t>
            </a:r>
          </a:p>
          <a:p>
            <a:r>
              <a:rPr lang="pt-BR" sz="1400" dirty="0"/>
              <a:t>  </a:t>
            </a:r>
            <a:r>
              <a:rPr lang="pt-BR" sz="1400" b="1" dirty="0" err="1"/>
              <a:t>printf</a:t>
            </a:r>
            <a:r>
              <a:rPr lang="pt-BR" sz="1400" b="1" dirty="0"/>
              <a:t>("num = num * 2 + k -&gt; num= %.2f, \n\</a:t>
            </a:r>
            <a:r>
              <a:rPr lang="pt-BR" sz="1400" b="1" dirty="0" err="1"/>
              <a:t>n",num</a:t>
            </a:r>
            <a:r>
              <a:rPr lang="pt-BR" sz="1400" b="1" dirty="0"/>
              <a:t>);</a:t>
            </a:r>
          </a:p>
          <a:p>
            <a:r>
              <a:rPr lang="pt-BR" sz="1400" dirty="0"/>
              <a:t>  x /= 10; // x = x/10</a:t>
            </a:r>
          </a:p>
          <a:p>
            <a:r>
              <a:rPr lang="pt-BR" sz="1400" dirty="0"/>
              <a:t>  </a:t>
            </a:r>
            <a:r>
              <a:rPr lang="pt-BR" sz="1400" b="1" dirty="0" err="1"/>
              <a:t>printf</a:t>
            </a:r>
            <a:r>
              <a:rPr lang="pt-BR" sz="1400" b="1" dirty="0"/>
              <a:t>("x /= 10 -&gt; x= %.2f, \</a:t>
            </a:r>
            <a:r>
              <a:rPr lang="pt-BR" sz="1400" b="1" dirty="0" err="1"/>
              <a:t>n",x</a:t>
            </a:r>
            <a:r>
              <a:rPr lang="pt-BR" sz="1400" b="1" dirty="0"/>
              <a:t>);</a:t>
            </a:r>
          </a:p>
          <a:p>
            <a:r>
              <a:rPr lang="pt-BR" sz="1400" dirty="0"/>
              <a:t>  x=20.0;</a:t>
            </a:r>
          </a:p>
          <a:p>
            <a:r>
              <a:rPr lang="pt-BR" sz="1400" dirty="0"/>
              <a:t>  x = x / 10;</a:t>
            </a:r>
          </a:p>
          <a:p>
            <a:r>
              <a:rPr lang="pt-BR" sz="1400" dirty="0"/>
              <a:t>  </a:t>
            </a:r>
            <a:r>
              <a:rPr lang="pt-BR" sz="1400" b="1" dirty="0" err="1"/>
              <a:t>printf</a:t>
            </a:r>
            <a:r>
              <a:rPr lang="pt-BR" sz="1400" b="1" dirty="0"/>
              <a:t>("x = x / 10 -&gt; x= %.2f, \n\</a:t>
            </a:r>
            <a:r>
              <a:rPr lang="pt-BR" sz="1400" b="1" dirty="0" err="1"/>
              <a:t>n",x</a:t>
            </a:r>
            <a:r>
              <a:rPr lang="pt-BR" sz="1400" b="1" dirty="0"/>
              <a:t>);</a:t>
            </a:r>
          </a:p>
          <a:p>
            <a:r>
              <a:rPr lang="pt-BR" sz="1400" dirty="0"/>
              <a:t> }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9243D1D-ECB2-9BB1-FE95-85D923FF62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1984" y="1844824"/>
            <a:ext cx="3958555" cy="3512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790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>
            <a:extLst>
              <a:ext uri="{FF2B5EF4-FFF2-40B4-BE49-F238E27FC236}">
                <a16:creationId xmlns:a16="http://schemas.microsoft.com/office/drawing/2014/main" id="{DBCD2C19-DE9A-4DD2-BC03-75AC3D6C32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altLang="pt-BR">
                <a:effectLst/>
              </a:rPr>
              <a:t> 2.5 - Expressões aritméticas e lógicas; </a:t>
            </a:r>
            <a:br>
              <a:rPr lang="pt-BR" altLang="pt-BR">
                <a:effectLst/>
              </a:rPr>
            </a:br>
            <a:r>
              <a:rPr lang="pt-BR" altLang="pt-BR">
                <a:effectLst/>
              </a:rPr>
              <a:t>Operadores Incrementais </a:t>
            </a:r>
          </a:p>
        </p:txBody>
      </p:sp>
      <p:sp>
        <p:nvSpPr>
          <p:cNvPr id="258051" name="Rectangle 3">
            <a:extLst>
              <a:ext uri="{FF2B5EF4-FFF2-40B4-BE49-F238E27FC236}">
                <a16:creationId xmlns:a16="http://schemas.microsoft.com/office/drawing/2014/main" id="{E1E3C87D-DA4C-4F18-BB4B-46766E6835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412875"/>
            <a:ext cx="10742984" cy="46085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174621" algn="l"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  Muitas vezes queremos alterar o valor de uma variável realizando alguma Em programação existem instruções muito comuns chamadas de </a:t>
            </a:r>
            <a:r>
              <a:rPr lang="pt-BR" altLang="pt-BR" b="1" dirty="0">
                <a:effectLst/>
              </a:rPr>
              <a:t>incremento</a:t>
            </a:r>
            <a:r>
              <a:rPr lang="pt-BR" altLang="pt-BR" dirty="0">
                <a:effectLst/>
              </a:rPr>
              <a:t> e </a:t>
            </a:r>
            <a:r>
              <a:rPr lang="pt-BR" altLang="pt-BR" b="1" dirty="0">
                <a:effectLst/>
              </a:rPr>
              <a:t>decremento</a:t>
            </a:r>
            <a:r>
              <a:rPr lang="pt-BR" altLang="pt-BR" dirty="0">
                <a:effectLst/>
              </a:rPr>
              <a:t>. Uma instrução de incremento </a:t>
            </a:r>
            <a:r>
              <a:rPr lang="pt-BR" altLang="pt-BR" b="1" dirty="0">
                <a:effectLst/>
              </a:rPr>
              <a:t>adiciona</a:t>
            </a:r>
            <a:r>
              <a:rPr lang="pt-BR" altLang="pt-BR" dirty="0">
                <a:effectLst/>
              </a:rPr>
              <a:t> uma unidade ao conteúdo de uma variável.  Uma instrução de decremento </a:t>
            </a:r>
            <a:r>
              <a:rPr lang="pt-BR" altLang="pt-BR" b="1" dirty="0">
                <a:effectLst/>
              </a:rPr>
              <a:t>subtrai</a:t>
            </a:r>
            <a:r>
              <a:rPr lang="pt-BR" altLang="pt-BR" dirty="0">
                <a:effectLst/>
              </a:rPr>
              <a:t> uma unidade do conteúdo de uma variável. </a:t>
            </a:r>
          </a:p>
          <a:p>
            <a:pPr marL="0" indent="174621" algn="just"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  Existem, em C, operadores específicos para realizar as operações de incremento (++) e decremento (--). Eles são genericamente chamados de </a:t>
            </a:r>
            <a:r>
              <a:rPr lang="pt-BR" altLang="pt-BR" b="1" dirty="0">
                <a:effectLst/>
              </a:rPr>
              <a:t>operadores incrementais</a:t>
            </a:r>
            <a:r>
              <a:rPr lang="pt-BR" altLang="pt-BR" dirty="0">
                <a:effectLst/>
              </a:rPr>
              <a:t>.</a:t>
            </a:r>
            <a:endParaRPr lang="pt-BR" altLang="pt-BR" b="1" dirty="0">
              <a:effectLst/>
            </a:endParaRPr>
          </a:p>
          <a:p>
            <a:pPr marL="0" indent="174621" algn="just">
              <a:buFont typeface="Wingdings" panose="05000000000000000000" pitchFamily="2" charset="2"/>
              <a:buChar char="§"/>
            </a:pPr>
            <a:r>
              <a:rPr lang="pt-BR" altLang="pt-BR" b="1" dirty="0">
                <a:effectLst/>
              </a:rPr>
              <a:t>Sintaxe:</a:t>
            </a:r>
            <a:r>
              <a:rPr lang="pt-BR" altLang="pt-BR" dirty="0">
                <a:effectLst/>
              </a:rPr>
              <a:t> A sintaxe dos operadores incrementais é a seguinte:</a:t>
            </a:r>
            <a:endParaRPr lang="pt-BR" altLang="pt-BR" b="1" dirty="0">
              <a:effectLst/>
            </a:endParaRPr>
          </a:p>
        </p:txBody>
      </p:sp>
      <p:sp>
        <p:nvSpPr>
          <p:cNvPr id="258052" name="Rectangle 4">
            <a:extLst>
              <a:ext uri="{FF2B5EF4-FFF2-40B4-BE49-F238E27FC236}">
                <a16:creationId xmlns:a16="http://schemas.microsoft.com/office/drawing/2014/main" id="{EECDE821-B00B-4738-A4A4-1BB095F604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400" y="4077072"/>
            <a:ext cx="3095625" cy="1200329"/>
          </a:xfrm>
          <a:prstGeom prst="rect">
            <a:avLst/>
          </a:prstGeom>
          <a:solidFill>
            <a:srgbClr val="ECFB79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i="1"/>
              <a:t>++ var      var = var + 1	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i="1"/>
              <a:t>var ++      var = var + 1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i="1"/>
              <a:t>-- var        var = var - 1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i="1"/>
              <a:t>var --       var = var - 1</a:t>
            </a:r>
          </a:p>
        </p:txBody>
      </p:sp>
      <p:sp>
        <p:nvSpPr>
          <p:cNvPr id="258053" name="Rectangle 5">
            <a:extLst>
              <a:ext uri="{FF2B5EF4-FFF2-40B4-BE49-F238E27FC236}">
                <a16:creationId xmlns:a16="http://schemas.microsoft.com/office/drawing/2014/main" id="{3D196E03-B23E-40C7-B65C-6CA260397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368" y="6477000"/>
            <a:ext cx="2904962" cy="369332"/>
          </a:xfrm>
          <a:prstGeom prst="rect">
            <a:avLst/>
          </a:prstGeom>
          <a:solidFill>
            <a:srgbClr val="ECFB79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pt-BR" altLang="pt-BR"/>
              <a:t>Operador incremental .cpp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A20F7B1-E2E7-5BD2-A3D5-919051B1B7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423" y="3916363"/>
            <a:ext cx="6697051" cy="2560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558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2BD56648-A731-47F0-BBE2-6E737C490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33C7D3-3435-4233-832E-4A8222DC7D1B}" type="slidenum">
              <a:rPr lang="pt-BR" smtClean="0"/>
              <a:pPr>
                <a:defRPr/>
              </a:pPr>
              <a:t>14</a:t>
            </a:fld>
            <a:endParaRPr lang="pt-BR"/>
          </a:p>
        </p:txBody>
      </p:sp>
      <p:sp>
        <p:nvSpPr>
          <p:cNvPr id="262147" name="Retângulo 2">
            <a:extLst>
              <a:ext uri="{FF2B5EF4-FFF2-40B4-BE49-F238E27FC236}">
                <a16:creationId xmlns:a16="http://schemas.microsoft.com/office/drawing/2014/main" id="{09F6BB17-AA7D-4285-A500-FF2AA60DDA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368" y="1879920"/>
            <a:ext cx="3240087" cy="397031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#include &lt;</a:t>
            </a:r>
            <a:r>
              <a:rPr lang="pt-BR" altLang="pt-BR" dirty="0" err="1">
                <a:solidFill>
                  <a:schemeClr val="tx1"/>
                </a:solidFill>
              </a:rPr>
              <a:t>stdio.h</a:t>
            </a:r>
            <a:r>
              <a:rPr lang="pt-BR" altLang="pt-BR" dirty="0">
                <a:solidFill>
                  <a:schemeClr val="tx1"/>
                </a:solidFill>
              </a:rPr>
              <a:t>&gt;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 err="1">
                <a:solidFill>
                  <a:schemeClr val="tx1"/>
                </a:solidFill>
              </a:rPr>
              <a:t>main</a:t>
            </a:r>
            <a:r>
              <a:rPr lang="pt-BR" altLang="pt-BR" dirty="0">
                <a:solidFill>
                  <a:schemeClr val="tx1"/>
                </a:solidFill>
              </a:rPr>
              <a:t>()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 {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 //declaração da variável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  int i=0,j=0,k=0,z=0, a=0;  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  ++i;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  </a:t>
            </a:r>
            <a:r>
              <a:rPr lang="pt-BR" altLang="pt-BR" dirty="0" err="1">
                <a:solidFill>
                  <a:schemeClr val="tx1"/>
                </a:solidFill>
              </a:rPr>
              <a:t>printf</a:t>
            </a:r>
            <a:r>
              <a:rPr lang="pt-BR" altLang="pt-BR" dirty="0">
                <a:solidFill>
                  <a:schemeClr val="tx1"/>
                </a:solidFill>
              </a:rPr>
              <a:t>(" i= %d, \n\</a:t>
            </a:r>
            <a:r>
              <a:rPr lang="pt-BR" altLang="pt-BR" dirty="0" err="1">
                <a:solidFill>
                  <a:schemeClr val="tx1"/>
                </a:solidFill>
              </a:rPr>
              <a:t>n",i</a:t>
            </a:r>
            <a:r>
              <a:rPr lang="pt-BR" altLang="pt-BR" dirty="0">
                <a:solidFill>
                  <a:schemeClr val="tx1"/>
                </a:solidFill>
              </a:rPr>
              <a:t>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  j++ 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  </a:t>
            </a:r>
            <a:r>
              <a:rPr lang="pt-BR" altLang="pt-BR" dirty="0" err="1">
                <a:solidFill>
                  <a:schemeClr val="tx1"/>
                </a:solidFill>
              </a:rPr>
              <a:t>printf</a:t>
            </a:r>
            <a:r>
              <a:rPr lang="pt-BR" altLang="pt-BR" dirty="0">
                <a:solidFill>
                  <a:schemeClr val="tx1"/>
                </a:solidFill>
              </a:rPr>
              <a:t>(" j= %d, \n\</a:t>
            </a:r>
            <a:r>
              <a:rPr lang="pt-BR" altLang="pt-BR" dirty="0" err="1">
                <a:solidFill>
                  <a:schemeClr val="tx1"/>
                </a:solidFill>
              </a:rPr>
              <a:t>n",j</a:t>
            </a:r>
            <a:r>
              <a:rPr lang="pt-BR" altLang="pt-BR" dirty="0">
                <a:solidFill>
                  <a:schemeClr val="tx1"/>
                </a:solidFill>
              </a:rPr>
              <a:t>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  --k;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  </a:t>
            </a:r>
            <a:r>
              <a:rPr lang="pt-BR" altLang="pt-BR" dirty="0" err="1">
                <a:solidFill>
                  <a:schemeClr val="tx1"/>
                </a:solidFill>
              </a:rPr>
              <a:t>printf</a:t>
            </a:r>
            <a:r>
              <a:rPr lang="pt-BR" altLang="pt-BR" dirty="0">
                <a:solidFill>
                  <a:schemeClr val="tx1"/>
                </a:solidFill>
              </a:rPr>
              <a:t>(" k= %d, \n\</a:t>
            </a:r>
            <a:r>
              <a:rPr lang="pt-BR" altLang="pt-BR" dirty="0" err="1">
                <a:solidFill>
                  <a:schemeClr val="tx1"/>
                </a:solidFill>
              </a:rPr>
              <a:t>n",k</a:t>
            </a:r>
            <a:r>
              <a:rPr lang="pt-BR" altLang="pt-BR" dirty="0">
                <a:solidFill>
                  <a:schemeClr val="tx1"/>
                </a:solidFill>
              </a:rPr>
              <a:t>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  z-- 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  </a:t>
            </a:r>
            <a:r>
              <a:rPr lang="pt-BR" altLang="pt-BR" dirty="0" err="1">
                <a:solidFill>
                  <a:schemeClr val="tx1"/>
                </a:solidFill>
              </a:rPr>
              <a:t>printf</a:t>
            </a:r>
            <a:r>
              <a:rPr lang="pt-BR" altLang="pt-BR" dirty="0">
                <a:solidFill>
                  <a:schemeClr val="tx1"/>
                </a:solidFill>
              </a:rPr>
              <a:t>(" z= %d, \n\</a:t>
            </a:r>
            <a:r>
              <a:rPr lang="pt-BR" altLang="pt-BR" dirty="0" err="1">
                <a:solidFill>
                  <a:schemeClr val="tx1"/>
                </a:solidFill>
              </a:rPr>
              <a:t>n",z</a:t>
            </a:r>
            <a:r>
              <a:rPr lang="pt-BR" altLang="pt-BR" dirty="0">
                <a:solidFill>
                  <a:schemeClr val="tx1"/>
                </a:solidFill>
              </a:rPr>
              <a:t>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262148" name="Retângulo 3">
            <a:extLst>
              <a:ext uri="{FF2B5EF4-FFF2-40B4-BE49-F238E27FC236}">
                <a16:creationId xmlns:a16="http://schemas.microsoft.com/office/drawing/2014/main" id="{2FA17DCF-E813-40B4-9EEB-DFFA7DE69D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8708" y="1832971"/>
            <a:ext cx="4572000" cy="397031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#include &lt;</a:t>
            </a:r>
            <a:r>
              <a:rPr lang="pt-BR" altLang="pt-BR" dirty="0" err="1">
                <a:solidFill>
                  <a:schemeClr val="tx1"/>
                </a:solidFill>
              </a:rPr>
              <a:t>stdio.h</a:t>
            </a:r>
            <a:r>
              <a:rPr lang="pt-BR" altLang="pt-BR" dirty="0">
                <a:solidFill>
                  <a:schemeClr val="tx1"/>
                </a:solidFill>
              </a:rPr>
              <a:t>&gt;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 err="1">
                <a:solidFill>
                  <a:schemeClr val="tx1"/>
                </a:solidFill>
              </a:rPr>
              <a:t>main</a:t>
            </a:r>
            <a:r>
              <a:rPr lang="pt-BR" altLang="pt-BR" dirty="0">
                <a:solidFill>
                  <a:schemeClr val="tx1"/>
                </a:solidFill>
              </a:rPr>
              <a:t>()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 {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 //declaração da variável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  int i=0,j=0,k=0,z=0, a=0;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dirty="0">
              <a:solidFill>
                <a:schemeClr val="tx1"/>
              </a:solidFill>
            </a:endParaRP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  </a:t>
            </a:r>
            <a:r>
              <a:rPr lang="pt-BR" altLang="pt-BR" dirty="0" err="1">
                <a:solidFill>
                  <a:schemeClr val="tx1"/>
                </a:solidFill>
              </a:rPr>
              <a:t>printf</a:t>
            </a:r>
            <a:r>
              <a:rPr lang="pt-BR" altLang="pt-BR" dirty="0">
                <a:solidFill>
                  <a:schemeClr val="tx1"/>
                </a:solidFill>
              </a:rPr>
              <a:t>(" i= %d, \n\n",++i);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dirty="0">
              <a:solidFill>
                <a:schemeClr val="tx1"/>
              </a:solidFill>
            </a:endParaRP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  </a:t>
            </a:r>
            <a:r>
              <a:rPr lang="pt-BR" altLang="pt-BR" dirty="0" err="1">
                <a:solidFill>
                  <a:schemeClr val="tx1"/>
                </a:solidFill>
              </a:rPr>
              <a:t>printf</a:t>
            </a:r>
            <a:r>
              <a:rPr lang="pt-BR" altLang="pt-BR" dirty="0">
                <a:solidFill>
                  <a:schemeClr val="tx1"/>
                </a:solidFill>
              </a:rPr>
              <a:t>(" j= %d, \n\</a:t>
            </a:r>
            <a:r>
              <a:rPr lang="pt-BR" altLang="pt-BR" dirty="0" err="1">
                <a:solidFill>
                  <a:schemeClr val="tx1"/>
                </a:solidFill>
              </a:rPr>
              <a:t>n",j</a:t>
            </a:r>
            <a:r>
              <a:rPr lang="pt-BR" altLang="pt-BR" dirty="0">
                <a:solidFill>
                  <a:schemeClr val="tx1"/>
                </a:solidFill>
              </a:rPr>
              <a:t>++);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dirty="0">
              <a:solidFill>
                <a:schemeClr val="tx1"/>
              </a:solidFill>
            </a:endParaRP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  </a:t>
            </a:r>
            <a:r>
              <a:rPr lang="pt-BR" altLang="pt-BR" dirty="0" err="1">
                <a:solidFill>
                  <a:schemeClr val="tx1"/>
                </a:solidFill>
              </a:rPr>
              <a:t>printf</a:t>
            </a:r>
            <a:r>
              <a:rPr lang="pt-BR" altLang="pt-BR" dirty="0">
                <a:solidFill>
                  <a:schemeClr val="tx1"/>
                </a:solidFill>
              </a:rPr>
              <a:t>(" k= %d, \n\n",--k);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dirty="0">
              <a:solidFill>
                <a:schemeClr val="tx1"/>
              </a:solidFill>
            </a:endParaRP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  </a:t>
            </a:r>
            <a:r>
              <a:rPr lang="pt-BR" altLang="pt-BR" dirty="0" err="1">
                <a:solidFill>
                  <a:schemeClr val="tx1"/>
                </a:solidFill>
              </a:rPr>
              <a:t>printf</a:t>
            </a:r>
            <a:r>
              <a:rPr lang="pt-BR" altLang="pt-BR" dirty="0">
                <a:solidFill>
                  <a:schemeClr val="tx1"/>
                </a:solidFill>
              </a:rPr>
              <a:t>(" z= %d, \n\</a:t>
            </a:r>
            <a:r>
              <a:rPr lang="pt-BR" altLang="pt-BR" dirty="0" err="1">
                <a:solidFill>
                  <a:schemeClr val="tx1"/>
                </a:solidFill>
              </a:rPr>
              <a:t>n",z</a:t>
            </a:r>
            <a:r>
              <a:rPr lang="pt-BR" altLang="pt-BR" dirty="0">
                <a:solidFill>
                  <a:schemeClr val="tx1"/>
                </a:solidFill>
              </a:rPr>
              <a:t>--);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865C18-0286-61B0-7B13-072600310BA5}"/>
              </a:ext>
            </a:extLst>
          </p:cNvPr>
          <p:cNvSpPr txBox="1">
            <a:spLocks noChangeArrowheads="1"/>
          </p:cNvSpPr>
          <p:nvPr/>
        </p:nvSpPr>
        <p:spPr>
          <a:xfrm>
            <a:off x="508100" y="710762"/>
            <a:ext cx="109728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5pPr>
            <a:lvl6pPr marL="457189" algn="ctr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6pPr>
            <a:lvl7pPr marL="914377" algn="ctr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7pPr>
            <a:lvl8pPr marL="1371566" algn="ctr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8pPr>
            <a:lvl9pPr marL="1828754" algn="ctr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9pPr>
          </a:lstStyle>
          <a:p>
            <a:r>
              <a:rPr lang="pt-BR" altLang="pt-BR" kern="0" dirty="0">
                <a:effectLst/>
              </a:rPr>
              <a:t>Operadores Incrementais</a:t>
            </a:r>
          </a:p>
          <a:p>
            <a:r>
              <a:rPr lang="pt-BR" altLang="pt-BR" kern="0" dirty="0">
                <a:effectLst/>
              </a:rPr>
              <a:t>O que será impresso em cada comando </a:t>
            </a:r>
            <a:r>
              <a:rPr lang="pt-BR" altLang="pt-BR" kern="0" dirty="0" err="1">
                <a:effectLst/>
              </a:rPr>
              <a:t>printf</a:t>
            </a:r>
            <a:r>
              <a:rPr lang="pt-BR" altLang="pt-BR" kern="0" dirty="0">
                <a:effectLst/>
              </a:rPr>
              <a:t>?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2E2A8B8-B93F-7E7C-8E75-CC20C78BE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4044" y="2919936"/>
            <a:ext cx="2459788" cy="285277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EFEEE5D-763E-995D-6DF7-458C1592A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1288" y="3108412"/>
            <a:ext cx="2366688" cy="2664296"/>
          </a:xfrm>
          <a:prstGeom prst="rect">
            <a:avLst/>
          </a:prstGeom>
        </p:spPr>
      </p:pic>
      <p:sp>
        <p:nvSpPr>
          <p:cNvPr id="8" name="Rectangle 5">
            <a:extLst>
              <a:ext uri="{FF2B5EF4-FFF2-40B4-BE49-F238E27FC236}">
                <a16:creationId xmlns:a16="http://schemas.microsoft.com/office/drawing/2014/main" id="{19CDA4A3-C3C4-9EBB-FB83-EFD6F55F49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69661" y="6477000"/>
            <a:ext cx="2904962" cy="369332"/>
          </a:xfrm>
          <a:prstGeom prst="rect">
            <a:avLst/>
          </a:prstGeom>
          <a:solidFill>
            <a:srgbClr val="FF6600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pt-BR" altLang="pt-BR"/>
              <a:t>Operador incremental .cpp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91862B93-67B4-4F2D-1DD7-DEEA60D69F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6193" y="573975"/>
            <a:ext cx="3095625" cy="1200329"/>
          </a:xfrm>
          <a:prstGeom prst="rect">
            <a:avLst/>
          </a:prstGeom>
          <a:solidFill>
            <a:srgbClr val="ECFB79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i="1"/>
              <a:t>++ var      var = var + 1	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i="1"/>
              <a:t>var ++      var = var + 1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i="1"/>
              <a:t>-- var        var = var - 1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i="1"/>
              <a:t>var --       var = var - 1</a:t>
            </a:r>
          </a:p>
        </p:txBody>
      </p:sp>
    </p:spTree>
    <p:extLst>
      <p:ext uri="{BB962C8B-B14F-4D97-AF65-F5344CB8AC3E}">
        <p14:creationId xmlns:p14="http://schemas.microsoft.com/office/powerpoint/2010/main" val="661112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Rectangle 2">
            <a:extLst>
              <a:ext uri="{FF2B5EF4-FFF2-40B4-BE49-F238E27FC236}">
                <a16:creationId xmlns:a16="http://schemas.microsoft.com/office/drawing/2014/main" id="{E870717B-9F2D-46CC-B0CC-1181024355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altLang="pt-BR">
                <a:effectLst/>
              </a:rPr>
              <a:t> 2.5 - Expressões aritméticas e lógicas</a:t>
            </a:r>
            <a:br>
              <a:rPr lang="pt-BR" altLang="pt-BR">
                <a:effectLst/>
              </a:rPr>
            </a:br>
            <a:r>
              <a:rPr lang="pt-BR" altLang="pt-BR">
                <a:effectLst/>
              </a:rPr>
              <a:t>Operadores Incrementais </a:t>
            </a:r>
          </a:p>
        </p:txBody>
      </p:sp>
      <p:sp>
        <p:nvSpPr>
          <p:cNvPr id="260099" name="Rectangle 3">
            <a:extLst>
              <a:ext uri="{FF2B5EF4-FFF2-40B4-BE49-F238E27FC236}">
                <a16:creationId xmlns:a16="http://schemas.microsoft.com/office/drawing/2014/main" id="{0BD56553-44AD-49F5-870A-77792999F2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174621" algn="just">
              <a:buFont typeface="Wingdings" panose="05000000000000000000" pitchFamily="2" charset="2"/>
              <a:buChar char="§"/>
            </a:pPr>
            <a:r>
              <a:rPr lang="pt-BR" altLang="pt-BR">
                <a:effectLst/>
              </a:rPr>
              <a:t>Observe  que existe duas sintaxes possíveis para os operadores: pode-se colocar o operador </a:t>
            </a:r>
            <a:r>
              <a:rPr lang="pt-BR" altLang="pt-BR" b="1">
                <a:effectLst/>
              </a:rPr>
              <a:t>à esquerda</a:t>
            </a:r>
            <a:r>
              <a:rPr lang="pt-BR" altLang="pt-BR">
                <a:effectLst/>
              </a:rPr>
              <a:t> ou </a:t>
            </a:r>
            <a:r>
              <a:rPr lang="pt-BR" altLang="pt-BR" b="1">
                <a:effectLst/>
              </a:rPr>
              <a:t>á direita</a:t>
            </a:r>
            <a:r>
              <a:rPr lang="pt-BR" altLang="pt-BR">
                <a:effectLst/>
              </a:rPr>
              <a:t> da variável. </a:t>
            </a:r>
          </a:p>
          <a:p>
            <a:pPr marL="0" indent="174621" algn="just">
              <a:buFont typeface="Wingdings" panose="05000000000000000000" pitchFamily="2" charset="2"/>
              <a:buChar char="§"/>
            </a:pPr>
            <a:r>
              <a:rPr lang="pt-BR" altLang="pt-BR">
                <a:effectLst/>
              </a:rPr>
              <a:t>Nos dois casos o valor da variável será incrementado (ou decrementado) de uma unidade.</a:t>
            </a:r>
          </a:p>
          <a:p>
            <a:pPr marL="0" indent="174621" algn="just">
              <a:buFont typeface="Wingdings" panose="05000000000000000000" pitchFamily="2" charset="2"/>
              <a:buChar char="§"/>
            </a:pPr>
            <a:r>
              <a:rPr lang="pt-BR" altLang="pt-BR">
                <a:effectLst/>
              </a:rPr>
              <a:t>Se o operador for colocado </a:t>
            </a:r>
            <a:r>
              <a:rPr lang="pt-BR" altLang="pt-BR" b="1">
                <a:effectLst/>
              </a:rPr>
              <a:t>á esquerda</a:t>
            </a:r>
            <a:r>
              <a:rPr lang="pt-BR" altLang="pt-BR">
                <a:effectLst/>
              </a:rPr>
              <a:t> da variável, o valor da variável será incrementado (ou decrementado) </a:t>
            </a:r>
            <a:r>
              <a:rPr lang="pt-BR" altLang="pt-BR" b="1">
                <a:effectLst/>
              </a:rPr>
              <a:t>antes</a:t>
            </a:r>
            <a:r>
              <a:rPr lang="pt-BR" altLang="pt-BR">
                <a:effectLst/>
              </a:rPr>
              <a:t> que a variável seja usada em alguma outra operação. </a:t>
            </a:r>
          </a:p>
          <a:p>
            <a:pPr marL="0" indent="174621" algn="just">
              <a:buFont typeface="Wingdings" panose="05000000000000000000" pitchFamily="2" charset="2"/>
              <a:buChar char="§"/>
            </a:pPr>
            <a:r>
              <a:rPr lang="pt-BR" altLang="pt-BR">
                <a:effectLst/>
              </a:rPr>
              <a:t>Caso o operador seja colocado </a:t>
            </a:r>
            <a:r>
              <a:rPr lang="pt-BR" altLang="pt-BR" b="1">
                <a:effectLst/>
              </a:rPr>
              <a:t>à direita</a:t>
            </a:r>
            <a:r>
              <a:rPr lang="pt-BR" altLang="pt-BR">
                <a:effectLst/>
              </a:rPr>
              <a:t> da variável, o valor da variável será incrementado (ou decrementado) </a:t>
            </a:r>
            <a:r>
              <a:rPr lang="pt-BR" altLang="pt-BR" b="1">
                <a:effectLst/>
              </a:rPr>
              <a:t>depois</a:t>
            </a:r>
            <a:r>
              <a:rPr lang="pt-BR" altLang="pt-BR">
                <a:effectLst/>
              </a:rPr>
              <a:t> que a variável for usada em alguma outra operação. </a:t>
            </a:r>
          </a:p>
        </p:txBody>
      </p:sp>
      <p:sp>
        <p:nvSpPr>
          <p:cNvPr id="260100" name="Rectangle 4">
            <a:extLst>
              <a:ext uri="{FF2B5EF4-FFF2-40B4-BE49-F238E27FC236}">
                <a16:creationId xmlns:a16="http://schemas.microsoft.com/office/drawing/2014/main" id="{E53BBD96-5986-41FB-97F4-9FEFE5C336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2" y="6481764"/>
            <a:ext cx="3026470" cy="369332"/>
          </a:xfrm>
          <a:prstGeom prst="rect">
            <a:avLst/>
          </a:prstGeom>
          <a:solidFill>
            <a:srgbClr val="FF6600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pt-BR" altLang="pt-BR"/>
              <a:t>Operador incremental 2.cpp</a:t>
            </a:r>
          </a:p>
        </p:txBody>
      </p:sp>
    </p:spTree>
    <p:extLst>
      <p:ext uri="{BB962C8B-B14F-4D97-AF65-F5344CB8AC3E}">
        <p14:creationId xmlns:p14="http://schemas.microsoft.com/office/powerpoint/2010/main" val="21013780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00DCF-8618-96B8-AC9F-FDA3B1BF3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>
            <a:extLst>
              <a:ext uri="{FF2B5EF4-FFF2-40B4-BE49-F238E27FC236}">
                <a16:creationId xmlns:a16="http://schemas.microsoft.com/office/drawing/2014/main" id="{267C2C69-C99B-9372-7FDD-D481E4D868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altLang="pt-BR" dirty="0">
                <a:effectLst/>
              </a:rPr>
              <a:t>Expressões aritméticas e lógicas; </a:t>
            </a:r>
            <a:br>
              <a:rPr lang="pt-BR" altLang="pt-BR" dirty="0">
                <a:effectLst/>
              </a:rPr>
            </a:br>
            <a:r>
              <a:rPr lang="pt-BR" altLang="pt-BR" dirty="0">
                <a:effectLst/>
              </a:rPr>
              <a:t>Operadores Incrementais </a:t>
            </a:r>
          </a:p>
        </p:txBody>
      </p:sp>
      <p:sp>
        <p:nvSpPr>
          <p:cNvPr id="258052" name="Rectangle 4">
            <a:extLst>
              <a:ext uri="{FF2B5EF4-FFF2-40B4-BE49-F238E27FC236}">
                <a16:creationId xmlns:a16="http://schemas.microsoft.com/office/drawing/2014/main" id="{A89DBD25-B53B-8688-DEBC-A626CFE7FD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6193" y="573975"/>
            <a:ext cx="3095625" cy="1200329"/>
          </a:xfrm>
          <a:prstGeom prst="rect">
            <a:avLst/>
          </a:prstGeom>
          <a:solidFill>
            <a:srgbClr val="ECFB79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i="1"/>
              <a:t>++ var      var = var + 1	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i="1"/>
              <a:t>var ++      var = var + 1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i="1"/>
              <a:t>-- var        var = var - 1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i="1"/>
              <a:t>var --       var = var - 1</a:t>
            </a:r>
          </a:p>
        </p:txBody>
      </p:sp>
      <p:sp>
        <p:nvSpPr>
          <p:cNvPr id="258053" name="Rectangle 5">
            <a:extLst>
              <a:ext uri="{FF2B5EF4-FFF2-40B4-BE49-F238E27FC236}">
                <a16:creationId xmlns:a16="http://schemas.microsoft.com/office/drawing/2014/main" id="{EA3BBFE9-EAE4-6FA2-115F-01E73E6C67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69661" y="6477000"/>
            <a:ext cx="3026470" cy="369332"/>
          </a:xfrm>
          <a:prstGeom prst="rect">
            <a:avLst/>
          </a:prstGeom>
          <a:solidFill>
            <a:srgbClr val="ECFB79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pt-BR" altLang="pt-BR" dirty="0">
                <a:solidFill>
                  <a:schemeClr val="bg1"/>
                </a:solidFill>
              </a:rPr>
              <a:t>Operador incremental2.cpp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8A5758F-9715-B9CA-D38C-51CAC96D51BF}"/>
              </a:ext>
            </a:extLst>
          </p:cNvPr>
          <p:cNvSpPr txBox="1"/>
          <p:nvPr/>
        </p:nvSpPr>
        <p:spPr>
          <a:xfrm>
            <a:off x="335360" y="1774304"/>
            <a:ext cx="6144986" cy="3693319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pt-BR" dirty="0"/>
              <a:t>#include &lt;stdio.h&gt;</a:t>
            </a:r>
          </a:p>
          <a:p>
            <a:r>
              <a:rPr lang="pt-BR" dirty="0" err="1"/>
              <a:t>main</a:t>
            </a:r>
            <a:r>
              <a:rPr lang="pt-BR" dirty="0"/>
              <a:t>()</a:t>
            </a:r>
          </a:p>
          <a:p>
            <a:r>
              <a:rPr lang="pt-BR" dirty="0"/>
              <a:t> {</a:t>
            </a:r>
          </a:p>
          <a:p>
            <a:r>
              <a:rPr lang="pt-BR" dirty="0"/>
              <a:t> int a=0, b=0, c=0, i = 4;     // a: 0   b: 0   c: 0   i: 3</a:t>
            </a:r>
          </a:p>
          <a:p>
            <a:r>
              <a:rPr lang="pt-BR" dirty="0"/>
              <a:t>a = i++;  </a:t>
            </a:r>
          </a:p>
          <a:p>
            <a:r>
              <a:rPr lang="pt-BR" dirty="0" err="1"/>
              <a:t>printf</a:t>
            </a:r>
            <a:r>
              <a:rPr lang="pt-BR" dirty="0"/>
              <a:t>("++ a Direita \t a= %d, i= %d, \n\n",</a:t>
            </a:r>
            <a:r>
              <a:rPr lang="pt-BR" dirty="0" err="1"/>
              <a:t>a,i</a:t>
            </a:r>
            <a:r>
              <a:rPr lang="pt-BR" dirty="0"/>
              <a:t>); </a:t>
            </a:r>
          </a:p>
          <a:p>
            <a:r>
              <a:rPr lang="pt-BR" dirty="0"/>
              <a:t>b = ++i;                </a:t>
            </a:r>
          </a:p>
          <a:p>
            <a:r>
              <a:rPr lang="pt-BR" dirty="0" err="1"/>
              <a:t>printf</a:t>
            </a:r>
            <a:r>
              <a:rPr lang="pt-BR" dirty="0"/>
              <a:t>("++ a Esquerda \t b= %d, i= %d, \n\n",</a:t>
            </a:r>
            <a:r>
              <a:rPr lang="pt-BR" dirty="0" err="1"/>
              <a:t>b,i</a:t>
            </a:r>
            <a:r>
              <a:rPr lang="pt-BR" dirty="0"/>
              <a:t>);</a:t>
            </a:r>
          </a:p>
          <a:p>
            <a:r>
              <a:rPr lang="pt-BR" dirty="0"/>
              <a:t>c = i--;               </a:t>
            </a:r>
          </a:p>
          <a:p>
            <a:r>
              <a:rPr lang="pt-BR" dirty="0" err="1"/>
              <a:t>printf</a:t>
            </a:r>
            <a:r>
              <a:rPr lang="pt-BR" dirty="0"/>
              <a:t>("-- a Direita \t c= %d, i= %d, \n\n",</a:t>
            </a:r>
            <a:r>
              <a:rPr lang="pt-BR" dirty="0" err="1"/>
              <a:t>c,i</a:t>
            </a:r>
            <a:r>
              <a:rPr lang="pt-BR" dirty="0"/>
              <a:t>); </a:t>
            </a:r>
          </a:p>
          <a:p>
            <a:r>
              <a:rPr lang="pt-BR" dirty="0"/>
              <a:t>c = --i;               </a:t>
            </a:r>
          </a:p>
          <a:p>
            <a:r>
              <a:rPr lang="pt-BR" dirty="0" err="1"/>
              <a:t>printf</a:t>
            </a:r>
            <a:r>
              <a:rPr lang="pt-BR" dirty="0"/>
              <a:t>("-- a Esquerda \t c= %d, i= %d, \n\n",</a:t>
            </a:r>
            <a:r>
              <a:rPr lang="pt-BR" dirty="0" err="1"/>
              <a:t>c,i</a:t>
            </a:r>
            <a:r>
              <a:rPr lang="pt-BR" dirty="0"/>
              <a:t>);</a:t>
            </a:r>
          </a:p>
          <a:p>
            <a:r>
              <a:rPr lang="pt-BR" dirty="0"/>
              <a:t>}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7D030B5-032B-0791-1B4E-F68AB4FFD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016" y="2905641"/>
            <a:ext cx="3482787" cy="235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039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19004-3657-09B5-4341-D57465C70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6DD7F539-7417-A281-0E82-241E81A03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33C7D3-3435-4233-832E-4A8222DC7D1B}" type="slidenum">
              <a:rPr lang="pt-BR" smtClean="0"/>
              <a:pPr>
                <a:defRPr/>
              </a:pPr>
              <a:t>17</a:t>
            </a:fld>
            <a:endParaRPr lang="pt-BR"/>
          </a:p>
        </p:txBody>
      </p:sp>
      <p:sp>
        <p:nvSpPr>
          <p:cNvPr id="262148" name="Retângulo 3">
            <a:extLst>
              <a:ext uri="{FF2B5EF4-FFF2-40B4-BE49-F238E27FC236}">
                <a16:creationId xmlns:a16="http://schemas.microsoft.com/office/drawing/2014/main" id="{5D40E2CB-04F6-0D38-E3A1-21033F42C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344" y="1720270"/>
            <a:ext cx="4572000" cy="452431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solidFill>
                  <a:schemeClr val="tx1"/>
                </a:solidFill>
              </a:rPr>
              <a:t> printf("*************************\n");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solidFill>
                  <a:schemeClr val="tx1"/>
                </a:solidFill>
              </a:rPr>
              <a:t>  // zerando as variáveis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solidFill>
                  <a:schemeClr val="tx1"/>
                </a:solidFill>
              </a:rPr>
              <a:t>  i=0;j=0;k=0;z=0; 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solidFill>
                  <a:schemeClr val="tx1"/>
                </a:solidFill>
              </a:rPr>
              <a:t>  a=++i;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solidFill>
                  <a:schemeClr val="tx1"/>
                </a:solidFill>
              </a:rPr>
              <a:t>  printf(" i= %d,\t a=%d\n\n",i,a);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solidFill>
                  <a:schemeClr val="tx1"/>
                </a:solidFill>
              </a:rPr>
              <a:t>  a=0;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solidFill>
                  <a:schemeClr val="tx1"/>
                </a:solidFill>
              </a:rPr>
              <a:t>  a=j++ 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solidFill>
                  <a:schemeClr val="tx1"/>
                </a:solidFill>
              </a:rPr>
              <a:t>  printf(" j= %d,\t a=%d\n\n",j,a);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solidFill>
                  <a:schemeClr val="tx1"/>
                </a:solidFill>
              </a:rPr>
              <a:t>  a=0;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solidFill>
                  <a:schemeClr val="tx1"/>
                </a:solidFill>
              </a:rPr>
              <a:t>  a=--k;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solidFill>
                  <a:schemeClr val="tx1"/>
                </a:solidFill>
              </a:rPr>
              <a:t>  printf(" k= %d,\t a=%d\n\n",k,a);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solidFill>
                  <a:schemeClr val="tx1"/>
                </a:solidFill>
              </a:rPr>
              <a:t>   a=0;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solidFill>
                  <a:schemeClr val="tx1"/>
                </a:solidFill>
              </a:rPr>
              <a:t>  a=z-- 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solidFill>
                  <a:schemeClr val="tx1"/>
                </a:solidFill>
              </a:rPr>
              <a:t>  printf(" z= %d,\t a=%d\n\n",z,a);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solidFill>
                  <a:schemeClr val="tx1"/>
                </a:solidFill>
              </a:rPr>
              <a:t> }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385BB8-073E-B4CE-D9E2-C1BE045AF53E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744827"/>
            <a:ext cx="109728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5pPr>
            <a:lvl6pPr marL="457189" algn="ctr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6pPr>
            <a:lvl7pPr marL="914377" algn="ctr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7pPr>
            <a:lvl8pPr marL="1371566" algn="ctr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8pPr>
            <a:lvl9pPr marL="1828754" algn="ctr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9pPr>
          </a:lstStyle>
          <a:p>
            <a:r>
              <a:rPr lang="pt-BR" altLang="pt-BR" kern="0" dirty="0">
                <a:effectLst/>
              </a:rPr>
              <a:t>Operadores Incrementais</a:t>
            </a:r>
          </a:p>
          <a:p>
            <a:r>
              <a:rPr lang="pt-BR" altLang="pt-BR" kern="0" dirty="0">
                <a:effectLst/>
              </a:rPr>
              <a:t>O que será impresso em cada comando </a:t>
            </a:r>
            <a:r>
              <a:rPr lang="pt-BR" altLang="pt-BR" kern="0" dirty="0" err="1">
                <a:effectLst/>
              </a:rPr>
              <a:t>printf</a:t>
            </a:r>
            <a:r>
              <a:rPr lang="pt-BR" altLang="pt-BR" kern="0" dirty="0">
                <a:effectLst/>
              </a:rPr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38285158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4C1A3AC-F9BA-4C23-9C33-97F840540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41E486-DFB7-4BDC-8BBB-8366151CBB64}" type="slidenum">
              <a:rPr lang="pt-BR" smtClean="0"/>
              <a:pPr>
                <a:defRPr/>
              </a:pPr>
              <a:t>18</a:t>
            </a:fld>
            <a:endParaRPr lang="pt-BR"/>
          </a:p>
        </p:txBody>
      </p:sp>
      <p:sp>
        <p:nvSpPr>
          <p:cNvPr id="263171" name="Retângulo 2">
            <a:extLst>
              <a:ext uri="{FF2B5EF4-FFF2-40B4-BE49-F238E27FC236}">
                <a16:creationId xmlns:a16="http://schemas.microsoft.com/office/drawing/2014/main" id="{D0BC864F-5D12-4DB6-BE52-3B4355AE2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352" y="1734163"/>
            <a:ext cx="6750051" cy="452431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#include &lt;stdio.h&gt;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#include &lt;</a:t>
            </a:r>
            <a:r>
              <a:rPr lang="pt-BR" altLang="pt-BR" dirty="0" err="1">
                <a:solidFill>
                  <a:schemeClr val="tx1"/>
                </a:solidFill>
              </a:rPr>
              <a:t>math.h</a:t>
            </a:r>
            <a:r>
              <a:rPr lang="pt-BR" altLang="pt-BR" dirty="0">
                <a:solidFill>
                  <a:schemeClr val="tx1"/>
                </a:solidFill>
              </a:rPr>
              <a:t>&gt;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 err="1">
                <a:solidFill>
                  <a:schemeClr val="tx1"/>
                </a:solidFill>
              </a:rPr>
              <a:t>main</a:t>
            </a:r>
            <a:r>
              <a:rPr lang="pt-BR" altLang="pt-BR" dirty="0">
                <a:solidFill>
                  <a:schemeClr val="tx1"/>
                </a:solidFill>
              </a:rPr>
              <a:t>() {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int a=0, b=0, c=0, i = 3;     // a: 0   b: 0   c: 0   i: 3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a = i++;  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 err="1">
                <a:solidFill>
                  <a:schemeClr val="tx1"/>
                </a:solidFill>
              </a:rPr>
              <a:t>printf</a:t>
            </a:r>
            <a:r>
              <a:rPr lang="pt-BR" altLang="pt-BR" dirty="0">
                <a:solidFill>
                  <a:schemeClr val="tx1"/>
                </a:solidFill>
              </a:rPr>
              <a:t>("++ a Direita \</a:t>
            </a:r>
            <a:r>
              <a:rPr lang="pt-BR" altLang="pt-BR" dirty="0" err="1">
                <a:solidFill>
                  <a:schemeClr val="tx1"/>
                </a:solidFill>
              </a:rPr>
              <a:t>ta</a:t>
            </a:r>
            <a:r>
              <a:rPr lang="pt-BR" altLang="pt-BR" dirty="0">
                <a:solidFill>
                  <a:schemeClr val="tx1"/>
                </a:solidFill>
              </a:rPr>
              <a:t>= %d, i= %d, \n\n",</a:t>
            </a:r>
            <a:r>
              <a:rPr lang="pt-BR" altLang="pt-BR" dirty="0" err="1">
                <a:solidFill>
                  <a:schemeClr val="tx1"/>
                </a:solidFill>
              </a:rPr>
              <a:t>a,i</a:t>
            </a:r>
            <a:r>
              <a:rPr lang="pt-BR" altLang="pt-BR" dirty="0">
                <a:solidFill>
                  <a:schemeClr val="tx1"/>
                </a:solidFill>
              </a:rPr>
              <a:t>); 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i=3; 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b = ++i;                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 err="1">
                <a:solidFill>
                  <a:schemeClr val="tx1"/>
                </a:solidFill>
              </a:rPr>
              <a:t>printf</a:t>
            </a:r>
            <a:r>
              <a:rPr lang="pt-BR" altLang="pt-BR" dirty="0">
                <a:solidFill>
                  <a:schemeClr val="tx1"/>
                </a:solidFill>
              </a:rPr>
              <a:t>("++ a Esquerda \t b= %d, i= %d, \n\n",</a:t>
            </a:r>
            <a:r>
              <a:rPr lang="pt-BR" altLang="pt-BR" dirty="0" err="1">
                <a:solidFill>
                  <a:schemeClr val="tx1"/>
                </a:solidFill>
              </a:rPr>
              <a:t>b,i</a:t>
            </a:r>
            <a:r>
              <a:rPr lang="pt-BR" altLang="pt-BR" dirty="0">
                <a:solidFill>
                  <a:schemeClr val="tx1"/>
                </a:solidFill>
              </a:rPr>
              <a:t>);  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i=3;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c = i--;               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 err="1">
                <a:solidFill>
                  <a:schemeClr val="tx1"/>
                </a:solidFill>
              </a:rPr>
              <a:t>printf</a:t>
            </a:r>
            <a:r>
              <a:rPr lang="pt-BR" altLang="pt-BR" dirty="0">
                <a:solidFill>
                  <a:schemeClr val="tx1"/>
                </a:solidFill>
              </a:rPr>
              <a:t>("-- a Direita \t c= %d, i= %d, \n\n",</a:t>
            </a:r>
            <a:r>
              <a:rPr lang="pt-BR" altLang="pt-BR" dirty="0" err="1">
                <a:solidFill>
                  <a:schemeClr val="tx1"/>
                </a:solidFill>
              </a:rPr>
              <a:t>c,i</a:t>
            </a:r>
            <a:r>
              <a:rPr lang="pt-BR" altLang="pt-BR" dirty="0">
                <a:solidFill>
                  <a:schemeClr val="tx1"/>
                </a:solidFill>
              </a:rPr>
              <a:t>);  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i=3;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c = --i;               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 err="1">
                <a:solidFill>
                  <a:schemeClr val="tx1"/>
                </a:solidFill>
              </a:rPr>
              <a:t>printf</a:t>
            </a:r>
            <a:r>
              <a:rPr lang="pt-BR" altLang="pt-BR" dirty="0">
                <a:solidFill>
                  <a:schemeClr val="tx1"/>
                </a:solidFill>
              </a:rPr>
              <a:t>("-- a Esquerda \t c= %d, i= %d, \n\n",</a:t>
            </a:r>
            <a:r>
              <a:rPr lang="pt-BR" altLang="pt-BR" dirty="0" err="1">
                <a:solidFill>
                  <a:schemeClr val="tx1"/>
                </a:solidFill>
              </a:rPr>
              <a:t>c,i</a:t>
            </a:r>
            <a:r>
              <a:rPr lang="pt-BR" altLang="pt-BR" dirty="0">
                <a:solidFill>
                  <a:schemeClr val="tx1"/>
                </a:solidFill>
              </a:rPr>
              <a:t>);          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  }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3BFDD2-B472-D41D-E664-37053C5A6E0A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744827"/>
            <a:ext cx="109728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5pPr>
            <a:lvl6pPr marL="457189" algn="ctr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6pPr>
            <a:lvl7pPr marL="914377" algn="ctr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7pPr>
            <a:lvl8pPr marL="1371566" algn="ctr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8pPr>
            <a:lvl9pPr marL="1828754" algn="ctr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9pPr>
          </a:lstStyle>
          <a:p>
            <a:r>
              <a:rPr lang="pt-BR" altLang="pt-BR" kern="0" dirty="0">
                <a:effectLst/>
              </a:rPr>
              <a:t>Operadores Incrementais</a:t>
            </a:r>
          </a:p>
          <a:p>
            <a:r>
              <a:rPr lang="pt-BR" altLang="pt-BR" kern="0" dirty="0">
                <a:effectLst/>
              </a:rPr>
              <a:t>O que será impresso em cada comando </a:t>
            </a:r>
            <a:r>
              <a:rPr lang="pt-BR" altLang="pt-BR" kern="0" dirty="0" err="1">
                <a:effectLst/>
              </a:rPr>
              <a:t>printf</a:t>
            </a:r>
            <a:r>
              <a:rPr lang="pt-BR" altLang="pt-BR" kern="0" dirty="0">
                <a:effectLst/>
              </a:rPr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10395149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2">
            <a:extLst>
              <a:ext uri="{FF2B5EF4-FFF2-40B4-BE49-F238E27FC236}">
                <a16:creationId xmlns:a16="http://schemas.microsoft.com/office/drawing/2014/main" id="{33ABD2AB-E7AC-4970-8DA5-A7D59F8D9A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04813"/>
            <a:ext cx="8229600" cy="1371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altLang="pt-BR" dirty="0">
                <a:effectLst/>
              </a:rPr>
              <a:t>Expressões </a:t>
            </a:r>
            <a:r>
              <a:rPr lang="pt-BR" altLang="pt-BR" dirty="0">
                <a:solidFill>
                  <a:schemeClr val="tx1">
                    <a:lumMod val="75000"/>
                  </a:schemeClr>
                </a:solidFill>
                <a:effectLst/>
              </a:rPr>
              <a:t>aritméticas</a:t>
            </a:r>
            <a:r>
              <a:rPr lang="pt-BR" altLang="pt-BR" dirty="0">
                <a:effectLst/>
              </a:rPr>
              <a:t> </a:t>
            </a:r>
            <a:r>
              <a:rPr lang="pt-BR" altLang="pt-BR" dirty="0">
                <a:solidFill>
                  <a:schemeClr val="tx1">
                    <a:lumMod val="75000"/>
                  </a:schemeClr>
                </a:solidFill>
                <a:effectLst/>
              </a:rPr>
              <a:t>e</a:t>
            </a:r>
            <a:r>
              <a:rPr lang="pt-BR" altLang="pt-BR" dirty="0">
                <a:effectLst/>
              </a:rPr>
              <a:t> lógicas</a:t>
            </a:r>
            <a:br>
              <a:rPr lang="pt-BR" altLang="pt-BR" dirty="0">
                <a:effectLst/>
              </a:rPr>
            </a:br>
            <a:r>
              <a:rPr lang="pt-BR" altLang="pt-BR" dirty="0">
                <a:effectLst/>
              </a:rPr>
              <a:t> Operadores relacionais</a:t>
            </a:r>
            <a:r>
              <a:rPr lang="pt-BR" altLang="pt-BR" sz="2600" dirty="0">
                <a:effectLst/>
              </a:rPr>
              <a:t> </a:t>
            </a:r>
          </a:p>
        </p:txBody>
      </p:sp>
      <p:sp>
        <p:nvSpPr>
          <p:cNvPr id="264195" name="Rectangle 3">
            <a:extLst>
              <a:ext uri="{FF2B5EF4-FFF2-40B4-BE49-F238E27FC236}">
                <a16:creationId xmlns:a16="http://schemas.microsoft.com/office/drawing/2014/main" id="{E0F485D0-9B01-456F-A07B-0D8F10C4FE4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79376" y="1412879"/>
            <a:ext cx="11305255" cy="46085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268281" algn="just"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Os operadores relacionais retornam verdadeiro (1) ou falso (0). </a:t>
            </a:r>
          </a:p>
          <a:p>
            <a:pPr marL="0" indent="268281" algn="just"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Uma condição de controle é uma </a:t>
            </a:r>
            <a:r>
              <a:rPr lang="pt-BR" altLang="pt-BR" b="1" dirty="0">
                <a:effectLst/>
              </a:rPr>
              <a:t>expressão lógica</a:t>
            </a:r>
            <a:r>
              <a:rPr lang="pt-BR" altLang="pt-BR" dirty="0">
                <a:effectLst/>
              </a:rPr>
              <a:t> que é avaliada como </a:t>
            </a:r>
            <a:r>
              <a:rPr lang="pt-BR" altLang="pt-BR" b="1" dirty="0">
                <a:effectLst/>
              </a:rPr>
              <a:t>verdadeira</a:t>
            </a:r>
            <a:r>
              <a:rPr lang="pt-BR" altLang="pt-BR" dirty="0">
                <a:effectLst/>
              </a:rPr>
              <a:t> ou </a:t>
            </a:r>
            <a:r>
              <a:rPr lang="pt-BR" altLang="pt-BR" b="1" dirty="0">
                <a:effectLst/>
              </a:rPr>
              <a:t>falsa</a:t>
            </a:r>
            <a:r>
              <a:rPr lang="pt-BR" altLang="pt-BR" dirty="0">
                <a:effectLst/>
              </a:rPr>
              <a:t>. Uma  expressão lógica é construída com </a:t>
            </a:r>
            <a:r>
              <a:rPr lang="pt-BR" altLang="pt-BR" b="1" dirty="0">
                <a:effectLst/>
              </a:rPr>
              <a:t>operadores relacionais</a:t>
            </a:r>
            <a:r>
              <a:rPr lang="pt-BR" altLang="pt-BR" dirty="0">
                <a:effectLst/>
              </a:rPr>
              <a:t> e </a:t>
            </a:r>
            <a:r>
              <a:rPr lang="pt-BR" altLang="pt-BR" b="1" dirty="0">
                <a:effectLst/>
              </a:rPr>
              <a:t>lógicos</a:t>
            </a:r>
            <a:r>
              <a:rPr lang="pt-BR" altLang="pt-BR" dirty="0">
                <a:effectLst/>
              </a:rPr>
              <a:t>. </a:t>
            </a:r>
          </a:p>
          <a:p>
            <a:pPr marL="0" indent="268281" algn="just"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Ao contrário de outras linguagens, em C </a:t>
            </a:r>
            <a:r>
              <a:rPr lang="pt-BR" altLang="pt-BR" b="1" dirty="0">
                <a:effectLst/>
              </a:rPr>
              <a:t>não existem</a:t>
            </a:r>
            <a:r>
              <a:rPr lang="pt-BR" altLang="pt-BR" dirty="0">
                <a:effectLst/>
              </a:rPr>
              <a:t> tipos lógicos, portanto o </a:t>
            </a:r>
            <a:r>
              <a:rPr lang="pt-BR" altLang="pt-BR" b="1" dirty="0">
                <a:effectLst/>
              </a:rPr>
              <a:t>resultado</a:t>
            </a:r>
            <a:r>
              <a:rPr lang="pt-BR" altLang="pt-BR" dirty="0">
                <a:effectLst/>
              </a:rPr>
              <a:t> de uma expressão lógica é um </a:t>
            </a:r>
            <a:r>
              <a:rPr lang="pt-BR" altLang="pt-BR" b="1" dirty="0">
                <a:effectLst/>
              </a:rPr>
              <a:t>valor numérico</a:t>
            </a:r>
            <a:r>
              <a:rPr lang="pt-BR" altLang="pt-BR" dirty="0">
                <a:effectLst/>
              </a:rPr>
              <a:t>: uma expressão avaliada </a:t>
            </a:r>
            <a:r>
              <a:rPr lang="pt-BR" altLang="pt-BR" b="1" dirty="0">
                <a:effectLst/>
              </a:rPr>
              <a:t>verdadeira</a:t>
            </a:r>
            <a:r>
              <a:rPr lang="pt-BR" altLang="pt-BR" dirty="0">
                <a:effectLst/>
              </a:rPr>
              <a:t> recebe o </a:t>
            </a:r>
            <a:r>
              <a:rPr lang="pt-BR" altLang="pt-BR" b="1" dirty="0">
                <a:effectLst/>
              </a:rPr>
              <a:t>valor 1</a:t>
            </a:r>
            <a:r>
              <a:rPr lang="pt-BR" altLang="pt-BR" dirty="0">
                <a:effectLst/>
              </a:rPr>
              <a:t>, uma expressão lógica avaliada </a:t>
            </a:r>
            <a:r>
              <a:rPr lang="pt-BR" altLang="pt-BR" b="1" dirty="0">
                <a:effectLst/>
              </a:rPr>
              <a:t>falsa</a:t>
            </a:r>
            <a:r>
              <a:rPr lang="pt-BR" altLang="pt-BR" dirty="0">
                <a:effectLst/>
              </a:rPr>
              <a:t> recebe o </a:t>
            </a:r>
            <a:r>
              <a:rPr lang="pt-BR" altLang="pt-BR" b="1" dirty="0">
                <a:effectLst/>
              </a:rPr>
              <a:t>valor 0.</a:t>
            </a:r>
            <a:endParaRPr lang="pt-BR" altLang="pt-BR" dirty="0">
              <a:effectLst/>
            </a:endParaRPr>
          </a:p>
        </p:txBody>
      </p:sp>
      <p:graphicFrame>
        <p:nvGraphicFramePr>
          <p:cNvPr id="260127" name="Group 31">
            <a:extLst>
              <a:ext uri="{FF2B5EF4-FFF2-40B4-BE49-F238E27FC236}">
                <a16:creationId xmlns:a16="http://schemas.microsoft.com/office/drawing/2014/main" id="{DAA1E399-2639-4945-9DC5-AFA39982BB7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622246739"/>
              </p:ext>
            </p:extLst>
          </p:nvPr>
        </p:nvGraphicFramePr>
        <p:xfrm>
          <a:off x="4871864" y="3814764"/>
          <a:ext cx="3471863" cy="2667000"/>
        </p:xfrm>
        <a:graphic>
          <a:graphicData uri="http://schemas.openxmlformats.org/drawingml/2006/table">
            <a:tbl>
              <a:tblPr>
                <a:tableStyleId>{638B1855-1B75-4FBE-930C-398BA8C253C6}</a:tableStyleId>
              </a:tblPr>
              <a:tblGrid>
                <a:gridCol w="13271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4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5920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9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Operador</a:t>
                      </a:r>
                      <a:endParaRPr kumimoji="0" lang="pt-BR" altLang="pt-BR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9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Ação</a:t>
                      </a:r>
                      <a:endParaRPr kumimoji="0" lang="pt-BR" altLang="pt-BR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920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9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&gt;</a:t>
                      </a:r>
                      <a:endParaRPr kumimoji="0" lang="pt-BR" altLang="pt-BR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9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Maior do que</a:t>
                      </a:r>
                      <a:endParaRPr kumimoji="0" lang="pt-BR" altLang="pt-BR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920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9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&gt;=</a:t>
                      </a:r>
                      <a:endParaRPr kumimoji="0" lang="pt-BR" altLang="pt-BR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9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0" lang="pt-BR" altLang="pt-BR" sz="19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Maior ou igual a</a:t>
                      </a:r>
                      <a:endParaRPr kumimoji="0" lang="pt-BR" altLang="pt-BR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920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9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&lt;</a:t>
                      </a:r>
                      <a:endParaRPr kumimoji="0" lang="pt-BR" altLang="pt-BR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9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0" lang="pt-BR" altLang="pt-BR" sz="19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Menor do que</a:t>
                      </a:r>
                      <a:endParaRPr kumimoji="0" lang="pt-BR" altLang="pt-BR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5920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9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&lt;=</a:t>
                      </a:r>
                      <a:endParaRPr kumimoji="0" lang="pt-BR" altLang="pt-BR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9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0" lang="pt-BR" altLang="pt-BR" sz="19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Menor ou igual a</a:t>
                      </a:r>
                      <a:endParaRPr kumimoji="0" lang="pt-BR" altLang="pt-BR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5920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9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==</a:t>
                      </a:r>
                      <a:endParaRPr kumimoji="0" lang="pt-BR" altLang="pt-BR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9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0" lang="pt-BR" altLang="pt-BR" sz="19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Igual a</a:t>
                      </a:r>
                      <a:endParaRPr kumimoji="0" lang="pt-BR" altLang="pt-BR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5920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9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!=</a:t>
                      </a:r>
                      <a:endParaRPr kumimoji="0" lang="pt-BR" altLang="pt-BR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9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0" lang="pt-BR" altLang="pt-BR" sz="19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Diferente de</a:t>
                      </a:r>
                      <a:endParaRPr kumimoji="0" lang="pt-BR" altLang="pt-BR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64222" name="Rectangle 30">
            <a:extLst>
              <a:ext uri="{FF2B5EF4-FFF2-40B4-BE49-F238E27FC236}">
                <a16:creationId xmlns:a16="http://schemas.microsoft.com/office/drawing/2014/main" id="{2FC1D143-58EF-4D30-95F3-DB80DA0F53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6481764"/>
            <a:ext cx="2678618" cy="369332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pt-BR" altLang="pt-BR" dirty="0"/>
              <a:t>Operador relacional .</a:t>
            </a:r>
            <a:r>
              <a:rPr lang="pt-BR" altLang="pt-BR" dirty="0" err="1"/>
              <a:t>cpp</a:t>
            </a:r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12126462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46C5F-62DE-6EBE-AFE8-75B08F1A0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2">
            <a:extLst>
              <a:ext uri="{FF2B5EF4-FFF2-40B4-BE49-F238E27FC236}">
                <a16:creationId xmlns:a16="http://schemas.microsoft.com/office/drawing/2014/main" id="{2C2658B8-DD49-8AE9-884C-D5FA980430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04813"/>
            <a:ext cx="8229600" cy="1371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altLang="pt-BR" dirty="0">
                <a:effectLst/>
              </a:rPr>
              <a:t>Expressões </a:t>
            </a:r>
            <a:r>
              <a:rPr lang="pt-BR" altLang="pt-BR" dirty="0">
                <a:solidFill>
                  <a:schemeClr val="tx1">
                    <a:lumMod val="75000"/>
                  </a:schemeClr>
                </a:solidFill>
                <a:effectLst/>
              </a:rPr>
              <a:t>aritméticas</a:t>
            </a:r>
            <a:r>
              <a:rPr lang="pt-BR" altLang="pt-BR" dirty="0">
                <a:effectLst/>
              </a:rPr>
              <a:t> </a:t>
            </a:r>
            <a:r>
              <a:rPr lang="pt-BR" altLang="pt-BR" dirty="0">
                <a:solidFill>
                  <a:schemeClr val="tx1">
                    <a:lumMod val="75000"/>
                  </a:schemeClr>
                </a:solidFill>
                <a:effectLst/>
              </a:rPr>
              <a:t>e</a:t>
            </a:r>
            <a:r>
              <a:rPr lang="pt-BR" altLang="pt-BR" dirty="0">
                <a:effectLst/>
              </a:rPr>
              <a:t> lógicas</a:t>
            </a:r>
            <a:br>
              <a:rPr lang="pt-BR" altLang="pt-BR" dirty="0">
                <a:effectLst/>
              </a:rPr>
            </a:br>
            <a:r>
              <a:rPr lang="pt-BR" altLang="pt-BR" dirty="0">
                <a:effectLst/>
              </a:rPr>
              <a:t> Operadores relacionais</a:t>
            </a:r>
            <a:r>
              <a:rPr lang="pt-BR" altLang="pt-BR" sz="2600" dirty="0">
                <a:effectLst/>
              </a:rPr>
              <a:t> </a:t>
            </a:r>
          </a:p>
        </p:txBody>
      </p:sp>
      <p:sp>
        <p:nvSpPr>
          <p:cNvPr id="264195" name="Rectangle 3">
            <a:extLst>
              <a:ext uri="{FF2B5EF4-FFF2-40B4-BE49-F238E27FC236}">
                <a16:creationId xmlns:a16="http://schemas.microsoft.com/office/drawing/2014/main" id="{ED8D773F-C0FE-0900-C3D3-408E93F7AEC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79376" y="1412879"/>
            <a:ext cx="11305255" cy="46085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268281" algn="just"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Página 53 do livro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6A451F3-9E6D-4B46-A8B4-0296FDF551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376" y="2060848"/>
            <a:ext cx="11339512" cy="3384273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64C2D2B4-7B54-7BAB-9D0D-0C7710E4DC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2504" y="49400"/>
            <a:ext cx="1552968" cy="188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7439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FC729-CD69-C6F5-D010-C206C37AA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2">
            <a:extLst>
              <a:ext uri="{FF2B5EF4-FFF2-40B4-BE49-F238E27FC236}">
                <a16:creationId xmlns:a16="http://schemas.microsoft.com/office/drawing/2014/main" id="{33AC3D3A-3F22-8ADA-F92C-09A7D79D7E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04813"/>
            <a:ext cx="8229600" cy="1371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altLang="pt-BR" dirty="0">
                <a:effectLst/>
              </a:rPr>
              <a:t>Expressões </a:t>
            </a:r>
            <a:r>
              <a:rPr lang="pt-BR" altLang="pt-BR" dirty="0">
                <a:solidFill>
                  <a:schemeClr val="tx1">
                    <a:lumMod val="75000"/>
                  </a:schemeClr>
                </a:solidFill>
                <a:effectLst/>
              </a:rPr>
              <a:t>aritméticas</a:t>
            </a:r>
            <a:r>
              <a:rPr lang="pt-BR" altLang="pt-BR" dirty="0">
                <a:effectLst/>
              </a:rPr>
              <a:t> </a:t>
            </a:r>
            <a:r>
              <a:rPr lang="pt-BR" altLang="pt-BR" dirty="0">
                <a:solidFill>
                  <a:schemeClr val="tx1">
                    <a:lumMod val="75000"/>
                  </a:schemeClr>
                </a:solidFill>
                <a:effectLst/>
              </a:rPr>
              <a:t>e</a:t>
            </a:r>
            <a:r>
              <a:rPr lang="pt-BR" altLang="pt-BR" dirty="0">
                <a:effectLst/>
              </a:rPr>
              <a:t> lógicas</a:t>
            </a:r>
            <a:br>
              <a:rPr lang="pt-BR" altLang="pt-BR" dirty="0">
                <a:effectLst/>
              </a:rPr>
            </a:br>
            <a:r>
              <a:rPr lang="pt-BR" altLang="pt-BR" dirty="0">
                <a:effectLst/>
              </a:rPr>
              <a:t> Operadores relacionais</a:t>
            </a:r>
            <a:r>
              <a:rPr lang="pt-BR" altLang="pt-BR" sz="2600" dirty="0">
                <a:effectLst/>
              </a:rPr>
              <a:t> </a:t>
            </a:r>
          </a:p>
        </p:txBody>
      </p:sp>
      <p:sp>
        <p:nvSpPr>
          <p:cNvPr id="264195" name="Rectangle 3">
            <a:extLst>
              <a:ext uri="{FF2B5EF4-FFF2-40B4-BE49-F238E27FC236}">
                <a16:creationId xmlns:a16="http://schemas.microsoft.com/office/drawing/2014/main" id="{8CA38F56-80E6-5522-E81B-21BE6BB6D73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79376" y="1412879"/>
            <a:ext cx="11305255" cy="46085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268281" algn="just"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Página 53 do livro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DC8C60F5-E4AD-31C7-6DDA-84BD24958F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2504" y="49400"/>
            <a:ext cx="1552968" cy="188373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AE760A75-1D51-5C32-8297-6EB565E551D5}"/>
              </a:ext>
            </a:extLst>
          </p:cNvPr>
          <p:cNvSpPr txBox="1"/>
          <p:nvPr/>
        </p:nvSpPr>
        <p:spPr>
          <a:xfrm>
            <a:off x="479376" y="2190742"/>
            <a:ext cx="5256584" cy="2677656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pt-BR" sz="1400" dirty="0"/>
              <a:t>#include &lt;stdio.h&gt;</a:t>
            </a:r>
          </a:p>
          <a:p>
            <a:r>
              <a:rPr lang="pt-BR" sz="1400" dirty="0" err="1"/>
              <a:t>main</a:t>
            </a:r>
            <a:r>
              <a:rPr lang="pt-BR" sz="1400" dirty="0"/>
              <a:t>(){</a:t>
            </a:r>
          </a:p>
          <a:p>
            <a:r>
              <a:rPr lang="pt-BR" sz="1400" dirty="0"/>
              <a:t>int </a:t>
            </a:r>
            <a:r>
              <a:rPr lang="pt-BR" sz="1400" dirty="0" err="1"/>
              <a:t>x,y</a:t>
            </a:r>
            <a:r>
              <a:rPr lang="pt-BR" sz="1400" dirty="0"/>
              <a:t>;</a:t>
            </a:r>
          </a:p>
          <a:p>
            <a:r>
              <a:rPr lang="pt-BR" sz="1400" dirty="0" err="1"/>
              <a:t>printf</a:t>
            </a:r>
            <a:r>
              <a:rPr lang="pt-BR" sz="1400" dirty="0"/>
              <a:t>("Introduza 2 inteiros: ");</a:t>
            </a:r>
          </a:p>
          <a:p>
            <a:r>
              <a:rPr lang="pt-BR" sz="1400" dirty="0" err="1"/>
              <a:t>scanf</a:t>
            </a:r>
            <a:r>
              <a:rPr lang="pt-BR" sz="1400" dirty="0"/>
              <a:t>("%</a:t>
            </a:r>
            <a:r>
              <a:rPr lang="pt-BR" sz="1400" dirty="0" err="1"/>
              <a:t>d%d</a:t>
            </a:r>
            <a:r>
              <a:rPr lang="pt-BR" sz="1400" dirty="0"/>
              <a:t>",&amp;</a:t>
            </a:r>
            <a:r>
              <a:rPr lang="pt-BR" sz="1400" dirty="0" err="1"/>
              <a:t>x,&amp;y</a:t>
            </a:r>
            <a:r>
              <a:rPr lang="pt-BR" sz="1400" dirty="0"/>
              <a:t>);</a:t>
            </a:r>
          </a:p>
          <a:p>
            <a:r>
              <a:rPr lang="pt-BR" sz="1400" dirty="0" err="1"/>
              <a:t>printf</a:t>
            </a:r>
            <a:r>
              <a:rPr lang="pt-BR" sz="1400" dirty="0"/>
              <a:t>("O Resultado de %d == %d : %d \</a:t>
            </a:r>
            <a:r>
              <a:rPr lang="pt-BR" sz="1400" dirty="0" err="1"/>
              <a:t>n“,x</a:t>
            </a:r>
            <a:r>
              <a:rPr lang="pt-BR" sz="1400" dirty="0"/>
              <a:t> ,y ,x == y);</a:t>
            </a:r>
          </a:p>
          <a:p>
            <a:r>
              <a:rPr lang="pt-BR" sz="1400" dirty="0" err="1"/>
              <a:t>printf</a:t>
            </a:r>
            <a:r>
              <a:rPr lang="pt-BR" sz="1400" dirty="0"/>
              <a:t>("O Resultado de %d &gt; %d : %d \n", x, y, x &gt; y);</a:t>
            </a:r>
          </a:p>
          <a:p>
            <a:r>
              <a:rPr lang="pt-BR" sz="1400" dirty="0" err="1"/>
              <a:t>printf</a:t>
            </a:r>
            <a:r>
              <a:rPr lang="pt-BR" sz="1400" dirty="0"/>
              <a:t>("O Resultado de %d &gt;=%d : %d\n", x, y, x &gt;= y);</a:t>
            </a:r>
          </a:p>
          <a:p>
            <a:r>
              <a:rPr lang="pt-BR" sz="1400" dirty="0" err="1"/>
              <a:t>printf</a:t>
            </a:r>
            <a:r>
              <a:rPr lang="pt-BR" sz="1400" dirty="0"/>
              <a:t>("O Resultado de %d &lt;%d : %d\</a:t>
            </a:r>
            <a:r>
              <a:rPr lang="pt-BR" sz="1400" dirty="0" err="1"/>
              <a:t>n",x</a:t>
            </a:r>
            <a:r>
              <a:rPr lang="pt-BR" sz="1400" dirty="0"/>
              <a:t>, y, x &lt; y);</a:t>
            </a:r>
          </a:p>
          <a:p>
            <a:r>
              <a:rPr lang="pt-BR" sz="1400" dirty="0" err="1"/>
              <a:t>printf</a:t>
            </a:r>
            <a:r>
              <a:rPr lang="pt-BR" sz="1400" dirty="0"/>
              <a:t>("O Resultado de %d &lt;=%d : %d\</a:t>
            </a:r>
            <a:r>
              <a:rPr lang="pt-BR" sz="1400" dirty="0" err="1"/>
              <a:t>n",x</a:t>
            </a:r>
            <a:r>
              <a:rPr lang="pt-BR" sz="1400" dirty="0"/>
              <a:t>, y, x &lt;= y);</a:t>
            </a:r>
          </a:p>
          <a:p>
            <a:r>
              <a:rPr lang="pt-BR" sz="1400" dirty="0" err="1"/>
              <a:t>printf</a:t>
            </a:r>
            <a:r>
              <a:rPr lang="pt-BR" sz="1400" dirty="0"/>
              <a:t>("O Resultado de %d !=%d : %d\</a:t>
            </a:r>
            <a:r>
              <a:rPr lang="pt-BR" sz="1400" dirty="0" err="1"/>
              <a:t>n",x</a:t>
            </a:r>
            <a:r>
              <a:rPr lang="pt-BR" sz="1400" dirty="0"/>
              <a:t>, y, x !=y);</a:t>
            </a:r>
          </a:p>
          <a:p>
            <a:r>
              <a:rPr lang="pt-BR" sz="1400" dirty="0"/>
              <a:t>}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9F04ADB-5F73-CA7B-015D-79C5558B59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1038" y="2202517"/>
            <a:ext cx="3312368" cy="2696113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DB9B7523-1914-F7EF-BB13-DB11D2BC60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9010" y="2211745"/>
            <a:ext cx="3046988" cy="2677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361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3E7FD-B961-C5F7-D95C-8929FA917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2">
            <a:extLst>
              <a:ext uri="{FF2B5EF4-FFF2-40B4-BE49-F238E27FC236}">
                <a16:creationId xmlns:a16="http://schemas.microsoft.com/office/drawing/2014/main" id="{B4AA0138-9D05-4CF6-A303-BAAC43AB3F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04813"/>
            <a:ext cx="8229600" cy="1371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altLang="pt-BR" dirty="0">
                <a:effectLst/>
              </a:rPr>
              <a:t>Expressões aritméticas e lógicas</a:t>
            </a:r>
            <a:br>
              <a:rPr lang="pt-BR" altLang="pt-BR" dirty="0">
                <a:effectLst/>
              </a:rPr>
            </a:br>
            <a:r>
              <a:rPr lang="pt-BR" altLang="pt-BR" dirty="0">
                <a:effectLst/>
              </a:rPr>
              <a:t> Operadores relacionais</a:t>
            </a:r>
            <a:r>
              <a:rPr lang="pt-BR" altLang="pt-BR" sz="2600" dirty="0">
                <a:effectLst/>
              </a:rPr>
              <a:t> </a:t>
            </a:r>
          </a:p>
        </p:txBody>
      </p:sp>
      <p:sp>
        <p:nvSpPr>
          <p:cNvPr id="264195" name="Rectangle 3">
            <a:extLst>
              <a:ext uri="{FF2B5EF4-FFF2-40B4-BE49-F238E27FC236}">
                <a16:creationId xmlns:a16="http://schemas.microsoft.com/office/drawing/2014/main" id="{D648241A-7292-7590-6A0F-42DFFE83C7F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79376" y="1412879"/>
            <a:ext cx="11305255" cy="46085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268281" algn="just"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Os operadores relacionais retornam verdadeiro (1) ou falso (0). </a:t>
            </a:r>
          </a:p>
        </p:txBody>
      </p:sp>
      <p:graphicFrame>
        <p:nvGraphicFramePr>
          <p:cNvPr id="260127" name="Group 31">
            <a:extLst>
              <a:ext uri="{FF2B5EF4-FFF2-40B4-BE49-F238E27FC236}">
                <a16:creationId xmlns:a16="http://schemas.microsoft.com/office/drawing/2014/main" id="{3E1B47C6-81E6-1AEC-3ED7-AC1BD8AC2BF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01869546"/>
              </p:ext>
            </p:extLst>
          </p:nvPr>
        </p:nvGraphicFramePr>
        <p:xfrm>
          <a:off x="9192344" y="79379"/>
          <a:ext cx="2999656" cy="2667000"/>
        </p:xfrm>
        <a:graphic>
          <a:graphicData uri="http://schemas.openxmlformats.org/drawingml/2006/table">
            <a:tbl>
              <a:tblPr>
                <a:tableStyleId>{638B1855-1B75-4FBE-930C-398BA8C253C6}</a:tableStyleId>
              </a:tblPr>
              <a:tblGrid>
                <a:gridCol w="11466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30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5075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Operador</a:t>
                      </a:r>
                      <a:endParaRPr kumimoji="0" lang="pt-BR" altLang="pt-BR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9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Ação</a:t>
                      </a:r>
                      <a:endParaRPr kumimoji="0" lang="pt-BR" altLang="pt-BR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075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9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&gt;</a:t>
                      </a:r>
                      <a:endParaRPr kumimoji="0" lang="pt-BR" altLang="pt-BR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7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Maior do que</a:t>
                      </a:r>
                      <a:endParaRPr kumimoji="0" lang="pt-BR" altLang="pt-BR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075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9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&gt;=</a:t>
                      </a:r>
                      <a:endParaRPr kumimoji="0" lang="pt-BR" altLang="pt-BR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7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0" lang="pt-BR" altLang="pt-BR" sz="17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Maior ou igual a</a:t>
                      </a:r>
                      <a:endParaRPr kumimoji="0" lang="pt-BR" altLang="pt-BR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075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9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&lt;</a:t>
                      </a:r>
                      <a:endParaRPr kumimoji="0" lang="pt-BR" altLang="pt-BR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7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0" lang="pt-BR" altLang="pt-BR" sz="17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Menor do que</a:t>
                      </a:r>
                      <a:endParaRPr kumimoji="0" lang="pt-BR" altLang="pt-BR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075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9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&lt;=</a:t>
                      </a:r>
                      <a:endParaRPr kumimoji="0" lang="pt-BR" altLang="pt-BR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7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0" lang="pt-BR" altLang="pt-BR" sz="17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Menor ou igual a</a:t>
                      </a:r>
                      <a:endParaRPr kumimoji="0" lang="pt-BR" altLang="pt-BR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7968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9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==</a:t>
                      </a:r>
                      <a:endParaRPr kumimoji="0" lang="pt-BR" altLang="pt-BR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7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0" lang="pt-BR" altLang="pt-BR" sz="17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Igual a</a:t>
                      </a:r>
                      <a:endParaRPr kumimoji="0" lang="pt-BR" altLang="pt-BR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5075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9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!=</a:t>
                      </a:r>
                      <a:endParaRPr kumimoji="0" lang="pt-BR" altLang="pt-BR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7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0" lang="pt-BR" altLang="pt-BR" sz="17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Diferente de</a:t>
                      </a:r>
                      <a:endParaRPr kumimoji="0" lang="pt-BR" altLang="pt-BR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64222" name="Rectangle 30">
            <a:extLst>
              <a:ext uri="{FF2B5EF4-FFF2-40B4-BE49-F238E27FC236}">
                <a16:creationId xmlns:a16="http://schemas.microsoft.com/office/drawing/2014/main" id="{5489FD72-8852-5B4B-04E7-0502049DB9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6481764"/>
            <a:ext cx="2678618" cy="369332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pt-BR" altLang="pt-BR">
                <a:solidFill>
                  <a:schemeClr val="bg1"/>
                </a:solidFill>
              </a:rPr>
              <a:t>Operador relacional .cpp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C9D10F7-CE1D-1F0D-9988-B45E480CDE19}"/>
              </a:ext>
            </a:extLst>
          </p:cNvPr>
          <p:cNvSpPr txBox="1"/>
          <p:nvPr/>
        </p:nvSpPr>
        <p:spPr>
          <a:xfrm>
            <a:off x="115617" y="2004261"/>
            <a:ext cx="6161314" cy="4247317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pt-BR" dirty="0"/>
              <a:t>#include &lt;stdio.h&gt;</a:t>
            </a:r>
          </a:p>
          <a:p>
            <a:r>
              <a:rPr lang="pt-BR" dirty="0"/>
              <a:t>#include &lt;</a:t>
            </a:r>
            <a:r>
              <a:rPr lang="pt-BR" dirty="0" err="1"/>
              <a:t>conio.h</a:t>
            </a:r>
            <a:r>
              <a:rPr lang="pt-BR" dirty="0"/>
              <a:t>&gt;</a:t>
            </a:r>
          </a:p>
          <a:p>
            <a:r>
              <a:rPr lang="pt-BR" dirty="0" err="1"/>
              <a:t>main</a:t>
            </a:r>
            <a:r>
              <a:rPr lang="pt-BR" dirty="0"/>
              <a:t>()</a:t>
            </a:r>
          </a:p>
          <a:p>
            <a:r>
              <a:rPr lang="pt-BR" dirty="0"/>
              <a:t>{</a:t>
            </a:r>
          </a:p>
          <a:p>
            <a:r>
              <a:rPr lang="pt-BR" dirty="0"/>
              <a:t> int </a:t>
            </a:r>
            <a:r>
              <a:rPr lang="pt-BR" dirty="0" err="1"/>
              <a:t>x,y</a:t>
            </a:r>
            <a:r>
              <a:rPr lang="pt-BR" dirty="0"/>
              <a:t>;</a:t>
            </a:r>
          </a:p>
          <a:p>
            <a:r>
              <a:rPr lang="pt-BR" dirty="0"/>
              <a:t> </a:t>
            </a:r>
            <a:r>
              <a:rPr lang="pt-BR" dirty="0" err="1"/>
              <a:t>printf</a:t>
            </a:r>
            <a:r>
              <a:rPr lang="pt-BR" dirty="0"/>
              <a:t>("Entre com dois </a:t>
            </a:r>
            <a:r>
              <a:rPr lang="pt-BR" dirty="0" err="1"/>
              <a:t>numeros</a:t>
            </a:r>
            <a:r>
              <a:rPr lang="pt-BR" dirty="0"/>
              <a:t>: ");</a:t>
            </a:r>
          </a:p>
          <a:p>
            <a:r>
              <a:rPr lang="pt-BR" dirty="0"/>
              <a:t> </a:t>
            </a:r>
            <a:r>
              <a:rPr lang="pt-BR" dirty="0" err="1"/>
              <a:t>scanf</a:t>
            </a:r>
            <a:r>
              <a:rPr lang="pt-BR" dirty="0"/>
              <a:t>("%</a:t>
            </a:r>
            <a:r>
              <a:rPr lang="pt-BR" dirty="0" err="1"/>
              <a:t>d",&amp;x</a:t>
            </a:r>
            <a:r>
              <a:rPr lang="pt-BR" dirty="0"/>
              <a:t>);</a:t>
            </a:r>
          </a:p>
          <a:p>
            <a:r>
              <a:rPr lang="pt-BR" dirty="0"/>
              <a:t> </a:t>
            </a:r>
            <a:r>
              <a:rPr lang="pt-BR" dirty="0" err="1"/>
              <a:t>scanf</a:t>
            </a:r>
            <a:r>
              <a:rPr lang="pt-BR" dirty="0"/>
              <a:t>("%</a:t>
            </a:r>
            <a:r>
              <a:rPr lang="pt-BR" dirty="0" err="1"/>
              <a:t>d",&amp;y</a:t>
            </a:r>
            <a:r>
              <a:rPr lang="pt-BR" dirty="0"/>
              <a:t>);</a:t>
            </a:r>
          </a:p>
          <a:p>
            <a:r>
              <a:rPr lang="pt-BR" dirty="0"/>
              <a:t> if (x&gt;y)</a:t>
            </a:r>
          </a:p>
          <a:p>
            <a:r>
              <a:rPr lang="pt-BR" dirty="0"/>
              <a:t> </a:t>
            </a:r>
            <a:r>
              <a:rPr lang="pt-BR" dirty="0" err="1"/>
              <a:t>printf</a:t>
            </a:r>
            <a:r>
              <a:rPr lang="pt-BR" dirty="0"/>
              <a:t>("maior e' = %</a:t>
            </a:r>
            <a:r>
              <a:rPr lang="pt-BR" dirty="0" err="1"/>
              <a:t>d",x</a:t>
            </a:r>
            <a:r>
              <a:rPr lang="pt-BR" dirty="0"/>
              <a:t>);</a:t>
            </a:r>
          </a:p>
          <a:p>
            <a:r>
              <a:rPr lang="pt-BR" dirty="0"/>
              <a:t> else if (x&lt;y)</a:t>
            </a:r>
          </a:p>
          <a:p>
            <a:r>
              <a:rPr lang="pt-BR" dirty="0"/>
              <a:t>     </a:t>
            </a:r>
            <a:r>
              <a:rPr lang="pt-BR" dirty="0" err="1"/>
              <a:t>printf</a:t>
            </a:r>
            <a:r>
              <a:rPr lang="pt-BR" dirty="0"/>
              <a:t>("maior e' = %</a:t>
            </a:r>
            <a:r>
              <a:rPr lang="pt-BR" dirty="0" err="1"/>
              <a:t>d",y</a:t>
            </a:r>
            <a:r>
              <a:rPr lang="pt-BR" dirty="0"/>
              <a:t>);</a:t>
            </a:r>
          </a:p>
          <a:p>
            <a:r>
              <a:rPr lang="pt-BR" dirty="0"/>
              <a:t>     else</a:t>
            </a:r>
          </a:p>
          <a:p>
            <a:r>
              <a:rPr lang="pt-BR" dirty="0"/>
              <a:t>     </a:t>
            </a:r>
            <a:r>
              <a:rPr lang="pt-BR" dirty="0" err="1"/>
              <a:t>printf</a:t>
            </a:r>
            <a:r>
              <a:rPr lang="pt-BR" dirty="0"/>
              <a:t>("%d </a:t>
            </a:r>
            <a:r>
              <a:rPr lang="pt-BR" dirty="0" err="1"/>
              <a:t>e'igual</a:t>
            </a:r>
            <a:r>
              <a:rPr lang="pt-BR" dirty="0"/>
              <a:t> a %d",</a:t>
            </a:r>
            <a:r>
              <a:rPr lang="pt-BR" dirty="0" err="1"/>
              <a:t>x,y</a:t>
            </a:r>
            <a:r>
              <a:rPr lang="pt-BR" dirty="0"/>
              <a:t>);</a:t>
            </a:r>
          </a:p>
          <a:p>
            <a:r>
              <a:rPr lang="pt-BR" dirty="0"/>
              <a:t>}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FCE90B3-F02D-23ED-1771-6AC76AA79B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5321" y="2039295"/>
            <a:ext cx="3270738" cy="13716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19E13599-80CB-1806-0673-3AA72645F33F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052781" y="3673777"/>
            <a:ext cx="3270738" cy="129289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CA8DD5A-816D-63D1-4637-7B4666FB7A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1098" y="5373532"/>
            <a:ext cx="3090026" cy="129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139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2" name="Rectangle 2">
            <a:extLst>
              <a:ext uri="{FF2B5EF4-FFF2-40B4-BE49-F238E27FC236}">
                <a16:creationId xmlns:a16="http://schemas.microsoft.com/office/drawing/2014/main" id="{2AD6BA73-E2B3-48E2-85CB-59A8E656EE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altLang="pt-BR">
                <a:effectLst/>
              </a:rPr>
              <a:t> 2.5 - Expressões aritméticas e lógicas</a:t>
            </a:r>
            <a:br>
              <a:rPr lang="pt-BR" altLang="pt-BR">
                <a:effectLst/>
              </a:rPr>
            </a:br>
            <a:r>
              <a:rPr lang="pt-BR" altLang="pt-BR">
                <a:effectLst/>
              </a:rPr>
              <a:t> Operadores lógicos</a:t>
            </a:r>
          </a:p>
        </p:txBody>
      </p:sp>
      <p:sp>
        <p:nvSpPr>
          <p:cNvPr id="266243" name="Rectangle 3">
            <a:extLst>
              <a:ext uri="{FF2B5EF4-FFF2-40B4-BE49-F238E27FC236}">
                <a16:creationId xmlns:a16="http://schemas.microsoft.com/office/drawing/2014/main" id="{52FD7FC4-7B1D-4916-8014-337C946528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algn="just">
              <a:buClr>
                <a:srgbClr val="000000"/>
              </a:buClr>
              <a:buFont typeface="Wingdings" panose="05000000000000000000" pitchFamily="2" charset="2"/>
              <a:buChar char="q"/>
            </a:pPr>
            <a:r>
              <a:rPr lang="pt-BR" altLang="pt-BR" dirty="0">
                <a:effectLst/>
              </a:rPr>
              <a:t>   São três os operadores lógicos de C: </a:t>
            </a:r>
          </a:p>
          <a:p>
            <a:pPr marL="400050" indent="-400050" algn="just">
              <a:buClr>
                <a:srgbClr val="000000"/>
              </a:buClr>
              <a:buSzPct val="100000"/>
              <a:buFont typeface="+mj-lt"/>
              <a:buAutoNum type="romanUcPeriod"/>
            </a:pPr>
            <a:r>
              <a:rPr lang="pt-BR" altLang="pt-BR" sz="1600" b="1" dirty="0">
                <a:effectLst/>
              </a:rPr>
              <a:t>NOR (NÃO) !</a:t>
            </a:r>
            <a:r>
              <a:rPr lang="pt-BR" altLang="pt-BR" sz="1600" dirty="0">
                <a:effectLst/>
              </a:rPr>
              <a:t>. </a:t>
            </a:r>
          </a:p>
          <a:p>
            <a:pPr marL="400050" indent="-400050" algn="just">
              <a:buClr>
                <a:srgbClr val="000000"/>
              </a:buClr>
              <a:buSzPct val="100000"/>
              <a:buFont typeface="+mj-lt"/>
              <a:buAutoNum type="romanUcPeriod"/>
            </a:pPr>
            <a:r>
              <a:rPr lang="pt-BR" altLang="pt-BR" sz="1600" b="1" dirty="0">
                <a:effectLst/>
              </a:rPr>
              <a:t>AND (E): &amp;&amp;;</a:t>
            </a:r>
          </a:p>
          <a:p>
            <a:pPr marL="400050" indent="-400050" algn="just">
              <a:buClr>
                <a:srgbClr val="000000"/>
              </a:buClr>
              <a:buSzPct val="100000"/>
              <a:buFont typeface="+mj-lt"/>
              <a:buAutoNum type="romanUcPeriod"/>
            </a:pPr>
            <a:r>
              <a:rPr lang="pt-BR" altLang="pt-BR" sz="1600" b="1" dirty="0">
                <a:effectLst/>
              </a:rPr>
              <a:t>OR (OU):</a:t>
            </a:r>
            <a:r>
              <a:rPr lang="pt-BR" altLang="pt-BR" sz="1600" dirty="0">
                <a:effectLst/>
              </a:rPr>
              <a:t> </a:t>
            </a:r>
            <a:r>
              <a:rPr lang="pt-BR" altLang="pt-BR" sz="1600" b="1" dirty="0">
                <a:effectLst/>
              </a:rPr>
              <a:t>||</a:t>
            </a:r>
            <a:r>
              <a:rPr lang="pt-BR" altLang="pt-BR" sz="1600" dirty="0">
                <a:effectLst/>
              </a:rPr>
              <a:t> e,</a:t>
            </a:r>
          </a:p>
          <a:p>
            <a:pPr marL="342900" indent="-342900" algn="just">
              <a:buClr>
                <a:srgbClr val="000000"/>
              </a:buClr>
              <a:buFont typeface="Wingdings" panose="05000000000000000000" pitchFamily="2" charset="2"/>
              <a:buChar char="q"/>
            </a:pPr>
            <a:r>
              <a:rPr lang="pt-BR" altLang="pt-BR" dirty="0">
                <a:effectLst/>
              </a:rPr>
              <a:t>Estes operadores tem o mesmo significado dos operadores lógicos Booleanos AND, OR e NOT. </a:t>
            </a:r>
          </a:p>
          <a:p>
            <a:pPr marL="0" indent="0" algn="just"/>
            <a:r>
              <a:rPr lang="pt-BR" altLang="pt-BR" b="1" dirty="0">
                <a:effectLst/>
              </a:rPr>
              <a:t>Sintaxe: </a:t>
            </a:r>
            <a:r>
              <a:rPr lang="pt-BR" altLang="pt-BR" dirty="0">
                <a:effectLst/>
              </a:rPr>
              <a:t>A sintaxe de uso dos operadores lógicos:</a:t>
            </a:r>
            <a:endParaRPr lang="pt-BR" altLang="pt-BR" i="1" dirty="0">
              <a:effectLst/>
            </a:endParaRPr>
          </a:p>
          <a:p>
            <a:pPr marL="0" indent="0">
              <a:spcBef>
                <a:spcPct val="0"/>
              </a:spcBef>
              <a:spcAft>
                <a:spcPct val="5000"/>
              </a:spcAft>
            </a:pPr>
            <a:r>
              <a:rPr lang="pt-BR" altLang="pt-BR" i="1" dirty="0">
                <a:effectLst/>
              </a:rPr>
              <a:t>expr_1</a:t>
            </a:r>
            <a:r>
              <a:rPr lang="pt-BR" altLang="pt-BR" dirty="0">
                <a:effectLst/>
              </a:rPr>
              <a:t> &amp;&amp; </a:t>
            </a:r>
            <a:r>
              <a:rPr lang="pt-BR" altLang="pt-BR" i="1" dirty="0">
                <a:effectLst/>
              </a:rPr>
              <a:t>expr_2</a:t>
            </a:r>
          </a:p>
          <a:p>
            <a:pPr marL="0" indent="0">
              <a:spcBef>
                <a:spcPct val="0"/>
              </a:spcBef>
              <a:spcAft>
                <a:spcPct val="5000"/>
              </a:spcAft>
            </a:pPr>
            <a:r>
              <a:rPr lang="pt-BR" altLang="pt-BR" i="1" dirty="0">
                <a:effectLst/>
              </a:rPr>
              <a:t>expr_1</a:t>
            </a:r>
            <a:r>
              <a:rPr lang="pt-BR" altLang="pt-BR" dirty="0">
                <a:effectLst/>
              </a:rPr>
              <a:t> || </a:t>
            </a:r>
            <a:r>
              <a:rPr lang="pt-BR" altLang="pt-BR" i="1" dirty="0">
                <a:effectLst/>
              </a:rPr>
              <a:t>expr_2</a:t>
            </a:r>
            <a:endParaRPr lang="pt-BR" altLang="pt-BR" dirty="0">
              <a:effectLst/>
            </a:endParaRPr>
          </a:p>
          <a:p>
            <a:pPr marL="0" indent="0">
              <a:spcBef>
                <a:spcPct val="0"/>
              </a:spcBef>
              <a:spcAft>
                <a:spcPct val="5000"/>
              </a:spcAft>
            </a:pPr>
            <a:r>
              <a:rPr lang="pt-BR" altLang="pt-BR" dirty="0">
                <a:effectLst/>
              </a:rPr>
              <a:t>!</a:t>
            </a:r>
            <a:r>
              <a:rPr lang="pt-BR" altLang="pt-BR" i="1" dirty="0" err="1">
                <a:effectLst/>
              </a:rPr>
              <a:t>expr</a:t>
            </a:r>
            <a:endParaRPr lang="pt-BR" altLang="pt-BR" dirty="0">
              <a:effectLst/>
            </a:endParaRPr>
          </a:p>
          <a:p>
            <a:pPr marL="0" indent="0" algn="just"/>
            <a:r>
              <a:rPr lang="pt-BR" altLang="pt-BR" dirty="0">
                <a:effectLst/>
              </a:rPr>
              <a:t>onde </a:t>
            </a:r>
            <a:r>
              <a:rPr lang="pt-BR" altLang="pt-BR" i="1" dirty="0">
                <a:effectLst/>
              </a:rPr>
              <a:t>expr_1</a:t>
            </a:r>
            <a:r>
              <a:rPr lang="pt-BR" altLang="pt-BR" dirty="0">
                <a:effectLst/>
              </a:rPr>
              <a:t> , </a:t>
            </a:r>
            <a:r>
              <a:rPr lang="pt-BR" altLang="pt-BR" i="1" dirty="0">
                <a:effectLst/>
              </a:rPr>
              <a:t>expr_2 </a:t>
            </a:r>
            <a:r>
              <a:rPr lang="pt-BR" altLang="pt-BR" dirty="0">
                <a:effectLst/>
              </a:rPr>
              <a:t>e</a:t>
            </a:r>
            <a:r>
              <a:rPr lang="pt-BR" altLang="pt-BR" i="1" dirty="0">
                <a:effectLst/>
              </a:rPr>
              <a:t> </a:t>
            </a:r>
            <a:r>
              <a:rPr lang="pt-BR" altLang="pt-BR" i="1" dirty="0" err="1">
                <a:effectLst/>
              </a:rPr>
              <a:t>expr</a:t>
            </a:r>
            <a:r>
              <a:rPr lang="pt-BR" altLang="pt-BR" dirty="0">
                <a:effectLst/>
              </a:rPr>
              <a:t> são expressões quaisquer. 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BED3937-B4A3-96DB-C4F0-30E7ED4A78EB}"/>
              </a:ext>
            </a:extLst>
          </p:cNvPr>
          <p:cNvSpPr txBox="1"/>
          <p:nvPr/>
        </p:nvSpPr>
        <p:spPr>
          <a:xfrm>
            <a:off x="8616280" y="4154371"/>
            <a:ext cx="2808312" cy="951030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marL="0" indent="0" algn="ctr">
              <a:spcBef>
                <a:spcPct val="0"/>
              </a:spcBef>
              <a:spcAft>
                <a:spcPct val="5000"/>
              </a:spcAft>
            </a:pPr>
            <a:r>
              <a:rPr lang="pt-BR" altLang="pt-BR" sz="1800" dirty="0">
                <a:solidFill>
                  <a:srgbClr val="000000"/>
                </a:solidFill>
                <a:effectLst/>
              </a:rPr>
              <a:t>(x &gt; 5) &amp;&amp; (y &lt; 2)</a:t>
            </a:r>
            <a:endParaRPr lang="pt-BR" altLang="pt-BR" sz="1800" i="1" dirty="0">
              <a:solidFill>
                <a:srgbClr val="000000"/>
              </a:solidFill>
              <a:effectLst/>
            </a:endParaRPr>
          </a:p>
          <a:p>
            <a:pPr algn="ctr">
              <a:spcAft>
                <a:spcPct val="5000"/>
              </a:spcAft>
            </a:pPr>
            <a:r>
              <a:rPr lang="pt-BR" altLang="pt-BR" dirty="0">
                <a:solidFill>
                  <a:srgbClr val="000000"/>
                </a:solidFill>
              </a:rPr>
              <a:t>(x &gt; 5) </a:t>
            </a:r>
            <a:r>
              <a:rPr lang="pt-BR" altLang="pt-BR" sz="1800" dirty="0">
                <a:solidFill>
                  <a:srgbClr val="000000"/>
                </a:solidFill>
                <a:effectLst/>
              </a:rPr>
              <a:t>|| </a:t>
            </a:r>
            <a:r>
              <a:rPr lang="pt-BR" altLang="pt-BR" dirty="0">
                <a:solidFill>
                  <a:srgbClr val="000000"/>
                </a:solidFill>
              </a:rPr>
              <a:t>(y &lt; 2)</a:t>
            </a:r>
            <a:endParaRPr lang="pt-BR" altLang="pt-BR" sz="1800" dirty="0">
              <a:solidFill>
                <a:srgbClr val="000000"/>
              </a:solidFill>
              <a:effectLst/>
            </a:endParaRPr>
          </a:p>
          <a:p>
            <a:pPr algn="ctr">
              <a:spcAft>
                <a:spcPct val="5000"/>
              </a:spcAft>
            </a:pPr>
            <a:r>
              <a:rPr lang="pt-BR" altLang="pt-BR" sz="1800" dirty="0">
                <a:solidFill>
                  <a:srgbClr val="000000"/>
                </a:solidFill>
                <a:effectLst/>
              </a:rPr>
              <a:t>!</a:t>
            </a:r>
            <a:r>
              <a:rPr lang="pt-BR" altLang="pt-BR" dirty="0">
                <a:solidFill>
                  <a:srgbClr val="000000"/>
                </a:solidFill>
              </a:rPr>
              <a:t> (y &lt; 2)</a:t>
            </a:r>
            <a:endParaRPr lang="pt-BR" altLang="pt-BR" i="1" dirty="0">
              <a:solidFill>
                <a:srgbClr val="000000"/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34491B5-DC3B-5387-C44B-B76A34A753AF}"/>
              </a:ext>
            </a:extLst>
          </p:cNvPr>
          <p:cNvSpPr txBox="1"/>
          <p:nvPr/>
        </p:nvSpPr>
        <p:spPr>
          <a:xfrm>
            <a:off x="8585787" y="5416525"/>
            <a:ext cx="2808312" cy="951030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marL="0" indent="0" algn="ctr">
              <a:spcBef>
                <a:spcPct val="0"/>
              </a:spcBef>
              <a:spcAft>
                <a:spcPct val="5000"/>
              </a:spcAft>
            </a:pPr>
            <a:r>
              <a:rPr lang="pt-BR" altLang="pt-BR" sz="1800" dirty="0">
                <a:solidFill>
                  <a:srgbClr val="000000"/>
                </a:solidFill>
                <a:effectLst/>
              </a:rPr>
              <a:t>(x == 5) &amp;&amp; (y == 2)</a:t>
            </a:r>
            <a:endParaRPr lang="pt-BR" altLang="pt-BR" sz="1800" i="1" dirty="0">
              <a:solidFill>
                <a:srgbClr val="000000"/>
              </a:solidFill>
              <a:effectLst/>
            </a:endParaRPr>
          </a:p>
          <a:p>
            <a:pPr algn="ctr">
              <a:spcAft>
                <a:spcPct val="5000"/>
              </a:spcAft>
            </a:pPr>
            <a:r>
              <a:rPr lang="pt-BR" altLang="pt-BR" dirty="0">
                <a:solidFill>
                  <a:srgbClr val="000000"/>
                </a:solidFill>
              </a:rPr>
              <a:t>(x != 5) </a:t>
            </a:r>
            <a:r>
              <a:rPr lang="pt-BR" altLang="pt-BR" sz="1800" dirty="0">
                <a:solidFill>
                  <a:srgbClr val="000000"/>
                </a:solidFill>
                <a:effectLst/>
              </a:rPr>
              <a:t>|| </a:t>
            </a:r>
            <a:r>
              <a:rPr lang="pt-BR" altLang="pt-BR" dirty="0">
                <a:solidFill>
                  <a:srgbClr val="000000"/>
                </a:solidFill>
              </a:rPr>
              <a:t>(y != 2)</a:t>
            </a:r>
            <a:endParaRPr lang="pt-BR" altLang="pt-BR" sz="1800" dirty="0">
              <a:solidFill>
                <a:srgbClr val="000000"/>
              </a:solidFill>
              <a:effectLst/>
            </a:endParaRPr>
          </a:p>
          <a:p>
            <a:pPr algn="ctr">
              <a:spcAft>
                <a:spcPct val="5000"/>
              </a:spcAft>
            </a:pPr>
            <a:r>
              <a:rPr lang="pt-BR" altLang="pt-BR" sz="1800" dirty="0">
                <a:solidFill>
                  <a:srgbClr val="000000"/>
                </a:solidFill>
                <a:effectLst/>
              </a:rPr>
              <a:t>!</a:t>
            </a:r>
            <a:r>
              <a:rPr lang="pt-BR" altLang="pt-BR" dirty="0">
                <a:solidFill>
                  <a:srgbClr val="000000"/>
                </a:solidFill>
              </a:rPr>
              <a:t> (y == 2)</a:t>
            </a:r>
            <a:endParaRPr lang="pt-BR" altLang="pt-BR" i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8297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Rectangle 2">
            <a:extLst>
              <a:ext uri="{FF2B5EF4-FFF2-40B4-BE49-F238E27FC236}">
                <a16:creationId xmlns:a16="http://schemas.microsoft.com/office/drawing/2014/main" id="{2FC3DBA4-4453-4043-9440-86B6BB224E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04813"/>
            <a:ext cx="8229600" cy="1371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altLang="pt-BR">
                <a:effectLst/>
              </a:rPr>
              <a:t> 2.5 - Expressões aritméticas e lógicas</a:t>
            </a:r>
            <a:br>
              <a:rPr lang="pt-BR" altLang="pt-BR">
                <a:effectLst/>
              </a:rPr>
            </a:br>
            <a:r>
              <a:rPr lang="pt-BR" altLang="pt-BR">
                <a:effectLst/>
              </a:rPr>
              <a:t> Operadores lógicos</a:t>
            </a:r>
          </a:p>
        </p:txBody>
      </p:sp>
      <p:sp>
        <p:nvSpPr>
          <p:cNvPr id="268291" name="Rectangle 3">
            <a:extLst>
              <a:ext uri="{FF2B5EF4-FFF2-40B4-BE49-F238E27FC236}">
                <a16:creationId xmlns:a16="http://schemas.microsoft.com/office/drawing/2014/main" id="{DD12A4DA-3951-4159-9481-5FA0BFD81C2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79376" y="1700213"/>
            <a:ext cx="11161240" cy="46085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algn="l"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  O resultado da operação lógica &amp;&amp; será VERDADEIRO (1) somente se os dois operandos forem VERDADEIROS, caso contrário o resultado é FALSO. </a:t>
            </a:r>
          </a:p>
          <a:p>
            <a:pPr marL="0" indent="0" algn="l"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 O resultado da operação lógica || será FALSO somente se os dois operandos forem FALSOS, caso contrário o resultado é VERDADEIRO. </a:t>
            </a:r>
          </a:p>
          <a:p>
            <a:pPr marL="0" indent="0" algn="l"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O resultado da operação lógica ! será FALSO se o operando for VERDADEIRO, e o resultado será VERDADEIRO se o operando for FALSO. </a:t>
            </a:r>
          </a:p>
          <a:p>
            <a:pPr marL="0" indent="0" algn="l"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Abaixo mostra-se o resultado das possíveis combinações entre os operandos para cada operador lógico:</a:t>
            </a:r>
          </a:p>
        </p:txBody>
      </p:sp>
      <p:graphicFrame>
        <p:nvGraphicFramePr>
          <p:cNvPr id="264319" name="Group 127">
            <a:extLst>
              <a:ext uri="{FF2B5EF4-FFF2-40B4-BE49-F238E27FC236}">
                <a16:creationId xmlns:a16="http://schemas.microsoft.com/office/drawing/2014/main" id="{5D5CBCDF-CCA4-42E3-9A77-213164B7FA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4959605"/>
              </p:ext>
            </p:extLst>
          </p:nvPr>
        </p:nvGraphicFramePr>
        <p:xfrm>
          <a:off x="1847855" y="4578352"/>
          <a:ext cx="2913063" cy="1920511"/>
        </p:xfrm>
        <a:graphic>
          <a:graphicData uri="http://schemas.openxmlformats.org/drawingml/2006/table">
            <a:tbl>
              <a:tblPr/>
              <a:tblGrid>
                <a:gridCol w="735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08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71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139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OP_1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FB79"/>
                    </a:solidFill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OP_2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FB79"/>
                    </a:solidFill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RESULTADO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FB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43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V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V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V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43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V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F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F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43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F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V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F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43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F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F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F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64309" name="Group 117">
            <a:extLst>
              <a:ext uri="{FF2B5EF4-FFF2-40B4-BE49-F238E27FC236}">
                <a16:creationId xmlns:a16="http://schemas.microsoft.com/office/drawing/2014/main" id="{71AE9CA7-6F11-4873-8492-D720376998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5826824"/>
              </p:ext>
            </p:extLst>
          </p:nvPr>
        </p:nvGraphicFramePr>
        <p:xfrm>
          <a:off x="5087942" y="4581528"/>
          <a:ext cx="2941637" cy="1701803"/>
        </p:xfrm>
        <a:graphic>
          <a:graphicData uri="http://schemas.openxmlformats.org/drawingml/2006/table">
            <a:tbl>
              <a:tblPr/>
              <a:tblGrid>
                <a:gridCol w="735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7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431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OP_1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FB79"/>
                    </a:solidFill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OP_2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FB79"/>
                    </a:solidFill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RESULTADO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FB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43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V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V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V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43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V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F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V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43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F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V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43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F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F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F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8344" name="Rectangle 109">
            <a:extLst>
              <a:ext uri="{FF2B5EF4-FFF2-40B4-BE49-F238E27FC236}">
                <a16:creationId xmlns:a16="http://schemas.microsoft.com/office/drawing/2014/main" id="{38923F9C-363F-4325-BA47-20FC5434FD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4" y="4214813"/>
            <a:ext cx="2617255" cy="369332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/>
              <a:t>Operador &amp;&amp; (AND – E)</a:t>
            </a:r>
            <a:endParaRPr lang="es-ES" altLang="pt-BR"/>
          </a:p>
        </p:txBody>
      </p:sp>
      <p:sp>
        <p:nvSpPr>
          <p:cNvPr id="268345" name="Rectangle 110">
            <a:extLst>
              <a:ext uri="{FF2B5EF4-FFF2-40B4-BE49-F238E27FC236}">
                <a16:creationId xmlns:a16="http://schemas.microsoft.com/office/drawing/2014/main" id="{259932DC-EBDC-442A-B4EA-3DC876D07D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7789" y="4229102"/>
            <a:ext cx="2412840" cy="341632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>
              <a:lnSpc>
                <a:spcPct val="90000"/>
              </a:lnSpc>
              <a:spcBef>
                <a:spcPct val="5000"/>
              </a:spcBef>
              <a:spcAft>
                <a:spcPct val="30000"/>
              </a:spcAft>
              <a:buSzTx/>
            </a:pPr>
            <a:r>
              <a:rPr lang="pt-BR" altLang="pt-BR"/>
              <a:t>Operador ||(OR - OU)</a:t>
            </a:r>
          </a:p>
        </p:txBody>
      </p:sp>
      <p:sp>
        <p:nvSpPr>
          <p:cNvPr id="268346" name="Rectangle 128">
            <a:extLst>
              <a:ext uri="{FF2B5EF4-FFF2-40B4-BE49-F238E27FC236}">
                <a16:creationId xmlns:a16="http://schemas.microsoft.com/office/drawing/2014/main" id="{4029BA70-FBE7-4243-A09D-12B9033EAF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6951" y="4291017"/>
            <a:ext cx="1404552" cy="590931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pt-BR" altLang="pt-BR"/>
              <a:t>Operador ! </a:t>
            </a:r>
          </a:p>
          <a:p>
            <a:pPr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pt-BR" altLang="pt-BR"/>
              <a:t>(NO – NÃO)</a:t>
            </a:r>
          </a:p>
        </p:txBody>
      </p:sp>
      <p:graphicFrame>
        <p:nvGraphicFramePr>
          <p:cNvPr id="264362" name="Group 170">
            <a:extLst>
              <a:ext uri="{FF2B5EF4-FFF2-40B4-BE49-F238E27FC236}">
                <a16:creationId xmlns:a16="http://schemas.microsoft.com/office/drawing/2014/main" id="{E8B5131C-1CA3-461D-9703-E9BB145B665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536841334"/>
              </p:ext>
            </p:extLst>
          </p:nvPr>
        </p:nvGraphicFramePr>
        <p:xfrm>
          <a:off x="8255003" y="4894265"/>
          <a:ext cx="2162176" cy="1345979"/>
        </p:xfrm>
        <a:graphic>
          <a:graphicData uri="http://schemas.openxmlformats.org/drawingml/2006/table">
            <a:tbl>
              <a:tblPr/>
              <a:tblGrid>
                <a:gridCol w="735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7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085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OP_1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FB79"/>
                    </a:solidFill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RESULTADO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FB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647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V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F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47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F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V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E88731EF-B744-45E0-A472-2E92528A122B}"/>
                  </a:ext>
                </a:extLst>
              </p14:cNvPr>
              <p14:cNvContentPartPr/>
              <p14:nvPr/>
            </p14:nvContentPartPr>
            <p14:xfrm>
              <a:off x="6737520" y="3664080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E88731EF-B744-45E0-A472-2E92528A122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28160" y="365472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642160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D1B6C-61B0-E219-27CC-B4224F2B3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Rectangle 2">
            <a:extLst>
              <a:ext uri="{FF2B5EF4-FFF2-40B4-BE49-F238E27FC236}">
                <a16:creationId xmlns:a16="http://schemas.microsoft.com/office/drawing/2014/main" id="{41C8F7C1-EF4E-2155-CB4F-DC870F0865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04813"/>
            <a:ext cx="8229600" cy="1371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altLang="pt-BR">
                <a:effectLst/>
              </a:rPr>
              <a:t> 2.5 - Expressões aritméticas e lógicas</a:t>
            </a:r>
            <a:br>
              <a:rPr lang="pt-BR" altLang="pt-BR">
                <a:effectLst/>
              </a:rPr>
            </a:br>
            <a:r>
              <a:rPr lang="pt-BR" altLang="pt-BR">
                <a:effectLst/>
              </a:rPr>
              <a:t> Operadores lógicos</a:t>
            </a:r>
          </a:p>
        </p:txBody>
      </p:sp>
      <p:sp>
        <p:nvSpPr>
          <p:cNvPr id="268291" name="Rectangle 3">
            <a:extLst>
              <a:ext uri="{FF2B5EF4-FFF2-40B4-BE49-F238E27FC236}">
                <a16:creationId xmlns:a16="http://schemas.microsoft.com/office/drawing/2014/main" id="{35AB06E1-9980-23FB-3B39-A6A5918AFE1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79376" y="1700213"/>
            <a:ext cx="11161240" cy="46085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algn="l"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  O resultado da operação lógica &amp;&amp; será 1 somente se os dois operandos forem 1, caso contrário o resultado é 0. </a:t>
            </a:r>
          </a:p>
          <a:p>
            <a:pPr marL="0" indent="0" algn="l"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O resultado da operação lógica || será 0 somente se os dois operandos forem 0, caso contrário o resultado é 1. </a:t>
            </a:r>
          </a:p>
          <a:p>
            <a:pPr marL="0" indent="0" algn="l"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O resultado da operação lógica ! será 0 se o operandos for 1, e 1 se o operando for 0. </a:t>
            </a:r>
          </a:p>
          <a:p>
            <a:pPr marL="0" indent="0" algn="l"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OBSERVAÇÃO: em C o retorno verdadeiro é representado por qualquer número diferente de 0 (zero), e não somente pelo número 1.</a:t>
            </a:r>
          </a:p>
        </p:txBody>
      </p:sp>
      <p:graphicFrame>
        <p:nvGraphicFramePr>
          <p:cNvPr id="264319" name="Group 127">
            <a:extLst>
              <a:ext uri="{FF2B5EF4-FFF2-40B4-BE49-F238E27FC236}">
                <a16:creationId xmlns:a16="http://schemas.microsoft.com/office/drawing/2014/main" id="{38232760-0711-C0C3-DAB3-19CB095E90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0862688"/>
              </p:ext>
            </p:extLst>
          </p:nvPr>
        </p:nvGraphicFramePr>
        <p:xfrm>
          <a:off x="1847855" y="4820857"/>
          <a:ext cx="2913063" cy="1920511"/>
        </p:xfrm>
        <a:graphic>
          <a:graphicData uri="http://schemas.openxmlformats.org/drawingml/2006/table">
            <a:tbl>
              <a:tblPr/>
              <a:tblGrid>
                <a:gridCol w="735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08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71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139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OP_1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FB79"/>
                    </a:solidFill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OP_2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FB79"/>
                    </a:solidFill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RESULTADO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FB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43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43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43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43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64309" name="Group 117">
            <a:extLst>
              <a:ext uri="{FF2B5EF4-FFF2-40B4-BE49-F238E27FC236}">
                <a16:creationId xmlns:a16="http://schemas.microsoft.com/office/drawing/2014/main" id="{DC99FB1C-B6B5-D6D2-185A-E1ABD3510E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1200765"/>
              </p:ext>
            </p:extLst>
          </p:nvPr>
        </p:nvGraphicFramePr>
        <p:xfrm>
          <a:off x="5087942" y="4824033"/>
          <a:ext cx="2941637" cy="1701803"/>
        </p:xfrm>
        <a:graphic>
          <a:graphicData uri="http://schemas.openxmlformats.org/drawingml/2006/table">
            <a:tbl>
              <a:tblPr/>
              <a:tblGrid>
                <a:gridCol w="735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7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431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OP_1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FB79"/>
                    </a:solidFill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OP_2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FB79"/>
                    </a:solidFill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RESULTADO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FB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43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43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43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43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8344" name="Rectangle 109">
            <a:extLst>
              <a:ext uri="{FF2B5EF4-FFF2-40B4-BE49-F238E27FC236}">
                <a16:creationId xmlns:a16="http://schemas.microsoft.com/office/drawing/2014/main" id="{8BF6B51D-2146-9482-E174-B0C649AD76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6577" y="4427820"/>
            <a:ext cx="2617255" cy="369332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/>
              <a:t>Operador &amp;&amp; (AND – E)</a:t>
            </a:r>
            <a:endParaRPr lang="es-ES" altLang="pt-BR" dirty="0"/>
          </a:p>
        </p:txBody>
      </p:sp>
      <p:sp>
        <p:nvSpPr>
          <p:cNvPr id="268345" name="Rectangle 110">
            <a:extLst>
              <a:ext uri="{FF2B5EF4-FFF2-40B4-BE49-F238E27FC236}">
                <a16:creationId xmlns:a16="http://schemas.microsoft.com/office/drawing/2014/main" id="{1B5D5956-1324-697E-774C-E0A2ED540A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1352" y="4455520"/>
            <a:ext cx="2412840" cy="341632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>
              <a:lnSpc>
                <a:spcPct val="90000"/>
              </a:lnSpc>
              <a:spcBef>
                <a:spcPct val="5000"/>
              </a:spcBef>
              <a:spcAft>
                <a:spcPct val="30000"/>
              </a:spcAft>
              <a:buSzTx/>
            </a:pPr>
            <a:r>
              <a:rPr lang="pt-BR" altLang="pt-BR" dirty="0"/>
              <a:t>Operador ||(OR - OU)</a:t>
            </a:r>
          </a:p>
        </p:txBody>
      </p:sp>
      <p:sp>
        <p:nvSpPr>
          <p:cNvPr id="268346" name="Rectangle 128">
            <a:extLst>
              <a:ext uri="{FF2B5EF4-FFF2-40B4-BE49-F238E27FC236}">
                <a16:creationId xmlns:a16="http://schemas.microsoft.com/office/drawing/2014/main" id="{EAF3A304-66E1-6FA2-C664-1AD59A0B05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6951" y="4363025"/>
            <a:ext cx="1404552" cy="590931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pt-BR" altLang="pt-BR"/>
              <a:t>Operador ! </a:t>
            </a:r>
          </a:p>
          <a:p>
            <a:pPr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pt-BR" altLang="pt-BR"/>
              <a:t>(NO – NÃO)</a:t>
            </a:r>
          </a:p>
        </p:txBody>
      </p:sp>
      <p:graphicFrame>
        <p:nvGraphicFramePr>
          <p:cNvPr id="264362" name="Group 170">
            <a:extLst>
              <a:ext uri="{FF2B5EF4-FFF2-40B4-BE49-F238E27FC236}">
                <a16:creationId xmlns:a16="http://schemas.microsoft.com/office/drawing/2014/main" id="{AF34D3B2-D38A-79FF-DC9A-84EFC6C2804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899438397"/>
              </p:ext>
            </p:extLst>
          </p:nvPr>
        </p:nvGraphicFramePr>
        <p:xfrm>
          <a:off x="8255003" y="4941168"/>
          <a:ext cx="2162176" cy="1345979"/>
        </p:xfrm>
        <a:graphic>
          <a:graphicData uri="http://schemas.openxmlformats.org/drawingml/2006/table">
            <a:tbl>
              <a:tblPr/>
              <a:tblGrid>
                <a:gridCol w="735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7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085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OP_1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FB79"/>
                    </a:solidFill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RESULTADO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FB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647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47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D1925E22-FF79-B0B9-C38F-688E778C71F8}"/>
                  </a:ext>
                </a:extLst>
              </p14:cNvPr>
              <p14:cNvContentPartPr/>
              <p14:nvPr/>
            </p14:nvContentPartPr>
            <p14:xfrm>
              <a:off x="6737520" y="3664080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E88731EF-B744-45E0-A472-2E92528A122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28160" y="365472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971589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940A2D-3A82-E683-D21E-2D90AA4BD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Precedência dos operadores lógicos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81C823B9-1CDB-CC11-4814-EFB9944B5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F6144B-F5AC-45C6-AD42-115683CD4F04}" type="slidenum">
              <a:rPr lang="pt-BR" smtClean="0"/>
              <a:pPr>
                <a:defRPr/>
              </a:pPr>
              <a:t>26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08557C6-29AF-A932-0E86-6F1130184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456" y="1730375"/>
            <a:ext cx="7934325" cy="451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401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Rectangle 2">
            <a:extLst>
              <a:ext uri="{FF2B5EF4-FFF2-40B4-BE49-F238E27FC236}">
                <a16:creationId xmlns:a16="http://schemas.microsoft.com/office/drawing/2014/main" id="{4362BA2D-0070-4C9E-A84B-AA836B0350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altLang="pt-BR">
                <a:effectLst/>
              </a:rPr>
              <a:t>Aplicação</a:t>
            </a:r>
          </a:p>
        </p:txBody>
      </p:sp>
      <p:sp>
        <p:nvSpPr>
          <p:cNvPr id="270339" name="Rectangle 3">
            <a:extLst>
              <a:ext uri="{FF2B5EF4-FFF2-40B4-BE49-F238E27FC236}">
                <a16:creationId xmlns:a16="http://schemas.microsoft.com/office/drawing/2014/main" id="{92A8B06C-FF2F-4C79-B137-0F31C7DE08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altLang="pt-BR">
                <a:effectLst/>
              </a:rPr>
              <a:t>Operadores lógicos </a:t>
            </a:r>
            <a:r>
              <a:rPr lang="pt-BR" altLang="pt-BR" b="1">
                <a:effectLst/>
              </a:rPr>
              <a:t>&amp;&amp;</a:t>
            </a:r>
            <a:r>
              <a:rPr lang="pt-BR" altLang="pt-BR">
                <a:effectLst/>
              </a:rPr>
              <a:t> (AND) e </a:t>
            </a:r>
            <a:r>
              <a:rPr lang="pt-BR" altLang="pt-BR" b="1">
                <a:effectLst/>
              </a:rPr>
              <a:t>!</a:t>
            </a:r>
            <a:r>
              <a:rPr lang="pt-BR" altLang="pt-BR">
                <a:effectLst/>
              </a:rPr>
              <a:t> (NO)</a:t>
            </a:r>
          </a:p>
          <a:p>
            <a:endParaRPr lang="pt-BR" altLang="pt-BR">
              <a:effectLst/>
            </a:endParaRPr>
          </a:p>
          <a:p>
            <a:endParaRPr lang="pt-BR" altLang="pt-BR">
              <a:effectLst/>
            </a:endParaRPr>
          </a:p>
          <a:p>
            <a:r>
              <a:rPr lang="pt-BR" altLang="pt-BR">
                <a:effectLst/>
              </a:rPr>
              <a:t>Operadores lógicos </a:t>
            </a:r>
            <a:r>
              <a:rPr lang="pt-BR" altLang="pt-BR" b="1">
                <a:effectLst/>
              </a:rPr>
              <a:t>||</a:t>
            </a:r>
            <a:r>
              <a:rPr lang="pt-BR" altLang="pt-BR">
                <a:effectLst/>
              </a:rPr>
              <a:t> (OR) e </a:t>
            </a:r>
            <a:r>
              <a:rPr lang="pt-BR" altLang="pt-BR" b="1">
                <a:effectLst/>
              </a:rPr>
              <a:t>!</a:t>
            </a:r>
            <a:r>
              <a:rPr lang="pt-BR" altLang="pt-BR">
                <a:effectLst/>
              </a:rPr>
              <a:t> (NO)</a:t>
            </a:r>
          </a:p>
        </p:txBody>
      </p:sp>
      <p:sp>
        <p:nvSpPr>
          <p:cNvPr id="270340" name="Rectangle 4">
            <a:extLst>
              <a:ext uri="{FF2B5EF4-FFF2-40B4-BE49-F238E27FC236}">
                <a16:creationId xmlns:a16="http://schemas.microsoft.com/office/drawing/2014/main" id="{1FA4CE1C-ABC9-4728-8738-990C0E1BEC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4761" y="2208133"/>
            <a:ext cx="2642903" cy="369332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pt-BR" altLang="pt-BR" dirty="0"/>
              <a:t>operador logico and.cpp</a:t>
            </a:r>
          </a:p>
        </p:txBody>
      </p:sp>
      <p:sp>
        <p:nvSpPr>
          <p:cNvPr id="270341" name="Rectangle 5">
            <a:extLst>
              <a:ext uri="{FF2B5EF4-FFF2-40B4-BE49-F238E27FC236}">
                <a16:creationId xmlns:a16="http://schemas.microsoft.com/office/drawing/2014/main" id="{02F08AB6-C2C1-41BE-A8AF-A8A68506D2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7848" y="3771662"/>
            <a:ext cx="2576731" cy="369332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pt-BR" altLang="pt-BR" dirty="0"/>
              <a:t>operador logico OU.cpp</a:t>
            </a:r>
          </a:p>
        </p:txBody>
      </p:sp>
    </p:spTree>
    <p:extLst>
      <p:ext uri="{BB962C8B-B14F-4D97-AF65-F5344CB8AC3E}">
        <p14:creationId xmlns:p14="http://schemas.microsoft.com/office/powerpoint/2010/main" val="38011549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Número de Slide 3">
            <a:extLst>
              <a:ext uri="{FF2B5EF4-FFF2-40B4-BE49-F238E27FC236}">
                <a16:creationId xmlns:a16="http://schemas.microsoft.com/office/drawing/2014/main" id="{BC8DD7ED-7B30-447C-911D-5B24BB570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6B97307-C413-4AC7-AC8A-3A26B0A0A95E}" type="slidenum">
              <a:rPr lang="pt-BR" altLang="pt-BR"/>
              <a:pPr>
                <a:defRPr/>
              </a:pPr>
              <a:t>28</a:t>
            </a:fld>
            <a:endParaRPr lang="pt-BR" altLang="pt-BR"/>
          </a:p>
        </p:txBody>
      </p:sp>
      <p:sp>
        <p:nvSpPr>
          <p:cNvPr id="235523" name="Rectangle 2">
            <a:extLst>
              <a:ext uri="{FF2B5EF4-FFF2-40B4-BE49-F238E27FC236}">
                <a16:creationId xmlns:a16="http://schemas.microsoft.com/office/drawing/2014/main" id="{9AA37058-CD8C-4E46-871E-1D6496EF6C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"/>
            <a:ext cx="9144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>
                <a:latin typeface="Times New Roman" panose="02020603050405020304" pitchFamily="18" charset="0"/>
              </a:rPr>
              <a:t> </a:t>
            </a:r>
            <a:endParaRPr lang="en-US" altLang="pt-BR" b="1"/>
          </a:p>
        </p:txBody>
      </p:sp>
      <p:sp>
        <p:nvSpPr>
          <p:cNvPr id="235524" name="Text Box 3">
            <a:extLst>
              <a:ext uri="{FF2B5EF4-FFF2-40B4-BE49-F238E27FC236}">
                <a16:creationId xmlns:a16="http://schemas.microsoft.com/office/drawing/2014/main" id="{C0EE6757-C777-4509-B386-7054C77E60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836613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 dirty="0"/>
              <a:t>Exemplos (AND - &amp;&amp;)</a:t>
            </a:r>
            <a:endParaRPr lang="pt-BR" altLang="pt-BR" b="1" dirty="0">
              <a:solidFill>
                <a:schemeClr val="bg2"/>
              </a:solidFill>
            </a:endParaRPr>
          </a:p>
        </p:txBody>
      </p:sp>
      <p:sp>
        <p:nvSpPr>
          <p:cNvPr id="235525" name="Rectangle 4">
            <a:extLst>
              <a:ext uri="{FF2B5EF4-FFF2-40B4-BE49-F238E27FC236}">
                <a16:creationId xmlns:a16="http://schemas.microsoft.com/office/drawing/2014/main" id="{B0483C32-6967-4E40-9AEC-781FA0D542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4232" y="58454"/>
            <a:ext cx="24878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sz="1600" b="1"/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 sz="1600"/>
              <a:t> </a:t>
            </a:r>
            <a:endParaRPr lang="en-US" altLang="pt-BR" sz="1600" b="1"/>
          </a:p>
        </p:txBody>
      </p:sp>
      <p:sp>
        <p:nvSpPr>
          <p:cNvPr id="235526" name="Rectangle 5">
            <a:extLst>
              <a:ext uri="{FF2B5EF4-FFF2-40B4-BE49-F238E27FC236}">
                <a16:creationId xmlns:a16="http://schemas.microsoft.com/office/drawing/2014/main" id="{711FE9E0-F1AE-4D02-9E26-0237AFCC7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392" y="1196975"/>
            <a:ext cx="10729192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85738" indent="263525"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885825" indent="-163513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370013" indent="-3048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854200" indent="-3048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338388" indent="-3048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7955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32527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7099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41671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sz="800" b="1" dirty="0"/>
          </a:p>
          <a:p>
            <a:pPr indent="0" eaLnBrk="1" hangingPunct="1"/>
            <a:endParaRPr lang="pt-BR" altLang="pt-BR" b="1" dirty="0"/>
          </a:p>
          <a:p>
            <a:pPr algn="l" eaLnBrk="1" hangingPunct="1">
              <a:buFont typeface="Wingdings" panose="05000000000000000000" pitchFamily="2" charset="2"/>
              <a:buChar char="n"/>
            </a:pPr>
            <a:endParaRPr lang="pt-BR" altLang="pt-BR" b="1" dirty="0"/>
          </a:p>
        </p:txBody>
      </p:sp>
      <p:sp>
        <p:nvSpPr>
          <p:cNvPr id="235527" name="Rectangle 6">
            <a:extLst>
              <a:ext uri="{FF2B5EF4-FFF2-40B4-BE49-F238E27FC236}">
                <a16:creationId xmlns:a16="http://schemas.microsoft.com/office/drawing/2014/main" id="{AC4EA118-9222-4775-B9A1-E2D1130852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7" y="4756428"/>
            <a:ext cx="184731" cy="369332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>
              <a:solidFill>
                <a:schemeClr val="tx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FF3FE0C-CCCE-E8A0-A912-73FB8F1DB8BC}"/>
              </a:ext>
            </a:extLst>
          </p:cNvPr>
          <p:cNvSpPr txBox="1"/>
          <p:nvPr/>
        </p:nvSpPr>
        <p:spPr>
          <a:xfrm>
            <a:off x="45018" y="1595021"/>
            <a:ext cx="9054600" cy="5262979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pt-BR" sz="1400" dirty="0"/>
              <a:t>#include &lt;</a:t>
            </a:r>
            <a:r>
              <a:rPr lang="pt-BR" sz="1400" dirty="0" err="1"/>
              <a:t>conio.h</a:t>
            </a:r>
            <a:r>
              <a:rPr lang="pt-BR" sz="1400" dirty="0"/>
              <a:t>&gt;</a:t>
            </a:r>
          </a:p>
          <a:p>
            <a:r>
              <a:rPr lang="pt-BR" sz="1400" dirty="0"/>
              <a:t>#include &lt;stdio.h&gt;</a:t>
            </a:r>
          </a:p>
          <a:p>
            <a:r>
              <a:rPr lang="pt-BR" sz="1400" dirty="0"/>
              <a:t>#include &lt;</a:t>
            </a:r>
            <a:r>
              <a:rPr lang="pt-BR" sz="1400" dirty="0" err="1"/>
              <a:t>locale.h</a:t>
            </a:r>
            <a:r>
              <a:rPr lang="pt-BR" sz="1400" dirty="0"/>
              <a:t>&gt;</a:t>
            </a:r>
          </a:p>
          <a:p>
            <a:r>
              <a:rPr lang="pt-BR" sz="1400" dirty="0" err="1"/>
              <a:t>main</a:t>
            </a:r>
            <a:r>
              <a:rPr lang="pt-BR" sz="1400" dirty="0"/>
              <a:t>() {</a:t>
            </a:r>
          </a:p>
          <a:p>
            <a:r>
              <a:rPr lang="pt-BR" sz="1400" dirty="0"/>
              <a:t>  int clube;</a:t>
            </a:r>
          </a:p>
          <a:p>
            <a:r>
              <a:rPr lang="pt-BR" sz="1400" dirty="0"/>
              <a:t>  </a:t>
            </a:r>
            <a:r>
              <a:rPr lang="pt-BR" sz="1400" dirty="0" err="1"/>
              <a:t>setlocale</a:t>
            </a:r>
            <a:r>
              <a:rPr lang="pt-BR" sz="1400" dirty="0"/>
              <a:t>(LC_ALL,"");</a:t>
            </a:r>
          </a:p>
          <a:p>
            <a:r>
              <a:rPr lang="pt-BR" sz="1400" dirty="0"/>
              <a:t>  </a:t>
            </a:r>
            <a:r>
              <a:rPr lang="pt-BR" sz="1400" dirty="0" err="1"/>
              <a:t>printf</a:t>
            </a:r>
            <a:r>
              <a:rPr lang="pt-BR" sz="1400" dirty="0"/>
              <a:t>(" Entre com o clube que </a:t>
            </a:r>
            <a:r>
              <a:rPr lang="pt-BR" sz="1400" dirty="0" err="1"/>
              <a:t>sera</a:t>
            </a:r>
            <a:r>
              <a:rPr lang="pt-BR" sz="1400" dirty="0"/>
              <a:t> campeão:");</a:t>
            </a:r>
          </a:p>
          <a:p>
            <a:r>
              <a:rPr lang="pt-BR" sz="1400" dirty="0"/>
              <a:t>  </a:t>
            </a:r>
            <a:r>
              <a:rPr lang="pt-BR" sz="1400" dirty="0" err="1"/>
              <a:t>printf</a:t>
            </a:r>
            <a:r>
              <a:rPr lang="pt-BR" sz="1400" dirty="0"/>
              <a:t>("\n (1) Flamengo \t (2) Corinthians\t");</a:t>
            </a:r>
          </a:p>
          <a:p>
            <a:r>
              <a:rPr lang="pt-BR" sz="1400" dirty="0"/>
              <a:t>  </a:t>
            </a:r>
            <a:r>
              <a:rPr lang="pt-BR" sz="1400" dirty="0" err="1"/>
              <a:t>printf</a:t>
            </a:r>
            <a:r>
              <a:rPr lang="pt-BR" sz="1400" dirty="0"/>
              <a:t>("\b(3) Palmeiras \t (4) Santos \n");</a:t>
            </a:r>
          </a:p>
          <a:p>
            <a:r>
              <a:rPr lang="pt-BR" sz="1400" dirty="0"/>
              <a:t>  </a:t>
            </a:r>
            <a:r>
              <a:rPr lang="pt-BR" sz="1400" dirty="0" err="1"/>
              <a:t>scanf</a:t>
            </a:r>
            <a:r>
              <a:rPr lang="pt-BR" sz="1400" dirty="0"/>
              <a:t>("%</a:t>
            </a:r>
            <a:r>
              <a:rPr lang="pt-BR" sz="1400" dirty="0" err="1"/>
              <a:t>d",&amp;clube</a:t>
            </a:r>
            <a:r>
              <a:rPr lang="pt-BR" sz="1400" dirty="0"/>
              <a:t>);</a:t>
            </a:r>
          </a:p>
          <a:p>
            <a:r>
              <a:rPr lang="pt-BR" sz="1400" dirty="0"/>
              <a:t> if ((clube==1)&amp;&amp;((clube!=2)&amp;&amp;(clube!=3)&amp;&amp;(clube!=4)))</a:t>
            </a:r>
          </a:p>
          <a:p>
            <a:r>
              <a:rPr lang="pt-BR" sz="1400" dirty="0"/>
              <a:t>      {</a:t>
            </a:r>
          </a:p>
          <a:p>
            <a:r>
              <a:rPr lang="pt-BR" sz="1400" dirty="0"/>
              <a:t>      </a:t>
            </a:r>
            <a:r>
              <a:rPr lang="pt-BR" sz="1400" dirty="0" err="1"/>
              <a:t>printf</a:t>
            </a:r>
            <a:r>
              <a:rPr lang="pt-BR" sz="1400" dirty="0"/>
              <a:t> ("\</a:t>
            </a:r>
            <a:r>
              <a:rPr lang="pt-BR" sz="1400" dirty="0" err="1"/>
              <a:t>nVoce</a:t>
            </a:r>
            <a:r>
              <a:rPr lang="pt-BR" sz="1400" dirty="0"/>
              <a:t> acertou: ");</a:t>
            </a:r>
          </a:p>
          <a:p>
            <a:r>
              <a:rPr lang="pt-BR" sz="1400" dirty="0"/>
              <a:t>      </a:t>
            </a:r>
            <a:r>
              <a:rPr lang="pt-BR" sz="1400" dirty="0" err="1"/>
              <a:t>printf</a:t>
            </a:r>
            <a:r>
              <a:rPr lang="pt-BR" sz="1400" dirty="0"/>
              <a:t> (" O Flamengo </a:t>
            </a:r>
            <a:r>
              <a:rPr lang="pt-BR" sz="1400" dirty="0" err="1"/>
              <a:t>sera</a:t>
            </a:r>
            <a:r>
              <a:rPr lang="pt-BR" sz="1400" dirty="0"/>
              <a:t>' </a:t>
            </a:r>
            <a:r>
              <a:rPr lang="pt-BR" sz="1400" dirty="0" err="1"/>
              <a:t>campeao</a:t>
            </a:r>
            <a:r>
              <a:rPr lang="pt-BR" sz="1400" dirty="0"/>
              <a:t>!!!\n\n");</a:t>
            </a:r>
          </a:p>
          <a:p>
            <a:r>
              <a:rPr lang="pt-BR" sz="1400" dirty="0"/>
              <a:t>      }</a:t>
            </a:r>
          </a:p>
          <a:p>
            <a:r>
              <a:rPr lang="pt-BR" sz="1400" dirty="0"/>
              <a:t>else if (clube==2)</a:t>
            </a:r>
          </a:p>
          <a:p>
            <a:r>
              <a:rPr lang="pt-BR" sz="1400" dirty="0"/>
              <a:t>          </a:t>
            </a:r>
            <a:r>
              <a:rPr lang="pt-BR" sz="1400" dirty="0" err="1"/>
              <a:t>printf</a:t>
            </a:r>
            <a:r>
              <a:rPr lang="pt-BR" sz="1400" dirty="0"/>
              <a:t> ("\</a:t>
            </a:r>
            <a:r>
              <a:rPr lang="pt-BR" sz="1400" dirty="0" err="1"/>
              <a:t>nVoce</a:t>
            </a:r>
            <a:r>
              <a:rPr lang="pt-BR" sz="1400" dirty="0"/>
              <a:t> errou Corinthiano!! \n");</a:t>
            </a:r>
          </a:p>
          <a:p>
            <a:r>
              <a:rPr lang="pt-BR" sz="1400" dirty="0"/>
              <a:t>      else if (clube==3)</a:t>
            </a:r>
          </a:p>
          <a:p>
            <a:r>
              <a:rPr lang="pt-BR" sz="1400" dirty="0"/>
              <a:t>               </a:t>
            </a:r>
            <a:r>
              <a:rPr lang="pt-BR" sz="1400" dirty="0" err="1"/>
              <a:t>printf</a:t>
            </a:r>
            <a:r>
              <a:rPr lang="pt-BR" sz="1400" dirty="0"/>
              <a:t> ("\</a:t>
            </a:r>
            <a:r>
              <a:rPr lang="pt-BR" sz="1400" dirty="0" err="1"/>
              <a:t>nVoce</a:t>
            </a:r>
            <a:r>
              <a:rPr lang="pt-BR" sz="1400" dirty="0"/>
              <a:t> errou Palmeirense!! \n");</a:t>
            </a:r>
          </a:p>
          <a:p>
            <a:r>
              <a:rPr lang="pt-BR" sz="1400" dirty="0"/>
              <a:t>           else if (clube==4)</a:t>
            </a:r>
          </a:p>
          <a:p>
            <a:r>
              <a:rPr lang="pt-BR" sz="1400" dirty="0"/>
              <a:t>                   </a:t>
            </a:r>
            <a:r>
              <a:rPr lang="pt-BR" sz="1400" dirty="0" err="1"/>
              <a:t>printf</a:t>
            </a:r>
            <a:r>
              <a:rPr lang="pt-BR" sz="1400" dirty="0"/>
              <a:t> ("\</a:t>
            </a:r>
            <a:r>
              <a:rPr lang="pt-BR" sz="1400" dirty="0" err="1"/>
              <a:t>nVoce</a:t>
            </a:r>
            <a:r>
              <a:rPr lang="pt-BR" sz="1400" dirty="0"/>
              <a:t> errou Santista!! \n");</a:t>
            </a:r>
          </a:p>
          <a:p>
            <a:r>
              <a:rPr lang="pt-BR" sz="1400" dirty="0"/>
              <a:t>                else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puts</a:t>
            </a:r>
            <a:r>
              <a:rPr lang="pt-BR" sz="1400" dirty="0"/>
              <a:t>("Você digitou uma opção inexistente, São Paulino!!!");</a:t>
            </a:r>
          </a:p>
          <a:p>
            <a:r>
              <a:rPr lang="pt-BR" sz="1400" dirty="0"/>
              <a:t> }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3F8ACA8-B0B1-6E8A-5749-EE84BF90A0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0293" y="1625176"/>
            <a:ext cx="6029325" cy="14573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2B92CE8-FE79-205E-3C03-2DB2E0E437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5880" y="3082501"/>
            <a:ext cx="5915025" cy="13716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DDEB4D25-209A-AA11-EB34-EB627CAE3D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9976" y="4448439"/>
            <a:ext cx="5886450" cy="12287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4EDB0-A95E-2216-C6F6-25D65C8EA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Número de Slide 3">
            <a:extLst>
              <a:ext uri="{FF2B5EF4-FFF2-40B4-BE49-F238E27FC236}">
                <a16:creationId xmlns:a16="http://schemas.microsoft.com/office/drawing/2014/main" id="{0D706931-FBAB-8713-1F8B-59DE13B73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6B97307-C413-4AC7-AC8A-3A26B0A0A95E}" type="slidenum">
              <a:rPr lang="pt-BR" altLang="pt-BR"/>
              <a:pPr>
                <a:defRPr/>
              </a:pPr>
              <a:t>29</a:t>
            </a:fld>
            <a:endParaRPr lang="pt-BR" altLang="pt-BR"/>
          </a:p>
        </p:txBody>
      </p:sp>
      <p:sp>
        <p:nvSpPr>
          <p:cNvPr id="235523" name="Rectangle 2">
            <a:extLst>
              <a:ext uri="{FF2B5EF4-FFF2-40B4-BE49-F238E27FC236}">
                <a16:creationId xmlns:a16="http://schemas.microsoft.com/office/drawing/2014/main" id="{D987523D-F03D-938A-1A0B-09B3E4AF5B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"/>
            <a:ext cx="9144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>
                <a:latin typeface="Times New Roman" panose="02020603050405020304" pitchFamily="18" charset="0"/>
              </a:rPr>
              <a:t> </a:t>
            </a:r>
            <a:endParaRPr lang="en-US" altLang="pt-BR" b="1"/>
          </a:p>
        </p:txBody>
      </p:sp>
      <p:sp>
        <p:nvSpPr>
          <p:cNvPr id="235524" name="Text Box 3">
            <a:extLst>
              <a:ext uri="{FF2B5EF4-FFF2-40B4-BE49-F238E27FC236}">
                <a16:creationId xmlns:a16="http://schemas.microsoft.com/office/drawing/2014/main" id="{708D108E-11F0-522F-164A-5F2F9A9B0B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836613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 dirty="0"/>
              <a:t>Exemplos (OR - ||)</a:t>
            </a:r>
            <a:endParaRPr lang="pt-BR" altLang="pt-BR" b="1" dirty="0">
              <a:solidFill>
                <a:schemeClr val="bg2"/>
              </a:solidFill>
            </a:endParaRPr>
          </a:p>
        </p:txBody>
      </p:sp>
      <p:sp>
        <p:nvSpPr>
          <p:cNvPr id="235525" name="Rectangle 4">
            <a:extLst>
              <a:ext uri="{FF2B5EF4-FFF2-40B4-BE49-F238E27FC236}">
                <a16:creationId xmlns:a16="http://schemas.microsoft.com/office/drawing/2014/main" id="{A54789B2-FBE8-BAA2-37B0-E55AE38FE8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4232" y="58454"/>
            <a:ext cx="24878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sz="1600" b="1"/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 sz="1600"/>
              <a:t> </a:t>
            </a:r>
            <a:endParaRPr lang="en-US" altLang="pt-BR" sz="1600" b="1"/>
          </a:p>
        </p:txBody>
      </p:sp>
      <p:sp>
        <p:nvSpPr>
          <p:cNvPr id="235526" name="Rectangle 5">
            <a:extLst>
              <a:ext uri="{FF2B5EF4-FFF2-40B4-BE49-F238E27FC236}">
                <a16:creationId xmlns:a16="http://schemas.microsoft.com/office/drawing/2014/main" id="{486880F5-474F-9AF7-3BB2-80C8554E61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392" y="1196975"/>
            <a:ext cx="10729192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85738" indent="263525"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885825" indent="-163513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370013" indent="-3048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854200" indent="-3048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338388" indent="-3048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7955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32527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7099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41671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sz="800" b="1" dirty="0"/>
          </a:p>
          <a:p>
            <a:pPr indent="0" eaLnBrk="1" hangingPunct="1"/>
            <a:endParaRPr lang="pt-BR" altLang="pt-BR" b="1" dirty="0"/>
          </a:p>
          <a:p>
            <a:pPr algn="l" eaLnBrk="1" hangingPunct="1">
              <a:buFont typeface="Wingdings" panose="05000000000000000000" pitchFamily="2" charset="2"/>
              <a:buChar char="n"/>
            </a:pPr>
            <a:endParaRPr lang="pt-BR" altLang="pt-BR" b="1" dirty="0"/>
          </a:p>
        </p:txBody>
      </p:sp>
      <p:sp>
        <p:nvSpPr>
          <p:cNvPr id="235527" name="Rectangle 6">
            <a:extLst>
              <a:ext uri="{FF2B5EF4-FFF2-40B4-BE49-F238E27FC236}">
                <a16:creationId xmlns:a16="http://schemas.microsoft.com/office/drawing/2014/main" id="{84ABC0B6-72FE-4705-81C5-4E0CD5766C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7" y="4756428"/>
            <a:ext cx="184731" cy="369332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>
              <a:solidFill>
                <a:schemeClr val="tx1"/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22CDA1A-64FE-8836-0483-CCDA39B95347}"/>
              </a:ext>
            </a:extLst>
          </p:cNvPr>
          <p:cNvSpPr txBox="1"/>
          <p:nvPr/>
        </p:nvSpPr>
        <p:spPr>
          <a:xfrm>
            <a:off x="119336" y="1810461"/>
            <a:ext cx="6144986" cy="5047536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pt-BR" sz="1400" dirty="0"/>
              <a:t>#include &lt;</a:t>
            </a:r>
            <a:r>
              <a:rPr lang="pt-BR" sz="1400" dirty="0" err="1"/>
              <a:t>conio.h</a:t>
            </a:r>
            <a:r>
              <a:rPr lang="pt-BR" sz="1400" dirty="0"/>
              <a:t>&gt;</a:t>
            </a:r>
          </a:p>
          <a:p>
            <a:r>
              <a:rPr lang="pt-BR" sz="1400" dirty="0"/>
              <a:t>#include &lt;stdio.h&gt;</a:t>
            </a:r>
          </a:p>
          <a:p>
            <a:r>
              <a:rPr lang="pt-BR" sz="1400" dirty="0"/>
              <a:t>#include &lt;</a:t>
            </a:r>
            <a:r>
              <a:rPr lang="pt-BR" sz="1400" dirty="0" err="1"/>
              <a:t>locale.h</a:t>
            </a:r>
            <a:r>
              <a:rPr lang="pt-BR" sz="1400" dirty="0"/>
              <a:t>&gt;</a:t>
            </a:r>
          </a:p>
          <a:p>
            <a:r>
              <a:rPr lang="pt-BR" sz="1400" dirty="0" err="1"/>
              <a:t>main</a:t>
            </a:r>
            <a:r>
              <a:rPr lang="pt-BR" sz="1400" dirty="0"/>
              <a:t>() {</a:t>
            </a:r>
          </a:p>
          <a:p>
            <a:r>
              <a:rPr lang="pt-BR" sz="1400" dirty="0"/>
              <a:t>  int clube;</a:t>
            </a:r>
          </a:p>
          <a:p>
            <a:r>
              <a:rPr lang="pt-BR" sz="1400" dirty="0"/>
              <a:t>  </a:t>
            </a:r>
            <a:r>
              <a:rPr lang="pt-BR" sz="1400" dirty="0" err="1"/>
              <a:t>setlocale</a:t>
            </a:r>
            <a:r>
              <a:rPr lang="pt-BR" sz="1400" dirty="0"/>
              <a:t>(LC_ALL,"");</a:t>
            </a:r>
          </a:p>
          <a:p>
            <a:r>
              <a:rPr lang="pt-BR" sz="1400" dirty="0"/>
              <a:t>  </a:t>
            </a:r>
            <a:r>
              <a:rPr lang="pt-BR" sz="1400" dirty="0" err="1"/>
              <a:t>printf</a:t>
            </a:r>
            <a:r>
              <a:rPr lang="pt-BR" sz="1400" dirty="0"/>
              <a:t>(" Entre com o clube que </a:t>
            </a:r>
            <a:r>
              <a:rPr lang="pt-BR" sz="1400" dirty="0" err="1"/>
              <a:t>sera</a:t>
            </a:r>
            <a:r>
              <a:rPr lang="pt-BR" sz="1400" dirty="0"/>
              <a:t> campeão:");</a:t>
            </a:r>
          </a:p>
          <a:p>
            <a:r>
              <a:rPr lang="pt-BR" sz="1400" dirty="0"/>
              <a:t>  </a:t>
            </a:r>
            <a:r>
              <a:rPr lang="pt-BR" sz="1400" dirty="0" err="1"/>
              <a:t>printf</a:t>
            </a:r>
            <a:r>
              <a:rPr lang="pt-BR" sz="1400" dirty="0"/>
              <a:t>("\n (1) São Paulo \t (2) Corinthians\t");</a:t>
            </a:r>
          </a:p>
          <a:p>
            <a:r>
              <a:rPr lang="pt-BR" sz="1400" dirty="0"/>
              <a:t>  </a:t>
            </a:r>
            <a:r>
              <a:rPr lang="pt-BR" sz="1400" dirty="0" err="1"/>
              <a:t>printf</a:t>
            </a:r>
            <a:r>
              <a:rPr lang="pt-BR" sz="1400" dirty="0"/>
              <a:t>("\b(3) Palmeiras \t (4) Santos \n");</a:t>
            </a:r>
          </a:p>
          <a:p>
            <a:r>
              <a:rPr lang="pt-BR" sz="1400" dirty="0"/>
              <a:t>  </a:t>
            </a:r>
            <a:r>
              <a:rPr lang="pt-BR" sz="1400" dirty="0" err="1"/>
              <a:t>scanf</a:t>
            </a:r>
            <a:r>
              <a:rPr lang="pt-BR" sz="1400" dirty="0"/>
              <a:t>("%</a:t>
            </a:r>
            <a:r>
              <a:rPr lang="pt-BR" sz="1400" dirty="0" err="1"/>
              <a:t>d",&amp;clube</a:t>
            </a:r>
            <a:r>
              <a:rPr lang="pt-BR" sz="1400" dirty="0"/>
              <a:t>);</a:t>
            </a:r>
          </a:p>
          <a:p>
            <a:r>
              <a:rPr lang="pt-BR" sz="1400" dirty="0"/>
              <a:t> if ((clube==1)||(clube==2)||(clube==3)||(clube=4))</a:t>
            </a:r>
          </a:p>
          <a:p>
            <a:r>
              <a:rPr lang="pt-BR" sz="1400" dirty="0"/>
              <a:t>      {</a:t>
            </a:r>
          </a:p>
          <a:p>
            <a:r>
              <a:rPr lang="pt-BR" sz="1400" dirty="0"/>
              <a:t>      </a:t>
            </a:r>
            <a:r>
              <a:rPr lang="pt-BR" sz="1400" dirty="0" err="1"/>
              <a:t>printf</a:t>
            </a:r>
            <a:r>
              <a:rPr lang="pt-BR" sz="1400" dirty="0"/>
              <a:t> ("\</a:t>
            </a:r>
            <a:r>
              <a:rPr lang="pt-BR" sz="1400" dirty="0" err="1"/>
              <a:t>nVoce</a:t>
            </a:r>
            <a:r>
              <a:rPr lang="pt-BR" sz="1400" dirty="0"/>
              <a:t> ERROU !!!! ");</a:t>
            </a:r>
          </a:p>
          <a:p>
            <a:r>
              <a:rPr lang="pt-BR" sz="1400" dirty="0"/>
              <a:t>      </a:t>
            </a:r>
            <a:r>
              <a:rPr lang="pt-BR" sz="1400" dirty="0" err="1"/>
              <a:t>printf</a:t>
            </a:r>
            <a:r>
              <a:rPr lang="pt-BR" sz="1400" dirty="0"/>
              <a:t> (" O Flamengo </a:t>
            </a:r>
            <a:r>
              <a:rPr lang="pt-BR" sz="1400" dirty="0" err="1"/>
              <a:t>sera</a:t>
            </a:r>
            <a:r>
              <a:rPr lang="pt-BR" sz="1400" dirty="0"/>
              <a:t>' </a:t>
            </a:r>
            <a:r>
              <a:rPr lang="pt-BR" sz="1400" dirty="0" err="1"/>
              <a:t>campeao</a:t>
            </a:r>
            <a:r>
              <a:rPr lang="pt-BR" sz="1400" dirty="0"/>
              <a:t>!!!\n\n");</a:t>
            </a:r>
          </a:p>
          <a:p>
            <a:r>
              <a:rPr lang="pt-BR" sz="1400" dirty="0"/>
              <a:t>      }</a:t>
            </a:r>
          </a:p>
          <a:p>
            <a:r>
              <a:rPr lang="pt-BR" sz="1400" dirty="0"/>
              <a:t>else</a:t>
            </a:r>
          </a:p>
          <a:p>
            <a:r>
              <a:rPr lang="pt-BR" sz="1400" dirty="0"/>
              <a:t>     </a:t>
            </a:r>
            <a:r>
              <a:rPr lang="pt-BR" sz="1400" dirty="0" err="1"/>
              <a:t>puts</a:t>
            </a:r>
            <a:r>
              <a:rPr lang="pt-BR" sz="1400" dirty="0"/>
              <a:t>("Você NÃO É FLAMENGUISTA!!!");</a:t>
            </a:r>
          </a:p>
          <a:p>
            <a:r>
              <a:rPr lang="pt-BR" sz="1400" dirty="0"/>
              <a:t>if (clube==1) </a:t>
            </a:r>
            <a:r>
              <a:rPr lang="pt-BR" sz="1400" dirty="0" err="1"/>
              <a:t>printf</a:t>
            </a:r>
            <a:r>
              <a:rPr lang="pt-BR" sz="1400" dirty="0"/>
              <a:t> ("\</a:t>
            </a:r>
            <a:r>
              <a:rPr lang="pt-BR" sz="1400" dirty="0" err="1"/>
              <a:t>nVoce</a:t>
            </a:r>
            <a:r>
              <a:rPr lang="pt-BR" sz="1400" dirty="0"/>
              <a:t> é São Paulino!! \n");</a:t>
            </a:r>
          </a:p>
          <a:p>
            <a:r>
              <a:rPr lang="pt-BR" sz="1400" dirty="0"/>
              <a:t> else if (clube==2)  </a:t>
            </a:r>
            <a:r>
              <a:rPr lang="pt-BR" sz="1400" dirty="0" err="1"/>
              <a:t>printf</a:t>
            </a:r>
            <a:r>
              <a:rPr lang="pt-BR" sz="1400" dirty="0"/>
              <a:t> ("\</a:t>
            </a:r>
            <a:r>
              <a:rPr lang="pt-BR" sz="1400" dirty="0" err="1"/>
              <a:t>nVoce</a:t>
            </a:r>
            <a:r>
              <a:rPr lang="pt-BR" sz="1400" dirty="0"/>
              <a:t> é Corinthiano!! \n");</a:t>
            </a:r>
          </a:p>
          <a:p>
            <a:r>
              <a:rPr lang="pt-BR" sz="1400" dirty="0"/>
              <a:t>      else if (clube==3) </a:t>
            </a:r>
            <a:r>
              <a:rPr lang="pt-BR" sz="1400" dirty="0" err="1"/>
              <a:t>printf</a:t>
            </a:r>
            <a:r>
              <a:rPr lang="pt-BR" sz="1400" dirty="0"/>
              <a:t> ("\</a:t>
            </a:r>
            <a:r>
              <a:rPr lang="pt-BR" sz="1400" dirty="0" err="1"/>
              <a:t>nVoce</a:t>
            </a:r>
            <a:r>
              <a:rPr lang="pt-BR" sz="1400" dirty="0"/>
              <a:t> é Palmeirense!! \n");</a:t>
            </a:r>
          </a:p>
          <a:p>
            <a:r>
              <a:rPr lang="pt-BR" sz="1400" dirty="0"/>
              <a:t>           else if (clube==4) </a:t>
            </a:r>
            <a:r>
              <a:rPr lang="pt-BR" sz="1400" dirty="0" err="1"/>
              <a:t>printf</a:t>
            </a:r>
            <a:r>
              <a:rPr lang="pt-BR" sz="1400" dirty="0"/>
              <a:t> ("\</a:t>
            </a:r>
            <a:r>
              <a:rPr lang="pt-BR" sz="1400" dirty="0" err="1"/>
              <a:t>nVoce</a:t>
            </a:r>
            <a:r>
              <a:rPr lang="pt-BR" sz="1400" dirty="0"/>
              <a:t> é Santista!! \n");</a:t>
            </a:r>
          </a:p>
          <a:p>
            <a:r>
              <a:rPr lang="pt-BR" sz="1400" dirty="0"/>
              <a:t>                else  </a:t>
            </a:r>
            <a:r>
              <a:rPr lang="pt-BR" sz="1400" dirty="0" err="1"/>
              <a:t>printf</a:t>
            </a:r>
            <a:r>
              <a:rPr lang="pt-BR" sz="1400" dirty="0"/>
              <a:t> ("\</a:t>
            </a:r>
            <a:r>
              <a:rPr lang="pt-BR" sz="1400" dirty="0" err="1"/>
              <a:t>nVocê</a:t>
            </a:r>
            <a:r>
              <a:rPr lang="pt-BR" sz="1400" dirty="0"/>
              <a:t> errou na digitação!! \n");</a:t>
            </a:r>
          </a:p>
          <a:p>
            <a:r>
              <a:rPr lang="pt-BR" sz="1400" dirty="0"/>
              <a:t> }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0B6ACAC-38FA-BB5D-C305-28257B1E8E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0710" y="1815239"/>
            <a:ext cx="5943600" cy="199072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3E6B0C96-EE66-D814-52A2-34D76F0F11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1904" y="3827735"/>
            <a:ext cx="5800725" cy="18669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003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717A3-5EB2-20A2-C635-F21878723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Número de Slide 3">
            <a:extLst>
              <a:ext uri="{FF2B5EF4-FFF2-40B4-BE49-F238E27FC236}">
                <a16:creationId xmlns:a16="http://schemas.microsoft.com/office/drawing/2014/main" id="{C9A946C7-B002-75D2-FDD0-F451D8BF7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6B97307-C413-4AC7-AC8A-3A26B0A0A95E}" type="slidenum">
              <a:rPr lang="pt-BR" altLang="pt-BR"/>
              <a:pPr>
                <a:defRPr/>
              </a:pPr>
              <a:t>30</a:t>
            </a:fld>
            <a:endParaRPr lang="pt-BR" altLang="pt-BR"/>
          </a:p>
        </p:txBody>
      </p:sp>
      <p:sp>
        <p:nvSpPr>
          <p:cNvPr id="235523" name="Rectangle 2">
            <a:extLst>
              <a:ext uri="{FF2B5EF4-FFF2-40B4-BE49-F238E27FC236}">
                <a16:creationId xmlns:a16="http://schemas.microsoft.com/office/drawing/2014/main" id="{2D7585EB-2D1F-8264-9B03-8C20F187C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"/>
            <a:ext cx="9144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>
                <a:latin typeface="Times New Roman" panose="02020603050405020304" pitchFamily="18" charset="0"/>
              </a:rPr>
              <a:t> </a:t>
            </a:r>
            <a:endParaRPr lang="en-US" altLang="pt-BR" b="1"/>
          </a:p>
        </p:txBody>
      </p:sp>
      <p:sp>
        <p:nvSpPr>
          <p:cNvPr id="235524" name="Text Box 3">
            <a:extLst>
              <a:ext uri="{FF2B5EF4-FFF2-40B4-BE49-F238E27FC236}">
                <a16:creationId xmlns:a16="http://schemas.microsoft.com/office/drawing/2014/main" id="{78E9FDA2-D8CD-AA80-D5A7-53D9C3D199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836613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 dirty="0"/>
              <a:t>Exemplos (NOR - !)</a:t>
            </a:r>
            <a:endParaRPr lang="pt-BR" altLang="pt-BR" b="1" dirty="0">
              <a:solidFill>
                <a:schemeClr val="bg2"/>
              </a:solidFill>
            </a:endParaRPr>
          </a:p>
        </p:txBody>
      </p:sp>
      <p:sp>
        <p:nvSpPr>
          <p:cNvPr id="235525" name="Rectangle 4">
            <a:extLst>
              <a:ext uri="{FF2B5EF4-FFF2-40B4-BE49-F238E27FC236}">
                <a16:creationId xmlns:a16="http://schemas.microsoft.com/office/drawing/2014/main" id="{3A42B30B-D849-5671-5F3D-17EE54CDEA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4232" y="58454"/>
            <a:ext cx="24878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sz="1600" b="1"/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 sz="1600"/>
              <a:t> </a:t>
            </a:r>
            <a:endParaRPr lang="en-US" altLang="pt-BR" sz="1600" b="1"/>
          </a:p>
        </p:txBody>
      </p:sp>
      <p:sp>
        <p:nvSpPr>
          <p:cNvPr id="235526" name="Rectangle 5">
            <a:extLst>
              <a:ext uri="{FF2B5EF4-FFF2-40B4-BE49-F238E27FC236}">
                <a16:creationId xmlns:a16="http://schemas.microsoft.com/office/drawing/2014/main" id="{8F5018A0-39E1-A4C4-4FD3-FB3B24A95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392" y="1196975"/>
            <a:ext cx="10729192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85738" indent="263525"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885825" indent="-163513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370013" indent="-3048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854200" indent="-3048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338388" indent="-3048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7955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32527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7099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41671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sz="800" b="1" dirty="0"/>
          </a:p>
          <a:p>
            <a:pPr indent="0" eaLnBrk="1" hangingPunct="1"/>
            <a:endParaRPr lang="pt-BR" altLang="pt-BR" b="1" dirty="0"/>
          </a:p>
          <a:p>
            <a:pPr algn="l" eaLnBrk="1" hangingPunct="1">
              <a:buFont typeface="Wingdings" panose="05000000000000000000" pitchFamily="2" charset="2"/>
              <a:buChar char="n"/>
            </a:pPr>
            <a:endParaRPr lang="pt-BR" altLang="pt-BR" b="1" dirty="0"/>
          </a:p>
        </p:txBody>
      </p:sp>
      <p:sp>
        <p:nvSpPr>
          <p:cNvPr id="235527" name="Rectangle 6">
            <a:extLst>
              <a:ext uri="{FF2B5EF4-FFF2-40B4-BE49-F238E27FC236}">
                <a16:creationId xmlns:a16="http://schemas.microsoft.com/office/drawing/2014/main" id="{7DB7AD5B-EDA1-69FC-4320-63118E8504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7" y="4756428"/>
            <a:ext cx="184731" cy="369332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>
              <a:solidFill>
                <a:schemeClr val="tx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1F48CAC-BDCF-DC67-00C3-05A133A2BF1E}"/>
              </a:ext>
            </a:extLst>
          </p:cNvPr>
          <p:cNvSpPr txBox="1"/>
          <p:nvPr/>
        </p:nvSpPr>
        <p:spPr>
          <a:xfrm>
            <a:off x="263352" y="1701819"/>
            <a:ext cx="6144986" cy="3970318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pt-BR" dirty="0"/>
              <a:t>#include &lt;stdio.h&gt;</a:t>
            </a:r>
          </a:p>
          <a:p>
            <a:r>
              <a:rPr lang="pt-BR" dirty="0"/>
              <a:t>#include &lt;</a:t>
            </a:r>
            <a:r>
              <a:rPr lang="pt-BR" dirty="0" err="1"/>
              <a:t>locale.h</a:t>
            </a:r>
            <a:r>
              <a:rPr lang="pt-BR" dirty="0"/>
              <a:t>&gt;</a:t>
            </a:r>
          </a:p>
          <a:p>
            <a:r>
              <a:rPr lang="pt-BR" dirty="0" err="1"/>
              <a:t>main</a:t>
            </a:r>
            <a:r>
              <a:rPr lang="pt-BR" dirty="0"/>
              <a:t>()</a:t>
            </a:r>
          </a:p>
          <a:p>
            <a:r>
              <a:rPr lang="pt-BR" dirty="0"/>
              <a:t> {</a:t>
            </a:r>
          </a:p>
          <a:p>
            <a:r>
              <a:rPr lang="pt-BR" dirty="0"/>
              <a:t>  int x=0;</a:t>
            </a:r>
          </a:p>
          <a:p>
            <a:r>
              <a:rPr lang="pt-BR" dirty="0"/>
              <a:t>  </a:t>
            </a:r>
            <a:r>
              <a:rPr lang="pt-BR" dirty="0" err="1"/>
              <a:t>setlocale</a:t>
            </a:r>
            <a:r>
              <a:rPr lang="pt-BR" dirty="0"/>
              <a:t>(LC_ALL,"");</a:t>
            </a:r>
          </a:p>
          <a:p>
            <a:r>
              <a:rPr lang="pt-BR" dirty="0"/>
              <a:t>  </a:t>
            </a:r>
            <a:r>
              <a:rPr lang="pt-BR" dirty="0" err="1"/>
              <a:t>while</a:t>
            </a:r>
            <a:r>
              <a:rPr lang="pt-BR" dirty="0"/>
              <a:t> (!x)</a:t>
            </a:r>
          </a:p>
          <a:p>
            <a:r>
              <a:rPr lang="pt-BR" dirty="0"/>
              <a:t>        {</a:t>
            </a:r>
          </a:p>
          <a:p>
            <a:r>
              <a:rPr lang="pt-BR" dirty="0"/>
              <a:t>        </a:t>
            </a:r>
            <a:r>
              <a:rPr lang="pt-BR" dirty="0" err="1"/>
              <a:t>printf</a:t>
            </a:r>
            <a:r>
              <a:rPr lang="pt-BR" dirty="0"/>
              <a:t> ("\n O FLAMENGO </a:t>
            </a:r>
            <a:r>
              <a:rPr lang="pt-BR" dirty="0" err="1"/>
              <a:t>sera</a:t>
            </a:r>
            <a:r>
              <a:rPr lang="pt-BR" dirty="0"/>
              <a:t>' </a:t>
            </a:r>
            <a:r>
              <a:rPr lang="pt-BR" dirty="0" err="1"/>
              <a:t>campeao</a:t>
            </a:r>
            <a:r>
              <a:rPr lang="pt-BR" dirty="0"/>
              <a:t>");</a:t>
            </a:r>
          </a:p>
          <a:p>
            <a:r>
              <a:rPr lang="pt-BR" dirty="0"/>
              <a:t>        </a:t>
            </a:r>
            <a:r>
              <a:rPr lang="pt-BR" dirty="0" err="1"/>
              <a:t>printf</a:t>
            </a:r>
            <a:r>
              <a:rPr lang="pt-BR" dirty="0"/>
              <a:t> ("\n Entre com 0 para continuar: ");</a:t>
            </a:r>
          </a:p>
          <a:p>
            <a:r>
              <a:rPr lang="pt-BR" dirty="0"/>
              <a:t>        </a:t>
            </a:r>
            <a:r>
              <a:rPr lang="pt-BR" dirty="0" err="1"/>
              <a:t>scanf</a:t>
            </a:r>
            <a:r>
              <a:rPr lang="pt-BR" dirty="0"/>
              <a:t> ("%</a:t>
            </a:r>
            <a:r>
              <a:rPr lang="pt-BR" dirty="0" err="1"/>
              <a:t>d",&amp;x</a:t>
            </a:r>
            <a:r>
              <a:rPr lang="pt-BR" dirty="0"/>
              <a:t>);</a:t>
            </a:r>
          </a:p>
          <a:p>
            <a:r>
              <a:rPr lang="pt-BR" dirty="0"/>
              <a:t>        }</a:t>
            </a:r>
          </a:p>
          <a:p>
            <a:r>
              <a:rPr lang="pt-BR" dirty="0"/>
              <a:t>  </a:t>
            </a:r>
            <a:r>
              <a:rPr lang="pt-BR" dirty="0" err="1"/>
              <a:t>printf</a:t>
            </a:r>
            <a:r>
              <a:rPr lang="pt-BR" dirty="0"/>
              <a:t> ("\</a:t>
            </a:r>
            <a:r>
              <a:rPr lang="pt-BR" dirty="0" err="1"/>
              <a:t>nVoce</a:t>
            </a:r>
            <a:r>
              <a:rPr lang="pt-BR" dirty="0"/>
              <a:t> saiu do looping!! \n");</a:t>
            </a:r>
          </a:p>
          <a:p>
            <a:r>
              <a:rPr lang="pt-BR" dirty="0"/>
              <a:t> }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D843EFB-F251-B6C6-D008-5A3679C48C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2023" y="1701818"/>
            <a:ext cx="3897515" cy="2807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627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61C23C-8199-6A52-257A-DBBBD146B0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Complementares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9CD84EC-8E11-CF1C-6C0F-7A089F40F7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Exercícios do livro página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4BE263C-8FF9-EBEA-6444-29A93502A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4FCE15-2783-440C-88D3-6F0C5FF98BE2}" type="slidenum">
              <a:rPr lang="pt-BR" smtClean="0"/>
              <a:pPr>
                <a:defRPr/>
              </a:pPr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38716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7F590040-4578-B120-76F3-129814B03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84DC04-8A4B-4E30-A426-0A3F9942E9A1}" type="slidenum">
              <a:rPr lang="pt-BR" smtClean="0"/>
              <a:pPr>
                <a:defRPr/>
              </a:pPr>
              <a:t>32</a:t>
            </a:fld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4CE11C3-9ABD-A7AE-B5AE-81A0BDAFC8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908720"/>
            <a:ext cx="6073093" cy="4294662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4523AD1B-AAEB-D162-8C67-5CF1EFC82A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1193" y="1193805"/>
            <a:ext cx="6433740" cy="3724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383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Texturizado">
  <a:themeElements>
    <a:clrScheme name="Texturizado 5">
      <a:dk1>
        <a:srgbClr val="003366"/>
      </a:dk1>
      <a:lt1>
        <a:srgbClr val="FFFFFF"/>
      </a:lt1>
      <a:dk2>
        <a:srgbClr val="2B5481"/>
      </a:dk2>
      <a:lt2>
        <a:srgbClr val="E5FFFF"/>
      </a:lt2>
      <a:accent1>
        <a:srgbClr val="009999"/>
      </a:accent1>
      <a:accent2>
        <a:srgbClr val="336699"/>
      </a:accent2>
      <a:accent3>
        <a:srgbClr val="ACB3C1"/>
      </a:accent3>
      <a:accent4>
        <a:srgbClr val="DADADA"/>
      </a:accent4>
      <a:accent5>
        <a:srgbClr val="AACACA"/>
      </a:accent5>
      <a:accent6>
        <a:srgbClr val="2D5C8A"/>
      </a:accent6>
      <a:hlink>
        <a:srgbClr val="00CCFF"/>
      </a:hlink>
      <a:folHlink>
        <a:srgbClr val="FFCC00"/>
      </a:folHlink>
    </a:clrScheme>
    <a:fontScheme name="Texturizado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ahoma" pitchFamily="34" charset="0"/>
          </a:defRPr>
        </a:defPPr>
      </a:lstStyle>
    </a:lnDef>
  </a:objectDefaults>
  <a:extraClrSchemeLst>
    <a:extraClrScheme>
      <a:clrScheme name="Texturizado 1">
        <a:dk1>
          <a:srgbClr val="660000"/>
        </a:dk1>
        <a:lt1>
          <a:srgbClr val="FFFFFF"/>
        </a:lt1>
        <a:dk2>
          <a:srgbClr val="800000"/>
        </a:dk2>
        <a:lt2>
          <a:srgbClr val="FFFFCC"/>
        </a:lt2>
        <a:accent1>
          <a:srgbClr val="BE7960"/>
        </a:accent1>
        <a:accent2>
          <a:srgbClr val="CC6600"/>
        </a:accent2>
        <a:accent3>
          <a:srgbClr val="C0AAAA"/>
        </a:accent3>
        <a:accent4>
          <a:srgbClr val="DADADA"/>
        </a:accent4>
        <a:accent5>
          <a:srgbClr val="DBBEB6"/>
        </a:accent5>
        <a:accent6>
          <a:srgbClr val="B95C00"/>
        </a:accent6>
        <a:hlink>
          <a:srgbClr val="FFCC66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izado 2">
        <a:dk1>
          <a:srgbClr val="003300"/>
        </a:dk1>
        <a:lt1>
          <a:srgbClr val="FFFFFF"/>
        </a:lt1>
        <a:dk2>
          <a:srgbClr val="4D6A2A"/>
        </a:dk2>
        <a:lt2>
          <a:srgbClr val="CCFF99"/>
        </a:lt2>
        <a:accent1>
          <a:srgbClr val="33CC33"/>
        </a:accent1>
        <a:accent2>
          <a:srgbClr val="46562A"/>
        </a:accent2>
        <a:accent3>
          <a:srgbClr val="B2B9AC"/>
        </a:accent3>
        <a:accent4>
          <a:srgbClr val="DADADA"/>
        </a:accent4>
        <a:accent5>
          <a:srgbClr val="ADE2AD"/>
        </a:accent5>
        <a:accent6>
          <a:srgbClr val="3F4D25"/>
        </a:accent6>
        <a:hlink>
          <a:srgbClr val="0099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izado 3">
        <a:dk1>
          <a:srgbClr val="4E4E74"/>
        </a:dk1>
        <a:lt1>
          <a:srgbClr val="FFFFFF"/>
        </a:lt1>
        <a:dk2>
          <a:srgbClr val="666699"/>
        </a:dk2>
        <a:lt2>
          <a:srgbClr val="FFFFCC"/>
        </a:lt2>
        <a:accent1>
          <a:srgbClr val="5E5884"/>
        </a:accent1>
        <a:accent2>
          <a:srgbClr val="8AB29D"/>
        </a:accent2>
        <a:accent3>
          <a:srgbClr val="B8B8CA"/>
        </a:accent3>
        <a:accent4>
          <a:srgbClr val="DADADA"/>
        </a:accent4>
        <a:accent5>
          <a:srgbClr val="B6B4C2"/>
        </a:accent5>
        <a:accent6>
          <a:srgbClr val="7DA18E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izado 4">
        <a:dk1>
          <a:srgbClr val="004E4C"/>
        </a:dk1>
        <a:lt1>
          <a:srgbClr val="FFFFFF"/>
        </a:lt1>
        <a:dk2>
          <a:srgbClr val="006666"/>
        </a:dk2>
        <a:lt2>
          <a:srgbClr val="FFFFCC"/>
        </a:lt2>
        <a:accent1>
          <a:srgbClr val="FFCC00"/>
        </a:accent1>
        <a:accent2>
          <a:srgbClr val="00B0AC"/>
        </a:accent2>
        <a:accent3>
          <a:srgbClr val="AAB8B8"/>
        </a:accent3>
        <a:accent4>
          <a:srgbClr val="DADADA"/>
        </a:accent4>
        <a:accent5>
          <a:srgbClr val="FFE2AA"/>
        </a:accent5>
        <a:accent6>
          <a:srgbClr val="009F9B"/>
        </a:accent6>
        <a:hlink>
          <a:srgbClr val="BA7C3E"/>
        </a:hlink>
        <a:folHlink>
          <a:srgbClr val="724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izado 5">
        <a:dk1>
          <a:srgbClr val="003366"/>
        </a:dk1>
        <a:lt1>
          <a:srgbClr val="FFFFFF"/>
        </a:lt1>
        <a:dk2>
          <a:srgbClr val="2B5481"/>
        </a:dk2>
        <a:lt2>
          <a:srgbClr val="E5FFFF"/>
        </a:lt2>
        <a:accent1>
          <a:srgbClr val="009999"/>
        </a:accent1>
        <a:accent2>
          <a:srgbClr val="336699"/>
        </a:accent2>
        <a:accent3>
          <a:srgbClr val="ACB3C1"/>
        </a:accent3>
        <a:accent4>
          <a:srgbClr val="DADADA"/>
        </a:accent4>
        <a:accent5>
          <a:srgbClr val="AACACA"/>
        </a:accent5>
        <a:accent6>
          <a:srgbClr val="2D5C8A"/>
        </a:accent6>
        <a:hlink>
          <a:srgbClr val="00CCFF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izado 6">
        <a:dk1>
          <a:srgbClr val="080808"/>
        </a:dk1>
        <a:lt1>
          <a:srgbClr val="FFFFFF"/>
        </a:lt1>
        <a:dk2>
          <a:srgbClr val="4D4D4D"/>
        </a:dk2>
        <a:lt2>
          <a:srgbClr val="FFFFFF"/>
        </a:lt2>
        <a:accent1>
          <a:srgbClr val="666699"/>
        </a:accent1>
        <a:accent2>
          <a:srgbClr val="3366CC"/>
        </a:accent2>
        <a:accent3>
          <a:srgbClr val="B2B2B2"/>
        </a:accent3>
        <a:accent4>
          <a:srgbClr val="DADADA"/>
        </a:accent4>
        <a:accent5>
          <a:srgbClr val="B8B8CA"/>
        </a:accent5>
        <a:accent6>
          <a:srgbClr val="2D5CB9"/>
        </a:accent6>
        <a:hlink>
          <a:srgbClr val="00C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izado 7">
        <a:dk1>
          <a:srgbClr val="000000"/>
        </a:dk1>
        <a:lt1>
          <a:srgbClr val="DBDAC2"/>
        </a:lt1>
        <a:dk2>
          <a:srgbClr val="827F4C"/>
        </a:dk2>
        <a:lt2>
          <a:srgbClr val="C0BC94"/>
        </a:lt2>
        <a:accent1>
          <a:srgbClr val="AAA578"/>
        </a:accent1>
        <a:accent2>
          <a:srgbClr val="A2A4AC"/>
        </a:accent2>
        <a:accent3>
          <a:srgbClr val="EAEADD"/>
        </a:accent3>
        <a:accent4>
          <a:srgbClr val="000000"/>
        </a:accent4>
        <a:accent5>
          <a:srgbClr val="D2CFBE"/>
        </a:accent5>
        <a:accent6>
          <a:srgbClr val="92949B"/>
        </a:accent6>
        <a:hlink>
          <a:srgbClr val="5B8800"/>
        </a:hlink>
        <a:folHlink>
          <a:srgbClr val="68653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xturizado 8">
        <a:dk1>
          <a:srgbClr val="000000"/>
        </a:dk1>
        <a:lt1>
          <a:srgbClr val="DCE8F4"/>
        </a:lt1>
        <a:dk2>
          <a:srgbClr val="7B9CB5"/>
        </a:dk2>
        <a:lt2>
          <a:srgbClr val="969696"/>
        </a:lt2>
        <a:accent1>
          <a:srgbClr val="FFFFFF"/>
        </a:accent1>
        <a:accent2>
          <a:srgbClr val="00BAB6"/>
        </a:accent2>
        <a:accent3>
          <a:srgbClr val="EBF2F8"/>
        </a:accent3>
        <a:accent4>
          <a:srgbClr val="000000"/>
        </a:accent4>
        <a:accent5>
          <a:srgbClr val="FFFFFF"/>
        </a:accent5>
        <a:accent6>
          <a:srgbClr val="00A8A5"/>
        </a:accent6>
        <a:hlink>
          <a:srgbClr val="8A8AD8"/>
        </a:hlink>
        <a:folHlink>
          <a:srgbClr val="24249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31A93D2CB35614FA45893B80519B5BE" ma:contentTypeVersion="7" ma:contentTypeDescription="Crie um novo documento." ma:contentTypeScope="" ma:versionID="d5819fe5c110c5934286adf054d8c361">
  <xsd:schema xmlns:xsd="http://www.w3.org/2001/XMLSchema" xmlns:xs="http://www.w3.org/2001/XMLSchema" xmlns:p="http://schemas.microsoft.com/office/2006/metadata/properties" xmlns:ns2="d4266379-08b9-4d9e-9b69-a807b6d0c153" targetNamespace="http://schemas.microsoft.com/office/2006/metadata/properties" ma:root="true" ma:fieldsID="e76dccc702da44555f125f79004340bd" ns2:_="">
    <xsd:import namespace="d4266379-08b9-4d9e-9b69-a807b6d0c15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266379-08b9-4d9e-9b69-a807b6d0c1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75B7EED-3640-4870-8CA3-4A5F0766C5DB}"/>
</file>

<file path=customXml/itemProps2.xml><?xml version="1.0" encoding="utf-8"?>
<ds:datastoreItem xmlns:ds="http://schemas.openxmlformats.org/officeDocument/2006/customXml" ds:itemID="{7C197889-6550-4C94-9F32-86C5FF38DA8F}"/>
</file>

<file path=customXml/itemProps3.xml><?xml version="1.0" encoding="utf-8"?>
<ds:datastoreItem xmlns:ds="http://schemas.openxmlformats.org/officeDocument/2006/customXml" ds:itemID="{D1376749-D72E-4F5A-8CBF-B23612C2000C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52974</TotalTime>
  <Words>4147</Words>
  <Application>Microsoft Office PowerPoint</Application>
  <PresentationFormat>Widescreen</PresentationFormat>
  <Paragraphs>553</Paragraphs>
  <Slides>32</Slides>
  <Notes>22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32</vt:i4>
      </vt:variant>
    </vt:vector>
  </HeadingPairs>
  <TitlesOfParts>
    <vt:vector size="38" baseType="lpstr">
      <vt:lpstr>Arial</vt:lpstr>
      <vt:lpstr>Symbol</vt:lpstr>
      <vt:lpstr>Tahoma</vt:lpstr>
      <vt:lpstr>Times New Roman</vt:lpstr>
      <vt:lpstr>Wingdings</vt:lpstr>
      <vt:lpstr>1_Texturizado</vt:lpstr>
      <vt:lpstr>Linguagem de Programação em C</vt:lpstr>
      <vt:lpstr>Apresentação do PowerPoint</vt:lpstr>
      <vt:lpstr>2. ESTRUTURAS BÁSICAS EM C</vt:lpstr>
      <vt:lpstr> 2.5 - Expressões aritméticas e lógicas;  Operadores Aritméticos</vt:lpstr>
      <vt:lpstr> 2.5 - Expressões aritméticas e lógicas;  Operadores Aritméticos</vt:lpstr>
      <vt:lpstr> 2.5 - Precedência de Operadores</vt:lpstr>
      <vt:lpstr>Apresentação do PowerPoint</vt:lpstr>
      <vt:lpstr>2.6 - Comando de atribuição  </vt:lpstr>
      <vt:lpstr>2.6 - Comando de atribuição  </vt:lpstr>
      <vt:lpstr>2.6 - Comando de atribuição Atribuição múltipla</vt:lpstr>
      <vt:lpstr>Expressões aritméticas e lógicas;  Operadores de Atribuição Aritmética </vt:lpstr>
      <vt:lpstr>Expressões aritméticas e lógicas;  Operadores de Atribuição Aritmética </vt:lpstr>
      <vt:lpstr> 2.5 - Expressões aritméticas e lógicas;  Operadores Incrementais </vt:lpstr>
      <vt:lpstr>Apresentação do PowerPoint</vt:lpstr>
      <vt:lpstr> 2.5 - Expressões aritméticas e lógicas Operadores Incrementais </vt:lpstr>
      <vt:lpstr>Expressões aritméticas e lógicas;  Operadores Incrementais </vt:lpstr>
      <vt:lpstr>Apresentação do PowerPoint</vt:lpstr>
      <vt:lpstr>Apresentação do PowerPoint</vt:lpstr>
      <vt:lpstr>Expressões aritméticas e lógicas  Operadores relacionais </vt:lpstr>
      <vt:lpstr>Expressões aritméticas e lógicas  Operadores relacionais </vt:lpstr>
      <vt:lpstr>Expressões aritméticas e lógicas  Operadores relacionais </vt:lpstr>
      <vt:lpstr>Expressões aritméticas e lógicas  Operadores relacionais </vt:lpstr>
      <vt:lpstr> 2.5 - Expressões aritméticas e lógicas  Operadores lógicos</vt:lpstr>
      <vt:lpstr> 2.5 - Expressões aritméticas e lógicas  Operadores lógicos</vt:lpstr>
      <vt:lpstr> 2.5 - Expressões aritméticas e lógicas  Operadores lógicos</vt:lpstr>
      <vt:lpstr>Precedência dos operadores lógicos</vt:lpstr>
      <vt:lpstr>Aplicação</vt:lpstr>
      <vt:lpstr>Apresentação do PowerPoint</vt:lpstr>
      <vt:lpstr>Apresentação do PowerPoint</vt:lpstr>
      <vt:lpstr>Apresentação do PowerPoint</vt:lpstr>
      <vt:lpstr>Complementares</vt:lpstr>
      <vt:lpstr>Apresentação do PowerPoint</vt:lpstr>
    </vt:vector>
  </TitlesOfParts>
  <Company>ITA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INSTITUTO TECNOLOGICO DE AERO</dc:creator>
  <cp:lastModifiedBy>Pedro Carlos Euphrásio</cp:lastModifiedBy>
  <cp:revision>758</cp:revision>
  <dcterms:created xsi:type="dcterms:W3CDTF">2003-07-17T00:20:49Z</dcterms:created>
  <dcterms:modified xsi:type="dcterms:W3CDTF">2025-09-03T13:20:02Z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0x010100C31A93D2CB35614FA45893B80519B5BE</vt:lpwstr>
  </property>
</Properties>
</file>