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52"/>
  </p:notesMasterIdLst>
  <p:handoutMasterIdLst>
    <p:handoutMasterId r:id="rId53"/>
  </p:handoutMasterIdLst>
  <p:sldIdLst>
    <p:sldId id="268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2" r:id="rId47"/>
    <p:sldId id="313" r:id="rId48"/>
    <p:sldId id="314" r:id="rId49"/>
    <p:sldId id="315" r:id="rId50"/>
    <p:sldId id="316" r:id="rId51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016"/>
    <a:srgbClr val="1E1E1E"/>
    <a:srgbClr val="FFDA00"/>
    <a:srgbClr val="CE9178"/>
    <a:srgbClr val="DCDCAA"/>
    <a:srgbClr val="383838"/>
    <a:srgbClr val="FFFFFF"/>
    <a:srgbClr val="EDF2FC"/>
    <a:srgbClr val="F7F9FC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A3AED0-1D69-75F4-F843-8A9F7D540EA6}" v="4" dt="2025-10-23T23:43:37.3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19" autoAdjust="0"/>
  </p:normalViewPr>
  <p:slideViewPr>
    <p:cSldViewPr snapToGrid="0">
      <p:cViewPr varScale="1">
        <p:scale>
          <a:sx n="104" d="100"/>
          <a:sy n="104" d="100"/>
        </p:scale>
        <p:origin x="88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RDEL PINHEIRO" userId="S::jardel.pinheiro1@aluno.unip.br::051020a3-bcaa-4015-bb12-2a3738f33f83" providerId="AD" clId="Web-{62A3AED0-1D69-75F4-F843-8A9F7D540EA6}"/>
    <pc:docChg chg="addSld delSld modSld">
      <pc:chgData name="JARDEL PINHEIRO" userId="S::jardel.pinheiro1@aluno.unip.br::051020a3-bcaa-4015-bb12-2a3738f33f83" providerId="AD" clId="Web-{62A3AED0-1D69-75F4-F843-8A9F7D540EA6}" dt="2025-10-23T23:43:37.363" v="3"/>
      <pc:docMkLst>
        <pc:docMk/>
      </pc:docMkLst>
      <pc:sldChg chg="modSp">
        <pc:chgData name="JARDEL PINHEIRO" userId="S::jardel.pinheiro1@aluno.unip.br::051020a3-bcaa-4015-bb12-2a3738f33f83" providerId="AD" clId="Web-{62A3AED0-1D69-75F4-F843-8A9F7D540EA6}" dt="2025-10-23T23:43:37.363" v="3"/>
        <pc:sldMkLst>
          <pc:docMk/>
          <pc:sldMk cId="348119597" sldId="315"/>
        </pc:sldMkLst>
        <pc:picChg chg="mod modCrop">
          <ac:chgData name="JARDEL PINHEIRO" userId="S::jardel.pinheiro1@aluno.unip.br::051020a3-bcaa-4015-bb12-2a3738f33f83" providerId="AD" clId="Web-{62A3AED0-1D69-75F4-F843-8A9F7D540EA6}" dt="2025-10-23T23:43:37.363" v="3"/>
          <ac:picMkLst>
            <pc:docMk/>
            <pc:sldMk cId="348119597" sldId="315"/>
            <ac:picMk id="3" creationId="{76CEFEC2-CFE6-78C8-F42E-8093A09FC390}"/>
          </ac:picMkLst>
        </pc:picChg>
      </pc:sldChg>
      <pc:sldChg chg="del">
        <pc:chgData name="JARDEL PINHEIRO" userId="S::jardel.pinheiro1@aluno.unip.br::051020a3-bcaa-4015-bb12-2a3738f33f83" providerId="AD" clId="Web-{62A3AED0-1D69-75F4-F843-8A9F7D540EA6}" dt="2025-10-23T16:18:36.536" v="0"/>
        <pc:sldMkLst>
          <pc:docMk/>
          <pc:sldMk cId="2847337575" sldId="316"/>
        </pc:sldMkLst>
      </pc:sldChg>
      <pc:sldChg chg="new">
        <pc:chgData name="JARDEL PINHEIRO" userId="S::jardel.pinheiro1@aluno.unip.br::051020a3-bcaa-4015-bb12-2a3738f33f83" providerId="AD" clId="Web-{62A3AED0-1D69-75F4-F843-8A9F7D540EA6}" dt="2025-10-23T16:32:34.912" v="1"/>
        <pc:sldMkLst>
          <pc:docMk/>
          <pc:sldMk cId="4149058538" sldId="31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23/10/2025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23/10/2025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23/10/2025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23/10/2025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23/10/2025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23/10/2025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23/10/2025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23/10/2025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23/10/2025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23/10/2025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23/10/2025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23/10/2025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tângulo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 rtlCol="0">
            <a:noAutofit/>
          </a:bodyPr>
          <a:lstStyle/>
          <a:p>
            <a:r>
              <a:rPr lang="pt-BR" sz="5400" dirty="0"/>
              <a:t>Tópicos Especiais de Programação Orientada a Objetos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Prof. Flávio Waltz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00BC911C-ACE2-4EFB-A0CE-485B21E0D3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8" y="4846553"/>
            <a:ext cx="1773372" cy="1773372"/>
          </a:xfrm>
          <a:prstGeom prst="rect">
            <a:avLst/>
          </a:prstGeom>
        </p:spPr>
      </p:pic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E09A70B3-11B4-7BBC-14D1-CD257272C38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9770"/>
          <a:stretch/>
        </p:blipFill>
        <p:spPr>
          <a:xfrm>
            <a:off x="7200168" y="1366357"/>
            <a:ext cx="4171950" cy="412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Exercício 1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Desenvolva um algoritmo que solicite ao usuário dois números inteiros e dois números </a:t>
            </a:r>
            <a:r>
              <a:rPr lang="pt-BR" sz="3600" dirty="0" err="1"/>
              <a:t>float</a:t>
            </a:r>
            <a:r>
              <a:rPr lang="pt-BR" sz="3600" dirty="0"/>
              <a:t>. Imprima a soma destes quatro números na tela</a:t>
            </a:r>
          </a:p>
        </p:txBody>
      </p:sp>
    </p:spTree>
    <p:extLst>
      <p:ext uri="{BB962C8B-B14F-4D97-AF65-F5344CB8AC3E}">
        <p14:creationId xmlns:p14="http://schemas.microsoft.com/office/powerpoint/2010/main" val="853816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EA77929-ADA3-6832-B579-3E525F7DA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2895"/>
            <a:ext cx="12192000" cy="4472209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E7F86A26-319E-8B8D-9620-1620D0346A90}"/>
              </a:ext>
            </a:extLst>
          </p:cNvPr>
          <p:cNvCxnSpPr/>
          <p:nvPr/>
        </p:nvCxnSpPr>
        <p:spPr>
          <a:xfrm>
            <a:off x="10591800" y="1257300"/>
            <a:ext cx="0" cy="2362200"/>
          </a:xfrm>
          <a:prstGeom prst="line">
            <a:avLst/>
          </a:prstGeom>
          <a:ln w="28575">
            <a:solidFill>
              <a:srgbClr val="1E1E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713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Exercício 2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Desenvolva um algoritmo que solicite ao usuário uma quantidade de dias, horas, minutos e segundos. Calcule o total de segundos resultante e imprima na tela para o usuário.</a:t>
            </a:r>
          </a:p>
        </p:txBody>
      </p:sp>
    </p:spTree>
    <p:extLst>
      <p:ext uri="{BB962C8B-B14F-4D97-AF65-F5344CB8AC3E}">
        <p14:creationId xmlns:p14="http://schemas.microsoft.com/office/powerpoint/2010/main" val="2236345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E7F86A26-319E-8B8D-9620-1620D0346A90}"/>
              </a:ext>
            </a:extLst>
          </p:cNvPr>
          <p:cNvCxnSpPr/>
          <p:nvPr/>
        </p:nvCxnSpPr>
        <p:spPr>
          <a:xfrm>
            <a:off x="10591800" y="1257300"/>
            <a:ext cx="0" cy="2362200"/>
          </a:xfrm>
          <a:prstGeom prst="line">
            <a:avLst/>
          </a:prstGeom>
          <a:ln w="28575">
            <a:solidFill>
              <a:srgbClr val="1E1E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4B04309A-0D35-E251-767B-44863ED7B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82" y="113866"/>
            <a:ext cx="10469436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71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Exercício 3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Desenvolva um algoritmo que solicite ao usuário o preço de um produto e um percentual de desconto a ser aplicado a ele. Calcule e exiba o valor do desconto e o preço final do produto.</a:t>
            </a:r>
          </a:p>
        </p:txBody>
      </p:sp>
    </p:spTree>
    <p:extLst>
      <p:ext uri="{BB962C8B-B14F-4D97-AF65-F5344CB8AC3E}">
        <p14:creationId xmlns:p14="http://schemas.microsoft.com/office/powerpoint/2010/main" val="1477717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A3CA0BD-0742-F019-A824-1768FBA8E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423471"/>
            <a:ext cx="10945753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10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Nomeando Variáveis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pt-BR" sz="4000" dirty="0"/>
              <a:t>Podem ter letras, números e </a:t>
            </a:r>
            <a:r>
              <a:rPr lang="pt-BR" sz="4000" dirty="0" err="1"/>
              <a:t>underscores</a:t>
            </a:r>
            <a:r>
              <a:rPr lang="pt-BR" sz="4000" dirty="0"/>
              <a:t> (</a:t>
            </a:r>
            <a:r>
              <a:rPr lang="pt-BR" sz="4000" b="1" dirty="0">
                <a:solidFill>
                  <a:srgbClr val="EC7016"/>
                </a:solidFill>
              </a:rPr>
              <a:t>_</a:t>
            </a:r>
            <a:r>
              <a:rPr lang="pt-BR" sz="4000" dirty="0"/>
              <a:t>)</a:t>
            </a:r>
          </a:p>
          <a:p>
            <a:pPr lvl="1"/>
            <a:r>
              <a:rPr lang="pt-BR" sz="4000" dirty="0"/>
              <a:t>Podem começar com letra ou </a:t>
            </a:r>
            <a:r>
              <a:rPr lang="pt-BR" sz="4000" dirty="0" err="1"/>
              <a:t>underscore</a:t>
            </a:r>
            <a:r>
              <a:rPr lang="pt-BR" sz="4000" dirty="0"/>
              <a:t>, mas não com número:</a:t>
            </a:r>
          </a:p>
          <a:p>
            <a:pPr marL="384048" lvl="2" indent="0" algn="ctr">
              <a:buNone/>
            </a:pPr>
            <a:r>
              <a:rPr lang="pt-BR" sz="3600" dirty="0">
                <a:solidFill>
                  <a:srgbClr val="00B050"/>
                </a:solidFill>
              </a:rPr>
              <a:t>variavel_1</a:t>
            </a:r>
          </a:p>
          <a:p>
            <a:pPr marL="384048" lvl="2" indent="0" algn="ctr">
              <a:buNone/>
            </a:pPr>
            <a:r>
              <a:rPr lang="pt-BR" sz="3600" dirty="0">
                <a:solidFill>
                  <a:srgbClr val="FF0000"/>
                </a:solidFill>
              </a:rPr>
              <a:t>1_variavel</a:t>
            </a:r>
          </a:p>
        </p:txBody>
      </p:sp>
    </p:spTree>
    <p:extLst>
      <p:ext uri="{BB962C8B-B14F-4D97-AF65-F5344CB8AC3E}">
        <p14:creationId xmlns:p14="http://schemas.microsoft.com/office/powerpoint/2010/main" val="1793878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Nomeando Variáveis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Não podem ter espaços</a:t>
            </a:r>
          </a:p>
          <a:p>
            <a:pPr marL="384048" lvl="2" indent="0" algn="ctr">
              <a:buNone/>
            </a:pPr>
            <a:r>
              <a:rPr lang="pt-BR" sz="4000" dirty="0">
                <a:solidFill>
                  <a:srgbClr val="00B050"/>
                </a:solidFill>
              </a:rPr>
              <a:t>variavel_1</a:t>
            </a:r>
          </a:p>
          <a:p>
            <a:pPr marL="384048" lvl="2" indent="0" algn="ctr">
              <a:buNone/>
            </a:pPr>
            <a:r>
              <a:rPr lang="pt-BR" sz="4000" dirty="0" err="1">
                <a:solidFill>
                  <a:srgbClr val="FF0000"/>
                </a:solidFill>
              </a:rPr>
              <a:t>variavel</a:t>
            </a:r>
            <a:r>
              <a:rPr lang="pt-BR" sz="4000" dirty="0">
                <a:solidFill>
                  <a:srgbClr val="FF0000"/>
                </a:solidFill>
              </a:rPr>
              <a:t> 1</a:t>
            </a:r>
            <a:endParaRPr lang="pt-BR" sz="4000" dirty="0"/>
          </a:p>
          <a:p>
            <a:pPr lvl="1"/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838297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Nomeando Variáveis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Não devem ser </a:t>
            </a:r>
            <a:r>
              <a:rPr lang="pt-BR" sz="4000"/>
              <a:t>iguais aos reservados </a:t>
            </a:r>
            <a:r>
              <a:rPr lang="pt-BR" sz="4000" dirty="0"/>
              <a:t>para as funções em Python</a:t>
            </a:r>
          </a:p>
          <a:p>
            <a:pPr marL="384048" lvl="2" indent="0" algn="ctr">
              <a:buNone/>
            </a:pPr>
            <a:r>
              <a:rPr lang="pt-BR" sz="4000" dirty="0">
                <a:solidFill>
                  <a:srgbClr val="FF0000"/>
                </a:solidFill>
              </a:rPr>
              <a:t>print</a:t>
            </a:r>
          </a:p>
          <a:p>
            <a:pPr marL="384048" lvl="2" indent="0" algn="ctr">
              <a:buNone/>
            </a:pPr>
            <a:r>
              <a:rPr lang="pt-BR" sz="4000" dirty="0" err="1">
                <a:solidFill>
                  <a:srgbClr val="FF0000"/>
                </a:solidFill>
              </a:rPr>
              <a:t>def</a:t>
            </a:r>
            <a:endParaRPr lang="pt-BR" sz="4000" dirty="0">
              <a:solidFill>
                <a:srgbClr val="FF0000"/>
              </a:solidFill>
            </a:endParaRPr>
          </a:p>
          <a:p>
            <a:pPr marL="384048" lvl="2" indent="0" algn="ctr">
              <a:buNone/>
            </a:pPr>
            <a:r>
              <a:rPr lang="pt-BR" sz="4000" dirty="0" err="1">
                <a:solidFill>
                  <a:srgbClr val="FF0000"/>
                </a:solidFill>
              </a:rPr>
              <a:t>true</a:t>
            </a:r>
            <a:endParaRPr lang="pt-BR" sz="4000" dirty="0">
              <a:solidFill>
                <a:srgbClr val="FF0000"/>
              </a:solidFill>
            </a:endParaRPr>
          </a:p>
          <a:p>
            <a:pPr marL="384048" lvl="2" indent="0" algn="ctr">
              <a:buNone/>
            </a:pPr>
            <a:r>
              <a:rPr lang="pt-BR" sz="4000" dirty="0">
                <a:solidFill>
                  <a:srgbClr val="FF0000"/>
                </a:solidFill>
              </a:rPr>
              <a:t>class...</a:t>
            </a:r>
          </a:p>
          <a:p>
            <a:pPr lvl="1"/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51667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Nomeando Variáveis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É melhor que sejam descritivos, quando possível</a:t>
            </a:r>
          </a:p>
          <a:p>
            <a:pPr marL="384048" lvl="2" indent="0" algn="ctr">
              <a:buNone/>
            </a:pPr>
            <a:r>
              <a:rPr lang="pt-BR" sz="4000" dirty="0" err="1">
                <a:solidFill>
                  <a:srgbClr val="00B050"/>
                </a:solidFill>
              </a:rPr>
              <a:t>nome_estudante</a:t>
            </a:r>
            <a:endParaRPr lang="pt-BR" sz="4000" dirty="0">
              <a:solidFill>
                <a:srgbClr val="00B050"/>
              </a:solidFill>
            </a:endParaRPr>
          </a:p>
          <a:p>
            <a:pPr marL="384048" lvl="2" indent="0" algn="ctr">
              <a:buNone/>
            </a:pPr>
            <a:r>
              <a:rPr lang="pt-BR" sz="4000" dirty="0" err="1">
                <a:solidFill>
                  <a:srgbClr val="FF0000"/>
                </a:solidFill>
              </a:rPr>
              <a:t>n_s</a:t>
            </a:r>
            <a:endParaRPr lang="pt-BR" sz="4000" dirty="0">
              <a:solidFill>
                <a:srgbClr val="FF0000"/>
              </a:solidFill>
            </a:endParaRPr>
          </a:p>
          <a:p>
            <a:pPr lvl="1"/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642332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Nomeando Variáveis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Não reutilizem o mesmo nome!!</a:t>
            </a:r>
          </a:p>
        </p:txBody>
      </p:sp>
    </p:spTree>
    <p:extLst>
      <p:ext uri="{BB962C8B-B14F-4D97-AF65-F5344CB8AC3E}">
        <p14:creationId xmlns:p14="http://schemas.microsoft.com/office/powerpoint/2010/main" val="1614850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Listas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Listas são coleções de itens</a:t>
            </a:r>
          </a:p>
          <a:p>
            <a:pPr lvl="1"/>
            <a:r>
              <a:rPr lang="pt-BR" sz="4000" dirty="0"/>
              <a:t>Estes itens podem ser letras do alfabeto, dígitos de 0 a 9, nomes etc.</a:t>
            </a:r>
          </a:p>
        </p:txBody>
      </p:sp>
    </p:spTree>
    <p:extLst>
      <p:ext uri="{BB962C8B-B14F-4D97-AF65-F5344CB8AC3E}">
        <p14:creationId xmlns:p14="http://schemas.microsoft.com/office/powerpoint/2010/main" val="1588275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Listas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pt-BR" sz="4000" dirty="0"/>
              <a:t>Em Python, listas são indicadas por colchetes </a:t>
            </a:r>
            <a:r>
              <a:rPr lang="pt-BR" sz="4000" dirty="0">
                <a:solidFill>
                  <a:srgbClr val="EC7016"/>
                </a:solidFill>
              </a:rPr>
              <a:t>[ ]</a:t>
            </a:r>
            <a:endParaRPr lang="pt-BR" sz="4000" dirty="0"/>
          </a:p>
          <a:p>
            <a:pPr lvl="1"/>
            <a:r>
              <a:rPr lang="pt-BR" sz="4000" dirty="0"/>
              <a:t>Os elementos individuais da lista são separados por vírgulas:</a:t>
            </a:r>
          </a:p>
        </p:txBody>
      </p:sp>
    </p:spTree>
    <p:extLst>
      <p:ext uri="{BB962C8B-B14F-4D97-AF65-F5344CB8AC3E}">
        <p14:creationId xmlns:p14="http://schemas.microsoft.com/office/powerpoint/2010/main" val="2764761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1EC3CFC-3303-4C6D-32FA-711AB85BF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13" y="1671392"/>
            <a:ext cx="11279174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701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Listas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Em listas, os índices (index) também podem ser utilizados para acessarmos elementos individualmente:</a:t>
            </a:r>
          </a:p>
        </p:txBody>
      </p:sp>
    </p:spTree>
    <p:extLst>
      <p:ext uri="{BB962C8B-B14F-4D97-AF65-F5344CB8AC3E}">
        <p14:creationId xmlns:p14="http://schemas.microsoft.com/office/powerpoint/2010/main" val="3493660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1B74EC8-1574-A459-FC38-8371EA3D6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2371577"/>
            <a:ext cx="12174649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81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574E22D-849C-9CDA-7395-F1CC3E3FB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058" y="2241561"/>
            <a:ext cx="8707884" cy="237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83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Listas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É possível concatenar com os elementos da lista:</a:t>
            </a:r>
          </a:p>
        </p:txBody>
      </p:sp>
    </p:spTree>
    <p:extLst>
      <p:ext uri="{BB962C8B-B14F-4D97-AF65-F5344CB8AC3E}">
        <p14:creationId xmlns:p14="http://schemas.microsoft.com/office/powerpoint/2010/main" val="4282040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CD49AFF-FF08-EEF9-CDCB-C2D4DD44F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2543051"/>
            <a:ext cx="11736438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55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Listas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É possível modificar as listas de formas variadas:</a:t>
            </a:r>
          </a:p>
        </p:txBody>
      </p:sp>
    </p:spTree>
    <p:extLst>
      <p:ext uri="{BB962C8B-B14F-4D97-AF65-F5344CB8AC3E}">
        <p14:creationId xmlns:p14="http://schemas.microsoft.com/office/powerpoint/2010/main" val="1714136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Substituindo através do índice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F8ADD58-F2A4-D72A-0930-6A7C0C706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2D38346-FB10-6930-CD20-BC843976C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92" y="277528"/>
            <a:ext cx="11222016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91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Adicionando elementos no final com </a:t>
            </a:r>
            <a:r>
              <a:rPr lang="pt-BR" dirty="0" err="1"/>
              <a:t>append</a:t>
            </a:r>
            <a:r>
              <a:rPr lang="pt-BR" dirty="0"/>
              <a:t>()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1E513E10-ECB9-00ED-702B-62EEF3C07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1FCD9CD-3165-1FDD-B752-02A678213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4956"/>
            <a:ext cx="12192000" cy="235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374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 err="1"/>
              <a:t>append</a:t>
            </a:r>
            <a:r>
              <a:rPr lang="pt-BR" dirty="0"/>
              <a:t>() também permite preencher listas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547C1D-0EC4-8DD0-FF8C-80742719E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4CFFEE7-2096-DB81-919A-88B3B3468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197" y="-39699"/>
            <a:ext cx="9679605" cy="462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27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Armazenando respostas de input em listas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57DD432-4871-1E18-67B7-5AA6AD3F3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9272650-ED17-F319-C20D-EA18F1E22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12192000" cy="364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9059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400" dirty="0"/>
              <a:t>Adicionando elementos em posições específicas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E680747-4A29-634B-0DD0-9F326E059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C5EC109-EB53-F598-B795-07666BA4E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4956"/>
            <a:ext cx="12192000" cy="200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38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400" dirty="0"/>
              <a:t>Removendo elementos em posições específicas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E5153DEA-1BFD-A1B0-12A5-521EF09EF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288820-6A4B-2CD2-8769-C0C3ACFBE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6540"/>
            <a:ext cx="12192000" cy="2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8549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300" dirty="0"/>
              <a:t>Removendo elementos por valores específicos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7219A6F5-6BE3-722E-565F-478DF5067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E928981-58AE-CB63-AD55-83BFD4390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0785"/>
            <a:ext cx="12192000" cy="214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78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Ordenando a lista em ordem alfabética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4A30A5E8-8F31-0E7B-DB86-441274216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0376BAD-F8E0-BF5B-56DC-C176AF170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328"/>
            <a:ext cx="12192000" cy="280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4856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Descobrindo o tamanho de uma lista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4A30A5E8-8F31-0E7B-DB86-441274216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56F2926-DB54-4378-BA3D-F3DF65851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35" y="917966"/>
            <a:ext cx="10069330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095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i="1" dirty="0">
                <a:solidFill>
                  <a:srgbClr val="EC7016"/>
                </a:solidFill>
              </a:rPr>
              <a:t>Laço for </a:t>
            </a:r>
            <a:r>
              <a:rPr lang="pt-BR" sz="4800" i="1" dirty="0"/>
              <a:t>( </a:t>
            </a:r>
            <a:r>
              <a:rPr lang="pt-BR" sz="4800" i="1" dirty="0">
                <a:solidFill>
                  <a:srgbClr val="EC7016"/>
                </a:solidFill>
              </a:rPr>
              <a:t>for loop </a:t>
            </a:r>
            <a:r>
              <a:rPr lang="pt-BR" sz="4800" i="1" dirty="0"/>
              <a:t>)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Podemos executar uma ação – ou um conjunto de ações – em todos os itens de uma lista, por exemplo</a:t>
            </a:r>
          </a:p>
        </p:txBody>
      </p:sp>
    </p:spTree>
    <p:extLst>
      <p:ext uri="{BB962C8B-B14F-4D97-AF65-F5344CB8AC3E}">
        <p14:creationId xmlns:p14="http://schemas.microsoft.com/office/powerpoint/2010/main" val="17167026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000" dirty="0"/>
              <a:t>O laço percorreu toda a lista e mostrou seus valores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1CCC437F-8087-86CC-BCE2-BE19AF236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“Para </a:t>
            </a:r>
            <a:r>
              <a:rPr lang="en-US" dirty="0" err="1"/>
              <a:t>todo</a:t>
            </a:r>
            <a:r>
              <a:rPr lang="en-US" dirty="0"/>
              <a:t> game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‘</a:t>
            </a:r>
            <a:r>
              <a:rPr lang="en-US" dirty="0" err="1"/>
              <a:t>fps_games</a:t>
            </a:r>
            <a:r>
              <a:rPr lang="en-US" dirty="0"/>
              <a:t>’, </a:t>
            </a:r>
            <a:r>
              <a:rPr lang="en-US" dirty="0" err="1"/>
              <a:t>exiba</a:t>
            </a:r>
            <a:r>
              <a:rPr lang="en-US" dirty="0"/>
              <a:t> o </a:t>
            </a:r>
            <a:r>
              <a:rPr lang="en-US" dirty="0" err="1"/>
              <a:t>nome</a:t>
            </a:r>
            <a:r>
              <a:rPr lang="en-US" dirty="0"/>
              <a:t> do game.”</a:t>
            </a:r>
          </a:p>
          <a:p>
            <a:r>
              <a:rPr lang="en-US" dirty="0"/>
              <a:t>“game” </a:t>
            </a:r>
            <a:r>
              <a:rPr lang="en-US" dirty="0" err="1"/>
              <a:t>neste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, é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variável</a:t>
            </a:r>
            <a:r>
              <a:rPr lang="en-US" dirty="0"/>
              <a:t> </a:t>
            </a:r>
            <a:r>
              <a:rPr lang="en-US" dirty="0" err="1"/>
              <a:t>temporária</a:t>
            </a:r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6925872-C7BC-32F9-9F04-46AC697CC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054"/>
            <a:ext cx="12192000" cy="490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7245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i="1" dirty="0">
                <a:solidFill>
                  <a:srgbClr val="EC7016"/>
                </a:solidFill>
              </a:rPr>
              <a:t>Laço for </a:t>
            </a:r>
            <a:r>
              <a:rPr lang="pt-BR" sz="4800" i="1" dirty="0"/>
              <a:t>( </a:t>
            </a:r>
            <a:r>
              <a:rPr lang="pt-BR" sz="4800" i="1" dirty="0">
                <a:solidFill>
                  <a:srgbClr val="EC7016"/>
                </a:solidFill>
              </a:rPr>
              <a:t>for loop </a:t>
            </a:r>
            <a:r>
              <a:rPr lang="pt-BR" sz="4800" i="1" dirty="0"/>
              <a:t>)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Com a função </a:t>
            </a:r>
            <a:r>
              <a:rPr lang="pt-BR" sz="4000" dirty="0">
                <a:solidFill>
                  <a:srgbClr val="EC7016"/>
                </a:solidFill>
              </a:rPr>
              <a:t>range()</a:t>
            </a:r>
            <a:r>
              <a:rPr lang="pt-BR" sz="4000" dirty="0"/>
              <a:t>, podemos gerar uma série de números</a:t>
            </a:r>
          </a:p>
        </p:txBody>
      </p:sp>
    </p:spTree>
    <p:extLst>
      <p:ext uri="{BB962C8B-B14F-4D97-AF65-F5344CB8AC3E}">
        <p14:creationId xmlns:p14="http://schemas.microsoft.com/office/powerpoint/2010/main" val="15737986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FF25786-BB98-55BF-D836-F5787BB9A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065" y="0"/>
            <a:ext cx="4735884" cy="4578350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000" dirty="0"/>
              <a:t>A função </a:t>
            </a:r>
            <a:r>
              <a:rPr lang="pt-BR" sz="3000" dirty="0">
                <a:solidFill>
                  <a:srgbClr val="EC7016"/>
                </a:solidFill>
              </a:rPr>
              <a:t>range( ) </a:t>
            </a:r>
            <a:r>
              <a:rPr lang="pt-BR" sz="3000" dirty="0"/>
              <a:t>criou uma série de números de 1 a 9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1CCC437F-8087-86CC-BCE2-BE19AF236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6756854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000" dirty="0"/>
              <a:t>Podemos criar uma lista de números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1CCC437F-8087-86CC-BCE2-BE19AF236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sz="17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5358961-33D4-D8EE-1276-A29858250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597" y="1147651"/>
            <a:ext cx="7500807" cy="218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2642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000" dirty="0"/>
              <a:t>Podemos criar uma lista de números pares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1CCC437F-8087-86CC-BCE2-BE19AF236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sz="17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B218BC8-2AFC-8875-0866-F95710D10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596" y="1207896"/>
            <a:ext cx="7500806" cy="206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102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27C937C-EC6E-264E-C1F5-EB912C0DD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892" y="0"/>
            <a:ext cx="9538231" cy="4578350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endParaRPr lang="pt-BR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40622C5-8428-D2CD-2432-62FB61516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82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30309FF-24F0-323B-CE1C-EB085A37E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963296"/>
            <a:ext cx="12191985" cy="2651757"/>
          </a:xfrm>
          <a:prstGeom prst="rect">
            <a:avLst/>
          </a:prstGeom>
          <a:noFill/>
        </p:spPr>
      </p:pic>
      <p:sp>
        <p:nvSpPr>
          <p:cNvPr id="42" name="Title 2">
            <a:extLst>
              <a:ext uri="{FF2B5EF4-FFF2-40B4-BE49-F238E27FC236}">
                <a16:creationId xmlns:a16="http://schemas.microsoft.com/office/drawing/2014/main" id="{5C70A7B1-C572-9389-C782-CB925928B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/>
          <a:lstStyle/>
          <a:p>
            <a:endParaRPr lang="en-US"/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9623CAFB-7EAF-4467-9CE1-F1DDA404F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8618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i="1" dirty="0" err="1"/>
              <a:t>List</a:t>
            </a:r>
            <a:r>
              <a:rPr lang="pt-BR" sz="4800" i="1" dirty="0"/>
              <a:t> </a:t>
            </a:r>
            <a:r>
              <a:rPr lang="pt-BR" sz="4800" i="1" dirty="0" err="1"/>
              <a:t>Comprehension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3600" dirty="0"/>
              <a:t>A abrangência de lista combina o </a:t>
            </a:r>
            <a:r>
              <a:rPr lang="pt-BR" sz="3600" i="1" dirty="0"/>
              <a:t>laço for </a:t>
            </a:r>
            <a:r>
              <a:rPr lang="pt-BR" sz="3600" dirty="0"/>
              <a:t>e a criação de novos elementos em uma linha, e concatena cada novo elemento automaticamente</a:t>
            </a:r>
          </a:p>
        </p:txBody>
      </p:sp>
    </p:spTree>
    <p:extLst>
      <p:ext uri="{BB962C8B-B14F-4D97-AF65-F5344CB8AC3E}">
        <p14:creationId xmlns:p14="http://schemas.microsoft.com/office/powerpoint/2010/main" val="11754377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27C937C-EC6E-264E-C1F5-EB912C0DD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892" y="0"/>
            <a:ext cx="9538231" cy="4578350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300" dirty="0"/>
              <a:t>Como havíamos feito uma lista de quadrados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40622C5-8428-D2CD-2432-62FB61516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064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FC63D28-A764-10C5-2798-2E20AE2A7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1085217"/>
            <a:ext cx="12191985" cy="2407916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300" dirty="0"/>
              <a:t>Como podemos fazer com abrangência de lista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6C67A7EE-17D6-02F7-4D82-64305326A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‘value**2’ é a </a:t>
            </a:r>
            <a:r>
              <a:rPr lang="en-US" b="1" dirty="0" err="1"/>
              <a:t>expressão</a:t>
            </a:r>
            <a:r>
              <a:rPr lang="en-US" b="1" dirty="0"/>
              <a:t> </a:t>
            </a:r>
            <a:r>
              <a:rPr lang="en-US" dirty="0"/>
              <a:t>que </a:t>
            </a:r>
            <a:r>
              <a:rPr lang="en-US" dirty="0" err="1"/>
              <a:t>elevará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‘value’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quadrado</a:t>
            </a:r>
            <a:endParaRPr lang="en-US" dirty="0"/>
          </a:p>
          <a:p>
            <a:r>
              <a:rPr lang="en-US" dirty="0"/>
              <a:t>O </a:t>
            </a:r>
            <a:r>
              <a:rPr lang="en-US" dirty="0" err="1"/>
              <a:t>laço</a:t>
            </a:r>
            <a:r>
              <a:rPr lang="en-US" dirty="0"/>
              <a:t> for </a:t>
            </a:r>
            <a:r>
              <a:rPr lang="en-US" dirty="0" err="1"/>
              <a:t>gera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números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um dado </a:t>
            </a:r>
            <a:r>
              <a:rPr lang="en-US" dirty="0" err="1"/>
              <a:t>intervalo</a:t>
            </a:r>
            <a:r>
              <a:rPr lang="en-US" dirty="0"/>
              <a:t> (1,11)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887347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Fatiando listas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Assim como fatiamos nossas cadeias de caracteres na aula anterior, podemos fatiar listas</a:t>
            </a:r>
          </a:p>
        </p:txBody>
      </p:sp>
    </p:spTree>
    <p:extLst>
      <p:ext uri="{BB962C8B-B14F-4D97-AF65-F5344CB8AC3E}">
        <p14:creationId xmlns:p14="http://schemas.microsoft.com/office/powerpoint/2010/main" val="1371964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3285CDF-8178-B7F4-64B5-6FB9DECA0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1130937"/>
            <a:ext cx="12191985" cy="2316476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300" dirty="0"/>
              <a:t>Fatiamento de listas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6C67A7EE-17D6-02F7-4D82-64305326A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sz="1700" b="1" dirty="0"/>
          </a:p>
        </p:txBody>
      </p:sp>
    </p:spTree>
    <p:extLst>
      <p:ext uri="{BB962C8B-B14F-4D97-AF65-F5344CB8AC3E}">
        <p14:creationId xmlns:p14="http://schemas.microsoft.com/office/powerpoint/2010/main" val="30803565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Tuplas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Uma lista </a:t>
            </a:r>
            <a:r>
              <a:rPr lang="pt-BR" sz="4000" b="1" dirty="0"/>
              <a:t>imutável</a:t>
            </a:r>
            <a:r>
              <a:rPr lang="pt-BR" sz="4000" dirty="0"/>
              <a:t> é chamada de tupla.</a:t>
            </a:r>
          </a:p>
          <a:p>
            <a:pPr lvl="1"/>
            <a:r>
              <a:rPr lang="pt-BR" sz="4000" dirty="0"/>
              <a:t>Tuplas são escritas entre parênteses </a:t>
            </a:r>
            <a:r>
              <a:rPr lang="pt-BR" sz="4000" dirty="0">
                <a:solidFill>
                  <a:srgbClr val="EC7016"/>
                </a:solidFill>
              </a:rPr>
              <a:t>( )</a:t>
            </a:r>
          </a:p>
        </p:txBody>
      </p:sp>
    </p:spTree>
    <p:extLst>
      <p:ext uri="{BB962C8B-B14F-4D97-AF65-F5344CB8AC3E}">
        <p14:creationId xmlns:p14="http://schemas.microsoft.com/office/powerpoint/2010/main" val="8664647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Tuplas</a:t>
            </a:r>
            <a:endParaRPr lang="pt-BR" sz="3300" dirty="0"/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6C67A7EE-17D6-02F7-4D82-64305326A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 err="1"/>
              <a:t>Suponhamos</a:t>
            </a:r>
            <a:r>
              <a:rPr lang="en-US" dirty="0"/>
              <a:t> que [0] e [1]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coordenadas</a:t>
            </a:r>
            <a:r>
              <a:rPr lang="en-US" dirty="0"/>
              <a:t> de um </a:t>
            </a:r>
            <a:r>
              <a:rPr lang="en-US" dirty="0" err="1"/>
              <a:t>retângulo</a:t>
            </a:r>
            <a:r>
              <a:rPr lang="en-US" dirty="0"/>
              <a:t> que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devem</a:t>
            </a:r>
            <a:r>
              <a:rPr lang="en-US" dirty="0"/>
              <a:t> ser </a:t>
            </a:r>
            <a:r>
              <a:rPr lang="en-US" dirty="0" err="1"/>
              <a:t>altaradas</a:t>
            </a:r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8CFF09F-C9A6-72CE-82CE-DC0176DF3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286" y="837998"/>
            <a:ext cx="4677428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135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6CEFEC2-CFE6-78C8-F42E-8093A09FC3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725" r="-118" b="725"/>
          <a:stretch>
            <a:fillRect/>
          </a:stretch>
        </p:blipFill>
        <p:spPr>
          <a:xfrm>
            <a:off x="15" y="307977"/>
            <a:ext cx="12206383" cy="3962399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/>
              <a:t>Tuplas</a:t>
            </a:r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5E350AC4-3E13-24CD-1B35-650486B3D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95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5308C768-B0D5-A444-F422-54CAE0F22529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8ECDFF1-EA31-06CA-CD97-A3BC970F8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42EE69-CBA0-7B88-37F6-A61F48F68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9058538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EB243DAB49CF4593EB0C222B4EF671" ma:contentTypeVersion="3" ma:contentTypeDescription="Create a new document." ma:contentTypeScope="" ma:versionID="f738b6c48b5ead36bbd74b21bc06e906">
  <xsd:schema xmlns:xsd="http://www.w3.org/2001/XMLSchema" xmlns:xs="http://www.w3.org/2001/XMLSchema" xmlns:p="http://schemas.microsoft.com/office/2006/metadata/properties" xmlns:ns2="8c529ec0-fa2e-4a94-9697-1c2ca267284a" targetNamespace="http://schemas.microsoft.com/office/2006/metadata/properties" ma:root="true" ma:fieldsID="1f85f34f2d1badc7dc2a9180be25729b" ns2:_="">
    <xsd:import namespace="8c529ec0-fa2e-4a94-9697-1c2ca26728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529ec0-fa2e-4a94-9697-1c2ca26728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16c05727-aa75-4e4a-9b5f-8a80a1165891"/>
    <ds:schemaRef ds:uri="71af3243-3dd4-4a8d-8c0d-dd76da1f02a5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1C7F290-A92B-4E57-919D-B5E2096DB7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529ec0-fa2e-4a94-9697-1c2ca26728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TotalTime>739</TotalTime>
  <Words>564</Words>
  <Application>Microsoft Office PowerPoint</Application>
  <PresentationFormat>Widescreen</PresentationFormat>
  <Paragraphs>91</Paragraphs>
  <Slides>47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48" baseType="lpstr">
      <vt:lpstr>1_RetrospectVTI</vt:lpstr>
      <vt:lpstr>Tópicos Especiais de Programação Orientada a Objetos</vt:lpstr>
      <vt:lpstr>Exercício 1</vt:lpstr>
      <vt:lpstr>Apresentação do PowerPoint</vt:lpstr>
      <vt:lpstr>Exercício 2</vt:lpstr>
      <vt:lpstr>Apresentação do PowerPoint</vt:lpstr>
      <vt:lpstr>Exercício 3</vt:lpstr>
      <vt:lpstr>Apresentação do PowerPoint</vt:lpstr>
      <vt:lpstr>Nomeando Variáveis</vt:lpstr>
      <vt:lpstr>Nomeando Variáveis</vt:lpstr>
      <vt:lpstr>Nomeando Variáveis</vt:lpstr>
      <vt:lpstr>Nomeando Variáveis</vt:lpstr>
      <vt:lpstr>Nomeando Variáveis</vt:lpstr>
      <vt:lpstr>Listas</vt:lpstr>
      <vt:lpstr>Listas</vt:lpstr>
      <vt:lpstr>Apresentação do PowerPoint</vt:lpstr>
      <vt:lpstr>Listas</vt:lpstr>
      <vt:lpstr>Apresentação do PowerPoint</vt:lpstr>
      <vt:lpstr>Apresentação do PowerPoint</vt:lpstr>
      <vt:lpstr>Listas</vt:lpstr>
      <vt:lpstr>Apresentação do PowerPoint</vt:lpstr>
      <vt:lpstr>Listas</vt:lpstr>
      <vt:lpstr>Substituindo através do índice</vt:lpstr>
      <vt:lpstr>Adicionando elementos no final com append()</vt:lpstr>
      <vt:lpstr>append() também permite preencher listas</vt:lpstr>
      <vt:lpstr>Armazenando respostas de input em listas</vt:lpstr>
      <vt:lpstr>Adicionando elementos em posições específicas</vt:lpstr>
      <vt:lpstr>Removendo elementos em posições específicas</vt:lpstr>
      <vt:lpstr>Removendo elementos por valores específicos</vt:lpstr>
      <vt:lpstr>Ordenando a lista em ordem alfabética</vt:lpstr>
      <vt:lpstr>Descobrindo o tamanho de uma lista</vt:lpstr>
      <vt:lpstr>Laço for ( for loop )</vt:lpstr>
      <vt:lpstr>O laço percorreu toda a lista e mostrou seus valores</vt:lpstr>
      <vt:lpstr>Laço for ( for loop )</vt:lpstr>
      <vt:lpstr>A função range( ) criou uma série de números de 1 a 9</vt:lpstr>
      <vt:lpstr>Podemos criar uma lista de números</vt:lpstr>
      <vt:lpstr>Podemos criar uma lista de números pares</vt:lpstr>
      <vt:lpstr>Apresentação do PowerPoint</vt:lpstr>
      <vt:lpstr>Apresentação do PowerPoint</vt:lpstr>
      <vt:lpstr>List Comprehension</vt:lpstr>
      <vt:lpstr>Como havíamos feito uma lista de quadrados</vt:lpstr>
      <vt:lpstr>Como podemos fazer com abrangência de lista</vt:lpstr>
      <vt:lpstr>Fatiando listas</vt:lpstr>
      <vt:lpstr>Fatiamento de listas</vt:lpstr>
      <vt:lpstr>Tuplas</vt:lpstr>
      <vt:lpstr>Tuplas</vt:lpstr>
      <vt:lpstr>Tuplas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software para Internet</dc:title>
  <dc:creator>Flávio Waltz</dc:creator>
  <cp:lastModifiedBy>Flávio Waltz</cp:lastModifiedBy>
  <cp:revision>57</cp:revision>
  <dcterms:created xsi:type="dcterms:W3CDTF">2022-08-15T17:51:41Z</dcterms:created>
  <dcterms:modified xsi:type="dcterms:W3CDTF">2025-10-23T23:43:37Z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0x01010049EB243DAB49CF4593EB0C222B4EF671</vt:lpwstr>
  </property>
</Properties>
</file>