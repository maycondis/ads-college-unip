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6"/>
  </p:notesMasterIdLst>
  <p:handoutMasterIdLst>
    <p:handoutMasterId r:id="rId37"/>
  </p:handoutMasterIdLst>
  <p:sldIdLst>
    <p:sldId id="353" r:id="rId5"/>
    <p:sldId id="323" r:id="rId6"/>
    <p:sldId id="324" r:id="rId7"/>
    <p:sldId id="325" r:id="rId8"/>
    <p:sldId id="326" r:id="rId9"/>
    <p:sldId id="327" r:id="rId10"/>
    <p:sldId id="329" r:id="rId11"/>
    <p:sldId id="328" r:id="rId12"/>
    <p:sldId id="330" r:id="rId13"/>
    <p:sldId id="331" r:id="rId14"/>
    <p:sldId id="332" r:id="rId15"/>
    <p:sldId id="333" r:id="rId16"/>
    <p:sldId id="334" r:id="rId17"/>
    <p:sldId id="335" r:id="rId18"/>
    <p:sldId id="336" r:id="rId19"/>
    <p:sldId id="337" r:id="rId20"/>
    <p:sldId id="338" r:id="rId21"/>
    <p:sldId id="339" r:id="rId22"/>
    <p:sldId id="349" r:id="rId23"/>
    <p:sldId id="340" r:id="rId24"/>
    <p:sldId id="341" r:id="rId25"/>
    <p:sldId id="342" r:id="rId26"/>
    <p:sldId id="343" r:id="rId27"/>
    <p:sldId id="344" r:id="rId28"/>
    <p:sldId id="345" r:id="rId29"/>
    <p:sldId id="346" r:id="rId30"/>
    <p:sldId id="347" r:id="rId31"/>
    <p:sldId id="348" r:id="rId32"/>
    <p:sldId id="350" r:id="rId33"/>
    <p:sldId id="351" r:id="rId34"/>
    <p:sldId id="352" r:id="rId35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016"/>
    <a:srgbClr val="909090"/>
    <a:srgbClr val="5A5A5A"/>
    <a:srgbClr val="1E1E1E"/>
    <a:srgbClr val="FFDA00"/>
    <a:srgbClr val="CE9178"/>
    <a:srgbClr val="DCDCAA"/>
    <a:srgbClr val="383838"/>
    <a:srgbClr val="FFFFFF"/>
    <a:srgbClr val="EDF2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19" autoAdjust="0"/>
  </p:normalViewPr>
  <p:slideViewPr>
    <p:cSldViewPr snapToGrid="0">
      <p:cViewPr varScale="1">
        <p:scale>
          <a:sx n="70" d="100"/>
          <a:sy n="70" d="100"/>
        </p:scale>
        <p:origin x="85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935E2-E7C1-4ED2-91A8-3D2EF90039F0}" type="datetimeFigureOut">
              <a:rPr lang="pt-BR" smtClean="0"/>
              <a:t>22/04/2025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CB4-B6D2-4E90-9CC1-824CE88DA95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3764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FA47-21D5-4047-9471-F01A728B28BE}" type="datetimeFigureOut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501BF-1D2B-4868-94EC-1ACE4360F5A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8741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501BF-1D2B-4868-94EC-1ACE4360F5AC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37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058210-3CDA-4DDA-8356-4FED81F3EC11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A45F5-F797-498C-8B7A-1AAECBDA6E61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9AE4E-7FCD-4AA8-8737-FC932D28D25C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9966-2CA8-44E6-8B22-84BCFB10A849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CC592-1277-433B-ABE2-7821BB8F5F47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34C60-AB26-43CA-BC61-01B53B651217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29BC98-DC8A-4339-9F6E-A49DA685FCB7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A6BBE74-918B-43BF-B29E-5C4A628D9277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 dirty="0"/>
              <a:t>Clique no ícone para adicionar uma imagem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A1C5B49-891F-4320-82CB-3E8E2B9DD127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BA7412EA-3900-4FDB-8760-09BB6255EE2A}" type="datetime1">
              <a:rPr lang="pt-BR" noProof="0" smtClean="0"/>
              <a:t>22/04/2025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408819" cy="3686015"/>
          </a:xfrm>
        </p:spPr>
        <p:txBody>
          <a:bodyPr rtlCol="0">
            <a:noAutofit/>
          </a:bodyPr>
          <a:lstStyle/>
          <a:p>
            <a:r>
              <a:rPr lang="pt-BR" sz="5400" dirty="0"/>
              <a:t>Pensamento lógico computacional com Python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Prof. Flávio Waltz</a:t>
            </a:r>
          </a:p>
        </p:txBody>
      </p:sp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00BC911C-ACE2-4EFB-A0CE-485B21E0D3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898" y="4846553"/>
            <a:ext cx="1773372" cy="1773372"/>
          </a:xfrm>
          <a:prstGeom prst="rect">
            <a:avLst/>
          </a:prstGeom>
        </p:spPr>
      </p:pic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E09A70B3-11B4-7BBC-14D1-CD257272C38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9770"/>
          <a:stretch/>
        </p:blipFill>
        <p:spPr>
          <a:xfrm>
            <a:off x="7200168" y="1366357"/>
            <a:ext cx="4171950" cy="412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79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Na POO, escrevemos </a:t>
            </a:r>
            <a:r>
              <a:rPr lang="pt-BR" sz="3600" b="1" i="1" dirty="0"/>
              <a:t>classes</a:t>
            </a:r>
            <a:r>
              <a:rPr lang="pt-BR" sz="3600" dirty="0"/>
              <a:t> que representam entidades e situações do mundo real, e criamos </a:t>
            </a:r>
            <a:r>
              <a:rPr lang="pt-BR" sz="3600" b="1" i="1" dirty="0"/>
              <a:t>objetos</a:t>
            </a:r>
            <a:r>
              <a:rPr lang="pt-BR" sz="3600" dirty="0"/>
              <a:t> com base nessas classes.</a:t>
            </a:r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276131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Quando escrevemos uma classe, definimos o comportamento geral que toda uma categoria de objetos pode ter.</a:t>
            </a:r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804928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Criar um objeto a partir de uma classe é uma operação conhecida como </a:t>
            </a:r>
            <a:r>
              <a:rPr lang="pt-BR" sz="3600" b="1" i="1" dirty="0"/>
              <a:t>instanciação, </a:t>
            </a:r>
            <a:r>
              <a:rPr lang="pt-BR" sz="3600" dirty="0"/>
              <a:t>e trabalhamos com </a:t>
            </a:r>
            <a:r>
              <a:rPr lang="pt-BR" sz="3600" b="1" i="1" dirty="0"/>
              <a:t>instâncias</a:t>
            </a:r>
            <a:r>
              <a:rPr lang="pt-BR" sz="3600" dirty="0"/>
              <a:t> de uma classe.</a:t>
            </a:r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4910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Nossas classes poderão ser armazenadas em </a:t>
            </a:r>
            <a:r>
              <a:rPr lang="pt-BR" sz="3600" b="1" i="1" dirty="0"/>
              <a:t>módulos.</a:t>
            </a:r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402152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01AAED3-F9DB-76ED-4F54-01E0A63C1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Bibliotecas são conjuntos de módulos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71D1208-548E-85CF-2449-961B3025A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0B45C0C-2AE6-15ED-3EE5-B42FB8C0C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968" y="395565"/>
            <a:ext cx="8164064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963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Vamos criar uma classe chamada </a:t>
            </a:r>
            <a:r>
              <a:rPr lang="pt-BR" sz="3600" b="1" dirty="0"/>
              <a:t>Cao.</a:t>
            </a:r>
          </a:p>
          <a:p>
            <a:r>
              <a:rPr lang="pt-BR" sz="3600" dirty="0"/>
              <a:t>Essa classe </a:t>
            </a:r>
            <a:r>
              <a:rPr lang="pt-BR" sz="3600" b="1" dirty="0"/>
              <a:t>não</a:t>
            </a:r>
            <a:r>
              <a:rPr lang="pt-BR" sz="3600" dirty="0"/>
              <a:t> se referirá a um cão em particular, mas a </a:t>
            </a:r>
            <a:r>
              <a:rPr lang="pt-BR" sz="3600" b="1" dirty="0"/>
              <a:t>qualquer</a:t>
            </a:r>
            <a:r>
              <a:rPr lang="pt-BR" sz="3600" dirty="0"/>
              <a:t> cão.</a:t>
            </a:r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736273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Vamos definir duas informações:</a:t>
            </a:r>
          </a:p>
          <a:p>
            <a:pPr lvl="1"/>
            <a:r>
              <a:rPr lang="pt-BR" sz="3400" dirty="0"/>
              <a:t>nome</a:t>
            </a:r>
          </a:p>
          <a:p>
            <a:pPr lvl="1"/>
            <a:r>
              <a:rPr lang="pt-BR" sz="3400" dirty="0"/>
              <a:t>idade</a:t>
            </a:r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988213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Vamos definir dois comportamentos:</a:t>
            </a:r>
          </a:p>
          <a:p>
            <a:pPr lvl="1"/>
            <a:r>
              <a:rPr lang="pt-BR" sz="3400" dirty="0"/>
              <a:t>sentar</a:t>
            </a:r>
          </a:p>
          <a:p>
            <a:pPr lvl="1"/>
            <a:r>
              <a:rPr lang="pt-BR" sz="3400" dirty="0"/>
              <a:t>rolar</a:t>
            </a:r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769239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Com a classe definida, poderemos criar </a:t>
            </a:r>
            <a:r>
              <a:rPr lang="pt-BR" sz="3600" b="1" i="1" dirty="0"/>
              <a:t>instâncias</a:t>
            </a:r>
            <a:r>
              <a:rPr lang="pt-BR" sz="3600" dirty="0"/>
              <a:t> </a:t>
            </a:r>
            <a:r>
              <a:rPr lang="pt-BR" sz="3600" b="1" i="1" dirty="0"/>
              <a:t>individuais</a:t>
            </a:r>
            <a:r>
              <a:rPr lang="pt-BR" sz="3600" dirty="0"/>
              <a:t>, em que cada uma representará um cão específico</a:t>
            </a:r>
            <a:endParaRPr lang="pt-BR" sz="3400" b="1" i="1" dirty="0"/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522588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Cada instância criada a partir da classe </a:t>
            </a:r>
            <a:r>
              <a:rPr lang="pt-BR" sz="3600" b="1" dirty="0"/>
              <a:t>Cao</a:t>
            </a:r>
            <a:r>
              <a:rPr lang="pt-BR" sz="3600" dirty="0"/>
              <a:t> armazenará um nome (</a:t>
            </a:r>
            <a:r>
              <a:rPr lang="pt-BR" sz="3600" b="1" dirty="0">
                <a:solidFill>
                  <a:srgbClr val="EC7016"/>
                </a:solidFill>
              </a:rPr>
              <a:t>nome</a:t>
            </a:r>
            <a:r>
              <a:rPr lang="pt-BR" sz="3600" dirty="0"/>
              <a:t>) e uma idade (</a:t>
            </a:r>
            <a:r>
              <a:rPr lang="pt-BR" sz="3600" b="1" dirty="0">
                <a:solidFill>
                  <a:srgbClr val="EC7016"/>
                </a:solidFill>
              </a:rPr>
              <a:t>idade</a:t>
            </a:r>
            <a:r>
              <a:rPr lang="pt-BR" sz="3600" dirty="0"/>
              <a:t>), e daremos a cada cachorro a capacidade de sentar (</a:t>
            </a:r>
            <a:r>
              <a:rPr lang="pt-BR" sz="3600" b="1" dirty="0">
                <a:solidFill>
                  <a:srgbClr val="EC7016"/>
                </a:solidFill>
              </a:rPr>
              <a:t>sentar()</a:t>
            </a:r>
            <a:r>
              <a:rPr lang="pt-BR" sz="3600" dirty="0"/>
              <a:t>) e rolar (</a:t>
            </a:r>
            <a:r>
              <a:rPr lang="pt-BR" sz="3600" b="1" dirty="0">
                <a:solidFill>
                  <a:srgbClr val="EC7016"/>
                </a:solidFill>
              </a:rPr>
              <a:t>rolar()</a:t>
            </a:r>
            <a:r>
              <a:rPr lang="pt-BR" sz="3600" dirty="0"/>
              <a:t>)</a:t>
            </a:r>
            <a:endParaRPr lang="pt-BR" sz="3400" b="1" i="1" dirty="0"/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698682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54F66706-8CC1-DE7F-C155-FE86CFEA5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1" y="437732"/>
            <a:ext cx="10050278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51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Por convenção, nomes com a primeira letra maiúscula referem-se a classes em Python.</a:t>
            </a:r>
            <a:endParaRPr lang="pt-BR" sz="3400" b="1" i="1" dirty="0"/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875388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 – Método </a:t>
            </a:r>
            <a:r>
              <a:rPr lang="pt-BR" sz="4800" dirty="0">
                <a:solidFill>
                  <a:srgbClr val="EC7016"/>
                </a:solidFill>
              </a:rPr>
              <a:t>__</a:t>
            </a:r>
            <a:r>
              <a:rPr lang="pt-BR" sz="4800" dirty="0" err="1">
                <a:solidFill>
                  <a:srgbClr val="EC7016"/>
                </a:solidFill>
              </a:rPr>
              <a:t>init</a:t>
            </a:r>
            <a:r>
              <a:rPr lang="pt-BR" sz="4800" dirty="0">
                <a:solidFill>
                  <a:srgbClr val="EC7016"/>
                </a:solidFill>
              </a:rPr>
              <a:t>__()</a:t>
            </a:r>
            <a:endParaRPr lang="pt-BR" b="1" i="1" dirty="0">
              <a:solidFill>
                <a:srgbClr val="EC7016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Uma função que faz parte de uma classe é um </a:t>
            </a:r>
            <a:r>
              <a:rPr lang="pt-BR" sz="3600" b="1" i="1" dirty="0"/>
              <a:t>método.</a:t>
            </a:r>
            <a:endParaRPr lang="pt-BR" sz="3400" b="1" i="1" dirty="0"/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433713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 – Método </a:t>
            </a:r>
            <a:r>
              <a:rPr lang="pt-BR" sz="4800" dirty="0">
                <a:solidFill>
                  <a:srgbClr val="EC7016"/>
                </a:solidFill>
              </a:rPr>
              <a:t>__</a:t>
            </a:r>
            <a:r>
              <a:rPr lang="pt-BR" sz="4800" dirty="0" err="1">
                <a:solidFill>
                  <a:srgbClr val="EC7016"/>
                </a:solidFill>
              </a:rPr>
              <a:t>init</a:t>
            </a:r>
            <a:r>
              <a:rPr lang="pt-BR" sz="4800" dirty="0">
                <a:solidFill>
                  <a:srgbClr val="EC7016"/>
                </a:solidFill>
              </a:rPr>
              <a:t>__()</a:t>
            </a:r>
            <a:endParaRPr lang="pt-BR" b="1" i="1" dirty="0">
              <a:solidFill>
                <a:srgbClr val="EC7016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O método </a:t>
            </a:r>
            <a:r>
              <a:rPr lang="pt-BR" sz="3600" b="1" dirty="0">
                <a:solidFill>
                  <a:srgbClr val="EC7016"/>
                </a:solidFill>
              </a:rPr>
              <a:t>__</a:t>
            </a:r>
            <a:r>
              <a:rPr lang="pt-BR" sz="3600" b="1" dirty="0" err="1">
                <a:solidFill>
                  <a:srgbClr val="EC7016"/>
                </a:solidFill>
              </a:rPr>
              <a:t>init</a:t>
            </a:r>
            <a:r>
              <a:rPr lang="pt-BR" sz="3600" b="1" dirty="0">
                <a:solidFill>
                  <a:srgbClr val="EC7016"/>
                </a:solidFill>
              </a:rPr>
              <a:t>__()</a:t>
            </a:r>
            <a:r>
              <a:rPr lang="pt-BR" sz="3600" b="1" dirty="0"/>
              <a:t> </a:t>
            </a:r>
            <a:r>
              <a:rPr lang="pt-BR" sz="3600" dirty="0"/>
              <a:t>é um método especial que Python executa automaticamente sempre que criamos uma nova instância baseada na classe </a:t>
            </a:r>
            <a:r>
              <a:rPr lang="pt-BR" sz="3600" b="1" dirty="0">
                <a:solidFill>
                  <a:srgbClr val="EC7016"/>
                </a:solidFill>
              </a:rPr>
              <a:t>Cao</a:t>
            </a:r>
            <a:endParaRPr lang="pt-BR" sz="3400" b="1" i="1" dirty="0">
              <a:solidFill>
                <a:srgbClr val="EC7016"/>
              </a:solidFill>
            </a:endParaRPr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74127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5CDADA7-4F29-BA9C-98AC-4F5A2EEC4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310" y="1314956"/>
            <a:ext cx="8097380" cy="2819794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013BB597-4D91-9B2A-1763-E556B8F08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Aqui, o método __</a:t>
            </a:r>
            <a:r>
              <a:rPr lang="pt-BR" dirty="0" err="1"/>
              <a:t>init</a:t>
            </a:r>
            <a:r>
              <a:rPr lang="pt-BR" dirty="0"/>
              <a:t>__() tem 3 parâmetros: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4E61C24-A86A-2BBB-5CA5-2D153AE76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pt-BR" sz="3600" i="1" dirty="0"/>
              <a:t>self, nome </a:t>
            </a:r>
            <a:r>
              <a:rPr lang="pt-BR" sz="3600" dirty="0"/>
              <a:t>e </a:t>
            </a:r>
            <a:r>
              <a:rPr lang="pt-BR" sz="3600" i="1" dirty="0"/>
              <a:t>idade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CFAB0662-43D9-9E88-5888-3C4E5DA6A1BD}"/>
              </a:ext>
            </a:extLst>
          </p:cNvPr>
          <p:cNvSpPr/>
          <p:nvPr/>
        </p:nvSpPr>
        <p:spPr>
          <a:xfrm>
            <a:off x="1395167" y="2518392"/>
            <a:ext cx="914400" cy="3016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4325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5CDADA7-4F29-BA9C-98AC-4F5A2EEC4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310" y="1314956"/>
            <a:ext cx="8097380" cy="2819794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013BB597-4D91-9B2A-1763-E556B8F08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parâmetro </a:t>
            </a:r>
            <a:r>
              <a:rPr lang="pt-BR" i="1" dirty="0"/>
              <a:t>self</a:t>
            </a:r>
            <a:r>
              <a:rPr lang="pt-BR" dirty="0"/>
              <a:t> é obrigatório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4E61C24-A86A-2BBB-5CA5-2D153AE76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sz="6000" dirty="0"/>
              <a:t> e deve estar antes dos demais parâmetros</a:t>
            </a:r>
            <a:endParaRPr lang="pt-BR" sz="3600" i="1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90F2BD70-D228-ACB6-EBFA-4FD6B7B31C62}"/>
              </a:ext>
            </a:extLst>
          </p:cNvPr>
          <p:cNvCxnSpPr/>
          <p:nvPr/>
        </p:nvCxnSpPr>
        <p:spPr>
          <a:xfrm>
            <a:off x="4380411" y="2856411"/>
            <a:ext cx="56605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249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</a:t>
            </a:r>
            <a:endParaRPr lang="pt-BR" b="1" i="1" dirty="0">
              <a:solidFill>
                <a:srgbClr val="EC7016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(O</a:t>
            </a:r>
            <a:r>
              <a:rPr lang="pt-PT" sz="3600" dirty="0"/>
              <a:t> </a:t>
            </a:r>
            <a:r>
              <a:rPr lang="pt-PT" sz="3600" b="1" i="1" dirty="0"/>
              <a:t>self</a:t>
            </a:r>
            <a:r>
              <a:rPr lang="pt-PT" sz="3600" dirty="0"/>
              <a:t> é utilizado para acessar os atributos e métodos de um objeto em particular. Semelhante ao “</a:t>
            </a:r>
            <a:r>
              <a:rPr lang="pt-PT" sz="3600" b="1" i="1" dirty="0"/>
              <a:t>this</a:t>
            </a:r>
            <a:r>
              <a:rPr lang="pt-PT" sz="3600" dirty="0"/>
              <a:t>” em linguagens como java)</a:t>
            </a:r>
            <a:endParaRPr lang="pt-BR" sz="3600" b="1" i="1" dirty="0">
              <a:solidFill>
                <a:srgbClr val="EC7016"/>
              </a:solidFill>
            </a:endParaRPr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870062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</a:t>
            </a:r>
            <a:endParaRPr lang="pt-BR" b="1" i="1" dirty="0">
              <a:solidFill>
                <a:srgbClr val="EC7016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Pensem em uma </a:t>
            </a:r>
            <a:r>
              <a:rPr lang="pt-BR" sz="3600" b="1" i="1" dirty="0"/>
              <a:t>classe </a:t>
            </a:r>
            <a:r>
              <a:rPr lang="pt-BR" sz="3600" dirty="0"/>
              <a:t>como um conjunto de instruções para criar uma instância:</a:t>
            </a:r>
            <a:endParaRPr lang="pt-BR" sz="3400" b="1" i="1" dirty="0">
              <a:solidFill>
                <a:srgbClr val="EC7016"/>
              </a:solidFill>
            </a:endParaRPr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445573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13BB597-4D91-9B2A-1763-E556B8F08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500" dirty="0"/>
              <a:t>Utilizamos a classe Cao, criada anteriormente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4E61C24-A86A-2BBB-5CA5-2D153AE76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endParaRPr lang="pt-BR" sz="3600" i="1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0D959D6-4DCF-F2B2-8EC4-816EB598E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868336"/>
            <a:ext cx="10679015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757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</a:t>
            </a:r>
            <a:endParaRPr lang="pt-BR" b="1" i="1" dirty="0">
              <a:solidFill>
                <a:srgbClr val="EC7016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596640"/>
            <a:ext cx="10058400" cy="2272452"/>
          </a:xfrm>
        </p:spPr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Quando Python lê a linha 1, ele chama o método </a:t>
            </a:r>
            <a:r>
              <a:rPr lang="pt-BR" sz="3600" dirty="0">
                <a:solidFill>
                  <a:srgbClr val="EC7016"/>
                </a:solidFill>
              </a:rPr>
              <a:t>__</a:t>
            </a:r>
            <a:r>
              <a:rPr lang="pt-BR" sz="3600" dirty="0" err="1">
                <a:solidFill>
                  <a:srgbClr val="EC7016"/>
                </a:solidFill>
              </a:rPr>
              <a:t>init</a:t>
            </a:r>
            <a:r>
              <a:rPr lang="pt-BR" sz="3600" dirty="0">
                <a:solidFill>
                  <a:srgbClr val="EC7016"/>
                </a:solidFill>
              </a:rPr>
              <a:t>__() </a:t>
            </a:r>
            <a:r>
              <a:rPr lang="pt-BR" sz="3600" dirty="0"/>
              <a:t>de </a:t>
            </a:r>
            <a:r>
              <a:rPr lang="pt-BR" sz="3600" dirty="0">
                <a:solidFill>
                  <a:srgbClr val="EC7016"/>
                </a:solidFill>
              </a:rPr>
              <a:t>Cao</a:t>
            </a:r>
            <a:r>
              <a:rPr lang="pt-BR" sz="3600" dirty="0"/>
              <a:t> com os argumentos </a:t>
            </a:r>
            <a:r>
              <a:rPr lang="pt-BR" sz="3600" i="1" dirty="0">
                <a:solidFill>
                  <a:srgbClr val="EC7016"/>
                </a:solidFill>
              </a:rPr>
              <a:t>‘Lila’ </a:t>
            </a:r>
            <a:r>
              <a:rPr lang="pt-BR" sz="3600" dirty="0"/>
              <a:t>e </a:t>
            </a:r>
            <a:r>
              <a:rPr lang="pt-BR" sz="3600" b="1" dirty="0">
                <a:solidFill>
                  <a:srgbClr val="EC7016"/>
                </a:solidFill>
              </a:rPr>
              <a:t>6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D08F621-33B8-367B-46A8-5C634AB52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548" y="2977492"/>
            <a:ext cx="5934903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436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</a:t>
            </a:r>
            <a:endParaRPr lang="pt-BR" b="1" i="1" dirty="0">
              <a:solidFill>
                <a:srgbClr val="EC7016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596640"/>
            <a:ext cx="10058400" cy="2272452"/>
          </a:xfrm>
        </p:spPr>
        <p:txBody>
          <a:bodyPr>
            <a:normAutofit fontScale="92500" lnSpcReduction="20000"/>
          </a:bodyPr>
          <a:lstStyle/>
          <a:p>
            <a:endParaRPr lang="pt-BR" sz="3600" dirty="0"/>
          </a:p>
          <a:p>
            <a:r>
              <a:rPr lang="pt-BR" sz="3600" dirty="0"/>
              <a:t>O método </a:t>
            </a:r>
            <a:r>
              <a:rPr lang="pt-BR" sz="3600" b="1" dirty="0">
                <a:solidFill>
                  <a:srgbClr val="EC7016"/>
                </a:solidFill>
              </a:rPr>
              <a:t>__</a:t>
            </a:r>
            <a:r>
              <a:rPr lang="pt-BR" sz="3600" b="1" dirty="0" err="1">
                <a:solidFill>
                  <a:srgbClr val="EC7016"/>
                </a:solidFill>
              </a:rPr>
              <a:t>init</a:t>
            </a:r>
            <a:r>
              <a:rPr lang="pt-BR" sz="3600" b="1" dirty="0">
                <a:solidFill>
                  <a:srgbClr val="EC7016"/>
                </a:solidFill>
              </a:rPr>
              <a:t>__() </a:t>
            </a:r>
            <a:r>
              <a:rPr lang="pt-BR" sz="3600" dirty="0"/>
              <a:t>cria uma instância que representa esse cachorro em particular e define os atributos </a:t>
            </a:r>
            <a:r>
              <a:rPr lang="pt-BR" sz="3600" b="1" dirty="0">
                <a:solidFill>
                  <a:srgbClr val="EC7016"/>
                </a:solidFill>
              </a:rPr>
              <a:t>nome</a:t>
            </a:r>
            <a:r>
              <a:rPr lang="pt-BR" sz="3600" dirty="0"/>
              <a:t> e </a:t>
            </a:r>
            <a:r>
              <a:rPr lang="pt-BR" sz="3600" b="1" dirty="0">
                <a:solidFill>
                  <a:srgbClr val="EC7016"/>
                </a:solidFill>
              </a:rPr>
              <a:t>idade</a:t>
            </a:r>
            <a:r>
              <a:rPr lang="pt-BR" sz="3600" dirty="0"/>
              <a:t> com os valores fornecidos.</a:t>
            </a:r>
            <a:endParaRPr lang="pt-BR" sz="3600" dirty="0">
              <a:solidFill>
                <a:srgbClr val="EC7016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B040C6D-3D74-749A-6588-89A33C5AE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548" y="2977492"/>
            <a:ext cx="5934903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103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</a:t>
            </a:r>
            <a:endParaRPr lang="pt-BR" b="1" i="1" dirty="0">
              <a:solidFill>
                <a:srgbClr val="EC7016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63931"/>
            <a:ext cx="10058400" cy="3805161"/>
          </a:xfrm>
        </p:spPr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Percebam como não há uma instrução </a:t>
            </a:r>
            <a:r>
              <a:rPr lang="pt-BR" sz="3600" b="1" i="1" dirty="0" err="1"/>
              <a:t>return</a:t>
            </a:r>
            <a:r>
              <a:rPr lang="pt-BR" sz="3600" b="1" i="1" dirty="0"/>
              <a:t> </a:t>
            </a:r>
            <a:r>
              <a:rPr lang="pt-BR" sz="3600" dirty="0"/>
              <a:t>explícita, mas Python devolve automaticamente uma instância que representa esse cachorro.</a:t>
            </a:r>
            <a:endParaRPr lang="pt-BR" sz="3600" b="1" i="1" dirty="0">
              <a:solidFill>
                <a:srgbClr val="EC701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912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</a:t>
            </a:r>
            <a:endParaRPr lang="pt-BR" b="1" i="1" dirty="0">
              <a:solidFill>
                <a:srgbClr val="EC7016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63931"/>
            <a:ext cx="10058400" cy="3805161"/>
          </a:xfrm>
        </p:spPr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Percebam também que </a:t>
            </a:r>
            <a:r>
              <a:rPr lang="pt-BR" sz="3600" b="1" dirty="0">
                <a:solidFill>
                  <a:srgbClr val="EC7016"/>
                </a:solidFill>
              </a:rPr>
              <a:t>Cao</a:t>
            </a:r>
            <a:r>
              <a:rPr lang="pt-BR" sz="3600" dirty="0"/>
              <a:t> refere-se a uma classe, enquanto </a:t>
            </a:r>
            <a:r>
              <a:rPr lang="pt-BR" sz="3600" b="1" dirty="0" err="1">
                <a:solidFill>
                  <a:srgbClr val="EC7016"/>
                </a:solidFill>
              </a:rPr>
              <a:t>meu_cao</a:t>
            </a:r>
            <a:r>
              <a:rPr lang="pt-BR" sz="3600" dirty="0"/>
              <a:t>, com letras minúsculas, refere-se a uma única instância criada a partir da classe</a:t>
            </a:r>
            <a:endParaRPr lang="pt-BR" sz="3600" b="1" i="1" dirty="0">
              <a:solidFill>
                <a:srgbClr val="EC701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584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</a:t>
            </a:r>
            <a:endParaRPr lang="pt-BR" b="1" i="1" dirty="0">
              <a:solidFill>
                <a:srgbClr val="EC7016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63931"/>
            <a:ext cx="10058400" cy="3805161"/>
          </a:xfrm>
        </p:spPr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Depois que criarmos uma instância da classe </a:t>
            </a:r>
            <a:r>
              <a:rPr lang="pt-BR" sz="3600" b="1" dirty="0">
                <a:solidFill>
                  <a:srgbClr val="EC7016"/>
                </a:solidFill>
              </a:rPr>
              <a:t>Cao</a:t>
            </a:r>
            <a:r>
              <a:rPr lang="pt-BR" sz="3600" dirty="0"/>
              <a:t>, podemos usar a notação de ponto para chamar qualquer método definido nessa classe:</a:t>
            </a:r>
            <a:endParaRPr lang="pt-BR" sz="3600" b="1" i="1" dirty="0">
              <a:solidFill>
                <a:srgbClr val="EC701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6671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13BB597-4D91-9B2A-1763-E556B8F08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500" dirty="0"/>
              <a:t>Nome da instância e o método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4E61C24-A86A-2BBB-5CA5-2D153AE76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Separados por ponto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D8FDB51-197C-3684-55EB-C8BB13960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207" y="1852164"/>
            <a:ext cx="4553585" cy="2238687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4466E693-4051-C1F5-1B1E-696BBD04982D}"/>
              </a:ext>
            </a:extLst>
          </p:cNvPr>
          <p:cNvSpPr/>
          <p:nvPr/>
        </p:nvSpPr>
        <p:spPr>
          <a:xfrm>
            <a:off x="4998720" y="1436914"/>
            <a:ext cx="330926" cy="5399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E217A178-4E9C-47DD-14FC-31AA798D23CE}"/>
              </a:ext>
            </a:extLst>
          </p:cNvPr>
          <p:cNvSpPr/>
          <p:nvPr/>
        </p:nvSpPr>
        <p:spPr>
          <a:xfrm>
            <a:off x="6354830" y="1436914"/>
            <a:ext cx="330926" cy="5399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A3FE48F-10CB-A78D-E214-DAA825FE7443}"/>
              </a:ext>
            </a:extLst>
          </p:cNvPr>
          <p:cNvSpPr txBox="1"/>
          <p:nvPr/>
        </p:nvSpPr>
        <p:spPr>
          <a:xfrm>
            <a:off x="2812868" y="803293"/>
            <a:ext cx="2624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Nome da instância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3BBF9D0-51E9-D4D2-D73D-F2F994328FD8}"/>
              </a:ext>
            </a:extLst>
          </p:cNvPr>
          <p:cNvSpPr txBox="1"/>
          <p:nvPr/>
        </p:nvSpPr>
        <p:spPr>
          <a:xfrm>
            <a:off x="6354830" y="803293"/>
            <a:ext cx="1172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Método</a:t>
            </a:r>
          </a:p>
        </p:txBody>
      </p:sp>
    </p:spTree>
    <p:extLst>
      <p:ext uri="{BB962C8B-B14F-4D97-AF65-F5344CB8AC3E}">
        <p14:creationId xmlns:p14="http://schemas.microsoft.com/office/powerpoint/2010/main" val="13076905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</a:t>
            </a:r>
            <a:endParaRPr lang="pt-BR" b="1" i="1" dirty="0">
              <a:solidFill>
                <a:srgbClr val="EC7016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63931"/>
            <a:ext cx="10058400" cy="3805161"/>
          </a:xfrm>
        </p:spPr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Lembrando que uma</a:t>
            </a:r>
            <a:r>
              <a:rPr lang="pt-BR" sz="3600" b="1" dirty="0"/>
              <a:t> função </a:t>
            </a:r>
            <a:r>
              <a:rPr lang="pt-BR" sz="3600" dirty="0"/>
              <a:t>que faz parte de uma classe é um </a:t>
            </a:r>
            <a:r>
              <a:rPr lang="pt-BR" sz="3600" b="1" i="1" dirty="0"/>
              <a:t>método:</a:t>
            </a:r>
            <a:endParaRPr lang="pt-BR" sz="3400" b="1" i="1" dirty="0"/>
          </a:p>
          <a:p>
            <a:endParaRPr lang="pt-BR" sz="3600" b="1" i="1" dirty="0">
              <a:solidFill>
                <a:srgbClr val="EC701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119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54F66706-8CC1-DE7F-C155-FE86CFEA5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1" y="437732"/>
            <a:ext cx="10050278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452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Classes</a:t>
            </a:r>
            <a:endParaRPr lang="pt-BR" b="1" i="1" dirty="0">
              <a:solidFill>
                <a:srgbClr val="EC7016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63931"/>
            <a:ext cx="10058400" cy="3805161"/>
          </a:xfrm>
        </p:spPr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Agora, podemos criar tantas instâncias de uma classe quantas forem necessárias:</a:t>
            </a:r>
            <a:endParaRPr lang="pt-BR" sz="3400" b="1" i="1" dirty="0"/>
          </a:p>
          <a:p>
            <a:endParaRPr lang="pt-BR" sz="3600" b="1" i="1" dirty="0">
              <a:solidFill>
                <a:srgbClr val="EC701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0444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0E14C5C-CEBC-0F3E-2002-D63D0667A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151" y="1199839"/>
            <a:ext cx="8935697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9143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A65F9F05-B803-74C2-E4FD-0F573C0D1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628" y="1185549"/>
            <a:ext cx="4972744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001726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15_TF33845126.potx" id="{07B33CC6-269C-4DD5-9017-A83AF51479F7}" vid="{03982E99-A52E-4A57-A229-288B0228341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E6371B7FBC9264EBDD394A4B019F8ED" ma:contentTypeVersion="4" ma:contentTypeDescription="Crie um novo documento." ma:contentTypeScope="" ma:versionID="af3670115510099101ea552dd9cdaa5f">
  <xsd:schema xmlns:xsd="http://www.w3.org/2001/XMLSchema" xmlns:xs="http://www.w3.org/2001/XMLSchema" xmlns:p="http://schemas.microsoft.com/office/2006/metadata/properties" xmlns:ns2="76a559d0-596e-4236-90b1-6a2a903b2075" targetNamespace="http://schemas.microsoft.com/office/2006/metadata/properties" ma:root="true" ma:fieldsID="e8be88f5e8c103b8586b4e76ca28ffe1" ns2:_="">
    <xsd:import namespace="76a559d0-596e-4236-90b1-6a2a903b20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a559d0-596e-4236-90b1-6a2a903b20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2E8FB4F-48D8-4CC6-B6CE-D591BFFDF184}"/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16c05727-aa75-4e4a-9b5f-8a80a1165891"/>
    <ds:schemaRef ds:uri="71af3243-3dd4-4a8d-8c0d-dd76da1f02a5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{D129E361-7900-47DF-B65A-C5D6D83378F0}tf33845126_win32</Template>
  <TotalTime>1322</TotalTime>
  <Words>497</Words>
  <Application>Microsoft Office PowerPoint</Application>
  <PresentationFormat>Widescreen</PresentationFormat>
  <Paragraphs>81</Paragraphs>
  <Slides>31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5" baseType="lpstr">
      <vt:lpstr>Bookman Old Style</vt:lpstr>
      <vt:lpstr>Calibri</vt:lpstr>
      <vt:lpstr>Franklin Gothic Book</vt:lpstr>
      <vt:lpstr>1_RetrospectVTI</vt:lpstr>
      <vt:lpstr>Pensamento lógico computacional com Python</vt:lpstr>
      <vt:lpstr>Classes</vt:lpstr>
      <vt:lpstr>Classes</vt:lpstr>
      <vt:lpstr>Classes</vt:lpstr>
      <vt:lpstr>Classes</vt:lpstr>
      <vt:lpstr>Bibliotecas são conjuntos de módulos</vt:lpstr>
      <vt:lpstr>Classes</vt:lpstr>
      <vt:lpstr>Classes</vt:lpstr>
      <vt:lpstr>Classes</vt:lpstr>
      <vt:lpstr>Classes</vt:lpstr>
      <vt:lpstr>Classes</vt:lpstr>
      <vt:lpstr>Apresentação do PowerPoint</vt:lpstr>
      <vt:lpstr>Classes</vt:lpstr>
      <vt:lpstr>Classes – Método __init__()</vt:lpstr>
      <vt:lpstr>Classes – Método __init__()</vt:lpstr>
      <vt:lpstr>Aqui, o método __init__() tem 3 parâmetros:</vt:lpstr>
      <vt:lpstr>O parâmetro self é obrigatório</vt:lpstr>
      <vt:lpstr>Classes</vt:lpstr>
      <vt:lpstr>Classes</vt:lpstr>
      <vt:lpstr>Utilizamos a classe Cao, criada anteriormente</vt:lpstr>
      <vt:lpstr>Classes</vt:lpstr>
      <vt:lpstr>Classes</vt:lpstr>
      <vt:lpstr>Classes</vt:lpstr>
      <vt:lpstr>Classes</vt:lpstr>
      <vt:lpstr>Classes</vt:lpstr>
      <vt:lpstr>Nome da instância e o método</vt:lpstr>
      <vt:lpstr>Classes</vt:lpstr>
      <vt:lpstr>Apresentação do PowerPoint</vt:lpstr>
      <vt:lpstr>Classes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software para Internet</dc:title>
  <dc:creator>Flávio Waltz</dc:creator>
  <cp:lastModifiedBy>Flávio Waltz</cp:lastModifiedBy>
  <cp:revision>70</cp:revision>
  <dcterms:created xsi:type="dcterms:W3CDTF">2022-08-15T17:51:41Z</dcterms:created>
  <dcterms:modified xsi:type="dcterms:W3CDTF">2025-04-22T18:53:23Z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0x010100CE6371B7FBC9264EBDD394A4B019F8ED</vt:lpwstr>
  </property>
</Properties>
</file>