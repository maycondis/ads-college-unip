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3"/>
  </p:notesMasterIdLst>
  <p:handoutMasterIdLst>
    <p:handoutMasterId r:id="rId34"/>
  </p:handoutMasterIdLst>
  <p:sldIdLst>
    <p:sldId id="351" r:id="rId5"/>
    <p:sldId id="322" r:id="rId6"/>
    <p:sldId id="323" r:id="rId7"/>
    <p:sldId id="324" r:id="rId8"/>
    <p:sldId id="330" r:id="rId9"/>
    <p:sldId id="326" r:id="rId10"/>
    <p:sldId id="327" r:id="rId11"/>
    <p:sldId id="329" r:id="rId12"/>
    <p:sldId id="328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2" r:id="rId3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9090"/>
    <a:srgbClr val="5A5A5A"/>
    <a:srgbClr val="EC7016"/>
    <a:srgbClr val="1E1E1E"/>
    <a:srgbClr val="FFDA00"/>
    <a:srgbClr val="CE9178"/>
    <a:srgbClr val="DCDCAA"/>
    <a:srgbClr val="383838"/>
    <a:srgbClr val="FFFFFF"/>
    <a:srgbClr val="EDF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5B2D3-DD3B-FFF0-3652-0443514D4B7C}" v="2" dt="2025-04-02T20:35:31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68" d="100"/>
          <a:sy n="68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NA QUERES" userId="S::giovanna.queres@aluno.unip.br::26c96dc3-5440-4cdd-82c8-b16bf5756053" providerId="AD" clId="Web-{0DA5B2D3-DD3B-FFF0-3652-0443514D4B7C}"/>
    <pc:docChg chg="modSld">
      <pc:chgData name="GIOVANNA QUERES" userId="S::giovanna.queres@aluno.unip.br::26c96dc3-5440-4cdd-82c8-b16bf5756053" providerId="AD" clId="Web-{0DA5B2D3-DD3B-FFF0-3652-0443514D4B7C}" dt="2025-04-02T20:35:31.073" v="1" actId="1076"/>
      <pc:docMkLst>
        <pc:docMk/>
      </pc:docMkLst>
      <pc:sldChg chg="modSp">
        <pc:chgData name="GIOVANNA QUERES" userId="S::giovanna.queres@aluno.unip.br::26c96dc3-5440-4cdd-82c8-b16bf5756053" providerId="AD" clId="Web-{0DA5B2D3-DD3B-FFF0-3652-0443514D4B7C}" dt="2025-04-02T20:35:31.073" v="1" actId="1076"/>
        <pc:sldMkLst>
          <pc:docMk/>
          <pc:sldMk cId="3093961715" sldId="343"/>
        </pc:sldMkLst>
        <pc:picChg chg="mod">
          <ac:chgData name="GIOVANNA QUERES" userId="S::giovanna.queres@aluno.unip.br::26c96dc3-5440-4cdd-82c8-b16bf5756053" providerId="AD" clId="Web-{0DA5B2D3-DD3B-FFF0-3652-0443514D4B7C}" dt="2025-04-02T20:35:31.073" v="1" actId="1076"/>
          <ac:picMkLst>
            <pc:docMk/>
            <pc:sldMk cId="3093961715" sldId="343"/>
            <ac:picMk id="8" creationId="{BEDCB640-F520-2503-E3F9-E3F6A7838F2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10/04/2025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 dirty="0"/>
              <a:t>Clique no ícone para adicionar uma imagem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10/04/2025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408819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Pensamento lógico computacional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7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Funções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600" dirty="0"/>
          </a:p>
          <a:p>
            <a:r>
              <a:rPr lang="pt-BR" sz="3600" dirty="0"/>
              <a:t>Blocos de código nomeados, concebidos para realizar uma tarefa específica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79731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7767DFE-DFFD-8FE8-A7F0-ED17663B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1657102"/>
            <a:ext cx="7430537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8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C884F97-B11D-83E9-03CE-582DD521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3" y="1933366"/>
            <a:ext cx="9983593" cy="2991267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4D8415AD-AB10-AE2D-8FD0-25C1F779D441}"/>
              </a:ext>
            </a:extLst>
          </p:cNvPr>
          <p:cNvSpPr/>
          <p:nvPr/>
        </p:nvSpPr>
        <p:spPr>
          <a:xfrm rot="10800000">
            <a:off x="2821578" y="4700419"/>
            <a:ext cx="235132" cy="6879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3FC7A6-EB9A-0E40-7E13-B7F0816C71D0}"/>
              </a:ext>
            </a:extLst>
          </p:cNvPr>
          <p:cNvSpPr txBox="1"/>
          <p:nvPr/>
        </p:nvSpPr>
        <p:spPr>
          <a:xfrm>
            <a:off x="1844040" y="5388396"/>
            <a:ext cx="2190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docstring</a:t>
            </a:r>
            <a:endParaRPr lang="pt-BR" sz="36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37D1B14-5DC3-B59C-93C4-837C32FB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1483893"/>
            <a:ext cx="10317015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8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37D1B14-5DC3-B59C-93C4-837C32FB7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1483893"/>
            <a:ext cx="10317015" cy="3419952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0FC7F2F7-353A-361B-6B0F-22FA954F2DC8}"/>
              </a:ext>
            </a:extLst>
          </p:cNvPr>
          <p:cNvSpPr/>
          <p:nvPr/>
        </p:nvSpPr>
        <p:spPr>
          <a:xfrm>
            <a:off x="5495107" y="988452"/>
            <a:ext cx="235132" cy="6879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5874F7-E417-1068-27E0-1B2BB64694A7}"/>
              </a:ext>
            </a:extLst>
          </p:cNvPr>
          <p:cNvSpPr txBox="1"/>
          <p:nvPr/>
        </p:nvSpPr>
        <p:spPr>
          <a:xfrm>
            <a:off x="2602772" y="266676"/>
            <a:ext cx="6019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Parâmetro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3B93000E-BE56-41EA-3FB6-FADC2B61070C}"/>
              </a:ext>
            </a:extLst>
          </p:cNvPr>
          <p:cNvSpPr/>
          <p:nvPr/>
        </p:nvSpPr>
        <p:spPr>
          <a:xfrm rot="10800000">
            <a:off x="4619896" y="3962312"/>
            <a:ext cx="235132" cy="13499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CC09A4-AB30-34D8-0749-0A981CD3D614}"/>
              </a:ext>
            </a:extLst>
          </p:cNvPr>
          <p:cNvSpPr txBox="1"/>
          <p:nvPr/>
        </p:nvSpPr>
        <p:spPr>
          <a:xfrm>
            <a:off x="1727560" y="5374107"/>
            <a:ext cx="6019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Argumento</a:t>
            </a:r>
          </a:p>
        </p:txBody>
      </p:sp>
    </p:spTree>
    <p:extLst>
      <p:ext uri="{BB962C8B-B14F-4D97-AF65-F5344CB8AC3E}">
        <p14:creationId xmlns:p14="http://schemas.microsoft.com/office/powerpoint/2010/main" val="3919345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dirty="0"/>
              <a:t>Funções – Argumentos posicionais</a:t>
            </a:r>
            <a:endParaRPr lang="pt-BR" sz="4600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Usar uma </a:t>
            </a:r>
            <a:r>
              <a:rPr lang="pt-BR" sz="3600" b="1" dirty="0"/>
              <a:t>ordem específica </a:t>
            </a:r>
            <a:r>
              <a:rPr lang="pt-BR" sz="3600" dirty="0"/>
              <a:t>para associar argumentos e parâmetros</a:t>
            </a:r>
          </a:p>
        </p:txBody>
      </p:sp>
    </p:spTree>
    <p:extLst>
      <p:ext uri="{BB962C8B-B14F-4D97-AF65-F5344CB8AC3E}">
        <p14:creationId xmlns:p14="http://schemas.microsoft.com/office/powerpoint/2010/main" val="3687824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8FB4B9-2F1B-E966-1090-44A8528EC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751"/>
            <a:ext cx="12192000" cy="259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32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8FB4B9-2F1B-E966-1090-44A8528EC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751"/>
            <a:ext cx="12192000" cy="2597874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0FC7F2F7-353A-361B-6B0F-22FA954F2DC8}"/>
              </a:ext>
            </a:extLst>
          </p:cNvPr>
          <p:cNvSpPr/>
          <p:nvPr/>
        </p:nvSpPr>
        <p:spPr>
          <a:xfrm>
            <a:off x="3112223" y="1027166"/>
            <a:ext cx="235132" cy="6879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B5874F7-E417-1068-27E0-1B2BB64694A7}"/>
              </a:ext>
            </a:extLst>
          </p:cNvPr>
          <p:cNvSpPr txBox="1"/>
          <p:nvPr/>
        </p:nvSpPr>
        <p:spPr>
          <a:xfrm>
            <a:off x="2985949" y="266676"/>
            <a:ext cx="6019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1           2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3B93000E-BE56-41EA-3FB6-FADC2B61070C}"/>
              </a:ext>
            </a:extLst>
          </p:cNvPr>
          <p:cNvSpPr/>
          <p:nvPr/>
        </p:nvSpPr>
        <p:spPr>
          <a:xfrm rot="10800000">
            <a:off x="2155371" y="3414294"/>
            <a:ext cx="235132" cy="13499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CC09A4-AB30-34D8-0749-0A981CD3D614}"/>
              </a:ext>
            </a:extLst>
          </p:cNvPr>
          <p:cNvSpPr txBox="1"/>
          <p:nvPr/>
        </p:nvSpPr>
        <p:spPr>
          <a:xfrm>
            <a:off x="2041070" y="4869660"/>
            <a:ext cx="6019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1             2</a:t>
            </a: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69DA4CD6-0397-1D83-719D-B012E30C0E63}"/>
              </a:ext>
            </a:extLst>
          </p:cNvPr>
          <p:cNvSpPr/>
          <p:nvPr/>
        </p:nvSpPr>
        <p:spPr>
          <a:xfrm>
            <a:off x="4619894" y="1027166"/>
            <a:ext cx="235132" cy="6879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0E113A5E-A30E-9DF7-3D97-53F7807306AD}"/>
              </a:ext>
            </a:extLst>
          </p:cNvPr>
          <p:cNvSpPr/>
          <p:nvPr/>
        </p:nvSpPr>
        <p:spPr>
          <a:xfrm rot="10800000">
            <a:off x="3918854" y="3414294"/>
            <a:ext cx="235132" cy="13499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897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5862CDC-DC2B-6B9A-344D-93504B7EA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2181051"/>
            <a:ext cx="8183117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7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F1D716-8895-B3E6-1C1F-002473EE6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2190577"/>
            <a:ext cx="8040222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85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dirty="0"/>
              <a:t>Funções – Argumentos nomeados</a:t>
            </a:r>
            <a:endParaRPr lang="pt-BR" sz="4600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Ou </a:t>
            </a:r>
            <a:r>
              <a:rPr lang="pt-BR" sz="3600" b="1" i="1" dirty="0" err="1"/>
              <a:t>keyword</a:t>
            </a:r>
            <a:r>
              <a:rPr lang="pt-BR" sz="3600" b="1" i="1" dirty="0"/>
              <a:t> </a:t>
            </a:r>
            <a:r>
              <a:rPr lang="pt-BR" sz="3600" b="1" i="1" dirty="0" err="1"/>
              <a:t>arguments</a:t>
            </a:r>
            <a:r>
              <a:rPr lang="pt-BR" sz="3600" b="1" dirty="0"/>
              <a:t>, </a:t>
            </a:r>
            <a:r>
              <a:rPr lang="pt-BR" sz="3600" dirty="0"/>
              <a:t>é um par nome-valor passado para uma função</a:t>
            </a:r>
          </a:p>
        </p:txBody>
      </p:sp>
    </p:spTree>
    <p:extLst>
      <p:ext uri="{BB962C8B-B14F-4D97-AF65-F5344CB8AC3E}">
        <p14:creationId xmlns:p14="http://schemas.microsoft.com/office/powerpoint/2010/main" val="18893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AC14622-323F-07EF-9F50-4D177EB60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2557341"/>
            <a:ext cx="8773749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76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dirty="0"/>
              <a:t>Funções – Valores </a:t>
            </a:r>
            <a:r>
              <a:rPr lang="pt-BR" sz="4600" i="1" dirty="0"/>
              <a:t>default</a:t>
            </a:r>
            <a:endParaRPr lang="pt-BR" sz="4600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Se nenhum argumento for especificado para um parâmetro da função, </a:t>
            </a:r>
            <a:r>
              <a:rPr lang="pt-BR" sz="3600" b="1" dirty="0"/>
              <a:t>um valor padrão (</a:t>
            </a:r>
            <a:r>
              <a:rPr lang="pt-BR" sz="3600" b="1" i="1" dirty="0"/>
              <a:t>default</a:t>
            </a:r>
            <a:r>
              <a:rPr lang="pt-BR" sz="3600" b="1" dirty="0"/>
              <a:t>) será utilizado</a:t>
            </a:r>
          </a:p>
        </p:txBody>
      </p:sp>
    </p:spTree>
    <p:extLst>
      <p:ext uri="{BB962C8B-B14F-4D97-AF65-F5344CB8AC3E}">
        <p14:creationId xmlns:p14="http://schemas.microsoft.com/office/powerpoint/2010/main" val="3930000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7874C50-CF1D-781F-CC54-7782E768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1752"/>
            <a:ext cx="12192000" cy="263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43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7874C50-CF1D-781F-CC54-7782E768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1752"/>
            <a:ext cx="12192000" cy="2634495"/>
          </a:xfrm>
          <a:prstGeom prst="rect">
            <a:avLst/>
          </a:prstGeom>
        </p:spPr>
      </p:pic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DDF2E5D9-A704-79E2-DE2D-8B044549ACDF}"/>
              </a:ext>
            </a:extLst>
          </p:cNvPr>
          <p:cNvSpPr/>
          <p:nvPr/>
        </p:nvSpPr>
        <p:spPr>
          <a:xfrm>
            <a:off x="5978434" y="1598052"/>
            <a:ext cx="235132" cy="6879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67BB807-4ED1-93AB-9F3D-49D90A45BB22}"/>
              </a:ext>
            </a:extLst>
          </p:cNvPr>
          <p:cNvSpPr txBox="1"/>
          <p:nvPr/>
        </p:nvSpPr>
        <p:spPr>
          <a:xfrm>
            <a:off x="3086099" y="876276"/>
            <a:ext cx="6019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Valor </a:t>
            </a:r>
            <a:r>
              <a:rPr lang="pt-BR" sz="36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default </a:t>
            </a:r>
            <a:r>
              <a:rPr lang="pt-BR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definido</a:t>
            </a:r>
          </a:p>
        </p:txBody>
      </p:sp>
    </p:spTree>
    <p:extLst>
      <p:ext uri="{BB962C8B-B14F-4D97-AF65-F5344CB8AC3E}">
        <p14:creationId xmlns:p14="http://schemas.microsoft.com/office/powerpoint/2010/main" val="238539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B53E70A-478A-A1B7-B1DB-9F989BB6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4242"/>
            <a:ext cx="12192000" cy="260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03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dirty="0"/>
              <a:t>Funções – Valores de retorno</a:t>
            </a:r>
            <a:endParaRPr lang="pt-BR" sz="46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Uma função nem sempre precisa exibir sua saída diretamente</a:t>
            </a:r>
          </a:p>
        </p:txBody>
      </p:sp>
    </p:spTree>
    <p:extLst>
      <p:ext uri="{BB962C8B-B14F-4D97-AF65-F5344CB8AC3E}">
        <p14:creationId xmlns:p14="http://schemas.microsoft.com/office/powerpoint/2010/main" val="1776335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dirty="0"/>
              <a:t>Funções – Valores de retorno</a:t>
            </a:r>
            <a:endParaRPr lang="pt-BR" sz="46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Ela pode processar alguns dados e então devolver um valor ou um conjunto de valores</a:t>
            </a:r>
          </a:p>
        </p:txBody>
      </p:sp>
    </p:spTree>
    <p:extLst>
      <p:ext uri="{BB962C8B-B14F-4D97-AF65-F5344CB8AC3E}">
        <p14:creationId xmlns:p14="http://schemas.microsoft.com/office/powerpoint/2010/main" val="3591191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dirty="0"/>
              <a:t>Funções – Valores de retorno</a:t>
            </a:r>
            <a:endParaRPr lang="pt-BR" sz="46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O valor devolvido pela função é chamado de </a:t>
            </a:r>
            <a:r>
              <a:rPr lang="pt-BR" sz="3600" b="1" i="1" dirty="0"/>
              <a:t>valor de retorno</a:t>
            </a:r>
          </a:p>
        </p:txBody>
      </p:sp>
    </p:spTree>
    <p:extLst>
      <p:ext uri="{BB962C8B-B14F-4D97-AF65-F5344CB8AC3E}">
        <p14:creationId xmlns:p14="http://schemas.microsoft.com/office/powerpoint/2010/main" val="2043018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EDCB640-F520-2503-E3F9-E3F6A7838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282" y="0"/>
            <a:ext cx="7153673" cy="4578350"/>
          </a:xfrm>
          <a:prstGeom prst="rect">
            <a:avLst/>
          </a:prstGeom>
          <a:noFill/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1F3ADA1-1F8C-5EF9-6C94-6C094959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r>
              <a:rPr lang="en-US" dirty="0"/>
              <a:t>Essa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b="1" dirty="0" err="1"/>
              <a:t>mostra</a:t>
            </a:r>
            <a:r>
              <a:rPr lang="en-US" dirty="0"/>
              <a:t> (print) um valor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8A0B0A7-C550-DB9F-A261-BA0C9B77F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961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43E63EC-EFC5-0E3B-3E57-381B35422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448" y="0"/>
            <a:ext cx="7997119" cy="4578350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832C4B1-32E9-2382-F49D-A90C8FDA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r>
              <a:rPr lang="en-US" dirty="0"/>
              <a:t>Essa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b="1" dirty="0" err="1"/>
              <a:t>retorna</a:t>
            </a:r>
            <a:r>
              <a:rPr lang="en-US" dirty="0"/>
              <a:t> (return) um valor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2BEF2B4-CA43-8464-B8CD-57731BDC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72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dirty="0"/>
              <a:t>Funções – Argumento opcional</a:t>
            </a:r>
            <a:endParaRPr lang="pt-BR" sz="46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Permite que o usuário opte por fornecer ou não informações extras se quiser</a:t>
            </a: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2178291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E1C92A91-2E26-D93C-6DCF-DB44DA78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24" y="197100"/>
            <a:ext cx="9678751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87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600" dirty="0"/>
              <a:t>Funções e laços </a:t>
            </a:r>
            <a:r>
              <a:rPr lang="pt-BR" sz="4600" i="1" dirty="0" err="1"/>
              <a:t>while</a:t>
            </a:r>
            <a:endParaRPr lang="pt-BR" sz="4600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/>
              <a:t>Misturando o que vimos até agora</a:t>
            </a:r>
            <a:endParaRPr lang="pt-BR" sz="3600" b="1" i="1" dirty="0"/>
          </a:p>
        </p:txBody>
      </p:sp>
    </p:spTree>
    <p:extLst>
      <p:ext uri="{BB962C8B-B14F-4D97-AF65-F5344CB8AC3E}">
        <p14:creationId xmlns:p14="http://schemas.microsoft.com/office/powerpoint/2010/main" val="619303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34D2CD0-A0AE-95B0-DD20-C471CF5D9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2495419"/>
            <a:ext cx="7487695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5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20BF6D-971C-1CD2-1639-063750FA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644"/>
            <a:ext cx="12192000" cy="581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87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A224DA1-821F-FA26-C381-2BD90A34FF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31" t="42663" r="40462" b="16907"/>
          <a:stretch/>
        </p:blipFill>
        <p:spPr>
          <a:xfrm>
            <a:off x="0" y="0"/>
            <a:ext cx="12192000" cy="625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5458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6371B7FBC9264EBDD394A4B019F8ED" ma:contentTypeVersion="4" ma:contentTypeDescription="Crie um novo documento." ma:contentTypeScope="" ma:versionID="af3670115510099101ea552dd9cdaa5f">
  <xsd:schema xmlns:xsd="http://www.w3.org/2001/XMLSchema" xmlns:xs="http://www.w3.org/2001/XMLSchema" xmlns:p="http://schemas.microsoft.com/office/2006/metadata/properties" xmlns:ns2="76a559d0-596e-4236-90b1-6a2a903b2075" targetNamespace="http://schemas.microsoft.com/office/2006/metadata/properties" ma:root="true" ma:fieldsID="e8be88f5e8c103b8586b4e76ca28ffe1" ns2:_="">
    <xsd:import namespace="76a559d0-596e-4236-90b1-6a2a903b2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559d0-596e-4236-90b1-6a2a903b2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D1C378-651E-4440-909F-280846F1D71B}"/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1131</TotalTime>
  <Words>177</Words>
  <Application>Microsoft Office PowerPoint</Application>
  <PresentationFormat>Widescreen</PresentationFormat>
  <Paragraphs>38</Paragraphs>
  <Slides>28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Bookman Old Style</vt:lpstr>
      <vt:lpstr>Calibri</vt:lpstr>
      <vt:lpstr>Franklin Gothic Book</vt:lpstr>
      <vt:lpstr>1_RetrospectVTI</vt:lpstr>
      <vt:lpstr>Pensamento lógico computacional com Python</vt:lpstr>
      <vt:lpstr>Funções</vt:lpstr>
      <vt:lpstr>Apresentação do PowerPoint</vt:lpstr>
      <vt:lpstr>Apresentação do PowerPoint</vt:lpstr>
      <vt:lpstr>Apresentação do PowerPoint</vt:lpstr>
      <vt:lpstr>Apresentação do PowerPoint</vt:lpstr>
      <vt:lpstr>Funções – Argumentos posicionais</vt:lpstr>
      <vt:lpstr>Apresentação do PowerPoint</vt:lpstr>
      <vt:lpstr>Apresentação do PowerPoint</vt:lpstr>
      <vt:lpstr>Apresentação do PowerPoint</vt:lpstr>
      <vt:lpstr>Apresentação do PowerPoint</vt:lpstr>
      <vt:lpstr>Funções – Argumentos nomeados</vt:lpstr>
      <vt:lpstr>Apresentação do PowerPoint</vt:lpstr>
      <vt:lpstr>Funções – Valores default</vt:lpstr>
      <vt:lpstr>Apresentação do PowerPoint</vt:lpstr>
      <vt:lpstr>Apresentação do PowerPoint</vt:lpstr>
      <vt:lpstr>Apresentação do PowerPoint</vt:lpstr>
      <vt:lpstr>Funções – Valores de retorno</vt:lpstr>
      <vt:lpstr>Funções – Valores de retorno</vt:lpstr>
      <vt:lpstr>Funções – Valores de retorno</vt:lpstr>
      <vt:lpstr>Essa função mostra (print) um valor</vt:lpstr>
      <vt:lpstr>Essa função retorna (return) um valor</vt:lpstr>
      <vt:lpstr>Funções – Argumento opcional</vt:lpstr>
      <vt:lpstr>Apresentação do PowerPoint</vt:lpstr>
      <vt:lpstr>Funções e laços while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65</cp:revision>
  <dcterms:created xsi:type="dcterms:W3CDTF">2022-08-15T17:51:41Z</dcterms:created>
  <dcterms:modified xsi:type="dcterms:W3CDTF">2025-04-10T11:06:52Z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0x010100CE6371B7FBC9264EBDD394A4B019F8ED</vt:lpwstr>
  </property>
</Properties>
</file>