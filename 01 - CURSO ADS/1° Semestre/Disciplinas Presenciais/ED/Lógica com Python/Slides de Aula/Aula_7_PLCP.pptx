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47"/>
  </p:notesMasterIdLst>
  <p:handoutMasterIdLst>
    <p:handoutMasterId r:id="rId48"/>
  </p:handoutMasterIdLst>
  <p:sldIdLst>
    <p:sldId id="365" r:id="rId5"/>
    <p:sldId id="323" r:id="rId6"/>
    <p:sldId id="324" r:id="rId7"/>
    <p:sldId id="325" r:id="rId8"/>
    <p:sldId id="326" r:id="rId9"/>
    <p:sldId id="327" r:id="rId10"/>
    <p:sldId id="328" r:id="rId11"/>
    <p:sldId id="329" r:id="rId12"/>
    <p:sldId id="330" r:id="rId13"/>
    <p:sldId id="334" r:id="rId14"/>
    <p:sldId id="331" r:id="rId15"/>
    <p:sldId id="333" r:id="rId16"/>
    <p:sldId id="335" r:id="rId17"/>
    <p:sldId id="341" r:id="rId18"/>
    <p:sldId id="336" r:id="rId19"/>
    <p:sldId id="337" r:id="rId20"/>
    <p:sldId id="338" r:id="rId21"/>
    <p:sldId id="340" r:id="rId22"/>
    <p:sldId id="339" r:id="rId23"/>
    <p:sldId id="342" r:id="rId24"/>
    <p:sldId id="343" r:id="rId25"/>
    <p:sldId id="344" r:id="rId26"/>
    <p:sldId id="345" r:id="rId27"/>
    <p:sldId id="346" r:id="rId28"/>
    <p:sldId id="347" r:id="rId29"/>
    <p:sldId id="348" r:id="rId30"/>
    <p:sldId id="349" r:id="rId31"/>
    <p:sldId id="350" r:id="rId32"/>
    <p:sldId id="351" r:id="rId33"/>
    <p:sldId id="352" r:id="rId34"/>
    <p:sldId id="353" r:id="rId35"/>
    <p:sldId id="354" r:id="rId36"/>
    <p:sldId id="355" r:id="rId37"/>
    <p:sldId id="356" r:id="rId38"/>
    <p:sldId id="357" r:id="rId39"/>
    <p:sldId id="358" r:id="rId40"/>
    <p:sldId id="359" r:id="rId41"/>
    <p:sldId id="360" r:id="rId42"/>
    <p:sldId id="361" r:id="rId43"/>
    <p:sldId id="362" r:id="rId44"/>
    <p:sldId id="363" r:id="rId45"/>
    <p:sldId id="364" r:id="rId46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  <a:srgbClr val="EC7016"/>
    <a:srgbClr val="909090"/>
    <a:srgbClr val="5A5A5A"/>
    <a:srgbClr val="1E1E1E"/>
    <a:srgbClr val="FFDA00"/>
    <a:srgbClr val="CE9178"/>
    <a:srgbClr val="DCDCAA"/>
    <a:srgbClr val="38383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4619" autoAdjust="0"/>
  </p:normalViewPr>
  <p:slideViewPr>
    <p:cSldViewPr snapToGrid="0">
      <p:cViewPr varScale="1">
        <p:scale>
          <a:sx n="70" d="100"/>
          <a:sy n="70" d="100"/>
        </p:scale>
        <p:origin x="85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494" y="8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9935E2-E7C1-4ED2-91A8-3D2EF90039F0}" type="datetimeFigureOut">
              <a:rPr lang="pt-BR" smtClean="0"/>
              <a:t>22/04/2025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27CB4-B6D2-4E90-9CC1-824CE88DA95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37642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6FA47-21D5-4047-9471-F01A728B28BE}" type="datetimeFigureOut">
              <a:rPr lang="pt-BR" noProof="0" smtClean="0"/>
              <a:t>22/04/2025</a:t>
            </a:fld>
            <a:endParaRPr lang="pt-BR" noProof="0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/>
            <a:r>
              <a:rPr lang="pt-BR" noProof="0" dirty="0"/>
              <a:t>Segundo nível</a:t>
            </a:r>
          </a:p>
          <a:p>
            <a:pPr lvl="2"/>
            <a:r>
              <a:rPr lang="pt-BR" noProof="0" dirty="0"/>
              <a:t>Terceiro nível</a:t>
            </a:r>
          </a:p>
          <a:p>
            <a:pPr lvl="3"/>
            <a:r>
              <a:rPr lang="pt-BR" noProof="0" dirty="0"/>
              <a:t>Quarto nível</a:t>
            </a:r>
          </a:p>
          <a:p>
            <a:pPr lvl="4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501BF-1D2B-4868-94EC-1ACE4360F5A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587417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3501BF-1D2B-4868-94EC-1ACE4360F5AC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3748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 noProof="0"/>
              <a:t>Clique para editar o estilo do subtítulo Mestre</a:t>
            </a:r>
            <a:endParaRPr lang="pt-BR" noProof="0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A058210-3CDA-4DDA-8356-4FED81F3EC11}" type="datetime1">
              <a:rPr lang="pt-BR" noProof="0" smtClean="0"/>
              <a:t>22/04/2025</a:t>
            </a:fld>
            <a:endParaRPr lang="pt-BR" noProof="0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0A45F5-F797-498C-8B7A-1AAECBDA6E61}" type="datetime1">
              <a:rPr lang="pt-BR" noProof="0" smtClean="0"/>
              <a:t>22/04/2025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29AE4E-7FCD-4AA8-8737-FC932D28D25C}" type="datetime1">
              <a:rPr lang="pt-BR" noProof="0" smtClean="0"/>
              <a:t>22/04/2025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469966-2CA8-44E6-8B22-84BCFB10A849}" type="datetime1">
              <a:rPr lang="pt-BR" noProof="0" smtClean="0"/>
              <a:t>22/04/2025</a:t>
            </a:fld>
            <a:endParaRPr lang="pt-BR" noProof="0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BCC592-1277-433B-ABE2-7821BB8F5F47}" type="datetime1">
              <a:rPr lang="pt-BR" noProof="0" smtClean="0"/>
              <a:t>22/04/2025</a:t>
            </a:fld>
            <a:endParaRPr lang="pt-BR" noProof="0" dirty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D34C60-AB26-43CA-BC61-01B53B651217}" type="datetime1">
              <a:rPr lang="pt-BR" noProof="0" smtClean="0"/>
              <a:t>22/04/2025</a:t>
            </a:fld>
            <a:endParaRPr lang="pt-BR" noProof="0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29BC98-DC8A-4339-9F6E-A49DA685FCB7}" type="datetime1">
              <a:rPr lang="pt-BR" noProof="0" smtClean="0"/>
              <a:t>22/04/2025</a:t>
            </a:fld>
            <a:endParaRPr lang="pt-BR" noProof="0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 rtl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 dirty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BA6BBE74-918B-43BF-B29E-5C4A628D9277}" type="datetime1">
              <a:rPr lang="pt-BR" noProof="0" smtClean="0"/>
              <a:t>22/04/2025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 dirty="0"/>
              <a:t>Clique no ícone para adicionar uma imagem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0A1C5B49-891F-4320-82CB-3E8E2B9DD127}" type="datetime1">
              <a:rPr lang="pt-BR" noProof="0" smtClean="0"/>
              <a:t>22/04/2025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BA7412EA-3900-4FDB-8760-09BB6255EE2A}" type="datetime1">
              <a:rPr lang="pt-BR" noProof="0" smtClean="0"/>
              <a:t>22/04/2025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408819" cy="3686015"/>
          </a:xfrm>
        </p:spPr>
        <p:txBody>
          <a:bodyPr rtlCol="0">
            <a:noAutofit/>
          </a:bodyPr>
          <a:lstStyle/>
          <a:p>
            <a:r>
              <a:rPr lang="pt-BR" sz="5400" dirty="0"/>
              <a:t>Pensamento lógico computacional com Python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 rtlCol="0">
            <a:normAutofit/>
          </a:bodyPr>
          <a:lstStyle/>
          <a:p>
            <a:pPr rtl="0"/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Prof. Flávio Waltz</a:t>
            </a:r>
          </a:p>
        </p:txBody>
      </p:sp>
      <p:pic>
        <p:nvPicPr>
          <p:cNvPr id="13" name="Imagem 12" descr="Logotipo&#10;&#10;Descrição gerada automaticamente">
            <a:extLst>
              <a:ext uri="{FF2B5EF4-FFF2-40B4-BE49-F238E27FC236}">
                <a16:creationId xmlns:a16="http://schemas.microsoft.com/office/drawing/2014/main" id="{00BC911C-ACE2-4EFB-A0CE-485B21E0D3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2898" y="4846553"/>
            <a:ext cx="1773372" cy="1773372"/>
          </a:xfrm>
          <a:prstGeom prst="rect">
            <a:avLst/>
          </a:prstGeom>
        </p:spPr>
      </p:pic>
      <p:pic>
        <p:nvPicPr>
          <p:cNvPr id="5" name="Imagem 4" descr="Ícone&#10;&#10;Descrição gerada automaticamente">
            <a:extLst>
              <a:ext uri="{FF2B5EF4-FFF2-40B4-BE49-F238E27FC236}">
                <a16:creationId xmlns:a16="http://schemas.microsoft.com/office/drawing/2014/main" id="{E09A70B3-11B4-7BBC-14D1-CD257272C38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9770"/>
          <a:stretch/>
        </p:blipFill>
        <p:spPr>
          <a:xfrm>
            <a:off x="7200168" y="1366357"/>
            <a:ext cx="4171950" cy="4125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279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Classes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Trabalhando com Classes e Instâncias</a:t>
            </a:r>
          </a:p>
          <a:p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3276131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1218E5C-66EF-AF26-078B-3E37E209F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428" y="0"/>
            <a:ext cx="10011143" cy="639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080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Classes - Definindo um valor </a:t>
            </a:r>
            <a:r>
              <a:rPr lang="pt-BR" sz="4800" i="1" dirty="0"/>
              <a:t>default</a:t>
            </a:r>
            <a:r>
              <a:rPr lang="pt-BR" sz="4800" dirty="0"/>
              <a:t> para um atributo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Todo atributo de uma classe precisa de um valor inicial, mesmo que esse valor seja 0 (zero) ou uma </a:t>
            </a:r>
            <a:r>
              <a:rPr lang="pt-BR" sz="3600" dirty="0" err="1"/>
              <a:t>string</a:t>
            </a:r>
            <a:r>
              <a:rPr lang="pt-BR" sz="3600" dirty="0"/>
              <a:t> vazia.</a:t>
            </a:r>
          </a:p>
          <a:p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1061825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Classes - Definindo um valor </a:t>
            </a:r>
            <a:r>
              <a:rPr lang="pt-BR" sz="4800" i="1" dirty="0"/>
              <a:t>default</a:t>
            </a:r>
            <a:r>
              <a:rPr lang="pt-BR" sz="4800" dirty="0"/>
              <a:t> para um atributo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Quando definimos um valor </a:t>
            </a:r>
            <a:r>
              <a:rPr lang="pt-BR" sz="3600" i="1" dirty="0"/>
              <a:t>default</a:t>
            </a:r>
            <a:r>
              <a:rPr lang="pt-BR" sz="3600" dirty="0"/>
              <a:t>, faz sentido especificar esse valor inicial no corpo do método </a:t>
            </a:r>
            <a:r>
              <a:rPr lang="pt-BR" sz="3600" b="1" dirty="0">
                <a:solidFill>
                  <a:schemeClr val="accent1"/>
                </a:solidFill>
              </a:rPr>
              <a:t>__</a:t>
            </a:r>
            <a:r>
              <a:rPr lang="pt-BR" sz="3600" b="1" dirty="0" err="1">
                <a:solidFill>
                  <a:schemeClr val="accent1"/>
                </a:solidFill>
              </a:rPr>
              <a:t>init</a:t>
            </a:r>
            <a:r>
              <a:rPr lang="pt-BR" sz="3600" b="1" dirty="0">
                <a:solidFill>
                  <a:schemeClr val="accent1"/>
                </a:solidFill>
              </a:rPr>
              <a:t>__()</a:t>
            </a:r>
          </a:p>
          <a:p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663320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D9BDB16D-E1A7-E830-344D-83B3CAA83A75}"/>
              </a:ext>
            </a:extLst>
          </p:cNvPr>
          <p:cNvSpPr/>
          <p:nvPr/>
        </p:nvSpPr>
        <p:spPr>
          <a:xfrm>
            <a:off x="388994" y="3039290"/>
            <a:ext cx="609600" cy="3548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B3212170-AF13-C436-07CB-74889B4F63D7}"/>
              </a:ext>
            </a:extLst>
          </p:cNvPr>
          <p:cNvSpPr/>
          <p:nvPr/>
        </p:nvSpPr>
        <p:spPr>
          <a:xfrm>
            <a:off x="388994" y="5699757"/>
            <a:ext cx="609600" cy="3548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5ECBCCD-CCBE-C856-3CA8-8919D1D1C6A1}"/>
              </a:ext>
            </a:extLst>
          </p:cNvPr>
          <p:cNvSpPr/>
          <p:nvPr/>
        </p:nvSpPr>
        <p:spPr>
          <a:xfrm>
            <a:off x="0" y="6217920"/>
            <a:ext cx="998594" cy="640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67652E73-3410-9384-B748-3FFA75755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94" y="0"/>
            <a:ext cx="111934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667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E64487D-5471-CA5A-42D5-C44211538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362" y="1676155"/>
            <a:ext cx="8783276" cy="350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570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Classes – Modificando valores de atributos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pt-BR" sz="3600" dirty="0"/>
          </a:p>
          <a:p>
            <a:r>
              <a:rPr lang="pt-BR" sz="3600" dirty="0"/>
              <a:t>Podemos modificar de três maneiras: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3600" b="1" dirty="0">
                <a:solidFill>
                  <a:srgbClr val="404040"/>
                </a:solidFill>
              </a:rPr>
              <a:t>Diretamente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3600" b="1" dirty="0">
                <a:solidFill>
                  <a:srgbClr val="404040"/>
                </a:solidFill>
              </a:rPr>
              <a:t>Com um método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3600" b="1" dirty="0">
                <a:solidFill>
                  <a:srgbClr val="404040"/>
                </a:solidFill>
              </a:rPr>
              <a:t>Incrementando o valor</a:t>
            </a:r>
          </a:p>
          <a:p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3759415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Classes – Modificando valores de atributos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pPr marL="742950" indent="-742950">
              <a:buFont typeface="+mj-lt"/>
              <a:buAutoNum type="arabicPeriod"/>
            </a:pPr>
            <a:r>
              <a:rPr lang="pt-BR" sz="3600" b="1" dirty="0">
                <a:solidFill>
                  <a:srgbClr val="404040"/>
                </a:solidFill>
              </a:rPr>
              <a:t>Diretamente</a:t>
            </a:r>
          </a:p>
          <a:p>
            <a:r>
              <a:rPr lang="pt-BR" sz="3600" dirty="0"/>
              <a:t>A maneira mais simples de modificar o valor de um atributo é acessá-lo diretamente por meio de uma instância.</a:t>
            </a:r>
          </a:p>
        </p:txBody>
      </p:sp>
    </p:spTree>
    <p:extLst>
      <p:ext uri="{BB962C8B-B14F-4D97-AF65-F5344CB8AC3E}">
        <p14:creationId xmlns:p14="http://schemas.microsoft.com/office/powerpoint/2010/main" val="3648446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C5ECBCCD-CCBE-C856-3CA8-8919D1D1C6A1}"/>
              </a:ext>
            </a:extLst>
          </p:cNvPr>
          <p:cNvSpPr/>
          <p:nvPr/>
        </p:nvSpPr>
        <p:spPr>
          <a:xfrm>
            <a:off x="0" y="6217920"/>
            <a:ext cx="998594" cy="640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67652E73-3410-9384-B748-3FFA75755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94" y="0"/>
            <a:ext cx="11193406" cy="6858000"/>
          </a:xfrm>
          <a:prstGeom prst="rect">
            <a:avLst/>
          </a:prstGeom>
        </p:spPr>
      </p:pic>
      <p:sp>
        <p:nvSpPr>
          <p:cNvPr id="3" name="Seta: para a Direita 2">
            <a:extLst>
              <a:ext uri="{FF2B5EF4-FFF2-40B4-BE49-F238E27FC236}">
                <a16:creationId xmlns:a16="http://schemas.microsoft.com/office/drawing/2014/main" id="{D927898D-9C28-8AF5-A1E3-49FD3E3C5E2A}"/>
              </a:ext>
            </a:extLst>
          </p:cNvPr>
          <p:cNvSpPr/>
          <p:nvPr/>
        </p:nvSpPr>
        <p:spPr>
          <a:xfrm>
            <a:off x="388994" y="3021872"/>
            <a:ext cx="609600" cy="3548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380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20FB06E0-D634-7FB8-581E-58875A1B6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230" y="2304893"/>
            <a:ext cx="9059539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822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Classes – Modificando valores de atributos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pPr marL="742950" indent="-742950">
              <a:buFont typeface="+mj-lt"/>
              <a:buAutoNum type="arabicPeriod" startAt="2"/>
            </a:pPr>
            <a:r>
              <a:rPr lang="pt-BR" sz="3600" b="1" dirty="0">
                <a:solidFill>
                  <a:srgbClr val="404040"/>
                </a:solidFill>
              </a:rPr>
              <a:t>Com um método</a:t>
            </a:r>
          </a:p>
          <a:p>
            <a:r>
              <a:rPr lang="pt-BR" sz="3600" dirty="0"/>
              <a:t>Pode ser conveniente ter </a:t>
            </a:r>
            <a:r>
              <a:rPr lang="pt-BR" sz="3600" b="1" dirty="0"/>
              <a:t>métodos</a:t>
            </a:r>
            <a:r>
              <a:rPr lang="pt-BR" sz="3600" dirty="0"/>
              <a:t> que atualizem determinados atributos.</a:t>
            </a:r>
          </a:p>
        </p:txBody>
      </p:sp>
    </p:spTree>
    <p:extLst>
      <p:ext uri="{BB962C8B-B14F-4D97-AF65-F5344CB8AC3E}">
        <p14:creationId xmlns:p14="http://schemas.microsoft.com/office/powerpoint/2010/main" val="324953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3E7E2A21-F242-4ED1-1039-F5E687760CC7}"/>
              </a:ext>
            </a:extLst>
          </p:cNvPr>
          <p:cNvSpPr/>
          <p:nvPr/>
        </p:nvSpPr>
        <p:spPr>
          <a:xfrm>
            <a:off x="0" y="6344239"/>
            <a:ext cx="12192000" cy="5137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ACA7261A-CC93-B853-701B-2C6A16896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513" y="0"/>
            <a:ext cx="7786973" cy="6858000"/>
          </a:xfrm>
          <a:prstGeom prst="rect">
            <a:avLst/>
          </a:prstGeom>
        </p:spPr>
      </p:pic>
      <p:sp>
        <p:nvSpPr>
          <p:cNvPr id="15" name="Seta: para a Direita 14">
            <a:extLst>
              <a:ext uri="{FF2B5EF4-FFF2-40B4-BE49-F238E27FC236}">
                <a16:creationId xmlns:a16="http://schemas.microsoft.com/office/drawing/2014/main" id="{4DB32B75-5268-9A72-4B19-B4ADC391A0C0}"/>
              </a:ext>
            </a:extLst>
          </p:cNvPr>
          <p:cNvSpPr/>
          <p:nvPr/>
        </p:nvSpPr>
        <p:spPr>
          <a:xfrm>
            <a:off x="1592913" y="4968237"/>
            <a:ext cx="609600" cy="3548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9196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618EBB6-B6D2-80F3-5873-4ACD57631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8382"/>
            <a:ext cx="12192000" cy="290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293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EADD1B43-881E-7674-D4EE-CB0721D8E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651" y="2171524"/>
            <a:ext cx="8754697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456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Classes – Modificando valores de atributos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pPr marL="742950" indent="-742950">
              <a:buFont typeface="+mj-lt"/>
              <a:buAutoNum type="arabicPeriod" startAt="3"/>
            </a:pPr>
            <a:r>
              <a:rPr lang="pt-BR" sz="3600" b="1" dirty="0">
                <a:solidFill>
                  <a:srgbClr val="404040"/>
                </a:solidFill>
              </a:rPr>
              <a:t>Incrementando o valor</a:t>
            </a:r>
          </a:p>
          <a:p>
            <a:r>
              <a:rPr lang="pt-BR" sz="3600" dirty="0"/>
              <a:t>Podemos somar um determinado valor ao atributo original.</a:t>
            </a:r>
          </a:p>
        </p:txBody>
      </p:sp>
    </p:spTree>
    <p:extLst>
      <p:ext uri="{BB962C8B-B14F-4D97-AF65-F5344CB8AC3E}">
        <p14:creationId xmlns:p14="http://schemas.microsoft.com/office/powerpoint/2010/main" val="3079119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073B0DF-885F-1FFC-D3CC-343E9E58D1A8}"/>
              </a:ext>
            </a:extLst>
          </p:cNvPr>
          <p:cNvSpPr/>
          <p:nvPr/>
        </p:nvSpPr>
        <p:spPr>
          <a:xfrm>
            <a:off x="0" y="6344239"/>
            <a:ext cx="12192000" cy="5137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E05ED94-CDBA-DC8B-EEE6-D5E8A14B5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360" y="0"/>
            <a:ext cx="7215279" cy="6858000"/>
          </a:xfrm>
          <a:prstGeom prst="rect">
            <a:avLst/>
          </a:prstGeom>
        </p:spPr>
      </p:pic>
      <p:sp>
        <p:nvSpPr>
          <p:cNvPr id="2" name="Seta: para a Direita 1">
            <a:extLst>
              <a:ext uri="{FF2B5EF4-FFF2-40B4-BE49-F238E27FC236}">
                <a16:creationId xmlns:a16="http://schemas.microsoft.com/office/drawing/2014/main" id="{02A943AA-96C6-F725-27EA-B32EB18C8EDD}"/>
              </a:ext>
            </a:extLst>
          </p:cNvPr>
          <p:cNvSpPr/>
          <p:nvPr/>
        </p:nvSpPr>
        <p:spPr>
          <a:xfrm>
            <a:off x="1867762" y="6140675"/>
            <a:ext cx="609600" cy="3548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3736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AE64A05-8BFF-D6E9-D67D-147A8708F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61481"/>
            <a:ext cx="12192000" cy="113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541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F991E84-ACB9-21C0-3C1D-641BBD87A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178" y="1909550"/>
            <a:ext cx="8011643" cy="303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563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Classes - Herança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Quando uma classe </a:t>
            </a:r>
            <a:r>
              <a:rPr lang="pt-BR" sz="3600" b="1" dirty="0"/>
              <a:t>herda</a:t>
            </a:r>
            <a:r>
              <a:rPr lang="pt-BR" sz="3600" dirty="0"/>
              <a:t> de outra, ela assume automaticamente todos os atributos e métodos da primeira classe.</a:t>
            </a:r>
            <a:endParaRPr lang="pt-BR" sz="3600" b="1" i="1" dirty="0"/>
          </a:p>
          <a:p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36382784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Classes - Herança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A classe original se chama </a:t>
            </a:r>
            <a:r>
              <a:rPr lang="pt-BR" sz="3600" b="1" dirty="0"/>
              <a:t>classe-pai</a:t>
            </a:r>
            <a:r>
              <a:rPr lang="pt-BR" sz="3600" b="1" i="1" dirty="0"/>
              <a:t> </a:t>
            </a:r>
            <a:r>
              <a:rPr lang="pt-BR" sz="3600" dirty="0"/>
              <a:t>e a nova classe é a </a:t>
            </a:r>
            <a:r>
              <a:rPr lang="pt-BR" sz="3600" b="1" dirty="0"/>
              <a:t>classe-filha.</a:t>
            </a:r>
          </a:p>
          <a:p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16142607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Classes - Herança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A </a:t>
            </a:r>
            <a:r>
              <a:rPr lang="pt-BR" sz="3600" b="1" dirty="0"/>
              <a:t>classe-filha</a:t>
            </a:r>
            <a:r>
              <a:rPr lang="pt-BR" sz="3600" b="1" i="1" dirty="0"/>
              <a:t> </a:t>
            </a:r>
            <a:r>
              <a:rPr lang="pt-BR" sz="3600" dirty="0"/>
              <a:t>herda todos os atributos e métodos de sua </a:t>
            </a:r>
            <a:r>
              <a:rPr lang="pt-BR" sz="3600" b="1" dirty="0"/>
              <a:t>classe-pai</a:t>
            </a:r>
            <a:r>
              <a:rPr lang="pt-BR" sz="3600" dirty="0"/>
              <a:t>, mas também é livre para definir novos atributos e métodos próprios.</a:t>
            </a:r>
            <a:endParaRPr lang="pt-BR" sz="3600" b="1" i="1" dirty="0"/>
          </a:p>
          <a:p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35329902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Classes - Herança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Vamos usar nossa classe </a:t>
            </a:r>
            <a:r>
              <a:rPr lang="pt-BR" sz="3600" b="1" dirty="0" err="1"/>
              <a:t>Car</a:t>
            </a:r>
            <a:r>
              <a:rPr lang="pt-BR" sz="3600" b="1" dirty="0"/>
              <a:t> </a:t>
            </a:r>
            <a:r>
              <a:rPr lang="pt-BR" sz="3600" dirty="0"/>
              <a:t>para criar uma classe de carros elétricos.</a:t>
            </a:r>
            <a:endParaRPr lang="pt-BR" sz="3600" b="1" dirty="0"/>
          </a:p>
        </p:txBody>
      </p:sp>
    </p:spTree>
    <p:extLst>
      <p:ext uri="{BB962C8B-B14F-4D97-AF65-F5344CB8AC3E}">
        <p14:creationId xmlns:p14="http://schemas.microsoft.com/office/powerpoint/2010/main" val="9868379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F164404A-8773-69C5-A5C7-D79E6BC71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3602"/>
            <a:ext cx="12192000" cy="439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3954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Classes - Herança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108201"/>
            <a:ext cx="10128069" cy="3760891"/>
          </a:xfrm>
        </p:spPr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O nome da classe-pai (</a:t>
            </a:r>
            <a:r>
              <a:rPr lang="pt-BR" sz="3600" b="1" dirty="0" err="1"/>
              <a:t>Car</a:t>
            </a:r>
            <a:r>
              <a:rPr lang="pt-BR" sz="3600" dirty="0"/>
              <a:t>) deve ser incluído entre parênteses na definição da classe-filha (</a:t>
            </a:r>
            <a:r>
              <a:rPr lang="pt-BR" sz="3600" b="1" dirty="0" err="1"/>
              <a:t>CarEletrico</a:t>
            </a:r>
            <a:r>
              <a:rPr lang="pt-BR" sz="3600" dirty="0"/>
              <a:t>)</a:t>
            </a:r>
            <a:endParaRPr lang="pt-BR" sz="3600" b="1" dirty="0"/>
          </a:p>
        </p:txBody>
      </p:sp>
    </p:spTree>
    <p:extLst>
      <p:ext uri="{BB962C8B-B14F-4D97-AF65-F5344CB8AC3E}">
        <p14:creationId xmlns:p14="http://schemas.microsoft.com/office/powerpoint/2010/main" val="5156172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F164404A-8773-69C5-A5C7-D79E6BC71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3602"/>
            <a:ext cx="12192000" cy="4390796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EE618A3F-F1DC-22E0-032C-01FE092BC5DF}"/>
              </a:ext>
            </a:extLst>
          </p:cNvPr>
          <p:cNvSpPr/>
          <p:nvPr/>
        </p:nvSpPr>
        <p:spPr>
          <a:xfrm>
            <a:off x="1262743" y="1233602"/>
            <a:ext cx="2690948" cy="53423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75695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Classes - Herança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A função </a:t>
            </a:r>
            <a:r>
              <a:rPr lang="pt-BR" sz="3600" b="1" dirty="0">
                <a:solidFill>
                  <a:srgbClr val="EC7016"/>
                </a:solidFill>
              </a:rPr>
              <a:t>super() </a:t>
            </a:r>
            <a:r>
              <a:rPr lang="pt-BR" sz="3600" dirty="0">
                <a:solidFill>
                  <a:srgbClr val="404040"/>
                </a:solidFill>
              </a:rPr>
              <a:t>usada para dar acesso aos métodos da </a:t>
            </a:r>
            <a:r>
              <a:rPr lang="pt-BR" sz="3600" b="1" dirty="0">
                <a:solidFill>
                  <a:srgbClr val="404040"/>
                </a:solidFill>
              </a:rPr>
              <a:t>classe-pai</a:t>
            </a:r>
            <a:endParaRPr lang="pt-BR" sz="3600" b="1" dirty="0">
              <a:solidFill>
                <a:srgbClr val="EC701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2473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F164404A-8773-69C5-A5C7-D79E6BC71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3602"/>
            <a:ext cx="12192000" cy="4390796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EE618A3F-F1DC-22E0-032C-01FE092BC5DF}"/>
              </a:ext>
            </a:extLst>
          </p:cNvPr>
          <p:cNvSpPr/>
          <p:nvPr/>
        </p:nvSpPr>
        <p:spPr>
          <a:xfrm>
            <a:off x="879566" y="3097238"/>
            <a:ext cx="6278880" cy="53423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38838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Classes - Herança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b="1" dirty="0">
                <a:solidFill>
                  <a:srgbClr val="EC7016"/>
                </a:solidFill>
              </a:rPr>
              <a:t>super() </a:t>
            </a:r>
            <a:r>
              <a:rPr lang="pt-BR" sz="3600" dirty="0">
                <a:solidFill>
                  <a:srgbClr val="404040"/>
                </a:solidFill>
              </a:rPr>
              <a:t>vem de “</a:t>
            </a:r>
            <a:r>
              <a:rPr lang="pt-BR" sz="3600" b="1" dirty="0">
                <a:solidFill>
                  <a:srgbClr val="404040"/>
                </a:solidFill>
              </a:rPr>
              <a:t>superclasse</a:t>
            </a:r>
            <a:r>
              <a:rPr lang="pt-BR" sz="3600" dirty="0">
                <a:solidFill>
                  <a:srgbClr val="404040"/>
                </a:solidFill>
              </a:rPr>
              <a:t>” (classe-pai) e “</a:t>
            </a:r>
            <a:r>
              <a:rPr lang="pt-BR" sz="3600" b="1" dirty="0">
                <a:solidFill>
                  <a:srgbClr val="404040"/>
                </a:solidFill>
              </a:rPr>
              <a:t>subclasse</a:t>
            </a:r>
            <a:r>
              <a:rPr lang="pt-BR" sz="3600" dirty="0">
                <a:solidFill>
                  <a:srgbClr val="404040"/>
                </a:solidFill>
              </a:rPr>
              <a:t>” (classe-fila)</a:t>
            </a:r>
            <a:endParaRPr lang="pt-BR" sz="3600" b="1" dirty="0">
              <a:solidFill>
                <a:srgbClr val="EC701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63208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Classes - Herança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108201"/>
            <a:ext cx="10128069" cy="3760891"/>
          </a:xfrm>
        </p:spPr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Podemos adicionar quantos atributos e métodos quisermos à classe-filha:</a:t>
            </a:r>
            <a:endParaRPr lang="pt-BR" sz="3600" b="1" dirty="0"/>
          </a:p>
        </p:txBody>
      </p:sp>
    </p:spTree>
    <p:extLst>
      <p:ext uri="{BB962C8B-B14F-4D97-AF65-F5344CB8AC3E}">
        <p14:creationId xmlns:p14="http://schemas.microsoft.com/office/powerpoint/2010/main" val="19478991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A8C8177-C36E-DF5D-AE16-BA9344690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626"/>
            <a:ext cx="12192000" cy="670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0312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Classes - Herança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108201"/>
            <a:ext cx="10128069" cy="3760891"/>
          </a:xfrm>
        </p:spPr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Podemos sobrescrever métodos.</a:t>
            </a:r>
            <a:endParaRPr lang="pt-BR" sz="3600" b="1" dirty="0"/>
          </a:p>
          <a:p>
            <a:r>
              <a:rPr lang="pt-BR" sz="3600" b="1" dirty="0" err="1"/>
              <a:t>Car</a:t>
            </a:r>
            <a:r>
              <a:rPr lang="pt-BR" sz="3600" b="1" dirty="0"/>
              <a:t> </a:t>
            </a:r>
            <a:r>
              <a:rPr lang="pt-BR" sz="3600" dirty="0"/>
              <a:t>possui um método que mostra a capacidade do tanque de combustível:</a:t>
            </a:r>
          </a:p>
        </p:txBody>
      </p:sp>
    </p:spTree>
    <p:extLst>
      <p:ext uri="{BB962C8B-B14F-4D97-AF65-F5344CB8AC3E}">
        <p14:creationId xmlns:p14="http://schemas.microsoft.com/office/powerpoint/2010/main" val="29982442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3AF4DE7B-AD36-D6F7-B8D4-3C12A9F3E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16542"/>
            <a:ext cx="12192000" cy="1224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1025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26A7B70-4F6F-5C8D-1C38-C643DC84E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336" y="2638314"/>
            <a:ext cx="8621328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1951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Classes - Herança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108201"/>
            <a:ext cx="10128069" cy="3760891"/>
          </a:xfrm>
        </p:spPr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Isso não faz sentido para a classe </a:t>
            </a:r>
            <a:r>
              <a:rPr lang="pt-BR" sz="3600" b="1" dirty="0" err="1"/>
              <a:t>CarElétrico</a:t>
            </a:r>
            <a:r>
              <a:rPr lang="pt-BR" sz="3600" b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2947965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49F426A-A936-A703-9B4E-7DA3D5684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2220"/>
            <a:ext cx="12192000" cy="571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4752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347B980-049C-6B17-1FF8-8B3FE8F18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314" y="2572312"/>
            <a:ext cx="8601372" cy="171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504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Classes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108201"/>
            <a:ext cx="10128069" cy="3760891"/>
          </a:xfrm>
        </p:spPr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Se uma classe estiver ficando grande demais, você pode separar atributos e métodos para criar uma nova classe</a:t>
            </a:r>
            <a:endParaRPr lang="pt-BR" sz="3600" b="1" dirty="0"/>
          </a:p>
        </p:txBody>
      </p:sp>
    </p:spTree>
    <p:extLst>
      <p:ext uri="{BB962C8B-B14F-4D97-AF65-F5344CB8AC3E}">
        <p14:creationId xmlns:p14="http://schemas.microsoft.com/office/powerpoint/2010/main" val="14883093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Classes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108201"/>
            <a:ext cx="10128069" cy="3760891"/>
          </a:xfrm>
        </p:spPr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Por exemplo: se estivermos adicionando muitos atributos e métodos relacionados à </a:t>
            </a:r>
            <a:r>
              <a:rPr lang="pt-BR" sz="3600" b="1" dirty="0"/>
              <a:t>bateria</a:t>
            </a:r>
            <a:r>
              <a:rPr lang="pt-BR" sz="3600" dirty="0"/>
              <a:t> do carro elétrico, podemos criar outra classe:</a:t>
            </a:r>
            <a:endParaRPr lang="pt-BR" sz="3600" b="1" dirty="0"/>
          </a:p>
        </p:txBody>
      </p:sp>
    </p:spTree>
    <p:extLst>
      <p:ext uri="{BB962C8B-B14F-4D97-AF65-F5344CB8AC3E}">
        <p14:creationId xmlns:p14="http://schemas.microsoft.com/office/powerpoint/2010/main" val="30237021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9C2D9376-360B-BDFA-B251-FB183C8C8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072" y="112100"/>
            <a:ext cx="9535856" cy="616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856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05C7CB01-0A94-4585-B61A-8A032EA6B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13" y="1923840"/>
            <a:ext cx="10374173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7908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02D757C-CB82-FA3D-1B8A-F6F0C9D9E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124" y="1680918"/>
            <a:ext cx="10583752" cy="349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707591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5715_TF33845126.potx" id="{07B33CC6-269C-4DD5-9017-A83AF51479F7}" vid="{03982E99-A52E-4A57-A229-288B0228341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E6371B7FBC9264EBDD394A4B019F8ED" ma:contentTypeVersion="4" ma:contentTypeDescription="Crie um novo documento." ma:contentTypeScope="" ma:versionID="af3670115510099101ea552dd9cdaa5f">
  <xsd:schema xmlns:xsd="http://www.w3.org/2001/XMLSchema" xmlns:xs="http://www.w3.org/2001/XMLSchema" xmlns:p="http://schemas.microsoft.com/office/2006/metadata/properties" xmlns:ns2="76a559d0-596e-4236-90b1-6a2a903b2075" targetNamespace="http://schemas.microsoft.com/office/2006/metadata/properties" ma:root="true" ma:fieldsID="e8be88f5e8c103b8586b4e76ca28ffe1" ns2:_="">
    <xsd:import namespace="76a559d0-596e-4236-90b1-6a2a903b20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a559d0-596e-4236-90b1-6a2a903b20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1B8DBAB-D622-4B1D-96B7-AD5E873BDE8F}"/>
</file>

<file path=customXml/itemProps2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16c05727-aa75-4e4a-9b5f-8a80a1165891"/>
    <ds:schemaRef ds:uri="71af3243-3dd4-4a8d-8c0d-dd76da1f02a5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{D129E361-7900-47DF-B65A-C5D6D83378F0}tf33845126_win32</Template>
  <TotalTime>1599</TotalTime>
  <Words>388</Words>
  <Application>Microsoft Office PowerPoint</Application>
  <PresentationFormat>Widescreen</PresentationFormat>
  <Paragraphs>67</Paragraphs>
  <Slides>42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6" baseType="lpstr">
      <vt:lpstr>Bookman Old Style</vt:lpstr>
      <vt:lpstr>Calibri</vt:lpstr>
      <vt:lpstr>Franklin Gothic Book</vt:lpstr>
      <vt:lpstr>1_RetrospectVTI</vt:lpstr>
      <vt:lpstr>Pensamento lógico computacional com Python</vt:lpstr>
      <vt:lpstr>Classes</vt:lpstr>
      <vt:lpstr>Apresentação do PowerPoint</vt:lpstr>
      <vt:lpstr>Classes - Definindo um valor default para um atributo</vt:lpstr>
      <vt:lpstr>Classes - Definindo um valor default para um atributo</vt:lpstr>
      <vt:lpstr>Apresentação do PowerPoint</vt:lpstr>
      <vt:lpstr>Apresentação do PowerPoint</vt:lpstr>
      <vt:lpstr>Classes – Modificando valores de atributos</vt:lpstr>
      <vt:lpstr>Classes – Modificando valores de atributos</vt:lpstr>
      <vt:lpstr>Apresentação do PowerPoint</vt:lpstr>
      <vt:lpstr>Apresentação do PowerPoint</vt:lpstr>
      <vt:lpstr>Classes – Modificando valores de atributos</vt:lpstr>
      <vt:lpstr>Apresentação do PowerPoint</vt:lpstr>
      <vt:lpstr>Apresentação do PowerPoint</vt:lpstr>
      <vt:lpstr>Apresentação do PowerPoint</vt:lpstr>
      <vt:lpstr>Classes – Modificando valores de atributos</vt:lpstr>
      <vt:lpstr>Apresentação do PowerPoint</vt:lpstr>
      <vt:lpstr>Apresentação do PowerPoint</vt:lpstr>
      <vt:lpstr>Apresentação do PowerPoint</vt:lpstr>
      <vt:lpstr>Classes - Herança</vt:lpstr>
      <vt:lpstr>Classes - Herança</vt:lpstr>
      <vt:lpstr>Classes - Herança</vt:lpstr>
      <vt:lpstr>Classes - Herança</vt:lpstr>
      <vt:lpstr>Apresentação do PowerPoint</vt:lpstr>
      <vt:lpstr>Classes - Herança</vt:lpstr>
      <vt:lpstr>Apresentação do PowerPoint</vt:lpstr>
      <vt:lpstr>Classes - Herança</vt:lpstr>
      <vt:lpstr>Apresentação do PowerPoint</vt:lpstr>
      <vt:lpstr>Classes - Herança</vt:lpstr>
      <vt:lpstr>Classes - Herança</vt:lpstr>
      <vt:lpstr>Apresentação do PowerPoint</vt:lpstr>
      <vt:lpstr>Classes - Herança</vt:lpstr>
      <vt:lpstr>Apresentação do PowerPoint</vt:lpstr>
      <vt:lpstr>Apresentação do PowerPoint</vt:lpstr>
      <vt:lpstr>Classes - Herança</vt:lpstr>
      <vt:lpstr>Apresentação do PowerPoint</vt:lpstr>
      <vt:lpstr>Apresentação do PowerPoint</vt:lpstr>
      <vt:lpstr>Classes</vt:lpstr>
      <vt:lpstr>Classes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de software para Internet</dc:title>
  <dc:creator>Flávio Waltz</dc:creator>
  <cp:lastModifiedBy>Flávio Waltz</cp:lastModifiedBy>
  <cp:revision>87</cp:revision>
  <dcterms:created xsi:type="dcterms:W3CDTF">2022-08-15T17:51:41Z</dcterms:created>
  <dcterms:modified xsi:type="dcterms:W3CDTF">2025-04-22T18:53:30Z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0x010100CE6371B7FBC9264EBDD394A4B019F8ED</vt:lpwstr>
  </property>
</Properties>
</file>