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317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  <a:srgbClr val="1E1E1E"/>
    <a:srgbClr val="FFDA00"/>
    <a:srgbClr val="CE9178"/>
    <a:srgbClr val="DCDCAA"/>
    <a:srgbClr val="383838"/>
    <a:srgbClr val="FFFFFF"/>
    <a:srgbClr val="EDF2FC"/>
    <a:srgbClr val="F7F9FC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18/03/2025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9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1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dois números inteiros e dois números </a:t>
            </a:r>
            <a:r>
              <a:rPr lang="pt-BR" sz="3600" dirty="0" err="1"/>
              <a:t>float</a:t>
            </a:r>
            <a:r>
              <a:rPr lang="pt-BR" sz="3600" dirty="0"/>
              <a:t>. Imprima a soma destes quatro números na tela</a:t>
            </a:r>
          </a:p>
        </p:txBody>
      </p:sp>
    </p:spTree>
    <p:extLst>
      <p:ext uri="{BB962C8B-B14F-4D97-AF65-F5344CB8AC3E}">
        <p14:creationId xmlns:p14="http://schemas.microsoft.com/office/powerpoint/2010/main" val="85381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A77929-ADA3-6832-B579-3E525F7D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95"/>
            <a:ext cx="12192000" cy="4472209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7F86A26-319E-8B8D-9620-1620D0346A90}"/>
              </a:ext>
            </a:extLst>
          </p:cNvPr>
          <p:cNvCxnSpPr/>
          <p:nvPr/>
        </p:nvCxnSpPr>
        <p:spPr>
          <a:xfrm>
            <a:off x="10591800" y="1257300"/>
            <a:ext cx="0" cy="2362200"/>
          </a:xfrm>
          <a:prstGeom prst="line">
            <a:avLst/>
          </a:prstGeom>
          <a:ln w="28575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7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2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uma quantidade de dias, horas, minutos e segundos. Calcule o total de segundos resultante e imprima na tela para o usuário.</a:t>
            </a:r>
          </a:p>
        </p:txBody>
      </p:sp>
    </p:spTree>
    <p:extLst>
      <p:ext uri="{BB962C8B-B14F-4D97-AF65-F5344CB8AC3E}">
        <p14:creationId xmlns:p14="http://schemas.microsoft.com/office/powerpoint/2010/main" val="223634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7F86A26-319E-8B8D-9620-1620D0346A90}"/>
              </a:ext>
            </a:extLst>
          </p:cNvPr>
          <p:cNvCxnSpPr/>
          <p:nvPr/>
        </p:nvCxnSpPr>
        <p:spPr>
          <a:xfrm>
            <a:off x="10591800" y="1257300"/>
            <a:ext cx="0" cy="2362200"/>
          </a:xfrm>
          <a:prstGeom prst="line">
            <a:avLst/>
          </a:prstGeom>
          <a:ln w="28575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B04309A-0D35-E251-767B-44863ED7B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2" y="113866"/>
            <a:ext cx="10469436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7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3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Desenvolva um algoritmo que solicite ao usuário o preço de um produto e um percentual de desconto a ser aplicado a ele. Calcule e exiba o valor do desconto e o preço final do produto.</a:t>
            </a:r>
          </a:p>
        </p:txBody>
      </p:sp>
    </p:spTree>
    <p:extLst>
      <p:ext uri="{BB962C8B-B14F-4D97-AF65-F5344CB8AC3E}">
        <p14:creationId xmlns:p14="http://schemas.microsoft.com/office/powerpoint/2010/main" val="147771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3CA0BD-0742-F019-A824-1768FBA8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423471"/>
            <a:ext cx="1094575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1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000" dirty="0"/>
              <a:t>Podem ter letras, números e </a:t>
            </a:r>
            <a:r>
              <a:rPr lang="pt-BR" sz="4000" dirty="0" err="1"/>
              <a:t>underscores</a:t>
            </a:r>
            <a:r>
              <a:rPr lang="pt-BR" sz="4000" dirty="0"/>
              <a:t> (</a:t>
            </a:r>
            <a:r>
              <a:rPr lang="pt-BR" sz="4000" b="1" dirty="0">
                <a:solidFill>
                  <a:srgbClr val="EC7016"/>
                </a:solidFill>
              </a:rPr>
              <a:t>_</a:t>
            </a:r>
            <a:r>
              <a:rPr lang="pt-BR" sz="4000" dirty="0"/>
              <a:t>)</a:t>
            </a:r>
          </a:p>
          <a:p>
            <a:pPr lvl="1"/>
            <a:r>
              <a:rPr lang="pt-BR" sz="4000" dirty="0"/>
              <a:t>Podem começar com letra ou </a:t>
            </a:r>
            <a:r>
              <a:rPr lang="pt-BR" sz="4000" dirty="0" err="1"/>
              <a:t>underscore</a:t>
            </a:r>
            <a:r>
              <a:rPr lang="pt-BR" sz="4000" dirty="0"/>
              <a:t>, mas não com número:</a:t>
            </a:r>
          </a:p>
          <a:p>
            <a:pPr marL="384048" lvl="2" indent="0" algn="ctr">
              <a:buNone/>
            </a:pPr>
            <a:r>
              <a:rPr lang="pt-BR" sz="3600" dirty="0">
                <a:solidFill>
                  <a:srgbClr val="00B050"/>
                </a:solidFill>
              </a:rPr>
              <a:t>variavel_1</a:t>
            </a:r>
          </a:p>
          <a:p>
            <a:pPr marL="384048" lvl="2" indent="0" algn="ctr">
              <a:buNone/>
            </a:pPr>
            <a:r>
              <a:rPr lang="pt-BR" sz="3600" dirty="0">
                <a:solidFill>
                  <a:srgbClr val="FF0000"/>
                </a:solidFill>
              </a:rPr>
              <a:t>1_variavel</a:t>
            </a:r>
          </a:p>
        </p:txBody>
      </p:sp>
    </p:spTree>
    <p:extLst>
      <p:ext uri="{BB962C8B-B14F-4D97-AF65-F5344CB8AC3E}">
        <p14:creationId xmlns:p14="http://schemas.microsoft.com/office/powerpoint/2010/main" val="179387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podem ter espaços</a:t>
            </a: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00B050"/>
                </a:solidFill>
              </a:rPr>
              <a:t>variavel_1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variavel</a:t>
            </a:r>
            <a:r>
              <a:rPr lang="pt-BR" sz="4000" dirty="0">
                <a:solidFill>
                  <a:srgbClr val="FF0000"/>
                </a:solidFill>
              </a:rPr>
              <a:t> 1</a:t>
            </a:r>
            <a:endParaRPr lang="pt-BR" sz="4000" dirty="0"/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3829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devem ser </a:t>
            </a:r>
            <a:r>
              <a:rPr lang="pt-BR" sz="4000"/>
              <a:t>iguais aos reservados </a:t>
            </a:r>
            <a:r>
              <a:rPr lang="pt-BR" sz="4000" dirty="0"/>
              <a:t>para as funções em Python</a:t>
            </a: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FF0000"/>
                </a:solidFill>
              </a:rPr>
              <a:t>print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def</a:t>
            </a:r>
            <a:endParaRPr lang="pt-BR" sz="4000" dirty="0">
              <a:solidFill>
                <a:srgbClr val="FF0000"/>
              </a:solidFill>
            </a:endParaRP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true</a:t>
            </a:r>
            <a:endParaRPr lang="pt-BR" sz="4000" dirty="0">
              <a:solidFill>
                <a:srgbClr val="FF0000"/>
              </a:solidFill>
            </a:endParaRPr>
          </a:p>
          <a:p>
            <a:pPr marL="384048" lvl="2" indent="0" algn="ctr">
              <a:buNone/>
            </a:pPr>
            <a:r>
              <a:rPr lang="pt-BR" sz="4000" dirty="0">
                <a:solidFill>
                  <a:srgbClr val="FF0000"/>
                </a:solidFill>
              </a:rPr>
              <a:t>class...</a:t>
            </a:r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5166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melhor que sejam descritivos, quando possível</a:t>
            </a: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00B050"/>
                </a:solidFill>
              </a:rPr>
              <a:t>nome_estudante</a:t>
            </a:r>
            <a:endParaRPr lang="pt-BR" sz="4000" dirty="0">
              <a:solidFill>
                <a:srgbClr val="00B050"/>
              </a:solidFill>
            </a:endParaRPr>
          </a:p>
          <a:p>
            <a:pPr marL="384048" lvl="2" indent="0" algn="ctr">
              <a:buNone/>
            </a:pPr>
            <a:r>
              <a:rPr lang="pt-BR" sz="4000" dirty="0" err="1">
                <a:solidFill>
                  <a:srgbClr val="FF0000"/>
                </a:solidFill>
              </a:rPr>
              <a:t>n_s</a:t>
            </a:r>
            <a:endParaRPr lang="pt-BR" sz="4000" dirty="0">
              <a:solidFill>
                <a:srgbClr val="FF0000"/>
              </a:solidFill>
            </a:endParaRPr>
          </a:p>
          <a:p>
            <a:pPr lvl="1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64233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reutilizem o mesmo nome!!</a:t>
            </a:r>
          </a:p>
        </p:txBody>
      </p:sp>
    </p:spTree>
    <p:extLst>
      <p:ext uri="{BB962C8B-B14F-4D97-AF65-F5344CB8AC3E}">
        <p14:creationId xmlns:p14="http://schemas.microsoft.com/office/powerpoint/2010/main" val="161485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Nomeando Variáveis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Não reutilizem o mesmo nome!!</a:t>
            </a:r>
          </a:p>
        </p:txBody>
      </p:sp>
    </p:spTree>
    <p:extLst>
      <p:ext uri="{BB962C8B-B14F-4D97-AF65-F5344CB8AC3E}">
        <p14:creationId xmlns:p14="http://schemas.microsoft.com/office/powerpoint/2010/main" val="417574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Listas são coleções de itens</a:t>
            </a:r>
          </a:p>
          <a:p>
            <a:pPr lvl="1"/>
            <a:r>
              <a:rPr lang="pt-BR" sz="4000" dirty="0"/>
              <a:t>Estes itens podem ser letras do alfabeto, dígitos de 0 a 9, nomes etc.</a:t>
            </a:r>
          </a:p>
        </p:txBody>
      </p:sp>
    </p:spTree>
    <p:extLst>
      <p:ext uri="{BB962C8B-B14F-4D97-AF65-F5344CB8AC3E}">
        <p14:creationId xmlns:p14="http://schemas.microsoft.com/office/powerpoint/2010/main" val="1588275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000" dirty="0"/>
              <a:t>Em Python, listas são indicadas por colchetes </a:t>
            </a:r>
            <a:r>
              <a:rPr lang="pt-BR" sz="4000" dirty="0">
                <a:solidFill>
                  <a:srgbClr val="EC7016"/>
                </a:solidFill>
              </a:rPr>
              <a:t>[ ]</a:t>
            </a:r>
            <a:endParaRPr lang="pt-BR" sz="4000" dirty="0"/>
          </a:p>
          <a:p>
            <a:pPr lvl="1"/>
            <a:r>
              <a:rPr lang="pt-BR" sz="4000" dirty="0"/>
              <a:t>Os elementos individuais da lista são separados por vírgulas:</a:t>
            </a:r>
          </a:p>
        </p:txBody>
      </p:sp>
    </p:spTree>
    <p:extLst>
      <p:ext uri="{BB962C8B-B14F-4D97-AF65-F5344CB8AC3E}">
        <p14:creationId xmlns:p14="http://schemas.microsoft.com/office/powerpoint/2010/main" val="2764761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29B5B1F-9405-EF69-43AD-F0437596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838103"/>
            <a:ext cx="11936491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01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Em listas, os índices (index) também podem ser utilizados para acessarmos elementos individualmente:</a:t>
            </a:r>
          </a:p>
        </p:txBody>
      </p:sp>
    </p:spTree>
    <p:extLst>
      <p:ext uri="{BB962C8B-B14F-4D97-AF65-F5344CB8AC3E}">
        <p14:creationId xmlns:p14="http://schemas.microsoft.com/office/powerpoint/2010/main" val="3493660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CEB7D5-7A56-BFDA-FCFC-940AC43C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620" y="1704847"/>
            <a:ext cx="7694759" cy="285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99B4890-FF62-3ADB-5080-15080181A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06" y="1857251"/>
            <a:ext cx="9098187" cy="252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83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possível concatenar com os elementos da lista:</a:t>
            </a:r>
          </a:p>
        </p:txBody>
      </p:sp>
    </p:spTree>
    <p:extLst>
      <p:ext uri="{BB962C8B-B14F-4D97-AF65-F5344CB8AC3E}">
        <p14:creationId xmlns:p14="http://schemas.microsoft.com/office/powerpoint/2010/main" val="4282040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216648-189A-1A68-F3DE-1F3F474E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6" y="2604972"/>
            <a:ext cx="1166022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55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Listas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É possível modificar as listas de formas variadas:</a:t>
            </a:r>
          </a:p>
        </p:txBody>
      </p:sp>
    </p:spTree>
    <p:extLst>
      <p:ext uri="{BB962C8B-B14F-4D97-AF65-F5344CB8AC3E}">
        <p14:creationId xmlns:p14="http://schemas.microsoft.com/office/powerpoint/2010/main" val="1714136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970DE21-DB09-8D7F-3986-81AE3EE8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09858"/>
            <a:ext cx="12191985" cy="4358634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Substituindo através do índice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F8ADD58-F2A4-D72A-0930-6A7C0C706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91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Adicionando elementos no final com </a:t>
            </a:r>
            <a:r>
              <a:rPr lang="pt-BR" dirty="0" err="1"/>
              <a:t>append</a:t>
            </a:r>
            <a:r>
              <a:rPr lang="pt-BR" dirty="0"/>
              <a:t>()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E513E10-ECB9-00ED-702B-62EEF3C07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7FFCB2-9130-44BC-C2DF-733CB58A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826"/>
            <a:ext cx="12192000" cy="215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7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98FC9D2-254A-1DF4-1371-445720FA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480" y="0"/>
            <a:ext cx="8847054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 err="1"/>
              <a:t>append</a:t>
            </a:r>
            <a:r>
              <a:rPr lang="pt-BR" dirty="0"/>
              <a:t>() também permite preencher listas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547C1D-0EC4-8DD0-FF8C-80742719E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D89C485-5895-2C3D-E8AD-D3936FEA1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94619"/>
            <a:ext cx="12191985" cy="4389112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Armazenando respostas de input em listas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57DD432-4871-1E18-67B7-5AA6AD3F3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05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11CDF68-ADA2-4790-D899-058A39551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268096"/>
            <a:ext cx="12191985" cy="2042157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400" dirty="0"/>
              <a:t>Adicionando elementos em posições específicas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E680747-4A29-634B-0DD0-9F326E059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8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566CAB2-6DC4-C162-DF1B-562D5B349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704217"/>
            <a:ext cx="12191985" cy="3169915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400" dirty="0"/>
              <a:t>Removendo elementos em posições específicas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5153DEA-1BFD-A1B0-12A5-521EF09EF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54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7C07B45-AA8A-308E-7A9F-D2A19279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323218"/>
            <a:ext cx="12191985" cy="3931913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Removendo elementos por valores específicos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219A6F5-6BE3-722E-565F-478DF5067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78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B577C7-6A91-D1E2-DE8E-9CFF069DE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597536"/>
            <a:ext cx="12191985" cy="3383277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Ordenando a lista em ordem alfabética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A30A5E8-8F31-0E7B-DB86-441274216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85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Descobrindo o tamanho de uma lista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A30A5E8-8F31-0E7B-DB86-441274216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86B684-118B-3650-BA12-A495B0E5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251" y="1067306"/>
            <a:ext cx="5177498" cy="253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>
                <a:solidFill>
                  <a:srgbClr val="EC7016"/>
                </a:solidFill>
              </a:rPr>
              <a:t>Laço for </a:t>
            </a:r>
            <a:r>
              <a:rPr lang="pt-BR" sz="4800" i="1" dirty="0"/>
              <a:t>( </a:t>
            </a:r>
            <a:r>
              <a:rPr lang="pt-BR" sz="4800" i="1" dirty="0">
                <a:solidFill>
                  <a:srgbClr val="EC7016"/>
                </a:solidFill>
              </a:rPr>
              <a:t>for loop </a:t>
            </a:r>
            <a:r>
              <a:rPr lang="pt-BR" sz="4800" i="1" dirty="0"/>
              <a:t>)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Podemos executar uma ação – ou um conjunto de ações – em todos os itens de uma lista, por exemplo</a:t>
            </a:r>
          </a:p>
        </p:txBody>
      </p:sp>
    </p:spTree>
    <p:extLst>
      <p:ext uri="{BB962C8B-B14F-4D97-AF65-F5344CB8AC3E}">
        <p14:creationId xmlns:p14="http://schemas.microsoft.com/office/powerpoint/2010/main" val="1716702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65F819-1F58-6CDC-AC22-7DB9C2F9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67" y="0"/>
            <a:ext cx="6311480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O laço percorreu toda a lista e mostrou seus valores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“Para </a:t>
            </a:r>
            <a:r>
              <a:rPr lang="en-US" dirty="0" err="1"/>
              <a:t>todo</a:t>
            </a:r>
            <a:r>
              <a:rPr lang="en-US" dirty="0"/>
              <a:t> game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‘</a:t>
            </a:r>
            <a:r>
              <a:rPr lang="en-US" dirty="0" err="1"/>
              <a:t>fps_games</a:t>
            </a:r>
            <a:r>
              <a:rPr lang="en-US" dirty="0"/>
              <a:t>’, </a:t>
            </a:r>
            <a:r>
              <a:rPr lang="en-US" dirty="0" err="1"/>
              <a:t>exiba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game.”</a:t>
            </a:r>
          </a:p>
          <a:p>
            <a:r>
              <a:rPr lang="en-US" dirty="0"/>
              <a:t>“game” </a:t>
            </a:r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,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variável</a:t>
            </a:r>
            <a:r>
              <a:rPr lang="en-US" dirty="0"/>
              <a:t> </a:t>
            </a:r>
            <a:r>
              <a:rPr lang="en-US" dirty="0" err="1"/>
              <a:t>temporária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24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>
                <a:solidFill>
                  <a:srgbClr val="EC7016"/>
                </a:solidFill>
              </a:rPr>
              <a:t>Laço for </a:t>
            </a:r>
            <a:r>
              <a:rPr lang="pt-BR" sz="4800" i="1" dirty="0"/>
              <a:t>( </a:t>
            </a:r>
            <a:r>
              <a:rPr lang="pt-BR" sz="4800" i="1" dirty="0">
                <a:solidFill>
                  <a:srgbClr val="EC7016"/>
                </a:solidFill>
              </a:rPr>
              <a:t>for loop </a:t>
            </a:r>
            <a:r>
              <a:rPr lang="pt-BR" sz="4800" i="1" dirty="0"/>
              <a:t>)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Com a função </a:t>
            </a:r>
            <a:r>
              <a:rPr lang="pt-BR" sz="4000" dirty="0">
                <a:solidFill>
                  <a:srgbClr val="EC7016"/>
                </a:solidFill>
              </a:rPr>
              <a:t>range()</a:t>
            </a:r>
            <a:r>
              <a:rPr lang="pt-BR" sz="4000" dirty="0"/>
              <a:t>, podemos gerar uma série de números</a:t>
            </a:r>
          </a:p>
        </p:txBody>
      </p:sp>
    </p:spTree>
    <p:extLst>
      <p:ext uri="{BB962C8B-B14F-4D97-AF65-F5344CB8AC3E}">
        <p14:creationId xmlns:p14="http://schemas.microsoft.com/office/powerpoint/2010/main" val="1573798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FF25786-BB98-55BF-D836-F5787BB9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065" y="0"/>
            <a:ext cx="4735884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A função </a:t>
            </a:r>
            <a:r>
              <a:rPr lang="pt-BR" sz="3000" dirty="0">
                <a:solidFill>
                  <a:srgbClr val="EC7016"/>
                </a:solidFill>
              </a:rPr>
              <a:t>range( ) </a:t>
            </a:r>
            <a:r>
              <a:rPr lang="pt-BR" sz="3000" dirty="0"/>
              <a:t>criou uma série de números de 1 a 9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675685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Podemos criar uma lista de números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358961-33D4-D8EE-1276-A29858250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97" y="1147651"/>
            <a:ext cx="7500807" cy="21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64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000" dirty="0"/>
              <a:t>Podemos criar uma lista de números pares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1CCC437F-8087-86CC-BCE2-BE19AF236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218BC8-2AFC-8875-0866-F95710D10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96" y="1207896"/>
            <a:ext cx="7500806" cy="206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102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7C937C-EC6E-264E-C1F5-EB912C0D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92" y="0"/>
            <a:ext cx="9538231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endParaRPr lang="pt-BR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40622C5-8428-D2CD-2432-62FB6151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8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30309FF-24F0-323B-CE1C-EB085A37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963296"/>
            <a:ext cx="12191985" cy="2651757"/>
          </a:xfrm>
          <a:prstGeom prst="rect">
            <a:avLst/>
          </a:prstGeom>
          <a:noFill/>
        </p:spPr>
      </p:pic>
      <p:sp>
        <p:nvSpPr>
          <p:cNvPr id="42" name="Title 2">
            <a:extLst>
              <a:ext uri="{FF2B5EF4-FFF2-40B4-BE49-F238E27FC236}">
                <a16:creationId xmlns:a16="http://schemas.microsoft.com/office/drawing/2014/main" id="{5C70A7B1-C572-9389-C782-CB925928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endParaRPr lang="en-US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9623CAFB-7EAF-4467-9CE1-F1DDA404F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61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i="1" dirty="0" err="1"/>
              <a:t>List</a:t>
            </a:r>
            <a:r>
              <a:rPr lang="pt-BR" sz="4800" i="1" dirty="0"/>
              <a:t> </a:t>
            </a:r>
            <a:r>
              <a:rPr lang="pt-BR" sz="4800" i="1" dirty="0" err="1"/>
              <a:t>Comprehension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3600" dirty="0"/>
              <a:t>A abrangência de lista combina o </a:t>
            </a:r>
            <a:r>
              <a:rPr lang="pt-BR" sz="3600" i="1" dirty="0"/>
              <a:t>laço for </a:t>
            </a:r>
            <a:r>
              <a:rPr lang="pt-BR" sz="3600" dirty="0"/>
              <a:t>e a criação de novos elementos em uma linha, e concatena cada novo elemento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1175437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7C937C-EC6E-264E-C1F5-EB912C0D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892" y="0"/>
            <a:ext cx="9538231" cy="4578350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Como havíamos feito uma lista de quadrados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40622C5-8428-D2CD-2432-62FB6151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064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FC63D28-A764-10C5-2798-2E20AE2A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085217"/>
            <a:ext cx="12191985" cy="2407916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Como podemos fazer com abrangência de lista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‘value**2’ é a </a:t>
            </a:r>
            <a:r>
              <a:rPr lang="en-US" b="1" dirty="0" err="1"/>
              <a:t>expressão</a:t>
            </a:r>
            <a:r>
              <a:rPr lang="en-US" b="1" dirty="0"/>
              <a:t> </a:t>
            </a:r>
            <a:r>
              <a:rPr lang="en-US" dirty="0"/>
              <a:t>que </a:t>
            </a:r>
            <a:r>
              <a:rPr lang="en-US" dirty="0" err="1"/>
              <a:t>elevará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‘value’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quadrado</a:t>
            </a:r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laço</a:t>
            </a:r>
            <a:r>
              <a:rPr lang="en-US" dirty="0"/>
              <a:t> for </a:t>
            </a:r>
            <a:r>
              <a:rPr lang="en-US" dirty="0" err="1"/>
              <a:t>gera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dado </a:t>
            </a:r>
            <a:r>
              <a:rPr lang="en-US" dirty="0" err="1"/>
              <a:t>intervalo</a:t>
            </a:r>
            <a:r>
              <a:rPr lang="en-US" dirty="0"/>
              <a:t> (1,11)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8734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Fatiando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Assim como fatiamos nossas cadeias de caracteres na aula anterior, podemos fatiar listas</a:t>
            </a:r>
          </a:p>
        </p:txBody>
      </p:sp>
    </p:spTree>
    <p:extLst>
      <p:ext uri="{BB962C8B-B14F-4D97-AF65-F5344CB8AC3E}">
        <p14:creationId xmlns:p14="http://schemas.microsoft.com/office/powerpoint/2010/main" val="137196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285CDF-8178-B7F4-64B5-6FB9DECA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1130937"/>
            <a:ext cx="12191985" cy="2316476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300" dirty="0"/>
              <a:t>Fatiamento de listas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3080356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4000" dirty="0"/>
          </a:p>
          <a:p>
            <a:pPr lvl="1"/>
            <a:r>
              <a:rPr lang="pt-BR" sz="4000" dirty="0"/>
              <a:t>Uma lista </a:t>
            </a:r>
            <a:r>
              <a:rPr lang="pt-BR" sz="4000" b="1" dirty="0"/>
              <a:t>imutável</a:t>
            </a:r>
            <a:r>
              <a:rPr lang="pt-BR" sz="4000" dirty="0"/>
              <a:t> é chamada de tupla.</a:t>
            </a:r>
          </a:p>
          <a:p>
            <a:pPr lvl="1"/>
            <a:r>
              <a:rPr lang="pt-BR" sz="4000" dirty="0"/>
              <a:t>Tuplas são escritas entre parênteses </a:t>
            </a:r>
            <a:r>
              <a:rPr lang="pt-BR" sz="4000" dirty="0">
                <a:solidFill>
                  <a:srgbClr val="EC7016"/>
                </a:solidFill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8664647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Tuplas</a:t>
            </a:r>
            <a:endParaRPr lang="pt-BR" sz="3300" dirty="0"/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C67A7EE-17D6-02F7-4D82-64305326A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Suponhamos</a:t>
            </a:r>
            <a:r>
              <a:rPr lang="en-US" dirty="0"/>
              <a:t> que [0] e [1]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coordenadas</a:t>
            </a:r>
            <a:r>
              <a:rPr lang="en-US" dirty="0"/>
              <a:t> de um </a:t>
            </a:r>
            <a:r>
              <a:rPr lang="en-US" dirty="0" err="1"/>
              <a:t>retângulo</a:t>
            </a:r>
            <a:r>
              <a:rPr lang="en-US" dirty="0"/>
              <a:t> que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altaradas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CFF09F-C9A6-72CE-82CE-DC0176DF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86" y="837998"/>
            <a:ext cx="4677428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13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CEFEC2-CFE6-78C8-F42E-8093A09F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307977"/>
            <a:ext cx="12191985" cy="3962395"/>
          </a:xfrm>
          <a:prstGeom prst="rect">
            <a:avLst/>
          </a:prstGeom>
          <a:noFill/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/>
              <a:t>Tuplas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E350AC4-3E13-24CD-1B35-650486B3D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95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E76357A-DF90-57CD-D9A0-45EBBE07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Tuplas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5E350AC4-3E13-24CD-1B35-650486B3D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r>
              <a:rPr lang="en-US" sz="1800" dirty="0"/>
              <a:t>Podemos, </a:t>
            </a:r>
            <a:r>
              <a:rPr lang="en-US" sz="1800" dirty="0" err="1"/>
              <a:t>entretanto</a:t>
            </a:r>
            <a:r>
              <a:rPr lang="en-US" sz="1800" dirty="0"/>
              <a:t>, </a:t>
            </a:r>
            <a:r>
              <a:rPr lang="en-US" sz="1800" dirty="0" err="1"/>
              <a:t>sobrescrever</a:t>
            </a:r>
            <a:r>
              <a:rPr lang="en-US" sz="1800" dirty="0"/>
              <a:t> </a:t>
            </a:r>
            <a:r>
              <a:rPr lang="en-US" sz="1800" dirty="0" err="1"/>
              <a:t>uma</a:t>
            </a:r>
            <a:r>
              <a:rPr lang="en-US" sz="1800" dirty="0"/>
              <a:t> </a:t>
            </a:r>
            <a:r>
              <a:rPr lang="en-US" sz="1800" dirty="0" err="1"/>
              <a:t>tupla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0498FA-9FC0-F8C0-84D5-B76B617A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365" y="876104"/>
            <a:ext cx="480127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3757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2DBFEB-3F3B-4E8A-8E56-729ED4F87FA5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728</TotalTime>
  <Words>570</Words>
  <Application>Microsoft Office PowerPoint</Application>
  <PresentationFormat>Widescreen</PresentationFormat>
  <Paragraphs>94</Paragraphs>
  <Slides>48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2" baseType="lpstr">
      <vt:lpstr>Bookman Old Style</vt:lpstr>
      <vt:lpstr>Calibri</vt:lpstr>
      <vt:lpstr>Franklin Gothic Book</vt:lpstr>
      <vt:lpstr>1_RetrospectVTI</vt:lpstr>
      <vt:lpstr>Pensamento lógico computacional com Python</vt:lpstr>
      <vt:lpstr>Exercício 1</vt:lpstr>
      <vt:lpstr>Apresentação do PowerPoint</vt:lpstr>
      <vt:lpstr>Exercício 2</vt:lpstr>
      <vt:lpstr>Apresentação do PowerPoint</vt:lpstr>
      <vt:lpstr>Exercício 3</vt:lpstr>
      <vt:lpstr>Apresentação do PowerPoint</vt:lpstr>
      <vt:lpstr>Nomeando Variáveis</vt:lpstr>
      <vt:lpstr>Nomeando Variáveis</vt:lpstr>
      <vt:lpstr>Nomeando Variáveis</vt:lpstr>
      <vt:lpstr>Nomeando Variáveis</vt:lpstr>
      <vt:lpstr>Nomeando Variáveis</vt:lpstr>
      <vt:lpstr>Nomeando Variáveis</vt:lpstr>
      <vt:lpstr>Listas</vt:lpstr>
      <vt:lpstr>Listas</vt:lpstr>
      <vt:lpstr>Apresentação do PowerPoint</vt:lpstr>
      <vt:lpstr>Listas</vt:lpstr>
      <vt:lpstr>Apresentação do PowerPoint</vt:lpstr>
      <vt:lpstr>Apresentação do PowerPoint</vt:lpstr>
      <vt:lpstr>Listas</vt:lpstr>
      <vt:lpstr>Apresentação do PowerPoint</vt:lpstr>
      <vt:lpstr>Listas</vt:lpstr>
      <vt:lpstr>Substituindo através do índice</vt:lpstr>
      <vt:lpstr>Adicionando elementos no final com append()</vt:lpstr>
      <vt:lpstr>append() também permite preencher listas</vt:lpstr>
      <vt:lpstr>Armazenando respostas de input em listas</vt:lpstr>
      <vt:lpstr>Adicionando elementos em posições específicas</vt:lpstr>
      <vt:lpstr>Removendo elementos em posições específicas</vt:lpstr>
      <vt:lpstr>Removendo elementos por valores específicos</vt:lpstr>
      <vt:lpstr>Ordenando a lista em ordem alfabética</vt:lpstr>
      <vt:lpstr>Descobrindo o tamanho de uma lista</vt:lpstr>
      <vt:lpstr>Laço for ( for loop )</vt:lpstr>
      <vt:lpstr>O laço percorreu toda a lista e mostrou seus valores</vt:lpstr>
      <vt:lpstr>Laço for ( for loop )</vt:lpstr>
      <vt:lpstr>A função range( ) criou uma série de números de 1 a 9</vt:lpstr>
      <vt:lpstr>Podemos criar uma lista de números</vt:lpstr>
      <vt:lpstr>Podemos criar uma lista de números pares</vt:lpstr>
      <vt:lpstr>Apresentação do PowerPoint</vt:lpstr>
      <vt:lpstr>Apresentação do PowerPoint</vt:lpstr>
      <vt:lpstr>List Comprehension</vt:lpstr>
      <vt:lpstr>Como havíamos feito uma lista de quadrados</vt:lpstr>
      <vt:lpstr>Como podemos fazer com abrangência de lista</vt:lpstr>
      <vt:lpstr>Fatiando listas</vt:lpstr>
      <vt:lpstr>Fatiamento de listas</vt:lpstr>
      <vt:lpstr>Tuplas</vt:lpstr>
      <vt:lpstr>Tuplas</vt:lpstr>
      <vt:lpstr>Tuplas</vt:lpstr>
      <vt:lpstr>Tuplas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50</cp:revision>
  <dcterms:created xsi:type="dcterms:W3CDTF">2022-08-15T17:51:41Z</dcterms:created>
  <dcterms:modified xsi:type="dcterms:W3CDTF">2025-03-18T19:21:49Z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