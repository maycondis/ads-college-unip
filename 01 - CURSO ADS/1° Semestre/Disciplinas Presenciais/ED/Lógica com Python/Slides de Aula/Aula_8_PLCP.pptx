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9"/>
  </p:notesMasterIdLst>
  <p:handoutMasterIdLst>
    <p:handoutMasterId r:id="rId20"/>
  </p:handoutMasterIdLst>
  <p:sldIdLst>
    <p:sldId id="351" r:id="rId5"/>
    <p:sldId id="323" r:id="rId6"/>
    <p:sldId id="324" r:id="rId7"/>
    <p:sldId id="325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334" r:id="rId17"/>
    <p:sldId id="335" r:id="rId18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EC7016"/>
    <a:srgbClr val="909090"/>
    <a:srgbClr val="5A5A5A"/>
    <a:srgbClr val="1E1E1E"/>
    <a:srgbClr val="FFDA00"/>
    <a:srgbClr val="CE9178"/>
    <a:srgbClr val="DCDCAA"/>
    <a:srgbClr val="38383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19" autoAdjust="0"/>
  </p:normalViewPr>
  <p:slideViewPr>
    <p:cSldViewPr snapToGrid="0">
      <p:cViewPr varScale="1">
        <p:scale>
          <a:sx n="70" d="100"/>
          <a:sy n="70" d="100"/>
        </p:scale>
        <p:origin x="85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94" y="8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935E2-E7C1-4ED2-91A8-3D2EF90039F0}" type="datetimeFigureOut">
              <a:rPr lang="pt-BR" smtClean="0"/>
              <a:t>22/04/2025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27CB4-B6D2-4E90-9CC1-824CE88DA95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3764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6FA47-21D5-4047-9471-F01A728B28BE}" type="datetimeFigureOut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501BF-1D2B-4868-94EC-1ACE4360F5A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87417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3501BF-1D2B-4868-94EC-1ACE4360F5AC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374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058210-3CDA-4DDA-8356-4FED81F3EC11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0A45F5-F797-498C-8B7A-1AAECBDA6E61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9AE4E-7FCD-4AA8-8737-FC932D28D25C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469966-2CA8-44E6-8B22-84BCFB10A849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BCC592-1277-433B-ABE2-7821BB8F5F47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34C60-AB26-43CA-BC61-01B53B651217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29BC98-DC8A-4339-9F6E-A49DA685FCB7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BA6BBE74-918B-43BF-B29E-5C4A628D9277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 dirty="0"/>
              <a:t>Clique no ícone para adicionar uma imagem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0A1C5B49-891F-4320-82CB-3E8E2B9DD127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BA7412EA-3900-4FDB-8760-09BB6255EE2A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408819" cy="3686015"/>
          </a:xfrm>
        </p:spPr>
        <p:txBody>
          <a:bodyPr rtlCol="0">
            <a:noAutofit/>
          </a:bodyPr>
          <a:lstStyle/>
          <a:p>
            <a:r>
              <a:rPr lang="pt-BR" sz="5400" dirty="0"/>
              <a:t>Pensamento lógico computacional com Python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Prof. Flávio Waltz</a:t>
            </a:r>
          </a:p>
        </p:txBody>
      </p:sp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00BC911C-ACE2-4EFB-A0CE-485B21E0D3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898" y="4846553"/>
            <a:ext cx="1773372" cy="1773372"/>
          </a:xfrm>
          <a:prstGeom prst="rect">
            <a:avLst/>
          </a:prstGeom>
        </p:spPr>
      </p:pic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E09A70B3-11B4-7BBC-14D1-CD257272C38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9770"/>
          <a:stretch/>
        </p:blipFill>
        <p:spPr>
          <a:xfrm>
            <a:off x="7200168" y="1366357"/>
            <a:ext cx="4171950" cy="412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279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Erros e Exceções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Python usa objetos especiais chamados </a:t>
            </a:r>
            <a:r>
              <a:rPr lang="pt-BR" sz="3600" b="1" i="1" dirty="0"/>
              <a:t>exceções </a:t>
            </a:r>
            <a:r>
              <a:rPr lang="pt-BR" sz="3600" dirty="0"/>
              <a:t>para administrar erros que surgirem durante a execução de um programa</a:t>
            </a:r>
          </a:p>
        </p:txBody>
      </p:sp>
    </p:spTree>
    <p:extLst>
      <p:ext uri="{BB962C8B-B14F-4D97-AF65-F5344CB8AC3E}">
        <p14:creationId xmlns:p14="http://schemas.microsoft.com/office/powerpoint/2010/main" val="3276131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Erros e Exceções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As exceções são tratadas como blocos </a:t>
            </a:r>
            <a:r>
              <a:rPr lang="pt-BR" sz="3600" b="1" i="1" dirty="0" err="1">
                <a:solidFill>
                  <a:srgbClr val="EC7016"/>
                </a:solidFill>
              </a:rPr>
              <a:t>try</a:t>
            </a:r>
            <a:r>
              <a:rPr lang="pt-BR" sz="3600" b="1" i="1" dirty="0">
                <a:solidFill>
                  <a:srgbClr val="EC7016"/>
                </a:solidFill>
              </a:rPr>
              <a:t> </a:t>
            </a:r>
            <a:r>
              <a:rPr lang="pt-BR" sz="3600" b="1" i="1" dirty="0">
                <a:solidFill>
                  <a:srgbClr val="404040"/>
                </a:solidFill>
              </a:rPr>
              <a:t>-</a:t>
            </a:r>
            <a:r>
              <a:rPr lang="pt-BR" sz="3600" b="1" i="1" dirty="0">
                <a:solidFill>
                  <a:srgbClr val="EC7016"/>
                </a:solidFill>
              </a:rPr>
              <a:t> </a:t>
            </a:r>
            <a:r>
              <a:rPr lang="pt-BR" sz="3600" b="1" i="1" dirty="0" err="1">
                <a:solidFill>
                  <a:srgbClr val="EC7016"/>
                </a:solidFill>
              </a:rPr>
              <a:t>except</a:t>
            </a:r>
            <a:endParaRPr lang="pt-BR" sz="3600" b="1" i="1" dirty="0">
              <a:solidFill>
                <a:srgbClr val="EC701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262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Erros e Exceções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Um bloco </a:t>
            </a:r>
            <a:r>
              <a:rPr lang="pt-BR" sz="3600" b="1" i="1" dirty="0" err="1">
                <a:solidFill>
                  <a:srgbClr val="EC7016"/>
                </a:solidFill>
              </a:rPr>
              <a:t>try</a:t>
            </a:r>
            <a:r>
              <a:rPr lang="pt-BR" sz="3600" b="1" i="1" dirty="0">
                <a:solidFill>
                  <a:srgbClr val="EC7016"/>
                </a:solidFill>
              </a:rPr>
              <a:t> </a:t>
            </a:r>
            <a:r>
              <a:rPr lang="pt-BR" sz="3600" b="1" i="1" dirty="0">
                <a:solidFill>
                  <a:srgbClr val="404040"/>
                </a:solidFill>
              </a:rPr>
              <a:t>–</a:t>
            </a:r>
            <a:r>
              <a:rPr lang="pt-BR" sz="3600" b="1" i="1" dirty="0">
                <a:solidFill>
                  <a:srgbClr val="EC7016"/>
                </a:solidFill>
              </a:rPr>
              <a:t> </a:t>
            </a:r>
            <a:r>
              <a:rPr lang="pt-BR" sz="3600" b="1" i="1" dirty="0" err="1">
                <a:solidFill>
                  <a:srgbClr val="EC7016"/>
                </a:solidFill>
              </a:rPr>
              <a:t>except</a:t>
            </a:r>
            <a:r>
              <a:rPr lang="pt-BR" sz="3600" b="1" i="1" dirty="0">
                <a:solidFill>
                  <a:srgbClr val="EC7016"/>
                </a:solidFill>
              </a:rPr>
              <a:t> </a:t>
            </a:r>
            <a:r>
              <a:rPr lang="pt-BR" sz="3600" dirty="0"/>
              <a:t>pede que Python faça algo, mas também lhe diz o que deve ser feito se uma exceção for levantada</a:t>
            </a:r>
            <a:endParaRPr lang="pt-BR" sz="3600" b="1" i="1" dirty="0">
              <a:solidFill>
                <a:srgbClr val="EC701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613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Erros e Exceções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Por exemplo, é impossível dividir um número por 0. Python, então, mostraria um </a:t>
            </a:r>
            <a:r>
              <a:rPr lang="pt-BR" sz="3600" dirty="0" err="1"/>
              <a:t>traceback</a:t>
            </a:r>
            <a:endParaRPr lang="pt-BR" sz="3600" b="1" i="1" dirty="0">
              <a:solidFill>
                <a:srgbClr val="EC701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375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7E2B0C8-C146-6541-E5F2-8DA8DEAA8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2528"/>
            <a:ext cx="12192000" cy="3912944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F9AAFC3-6221-E255-A005-27B99FABAB56}"/>
              </a:ext>
            </a:extLst>
          </p:cNvPr>
          <p:cNvCxnSpPr/>
          <p:nvPr/>
        </p:nvCxnSpPr>
        <p:spPr>
          <a:xfrm>
            <a:off x="5878286" y="3429000"/>
            <a:ext cx="229035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AFB5C33-5374-1311-6EF7-7293412F0309}"/>
              </a:ext>
            </a:extLst>
          </p:cNvPr>
          <p:cNvCxnSpPr>
            <a:cxnSpLocks/>
          </p:cNvCxnSpPr>
          <p:nvPr/>
        </p:nvCxnSpPr>
        <p:spPr>
          <a:xfrm>
            <a:off x="788126" y="4460966"/>
            <a:ext cx="256467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60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Erros e Exceções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                           - Este é um objeto exceção.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DDE7745-7674-B42D-3723-1183CBD03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929" y="3004938"/>
            <a:ext cx="2876951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718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Erros e Exceções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Podemos dizer a Python o que ele deve fazer quando esse tipo de exceção ocorrer:</a:t>
            </a:r>
            <a:endParaRPr lang="pt-BR" sz="3600" b="1" i="1" dirty="0">
              <a:solidFill>
                <a:srgbClr val="EC701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332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879B106-329E-12E1-E84F-D4388D50E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467" y="1980998"/>
            <a:ext cx="9069066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663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Erros e Exceções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Esse tipo de tratamento de exceções é comum em programas que pedem dados de entrada de usuários:</a:t>
            </a:r>
            <a:endParaRPr lang="pt-BR" sz="3600" b="1" i="1" dirty="0">
              <a:solidFill>
                <a:srgbClr val="EC701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247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86BF3AF-C894-CFDE-432C-44ABBEB06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76" y="580627"/>
            <a:ext cx="11269648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573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3E8BED9A-B400-D408-D9B4-558D40B37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71" y="604443"/>
            <a:ext cx="10440857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41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6C395D7-557C-EFF5-87EE-C04DD005C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73" y="1395128"/>
            <a:ext cx="8268854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527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Erros e Exceções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Fazemos isso porque não queremos mostrar o </a:t>
            </a:r>
            <a:r>
              <a:rPr lang="pt-BR" sz="3600" i="1" dirty="0" err="1"/>
              <a:t>traceback</a:t>
            </a:r>
            <a:r>
              <a:rPr lang="pt-BR" sz="3600" dirty="0"/>
              <a:t> para o usuário.</a:t>
            </a:r>
            <a:endParaRPr lang="pt-BR" sz="3600" b="1" i="1" dirty="0">
              <a:solidFill>
                <a:srgbClr val="EC701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6869766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15_TF33845126.potx" id="{07B33CC6-269C-4DD5-9017-A83AF51479F7}" vid="{03982E99-A52E-4A57-A229-288B0228341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E6371B7FBC9264EBDD394A4B019F8ED" ma:contentTypeVersion="4" ma:contentTypeDescription="Crie um novo documento." ma:contentTypeScope="" ma:versionID="af3670115510099101ea552dd9cdaa5f">
  <xsd:schema xmlns:xsd="http://www.w3.org/2001/XMLSchema" xmlns:xs="http://www.w3.org/2001/XMLSchema" xmlns:p="http://schemas.microsoft.com/office/2006/metadata/properties" xmlns:ns2="76a559d0-596e-4236-90b1-6a2a903b2075" targetNamespace="http://schemas.microsoft.com/office/2006/metadata/properties" ma:root="true" ma:fieldsID="e8be88f5e8c103b8586b4e76ca28ffe1" ns2:_="">
    <xsd:import namespace="76a559d0-596e-4236-90b1-6a2a903b20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a559d0-596e-4236-90b1-6a2a903b20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16c05727-aa75-4e4a-9b5f-8a80a1165891"/>
    <ds:schemaRef ds:uri="71af3243-3dd4-4a8d-8c0d-dd76da1f02a5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2816A2-0B78-4A72-B1B5-13038C5965DD}"/>
</file>

<file path=docProps/app.xml><?xml version="1.0" encoding="utf-8"?>
<Properties xmlns="http://schemas.openxmlformats.org/officeDocument/2006/extended-properties" xmlns:vt="http://schemas.openxmlformats.org/officeDocument/2006/docPropsVTypes">
  <Template>{D129E361-7900-47DF-B65A-C5D6D83378F0}tf33845126_win32</Template>
  <TotalTime>1926</TotalTime>
  <Words>157</Words>
  <Application>Microsoft Office PowerPoint</Application>
  <PresentationFormat>Widescreen</PresentationFormat>
  <Paragraphs>27</Paragraphs>
  <Slides>14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Bookman Old Style</vt:lpstr>
      <vt:lpstr>Calibri</vt:lpstr>
      <vt:lpstr>Franklin Gothic Book</vt:lpstr>
      <vt:lpstr>1_RetrospectVTI</vt:lpstr>
      <vt:lpstr>Pensamento lógico computacional com Python</vt:lpstr>
      <vt:lpstr>Erros e Exceções</vt:lpstr>
      <vt:lpstr>Erros e Exceções</vt:lpstr>
      <vt:lpstr>Erros e Exceções</vt:lpstr>
      <vt:lpstr>Erros e Exceções</vt:lpstr>
      <vt:lpstr>Apresentação do PowerPoint</vt:lpstr>
      <vt:lpstr>Erros e Exceções</vt:lpstr>
      <vt:lpstr>Erros e Exceções</vt:lpstr>
      <vt:lpstr>Apresentação do PowerPoint</vt:lpstr>
      <vt:lpstr>Erros e Exceções</vt:lpstr>
      <vt:lpstr>Apresentação do PowerPoint</vt:lpstr>
      <vt:lpstr>Apresentação do PowerPoint</vt:lpstr>
      <vt:lpstr>Apresentação do PowerPoint</vt:lpstr>
      <vt:lpstr>Erros e Exceções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de software para Internet</dc:title>
  <dc:creator>Flávio Waltz</dc:creator>
  <cp:lastModifiedBy>Flávio Waltz</cp:lastModifiedBy>
  <cp:revision>93</cp:revision>
  <dcterms:created xsi:type="dcterms:W3CDTF">2022-08-15T17:51:41Z</dcterms:created>
  <dcterms:modified xsi:type="dcterms:W3CDTF">2025-04-22T18:53:37Z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0x010100CE6371B7FBC9264EBDD394A4B019F8ED</vt:lpwstr>
  </property>
</Properties>
</file>