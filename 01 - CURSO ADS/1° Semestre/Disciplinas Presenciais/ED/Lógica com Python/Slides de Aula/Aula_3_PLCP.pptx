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7"/>
  </p:notesMasterIdLst>
  <p:handoutMasterIdLst>
    <p:handoutMasterId r:id="rId48"/>
  </p:handoutMasterIdLst>
  <p:sldIdLst>
    <p:sldId id="351" r:id="rId5"/>
    <p:sldId id="270" r:id="rId6"/>
    <p:sldId id="271" r:id="rId7"/>
    <p:sldId id="317" r:id="rId8"/>
    <p:sldId id="318" r:id="rId9"/>
    <p:sldId id="319" r:id="rId10"/>
    <p:sldId id="272" r:id="rId11"/>
    <p:sldId id="273" r:id="rId12"/>
    <p:sldId id="274" r:id="rId13"/>
    <p:sldId id="275" r:id="rId14"/>
    <p:sldId id="320" r:id="rId15"/>
    <p:sldId id="321" r:id="rId16"/>
    <p:sldId id="322" r:id="rId17"/>
    <p:sldId id="323" r:id="rId18"/>
    <p:sldId id="352" r:id="rId19"/>
    <p:sldId id="324" r:id="rId20"/>
    <p:sldId id="329" r:id="rId21"/>
    <p:sldId id="325" r:id="rId22"/>
    <p:sldId id="330" r:id="rId23"/>
    <p:sldId id="326" r:id="rId24"/>
    <p:sldId id="327" r:id="rId25"/>
    <p:sldId id="328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8" r:id="rId43"/>
    <p:sldId id="347" r:id="rId44"/>
    <p:sldId id="349" r:id="rId45"/>
    <p:sldId id="350" r:id="rId4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016"/>
    <a:srgbClr val="1E1E1E"/>
    <a:srgbClr val="FFDA00"/>
    <a:srgbClr val="CE9178"/>
    <a:srgbClr val="DCDCAA"/>
    <a:srgbClr val="383838"/>
    <a:srgbClr val="FFFFFF"/>
    <a:srgbClr val="EDF2FC"/>
    <a:srgbClr val="F7F9FC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108" d="100"/>
          <a:sy n="108" d="100"/>
        </p:scale>
        <p:origin x="6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18/03/2025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18/03/2025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408819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Pensamento lógico computacional com Python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E09A70B3-11B4-7BBC-14D1-CD257272C38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770"/>
          <a:stretch/>
        </p:blipFill>
        <p:spPr>
          <a:xfrm>
            <a:off x="7200168" y="1366357"/>
            <a:ext cx="4171950" cy="412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7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Exercício 1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Crie uma lista de nomes dados via input. Em seguida, crie uma mensagem de saudação para ao menos um dos nomes da lista criada.</a:t>
            </a:r>
          </a:p>
        </p:txBody>
      </p:sp>
    </p:spTree>
    <p:extLst>
      <p:ext uri="{BB962C8B-B14F-4D97-AF65-F5344CB8AC3E}">
        <p14:creationId xmlns:p14="http://schemas.microsoft.com/office/powerpoint/2010/main" val="85381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EB9ED59-6881-5A69-A695-FC18D8DD2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337" y="0"/>
            <a:ext cx="6811326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1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02F2644-09C2-0B63-8D1F-EAF02DEE8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311" y="0"/>
            <a:ext cx="7419377" cy="640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70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F8BDD34-C885-8141-1089-117A06274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216" y="-1"/>
            <a:ext cx="7765568" cy="641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89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35AE385-FFFF-49E2-2669-E61CF198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0" y="1147444"/>
            <a:ext cx="12041280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1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Exercício 2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Utilizando a lista criada no Exercício 1, use o laço for para criar uma mensagem de saudação para cada um dos nomes na lista.</a:t>
            </a:r>
          </a:p>
        </p:txBody>
      </p:sp>
    </p:spTree>
    <p:extLst>
      <p:ext uri="{BB962C8B-B14F-4D97-AF65-F5344CB8AC3E}">
        <p14:creationId xmlns:p14="http://schemas.microsoft.com/office/powerpoint/2010/main" val="223634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383008A-5403-A329-BBCA-5E2C9BA21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17564"/>
            <a:ext cx="12197345" cy="365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71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Exercício 3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sz="3200" dirty="0"/>
              <a:t>Utilizando a lista criada no Exercício 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Utilize </a:t>
            </a:r>
            <a:r>
              <a:rPr lang="pt-BR" sz="3200" dirty="0" err="1"/>
              <a:t>insert</a:t>
            </a:r>
            <a:r>
              <a:rPr lang="pt-BR" sz="3200" dirty="0"/>
              <a:t>() para </a:t>
            </a:r>
            <a:r>
              <a:rPr lang="pt-BR" sz="3200" dirty="0" err="1"/>
              <a:t>adcionar</a:t>
            </a:r>
            <a:r>
              <a:rPr lang="pt-BR" sz="3200" dirty="0"/>
              <a:t> um novo item no início da lista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Utilize </a:t>
            </a:r>
            <a:r>
              <a:rPr lang="pt-BR" sz="3200" dirty="0" err="1"/>
              <a:t>insert</a:t>
            </a:r>
            <a:r>
              <a:rPr lang="pt-BR" sz="3200" dirty="0"/>
              <a:t>() para </a:t>
            </a:r>
            <a:r>
              <a:rPr lang="pt-BR" sz="3200" dirty="0" err="1"/>
              <a:t>adcionar</a:t>
            </a:r>
            <a:r>
              <a:rPr lang="pt-BR" sz="3200" dirty="0"/>
              <a:t> um novo item no meio da lista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200" dirty="0"/>
              <a:t>Utilize </a:t>
            </a:r>
            <a:r>
              <a:rPr lang="pt-BR" sz="3200" dirty="0" err="1"/>
              <a:t>append</a:t>
            </a:r>
            <a:r>
              <a:rPr lang="pt-BR" sz="3200" dirty="0"/>
              <a:t>() para </a:t>
            </a:r>
            <a:r>
              <a:rPr lang="pt-BR" sz="3200" dirty="0" err="1"/>
              <a:t>adcionar</a:t>
            </a:r>
            <a:r>
              <a:rPr lang="pt-BR" sz="3200" dirty="0"/>
              <a:t> um novo item no final da lista</a:t>
            </a:r>
          </a:p>
        </p:txBody>
      </p:sp>
    </p:spTree>
    <p:extLst>
      <p:ext uri="{BB962C8B-B14F-4D97-AF65-F5344CB8AC3E}">
        <p14:creationId xmlns:p14="http://schemas.microsoft.com/office/powerpoint/2010/main" val="1477717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9060836-1FA4-1A1F-9690-469E389BD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4839"/>
            <a:ext cx="12192000" cy="228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10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Exercício 4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Um número elevado à terceira potência é chamado de cubo. Crie uma lista dos dez primeiros cubos (cada inteiro de 1 a 10) e utilize um laço for para exibir o valor de cada cubo. Faça uma versão com e outra sem </a:t>
            </a:r>
            <a:r>
              <a:rPr lang="pt-BR" sz="3200" i="1" dirty="0" err="1"/>
              <a:t>list</a:t>
            </a:r>
            <a:r>
              <a:rPr lang="pt-BR" sz="3200" i="1" dirty="0"/>
              <a:t> </a:t>
            </a:r>
            <a:r>
              <a:rPr lang="pt-BR" sz="3200" i="1" dirty="0" err="1"/>
              <a:t>comprehensions</a:t>
            </a:r>
            <a:r>
              <a:rPr lang="pt-BR" sz="32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133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D55EBFE-A1D7-FAC2-830C-F75FDAA66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185" y="-1"/>
            <a:ext cx="8687631" cy="640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57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Instruções </a:t>
            </a:r>
            <a:r>
              <a:rPr lang="pt-BR" sz="4800" b="1" i="1" dirty="0" err="1"/>
              <a:t>if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Permitem analisar o estado atual de um programa e responder de forma apropriada a esse estado.</a:t>
            </a:r>
          </a:p>
          <a:p>
            <a:r>
              <a:rPr lang="pt-BR" sz="3600" dirty="0"/>
              <a:t>Escreveremos </a:t>
            </a:r>
            <a:r>
              <a:rPr lang="pt-BR" sz="3600" b="1" dirty="0"/>
              <a:t>testes condicionais</a:t>
            </a:r>
          </a:p>
        </p:txBody>
      </p:sp>
    </p:spTree>
    <p:extLst>
      <p:ext uri="{BB962C8B-B14F-4D97-AF65-F5344CB8AC3E}">
        <p14:creationId xmlns:p14="http://schemas.microsoft.com/office/powerpoint/2010/main" val="797318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4C3510C-2DD6-40F1-B4CB-A4EEF390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513"/>
          <a:stretch/>
        </p:blipFill>
        <p:spPr>
          <a:xfrm>
            <a:off x="1675783" y="616458"/>
            <a:ext cx="8840434" cy="327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84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4C3510C-2DD6-40F1-B4CB-A4EEF390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616458"/>
            <a:ext cx="8840434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0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3D76EFD-F469-2B40-1E2C-27639C3347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200"/>
          <a:stretch/>
        </p:blipFill>
        <p:spPr>
          <a:xfrm>
            <a:off x="2681525" y="0"/>
            <a:ext cx="6828950" cy="2152592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F0AE3A9E-28CF-70E6-639B-8F23DF49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será o output?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46BA772B-024E-AABA-8B28-0DE6537D2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122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3D76EFD-F469-2B40-1E2C-27639C334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525" y="0"/>
            <a:ext cx="6828950" cy="366088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84B1338-0B92-F186-88A3-2B0B0DD8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AAFEBFB-2A62-0D65-EB72-CE2FAEA76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1767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58F0340-6915-49BD-3024-43B790E1C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285"/>
          <a:stretch/>
        </p:blipFill>
        <p:spPr>
          <a:xfrm>
            <a:off x="2892139" y="0"/>
            <a:ext cx="6407721" cy="1630837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7FA35E2D-4C44-EECB-3EC4-14F194A6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será o output?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30773A2-EC66-B1C2-2DE1-426A3E729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301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58F0340-6915-49BD-3024-43B790E1C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139" y="0"/>
            <a:ext cx="6407721" cy="2600415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7FA35E2D-4C44-EECB-3EC4-14F194A6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30773A2-EC66-B1C2-2DE1-426A3E729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903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BC4BFB1-2165-3935-D58C-17419E9DD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44" y="1698009"/>
            <a:ext cx="6797111" cy="274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13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B6ABC49-80D2-F6A5-DDC9-468F17D84E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593"/>
          <a:stretch/>
        </p:blipFill>
        <p:spPr>
          <a:xfrm>
            <a:off x="2504574" y="0"/>
            <a:ext cx="7182852" cy="2300961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será o output?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E4134F8-6062-19C4-9AA1-7B176370D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4942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B6ABC49-80D2-F6A5-DDC9-468F17D84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574" y="0"/>
            <a:ext cx="7182852" cy="33151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899DEA0-6E70-A782-BDE4-55CF591C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66E2FE-5174-E09D-2B2E-0D54EF07D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7405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será o output?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E4134F8-6062-19C4-9AA1-7B176370D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51B9C32-6609-ADD5-1446-EBE994B8D8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452"/>
          <a:stretch/>
        </p:blipFill>
        <p:spPr>
          <a:xfrm>
            <a:off x="2652232" y="0"/>
            <a:ext cx="6887536" cy="235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32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E4134F8-6062-19C4-9AA1-7B176370D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51B9C32-6609-ADD5-1446-EBE994B8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232" y="0"/>
            <a:ext cx="6887536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5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Verificando se um valor está em uma lista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E4134F8-6062-19C4-9AA1-7B176370D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D022CA-97E7-27C5-5B49-E0A0CBB7B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864269"/>
            <a:ext cx="9135750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9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6E87A3A-897B-D44B-AB9A-AC72A103C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932817"/>
            <a:ext cx="12191985" cy="2712715"/>
          </a:xfrm>
          <a:prstGeom prst="rect">
            <a:avLst/>
          </a:prstGeom>
          <a:noFill/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sz="3500" dirty="0"/>
              <a:t>Verificando se um valor não está em uma lista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F67CA1E-1D2D-4643-3E5C-6CEBBC69D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6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 fontScale="90000"/>
          </a:bodyPr>
          <a:lstStyle/>
          <a:p>
            <a:r>
              <a:rPr lang="pt-BR" sz="3500" dirty="0" err="1"/>
              <a:t>else</a:t>
            </a:r>
            <a:r>
              <a:rPr lang="pt-BR" sz="3500" dirty="0"/>
              <a:t> é executado quando o teste condicional falhar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F67CA1E-1D2D-4643-3E5C-6CEBBC69D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616F4A-F87D-0182-C51C-2454DCB3F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35351"/>
            <a:ext cx="10031225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10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Instruções </a:t>
            </a:r>
            <a:r>
              <a:rPr lang="pt-BR" sz="4800" b="1" i="1" dirty="0" err="1"/>
              <a:t>if-elif-else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Para quando temas mais de duas condições possíveis. Exemplo:</a:t>
            </a:r>
          </a:p>
          <a:p>
            <a:pPr lvl="1"/>
            <a:r>
              <a:rPr lang="pt-BR" sz="3400" b="1" dirty="0"/>
              <a:t>Entrada para menores de 4 anos: gratuita</a:t>
            </a:r>
          </a:p>
          <a:p>
            <a:pPr lvl="1"/>
            <a:r>
              <a:rPr lang="pt-BR" sz="3400" b="1" dirty="0"/>
              <a:t>Entrada para pessoas de 4 a 18 anos: 10 reais</a:t>
            </a:r>
          </a:p>
          <a:p>
            <a:pPr lvl="1"/>
            <a:r>
              <a:rPr lang="pt-BR" sz="3400" b="1" dirty="0"/>
              <a:t>Entrada para maiores de 18 anos: 20 reais</a:t>
            </a:r>
          </a:p>
        </p:txBody>
      </p:sp>
    </p:spTree>
    <p:extLst>
      <p:ext uri="{BB962C8B-B14F-4D97-AF65-F5344CB8AC3E}">
        <p14:creationId xmlns:p14="http://schemas.microsoft.com/office/powerpoint/2010/main" val="2368459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5C6BC82-FC69-4C5B-81E0-F07A8D7C3F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816"/>
          <a:stretch/>
        </p:blipFill>
        <p:spPr>
          <a:xfrm>
            <a:off x="2182887" y="0"/>
            <a:ext cx="7826240" cy="4128940"/>
          </a:xfrm>
          <a:prstGeom prst="rect">
            <a:avLst/>
          </a:prstGeom>
          <a:noFill/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Qual será o output?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6ED0F5A-E176-D94F-9049-9348BD0B2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0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5C6BC82-FC69-4C5B-81E0-F07A8D7C3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887" y="0"/>
            <a:ext cx="7826240" cy="4578350"/>
          </a:xfrm>
          <a:prstGeom prst="rect">
            <a:avLst/>
          </a:prstGeom>
          <a:noFill/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As condições são testadas sequencialmente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6ED0F5A-E176-D94F-9049-9348BD0B2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8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D518327-C635-BE82-3B1E-2C767DDB4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08" y="103695"/>
            <a:ext cx="10450383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51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B32FD9C-572A-BEF6-35A5-84D8619B5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37" y="0"/>
            <a:ext cx="10405341" cy="4578350"/>
          </a:xfrm>
          <a:prstGeom prst="rect">
            <a:avLst/>
          </a:prstGeom>
          <a:noFill/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Quando mais de uma condição pode ser </a:t>
            </a:r>
            <a:r>
              <a:rPr lang="pt-BR" dirty="0" err="1"/>
              <a:t>True</a:t>
            </a:r>
            <a:endParaRPr lang="pt-BR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75E9F9A3-D9CD-21F8-DF75-CDC227B5D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16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C154D87-3D31-9C15-CBE7-F2FDE072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318" y="0"/>
            <a:ext cx="9021379" cy="4578350"/>
          </a:xfrm>
          <a:prstGeom prst="rect">
            <a:avLst/>
          </a:prstGeom>
          <a:noFill/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Verificando itens em uma lista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8708325D-F8C2-B205-B086-2653CCACA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62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D630251-B4DE-DB23-B542-8AAC3C332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13" y="0"/>
            <a:ext cx="10772588" cy="4578350"/>
          </a:xfrm>
          <a:prstGeom prst="rect">
            <a:avLst/>
          </a:prstGeom>
          <a:noFill/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Se a lista estiver vazia, </a:t>
            </a:r>
            <a:r>
              <a:rPr lang="pt-BR" dirty="0" err="1"/>
              <a:t>if</a:t>
            </a:r>
            <a:r>
              <a:rPr lang="pt-BR" dirty="0"/>
              <a:t> retornará False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752D8B81-5991-8663-E90E-809705556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47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Laços </a:t>
            </a:r>
            <a:r>
              <a:rPr lang="pt-BR" sz="4800" b="1" i="1" dirty="0" err="1"/>
              <a:t>while</a:t>
            </a:r>
            <a:endParaRPr lang="pt-BR" b="1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O laço </a:t>
            </a:r>
            <a:r>
              <a:rPr lang="pt-BR" sz="3600" b="1" i="1" dirty="0"/>
              <a:t>for</a:t>
            </a:r>
            <a:r>
              <a:rPr lang="pt-BR" sz="3600" dirty="0"/>
              <a:t> toma uma coleção de itens e executa um bloco de código uma vez para cada item da coleção</a:t>
            </a:r>
          </a:p>
          <a:p>
            <a:r>
              <a:rPr lang="pt-BR" sz="3400" dirty="0"/>
              <a:t>O laço </a:t>
            </a:r>
            <a:r>
              <a:rPr lang="pt-BR" sz="3400" b="1" i="1" dirty="0" err="1"/>
              <a:t>while</a:t>
            </a:r>
            <a:r>
              <a:rPr lang="pt-BR" sz="3400" dirty="0"/>
              <a:t> executa enquanto uma determinada condição for verdadeira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357064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3EA0696-DF89-AB77-C220-E70BBFE7AF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055"/>
          <a:stretch/>
        </p:blipFill>
        <p:spPr>
          <a:xfrm>
            <a:off x="3179860" y="0"/>
            <a:ext cx="5832294" cy="2149311"/>
          </a:xfrm>
          <a:prstGeom prst="rect">
            <a:avLst/>
          </a:prstGeom>
          <a:noFill/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Qual será o output?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9051C5F-AB41-A6D5-7EBD-26571990A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8096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3EA0696-DF89-AB77-C220-E70BBFE7A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60" y="0"/>
            <a:ext cx="5832294" cy="4578350"/>
          </a:xfrm>
          <a:prstGeom prst="rect">
            <a:avLst/>
          </a:prstGeom>
          <a:noFill/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2118468A-CF76-B321-D3F4-BFAD2A1C2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 fontScale="90000"/>
          </a:bodyPr>
          <a:lstStyle/>
          <a:p>
            <a:r>
              <a:rPr lang="pt-BR" dirty="0" err="1"/>
              <a:t>while</a:t>
            </a:r>
            <a:r>
              <a:rPr lang="pt-BR" dirty="0"/>
              <a:t> continuará executando enquanto o valor em </a:t>
            </a:r>
            <a:r>
              <a:rPr lang="pt-BR" dirty="0" err="1"/>
              <a:t>numero_inicial</a:t>
            </a:r>
            <a:r>
              <a:rPr lang="pt-BR" dirty="0"/>
              <a:t> for menor ou igual a 5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772F844C-696F-DE82-F7C9-0584BF984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operador</a:t>
            </a:r>
            <a:r>
              <a:rPr lang="en-US" dirty="0"/>
              <a:t> </a:t>
            </a:r>
            <a:r>
              <a:rPr lang="en-US" b="1" dirty="0"/>
              <a:t>+=</a:t>
            </a:r>
            <a:r>
              <a:rPr lang="en-US" dirty="0"/>
              <a:t> é um </a:t>
            </a:r>
            <a:r>
              <a:rPr lang="en-US" dirty="0" err="1"/>
              <a:t>atalho</a:t>
            </a:r>
            <a:r>
              <a:rPr lang="en-US" dirty="0"/>
              <a:t> para </a:t>
            </a:r>
            <a:r>
              <a:rPr lang="en-US" dirty="0" err="1"/>
              <a:t>numero_inicial</a:t>
            </a:r>
            <a:r>
              <a:rPr lang="en-US" dirty="0"/>
              <a:t> = </a:t>
            </a:r>
            <a:r>
              <a:rPr lang="en-US" dirty="0" err="1"/>
              <a:t>numero_inicial</a:t>
            </a:r>
            <a:r>
              <a:rPr lang="en-US" dirty="0"/>
              <a:t> + 1</a:t>
            </a:r>
          </a:p>
        </p:txBody>
      </p:sp>
    </p:spTree>
    <p:extLst>
      <p:ext uri="{BB962C8B-B14F-4D97-AF65-F5344CB8AC3E}">
        <p14:creationId xmlns:p14="http://schemas.microsoft.com/office/powerpoint/2010/main" val="2410332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A3152E71-9C44-CF02-C206-E0CA7345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90" y="0"/>
            <a:ext cx="7483420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76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Laços </a:t>
            </a:r>
            <a:r>
              <a:rPr lang="pt-BR" sz="4800" i="1" dirty="0" err="1"/>
              <a:t>while</a:t>
            </a:r>
            <a:r>
              <a:rPr lang="pt-BR" sz="4800" i="1" dirty="0"/>
              <a:t> - </a:t>
            </a:r>
            <a:r>
              <a:rPr lang="pt-BR" sz="4800" b="1" i="1" dirty="0"/>
              <a:t>flag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Para quando vários eventos diferentes podem fazer o programa parar de executar</a:t>
            </a:r>
          </a:p>
          <a:p>
            <a:r>
              <a:rPr lang="pt-BR" sz="3600" dirty="0"/>
              <a:t>É uma variável que determina se o programa como um todo deve estar ativo</a:t>
            </a:r>
          </a:p>
        </p:txBody>
      </p:sp>
    </p:spTree>
    <p:extLst>
      <p:ext uri="{BB962C8B-B14F-4D97-AF65-F5344CB8AC3E}">
        <p14:creationId xmlns:p14="http://schemas.microsoft.com/office/powerpoint/2010/main" val="33191406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AF300E1-DF00-2BF1-7B6B-A703ADC6D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199606"/>
            <a:ext cx="7506748" cy="6001588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442DFC4-1779-D612-78F2-56BA954A5C3C}"/>
              </a:ext>
            </a:extLst>
          </p:cNvPr>
          <p:cNvSpPr/>
          <p:nvPr/>
        </p:nvSpPr>
        <p:spPr>
          <a:xfrm>
            <a:off x="1847850" y="1366837"/>
            <a:ext cx="1133475" cy="180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9EEA0C7-05FD-2D30-5DD1-233BADCD1827}"/>
              </a:ext>
            </a:extLst>
          </p:cNvPr>
          <p:cNvSpPr txBox="1"/>
          <p:nvPr/>
        </p:nvSpPr>
        <p:spPr>
          <a:xfrm>
            <a:off x="902129" y="1131599"/>
            <a:ext cx="907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Flag</a:t>
            </a:r>
          </a:p>
        </p:txBody>
      </p:sp>
    </p:spTree>
    <p:extLst>
      <p:ext uri="{BB962C8B-B14F-4D97-AF65-F5344CB8AC3E}">
        <p14:creationId xmlns:p14="http://schemas.microsoft.com/office/powerpoint/2010/main" val="34297574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89E53-C06B-4022-90CF-8827E183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/>
              <a:t>Laços </a:t>
            </a:r>
            <a:r>
              <a:rPr lang="pt-BR" sz="4800" i="1" dirty="0" err="1"/>
              <a:t>while</a:t>
            </a:r>
            <a:r>
              <a:rPr lang="pt-BR" sz="4800" i="1" dirty="0"/>
              <a:t> - </a:t>
            </a:r>
            <a:r>
              <a:rPr lang="pt-BR" sz="4800" b="1" i="1" dirty="0"/>
              <a:t>break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A62F3-B7D3-47B7-8AA2-75F8DD140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400" dirty="0"/>
              <a:t>Para sair imediatamente de um laço, sem executar qualquer código restante no laço, independentemente do resultado de qualquer teste condicional</a:t>
            </a:r>
          </a:p>
        </p:txBody>
      </p:sp>
    </p:spTree>
    <p:extLst>
      <p:ext uri="{BB962C8B-B14F-4D97-AF65-F5344CB8AC3E}">
        <p14:creationId xmlns:p14="http://schemas.microsoft.com/office/powerpoint/2010/main" val="27251056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6372930-8C74-F27B-0662-28C3DF1AA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47" y="380605"/>
            <a:ext cx="7925906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2036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6371B7FBC9264EBDD394A4B019F8ED" ma:contentTypeVersion="4" ma:contentTypeDescription="Crie um novo documento." ma:contentTypeScope="" ma:versionID="af3670115510099101ea552dd9cdaa5f">
  <xsd:schema xmlns:xsd="http://www.w3.org/2001/XMLSchema" xmlns:xs="http://www.w3.org/2001/XMLSchema" xmlns:p="http://schemas.microsoft.com/office/2006/metadata/properties" xmlns:ns2="76a559d0-596e-4236-90b1-6a2a903b2075" targetNamespace="http://schemas.microsoft.com/office/2006/metadata/properties" ma:root="true" ma:fieldsID="e8be88f5e8c103b8586b4e76ca28ffe1" ns2:_="">
    <xsd:import namespace="76a559d0-596e-4236-90b1-6a2a903b20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559d0-596e-4236-90b1-6a2a903b20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6c05727-aa75-4e4a-9b5f-8a80a1165891"/>
    <ds:schemaRef ds:uri="71af3243-3dd4-4a8d-8c0d-dd76da1f02a5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3001D62-D64B-4D4F-9F8E-E75134503CB8}"/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944</TotalTime>
  <Words>431</Words>
  <Application>Microsoft Office PowerPoint</Application>
  <PresentationFormat>Widescreen</PresentationFormat>
  <Paragraphs>46</Paragraphs>
  <Slides>42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Arial</vt:lpstr>
      <vt:lpstr>Bookman Old Style</vt:lpstr>
      <vt:lpstr>Calibri</vt:lpstr>
      <vt:lpstr>Franklin Gothic Book</vt:lpstr>
      <vt:lpstr>1_RetrospectVTI</vt:lpstr>
      <vt:lpstr>Pensamento lógico computacional com Python</vt:lpstr>
      <vt:lpstr>Exercício 1</vt:lpstr>
      <vt:lpstr>Apresentação do PowerPoint</vt:lpstr>
      <vt:lpstr>Apresentação do PowerPoint</vt:lpstr>
      <vt:lpstr>Apresentação do PowerPoint</vt:lpstr>
      <vt:lpstr>Apresentação do PowerPoint</vt:lpstr>
      <vt:lpstr>Exercício 2</vt:lpstr>
      <vt:lpstr>Apresentação do PowerPoint</vt:lpstr>
      <vt:lpstr>Exercício 3</vt:lpstr>
      <vt:lpstr>Apresentação do PowerPoint</vt:lpstr>
      <vt:lpstr>Exercício 4</vt:lpstr>
      <vt:lpstr>Apresentação do PowerPoint</vt:lpstr>
      <vt:lpstr>Instruções if</vt:lpstr>
      <vt:lpstr>Apresentação do PowerPoint</vt:lpstr>
      <vt:lpstr>Apresentação do PowerPoint</vt:lpstr>
      <vt:lpstr>Qual será o output?</vt:lpstr>
      <vt:lpstr>Apresentação do PowerPoint</vt:lpstr>
      <vt:lpstr>Qual será o output?</vt:lpstr>
      <vt:lpstr>Apresentação do PowerPoint</vt:lpstr>
      <vt:lpstr>Apresentação do PowerPoint</vt:lpstr>
      <vt:lpstr>Qual será o output?</vt:lpstr>
      <vt:lpstr>Apresentação do PowerPoint</vt:lpstr>
      <vt:lpstr>Qual será o output?</vt:lpstr>
      <vt:lpstr>Apresentação do PowerPoint</vt:lpstr>
      <vt:lpstr>Verificando se um valor está em uma lista</vt:lpstr>
      <vt:lpstr>Verificando se um valor não está em uma lista</vt:lpstr>
      <vt:lpstr>else é executado quando o teste condicional falhar</vt:lpstr>
      <vt:lpstr>Instruções if-elif-else</vt:lpstr>
      <vt:lpstr>Qual será o output?</vt:lpstr>
      <vt:lpstr>As condições são testadas sequencialmente</vt:lpstr>
      <vt:lpstr>Apresentação do PowerPoint</vt:lpstr>
      <vt:lpstr>Quando mais de uma condição pode ser True</vt:lpstr>
      <vt:lpstr>Verificando itens em uma lista</vt:lpstr>
      <vt:lpstr>Se a lista estiver vazia, if retornará False</vt:lpstr>
      <vt:lpstr>Laços while</vt:lpstr>
      <vt:lpstr>Qual será o output?</vt:lpstr>
      <vt:lpstr>while continuará executando enquanto o valor em numero_inicial for menor ou igual a 5</vt:lpstr>
      <vt:lpstr>Apresentação do PowerPoint</vt:lpstr>
      <vt:lpstr>Laços while - flag</vt:lpstr>
      <vt:lpstr>Apresentação do PowerPoint</vt:lpstr>
      <vt:lpstr>Laços while - break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57</cp:revision>
  <dcterms:created xsi:type="dcterms:W3CDTF">2022-08-15T17:51:41Z</dcterms:created>
  <dcterms:modified xsi:type="dcterms:W3CDTF">2025-03-18T19:24:27Z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0x010100CE6371B7FBC9264EBDD394A4B019F8ED</vt:lpwstr>
  </property>
</Properties>
</file>