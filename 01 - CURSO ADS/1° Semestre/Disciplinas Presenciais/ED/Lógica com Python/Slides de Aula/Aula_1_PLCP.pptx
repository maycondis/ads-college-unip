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3"/>
  </p:notesMasterIdLst>
  <p:handoutMasterIdLst>
    <p:handoutMasterId r:id="rId74"/>
  </p:handoutMasterIdLst>
  <p:sldIdLst>
    <p:sldId id="268" r:id="rId5"/>
    <p:sldId id="270" r:id="rId6"/>
    <p:sldId id="275" r:id="rId7"/>
    <p:sldId id="286" r:id="rId8"/>
    <p:sldId id="271" r:id="rId9"/>
    <p:sldId id="273" r:id="rId10"/>
    <p:sldId id="276" r:id="rId11"/>
    <p:sldId id="280" r:id="rId12"/>
    <p:sldId id="274" r:id="rId13"/>
    <p:sldId id="278" r:id="rId14"/>
    <p:sldId id="277" r:id="rId15"/>
    <p:sldId id="279" r:id="rId16"/>
    <p:sldId id="281" r:id="rId17"/>
    <p:sldId id="282" r:id="rId18"/>
    <p:sldId id="283" r:id="rId19"/>
    <p:sldId id="284" r:id="rId20"/>
    <p:sldId id="288" r:id="rId21"/>
    <p:sldId id="285" r:id="rId22"/>
    <p:sldId id="332" r:id="rId23"/>
    <p:sldId id="287" r:id="rId24"/>
    <p:sldId id="390" r:id="rId25"/>
    <p:sldId id="293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299" r:id="rId36"/>
    <p:sldId id="289" r:id="rId37"/>
    <p:sldId id="290" r:id="rId38"/>
    <p:sldId id="291" r:id="rId39"/>
    <p:sldId id="391" r:id="rId40"/>
    <p:sldId id="304" r:id="rId41"/>
    <p:sldId id="305" r:id="rId42"/>
    <p:sldId id="308" r:id="rId43"/>
    <p:sldId id="309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33" r:id="rId54"/>
    <p:sldId id="320" r:id="rId55"/>
    <p:sldId id="321" r:id="rId56"/>
    <p:sldId id="322" r:id="rId57"/>
    <p:sldId id="324" r:id="rId58"/>
    <p:sldId id="325" r:id="rId59"/>
    <p:sldId id="334" r:id="rId60"/>
    <p:sldId id="326" r:id="rId61"/>
    <p:sldId id="335" r:id="rId62"/>
    <p:sldId id="327" r:id="rId63"/>
    <p:sldId id="328" r:id="rId64"/>
    <p:sldId id="336" r:id="rId65"/>
    <p:sldId id="329" r:id="rId66"/>
    <p:sldId id="337" r:id="rId67"/>
    <p:sldId id="330" r:id="rId68"/>
    <p:sldId id="338" r:id="rId69"/>
    <p:sldId id="331" r:id="rId70"/>
    <p:sldId id="339" r:id="rId71"/>
    <p:sldId id="272" r:id="rId7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25/02/2025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25/02/2025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PLCP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582557" cy="3760891"/>
          </a:xfrm>
        </p:spPr>
        <p:txBody>
          <a:bodyPr>
            <a:normAutofit/>
          </a:bodyPr>
          <a:lstStyle/>
          <a:p>
            <a:r>
              <a:rPr lang="pt-BR" sz="4000" dirty="0"/>
              <a:t>Foco da disciplina:</a:t>
            </a:r>
          </a:p>
          <a:p>
            <a:pPr lvl="1"/>
            <a:r>
              <a:rPr lang="pt-BR" sz="3600" dirty="0"/>
              <a:t>Conceitos fundamentais de </a:t>
            </a:r>
            <a:r>
              <a:rPr lang="pt-BR" sz="3600" b="1" dirty="0"/>
              <a:t>lógica de programação</a:t>
            </a:r>
            <a:r>
              <a:rPr lang="pt-BR" sz="3600" dirty="0"/>
              <a:t> utilizando a </a:t>
            </a:r>
            <a:r>
              <a:rPr lang="pt-BR" sz="3600" b="1" dirty="0"/>
              <a:t>linguagem Python </a:t>
            </a:r>
            <a:r>
              <a:rPr lang="pt-BR" sz="3600" dirty="0"/>
              <a:t>como ferramenta de desenvolvimento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5381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PLCP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174184" cy="3760891"/>
          </a:xfrm>
        </p:spPr>
        <p:txBody>
          <a:bodyPr>
            <a:normAutofit/>
          </a:bodyPr>
          <a:lstStyle/>
          <a:p>
            <a:r>
              <a:rPr lang="pt-BR" sz="4000" dirty="0"/>
              <a:t>Material embasado na obra:</a:t>
            </a:r>
          </a:p>
          <a:p>
            <a:pPr lvl="1"/>
            <a:r>
              <a:rPr lang="pt-BR" sz="3800" b="1" dirty="0"/>
              <a:t>Algoritmos - Lógica para Desenvolvimento de Programação de Computadores</a:t>
            </a:r>
            <a:endParaRPr lang="pt-BR" sz="4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46640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 descr="Foto em preto e branco de homem andando de skate&#10;&#10;O conteúdo gerado por IA pode estar incorreto.">
            <a:extLst>
              <a:ext uri="{FF2B5EF4-FFF2-40B4-BE49-F238E27FC236}">
                <a16:creationId xmlns:a16="http://schemas.microsoft.com/office/drawing/2014/main" id="{A3DD0FF9-E412-0323-00FC-7DE9811BCE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430" b="25430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C0223BA-D786-8554-10FF-19CF4878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à computação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0C38F8-FEBC-7907-084C-B8ABEF464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ENIAC: o primeiro computador eletrônico digital de grande escala capaz de ser reprogramado</a:t>
            </a:r>
          </a:p>
        </p:txBody>
      </p:sp>
    </p:spTree>
    <p:extLst>
      <p:ext uri="{BB962C8B-B14F-4D97-AF65-F5344CB8AC3E}">
        <p14:creationId xmlns:p14="http://schemas.microsoft.com/office/powerpoint/2010/main" val="110436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Introdução à Computação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740053" cy="3760891"/>
          </a:xfrm>
        </p:spPr>
        <p:txBody>
          <a:bodyPr>
            <a:normAutofit/>
          </a:bodyPr>
          <a:lstStyle/>
          <a:p>
            <a:r>
              <a:rPr lang="pt-BR" sz="3600" dirty="0"/>
              <a:t>“A necessidade de desenvolver ferramentas que facilitassem o uso e o manuseio de operações de cálculos fez com que o ser humano chegasse ao estágio atual de desenvolvimento da área da computação.” (Manzano e Oliveira. 2019)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17834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Organização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740053" cy="3760891"/>
          </a:xfrm>
        </p:spPr>
        <p:txBody>
          <a:bodyPr>
            <a:normAutofit/>
          </a:bodyPr>
          <a:lstStyle/>
          <a:p>
            <a:r>
              <a:rPr lang="pt-BR" sz="4000" dirty="0"/>
              <a:t>Computador:</a:t>
            </a:r>
          </a:p>
          <a:p>
            <a:pPr lvl="1"/>
            <a:r>
              <a:rPr lang="pt-BR" sz="3600" dirty="0"/>
              <a:t>Uma coleção de </a:t>
            </a:r>
            <a:r>
              <a:rPr lang="pt-BR" sz="3600" b="1" dirty="0"/>
              <a:t>componentes</a:t>
            </a:r>
            <a:r>
              <a:rPr lang="pt-BR" sz="3600" dirty="0"/>
              <a:t> com o objetivo de efetuar (</a:t>
            </a:r>
            <a:r>
              <a:rPr lang="pt-BR" sz="3600" b="1" dirty="0"/>
              <a:t>processar</a:t>
            </a:r>
            <a:r>
              <a:rPr lang="pt-BR" sz="3600" dirty="0"/>
              <a:t>) </a:t>
            </a:r>
            <a:r>
              <a:rPr lang="pt-BR" sz="3600" b="1" dirty="0"/>
              <a:t>operações aritméticas e lógicas</a:t>
            </a:r>
            <a:r>
              <a:rPr lang="pt-BR" sz="3600" dirty="0"/>
              <a:t> de grandes quantidades de </a:t>
            </a:r>
            <a:r>
              <a:rPr lang="pt-BR" sz="3600" b="1" dirty="0"/>
              <a:t>dados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00270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438C65-30BD-A634-A847-ECA0869F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83" y="749462"/>
            <a:ext cx="10131633" cy="38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6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438C65-30BD-A634-A847-ECA0869F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83" y="749462"/>
            <a:ext cx="10131633" cy="388538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054F1A-836F-94CC-72BA-14635B1713A0}"/>
              </a:ext>
            </a:extLst>
          </p:cNvPr>
          <p:cNvSpPr txBox="1"/>
          <p:nvPr/>
        </p:nvSpPr>
        <p:spPr>
          <a:xfrm>
            <a:off x="1092327" y="2164774"/>
            <a:ext cx="1677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Início: dados são inseridos.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693867-64AD-44FF-1BCD-1613E569FE1E}"/>
              </a:ext>
            </a:extLst>
          </p:cNvPr>
          <p:cNvSpPr txBox="1"/>
          <p:nvPr/>
        </p:nvSpPr>
        <p:spPr>
          <a:xfrm>
            <a:off x="3001026" y="4503417"/>
            <a:ext cx="618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Estes dados podem ser armazenados na memória secundária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5FA3A15-232D-E89E-A0CA-A926379672D0}"/>
              </a:ext>
            </a:extLst>
          </p:cNvPr>
          <p:cNvSpPr txBox="1"/>
          <p:nvPr/>
        </p:nvSpPr>
        <p:spPr>
          <a:xfrm>
            <a:off x="3001026" y="749462"/>
            <a:ext cx="387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ou processados na memória principal.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08ADBA3-95FD-3639-B73D-1048E2776180}"/>
              </a:ext>
            </a:extLst>
          </p:cNvPr>
          <p:cNvSpPr txBox="1"/>
          <p:nvPr/>
        </p:nvSpPr>
        <p:spPr>
          <a:xfrm>
            <a:off x="9345667" y="2230487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Estes dados são,</a:t>
            </a:r>
          </a:p>
          <a:p>
            <a:r>
              <a:rPr lang="pt-BR" b="1" dirty="0">
                <a:solidFill>
                  <a:srgbClr val="0070C0"/>
                </a:solidFill>
              </a:rPr>
              <a:t>então, apresentados.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A00DDB30-B6FE-445C-A126-3F72E940B520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H="1" flipV="1">
            <a:off x="1092326" y="2487939"/>
            <a:ext cx="1908699" cy="2200143"/>
          </a:xfrm>
          <a:prstGeom prst="bentConnector3">
            <a:avLst>
              <a:gd name="adj1" fmla="val -1197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4105658B-2710-E679-CD28-E606C311B07F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H="1" flipV="1">
            <a:off x="3001026" y="934128"/>
            <a:ext cx="6187143" cy="3753955"/>
          </a:xfrm>
          <a:prstGeom prst="bentConnector5">
            <a:avLst>
              <a:gd name="adj1" fmla="val -3695"/>
              <a:gd name="adj2" fmla="val -11487"/>
              <a:gd name="adj3" fmla="val 139853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A1A25731-DB9E-673F-C07F-E06E00614A9F}"/>
              </a:ext>
            </a:extLst>
          </p:cNvPr>
          <p:cNvCxnSpPr>
            <a:endCxn id="7" idx="0"/>
          </p:cNvCxnSpPr>
          <p:nvPr/>
        </p:nvCxnSpPr>
        <p:spPr>
          <a:xfrm>
            <a:off x="6889072" y="941033"/>
            <a:ext cx="3584468" cy="1289454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54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438C65-30BD-A634-A847-ECA0869F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83" y="749462"/>
            <a:ext cx="10131633" cy="38853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7693867-64AD-44FF-1BCD-1613E569FE1E}"/>
              </a:ext>
            </a:extLst>
          </p:cNvPr>
          <p:cNvSpPr txBox="1"/>
          <p:nvPr/>
        </p:nvSpPr>
        <p:spPr>
          <a:xfrm>
            <a:off x="1119765" y="4725359"/>
            <a:ext cx="995246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0070C0"/>
                </a:solidFill>
              </a:rPr>
              <a:t>Este é o “cérebro” de um computador.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2060"/>
                </a:solidFill>
              </a:rPr>
              <a:t>A unidade lógica e aritmética processa operações matemáticas e/ou operações lógicas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2060"/>
                </a:solidFill>
              </a:rPr>
              <a:t>Os registradores são componentes de alta performance de velocidade na execução de instruções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2060"/>
                </a:solidFill>
              </a:rPr>
              <a:t>A unidade de controle, como o nome diz, executa instruções de controle</a:t>
            </a:r>
          </a:p>
          <a:p>
            <a:endParaRPr lang="pt-BR" b="1" dirty="0">
              <a:solidFill>
                <a:srgbClr val="0070C0"/>
              </a:solidFill>
            </a:endParaRP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1FCAB178-5DCA-7E77-CB8D-EDA525E40D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9766" y="2743197"/>
            <a:ext cx="3177031" cy="2183909"/>
          </a:xfrm>
          <a:prstGeom prst="bentConnector3">
            <a:avLst>
              <a:gd name="adj1" fmla="val 111196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38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Organização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653578" cy="3760891"/>
          </a:xfrm>
        </p:spPr>
        <p:txBody>
          <a:bodyPr>
            <a:normAutofit/>
          </a:bodyPr>
          <a:lstStyle/>
          <a:p>
            <a:r>
              <a:rPr lang="pt-BR" sz="3600" dirty="0"/>
              <a:t>Memória </a:t>
            </a:r>
            <a:r>
              <a:rPr lang="pt-BR" sz="3600" b="1" dirty="0"/>
              <a:t>RAM</a:t>
            </a:r>
            <a:r>
              <a:rPr lang="pt-BR" sz="3600" dirty="0"/>
              <a:t> </a:t>
            </a:r>
            <a:r>
              <a:rPr lang="pt-BR" sz="3600" i="1" dirty="0"/>
              <a:t>(</a:t>
            </a:r>
            <a:r>
              <a:rPr lang="pt-BR" sz="3600" i="1" dirty="0" err="1"/>
              <a:t>random</a:t>
            </a:r>
            <a:r>
              <a:rPr lang="pt-BR" sz="3600" i="1" dirty="0"/>
              <a:t> </a:t>
            </a:r>
            <a:r>
              <a:rPr lang="pt-BR" sz="3600" i="1" dirty="0" err="1"/>
              <a:t>access</a:t>
            </a:r>
            <a:r>
              <a:rPr lang="pt-BR" sz="3600" i="1" dirty="0"/>
              <a:t> </a:t>
            </a:r>
            <a:r>
              <a:rPr lang="pt-BR" sz="3600" i="1" dirty="0" err="1"/>
              <a:t>memory</a:t>
            </a:r>
            <a:r>
              <a:rPr lang="pt-BR" sz="3600" i="1" dirty="0"/>
              <a:t>)</a:t>
            </a:r>
            <a:r>
              <a:rPr lang="pt-BR" sz="3600" dirty="0"/>
              <a:t>:</a:t>
            </a:r>
          </a:p>
          <a:p>
            <a:pPr lvl="1"/>
            <a:r>
              <a:rPr lang="pt-BR" sz="3400" dirty="0"/>
              <a:t>Utilizada pela CPU para manter temporariamente dados e instruções que são usadas no processamento.</a:t>
            </a:r>
            <a:endParaRPr lang="pt-BR" sz="32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01784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Organização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653578" cy="3760891"/>
          </a:xfrm>
        </p:spPr>
        <p:txBody>
          <a:bodyPr>
            <a:normAutofit/>
          </a:bodyPr>
          <a:lstStyle/>
          <a:p>
            <a:r>
              <a:rPr lang="pt-BR" sz="3600" dirty="0"/>
              <a:t>Memória </a:t>
            </a:r>
            <a:r>
              <a:rPr lang="pt-BR" sz="3600" b="1" dirty="0"/>
              <a:t>ROM</a:t>
            </a:r>
            <a:r>
              <a:rPr lang="pt-BR" sz="3600" dirty="0"/>
              <a:t> </a:t>
            </a:r>
            <a:r>
              <a:rPr lang="pt-BR" sz="3600" i="1" dirty="0"/>
              <a:t>(</a:t>
            </a:r>
            <a:r>
              <a:rPr lang="pt-BR" sz="3600" i="1" dirty="0" err="1"/>
              <a:t>read</a:t>
            </a:r>
            <a:r>
              <a:rPr lang="pt-BR" sz="3600" i="1" dirty="0"/>
              <a:t> </a:t>
            </a:r>
            <a:r>
              <a:rPr lang="pt-BR" sz="3600" i="1" dirty="0" err="1"/>
              <a:t>only</a:t>
            </a:r>
            <a:r>
              <a:rPr lang="pt-BR" sz="3600" i="1" dirty="0"/>
              <a:t> </a:t>
            </a:r>
            <a:r>
              <a:rPr lang="pt-BR" sz="3600" i="1" dirty="0" err="1"/>
              <a:t>memory</a:t>
            </a:r>
            <a:r>
              <a:rPr lang="pt-BR" sz="3600" i="1" dirty="0"/>
              <a:t>)</a:t>
            </a:r>
            <a:r>
              <a:rPr lang="pt-BR" sz="3600" dirty="0"/>
              <a:t> :</a:t>
            </a:r>
          </a:p>
          <a:p>
            <a:pPr lvl="1"/>
            <a:r>
              <a:rPr lang="pt-BR" sz="3400" dirty="0"/>
              <a:t>Utilizada pela CPU para inicializar o computador e faz a busca do sistema operacional (OS) instalado em memória secundária.</a:t>
            </a:r>
            <a:endParaRPr lang="pt-BR" sz="32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78397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Organização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653578" cy="3760891"/>
          </a:xfrm>
        </p:spPr>
        <p:txBody>
          <a:bodyPr>
            <a:normAutofit/>
          </a:bodyPr>
          <a:lstStyle/>
          <a:p>
            <a:r>
              <a:rPr lang="pt-BR" sz="3600" dirty="0"/>
              <a:t>Memória </a:t>
            </a:r>
            <a:r>
              <a:rPr lang="pt-BR" sz="3600" b="1" dirty="0"/>
              <a:t>secundária</a:t>
            </a:r>
            <a:r>
              <a:rPr lang="pt-BR" sz="3600" dirty="0"/>
              <a:t>:</a:t>
            </a:r>
          </a:p>
          <a:p>
            <a:pPr lvl="1"/>
            <a:r>
              <a:rPr lang="pt-BR" sz="3400" dirty="0"/>
              <a:t>Armazena dados em longo prazo</a:t>
            </a:r>
          </a:p>
          <a:p>
            <a:pPr lvl="1"/>
            <a:r>
              <a:rPr lang="pt-BR" sz="3400" dirty="0"/>
              <a:t>Dados armazenados nesse tipo de memória são preservados mesmo quando o computador estiver desligado</a:t>
            </a: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696068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Linguagens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653578" cy="3760891"/>
          </a:xfrm>
        </p:spPr>
        <p:txBody>
          <a:bodyPr>
            <a:normAutofit/>
          </a:bodyPr>
          <a:lstStyle/>
          <a:p>
            <a:r>
              <a:rPr lang="pt-BR" sz="3600" dirty="0"/>
              <a:t>Para que um computador eletrônico funcione, ele deve ser </a:t>
            </a:r>
            <a:r>
              <a:rPr lang="pt-BR" sz="3600" b="1" dirty="0"/>
              <a:t>programado</a:t>
            </a:r>
          </a:p>
          <a:p>
            <a:r>
              <a:rPr lang="pt-BR" sz="3600" dirty="0"/>
              <a:t>A programação é uma “conversa” entre um ser humano e o computador.</a:t>
            </a:r>
            <a:endParaRPr lang="pt-BR" sz="30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274323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Linguagens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9653578" cy="3760891"/>
          </a:xfrm>
        </p:spPr>
        <p:txBody>
          <a:bodyPr>
            <a:normAutofit/>
          </a:bodyPr>
          <a:lstStyle/>
          <a:p>
            <a:r>
              <a:rPr lang="pt-BR" sz="3600" dirty="0"/>
              <a:t>Programas de computador são formados por uma </a:t>
            </a:r>
            <a:r>
              <a:rPr lang="pt-BR" sz="3600" b="1" dirty="0"/>
              <a:t>série de instruções</a:t>
            </a:r>
            <a:r>
              <a:rPr lang="pt-BR" sz="3600" dirty="0"/>
              <a:t> executadas no sentido de realizar as operações desejadas.</a:t>
            </a:r>
          </a:p>
          <a:p>
            <a:r>
              <a:rPr lang="pt-BR" sz="3600" dirty="0"/>
              <a:t>Essa série de instruções é conhecida como </a:t>
            </a:r>
            <a:r>
              <a:rPr lang="pt-BR" sz="3600" b="1" dirty="0"/>
              <a:t>programação.</a:t>
            </a:r>
            <a:endParaRPr lang="pt-BR" sz="3000" b="1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05251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Linguagens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r>
              <a:rPr lang="pt-BR" sz="3400" dirty="0"/>
              <a:t>Tanto as linguagens de programação em </a:t>
            </a:r>
            <a:r>
              <a:rPr lang="pt-BR" sz="3400" b="1" dirty="0"/>
              <a:t>baixo nível </a:t>
            </a:r>
            <a:r>
              <a:rPr lang="pt-BR" sz="3400" dirty="0"/>
              <a:t>como em </a:t>
            </a:r>
            <a:r>
              <a:rPr lang="pt-BR" sz="3400" b="1" dirty="0"/>
              <a:t>alto nível </a:t>
            </a:r>
            <a:r>
              <a:rPr lang="pt-BR" sz="3400" dirty="0"/>
              <a:t>são traduzidas internamente para uma forma numérica convencional grafada em </a:t>
            </a:r>
            <a:r>
              <a:rPr lang="pt-BR" sz="3400" b="1" dirty="0"/>
              <a:t>formato binário</a:t>
            </a:r>
            <a:r>
              <a:rPr lang="pt-BR" sz="3400" dirty="0"/>
              <a:t>, representada pelos símbolos numéricos </a:t>
            </a:r>
            <a:r>
              <a:rPr lang="pt-BR" sz="3400" b="1" dirty="0"/>
              <a:t>1</a:t>
            </a:r>
            <a:r>
              <a:rPr lang="pt-BR" sz="3400" dirty="0"/>
              <a:t> e </a:t>
            </a:r>
            <a:r>
              <a:rPr lang="pt-BR" sz="3400" b="1" dirty="0"/>
              <a:t>0</a:t>
            </a:r>
            <a:r>
              <a:rPr lang="pt-BR" sz="3400" dirty="0"/>
              <a:t>.</a:t>
            </a:r>
            <a:endParaRPr lang="pt-BR" sz="3400" b="1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88553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Linguagens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r>
              <a:rPr lang="pt-BR" sz="3400" dirty="0"/>
              <a:t>Existem diferentes tipos de linguagem e diferentes paradigmas de programação</a:t>
            </a:r>
          </a:p>
          <a:p>
            <a:r>
              <a:rPr lang="pt-BR" sz="3400" dirty="0"/>
              <a:t>Nesse momento, não se preocupem com isso</a:t>
            </a:r>
            <a:endParaRPr lang="pt-BR" sz="3200" dirty="0"/>
          </a:p>
          <a:p>
            <a:pPr lvl="1"/>
            <a:endParaRPr lang="pt-BR" sz="3200" b="1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766861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Algoritmos Computacionais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 fontScale="85000" lnSpcReduction="10000"/>
          </a:bodyPr>
          <a:lstStyle/>
          <a:p>
            <a:pPr marL="201168" lvl="1" indent="0">
              <a:buNone/>
            </a:pPr>
            <a:endParaRPr lang="pt-BR" sz="3600" dirty="0"/>
          </a:p>
          <a:p>
            <a:pPr marL="201168" lvl="1" indent="0">
              <a:lnSpc>
                <a:spcPct val="120000"/>
              </a:lnSpc>
              <a:buNone/>
            </a:pPr>
            <a:r>
              <a:rPr lang="pt-BR" sz="4100" dirty="0"/>
              <a:t>“Um conjunto das regras e procedimentos lógicos perfeitamente definidos que levam à solução de um problema em um número finito de etapas.”</a:t>
            </a:r>
          </a:p>
          <a:p>
            <a:pPr marL="201168" lvl="1" indent="0">
              <a:buNone/>
            </a:pPr>
            <a:endParaRPr lang="pt-BR" sz="4000" dirty="0"/>
          </a:p>
          <a:p>
            <a:pPr marL="201168" lvl="1" indent="0" algn="r">
              <a:buNone/>
            </a:pPr>
            <a:r>
              <a:rPr lang="pt-BR" sz="3000" dirty="0"/>
              <a:t>Dicionário Oxford </a:t>
            </a:r>
            <a:r>
              <a:rPr lang="pt-BR" sz="3000" dirty="0" err="1"/>
              <a:t>Languages</a:t>
            </a:r>
            <a:endParaRPr lang="pt-BR" sz="3000" dirty="0"/>
          </a:p>
          <a:p>
            <a:pPr marL="201168" lvl="1" indent="0">
              <a:buNone/>
            </a:pPr>
            <a:endParaRPr lang="pt-BR" sz="4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55558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Algoritmos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800" dirty="0"/>
              <a:t>Ordem para realização de equações algébricas:</a:t>
            </a:r>
          </a:p>
          <a:p>
            <a:pPr algn="ctr"/>
            <a:endParaRPr lang="pt-BR" sz="3800" dirty="0"/>
          </a:p>
          <a:p>
            <a:pPr algn="ctr"/>
            <a:r>
              <a:rPr lang="pt-BR" sz="3800" dirty="0"/>
              <a:t>[(a + b) * c + d]</a:t>
            </a:r>
          </a:p>
          <a:p>
            <a:pPr algn="ctr"/>
            <a:endParaRPr lang="pt-BR" sz="3800" dirty="0"/>
          </a:p>
          <a:p>
            <a:r>
              <a:rPr lang="pt-BR" sz="2400" dirty="0"/>
              <a:t>Obs.: considere </a:t>
            </a:r>
            <a:r>
              <a:rPr lang="pt-BR" sz="2400" b="1" i="1" dirty="0"/>
              <a:t>a</a:t>
            </a:r>
            <a:r>
              <a:rPr lang="pt-BR" sz="2400" dirty="0"/>
              <a:t>, </a:t>
            </a:r>
            <a:r>
              <a:rPr lang="pt-BR" sz="2400" b="1" i="1" dirty="0"/>
              <a:t>b</a:t>
            </a:r>
            <a:r>
              <a:rPr lang="pt-BR" sz="2400" dirty="0"/>
              <a:t>, </a:t>
            </a:r>
            <a:r>
              <a:rPr lang="pt-BR" sz="2400" b="1" i="1" dirty="0"/>
              <a:t>c</a:t>
            </a:r>
            <a:r>
              <a:rPr lang="pt-BR" sz="2400" dirty="0"/>
              <a:t> e </a:t>
            </a:r>
            <a:r>
              <a:rPr lang="pt-BR" sz="2400" b="1" i="1" dirty="0"/>
              <a:t>d</a:t>
            </a:r>
            <a:r>
              <a:rPr lang="pt-BR" sz="2400" dirty="0"/>
              <a:t> números inteiros e positivos</a:t>
            </a:r>
          </a:p>
        </p:txBody>
      </p:sp>
    </p:spTree>
    <p:extLst>
      <p:ext uri="{BB962C8B-B14F-4D97-AF65-F5344CB8AC3E}">
        <p14:creationId xmlns:p14="http://schemas.microsoft.com/office/powerpoint/2010/main" val="250492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8B3B51-B32E-F297-EC34-7EB73C569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0"/>
            <a:ext cx="10002646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17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Algoritmos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214187" cy="3760891"/>
          </a:xfrm>
        </p:spPr>
        <p:txBody>
          <a:bodyPr>
            <a:noAutofit/>
          </a:bodyPr>
          <a:lstStyle/>
          <a:p>
            <a:r>
              <a:rPr lang="pt-BR" sz="3800" dirty="0"/>
              <a:t>Se tentarmos resolver as equações apresentadas mudando a ordem de execução, o resultado será incorreto</a:t>
            </a:r>
          </a:p>
        </p:txBody>
      </p:sp>
    </p:spTree>
    <p:extLst>
      <p:ext uri="{BB962C8B-B14F-4D97-AF65-F5344CB8AC3E}">
        <p14:creationId xmlns:p14="http://schemas.microsoft.com/office/powerpoint/2010/main" val="234113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Algoritmos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24A62F3-B7D3-47B7-8AA2-75F8DD140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3800" dirty="0"/>
                  <a:t>O</a:t>
                </a:r>
                <a:r>
                  <a:rPr lang="pt-BR" sz="3800" b="1" dirty="0"/>
                  <a:t>rdem de precedência</a:t>
                </a:r>
                <a:r>
                  <a:rPr lang="pt-BR" sz="3800" dirty="0"/>
                  <a:t>: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pt-BR" sz="3500" dirty="0"/>
                  <a:t>Parênteses: </a:t>
                </a:r>
                <a:r>
                  <a:rPr lang="pt-BR" sz="3500" b="1" dirty="0">
                    <a:solidFill>
                      <a:srgbClr val="EC7016"/>
                    </a:solidFill>
                  </a:rPr>
                  <a:t>()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pt-BR" sz="3500" dirty="0"/>
                  <a:t>Exponenciação: </a:t>
                </a:r>
                <a14:m>
                  <m:oMath xmlns:m="http://schemas.openxmlformats.org/officeDocument/2006/math">
                    <m:r>
                      <a:rPr lang="pt-BR" sz="3500" b="1" i="1" smtClean="0">
                        <a:solidFill>
                          <a:srgbClr val="EC7016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sz="3500" b="1" i="1" smtClean="0">
                        <a:solidFill>
                          <a:srgbClr val="EC7016"/>
                        </a:solidFill>
                        <a:latin typeface="Cambria Math" panose="02040503050406030204" pitchFamily="18" charset="0"/>
                      </a:rPr>
                      <m:t>∗∗</m:t>
                    </m:r>
                    <m:r>
                      <a:rPr lang="pt-BR" sz="3500" b="1" i="1" smtClean="0">
                        <a:solidFill>
                          <a:srgbClr val="EC7016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pt-BR" sz="3500" b="1" dirty="0">
                  <a:solidFill>
                    <a:srgbClr val="EC7016"/>
                  </a:solidFill>
                </a:endParaRPr>
              </a:p>
              <a:p>
                <a:pPr marL="742950" indent="-742950">
                  <a:buFont typeface="+mj-lt"/>
                  <a:buAutoNum type="arabicPeriod"/>
                </a:pPr>
                <a:r>
                  <a:rPr lang="pt-BR" sz="3500" dirty="0"/>
                  <a:t>Multiplicação </a:t>
                </a:r>
                <a:r>
                  <a:rPr lang="pt-BR" sz="3500" b="1" dirty="0">
                    <a:solidFill>
                      <a:srgbClr val="EC7016"/>
                    </a:solidFill>
                  </a:rPr>
                  <a:t>*</a:t>
                </a:r>
                <a:r>
                  <a:rPr lang="pt-BR" sz="3500" dirty="0"/>
                  <a:t>, Divisão </a:t>
                </a:r>
                <a:r>
                  <a:rPr lang="pt-BR" sz="3500" b="1" dirty="0">
                    <a:solidFill>
                      <a:srgbClr val="EC7016"/>
                    </a:solidFill>
                  </a:rPr>
                  <a:t>/</a:t>
                </a:r>
                <a:r>
                  <a:rPr lang="pt-BR" sz="3500" dirty="0"/>
                  <a:t> e Módulo </a:t>
                </a:r>
                <a:r>
                  <a:rPr lang="pt-BR" sz="3500" b="1" dirty="0">
                    <a:solidFill>
                      <a:srgbClr val="EC7016"/>
                    </a:solidFill>
                  </a:rPr>
                  <a:t>%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pt-BR" sz="3500" dirty="0"/>
                  <a:t>Soma </a:t>
                </a:r>
                <a:r>
                  <a:rPr lang="pt-BR" sz="3500" b="1" dirty="0">
                    <a:solidFill>
                      <a:schemeClr val="accent1"/>
                    </a:solidFill>
                  </a:rPr>
                  <a:t>+</a:t>
                </a:r>
                <a:r>
                  <a:rPr lang="pt-BR" sz="3500" dirty="0"/>
                  <a:t> e Subtração </a:t>
                </a:r>
                <a:r>
                  <a:rPr lang="pt-BR" sz="3500" b="1" dirty="0">
                    <a:solidFill>
                      <a:schemeClr val="accent1"/>
                    </a:solidFill>
                  </a:rPr>
                  <a:t>-</a:t>
                </a:r>
                <a:r>
                  <a:rPr lang="pt-BR" sz="3500" dirty="0"/>
                  <a:t> </a:t>
                </a:r>
              </a:p>
              <a:p>
                <a:pPr marL="742950" indent="-742950">
                  <a:buFont typeface="+mj-lt"/>
                  <a:buAutoNum type="arabicPeriod"/>
                </a:pPr>
                <a:endParaRPr lang="pt-BR" sz="38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24A62F3-B7D3-47B7-8AA2-75F8DD14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45" t="-2593" b="-55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972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Algoritmos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pt-BR" sz="3800" dirty="0"/>
          </a:p>
          <a:p>
            <a:r>
              <a:rPr lang="pt-BR" sz="3800" dirty="0"/>
              <a:t>Algoritmos são a base do desenvolvimento de programas de computadores (</a:t>
            </a:r>
            <a:r>
              <a:rPr lang="pt-BR" sz="3800" i="1" dirty="0"/>
              <a:t>Software</a:t>
            </a:r>
            <a:r>
              <a:rPr lang="pt-BR" sz="3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997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Lógica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sz="3500" dirty="0"/>
          </a:p>
          <a:p>
            <a:r>
              <a:rPr lang="pt-BR" sz="3500" dirty="0"/>
              <a:t>“Organização e planejamento das instruções, assertivas etc. em um algoritmo, a fim de viabilizar a implantação de um programa”</a:t>
            </a:r>
          </a:p>
          <a:p>
            <a:endParaRPr lang="pt-BR" sz="3800" dirty="0"/>
          </a:p>
          <a:p>
            <a:pPr marL="201168" lvl="1" indent="0" algn="r">
              <a:buNone/>
            </a:pPr>
            <a:r>
              <a:rPr lang="pt-BR" sz="2600" dirty="0"/>
              <a:t>Dicionário Oxford </a:t>
            </a:r>
            <a:r>
              <a:rPr lang="pt-BR" sz="2600" dirty="0" err="1"/>
              <a:t>Languages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193268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4EA1A8A-6706-C70E-43E0-0C97CAE23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276"/>
          <a:stretch/>
        </p:blipFill>
        <p:spPr>
          <a:xfrm>
            <a:off x="5634958" y="812799"/>
            <a:ext cx="5691863" cy="37446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falso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8330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4EA1A8A-6706-C70E-43E0-0C97CAE2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58" y="812799"/>
            <a:ext cx="5691863" cy="529475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:</a:t>
            </a:r>
          </a:p>
          <a:p>
            <a:r>
              <a:rPr lang="en-US" dirty="0"/>
              <a:t>X é </a:t>
            </a:r>
            <a:r>
              <a:rPr lang="en-US" dirty="0" err="1"/>
              <a:t>igual</a:t>
            </a:r>
            <a:r>
              <a:rPr lang="en-US" dirty="0"/>
              <a:t> a 10.</a:t>
            </a:r>
          </a:p>
        </p:txBody>
      </p:sp>
    </p:spTree>
    <p:extLst>
      <p:ext uri="{BB962C8B-B14F-4D97-AF65-F5344CB8AC3E}">
        <p14:creationId xmlns:p14="http://schemas.microsoft.com/office/powerpoint/2010/main" val="3312288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9A03258E-2BF5-7349-D2B5-48208F611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727"/>
          <a:stretch/>
        </p:blipFill>
        <p:spPr>
          <a:xfrm>
            <a:off x="5634959" y="812799"/>
            <a:ext cx="5576393" cy="3773715"/>
          </a:xfrm>
          <a:prstGeom prst="rect">
            <a:avLst/>
          </a:prstGeom>
          <a:noFill/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falso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0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9A03258E-2BF5-7349-D2B5-48208F611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59" y="812799"/>
            <a:ext cx="5576393" cy="5294757"/>
          </a:xfrm>
          <a:prstGeom prst="rect">
            <a:avLst/>
          </a:prstGeom>
          <a:noFill/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:</a:t>
            </a:r>
          </a:p>
          <a:p>
            <a:r>
              <a:rPr lang="en-US" dirty="0"/>
              <a:t>X é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a 10.</a:t>
            </a:r>
          </a:p>
        </p:txBody>
      </p:sp>
    </p:spTree>
    <p:extLst>
      <p:ext uri="{BB962C8B-B14F-4D97-AF65-F5344CB8AC3E}">
        <p14:creationId xmlns:p14="http://schemas.microsoft.com/office/powerpoint/2010/main" val="1621333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falso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2F3880-F467-BB1B-3158-6B88CAF143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629"/>
          <a:stretch/>
        </p:blipFill>
        <p:spPr>
          <a:xfrm>
            <a:off x="5634957" y="812799"/>
            <a:ext cx="5262342" cy="373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15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Falso</a:t>
            </a:r>
            <a:r>
              <a:rPr lang="en-US" dirty="0"/>
              <a:t>:</a:t>
            </a:r>
          </a:p>
          <a:p>
            <a:r>
              <a:rPr lang="en-US" dirty="0"/>
              <a:t>X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dirty="0"/>
              <a:t>é </a:t>
            </a:r>
            <a:r>
              <a:rPr lang="en-US" dirty="0" err="1"/>
              <a:t>maior</a:t>
            </a:r>
            <a:r>
              <a:rPr lang="en-US" dirty="0"/>
              <a:t> que 10.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2F3880-F467-BB1B-3158-6B88CAF1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57" y="812799"/>
            <a:ext cx="5262342" cy="530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79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B3AECC-D2B5-968A-5771-DD49A891E4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190"/>
          <a:stretch/>
        </p:blipFill>
        <p:spPr>
          <a:xfrm>
            <a:off x="5634955" y="814856"/>
            <a:ext cx="5292699" cy="38006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Verdadeiro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falso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87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B3AECC-D2B5-968A-5771-DD49A891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55" y="814855"/>
            <a:ext cx="5292699" cy="52926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Lógica</a:t>
            </a:r>
            <a:endParaRPr lang="pt-BR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A34F4E9-FA63-1DB2-D8C2-FEA633B5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 err="1"/>
              <a:t>Falso</a:t>
            </a:r>
            <a:r>
              <a:rPr lang="en-US" dirty="0"/>
              <a:t>:</a:t>
            </a:r>
          </a:p>
          <a:p>
            <a:r>
              <a:rPr lang="en-US" dirty="0"/>
              <a:t>X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dirty="0"/>
              <a:t>é </a:t>
            </a:r>
            <a:r>
              <a:rPr lang="en-US" dirty="0" err="1"/>
              <a:t>menor</a:t>
            </a:r>
            <a:r>
              <a:rPr lang="en-US" dirty="0"/>
              <a:t> que 10.</a:t>
            </a:r>
          </a:p>
        </p:txBody>
      </p:sp>
    </p:spTree>
    <p:extLst>
      <p:ext uri="{BB962C8B-B14F-4D97-AF65-F5344CB8AC3E}">
        <p14:creationId xmlns:p14="http://schemas.microsoft.com/office/powerpoint/2010/main" val="2318700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essoas sentadas na grama&#10;&#10;Descrição gerada automaticamente">
            <a:extLst>
              <a:ext uri="{FF2B5EF4-FFF2-40B4-BE49-F238E27FC236}">
                <a16:creationId xmlns:a16="http://schemas.microsoft.com/office/drawing/2014/main" id="{EF6AB711-0D30-4728-970F-17D2E7945A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02" b="6823"/>
          <a:stretch/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/>
              <a:t>Python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4494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pt-BR" sz="3800" b="1" dirty="0"/>
              <a:t>Linguagem de propósito geral</a:t>
            </a:r>
            <a:r>
              <a:rPr lang="pt-BR" sz="3800" dirty="0"/>
              <a:t>: pode ser utilizada em diversos setores</a:t>
            </a:r>
          </a:p>
          <a:p>
            <a:pPr lvl="1">
              <a:lnSpc>
                <a:spcPct val="120000"/>
              </a:lnSpc>
            </a:pPr>
            <a:r>
              <a:rPr lang="pt-BR" sz="3800" b="1" dirty="0"/>
              <a:t>Multiplataforma</a:t>
            </a:r>
            <a:r>
              <a:rPr lang="pt-BR" sz="3800" dirty="0"/>
              <a:t>: o ‘mesmo’ programa funciona em diferentes dispositivos e sistemas operacionais</a:t>
            </a:r>
          </a:p>
          <a:p>
            <a:pPr lvl="1">
              <a:lnSpc>
                <a:spcPct val="120000"/>
              </a:lnSpc>
            </a:pPr>
            <a:endParaRPr lang="pt-BR" sz="34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39222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pt-BR" sz="3800" dirty="0"/>
              <a:t>Gratuita e Open-Source</a:t>
            </a:r>
          </a:p>
          <a:p>
            <a:pPr lvl="1">
              <a:lnSpc>
                <a:spcPct val="120000"/>
              </a:lnSpc>
            </a:pPr>
            <a:r>
              <a:rPr lang="pt-BR" sz="3800" dirty="0"/>
              <a:t>Possui grande variedade de bibliotecas</a:t>
            </a:r>
          </a:p>
          <a:p>
            <a:pPr lvl="1">
              <a:lnSpc>
                <a:spcPct val="120000"/>
              </a:lnSpc>
            </a:pPr>
            <a:r>
              <a:rPr lang="pt-BR" sz="3800" dirty="0"/>
              <a:t>Uma linguagem </a:t>
            </a:r>
            <a:r>
              <a:rPr lang="pt-BR" sz="3800" b="1" dirty="0"/>
              <a:t>interpretada</a:t>
            </a:r>
          </a:p>
          <a:p>
            <a:pPr lvl="2">
              <a:lnSpc>
                <a:spcPct val="120000"/>
              </a:lnSpc>
            </a:pPr>
            <a:r>
              <a:rPr lang="pt-BR" sz="3800" dirty="0"/>
              <a:t>Em breve falaremos sobre interpretadores e compiladores</a:t>
            </a:r>
          </a:p>
        </p:txBody>
      </p:sp>
    </p:spTree>
    <p:extLst>
      <p:ext uri="{BB962C8B-B14F-4D97-AF65-F5344CB8AC3E}">
        <p14:creationId xmlns:p14="http://schemas.microsoft.com/office/powerpoint/2010/main" val="3533599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IDE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pPr marL="201168" lvl="1" indent="0">
              <a:lnSpc>
                <a:spcPct val="120000"/>
              </a:lnSpc>
              <a:buNone/>
            </a:pPr>
            <a:r>
              <a:rPr lang="pt-BR" sz="3800" dirty="0"/>
              <a:t>Ambiente de Desenvolvimento Integrado, ou </a:t>
            </a:r>
            <a:r>
              <a:rPr lang="pt-BR" sz="3800" i="1" dirty="0" err="1"/>
              <a:t>Integrated</a:t>
            </a:r>
            <a:r>
              <a:rPr lang="pt-BR" sz="3800" i="1" dirty="0"/>
              <a:t> </a:t>
            </a:r>
            <a:r>
              <a:rPr lang="pt-BR" sz="3800" i="1" dirty="0" err="1"/>
              <a:t>Development</a:t>
            </a:r>
            <a:r>
              <a:rPr lang="pt-BR" sz="3800" i="1" dirty="0"/>
              <a:t> </a:t>
            </a:r>
            <a:r>
              <a:rPr lang="pt-BR" sz="3800" i="1" dirty="0" err="1"/>
              <a:t>Environment</a:t>
            </a:r>
            <a:r>
              <a:rPr lang="pt-BR" sz="3800" dirty="0"/>
              <a:t> (IDE):</a:t>
            </a:r>
          </a:p>
          <a:p>
            <a:pPr lvl="1">
              <a:lnSpc>
                <a:spcPct val="120000"/>
              </a:lnSpc>
            </a:pPr>
            <a:r>
              <a:rPr lang="pt-BR" sz="3600" dirty="0"/>
              <a:t>Uma aplicação que ajuda a desenvolver códigos com eficiência</a:t>
            </a:r>
          </a:p>
          <a:p>
            <a:pPr lvl="1">
              <a:lnSpc>
                <a:spcPct val="120000"/>
              </a:lnSpc>
            </a:pPr>
            <a:r>
              <a:rPr lang="pt-BR" sz="3600" dirty="0"/>
              <a:t>Ex.: Visual Studio </a:t>
            </a:r>
            <a:r>
              <a:rPr lang="pt-BR" sz="3600" dirty="0" err="1"/>
              <a:t>Code</a:t>
            </a:r>
            <a:r>
              <a:rPr lang="pt-BR" sz="3600" dirty="0"/>
              <a:t>, </a:t>
            </a:r>
            <a:r>
              <a:rPr lang="pt-BR" sz="3600" dirty="0" err="1"/>
              <a:t>PyCharm</a:t>
            </a:r>
            <a:r>
              <a:rPr lang="pt-BR" sz="3600" dirty="0"/>
              <a:t>, </a:t>
            </a:r>
            <a:r>
              <a:rPr lang="pt-BR" sz="3600" dirty="0" err="1"/>
              <a:t>Jupyter</a:t>
            </a:r>
            <a:r>
              <a:rPr lang="pt-BR" sz="3600" dirty="0"/>
              <a:t> etc.</a:t>
            </a:r>
          </a:p>
          <a:p>
            <a:pPr lvl="1">
              <a:lnSpc>
                <a:spcPct val="120000"/>
              </a:lnSpc>
            </a:pPr>
            <a:endParaRPr lang="pt-BR" sz="34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92981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IDE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4000" dirty="0"/>
              <a:t>Em nossas aulas, utilizaremos o Google </a:t>
            </a:r>
            <a:r>
              <a:rPr lang="pt-BR" sz="4000" dirty="0" err="1"/>
              <a:t>Colaboratory</a:t>
            </a:r>
            <a:r>
              <a:rPr lang="pt-BR" sz="4000" dirty="0"/>
              <a:t>, uma IDE Web</a:t>
            </a:r>
            <a:endParaRPr lang="pt-BR" sz="34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284001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Google </a:t>
            </a:r>
            <a:r>
              <a:rPr lang="pt-BR" dirty="0" err="1"/>
              <a:t>Colab</a:t>
            </a:r>
            <a:r>
              <a:rPr lang="pt-BR" dirty="0"/>
              <a:t>.</a:t>
            </a:r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19221FC6-77D9-6429-D254-BCD9FF7DC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430" y="812799"/>
            <a:ext cx="5899451" cy="5294757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estiver</a:t>
            </a:r>
            <a:r>
              <a:rPr lang="en-US" dirty="0"/>
              <a:t> </a:t>
            </a:r>
            <a:r>
              <a:rPr lang="en-US" dirty="0" err="1"/>
              <a:t>instalado</a:t>
            </a:r>
            <a:r>
              <a:rPr lang="en-US" dirty="0"/>
              <a:t>:</a:t>
            </a:r>
          </a:p>
          <a:p>
            <a:r>
              <a:rPr lang="en-US" dirty="0"/>
              <a:t>No Google Drive, </a:t>
            </a:r>
            <a:r>
              <a:rPr lang="en-US" dirty="0" err="1"/>
              <a:t>clicar</a:t>
            </a:r>
            <a:r>
              <a:rPr lang="en-US" dirty="0"/>
              <a:t> </a:t>
            </a:r>
            <a:r>
              <a:rPr lang="en-US" dirty="0" err="1"/>
              <a:t>em</a:t>
            </a:r>
            <a:endParaRPr lang="en-US" dirty="0"/>
          </a:p>
          <a:p>
            <a:r>
              <a:rPr lang="en-US" dirty="0"/>
              <a:t>“+ </a:t>
            </a:r>
            <a:r>
              <a:rPr lang="en-US" dirty="0" err="1"/>
              <a:t>Conectar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apps”</a:t>
            </a:r>
          </a:p>
          <a:p>
            <a:r>
              <a:rPr lang="en-US" dirty="0"/>
              <a:t>e procurer o Google </a:t>
            </a:r>
            <a:r>
              <a:rPr lang="en-US" dirty="0" err="1"/>
              <a:t>Colaboratory</a:t>
            </a:r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C6B6C0-722C-91D2-120D-C45F617CBA71}"/>
              </a:ext>
            </a:extLst>
          </p:cNvPr>
          <p:cNvSpPr/>
          <p:nvPr/>
        </p:nvSpPr>
        <p:spPr>
          <a:xfrm>
            <a:off x="5643154" y="4153987"/>
            <a:ext cx="2029097" cy="1219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4FF532B-C4DC-7D7D-9DD0-5938C8C70FED}"/>
              </a:ext>
            </a:extLst>
          </p:cNvPr>
          <p:cNvSpPr/>
          <p:nvPr/>
        </p:nvSpPr>
        <p:spPr>
          <a:xfrm>
            <a:off x="8164285" y="883919"/>
            <a:ext cx="3208596" cy="283030"/>
          </a:xfrm>
          <a:prstGeom prst="rect">
            <a:avLst/>
          </a:prstGeom>
          <a:solidFill>
            <a:srgbClr val="EDF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9BD882-09CA-7592-341C-9B98BE604192}"/>
              </a:ext>
            </a:extLst>
          </p:cNvPr>
          <p:cNvSpPr/>
          <p:nvPr/>
        </p:nvSpPr>
        <p:spPr>
          <a:xfrm>
            <a:off x="9483634" y="1907177"/>
            <a:ext cx="1889247" cy="48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053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Google </a:t>
            </a:r>
            <a:r>
              <a:rPr lang="pt-BR" dirty="0" err="1"/>
              <a:t>Colab</a:t>
            </a:r>
            <a:r>
              <a:rPr lang="pt-BR" dirty="0"/>
              <a:t>.</a:t>
            </a:r>
          </a:p>
        </p:txBody>
      </p:sp>
      <p:pic>
        <p:nvPicPr>
          <p:cNvPr id="11" name="Imagem 10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B25750B7-ADB0-B15A-DCB7-5EC51B2E6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749" y="812799"/>
            <a:ext cx="5402813" cy="5294757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Interface </a:t>
            </a:r>
            <a:r>
              <a:rPr lang="en-US" dirty="0" err="1"/>
              <a:t>gráfica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1133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50A7ACA-526A-EC6D-461F-FF99975F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525" y="2262024"/>
            <a:ext cx="6516009" cy="23339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 err="1"/>
              <a:t>Começando</a:t>
            </a:r>
            <a:endParaRPr lang="en-US" dirty="0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5DD20F5-B91A-7723-6FF1-F147373C5159}"/>
              </a:ext>
            </a:extLst>
          </p:cNvPr>
          <p:cNvSpPr/>
          <p:nvPr/>
        </p:nvSpPr>
        <p:spPr>
          <a:xfrm>
            <a:off x="5386251" y="1532037"/>
            <a:ext cx="444137" cy="90983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EFE30C-D28D-E467-3448-3376784A9A65}"/>
              </a:ext>
            </a:extLst>
          </p:cNvPr>
          <p:cNvSpPr txBox="1"/>
          <p:nvPr/>
        </p:nvSpPr>
        <p:spPr>
          <a:xfrm>
            <a:off x="5386251" y="905434"/>
            <a:ext cx="5250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Botão de execução (Shift + </a:t>
            </a:r>
            <a:r>
              <a:rPr lang="pt-BR" sz="2800" dirty="0" err="1">
                <a:solidFill>
                  <a:srgbClr val="383838"/>
                </a:solidFill>
              </a:rPr>
              <a:t>Enter</a:t>
            </a:r>
            <a:r>
              <a:rPr lang="pt-BR" sz="2800" dirty="0">
                <a:solidFill>
                  <a:srgbClr val="383838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5910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50A7ACA-526A-EC6D-461F-FF99975F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525" y="2262024"/>
            <a:ext cx="6516009" cy="23339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 err="1"/>
              <a:t>Começando</a:t>
            </a:r>
            <a:endParaRPr lang="en-US" dirty="0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5DD20F5-B91A-7723-6FF1-F147373C5159}"/>
              </a:ext>
            </a:extLst>
          </p:cNvPr>
          <p:cNvSpPr/>
          <p:nvPr/>
        </p:nvSpPr>
        <p:spPr>
          <a:xfrm>
            <a:off x="6492240" y="1532037"/>
            <a:ext cx="444137" cy="90983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EFE30C-D28D-E467-3448-3376784A9A65}"/>
              </a:ext>
            </a:extLst>
          </p:cNvPr>
          <p:cNvSpPr txBox="1"/>
          <p:nvPr/>
        </p:nvSpPr>
        <p:spPr>
          <a:xfrm>
            <a:off x="6492240" y="905434"/>
            <a:ext cx="2896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Dados de entrada</a:t>
            </a:r>
          </a:p>
        </p:txBody>
      </p:sp>
    </p:spTree>
    <p:extLst>
      <p:ext uri="{BB962C8B-B14F-4D97-AF65-F5344CB8AC3E}">
        <p14:creationId xmlns:p14="http://schemas.microsoft.com/office/powerpoint/2010/main" val="4233267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50A7ACA-526A-EC6D-461F-FF99975F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525" y="2262024"/>
            <a:ext cx="6516009" cy="23339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 err="1"/>
              <a:t>Começando</a:t>
            </a:r>
            <a:endParaRPr lang="en-US" dirty="0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5DD20F5-B91A-7723-6FF1-F147373C5159}"/>
              </a:ext>
            </a:extLst>
          </p:cNvPr>
          <p:cNvSpPr/>
          <p:nvPr/>
        </p:nvSpPr>
        <p:spPr>
          <a:xfrm rot="10800000">
            <a:off x="6492240" y="4449409"/>
            <a:ext cx="444137" cy="90983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EFE30C-D28D-E467-3448-3376784A9A65}"/>
              </a:ext>
            </a:extLst>
          </p:cNvPr>
          <p:cNvSpPr txBox="1"/>
          <p:nvPr/>
        </p:nvSpPr>
        <p:spPr>
          <a:xfrm>
            <a:off x="6492240" y="5359241"/>
            <a:ext cx="2534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Dados de saída</a:t>
            </a:r>
          </a:p>
        </p:txBody>
      </p:sp>
    </p:spTree>
    <p:extLst>
      <p:ext uri="{BB962C8B-B14F-4D97-AF65-F5344CB8AC3E}">
        <p14:creationId xmlns:p14="http://schemas.microsoft.com/office/powerpoint/2010/main" val="2219269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01168" lvl="1" indent="0">
              <a:buNone/>
            </a:pPr>
            <a:r>
              <a:rPr lang="pt-BR" sz="3600" b="1" dirty="0">
                <a:solidFill>
                  <a:srgbClr val="EC7016"/>
                </a:solidFill>
              </a:rPr>
              <a:t>print() </a:t>
            </a:r>
            <a:r>
              <a:rPr lang="pt-BR" sz="3600" dirty="0">
                <a:solidFill>
                  <a:srgbClr val="383838"/>
                </a:solidFill>
              </a:rPr>
              <a:t>é uma </a:t>
            </a:r>
            <a:r>
              <a:rPr lang="pt-BR" sz="3600" b="1" dirty="0">
                <a:solidFill>
                  <a:srgbClr val="383838"/>
                </a:solidFill>
              </a:rPr>
              <a:t>função</a:t>
            </a:r>
            <a:r>
              <a:rPr lang="pt-BR" sz="3600" dirty="0">
                <a:solidFill>
                  <a:srgbClr val="383838"/>
                </a:solidFill>
              </a:rPr>
              <a:t>.</a:t>
            </a:r>
          </a:p>
          <a:p>
            <a:pPr marL="201168" lvl="1" indent="0">
              <a:buNone/>
            </a:pPr>
            <a:endParaRPr lang="pt-BR" sz="3600" b="1" dirty="0">
              <a:solidFill>
                <a:srgbClr val="383838"/>
              </a:solidFill>
            </a:endParaRPr>
          </a:p>
          <a:p>
            <a:pPr marL="201168" lvl="1" indent="0">
              <a:buNone/>
            </a:pPr>
            <a:r>
              <a:rPr lang="pt-BR" sz="3600" dirty="0">
                <a:solidFill>
                  <a:srgbClr val="383838"/>
                </a:solidFill>
              </a:rPr>
              <a:t>Funções como </a:t>
            </a:r>
            <a:r>
              <a:rPr lang="pt-BR" sz="3600" dirty="0">
                <a:solidFill>
                  <a:srgbClr val="EC7016"/>
                </a:solidFill>
              </a:rPr>
              <a:t>print() </a:t>
            </a:r>
            <a:r>
              <a:rPr lang="pt-BR" sz="3600" dirty="0">
                <a:solidFill>
                  <a:srgbClr val="383838"/>
                </a:solidFill>
              </a:rPr>
              <a:t>são embutidas (</a:t>
            </a:r>
            <a:r>
              <a:rPr lang="pt-BR" sz="3600" i="1" dirty="0" err="1">
                <a:solidFill>
                  <a:srgbClr val="383838"/>
                </a:solidFill>
              </a:rPr>
              <a:t>built</a:t>
            </a:r>
            <a:r>
              <a:rPr lang="pt-BR" sz="3600" i="1" dirty="0">
                <a:solidFill>
                  <a:srgbClr val="383838"/>
                </a:solidFill>
              </a:rPr>
              <a:t>-in). </a:t>
            </a:r>
            <a:r>
              <a:rPr lang="pt-BR" sz="3600" dirty="0">
                <a:solidFill>
                  <a:srgbClr val="383838"/>
                </a:solidFill>
              </a:rPr>
              <a:t>Ou seja, foram desenvolvidas previamente e podem ser chamadas quando necessário</a:t>
            </a:r>
            <a:endParaRPr lang="pt-BR" sz="3600" dirty="0">
              <a:solidFill>
                <a:srgbClr val="EC7016"/>
              </a:solidFill>
            </a:endParaRPr>
          </a:p>
          <a:p>
            <a:pPr marL="201168" lvl="1" indent="0">
              <a:buNone/>
            </a:pP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286923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01168" lvl="1" indent="0">
              <a:buNone/>
            </a:pPr>
            <a:r>
              <a:rPr lang="pt-BR" sz="3600" dirty="0">
                <a:solidFill>
                  <a:srgbClr val="383838"/>
                </a:solidFill>
              </a:rPr>
              <a:t>A função </a:t>
            </a:r>
            <a:r>
              <a:rPr lang="pt-BR" sz="3600" b="1" dirty="0">
                <a:solidFill>
                  <a:srgbClr val="EC7016"/>
                </a:solidFill>
              </a:rPr>
              <a:t>print() </a:t>
            </a:r>
            <a:r>
              <a:rPr lang="pt-BR" sz="3600" dirty="0">
                <a:solidFill>
                  <a:srgbClr val="383838"/>
                </a:solidFill>
              </a:rPr>
              <a:t>é utilizada para que um </a:t>
            </a:r>
            <a:r>
              <a:rPr lang="pt-BR" sz="3600" dirty="0">
                <a:solidFill>
                  <a:srgbClr val="0070C0"/>
                </a:solidFill>
              </a:rPr>
              <a:t>texto</a:t>
            </a:r>
            <a:r>
              <a:rPr lang="pt-BR" sz="3600" dirty="0">
                <a:solidFill>
                  <a:srgbClr val="383838"/>
                </a:solidFill>
              </a:rPr>
              <a:t> seja mostrado na tela</a:t>
            </a:r>
          </a:p>
          <a:p>
            <a:pPr marL="201168" lvl="1" indent="0">
              <a:buNone/>
            </a:pPr>
            <a:endParaRPr lang="pt-BR" sz="3600" b="1" dirty="0">
              <a:solidFill>
                <a:srgbClr val="383838"/>
              </a:solidFill>
            </a:endParaRPr>
          </a:p>
          <a:p>
            <a:pPr marL="201168" lvl="1" indent="0">
              <a:buNone/>
            </a:pPr>
            <a:r>
              <a:rPr lang="pt-BR" sz="3600" dirty="0">
                <a:solidFill>
                  <a:srgbClr val="383838"/>
                </a:solidFill>
              </a:rPr>
              <a:t>Este </a:t>
            </a:r>
            <a:r>
              <a:rPr lang="pt-BR" sz="3600" dirty="0">
                <a:solidFill>
                  <a:srgbClr val="0070C0"/>
                </a:solidFill>
              </a:rPr>
              <a:t>texto</a:t>
            </a:r>
            <a:r>
              <a:rPr lang="pt-BR" sz="3600" dirty="0">
                <a:solidFill>
                  <a:srgbClr val="383838"/>
                </a:solidFill>
              </a:rPr>
              <a:t> estará sempre entre aspas, que podem ser duplas (“Texto”) ou simples (‘Texto’), e entre parênteses: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842293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50A7ACA-526A-EC6D-461F-FF99975FA6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5032525" y="2845512"/>
            <a:ext cx="6516009" cy="11669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Print()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C5DD20F5-B91A-7723-6FF1-F147373C5159}"/>
              </a:ext>
            </a:extLst>
          </p:cNvPr>
          <p:cNvSpPr/>
          <p:nvPr/>
        </p:nvSpPr>
        <p:spPr>
          <a:xfrm>
            <a:off x="6840583" y="2225107"/>
            <a:ext cx="444137" cy="909831"/>
          </a:xfrm>
          <a:prstGeom prst="downArrow">
            <a:avLst/>
          </a:prstGeom>
          <a:solidFill>
            <a:srgbClr val="DCDCA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EFE30C-D28D-E467-3448-3376784A9A65}"/>
              </a:ext>
            </a:extLst>
          </p:cNvPr>
          <p:cNvSpPr txBox="1"/>
          <p:nvPr/>
        </p:nvSpPr>
        <p:spPr>
          <a:xfrm>
            <a:off x="6420199" y="1529852"/>
            <a:ext cx="1284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Função</a:t>
            </a: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09FC364F-BD65-4675-4DA2-4EEB6F2781F2}"/>
              </a:ext>
            </a:extLst>
          </p:cNvPr>
          <p:cNvSpPr/>
          <p:nvPr/>
        </p:nvSpPr>
        <p:spPr>
          <a:xfrm rot="10800000">
            <a:off x="7629356" y="3750977"/>
            <a:ext cx="444137" cy="909831"/>
          </a:xfrm>
          <a:prstGeom prst="downArrow">
            <a:avLst/>
          </a:prstGeom>
          <a:solidFill>
            <a:srgbClr val="FFDA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6633FCCF-5EE7-2663-8265-62C74141391F}"/>
              </a:ext>
            </a:extLst>
          </p:cNvPr>
          <p:cNvSpPr/>
          <p:nvPr/>
        </p:nvSpPr>
        <p:spPr>
          <a:xfrm rot="10800000">
            <a:off x="10950004" y="3750976"/>
            <a:ext cx="444137" cy="909831"/>
          </a:xfrm>
          <a:prstGeom prst="downArrow">
            <a:avLst/>
          </a:prstGeom>
          <a:solidFill>
            <a:srgbClr val="FFDA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17A5A9-7F9A-A8B8-CF97-A071C29D3A46}"/>
              </a:ext>
            </a:extLst>
          </p:cNvPr>
          <p:cNvSpPr txBox="1"/>
          <p:nvPr/>
        </p:nvSpPr>
        <p:spPr>
          <a:xfrm>
            <a:off x="8579011" y="4339101"/>
            <a:ext cx="1885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Parênteses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5D3845-DC6A-5909-137B-838F38CCD5CC}"/>
              </a:ext>
            </a:extLst>
          </p:cNvPr>
          <p:cNvSpPr txBox="1"/>
          <p:nvPr/>
        </p:nvSpPr>
        <p:spPr>
          <a:xfrm>
            <a:off x="8944503" y="2053072"/>
            <a:ext cx="1091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383838"/>
                </a:solidFill>
              </a:rPr>
              <a:t>Aspas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FF46CCD6-F150-F825-156A-C5B75715E8BD}"/>
              </a:ext>
            </a:extLst>
          </p:cNvPr>
          <p:cNvSpPr/>
          <p:nvPr/>
        </p:nvSpPr>
        <p:spPr>
          <a:xfrm>
            <a:off x="7808900" y="2220740"/>
            <a:ext cx="444137" cy="909831"/>
          </a:xfrm>
          <a:prstGeom prst="downArrow">
            <a:avLst/>
          </a:prstGeom>
          <a:solidFill>
            <a:srgbClr val="CE917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325B73C8-5D8A-5597-4C1D-932265284350}"/>
              </a:ext>
            </a:extLst>
          </p:cNvPr>
          <p:cNvSpPr/>
          <p:nvPr/>
        </p:nvSpPr>
        <p:spPr>
          <a:xfrm>
            <a:off x="10727936" y="2225107"/>
            <a:ext cx="444137" cy="909831"/>
          </a:xfrm>
          <a:prstGeom prst="downArrow">
            <a:avLst/>
          </a:prstGeom>
          <a:solidFill>
            <a:srgbClr val="CE917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78284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pic>
        <p:nvPicPr>
          <p:cNvPr id="6" name="Imagem 5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C9F04BA7-A203-657D-0283-FC3CE940E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962017"/>
            <a:ext cx="5928344" cy="2996321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Print()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utilizada</a:t>
            </a:r>
            <a:r>
              <a:rPr lang="en-US" dirty="0"/>
              <a:t> para </a:t>
            </a:r>
            <a:r>
              <a:rPr lang="en-US" dirty="0" err="1"/>
              <a:t>operações</a:t>
            </a:r>
            <a:r>
              <a:rPr lang="en-US" dirty="0"/>
              <a:t> </a:t>
            </a:r>
            <a:r>
              <a:rPr lang="en-US" dirty="0" err="1"/>
              <a:t>aritméticas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62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C9A6CE-A5B8-2B1D-E0AC-D81D19ED24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162"/>
          <a:stretch/>
        </p:blipFill>
        <p:spPr>
          <a:xfrm>
            <a:off x="5458984" y="2118889"/>
            <a:ext cx="5928344" cy="1310111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Qual </a:t>
            </a:r>
            <a:r>
              <a:rPr lang="en-US" dirty="0" err="1"/>
              <a:t>será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16821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C9A6CE-A5B8-2B1D-E0AC-D81D19ED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2118889"/>
            <a:ext cx="5928344" cy="2682576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Neste </a:t>
            </a:r>
            <a:r>
              <a:rPr lang="en-US" dirty="0" err="1"/>
              <a:t>caso</a:t>
            </a:r>
            <a:r>
              <a:rPr lang="en-US" dirty="0"/>
              <a:t>, print() </a:t>
            </a:r>
            <a:r>
              <a:rPr lang="en-US" dirty="0" err="1"/>
              <a:t>gerou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b="1" dirty="0" err="1"/>
              <a:t>concatenação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62297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162AF8E-7341-3020-B4E1-3637F28B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054736"/>
            <a:ext cx="12191985" cy="2468877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F4438BB-9890-B4FB-D105-C83353FA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r>
              <a:rPr lang="en-US" dirty="0"/>
              <a:t>Uma </a:t>
            </a:r>
            <a:r>
              <a:rPr lang="en-US" dirty="0" err="1"/>
              <a:t>concatenação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unir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1636998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725F76F-ECDE-3BB0-C693-50445BC723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37"/>
          <a:stretch/>
        </p:blipFill>
        <p:spPr>
          <a:xfrm>
            <a:off x="15" y="1115697"/>
            <a:ext cx="12191985" cy="1200783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F4438BB-9890-B4FB-D105-C83353FA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en-US" dirty="0"/>
              <a:t>Uma </a:t>
            </a:r>
            <a:r>
              <a:rPr lang="en-US" dirty="0" err="1"/>
              <a:t>concatenação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unir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2907189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725F76F-ECDE-3BB0-C693-50445BC72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115697"/>
            <a:ext cx="12191985" cy="2346955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Funções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F4438BB-9890-B4FB-D105-C83353FA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en-US" dirty="0"/>
              <a:t>Uma </a:t>
            </a:r>
            <a:r>
              <a:rPr lang="en-US" dirty="0" err="1"/>
              <a:t>concatenação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unir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4286753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01168" lvl="1" indent="0">
              <a:buNone/>
            </a:pPr>
            <a:r>
              <a:rPr lang="pt-BR" sz="3600" dirty="0">
                <a:solidFill>
                  <a:srgbClr val="383838"/>
                </a:solidFill>
              </a:rPr>
              <a:t>Os tipos de </a:t>
            </a:r>
            <a:r>
              <a:rPr lang="pt-BR" sz="3600" b="1" dirty="0">
                <a:solidFill>
                  <a:srgbClr val="383838"/>
                </a:solidFill>
              </a:rPr>
              <a:t>dados primitivos </a:t>
            </a:r>
            <a:r>
              <a:rPr lang="pt-BR" sz="3600" dirty="0">
                <a:solidFill>
                  <a:srgbClr val="383838"/>
                </a:solidFill>
              </a:rPr>
              <a:t>são:</a:t>
            </a:r>
          </a:p>
          <a:p>
            <a:pPr marL="651510" indent="-742950">
              <a:buFont typeface="+mj-lt"/>
              <a:buAutoNum type="arabicPeriod"/>
            </a:pPr>
            <a:r>
              <a:rPr lang="pt-BR" sz="2900" b="1" dirty="0" err="1"/>
              <a:t>Int</a:t>
            </a:r>
            <a:r>
              <a:rPr lang="pt-BR" sz="2900" dirty="0"/>
              <a:t> (números inteiros – positivos, negativos ou nulo. Ex.: 27)</a:t>
            </a:r>
          </a:p>
          <a:p>
            <a:pPr marL="651510" indent="-742950">
              <a:buFont typeface="+mj-lt"/>
              <a:buAutoNum type="arabicPeriod"/>
            </a:pPr>
            <a:r>
              <a:rPr lang="pt-BR" sz="2900" b="1" dirty="0" err="1"/>
              <a:t>Float</a:t>
            </a:r>
            <a:r>
              <a:rPr lang="pt-BR" sz="2900" dirty="0"/>
              <a:t> (números reais – positivos ou negativos. Ex.: 27.5)</a:t>
            </a:r>
          </a:p>
          <a:p>
            <a:pPr marL="651510" indent="-742950">
              <a:buFont typeface="+mj-lt"/>
              <a:buAutoNum type="arabicPeriod"/>
            </a:pPr>
            <a:r>
              <a:rPr lang="pt-BR" sz="2900" b="1" dirty="0" err="1"/>
              <a:t>Str</a:t>
            </a:r>
            <a:r>
              <a:rPr lang="pt-BR" sz="2900" dirty="0"/>
              <a:t> (</a:t>
            </a:r>
            <a:r>
              <a:rPr lang="pt-BR" sz="2900" i="1" dirty="0" err="1"/>
              <a:t>string</a:t>
            </a:r>
            <a:r>
              <a:rPr lang="pt-BR" sz="2900" dirty="0"/>
              <a:t> – cadeia de caracteres. Ex.: ‘Olá!’)</a:t>
            </a:r>
          </a:p>
          <a:p>
            <a:pPr marL="651510" indent="-742950">
              <a:buFont typeface="+mj-lt"/>
              <a:buAutoNum type="arabicPeriod"/>
            </a:pPr>
            <a:r>
              <a:rPr lang="pt-BR" sz="2900" b="1" dirty="0" err="1"/>
              <a:t>Bool</a:t>
            </a:r>
            <a:r>
              <a:rPr lang="pt-BR" sz="2900" dirty="0"/>
              <a:t> (valores Booleanos que representam estados lógicos: </a:t>
            </a:r>
            <a:r>
              <a:rPr lang="pt-BR" sz="2900" dirty="0" err="1"/>
              <a:t>True</a:t>
            </a:r>
            <a:r>
              <a:rPr lang="pt-BR" sz="2900" dirty="0"/>
              <a:t> ou False)</a:t>
            </a:r>
          </a:p>
        </p:txBody>
      </p:sp>
    </p:spTree>
    <p:extLst>
      <p:ext uri="{BB962C8B-B14F-4D97-AF65-F5344CB8AC3E}">
        <p14:creationId xmlns:p14="http://schemas.microsoft.com/office/powerpoint/2010/main" val="21668507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6693D3D7-5B70-8D7F-2A2F-E92588C5D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460377"/>
            <a:ext cx="12191985" cy="3657596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Variáveis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4818726-81E0-5CB7-1F57-5CDF0D2F6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6173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56D379B-FC5D-9365-EA82-852AE608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353697"/>
            <a:ext cx="12191985" cy="3870955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Variáveis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4C5B4E-87B5-9F3B-5F38-91370559D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5335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AFB7FFEA-1D09-77F2-2B98-D9D7741C2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94619"/>
            <a:ext cx="12191985" cy="4389112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Variáveis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2A73BEB-9B61-1B9E-5386-559460656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967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0671CF-87E9-8F1A-599C-5AF8B3AD0D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660"/>
          <a:stretch/>
        </p:blipFill>
        <p:spPr>
          <a:xfrm>
            <a:off x="6109851" y="812799"/>
            <a:ext cx="4626609" cy="3724367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Um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de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atribuição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de </a:t>
            </a:r>
            <a:r>
              <a:rPr lang="en-US" b="1" dirty="0"/>
              <a:t>==</a:t>
            </a:r>
            <a:r>
              <a:rPr lang="en-US" dirty="0"/>
              <a:t> </a:t>
            </a:r>
            <a:r>
              <a:rPr lang="en-US" dirty="0" err="1"/>
              <a:t>representam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igualdade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59676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0671CF-87E9-8F1A-599C-5AF8B3AD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51" y="812799"/>
            <a:ext cx="4626609" cy="5294757"/>
          </a:xfrm>
          <a:prstGeom prst="rect">
            <a:avLst/>
          </a:prstGeom>
          <a:noFill/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Um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de </a:t>
            </a:r>
            <a:r>
              <a:rPr lang="en-US" b="1" dirty="0"/>
              <a:t>=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atribuição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de </a:t>
            </a:r>
            <a:r>
              <a:rPr lang="en-US" b="1" dirty="0"/>
              <a:t>==</a:t>
            </a:r>
            <a:r>
              <a:rPr lang="en-US" dirty="0"/>
              <a:t> </a:t>
            </a:r>
            <a:r>
              <a:rPr lang="en-US" dirty="0" err="1"/>
              <a:t>representam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igualdade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31598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D8955DC-E619-4FDE-7908-D99EC56364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148"/>
          <a:stretch/>
        </p:blipFill>
        <p:spPr>
          <a:xfrm>
            <a:off x="6109850" y="812798"/>
            <a:ext cx="4626609" cy="386370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combinação</a:t>
            </a:r>
            <a:r>
              <a:rPr lang="en-US" dirty="0"/>
              <a:t> dos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b="1" dirty="0"/>
              <a:t>!=</a:t>
            </a:r>
            <a:r>
              <a:rPr lang="en-US" dirty="0"/>
              <a:t>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diferenciação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01159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D8955DC-E619-4FDE-7908-D99EC5636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50" y="812798"/>
            <a:ext cx="4626609" cy="53772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Python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combinação</a:t>
            </a:r>
            <a:r>
              <a:rPr lang="en-US" dirty="0"/>
              <a:t> dos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b="1" dirty="0"/>
              <a:t>!=</a:t>
            </a:r>
            <a:r>
              <a:rPr lang="en-US" dirty="0"/>
              <a:t>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comparação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diferenciação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64590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graphicFrame>
        <p:nvGraphicFramePr>
          <p:cNvPr id="3" name="Tabela 4">
            <a:extLst>
              <a:ext uri="{FF2B5EF4-FFF2-40B4-BE49-F238E27FC236}">
                <a16:creationId xmlns:a16="http://schemas.microsoft.com/office/drawing/2014/main" id="{E16486EC-77FE-F3CF-C78D-B36F6BE95D35}"/>
              </a:ext>
            </a:extLst>
          </p:cNvPr>
          <p:cNvGraphicFramePr>
            <a:graphicFrameLocks noGrp="1"/>
          </p:cNvGraphicFramePr>
          <p:nvPr/>
        </p:nvGraphicFramePr>
        <p:xfrm>
          <a:off x="0" y="1567543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9435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37BFEE-C09C-AD5B-997A-2BD6395406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615"/>
          <a:stretch/>
        </p:blipFill>
        <p:spPr>
          <a:xfrm>
            <a:off x="2614126" y="1284477"/>
            <a:ext cx="6963747" cy="1824484"/>
          </a:xfrm>
          <a:prstGeom prst="rect">
            <a:avLst/>
          </a:prstGeom>
        </p:spPr>
      </p:pic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0C92D825-75AF-631C-A1E7-124E2E04C45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0029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37BFEE-C09C-AD5B-997A-2BD63954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1284476"/>
            <a:ext cx="6963747" cy="2972215"/>
          </a:xfrm>
          <a:prstGeom prst="rect">
            <a:avLst/>
          </a:prstGeom>
        </p:spPr>
      </p:pic>
      <p:graphicFrame>
        <p:nvGraphicFramePr>
          <p:cNvPr id="7" name="Tabela 4">
            <a:extLst>
              <a:ext uri="{FF2B5EF4-FFF2-40B4-BE49-F238E27FC236}">
                <a16:creationId xmlns:a16="http://schemas.microsoft.com/office/drawing/2014/main" id="{0C92D825-75AF-631C-A1E7-124E2E04C456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4184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B57A3B-1524-910E-0CE9-29D9E3F01E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373"/>
          <a:stretch/>
        </p:blipFill>
        <p:spPr>
          <a:xfrm>
            <a:off x="2767303" y="1284476"/>
            <a:ext cx="6657391" cy="1772233"/>
          </a:xfrm>
          <a:prstGeom prst="rect">
            <a:avLst/>
          </a:prstGeom>
        </p:spPr>
      </p:pic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09F41C55-E927-7748-D1E9-1015789E9A8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2274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B57A3B-1524-910E-0CE9-29D9E3F01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03" y="1284476"/>
            <a:ext cx="6657391" cy="2972215"/>
          </a:xfrm>
          <a:prstGeom prst="rect">
            <a:avLst/>
          </a:prstGeom>
        </p:spPr>
      </p:pic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09F41C55-E927-7748-D1E9-1015789E9A8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0839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C054CA7-32CF-DABF-CFA8-4D58D135C6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494"/>
          <a:stretch/>
        </p:blipFill>
        <p:spPr>
          <a:xfrm>
            <a:off x="2594085" y="1284476"/>
            <a:ext cx="7003830" cy="179835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5C62DAC5-7E8D-53BA-4C9F-1298DD11700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203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C054CA7-32CF-DABF-CFA8-4D58D135C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85" y="1284476"/>
            <a:ext cx="7003830" cy="2972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 </a:t>
            </a:r>
            <a:r>
              <a:rPr lang="en-US" dirty="0" err="1"/>
              <a:t>acessar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utilizamos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índice</a:t>
            </a:r>
            <a:endParaRPr lang="en-US" dirty="0"/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5C62DAC5-7E8D-53BA-4C9F-1298DD11700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741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 </a:t>
            </a:r>
            <a:r>
              <a:rPr lang="en-US" dirty="0" err="1"/>
              <a:t>descobrir</a:t>
            </a:r>
            <a:r>
              <a:rPr lang="en-US" dirty="0"/>
              <a:t> o ‘</a:t>
            </a:r>
            <a:r>
              <a:rPr lang="en-US" dirty="0" err="1"/>
              <a:t>comprimento</a:t>
            </a:r>
            <a:r>
              <a:rPr lang="en-US" dirty="0"/>
              <a:t>’ (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caracteres</a:t>
            </a:r>
            <a:r>
              <a:rPr lang="en-US" dirty="0"/>
              <a:t>)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podemos</a:t>
            </a:r>
            <a:r>
              <a:rPr lang="en-US" dirty="0"/>
              <a:t> utilizer 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()</a:t>
            </a:r>
          </a:p>
          <a:p>
            <a:r>
              <a:rPr lang="en-US" i="1" dirty="0"/>
              <a:t>Obs.: length = </a:t>
            </a:r>
            <a:r>
              <a:rPr lang="en-US" dirty="0" err="1"/>
              <a:t>comprimento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inglês</a:t>
            </a:r>
            <a:endParaRPr lang="en-US" i="1" dirty="0"/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5C62DAC5-7E8D-53BA-4C9F-1298DD11700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6319AE67-49D1-0AB7-5EBD-6B7BC9B588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347"/>
          <a:stretch/>
        </p:blipFill>
        <p:spPr>
          <a:xfrm>
            <a:off x="3095206" y="1284476"/>
            <a:ext cx="6001588" cy="118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314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8558E48-E79F-27D4-30A4-C3F0D4FE0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 </a:t>
            </a:r>
            <a:r>
              <a:rPr lang="en-US" dirty="0" err="1"/>
              <a:t>descobrir</a:t>
            </a:r>
            <a:r>
              <a:rPr lang="en-US" dirty="0"/>
              <a:t> o ‘</a:t>
            </a:r>
            <a:r>
              <a:rPr lang="en-US" dirty="0" err="1"/>
              <a:t>comprimento</a:t>
            </a:r>
            <a:r>
              <a:rPr lang="en-US" dirty="0"/>
              <a:t>’ (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caracteres</a:t>
            </a:r>
            <a:r>
              <a:rPr lang="en-US" dirty="0"/>
              <a:t>) de </a:t>
            </a:r>
            <a:r>
              <a:rPr lang="en-US" dirty="0" err="1"/>
              <a:t>uma</a:t>
            </a:r>
            <a:r>
              <a:rPr lang="en-US" dirty="0"/>
              <a:t> string, </a:t>
            </a:r>
            <a:r>
              <a:rPr lang="en-US" dirty="0" err="1"/>
              <a:t>podemos</a:t>
            </a:r>
            <a:r>
              <a:rPr lang="en-US" dirty="0"/>
              <a:t> utilizer 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()</a:t>
            </a:r>
          </a:p>
          <a:p>
            <a:r>
              <a:rPr lang="en-US" i="1" dirty="0"/>
              <a:t>Obs.: length = </a:t>
            </a:r>
            <a:r>
              <a:rPr lang="en-US" dirty="0" err="1"/>
              <a:t>comprimento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inglês</a:t>
            </a:r>
            <a:endParaRPr lang="en-US" i="1" dirty="0"/>
          </a:p>
        </p:txBody>
      </p:sp>
      <p:graphicFrame>
        <p:nvGraphicFramePr>
          <p:cNvPr id="8" name="Tabela 4">
            <a:extLst>
              <a:ext uri="{FF2B5EF4-FFF2-40B4-BE49-F238E27FC236}">
                <a16:creationId xmlns:a16="http://schemas.microsoft.com/office/drawing/2014/main" id="{5C62DAC5-7E8D-53BA-4C9F-1298DD117008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364">
                  <a:extLst>
                    <a:ext uri="{9D8B030D-6E8A-4147-A177-3AD203B41FA5}">
                      <a16:colId xmlns:a16="http://schemas.microsoft.com/office/drawing/2014/main" val="329726855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93975377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9504402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5637424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61188210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49817137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988389196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1126527734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44973151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646151567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3362288858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4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5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6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7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8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9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10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92220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endParaRPr lang="pt-BR" sz="2700" b="1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W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R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700" b="1" dirty="0"/>
                        <a:t>D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67069926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6319AE67-49D1-0AB7-5EBD-6B7BC9B5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1284476"/>
            <a:ext cx="600158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645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Referências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740053" cy="3760891"/>
          </a:xfrm>
        </p:spPr>
        <p:txBody>
          <a:bodyPr>
            <a:normAutofit/>
          </a:bodyPr>
          <a:lstStyle/>
          <a:p>
            <a:r>
              <a:rPr lang="pt-BR" sz="2800" dirty="0"/>
              <a:t>MANZANO, José Augusto Navarro G.; OLIVEIRA, </a:t>
            </a:r>
            <a:r>
              <a:rPr lang="pt-BR" sz="2800" dirty="0" err="1"/>
              <a:t>Jayr</a:t>
            </a:r>
            <a:r>
              <a:rPr lang="pt-BR" sz="2800" dirty="0"/>
              <a:t> Figueiredo de. </a:t>
            </a:r>
            <a:r>
              <a:rPr lang="pt-BR" sz="2800" b="1" dirty="0"/>
              <a:t>Algoritmos - Lógica para Desenvolvimento de Programação de Computadores. </a:t>
            </a:r>
            <a:r>
              <a:rPr lang="pt-BR" sz="2800" dirty="0"/>
              <a:t>29. ed. Rio de Janeiro: Érica, 2019. E-book. p.16. ISBN 9788536531472.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71564429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53B714-4A2F-4856-9E04-15035FDF4BF4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322</TotalTime>
  <Words>1384</Words>
  <Application>Microsoft Office PowerPoint</Application>
  <PresentationFormat>Widescreen</PresentationFormat>
  <Paragraphs>381</Paragraphs>
  <Slides>68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4" baseType="lpstr">
      <vt:lpstr>Arial</vt:lpstr>
      <vt:lpstr>Bookman Old Style</vt:lpstr>
      <vt:lpstr>Calibri</vt:lpstr>
      <vt:lpstr>Cambria Math</vt:lpstr>
      <vt:lpstr>Franklin Gothic Book</vt:lpstr>
      <vt:lpstr>1_RetrospectVTI</vt:lpstr>
      <vt:lpstr>Pensamento lógico computacional com Python</vt:lpstr>
      <vt:lpstr>PLCP</vt:lpstr>
      <vt:lpstr>PLCP</vt:lpstr>
      <vt:lpstr>Introdução à computação</vt:lpstr>
      <vt:lpstr>Introdução à Computação</vt:lpstr>
      <vt:lpstr>Organização de um computador</vt:lpstr>
      <vt:lpstr>Apresentação do PowerPoint</vt:lpstr>
      <vt:lpstr>Apresentação do PowerPoint</vt:lpstr>
      <vt:lpstr>Apresentação do PowerPoint</vt:lpstr>
      <vt:lpstr>Organização de um computador</vt:lpstr>
      <vt:lpstr>Organização de um computador</vt:lpstr>
      <vt:lpstr>Organização de um computador</vt:lpstr>
      <vt:lpstr>Linguagens de Programação</vt:lpstr>
      <vt:lpstr>Linguagens de Programação</vt:lpstr>
      <vt:lpstr>Linguagens de Programação</vt:lpstr>
      <vt:lpstr>Linguagens de Programação</vt:lpstr>
      <vt:lpstr>Algoritmos Computacionais</vt:lpstr>
      <vt:lpstr>Algoritmos</vt:lpstr>
      <vt:lpstr>Apresentação do PowerPoint</vt:lpstr>
      <vt:lpstr>Algoritmos</vt:lpstr>
      <vt:lpstr>Algoritmos</vt:lpstr>
      <vt:lpstr>Algoritmos</vt:lpstr>
      <vt:lpstr>Lógica</vt:lpstr>
      <vt:lpstr>Lógica</vt:lpstr>
      <vt:lpstr>Lógica</vt:lpstr>
      <vt:lpstr>Lógica</vt:lpstr>
      <vt:lpstr>Lógica</vt:lpstr>
      <vt:lpstr>Lógica</vt:lpstr>
      <vt:lpstr>Lógica</vt:lpstr>
      <vt:lpstr>Lógica</vt:lpstr>
      <vt:lpstr>Lógica</vt:lpstr>
      <vt:lpstr>Python</vt:lpstr>
      <vt:lpstr>Python</vt:lpstr>
      <vt:lpstr>Python</vt:lpstr>
      <vt:lpstr>IDE</vt:lpstr>
      <vt:lpstr>IDE</vt:lpstr>
      <vt:lpstr>Google Colab.</vt:lpstr>
      <vt:lpstr>Google Colab.</vt:lpstr>
      <vt:lpstr>Python</vt:lpstr>
      <vt:lpstr>Python</vt:lpstr>
      <vt:lpstr>Python</vt:lpstr>
      <vt:lpstr>Python</vt:lpstr>
      <vt:lpstr>Python</vt:lpstr>
      <vt:lpstr>Funções</vt:lpstr>
      <vt:lpstr>Funções</vt:lpstr>
      <vt:lpstr>Funções</vt:lpstr>
      <vt:lpstr>Funções</vt:lpstr>
      <vt:lpstr>Funções</vt:lpstr>
      <vt:lpstr>Funções</vt:lpstr>
      <vt:lpstr>Funções</vt:lpstr>
      <vt:lpstr>Python</vt:lpstr>
      <vt:lpstr>Variáveis</vt:lpstr>
      <vt:lpstr>Variáveis</vt:lpstr>
      <vt:lpstr>Variáveis</vt:lpstr>
      <vt:lpstr>Python</vt:lpstr>
      <vt:lpstr>Python</vt:lpstr>
      <vt:lpstr>Python</vt:lpstr>
      <vt:lpstr>Python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31</cp:revision>
  <dcterms:created xsi:type="dcterms:W3CDTF">2022-08-15T17:51:41Z</dcterms:created>
  <dcterms:modified xsi:type="dcterms:W3CDTF">2025-02-25T18:26:35Z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