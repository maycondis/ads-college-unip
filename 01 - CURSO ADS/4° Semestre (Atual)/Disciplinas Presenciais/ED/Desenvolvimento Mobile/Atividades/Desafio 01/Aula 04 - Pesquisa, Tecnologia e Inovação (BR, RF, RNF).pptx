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03" r:id="rId3"/>
    <p:sldId id="257" r:id="rId4"/>
    <p:sldId id="300" r:id="rId5"/>
    <p:sldId id="301" r:id="rId6"/>
    <p:sldId id="302" r:id="rId7"/>
    <p:sldId id="305" r:id="rId8"/>
    <p:sldId id="306" r:id="rId9"/>
    <p:sldId id="307" r:id="rId10"/>
    <p:sldId id="309" r:id="rId11"/>
    <p:sldId id="310" r:id="rId12"/>
    <p:sldId id="311" r:id="rId13"/>
    <p:sldId id="312" r:id="rId14"/>
    <p:sldId id="313" r:id="rId15"/>
    <p:sldId id="31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670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DRA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47472"/>
            <a:ext cx="7863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pt-BR" sz="1500" b="1" kern="0" spc="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Aula 4</a:t>
            </a:r>
          </a:p>
        </p:txBody>
      </p:sp>
      <p:sp>
        <p:nvSpPr>
          <p:cNvPr id="4" name="titulo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4200"/>
              </a:lnSpc>
              <a:spcBef>
                <a:spcPts val="0"/>
              </a:spcBef>
              <a:buNone/>
            </a:pPr>
            <a:r>
              <a:rPr lang="pt-BR" sz="3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Pesquisa, Tecnologia e Inovação</a:t>
            </a:r>
          </a:p>
        </p:txBody>
      </p:sp>
      <p:sp>
        <p:nvSpPr>
          <p:cNvPr id="5" name="sub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sz="1900" dirty="0">
                <a:solidFill>
                  <a:srgbClr val="5A647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Análise e Desenvolvimento de Sistemas • 2º semestre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sz="1900" dirty="0">
                <a:solidFill>
                  <a:srgbClr val="5A647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Regras de Negócio, Requisitos e BDD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4027-FFEF-6C9E-89C0-4F99A135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AE2F44DF-CDDD-1882-D3AB-5AA5195D9754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1EC6E150-A676-EACD-E759-CDE3458FA867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Introdução e Definições Fundamentais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6387F8A9-7DE6-1514-FF1F-4B11ECA0386D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3250"/>
              </a:lnSpc>
              <a:spcBef>
                <a:spcPts val="0"/>
              </a:spcBef>
              <a:buNone/>
            </a:pPr>
            <a:r>
              <a:rPr lang="pt-BR" sz="2600" i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 (BR)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RF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RNF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50B2AC6A-497C-11B5-56EA-4F62DA803C01}"/>
              </a:ext>
            </a:extLst>
          </p:cNvPr>
          <p:cNvSpPr/>
          <p:nvPr/>
        </p:nvSpPr>
        <p:spPr>
          <a:xfrm>
            <a:off x="548640" y="1800000"/>
            <a:ext cx="7717056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sz="20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Na engenharia de software, </a:t>
            </a:r>
            <a:r>
              <a:rPr lang="pt-BR" sz="2000" b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a correta distinção e o mapeamento entre o domínio do negócio e a implementação técnica</a:t>
            </a:r>
            <a:r>
              <a:rPr lang="pt-BR" sz="20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 são pilares cruciais para o sucesso de qualquer projeto.</a:t>
            </a:r>
          </a:p>
        </p:txBody>
      </p:sp>
    </p:spTree>
    <p:extLst>
      <p:ext uri="{BB962C8B-B14F-4D97-AF65-F5344CB8AC3E}">
        <p14:creationId xmlns:p14="http://schemas.microsoft.com/office/powerpoint/2010/main" val="355496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/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Introdução e Definições Fundamentais</a:t>
            </a:r>
          </a:p>
        </p:txBody>
      </p:sp>
      <p:sp>
        <p:nvSpPr>
          <p:cNvPr id="4" name="titulo"/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</a:rPr>
              <a:t>BR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RF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RNF</a:t>
            </a:r>
          </a:p>
        </p:txBody>
      </p:sp>
      <p:sp>
        <p:nvSpPr>
          <p:cNvPr id="5" name="corpo"/>
          <p:cNvSpPr/>
          <p:nvPr/>
        </p:nvSpPr>
        <p:spPr>
          <a:xfrm>
            <a:off x="548640" y="1800000"/>
            <a:ext cx="7863840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Regras de Negócio (Business Rules): </a:t>
            </a:r>
            <a:r>
              <a:rPr lang="pt-BR" b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São premissas, políticas, diretrizes e restrições operacionais que definem como a organização funciona.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endParaRPr lang="pt-BR" b="1" dirty="0">
              <a:solidFill>
                <a:srgbClr val="1F2430"/>
              </a:solidFill>
              <a:latin typeface="Verdana" pitchFamily="34" charset="0"/>
              <a:ea typeface="Verdana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Elas existem de maneira abstrata e independente de qualquer tecnologia ou sistema computacional (funcionariam mesmo se o processo fosse manual ou em papel).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7202-DC32-908C-E41D-FCA5A1EA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3182BF92-FD35-3EBB-150A-153E539B0774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4DCB61D-D173-C36C-81E7-A0B7E12FF5A1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Introdução e Definições Fundamentais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DE67C001-7365-124D-8A99-73E41F1A8F5A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3250"/>
              </a:lnSpc>
              <a:spcBef>
                <a:spcPts val="0"/>
              </a:spcBef>
              <a:buNone/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pt-BR" sz="2600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</a:rPr>
              <a:t>RF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RNF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CC313817-9457-2C27-F296-99FCDA35CBCC}"/>
              </a:ext>
            </a:extLst>
          </p:cNvPr>
          <p:cNvSpPr/>
          <p:nvPr/>
        </p:nvSpPr>
        <p:spPr>
          <a:xfrm>
            <a:off x="548639" y="1800000"/>
            <a:ext cx="7464393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Requisitos Funcionais (RF): </a:t>
            </a:r>
            <a:r>
              <a:rPr lang="pt-BR" b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Especificam as ações, comportamentos, serviços ou transformações que o sistema de software deve executar.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endParaRPr lang="pt-BR" dirty="0">
              <a:solidFill>
                <a:srgbClr val="1F2430"/>
              </a:solidFill>
              <a:latin typeface="Verdana" pitchFamily="34" charset="0"/>
              <a:ea typeface="Verdana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Eles automatizam e traduzem as regras de negócio em funções lógicas do sistema.</a:t>
            </a:r>
          </a:p>
        </p:txBody>
      </p:sp>
    </p:spTree>
    <p:extLst>
      <p:ext uri="{BB962C8B-B14F-4D97-AF65-F5344CB8AC3E}">
        <p14:creationId xmlns:p14="http://schemas.microsoft.com/office/powerpoint/2010/main" val="373053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83B0-C548-8F0B-1656-B02D97CB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7B2D1FB2-C91C-6474-18A5-9CCCC44ECFAB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1422FF7-83C5-838E-E193-8E9376341E3C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Introdução e Definições Fundamentais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3DFC3F8F-D574-7026-3175-77FFD42448F7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RF </a:t>
            </a:r>
            <a:r>
              <a:rPr lang="pt-BR" sz="2600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  <a:ea typeface="Verdana" pitchFamily="34" charset="-122"/>
              </a:rPr>
              <a:t>x</a:t>
            </a: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pt-BR" sz="2600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</a:rPr>
              <a:t>RNF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D3F8D800-3B64-F4CE-3366-45A3D7DCBE22}"/>
              </a:ext>
            </a:extLst>
          </p:cNvPr>
          <p:cNvSpPr/>
          <p:nvPr/>
        </p:nvSpPr>
        <p:spPr>
          <a:xfrm>
            <a:off x="548639" y="1800000"/>
            <a:ext cx="7464393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Requisitos Não-Funcionais (RNF): </a:t>
            </a:r>
            <a:r>
              <a:rPr lang="pt-BR" b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Estabelecem os critérios e qualidades de operação do sistema, agindo como restrições sobre o comportamento funcional.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endParaRPr lang="pt-BR" b="1" dirty="0">
              <a:solidFill>
                <a:srgbClr val="1F2430"/>
              </a:solidFill>
              <a:latin typeface="Verdana" pitchFamily="34" charset="0"/>
              <a:ea typeface="Verdana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</a:rPr>
              <a:t>Abrangem segurança, usabilidade, performance, portabilidade e confiabilidade.</a:t>
            </a:r>
          </a:p>
        </p:txBody>
      </p:sp>
    </p:spTree>
    <p:extLst>
      <p:ext uri="{BB962C8B-B14F-4D97-AF65-F5344CB8AC3E}">
        <p14:creationId xmlns:p14="http://schemas.microsoft.com/office/powerpoint/2010/main" val="2860129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CD11-E7D5-F647-3A7C-903FB2CE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9B43AD18-866B-C50D-9A5F-0DF7847AE751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FD2FB560-E4FC-DBC0-A7CD-0994D5E31507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Estudo de Caso Prático - Fintech de Empréstimos</a:t>
            </a:r>
          </a:p>
          <a:p>
            <a:pPr>
              <a:lnSpc>
                <a:spcPts val="1600"/>
              </a:lnSpc>
            </a:pPr>
            <a:endParaRPr lang="pt-BR" sz="1200" dirty="0">
              <a:solidFill>
                <a:srgbClr val="EF6C00"/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5D187F01-159C-FB3D-2714-A055DB49F577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3250"/>
              </a:lnSpc>
              <a:spcBef>
                <a:spcPts val="0"/>
              </a:spcBef>
              <a:buNone/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Fintech de Empréstimos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C1CA70A9-AAF8-C2F2-03FA-35676C532317}"/>
              </a:ext>
            </a:extLst>
          </p:cNvPr>
          <p:cNvSpPr/>
          <p:nvPr/>
        </p:nvSpPr>
        <p:spPr>
          <a:xfrm>
            <a:off x="548640" y="1800000"/>
            <a:ext cx="7199698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Para fins didáticos, consideremos o cenário de um sistema de e-commerce bancário focado na liberação de empréstimos automáticos pré-aprovados.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Vejam como os elementos se relacionam: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954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1A75-CABC-84E3-96DB-96793436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AF019A32-1AD3-DF02-6BF5-2E5D1DA01C32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9F20A05E-B900-FDD5-B41A-6A21F6AC4441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Estudo de Caso Prático - Fintech de Empréstimos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269ED2E7-D06D-B334-4E62-353EEBF73E73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Regras de Negócio Aplicadas: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5B2186C7-762F-EBC2-B9E1-8CE4D526970D}"/>
              </a:ext>
            </a:extLst>
          </p:cNvPr>
          <p:cNvSpPr/>
          <p:nvPr/>
        </p:nvSpPr>
        <p:spPr>
          <a:xfrm>
            <a:off x="548639" y="1800000"/>
            <a:ext cx="7464393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RN01 (Elegibilidade):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Clientes com score de crédito abaixo de 600 pontos ou restrições ativas no CPF não podem solicitar empréstimos automáticos.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RN02 (Comprometimento):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valor da parcela mensal não pode ultrapassar 30% da renda mensal comprovada do cliente.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994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790A-976E-D780-B6F3-2A0B9A3B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1D5C0711-8801-69B0-394F-07850873F411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ACBDCA63-4F32-5FD5-05BA-68790F728946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Estudo de Caso Prático - Fintech de Empréstimos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40CCFFD7-9D10-0EC2-C531-F46412877091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Requisitos Funcionais Resultantes: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9A6AC5E6-2BCC-F483-052C-B008BD17C1CF}"/>
              </a:ext>
            </a:extLst>
          </p:cNvPr>
          <p:cNvSpPr/>
          <p:nvPr/>
        </p:nvSpPr>
        <p:spPr>
          <a:xfrm>
            <a:off x="548639" y="1800000"/>
            <a:ext cx="7464393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RF01: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sistema deve realizar uma consulta síncrona à API do Bureau de Crédito (Serasa/SPC) ao iniciar a simulação.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RF02: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sistema deve calcular o comprometimento de renda e bloquear a opção de avanço caso o limite seja violado.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RF03: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sistema deve exibir uma notificação clara e amigável caso ocorra uma recusa por elegibilidade.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72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1BDB9-9709-2AE8-4345-0450200F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10027451-9897-5269-D793-7750E7BEFFF0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5BE1A927-CFD8-E928-CD41-196364F360F9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Estudo de Caso Prático - Fintech de Empréstimos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A4D0B943-6552-BA4E-7B12-FE04DD8A28F7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Requisitos Não-Funcionais Correlatos: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DE0B3963-5D7F-E989-0244-979FE41E6A52}"/>
              </a:ext>
            </a:extLst>
          </p:cNvPr>
          <p:cNvSpPr/>
          <p:nvPr/>
        </p:nvSpPr>
        <p:spPr>
          <a:xfrm>
            <a:off x="548638" y="1800000"/>
            <a:ext cx="8277861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RNF01 (Segurança):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Todas as comunicações com as APIs de crédito externas devem ser trafegadas utilizando criptografia TLS 1.3.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RNF02 (Desempenho):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consulta e a validação do score de crédito do cliente não devem exceder o tempo limite (timeout) de 2 segundos.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RNF03 (Disponibilidade):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módulo de concessão de crédito deve apresentar resiliência e disponibilidade mínima de 99,9%.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3883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C653-8800-41C8-48FE-B53EC6EC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92486D-2F6C-1756-E223-A6EF2C38B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28794"/>
              </p:ext>
            </p:extLst>
          </p:nvPr>
        </p:nvGraphicFramePr>
        <p:xfrm>
          <a:off x="0" y="2"/>
          <a:ext cx="9144000" cy="521453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2638960881"/>
                    </a:ext>
                  </a:extLst>
                </a:gridCol>
                <a:gridCol w="7302500">
                  <a:extLst>
                    <a:ext uri="{9D8B030D-6E8A-4147-A177-3AD203B41FA5}">
                      <a16:colId xmlns:a16="http://schemas.microsoft.com/office/drawing/2014/main" val="1254927276"/>
                    </a:ext>
                  </a:extLst>
                </a:gridCol>
              </a:tblGrid>
              <a:tr h="440958">
                <a:tc>
                  <a:txBody>
                    <a:bodyPr/>
                    <a:lstStyle/>
                    <a:p>
                      <a:r>
                        <a:rPr lang="pt-BR" sz="1800" dirty="0"/>
                        <a:t>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Especificação Técnica (UseCase01 ou UC01)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0350"/>
                  </a:ext>
                </a:extLst>
              </a:tr>
              <a:tr h="508080">
                <a:tc>
                  <a:txBody>
                    <a:bodyPr/>
                    <a:lstStyle/>
                    <a:p>
                      <a:r>
                        <a:rPr lang="pt-BR" sz="1600" b="1" dirty="0"/>
                        <a:t>Nome do Caso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Solicitar Empréstimo Pré-Aprovado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026712"/>
                  </a:ext>
                </a:extLst>
              </a:tr>
              <a:tr h="355359">
                <a:tc>
                  <a:txBody>
                    <a:bodyPr/>
                    <a:lstStyle/>
                    <a:p>
                      <a:r>
                        <a:rPr lang="pt-BR" sz="1600" b="1" dirty="0"/>
                        <a:t>Atores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Cliente (Principal), API do Bureau de Crédito (Secundário)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87477"/>
                  </a:ext>
                </a:extLst>
              </a:tr>
              <a:tr h="355359">
                <a:tc>
                  <a:txBody>
                    <a:bodyPr/>
                    <a:lstStyle/>
                    <a:p>
                      <a:r>
                        <a:rPr lang="pt-BR" sz="1600" b="1" dirty="0"/>
                        <a:t>Pré-condições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Cliente autenticado no sistema e com renda previamente cadstrada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80961"/>
                  </a:ext>
                </a:extLst>
              </a:tr>
              <a:tr h="1577722">
                <a:tc>
                  <a:txBody>
                    <a:bodyPr/>
                    <a:lstStyle/>
                    <a:p>
                      <a:r>
                        <a:rPr lang="pt-BR" sz="1600" b="1" dirty="0"/>
                        <a:t>Fluxo Principal (“Caminho Feliz”)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Cliente inicia a simulação fornecendo o valor desejado e parcelas.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O sistema valida se a parcela obedece ao limite de 30% da renda </a:t>
                      </a:r>
                      <a:r>
                        <a:rPr lang="pt-BR" sz="1600" b="1" dirty="0"/>
                        <a:t>[RN02/RF02]</a:t>
                      </a:r>
                      <a:r>
                        <a:rPr lang="pt-BR" sz="1600" dirty="0"/>
                        <a:t>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O sistema dispara a consulta do score à API externa </a:t>
                      </a:r>
                      <a:r>
                        <a:rPr lang="pt-BR" sz="1600" b="1" dirty="0"/>
                        <a:t>[RF01]</a:t>
                      </a:r>
                      <a:r>
                        <a:rPr lang="pt-BR" sz="1600" dirty="0"/>
                        <a:t>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A API retorna score &gt; 600 sem restrições. O sistema valida elegibilidade </a:t>
                      </a:r>
                      <a:r>
                        <a:rPr lang="pt-BR" sz="1600" b="1" dirty="0"/>
                        <a:t>[RN01]</a:t>
                      </a:r>
                      <a:r>
                        <a:rPr lang="pt-BR" sz="1600" dirty="0"/>
                        <a:t>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O sistema habilita e exibe o resumo e o botão de contratação.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99788"/>
                  </a:ext>
                </a:extLst>
              </a:tr>
              <a:tr h="1906019">
                <a:tc>
                  <a:txBody>
                    <a:bodyPr/>
                    <a:lstStyle/>
                    <a:p>
                      <a:r>
                        <a:rPr lang="pt-BR" sz="1600" b="1" dirty="0"/>
                        <a:t>Fluxos Alternativos e Exceções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dirty="0"/>
                        <a:t>Exceção Margem (Passo 2)</a:t>
                      </a:r>
                      <a:r>
                        <a:rPr lang="pt-BR" sz="1600" dirty="0"/>
                        <a:t>: Se a parcela for &gt; 30%, o sistema bloqueia e sugere opções de parcelamento alternativas.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600" b="1" dirty="0"/>
                        <a:t>Exceção Timeout (Passo 3)</a:t>
                      </a:r>
                      <a:r>
                        <a:rPr lang="pt-BR" sz="1600" dirty="0"/>
                        <a:t>: Se a API externa não responder em 2 segundos </a:t>
                      </a:r>
                      <a:r>
                        <a:rPr lang="pt-BR" sz="1600" b="1" dirty="0"/>
                        <a:t>[RNF02]</a:t>
                      </a:r>
                      <a:r>
                        <a:rPr lang="pt-BR" sz="1600" dirty="0"/>
                        <a:t>, interrompe a conexão de forma segura </a:t>
                      </a:r>
                      <a:r>
                        <a:rPr lang="pt-BR" sz="1600" b="1" dirty="0"/>
                        <a:t>[RNF01]</a:t>
                      </a:r>
                      <a:r>
                        <a:rPr lang="pt-BR" sz="1600" dirty="0"/>
                        <a:t>, exibe mensagem de indisponibilidade e encerra.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dirty="0"/>
                        <a:t>Exceção Score (Passo 4)</a:t>
                      </a:r>
                      <a:r>
                        <a:rPr lang="pt-BR" sz="1600" dirty="0"/>
                        <a:t>: Se o score for &lt; 600, exibe alerta amigável de recusa </a:t>
                      </a:r>
                      <a:r>
                        <a:rPr lang="pt-BR" sz="1600" b="1" dirty="0"/>
                        <a:t>[RF03]</a:t>
                      </a:r>
                      <a:r>
                        <a:rPr lang="pt-BR" sz="1600" dirty="0"/>
                        <a:t> e encerra.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2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49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74A6-6B96-4D55-BAC0-6FD509BF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229F8979-AE6A-4A73-5812-8626A23CAA48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FEA2464-901B-C216-382B-756FAD50CA91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Abordagem Ágil com User Stories e BDD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B2395801-3B14-0CBD-AB4E-FBE44E5E7A3D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i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BDD (Behavior-Driven Development)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EBCB0234-C236-3638-AE53-027332DE2A7B}"/>
              </a:ext>
            </a:extLst>
          </p:cNvPr>
          <p:cNvSpPr/>
          <p:nvPr/>
        </p:nvSpPr>
        <p:spPr>
          <a:xfrm>
            <a:off x="548639" y="1800000"/>
            <a:ext cx="7863840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Foca no comportamento do software a partir de uma linguagem natural estruturada (Gherkin, por exemplo).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 atua como uma documentação viva que preenche a lacuna de comunicação entre analistas de negócios, desenvolvedores e engenheiros de QA.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1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1E5D-5CC0-F87A-6B57-5C1E73B4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5FA5B9F8-D25E-0AAC-4152-BFC0C93653B4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FC585581-1D3D-FD13-6FB8-267A29FEE5BC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Abordagem Ágil com User Stories e BDD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65C003CC-A72F-DA4D-F803-18208966A1C3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i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BDD (Behavior-Driven Development)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D0EC5DDE-07A7-0E73-EEFE-F55F532FF5D2}"/>
              </a:ext>
            </a:extLst>
          </p:cNvPr>
          <p:cNvSpPr/>
          <p:nvPr/>
        </p:nvSpPr>
        <p:spPr>
          <a:xfrm>
            <a:off x="548639" y="1800000"/>
            <a:ext cx="7863840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Diretriz: Cenário de Sucesso (Margem e Score Válidos)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Dado que o cliente "Carlos" está autenticado e possui uma renda de 5000 e o seu score de crédito na API externa é de 750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o cliente solicita uma simulação com parcelas de 1000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Char char="▪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Então o sistema deve validar e exibir o botão para contratação habilitado</a:t>
            </a:r>
          </a:p>
        </p:txBody>
      </p:sp>
    </p:spTree>
    <p:extLst>
      <p:ext uri="{BB962C8B-B14F-4D97-AF65-F5344CB8AC3E}">
        <p14:creationId xmlns:p14="http://schemas.microsoft.com/office/powerpoint/2010/main" val="405294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19ED-A389-0181-E5AE-9F00317A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A9C4C145-2460-96DD-EA38-151355AAF7AC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BD000F88-E725-686C-5D18-38FB82809550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Abordagem Ágil com User Stories e BDD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85CE1BAC-A416-A105-BC8C-346415846E3C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i="1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BDD (Behavior-Driven Development)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9DC1E622-EFCD-7150-0707-CF5EC23590BC}"/>
              </a:ext>
            </a:extLst>
          </p:cNvPr>
          <p:cNvSpPr/>
          <p:nvPr/>
        </p:nvSpPr>
        <p:spPr>
          <a:xfrm>
            <a:off x="548638" y="1800000"/>
            <a:ext cx="8214362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Diretriz: Cenário de Exceção (Timeout da API Externa)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Dado que o cliente preenceu dados válidos para a simulação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o sistema faz a requisição do score para a API externa e a API externa demora mais de 2 segundos para responder</a:t>
            </a: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Então o sistema deve interromper a requisição de forma segura por timeout e deve exibir a mensagem "Serviço temporariamente indisponível"</a:t>
            </a:r>
          </a:p>
        </p:txBody>
      </p:sp>
    </p:spTree>
    <p:extLst>
      <p:ext uri="{BB962C8B-B14F-4D97-AF65-F5344CB8AC3E}">
        <p14:creationId xmlns:p14="http://schemas.microsoft.com/office/powerpoint/2010/main" val="307357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8E1D-8691-38E8-3E7A-6AE41320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FF2B5EF4-FFF2-40B4-BE49-F238E27FC236}">
                <a16:creationId xmlns:a16="http://schemas.microsoft.com/office/drawing/2014/main" id="{CF06D756-06F3-F4B5-114D-628A04E643F9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txBody>
          <a:bodyPr wrap="square" lIns="91440" tIns="45720" rIns="91440" bIns="45720" rtlCol="0" anchor="t"/>
          <a:lstStyle/>
          <a:p>
            <a:endParaRPr lang="pt-B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FAD7D675-073D-30E5-817F-6F7366D129AA}"/>
              </a:ext>
            </a:extLst>
          </p:cNvPr>
          <p:cNvSpPr/>
          <p:nvPr/>
        </p:nvSpPr>
        <p:spPr>
          <a:xfrm>
            <a:off x="548640" y="430000"/>
            <a:ext cx="786384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1600"/>
              </a:lnSpc>
            </a:pPr>
            <a:r>
              <a:rPr lang="pt-BR" sz="1200" dirty="0">
                <a:solidFill>
                  <a:srgbClr val="EF6C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Abordagem Ágil com User Stories e BDD</a:t>
            </a:r>
          </a:p>
        </p:txBody>
      </p:sp>
      <p:sp>
        <p:nvSpPr>
          <p:cNvPr id="4" name="titulo">
            <a:extLst>
              <a:ext uri="{FF2B5EF4-FFF2-40B4-BE49-F238E27FC236}">
                <a16:creationId xmlns:a16="http://schemas.microsoft.com/office/drawing/2014/main" id="{0C99E04D-A97E-D323-02F2-9C4C046F0C33}"/>
              </a:ext>
            </a:extLst>
          </p:cNvPr>
          <p:cNvSpPr/>
          <p:nvPr/>
        </p:nvSpPr>
        <p:spPr>
          <a:xfrm>
            <a:off x="548640" y="800000"/>
            <a:ext cx="786384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250"/>
              </a:lnSpc>
            </a:pPr>
            <a:r>
              <a:rPr lang="pt-BR" sz="2600" dirty="0">
                <a:solidFill>
                  <a:srgbClr val="1F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Automatização dos Testes de Comportamento</a:t>
            </a:r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5F652CE9-99E8-F46F-5B2E-6A8991280F3D}"/>
              </a:ext>
            </a:extLst>
          </p:cNvPr>
          <p:cNvSpPr/>
          <p:nvPr/>
        </p:nvSpPr>
        <p:spPr>
          <a:xfrm>
            <a:off x="548638" y="1800000"/>
            <a:ext cx="8214362" cy="29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código abaixo exemplifica a implementação técnica de um Step Definition utilizando TypeScript e Cucumber.</a:t>
            </a: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  <a:p>
            <a:pPr>
              <a:lnSpc>
                <a:spcPts val="2800"/>
              </a:lnSpc>
              <a:spcBef>
                <a:spcPts val="600"/>
              </a:spcBef>
              <a:buClr>
                <a:srgbClr val="EF6C00"/>
              </a:buClr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 mapeia as asserções de negócio diretamente sobre o código, garantindo que o comportamento esperado seja validado continuamente na esteira de CI/CD.</a:t>
            </a:r>
          </a:p>
        </p:txBody>
      </p:sp>
    </p:spTree>
    <p:extLst>
      <p:ext uri="{BB962C8B-B14F-4D97-AF65-F5344CB8AC3E}">
        <p14:creationId xmlns:p14="http://schemas.microsoft.com/office/powerpoint/2010/main" val="37852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C583-9C7E-1024-47AB-CACF82E2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D1597A-DC4E-D345-5CE3-A461F47E03DF}"/>
              </a:ext>
            </a:extLst>
          </p:cNvPr>
          <p:cNvSpPr txBox="1"/>
          <p:nvPr/>
        </p:nvSpPr>
        <p:spPr>
          <a:xfrm>
            <a:off x="647700" y="0"/>
            <a:ext cx="7848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00" dirty="0">
                <a:latin typeface="Lucida Sans" panose="020B0602030504020204" pitchFamily="34" charset="0"/>
              </a:rPr>
              <a:t>import { Given, When, Then } from '@cucumber/cucumber';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import { expect } from 'chai';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import { SistemaEmprestimo } from '../src/SistemaEmprestimo’;</a:t>
            </a:r>
          </a:p>
          <a:p>
            <a:endParaRPr lang="pt-BR" sz="1500" dirty="0">
              <a:latin typeface="Lucida Sans" panose="020B0602030504020204" pitchFamily="34" charset="0"/>
            </a:endParaRPr>
          </a:p>
          <a:p>
            <a:r>
              <a:rPr lang="pt-BR" sz="1500" dirty="0">
                <a:latin typeface="Lucida Sans" panose="020B0602030504020204" pitchFamily="34" charset="0"/>
              </a:rPr>
              <a:t>let sistema = new SistemaEmprestimo();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let resultadoSimulacao: any;</a:t>
            </a:r>
          </a:p>
          <a:p>
            <a:endParaRPr lang="pt-BR" sz="1500" dirty="0">
              <a:latin typeface="Lucida Sans" panose="020B0602030504020204" pitchFamily="34" charset="0"/>
            </a:endParaRPr>
          </a:p>
          <a:p>
            <a:r>
              <a:rPr lang="pt-BR" sz="1500" dirty="0">
                <a:latin typeface="Lucida Sans" panose="020B0602030504020204" pitchFamily="34" charset="0"/>
              </a:rPr>
              <a:t>Given('que o cliente {string} está autenticado e possui uma renda de {int}', (nome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, renda) =&gt; {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    sistema.autenticarCliente(nome, renda);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});</a:t>
            </a:r>
          </a:p>
          <a:p>
            <a:endParaRPr lang="pt-BR" sz="1500" dirty="0">
              <a:latin typeface="Lucida Sans" panose="020B0602030504020204" pitchFamily="34" charset="0"/>
            </a:endParaRPr>
          </a:p>
          <a:p>
            <a:r>
              <a:rPr lang="pt-BR" sz="1500" dirty="0">
                <a:latin typeface="Lucida Sans" panose="020B0602030504020204" pitchFamily="34" charset="0"/>
              </a:rPr>
              <a:t>When('o cliente solicita uma simulação com parcelas de {int}', (valorParcela) =&gt; {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    resultadoSimulacao = sistema.executarSimulacao(valorParcela);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});</a:t>
            </a:r>
          </a:p>
          <a:p>
            <a:endParaRPr lang="pt-BR" sz="1500" dirty="0">
              <a:latin typeface="Lucida Sans" panose="020B0602030504020204" pitchFamily="34" charset="0"/>
            </a:endParaRPr>
          </a:p>
          <a:p>
            <a:r>
              <a:rPr lang="pt-BR" sz="1500" dirty="0">
                <a:latin typeface="Lucida Sans" panose="020B0602030504020204" pitchFamily="34" charset="0"/>
              </a:rPr>
              <a:t>Then('o sistema deve validar e exibir o botão para contratação habilitado', () =&gt;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{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    expect(resultadoSimulacao.aprovado).to.equal(true);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    expect(resultadoSimulacao.percentualComprometido).to.equal(20);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    expect(resultadoSimulacao.botaoContratarHabilitado).to.equal(true);</a:t>
            </a:r>
          </a:p>
          <a:p>
            <a:r>
              <a:rPr lang="pt-BR" sz="1500" dirty="0">
                <a:latin typeface="Lucida Sans" panose="020B060203050402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77949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EFA75D999B6A458895E2D1D4CAD7D5" ma:contentTypeVersion="3" ma:contentTypeDescription="Create a new document." ma:contentTypeScope="" ma:versionID="a4d8d2aebad61fcaa853fd63fa487561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81b16acfd845e6c242d850537546584a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EDB12B-B84C-43F8-A2D3-B9841483FC22}"/>
</file>

<file path=customXml/itemProps2.xml><?xml version="1.0" encoding="utf-8"?>
<ds:datastoreItem xmlns:ds="http://schemas.openxmlformats.org/officeDocument/2006/customXml" ds:itemID="{B65AB9CA-B9A0-4264-B10F-03EB6ADF1B4D}"/>
</file>

<file path=customXml/itemProps3.xml><?xml version="1.0" encoding="utf-8"?>
<ds:datastoreItem xmlns:ds="http://schemas.openxmlformats.org/officeDocument/2006/customXml" ds:itemID="{5760DAA7-46A8-486D-8E2B-25194B17295F}"/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1086</Words>
  <Application>Microsoft Office PowerPoint</Application>
  <PresentationFormat>Apresentação na tela (16:9)</PresentationFormat>
  <Paragraphs>104</Paragraphs>
  <Slides>15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Flávio Waltz</dc:creator>
  <cp:lastModifiedBy>FLAVIO WALTZ</cp:lastModifiedBy>
  <cp:revision>19</cp:revision>
  <dcterms:created xsi:type="dcterms:W3CDTF">2026-08-13T19:39:18Z</dcterms:created>
  <dcterms:modified xsi:type="dcterms:W3CDTF">2026-09-25T13:06:55Z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