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entation.xml" ContentType="application/vnd.openxmlformats-officedocument.presentationml.presentation.main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heme/theme2.xml" ContentType="application/vnd.openxmlformats-officedocument.them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89" r:id="rId2"/>
    <p:sldId id="285" r:id="rId3"/>
    <p:sldId id="286" r:id="rId4"/>
    <p:sldId id="287" r:id="rId5"/>
    <p:sldId id="288" r:id="rId6"/>
    <p:sldId id="284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ustomXml" Target="../customXml/item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openxmlformats.org/officeDocument/2006/relationships/customXml" Target="../customXml/item2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F574C-23B5-4E3D-8553-85DE2C441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0F92BA-E2D6-CFFA-D297-CA741A16EF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A9995-77CF-D49E-1590-E5EB446FB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DA8C1-ACE3-6906-C6CF-C88D27C8B0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508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D789D-0CCD-1075-EA4F-217CBDE58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A7DD3E-3937-61FA-4D16-D87376BCB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3C8B6-5B10-AD13-EAF6-6132AAC26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170FA-8C7D-1881-609C-67E162BA1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9295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85DB4-892C-739E-80E2-601602051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4A3C6-C9ED-66DE-421B-A78F88E17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18525-30B2-5749-C828-E470C55CF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54175-893D-8DA0-18C3-F1865AB4A0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938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A945-0E4A-CBCE-70BF-F9821F231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92DE8-401D-8A89-BDB6-741AE29E2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DA23A-79C2-C635-1D79-DD177F9F9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9A26A-1343-5CEC-F80C-6ABD4D77C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11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BDE12-A2A8-54E8-1AFA-08C6B58DA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3E2584-5992-F431-EB89-CD7C6FA3C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AB07A-6197-A8EB-6357-5A63861A3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D376F-17A1-EFDF-D90E-9ADEEF3BB7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5426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09EC7-262A-8577-F604-64D3B1F60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4972FA-096B-229B-E834-62AB210893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C7A3-B127-EA11-9D03-5FF4482240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030B6B-19AC-620B-E486-A2130692D7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923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7776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76AF1-ED21-E450-EEE8-4FE1FF2D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ha de acento">
            <a:extLst>
              <a:ext uri="{FF2B5EF4-FFF2-40B4-BE49-F238E27FC236}">
                <a16:creationId xmlns:a16="http://schemas.microsoft.com/office/drawing/2014/main" id="{F84A13F1-C2F4-395B-E4CA-D5F703CB2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1737360"/>
            <a:ext cx="2011680" cy="914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5F85E41-B02A-DDAB-D2B3-130B9461B277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 para </a:t>
            </a:r>
            <a:r>
              <a:rPr lang="en-US" sz="4600" b="1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este</a:t>
            </a:r>
            <a:r>
              <a:rPr lang="en-US" sz="4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4600" b="1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semestre</a:t>
            </a:r>
            <a:endParaRPr lang="en-US" sz="4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FB1454-EF1C-430C-2FDB-30B94C47379C}"/>
              </a:ext>
            </a:extLst>
          </p:cNvPr>
          <p:cNvSpPr/>
          <p:nvPr/>
        </p:nvSpPr>
        <p:spPr>
          <a:xfrm>
            <a:off x="822960" y="3749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 Web/Mobile • Análise e Desenvolvimento de Sistemas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11CA7D3-3F3E-1C6E-23F0-ED03E8E79A8A}"/>
              </a:ext>
            </a:extLst>
          </p:cNvPr>
          <p:cNvSpPr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/>
              <a:t>Prof. Flávio Waltz</a:t>
            </a:r>
          </a:p>
        </p:txBody>
      </p:sp>
    </p:spTree>
    <p:extLst>
      <p:ext uri="{BB962C8B-B14F-4D97-AF65-F5344CB8AC3E}">
        <p14:creationId xmlns:p14="http://schemas.microsoft.com/office/powerpoint/2010/main" val="286746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1B1DB-800F-2B0E-4335-080140CA0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3A67EE-1752-F9D3-A9C9-9853012AB895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</a:t>
            </a:r>
            <a:endParaRPr lang="en-US" sz="3400" dirty="0"/>
          </a:p>
        </p:txBody>
      </p:sp>
      <p:sp>
        <p:nvSpPr>
          <p:cNvPr id="3" name="Linha de acento">
            <a:extLst>
              <a:ext uri="{FF2B5EF4-FFF2-40B4-BE49-F238E27FC236}">
                <a16:creationId xmlns:a16="http://schemas.microsoft.com/office/drawing/2014/main" id="{A47E9A13-299D-D324-D0B3-66D404C6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271E1E-E388-DB39-2E84-A783AA6AA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31" y="409553"/>
            <a:ext cx="9329858" cy="603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306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58D0-2B2B-8F00-03FD-E11EA6255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22575D-19BF-1FDE-EC72-A2B8F641A8CB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</a:t>
            </a:r>
            <a:endParaRPr lang="en-US" sz="3400" dirty="0"/>
          </a:p>
        </p:txBody>
      </p:sp>
      <p:sp>
        <p:nvSpPr>
          <p:cNvPr id="3" name="Linha de acento">
            <a:extLst>
              <a:ext uri="{FF2B5EF4-FFF2-40B4-BE49-F238E27FC236}">
                <a16:creationId xmlns:a16="http://schemas.microsoft.com/office/drawing/2014/main" id="{E00ED1A4-3B6C-5741-6F4F-8344728A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3957E08-7E97-6609-D87B-354E28A625E6}"/>
              </a:ext>
            </a:extLst>
          </p:cNvPr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JavaScript: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linguagem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interpretada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dinamicamente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tipada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</a:t>
            </a: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+ Express: 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é o runtime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permite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JavaScript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rodar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a do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navegador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Express é o framework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simplifica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criação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aplicações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web e APIs (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gerenciar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URL,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requisições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HTTP etc.);</a:t>
            </a: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JSON: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representar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dados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estruturados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derivado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diretamente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sintaxe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objetos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próprio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JavaScript (API Rest);</a:t>
            </a:r>
            <a:endParaRPr lang="en-US" sz="2600" b="1" dirty="0">
              <a:solidFill>
                <a:srgbClr val="17202A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/>
            </a:pPr>
            <a:endParaRPr lang="en-US" sz="2600" b="1" dirty="0"/>
          </a:p>
        </p:txBody>
      </p:sp>
    </p:spTree>
    <p:extLst>
      <p:ext uri="{BB962C8B-B14F-4D97-AF65-F5344CB8AC3E}">
        <p14:creationId xmlns:p14="http://schemas.microsoft.com/office/powerpoint/2010/main" val="4055335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D1CD4-52C3-27C5-F588-E200E072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2D602D8-976D-70F9-D9A0-04B7CB7BDA9C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</a:t>
            </a:r>
            <a:endParaRPr lang="en-US" sz="3400" dirty="0"/>
          </a:p>
        </p:txBody>
      </p:sp>
      <p:sp>
        <p:nvSpPr>
          <p:cNvPr id="3" name="Linha de acento">
            <a:extLst>
              <a:ext uri="{FF2B5EF4-FFF2-40B4-BE49-F238E27FC236}">
                <a16:creationId xmlns:a16="http://schemas.microsoft.com/office/drawing/2014/main" id="{B3F06D93-F590-9D67-D262-2488592DB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2F5FA6-2641-0525-7A71-279EFB814A70}"/>
              </a:ext>
            </a:extLst>
          </p:cNvPr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 startAt="4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+ CSS: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Definição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estrutura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página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aparência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página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</a:t>
            </a: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 startAt="4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React: 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 o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dará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“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” à interface web,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consumindo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 backend. É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biblioteca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constrói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interfaces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através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components;</a:t>
            </a: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 startAt="4"/>
            </a:pPr>
            <a:r>
              <a:rPr lang="en-US" sz="2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Native: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lógica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components, agora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gerando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app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Usa o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 React, mas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vez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gerar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HTML,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interface </a:t>
            </a:r>
            <a:r>
              <a:rPr lang="en-US" sz="2600" dirty="0" err="1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nativa</a:t>
            </a: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 de Android/iOS.</a:t>
            </a:r>
            <a:endParaRPr lang="en-US" sz="2600" b="1" dirty="0">
              <a:solidFill>
                <a:srgbClr val="17202A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514350" indent="-514350">
              <a:spcAft>
                <a:spcPts val="1400"/>
              </a:spcAft>
              <a:buSzPct val="100000"/>
              <a:buFont typeface="+mj-lt"/>
              <a:buAutoNum type="arabicPeriod" startAt="4"/>
            </a:pPr>
            <a:endParaRPr lang="en-US" sz="2600" b="1" dirty="0"/>
          </a:p>
        </p:txBody>
      </p:sp>
    </p:spTree>
    <p:extLst>
      <p:ext uri="{BB962C8B-B14F-4D97-AF65-F5344CB8AC3E}">
        <p14:creationId xmlns:p14="http://schemas.microsoft.com/office/powerpoint/2010/main" val="993546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7B77-D9A8-1A87-5935-5293A64B5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ha de acento">
            <a:extLst>
              <a:ext uri="{FF2B5EF4-FFF2-40B4-BE49-F238E27FC236}">
                <a16:creationId xmlns:a16="http://schemas.microsoft.com/office/drawing/2014/main" id="{D6461012-14F3-13EE-FC1E-9979B3ABB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1737360"/>
            <a:ext cx="2011680" cy="914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AAEBE85-3D6B-972D-8888-9F669643E1AC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Introdução ao JavaScript básico</a:t>
            </a:r>
            <a:endParaRPr lang="en-US" sz="4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4BA0C6-5F65-13F9-2711-7DA0052A91BE}"/>
              </a:ext>
            </a:extLst>
          </p:cNvPr>
          <p:cNvSpPr/>
          <p:nvPr/>
        </p:nvSpPr>
        <p:spPr>
          <a:xfrm>
            <a:off x="822960" y="3749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 Web/Mobile • Análise e Desenvolvimento de Sistemas</a:t>
            </a:r>
            <a:endParaRPr lang="en-US" sz="2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8747A8A-F3AB-CB20-F87E-F58E0A8F41BF}"/>
              </a:ext>
            </a:extLst>
          </p:cNvPr>
          <p:cNvSpPr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quem já programa em Python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8917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EBC5F-F7F9-A97C-2B10-B605F057C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B962396-E0F9-22FB-3384-00EEE6F5DF2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Roteiro da aula</a:t>
            </a:r>
            <a:endParaRPr lang="en-US" sz="3400" dirty="0"/>
          </a:p>
        </p:txBody>
      </p:sp>
      <p:sp>
        <p:nvSpPr>
          <p:cNvPr id="3" name="Linha de acento">
            <a:extLst>
              <a:ext uri="{FF2B5EF4-FFF2-40B4-BE49-F238E27FC236}">
                <a16:creationId xmlns:a16="http://schemas.microsoft.com/office/drawing/2014/main" id="{E7EDC6A9-EAEE-F337-8B96-8959860C6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73F957-5AA7-A86B-CE5F-76E08470E382}"/>
              </a:ext>
            </a:extLst>
          </p:cNvPr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é JavaScript e onde ele roda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Sintaxe básica: chaves, ponto e vírgula e comentários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Variáveis: let, const e var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x inicializar e o valor undefined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Tipos primitivos, arrays e objetos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typeof, template literals e console.log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420232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é JavaScript?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é uma linguagem interpretada, dinâmica e de tipagem fraca, criada para dar comportamento às páginas web — e hoje usada também fora do navegador.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Onde o JavaScript roda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navegador: Chrome, Firefox, Safari executam JS direto na página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servidor: Node.js roda JS fora do navegador, como o interpretador do Python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apps móveis e desktop: React Native, Electron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 linguagem, ambientes diferentes — o que muda são as bibliotecas disponíveis.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executamos o código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arquivo: script.js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("Olá, turma!");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terminal: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node script.js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arquivo: script.py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("Olá, turma!")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terminal: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script.py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fluxo é o mesmo que vocês já conhecem: escrever o arquivo e mandar o interpretador executar.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Estrutura de um programa em JS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Blocos são delimitados por chaves { }, não por indentação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Instruções terminam com ponto e vírgula ; (opcional, mas recomendado)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indentação existe só para leitura humana — não muda o significado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Blocos: chaves x indentação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(idade &gt;= 18) {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("Maior de idade");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("Pode entrar");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idade &gt;= 18: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("Maior de idade")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("Pode entrar")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JS, quem define o bloco são as chaves. Em Python, é a indentação.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Comentários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comentário de uma linha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comentário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de várias linhas */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comentário de uma linha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"""comentário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de várias linhas"""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comentário de uma linha é a diferença mais visível: // no JS, # no Python.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Variáveis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variável é um nome que aponta para um valor guardado na memória. Em JavaScript, esse nome precisa ser declarado com uma palavra-chave: let, const ou var.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let: valor que pode mudar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let quando o valor for ser reatribuído.</a:t>
            </a:r>
            <a:endParaRPr lang="en-US" sz="2400" dirty="0"/>
          </a:p>
        </p:txBody>
      </p:sp>
      <p:sp>
        <p:nvSpPr>
          <p:cNvPr id="5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377440"/>
            <a:ext cx="10607040" cy="393192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78408" y="2523744"/>
            <a:ext cx="1020470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contador = 0;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contador = contador + 1;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nome = "Ana";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 = "Bruno";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const: valor que não muda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const quando a variável não for receber outro valor.</a:t>
            </a:r>
            <a:endParaRPr lang="en-US" sz="2400" dirty="0"/>
          </a:p>
        </p:txBody>
      </p:sp>
      <p:sp>
        <p:nvSpPr>
          <p:cNvPr id="5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377440"/>
            <a:ext cx="10607040" cy="342900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78408" y="2523744"/>
            <a:ext cx="10204704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PI = 3.14159;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curso = "ADS";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= 3; // TypeError: Assignment to constant variable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Regra prática: comece sempre com const e só troque para let quando precisar reatribuir.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Declaração de variáveis: JS x Python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idade = 20;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nome = "Ana";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idade = 20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 = "Ana"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não exige palavra-chave; JS exige. E o const do JS é uma garantia real, não apenas uma convenção de nome.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var: o jeito antigo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 existe desde as primeiras versões da linguagem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 escopo de função, não de bloco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Permite redeclarar a mesma variável sem erro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código novo, evite var. Use let e const.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Escopo: let x var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escopo define onde a variável é visível.</a:t>
            </a:r>
            <a:endParaRPr lang="en-US" sz="2400" dirty="0"/>
          </a:p>
        </p:txBody>
      </p:sp>
      <p:sp>
        <p:nvSpPr>
          <p:cNvPr id="5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377440"/>
            <a:ext cx="10607040" cy="342900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78408" y="2523744"/>
            <a:ext cx="10204704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 = 1;   // escopo de FUNÇÃO: vaza do bloco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 = 2;   // escopo de BLOCO: só vive aqui dentro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(a); // 1</a:t>
            </a:r>
            <a:endParaRPr lang="en-US" sz="2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20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20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(b); // ReferenceError: b is not defined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respeita as chaves. var ignora o bloco e sobe até a função que o contém.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que preferir const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Deixa explícito que aquele valor não deve mudar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erro aparece já na escrita do código, não em produção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 a leitura: quem lê sabe que o valor é estável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Evita reatribuições acidentais em funções longas</a:t>
            </a:r>
            <a:endParaRPr lang="en-US" sz="2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não é inicializar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é criar o nome na memória. Inicializar é colocar um valor nesse espaço. Em JavaScript, essas duas coisas podem acontecer em momentos diferentes.</a:t>
            </a:r>
            <a:endParaRPr lang="en-US" sz="3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sem inicializar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1691640"/>
            <a:ext cx="10607040" cy="411480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78408" y="1837944"/>
            <a:ext cx="10204704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resultado;            // declarada, sem valor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(resultado);   // </a:t>
            </a: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undefined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 = 42;           // agora inicializada</a:t>
            </a:r>
            <a:endParaRPr lang="en-US" sz="2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2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22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(resultado);   // 42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espaço na memória já existe; ele guarda o valor especial undefined até receber outra coisa.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x inicializar: JS x Python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resultado;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(resultado);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undefined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(resultado)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NameError: name 'resultado'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is not defined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Python a variável só passa a existir quando recebe um valor. Em JS ela pode existir vazia, valendo undefined.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Tipos primitivos em JavaScript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— texto: "Ana", 'ADS', `olá`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— inteiros e decimais no mesmo tipo: 10, 3.14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boolean — true ou false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null — ausência intencional de valor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undefined — valor ainda não atribuído</a:t>
            </a:r>
            <a:endParaRPr lang="en-US" sz="2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Tipos primitivos: JS x Python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nome = "Ana";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idade = 20;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nota = 8.5;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ativo =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vazio =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 = "Ana"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idade = 20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 = 8.5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ativo =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vazio =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Atenção: em JS, true e false são minúsculos, e não existem int e float separados — tudo é number.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null e undefined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undefined: a variável existe, mas nunca recebeu valor — é o padrão da linguagem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null: você atribuiu deliberadamente um valor vazio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tem apenas None, que corresponde mais ao null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undefined é um tipo próprio do JavaScript, sem equivalente direto em Python.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Arrays x listas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notas = [8, 7.5, 10];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(notas[0]);   // 8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(notas.length); // 3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notas.push(9);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 = [8, 7.5, 10]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(notas[0])   # 8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(notas)) # 3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notas.append(9)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 ideia de coleção ordenada e indexada a partir do zero; mudam os nomes dos métodos.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Objetos x dicionários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aluno = {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nome: "Ana",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idade: 20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(aluno.nome);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(aluno["idade"]);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aluno = {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"nome": "Ana",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"idade": 20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(aluno["nome"])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(aluno["idade"])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objeto do JS as chaves são escritas sem aspas e podem ser acessadas com ponto.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typeof x type()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devolve o tipo como texto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"Ana";  // "string"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20;     // "number"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// "boolean"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x;      // "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undefined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devolve um objeto de classe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("Ana")  #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(20)     #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# 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# NoneType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typeof devolve o nome do tipo como texto e é útil para depurar valores inesperados.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Template literals x f-strings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nome = "Ana";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nota = 8.5;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(`${nome} tirou ${nota}`);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Ana tirou 8.5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 = "Ana"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 = 8.5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(f"{nome} tirou {nota}")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5A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Ana tirou 8.5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JS, o texto vai entre crases e a expressão dentro de ${ }.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console.log x print()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12648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7840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("Olá");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(nome, idade);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nota);</a:t>
            </a:r>
            <a:endParaRPr lang="en-US" sz="1800" dirty="0"/>
          </a:p>
        </p:txBody>
      </p:sp>
      <p:sp>
        <p:nvSpPr>
          <p:cNvPr id="8" name="Fundo do bloco de códig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194560"/>
            <a:ext cx="5257800" cy="3566160"/>
          </a:xfrm>
          <a:prstGeom prst="rect">
            <a:avLst/>
          </a:prstGeom>
          <a:solidFill>
            <a:srgbClr val="F2F4F7"/>
          </a:solidFill>
          <a:ln w="12700">
            <a:solidFill>
              <a:srgbClr val="DDE2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327648" y="2340864"/>
            <a:ext cx="485546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("Olá")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(nome, idade)</a:t>
            </a:r>
            <a:endParaRPr lang="en-US" sz="1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800" dirty="0">
                <a:solidFill>
                  <a:srgbClr val="1720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(nota))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A64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console.log é a ferramenta mais direta de depuração: mostre o valor antes de supor o que ele contém.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levar da aula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070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Blocos com chaves; ponto e vírgula ao fim das instruções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 por padrão, let quando precisar reatribuir, var nunca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Declarar sem inicializar resulta em undefined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Arrays e objetos correspondem a listas e dicionários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typeof, template literals e console.log no dia a dia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passos</a:t>
            </a:r>
            <a:endParaRPr lang="en-US" sz="3400" dirty="0"/>
          </a:p>
        </p:txBody>
      </p:sp>
      <p:sp>
        <p:nvSpPr>
          <p:cNvPr id="3" name="Linha de acent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" y="1325880"/>
            <a:ext cx="1463040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800"/>
              </a:spcAft>
              <a:buNone/>
            </a:pPr>
            <a:r>
              <a:rPr lang="en-US" sz="28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Pratique no console do navegador (F12) ou com o Node.js.</a:t>
            </a:r>
            <a:endParaRPr lang="en-US" sz="2800" dirty="0"/>
          </a:p>
          <a:p>
            <a:pPr marL="0" indent="0">
              <a:spcAft>
                <a:spcPts val="1800"/>
              </a:spcAft>
              <a:buNone/>
            </a:pPr>
            <a:r>
              <a:rPr lang="en-US" sz="2800" dirty="0">
                <a:solidFill>
                  <a:srgbClr val="1720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Reescreva em JavaScript três exercícios que você já fez em Python.</a:t>
            </a:r>
            <a:endParaRPr lang="en-US" sz="2800" dirty="0"/>
          </a:p>
          <a:p>
            <a:pPr marL="0" indent="0">
              <a:buNone/>
            </a:pPr>
            <a:r>
              <a:rPr lang="en-US" sz="32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Dúvidas?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FEFA75D999B6A458895E2D1D4CAD7D5" ma:contentTypeVersion="0" ma:contentTypeDescription="Crie um novo documento." ma:contentTypeScope="" ma:versionID="3b4c792a5a80c23c75d0bfb6a57a9e10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059dbc040a3f85ddd093e31795c9c73e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9FC00E0-BF91-4744-AE14-0134034537E3}"/>
</file>

<file path=customXml/itemProps2.xml><?xml version="1.0" encoding="utf-8"?>
<ds:datastoreItem xmlns:ds="http://schemas.openxmlformats.org/officeDocument/2006/customXml" ds:itemID="{5E9E7E90-D662-4A69-A3A7-0DA0D2218CAF}"/>
</file>

<file path=customXml/itemProps3.xml><?xml version="1.0" encoding="utf-8"?>
<ds:datastoreItem xmlns:ds="http://schemas.openxmlformats.org/officeDocument/2006/customXml" ds:itemID="{DD3B3FC5-46E5-485E-9870-B0A0AE97ED05}"/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1729</Words>
  <Application>Microsoft Office PowerPoint</Application>
  <PresentationFormat>Widescreen</PresentationFormat>
  <Paragraphs>273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Segoe UI</vt:lpstr>
      <vt:lpstr>Office Theme</vt:lpstr>
      <vt:lpstr>O plano para este semestre</vt:lpstr>
      <vt:lpstr>O plano</vt:lpstr>
      <vt:lpstr>O plano</vt:lpstr>
      <vt:lpstr>O plano</vt:lpstr>
      <vt:lpstr>Introdução ao JavaScript básico</vt:lpstr>
      <vt:lpstr>Roteiro da aula</vt:lpstr>
      <vt:lpstr>O que é JavaScript?</vt:lpstr>
      <vt:lpstr>Onde o JavaScript roda</vt:lpstr>
      <vt:lpstr>Como executamos o código</vt:lpstr>
      <vt:lpstr>Estrutura de um programa em JS</vt:lpstr>
      <vt:lpstr>Blocos: chaves x indentação</vt:lpstr>
      <vt:lpstr>Comentários</vt:lpstr>
      <vt:lpstr>Variáveis</vt:lpstr>
      <vt:lpstr>let: valor que pode mudar</vt:lpstr>
      <vt:lpstr>const: valor que não muda</vt:lpstr>
      <vt:lpstr>Declaração de variáveis: JS x Python</vt:lpstr>
      <vt:lpstr>var: o jeito antigo</vt:lpstr>
      <vt:lpstr>Escopo: let x var</vt:lpstr>
      <vt:lpstr>Por que preferir const</vt:lpstr>
      <vt:lpstr>Declarar não é inicializar</vt:lpstr>
      <vt:lpstr>Declarar sem inicializar</vt:lpstr>
      <vt:lpstr>Declarar x inicializar: JS x Python</vt:lpstr>
      <vt:lpstr>Tipos primitivos em JavaScript</vt:lpstr>
      <vt:lpstr>Tipos primitivos: JS x Python</vt:lpstr>
      <vt:lpstr>null e undefined</vt:lpstr>
      <vt:lpstr>Arrays x listas</vt:lpstr>
      <vt:lpstr>Objetos x dicionários</vt:lpstr>
      <vt:lpstr>typeof x type()</vt:lpstr>
      <vt:lpstr>Template literals x f-strings</vt:lpstr>
      <vt:lpstr>console.log x print()</vt:lpstr>
      <vt:lpstr>Para levar da aula</vt:lpstr>
      <vt:lpstr>Próximos passos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Flávio Waltz</dc:creator>
  <cp:lastModifiedBy>Flávio Waltz</cp:lastModifiedBy>
  <cp:revision>5</cp:revision>
  <dcterms:created xsi:type="dcterms:W3CDTF">2026-08-06T13:47:07Z</dcterms:created>
  <dcterms:modified xsi:type="dcterms:W3CDTF">2026-08-06T22:12:36Z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0x010100CFEFA75D999B6A458895E2D1D4CAD7D5</vt:lpwstr>
  </property>
</Properties>
</file>