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324" r:id="rId2"/>
    <p:sldId id="325" r:id="rId3"/>
    <p:sldId id="326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5" r:id="rId13"/>
    <p:sldId id="336" r:id="rId14"/>
    <p:sldId id="337" r:id="rId15"/>
    <p:sldId id="338" r:id="rId16"/>
    <p:sldId id="339" r:id="rId17"/>
    <p:sldId id="340" r:id="rId18"/>
    <p:sldId id="341" r:id="rId19"/>
    <p:sldId id="342" r:id="rId20"/>
    <p:sldId id="343" r:id="rId21"/>
    <p:sldId id="344" r:id="rId22"/>
    <p:sldId id="345" r:id="rId23"/>
    <p:sldId id="346" r:id="rId24"/>
    <p:sldId id="347" r:id="rId25"/>
    <p:sldId id="348" r:id="rId26"/>
    <p:sldId id="349" r:id="rId27"/>
    <p:sldId id="350" r:id="rId28"/>
    <p:sldId id="351" r:id="rId29"/>
    <p:sldId id="352" r:id="rId30"/>
    <p:sldId id="353" r:id="rId31"/>
    <p:sldId id="354" r:id="rId32"/>
    <p:sldId id="355" r:id="rId33"/>
    <p:sldId id="356" r:id="rId34"/>
    <p:sldId id="357" r:id="rId35"/>
    <p:sldId id="358" r:id="rId36"/>
    <p:sldId id="359" r:id="rId37"/>
    <p:sldId id="360" r:id="rId3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ustomXml" Target="../customXml/item3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BDE12-A2A8-54E8-1AFA-08C6B58DA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3E2584-5992-F431-EB89-CD7C6FA3C9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AB07A-6197-A8EB-6357-5A63861A3B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D376F-17A1-EFDF-D90E-9ADEEF3BB7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542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6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776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47B77-D9A8-1A87-5935-5293A64B5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ha de acento">
            <a:extLst>
              <a:ext uri="{FF2B5EF4-FFF2-40B4-BE49-F238E27FC236}">
                <a16:creationId xmlns:a16="http://schemas.microsoft.com/office/drawing/2014/main" id="{D6461012-14F3-13EE-FC1E-9979B3ABB6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2960" y="1737360"/>
            <a:ext cx="2011680" cy="914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DAAEBE85-3D6B-972D-8888-9F669643E1AC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JavaScript: </a:t>
            </a:r>
            <a:r>
              <a:rPr lang="en-US" dirty="0" err="1"/>
              <a:t>condicionais</a:t>
            </a:r>
            <a:r>
              <a:rPr lang="en-US" dirty="0"/>
              <a:t>, switch/case, </a:t>
            </a:r>
            <a:r>
              <a:rPr lang="en-US" dirty="0" err="1"/>
              <a:t>operador</a:t>
            </a:r>
            <a:r>
              <a:rPr lang="en-US" dirty="0"/>
              <a:t> </a:t>
            </a:r>
            <a:r>
              <a:rPr lang="en-US" dirty="0" err="1"/>
              <a:t>ternário</a:t>
            </a:r>
            <a:r>
              <a:rPr lang="en-US" dirty="0"/>
              <a:t> e </a:t>
            </a:r>
            <a:r>
              <a:rPr lang="en-US" dirty="0" err="1"/>
              <a:t>objeto</a:t>
            </a:r>
            <a:r>
              <a:rPr lang="en-US" dirty="0"/>
              <a:t> Date</a:t>
            </a:r>
            <a:endParaRPr lang="en-US" sz="4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04BA0C6-5F65-13F9-2711-7DA0052A91BE}"/>
              </a:ext>
            </a:extLst>
          </p:cNvPr>
          <p:cNvSpPr/>
          <p:nvPr/>
        </p:nvSpPr>
        <p:spPr>
          <a:xfrm>
            <a:off x="822960" y="3749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Desenvolvimento Web/Mobile • Análise e Desenvolvimento de Sistemas</a:t>
            </a:r>
            <a:endParaRPr lang="en-US" sz="240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8747A8A-F3AB-CB20-F87E-F58E0A8F41BF}"/>
              </a:ext>
            </a:extLst>
          </p:cNvPr>
          <p:cNvSpPr/>
          <p:nvPr/>
        </p:nvSpPr>
        <p:spPr>
          <a:xfrm>
            <a:off x="822960" y="4343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Aula 4—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continuando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</a:t>
            </a:r>
            <a:r>
              <a:rPr lang="en-US" sz="2400" b="1" dirty="0" err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comparação</a:t>
            </a:r>
            <a:r>
              <a:rPr lang="en-US" sz="2400" b="1" dirty="0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 Python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56909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Estruturas condicionais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Condicionais fazem o programa escolher um caminho. A condição vai entre parênteses e o bloco entre chaves.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if: a forma mais simples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if pode ser usado sozinho — else não é obrigatório.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idade = 20;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(idade &gt;= 18)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("Maior de idade");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"Maior de idade"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a condição for falsa, o bloco simplesmente não executa.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e else if não vivem sozinhos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Eles só existem ligados a um if anterior.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7) {</a:t>
            </a:r>
            <a:endParaRPr lang="en-US" sz="2000"/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("Aprovado");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5)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("Recuperação");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("Reprovado");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else ou else if sem um if antes é erro de sintaxe.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saudação pela hora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Faixas definidas com o operador lógico &amp;&amp; já visto.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hora = 15;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&gt;= 0 &amp;&amp; hora &lt; 12)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("Bom dia");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&gt;= 12 &amp;&amp; hora &lt; 18)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tarde");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"Boa tarde"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&gt;= 18 &amp;&amp; hora &lt;= 23)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noite");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("Hora inválida");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ordem importa: o primeiro bloco verdadeiro é o único que executa.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Testando outras horas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mesmo código com valores diferentes de hora.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0" i="1">
                <a:solidFill>
                  <a:srgbClr val="5A6472"/>
                </a:solidFill>
                <a:latin typeface="Consolas"/>
              </a:rPr>
              <a:t>// hora = 8   -&gt; "Bom dia"</a:t>
            </a:r>
            <a:endParaRPr lang="en-US" sz="2000"/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hora = 15  -&gt; "Boa tarde"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hora = 21  -&gt; "Boa noite"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hora = 30  -&gt; "Hora inválida"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Qualquer valor fora de 0–23 cai no else final.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Condicionais: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&lt; 12) {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("Bom dia");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(hora &lt; 18)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tarde");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("Boa noite");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if hora &lt; 12: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print("Bom dia")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elif hora &lt; 18: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print("Boa tarde")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else: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print("Boa noite")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lógica: chaves viram dois-pontos + indentação, e else if vira elif.</a:t>
            </a:r>
            <a:endParaRPr lang="en-US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Ponto de atenção: vários if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cadeia de else if executa no máximo um bloco. Vários if separados podem executar mais de um.</a:t>
            </a:r>
            <a:endParaRPr lang="en-US" sz="3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Cadeia de else if: só um executa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 opções são excludentes — escolha única.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nota = 9;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9)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("Excelente");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"Excelente"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7)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("Bom");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Como 9 &gt;= 9 é verdadeiro, o segundo teste nem chega a ser avaliado.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separados: vários podem executar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if é testado de forma independente.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nota = 9;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9)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("Excelente");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"Excelente"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(nota &gt;= 7) {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("Bom");      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"Bom"</a:t>
            </a:r>
          </a:p>
          <a:p>
            <a:r>
              <a:rPr sz="20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Aqui as duas mensagens aparecem: as condições não são excludentes.</a:t>
            </a:r>
            <a:endParaRPr lang="en-US" sz="1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 usar em cada caso?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else if: quando só uma opção pode valer (faixas, categorias, menus)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separados: quando as verificações são independentes entre si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Validar usuário e senha com mensagens distintas pede if separados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Classificar uma nota em um único conceito pede else if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 / case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Quando comparamos uma mesma variável com vários valores fixos, o switch deixa o código mais legível.</a:t>
            </a:r>
            <a:endParaRPr lang="en-US" sz="32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Sintaxe do switch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switch, case, break e default.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(valor) {</a:t>
            </a:r>
            <a:endParaRPr lang="en-US" sz="20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1: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("um");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2: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("dois");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("outro");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case é comparado com === ao valor do switch.</a:t>
            </a:r>
            <a:endParaRPr lang="en-US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dia da semana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getDay() devolve 0 (domingo) até 6 (sábado).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dia =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().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getDay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(); </a:t>
            </a:r>
            <a:r>
              <a:rPr sz="1600" b="0" i="1">
                <a:solidFill>
                  <a:srgbClr val="5A6472"/>
                </a:solidFill>
                <a:latin typeface="Consolas"/>
              </a:rPr>
              <a:t>// ex.: 3</a:t>
            </a:r>
            <a:endParaRPr lang="en-US" sz="2000"/>
          </a:p>
          <a:p>
            <a:r>
              <a:rPr sz="16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(dia) {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0: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("Domingo");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1: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("Segunda");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2: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("Terça");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3: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("Quarta");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 </a:t>
            </a:r>
            <a:r>
              <a:rPr sz="1600" b="0" i="1">
                <a:solidFill>
                  <a:srgbClr val="5A6472"/>
                </a:solidFill>
                <a:latin typeface="Consolas"/>
              </a:rPr>
              <a:t>// executa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4: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("Quinta");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5: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("Sexta");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6: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("Sábado");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: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("Dia inválido");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default protege contra qualquer valor fora do esperado.</a:t>
            </a:r>
            <a:endParaRPr lang="en-US"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Esquecer o break: fall-through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break, a execução continua nos cases seguintes.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dia = 1;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(dia)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1: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("Segunda");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"Segunda"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2: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("Terça");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"Terça"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: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("Fim");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"Fim"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break é o que encerra o switch — sem ele, tudo abaixo executa.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switch: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1" i="0">
                <a:solidFill>
                  <a:srgbClr val="C2410C"/>
                </a:solidFill>
                <a:latin typeface="Consolas"/>
              </a:rPr>
              <a:t>switch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(dia) {</a:t>
            </a:r>
            <a:endParaRPr lang="en-US" sz="1800"/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case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0: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("Domingo");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break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default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("Outro");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0" i="0">
                <a:solidFill>
                  <a:srgbClr val="17202A"/>
                </a:solidFill>
                <a:latin typeface="Consolas"/>
              </a:rPr>
              <a:t># forma clássica</a:t>
            </a:r>
            <a:endParaRPr lang="en-US" sz="1800"/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if dia == 0: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print("Domingo")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else: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print("Outro")</a:t>
            </a:r>
          </a:p>
          <a:p>
            <a:endParaRPr sz="1600" b="0" i="0">
              <a:solidFill>
                <a:srgbClr val="17202A"/>
              </a:solidFill>
              <a:latin typeface="Consolas"/>
            </a:endParaRP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# Python 3.10+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match dia: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case 0: print("Domingo")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  case _: print("Outro")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 usou if/elif por muito tempo; o match/case chegou só no 3.10.</a:t>
            </a:r>
            <a:endParaRPr lang="en-US"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Operador ternário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 if/else que cabe em uma linha e devolve um valor: condição ? valorSeVerdadeiro : valorSeFalso.</a:t>
            </a:r>
            <a:endParaRPr lang="en-US" sz="3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Primeiro com if/else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Classificando um usuário pela pontuação.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pontos = 120;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tipo;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(pontos &gt;= 100)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tipo = "VIP";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tipo = "comum";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(tipo);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"VIP"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Sete linhas apenas para escolher entre dois valores.</a:t>
            </a:r>
            <a:endParaRPr 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Agora com ternário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Exatamente a mesma lógica, em uma linha.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pontos = 120;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tipo = pontos &gt;= 100 ? "VIP" : "comum";</a:t>
            </a:r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(tipo); </a:t>
            </a:r>
            <a:r>
              <a:rPr sz="2000" b="0" i="1">
                <a:solidFill>
                  <a:srgbClr val="5A6472"/>
                </a:solidFill>
                <a:latin typeface="Consolas"/>
              </a:rPr>
              <a:t>// "VIP"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ternário é uma expressão: devolve um valor que pode ser atribuído.</a:t>
            </a:r>
            <a:endParaRPr lang="en-US"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Ternário: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tipo =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pontos &gt;= 100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? "VIP"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: "comum";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(tipo);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"VIP"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tipo = ("VIP"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    if pontos &gt;= 100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      else "comum")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print(tipo)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# "VIP"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Mesma ideia, ordem invertida: em Python o valor verdadeiro vem primeiro.</a:t>
            </a:r>
            <a:endParaRPr lang="en-US" sz="19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|| como valor padrão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|| devolve o primeiro valor truthy. Isso serve para definir um padrão quando a variável é falsy.</a:t>
            </a:r>
            <a:endParaRPr lang="en-US" sz="3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Exemplo: cor padrão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String vazia, undefined, null, 0 e NaN são falsy.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corEscolhida = "";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cor = corEscolhida || "azul";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(cor);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"azul"</a:t>
            </a:r>
          </a:p>
          <a:p>
            <a:endParaRPr sz="1800" b="0" i="1">
              <a:solidFill>
                <a:srgbClr val="5A6472"/>
              </a:solidFill>
              <a:latin typeface="Consolas"/>
            </a:endParaRP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corEscolhida = "verde";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(corEscolhida || "azul");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"verde"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 o usuário escolheu algo, o valor dele vence; senão, entra o padrão.</a:t>
            </a:r>
            <a:endParaRPr lang="en-US"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Valor padrão: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let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cor = "";</a:t>
            </a:r>
            <a:endParaRPr lang="en-US" sz="18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escolhida = cor || "azul";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(escolhida);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"azul"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cor = ""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escolhida = cor or "azul"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print(escolhida)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# "azul"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or do Python funciona igual: as duas linguagens têm truthy e falsy.</a:t>
            </a:r>
            <a:endParaRPr lang="en-US"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objeto Date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 representa um instante no tempo — data e hora juntas — criado com a palavra-chave new.</a:t>
            </a:r>
            <a:endParaRPr lang="en-US" sz="32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Date() sem argumentos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Sem argumentos, ele guarda o momento atual.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agora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();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(agora);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data e hora deste exato momento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a forma usada para saber que dia ou que horas são agora.</a:t>
            </a:r>
            <a:endParaRPr lang="en-US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Date() com argumentos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Ano, mês, dia, hora e minuto — nessa ordem.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0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festa =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(2026, 7, 23, 20, 30);</a:t>
            </a:r>
            <a:endParaRPr lang="en-US" sz="2000"/>
          </a:p>
          <a:p>
            <a:r>
              <a:rPr sz="20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20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2000" b="0" i="0">
                <a:solidFill>
                  <a:srgbClr val="17202A"/>
                </a:solidFill>
                <a:latin typeface="Consolas"/>
              </a:rPr>
              <a:t>(festa);</a:t>
            </a:r>
          </a:p>
          <a:p>
            <a:r>
              <a:rPr sz="2000" b="0" i="1">
                <a:solidFill>
                  <a:srgbClr val="5A6472"/>
                </a:solidFill>
                <a:latin typeface="Consolas"/>
              </a:rPr>
              <a:t>// 23 de agosto de 2026, 20:30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mês 7 aqui é agosto — veja o próximo slide.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Atenção: o mês começa em 0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Janeiro é 0, fevereiro é 1... dezembro é 11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Date(2026, 7, 23) é 23 de agosto, não de julho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 uma das pegadinhas mais comuns da linguagem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Ao exibir para o usuário, some +1 em getMonth()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Lendo partes da data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get devolve um número.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(2026, 7, 23, 20, 30);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23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7  (agosto!)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getFullYear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2026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getHours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20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getDay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     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0  (domingo)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getMonth() devolve o índice; getDay() devolve o dia da semana.</a:t>
            </a:r>
            <a:endParaRPr lang="en-US" sz="19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Datas: JS x Python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C2410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2200"/>
          </a:p>
        </p:txBody>
      </p:sp>
      <p:sp>
        <p:nvSpPr>
          <p:cNvPr id="5" name="Text 3"/>
          <p:cNvSpPr/>
          <p:nvPr/>
        </p:nvSpPr>
        <p:spPr>
          <a:xfrm>
            <a:off x="61264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2200"/>
          </a:p>
        </p:txBody>
      </p:sp>
      <p:sp>
        <p:nvSpPr>
          <p:cNvPr id="6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7840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(2026, 7, 23);</a:t>
            </a:r>
            <a:endParaRPr lang="en-US" sz="18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7 -&gt; índice, começa em 0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(d.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 + 1);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8 -&gt; agosto legível</a:t>
            </a:r>
          </a:p>
        </p:txBody>
      </p:sp>
      <p:sp>
        <p:nvSpPr>
          <p:cNvPr id="8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26480" y="2194560"/>
            <a:ext cx="5257800" cy="356616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27648" y="2340864"/>
            <a:ext cx="4855464" cy="327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0" i="0">
                <a:solidFill>
                  <a:srgbClr val="17202A"/>
                </a:solidFill>
                <a:latin typeface="Consolas"/>
              </a:rPr>
              <a:t>from datetime import datetime</a:t>
            </a:r>
            <a:endParaRPr lang="en-US" sz="18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d = datetime(2026, 8, 23)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print(d.month)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# 8 -&gt; já começa em 1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print(d.day)   # 23</a:t>
            </a:r>
          </a:p>
        </p:txBody>
      </p:sp>
      <p:sp>
        <p:nvSpPr>
          <p:cNvPr id="10" name="Text 8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Python os meses são indexados a partir de 1 — por isso o +1 no JS.</a:t>
            </a:r>
            <a:endParaRPr lang="en-US"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Formatando uma data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Uma função que recebe um Date e devolve uma string legível no formato dia/mês/ano.</a:t>
            </a:r>
            <a:endParaRPr lang="en-US" sz="32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função formataData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Função com return + template literal.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function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formataData(data) {</a:t>
            </a:r>
            <a:endParaRPr lang="en-US" sz="2000"/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dia = data.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mes = data.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getMonth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 + 1;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ano = data.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getFullYear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();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`${dia}/${mes}/${ano}`;</a:t>
            </a:r>
          </a:p>
          <a:p>
            <a:r>
              <a:rPr sz="18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(formataData(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(2026, 7, 23)));</a:t>
            </a:r>
          </a:p>
          <a:p>
            <a:r>
              <a:rPr sz="1800" b="0" i="1">
                <a:solidFill>
                  <a:srgbClr val="5A6472"/>
                </a:solidFill>
                <a:latin typeface="Consolas"/>
              </a:rPr>
              <a:t>// "23/8/2026"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+1 no mês é obrigatório para a data sair legível.</a:t>
            </a:r>
            <a:endParaRPr lang="en-US" sz="19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Dois conceitos que se juntam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Função com return: encapsula a regra e devolve um valor reutilizável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literal: monta a string com ${} sem concatenar com +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Ajuste de indexação: getMonth() + 1 para o mês humano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partir de agora, basta chamar formataData(data)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Exemplo</a:t>
            </a:r>
            <a:r>
              <a:rPr lang="en-US" sz="3400" b="1" dirty="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 </a:t>
            </a:r>
            <a:r>
              <a:rPr lang="en-US" sz="3400" b="1" dirty="0" err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Programa</a:t>
            </a:r>
            <a:endParaRPr lang="en-US" sz="3400" dirty="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106070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 simples com saudação: o primeiro programa que resolve um problema real usando tudo o que já vimos.</a:t>
            </a:r>
            <a:endParaRPr lang="en-US" sz="32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1: capturando os dados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prompt() lê o que o usuário digita.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usuario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prompt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("Usuário:");</a:t>
            </a:r>
            <a:endParaRPr lang="en-US" sz="2000"/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senha = 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prompt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("Senha:");</a:t>
            </a:r>
          </a:p>
          <a:p>
            <a:endParaRPr sz="1800" b="0" i="0">
              <a:solidFill>
                <a:srgbClr val="17202A"/>
              </a:solidFill>
              <a:latin typeface="Consolas"/>
            </a:endParaRP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 ok = usuario === "flavio" &amp;&amp; senha === "123456";</a:t>
            </a:r>
          </a:p>
          <a:p>
            <a:r>
              <a:rPr sz="18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>
                <a:solidFill>
                  <a:srgbClr val="17202A"/>
                </a:solidFill>
                <a:latin typeface="Consolas"/>
              </a:rPr>
              <a:t>(ok); </a:t>
            </a:r>
            <a:r>
              <a:rPr sz="1800" b="0" i="1">
                <a:solidFill>
                  <a:srgbClr val="5A6472"/>
                </a:solidFill>
                <a:latin typeface="Consolas"/>
              </a:rPr>
              <a:t>// true se os dois baterem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Igualdade estrita (===) e o operador &amp;&amp; já vistos na aula anterior.</a:t>
            </a:r>
            <a:endParaRPr lang="en-US" sz="19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2: saudação pela hora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else if usando getHours().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800" b="1" i="0" dirty="0">
                <a:solidFill>
                  <a:srgbClr val="C2410C"/>
                </a:solidFill>
                <a:latin typeface="Consolas"/>
              </a:rPr>
              <a:t>function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saudacao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 {</a:t>
            </a:r>
            <a:endParaRPr lang="en-US" sz="2000" dirty="0"/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const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h</a:t>
            </a:r>
            <a:r>
              <a:rPr lang="pt-BR" sz="1800" b="0" i="0" dirty="0">
                <a:solidFill>
                  <a:srgbClr val="17202A"/>
                </a:solidFill>
                <a:latin typeface="Consolas"/>
              </a:rPr>
              <a:t>ora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=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new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Date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().</a:t>
            </a:r>
            <a:r>
              <a:rPr sz="1800" b="1" i="0" dirty="0" err="1">
                <a:solidFill>
                  <a:srgbClr val="C2410C"/>
                </a:solidFill>
                <a:latin typeface="Consolas"/>
              </a:rPr>
              <a:t>getHours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(h</a:t>
            </a:r>
            <a:r>
              <a:rPr lang="pt-BR" sz="1800" b="0" i="0" dirty="0">
                <a:solidFill>
                  <a:srgbClr val="17202A"/>
                </a:solidFill>
                <a:latin typeface="Consolas"/>
              </a:rPr>
              <a:t>ora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&lt; 12)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"Bom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dia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";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if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(h</a:t>
            </a:r>
            <a:r>
              <a:rPr lang="pt-BR" sz="1800" b="0" i="0" dirty="0">
                <a:solidFill>
                  <a:srgbClr val="17202A"/>
                </a:solidFill>
                <a:latin typeface="Consolas"/>
              </a:rPr>
              <a:t>ora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&lt; 18)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"Boa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tarde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";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 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else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return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 "Boa 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noite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";</a:t>
            </a:r>
          </a:p>
          <a:p>
            <a:r>
              <a:rPr sz="1800" b="0" i="0" dirty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800" b="1" i="0" dirty="0">
                <a:solidFill>
                  <a:srgbClr val="C2410C"/>
                </a:solidFill>
                <a:latin typeface="Consolas"/>
              </a:rPr>
              <a:t>console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.</a:t>
            </a:r>
            <a:r>
              <a:rPr sz="1800" b="1" i="0" dirty="0">
                <a:solidFill>
                  <a:srgbClr val="C2410C"/>
                </a:solidFill>
                <a:latin typeface="Consolas"/>
              </a:rPr>
              <a:t>log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</a:t>
            </a:r>
            <a:r>
              <a:rPr sz="1800" b="0" i="0" dirty="0" err="1">
                <a:solidFill>
                  <a:srgbClr val="17202A"/>
                </a:solidFill>
                <a:latin typeface="Consolas"/>
              </a:rPr>
              <a:t>saudacao</a:t>
            </a:r>
            <a:r>
              <a:rPr sz="1800" b="0" i="0" dirty="0">
                <a:solidFill>
                  <a:srgbClr val="17202A"/>
                </a:solidFill>
                <a:latin typeface="Consolas"/>
              </a:rPr>
              <a:t>()); </a:t>
            </a:r>
            <a:r>
              <a:rPr sz="1800" b="0" i="1" dirty="0">
                <a:solidFill>
                  <a:srgbClr val="5A6472"/>
                </a:solidFill>
                <a:latin typeface="Consolas"/>
              </a:rPr>
              <a:t>// "Boa </a:t>
            </a:r>
            <a:r>
              <a:rPr sz="1800" b="0" i="1" dirty="0" err="1">
                <a:solidFill>
                  <a:srgbClr val="5A6472"/>
                </a:solidFill>
                <a:latin typeface="Consolas"/>
              </a:rPr>
              <a:t>noite</a:t>
            </a:r>
            <a:r>
              <a:rPr sz="1800" b="0" i="1" dirty="0">
                <a:solidFill>
                  <a:srgbClr val="5A6472"/>
                </a:solidFill>
                <a:latin typeface="Consolas"/>
              </a:rPr>
              <a:t>" </a:t>
            </a:r>
            <a:r>
              <a:rPr sz="1800" b="0" i="1" dirty="0" err="1">
                <a:solidFill>
                  <a:srgbClr val="5A6472"/>
                </a:solidFill>
                <a:latin typeface="Consolas"/>
              </a:rPr>
              <a:t>às</a:t>
            </a:r>
            <a:r>
              <a:rPr sz="1800" b="0" i="1" dirty="0">
                <a:solidFill>
                  <a:srgbClr val="5A6472"/>
                </a:solidFill>
                <a:latin typeface="Consolas"/>
              </a:rPr>
              <a:t> 20h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Cada return encerra a função assim que a faixa correta é encontrada.</a:t>
            </a:r>
            <a:endParaRPr lang="en-US" sz="19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Parte 3: juntando tudo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6916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Login, saudação e data formatada do acesso.</a:t>
            </a:r>
            <a:endParaRPr lang="en-US" sz="2400"/>
          </a:p>
        </p:txBody>
      </p:sp>
      <p:sp>
        <p:nvSpPr>
          <p:cNvPr id="5" name="Fundo do bloco de códig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377440"/>
            <a:ext cx="10607040" cy="3429000"/>
          </a:xfrm>
          <a:prstGeom prst="rect">
            <a:avLst/>
          </a:prstGeom>
          <a:solidFill>
            <a:srgbClr val="F2F4F7"/>
          </a:solidFill>
          <a:ln w="12700">
            <a:solidFill>
              <a:srgbClr val="DDE2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78408" y="2523744"/>
            <a:ext cx="10204704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1600" b="1" i="0">
                <a:solidFill>
                  <a:srgbClr val="C2410C"/>
                </a:solidFill>
                <a:latin typeface="Consolas"/>
              </a:rPr>
              <a:t>if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(ok) {</a:t>
            </a:r>
            <a:endParaRPr lang="en-US" sz="2000"/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const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hoje = formataData(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new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Date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());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(`${saudacao()}, ${usuario}!`);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(`Acesso em ${hoje}`);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else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 {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  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console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.</a:t>
            </a:r>
            <a:r>
              <a:rPr sz="1600" b="1" i="0">
                <a:solidFill>
                  <a:srgbClr val="C2410C"/>
                </a:solidFill>
                <a:latin typeface="Consolas"/>
              </a:rPr>
              <a:t>log</a:t>
            </a:r>
            <a:r>
              <a:rPr sz="1600" b="0" i="0">
                <a:solidFill>
                  <a:srgbClr val="17202A"/>
                </a:solidFill>
                <a:latin typeface="Consolas"/>
              </a:rPr>
              <a:t>("Usuário ou senha inválidos");</a:t>
            </a:r>
          </a:p>
          <a:p>
            <a:r>
              <a:rPr sz="1600" b="0" i="0">
                <a:solidFill>
                  <a:srgbClr val="17202A"/>
                </a:solidFill>
                <a:latin typeface="Consolas"/>
              </a:rPr>
              <a:t>}</a:t>
            </a:r>
          </a:p>
          <a:p>
            <a:r>
              <a:rPr sz="1600" b="0" i="1">
                <a:solidFill>
                  <a:srgbClr val="5A6472"/>
                </a:solidFill>
                <a:latin typeface="Consolas"/>
              </a:rPr>
              <a:t>// "Boa noite, flavio!"</a:t>
            </a:r>
          </a:p>
          <a:p>
            <a:r>
              <a:rPr sz="1600" b="0" i="1">
                <a:solidFill>
                  <a:srgbClr val="5A6472"/>
                </a:solidFill>
                <a:latin typeface="Consolas"/>
              </a:rPr>
              <a:t>// "Acesso em 23/8/2026"</a:t>
            </a:r>
          </a:p>
        </p:txBody>
      </p:sp>
      <p:sp>
        <p:nvSpPr>
          <p:cNvPr id="7" name="Text 5"/>
          <p:cNvSpPr/>
          <p:nvPr/>
        </p:nvSpPr>
        <p:spPr>
          <a:xfrm>
            <a:off x="777240" y="594360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5A647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Variáveis, funções, condicionais, template literals e Date no mesmo programa.</a:t>
            </a:r>
            <a:endParaRPr lang="en-US" sz="19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85800" y="41148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 levar da aula</a:t>
            </a:r>
            <a:endParaRPr lang="en-US" sz="3400"/>
          </a:p>
        </p:txBody>
      </p:sp>
      <p:sp>
        <p:nvSpPr>
          <p:cNvPr id="3" name="Linha de acento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800" y="1325880"/>
            <a:ext cx="1463040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0704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pode existir sozinho; else e else if dependem de um if anterior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Cadeia de else if executa um bloco; ifs separados podem executar vários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switch, o break evita o fall-through; default cobre o inesperado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Ternário e || são atalhos que devolvem valores, não blocos</a:t>
            </a:r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600">
                <a:solidFill>
                  <a:srgbClr val="1720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 Date o mês começa em 0 — some +1 para exibir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EFA75D999B6A458895E2D1D4CAD7D5" ma:contentTypeVersion="3" ma:contentTypeDescription="Crie um novo documento." ma:contentTypeScope="" ma:versionID="443efed7f4720c3f1703e71accb0a554">
  <xsd:schema xmlns:xsd="http://www.w3.org/2001/XMLSchema" xmlns:xs="http://www.w3.org/2001/XMLSchema" xmlns:p="http://schemas.microsoft.com/office/2006/metadata/properties" xmlns:ns2="50a733fb-aa42-4bdb-a9d1-5f2a081c7e8f" targetNamespace="http://schemas.microsoft.com/office/2006/metadata/properties" ma:root="true" ma:fieldsID="bc851972ad0bab2bb9e1eef65de7087d" ns2:_="">
    <xsd:import namespace="50a733fb-aa42-4bdb-a9d1-5f2a081c7e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a733fb-aa42-4bdb-a9d1-5f2a081c7e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EC4D269-8F43-4EE2-8F36-A7498C5C2DF4}"/>
</file>

<file path=customXml/itemProps2.xml><?xml version="1.0" encoding="utf-8"?>
<ds:datastoreItem xmlns:ds="http://schemas.openxmlformats.org/officeDocument/2006/customXml" ds:itemID="{72BBEE1A-4013-4F7D-A904-0672DB1E72F1}"/>
</file>

<file path=customXml/itemProps3.xml><?xml version="1.0" encoding="utf-8"?>
<ds:datastoreItem xmlns:ds="http://schemas.openxmlformats.org/officeDocument/2006/customXml" ds:itemID="{CF7A64D5-3B30-4994-9740-66D2A2B9D571}"/>
</file>

<file path=docProps/app.xml><?xml version="1.0" encoding="utf-8"?>
<Properties xmlns="http://schemas.openxmlformats.org/officeDocument/2006/extended-properties" xmlns:vt="http://schemas.openxmlformats.org/officeDocument/2006/docPropsVTypes">
  <TotalTime>638</TotalTime>
  <Words>2324</Words>
  <Application>Microsoft Office PowerPoint</Application>
  <PresentationFormat>Widescreen</PresentationFormat>
  <Paragraphs>300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Consolas</vt:lpstr>
      <vt:lpstr>Segoe UI</vt:lpstr>
      <vt:lpstr>Office Theme</vt:lpstr>
      <vt:lpstr>JavaScript: condicionais, switch/case, operador ternário e objeto Date</vt:lpstr>
      <vt:lpstr>Estruturas condicionais</vt:lpstr>
      <vt:lpstr>if: a forma mais simples</vt:lpstr>
      <vt:lpstr>else e else if não vivem sozinhos</vt:lpstr>
      <vt:lpstr>Exemplo: saudação pela hora</vt:lpstr>
      <vt:lpstr>Testando outras horas</vt:lpstr>
      <vt:lpstr>Condicionais: JS x Python</vt:lpstr>
      <vt:lpstr>Ponto de atenção: vários if</vt:lpstr>
      <vt:lpstr>Cadeia de else if: só um executa</vt:lpstr>
      <vt:lpstr>if separados: vários podem executar</vt:lpstr>
      <vt:lpstr>Qual usar em cada caso?</vt:lpstr>
      <vt:lpstr>switch / case</vt:lpstr>
      <vt:lpstr>Sintaxe do switch</vt:lpstr>
      <vt:lpstr>Exemplo: dia da semana</vt:lpstr>
      <vt:lpstr>Esquecer o break: fall-through</vt:lpstr>
      <vt:lpstr>switch: JS x Python</vt:lpstr>
      <vt:lpstr>Operador ternário</vt:lpstr>
      <vt:lpstr>Primeiro com if/else</vt:lpstr>
      <vt:lpstr>Agora com ternário</vt:lpstr>
      <vt:lpstr>Ternário: JS x Python</vt:lpstr>
      <vt:lpstr>|| como valor padrão</vt:lpstr>
      <vt:lpstr>Exemplo: cor padrão</vt:lpstr>
      <vt:lpstr>Valor padrão: JS x Python</vt:lpstr>
      <vt:lpstr>O objeto Date</vt:lpstr>
      <vt:lpstr>new Date() sem argumentos</vt:lpstr>
      <vt:lpstr>new Date() com argumentos</vt:lpstr>
      <vt:lpstr>Atenção: o mês começa em 0</vt:lpstr>
      <vt:lpstr>Lendo partes da data</vt:lpstr>
      <vt:lpstr>Datas: JS x Python</vt:lpstr>
      <vt:lpstr>Formatando uma data</vt:lpstr>
      <vt:lpstr>A função formataData</vt:lpstr>
      <vt:lpstr>Dois conceitos que se juntam</vt:lpstr>
      <vt:lpstr>Exemplo de Programa</vt:lpstr>
      <vt:lpstr>Parte 1: capturando os dados</vt:lpstr>
      <vt:lpstr>Parte 2: saudação pela hora</vt:lpstr>
      <vt:lpstr>Parte 3: juntando tudo</vt:lpstr>
      <vt:lpstr>Para levar da aula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Flávio Waltz</dc:creator>
  <cp:lastModifiedBy>Flávio Waltz</cp:lastModifiedBy>
  <cp:revision>12</cp:revision>
  <dcterms:created xsi:type="dcterms:W3CDTF">2026-08-06T13:47:07Z</dcterms:created>
  <dcterms:modified xsi:type="dcterms:W3CDTF">2026-08-24T00:59:58Z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0x010100CFEFA75D999B6A458895E2D1D4CAD7D5</vt:lpwstr>
  </property>
</Properties>
</file>