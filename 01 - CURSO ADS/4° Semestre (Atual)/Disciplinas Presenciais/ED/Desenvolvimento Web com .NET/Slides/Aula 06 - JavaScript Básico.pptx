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324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402" r:id="rId14"/>
    <p:sldId id="407" r:id="rId15"/>
    <p:sldId id="408" r:id="rId16"/>
    <p:sldId id="409" r:id="rId17"/>
    <p:sldId id="410" r:id="rId18"/>
    <p:sldId id="429" r:id="rId19"/>
    <p:sldId id="411" r:id="rId20"/>
    <p:sldId id="412" r:id="rId21"/>
    <p:sldId id="413" r:id="rId22"/>
    <p:sldId id="414" r:id="rId23"/>
    <p:sldId id="415" r:id="rId24"/>
    <p:sldId id="416" r:id="rId25"/>
    <p:sldId id="417" r:id="rId26"/>
    <p:sldId id="418" r:id="rId27"/>
    <p:sldId id="419" r:id="rId28"/>
    <p:sldId id="420" r:id="rId29"/>
    <p:sldId id="421" r:id="rId30"/>
    <p:sldId id="431" r:id="rId31"/>
    <p:sldId id="422" r:id="rId32"/>
    <p:sldId id="423" r:id="rId33"/>
    <p:sldId id="424" r:id="rId34"/>
    <p:sldId id="425" r:id="rId35"/>
    <p:sldId id="426" r:id="rId36"/>
    <p:sldId id="427" r:id="rId37"/>
    <p:sldId id="428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DE12-A2A8-54E8-1AFA-08C6B58D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E2584-5992-F431-EB89-CD7C6FA3C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AB07A-6197-A8EB-6357-5A63861A3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376F-17A1-EFDF-D90E-9ADEEF3BB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2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36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83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DEEE7-00FF-EB14-7B57-553FAF3A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0BFEB-4035-0D04-20A7-3FFE32C3A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D5F47-C9DC-0129-9236-A6D41D804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08775-2AD0-DE34-C7C6-9C06B0E28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92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8C06D-0BF8-5B68-99A0-181226A2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07A7C-6CA6-C456-F9A9-5EE188D9D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AAE69-B6B0-08B3-590A-F4B34D8D7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12F5D-1998-4B20-1434-3860FB96A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6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77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7B77-D9A8-1A87-5935-5293A64B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D6461012-14F3-13EE-FC1E-9979B3AB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AAEBE85-3D6B-972D-8888-9F669643E1A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JavaScript: outros </a:t>
            </a:r>
            <a:r>
              <a:rPr lang="en-US" i="1" dirty="0"/>
              <a:t>for</a:t>
            </a:r>
            <a:r>
              <a:rPr lang="en-US" dirty="0"/>
              <a:t>, </a:t>
            </a:r>
            <a:r>
              <a:rPr lang="en-US" dirty="0" err="1"/>
              <a:t>laços</a:t>
            </a:r>
            <a:r>
              <a:rPr lang="en-US" dirty="0"/>
              <a:t> while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4BA0C6-5F65-13F9-2711-7DA0052A91BE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47A8A-F3AB-CB20-F87E-F58E0A8F41BF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6 –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aprofundando</a:t>
            </a: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conteúdo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690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Além do for clássico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 dirty="0">
                <a:solidFill>
                  <a:srgbClr val="17202A"/>
                </a:solidFill>
                <a:latin typeface="Segoe UI"/>
              </a:rPr>
              <a:t>O for de </a:t>
            </a:r>
            <a:r>
              <a:rPr sz="3200" b="0" i="0" dirty="0" err="1">
                <a:solidFill>
                  <a:srgbClr val="17202A"/>
                </a:solidFill>
                <a:latin typeface="Segoe UI"/>
              </a:rPr>
              <a:t>três</a:t>
            </a:r>
            <a:r>
              <a:rPr sz="3200" b="0" i="0" dirty="0">
                <a:solidFill>
                  <a:srgbClr val="17202A"/>
                </a:solidFill>
                <a:latin typeface="Segoe UI"/>
              </a:rPr>
              <a:t> partes </a:t>
            </a:r>
            <a:r>
              <a:rPr sz="3200" b="0" i="0" dirty="0" err="1">
                <a:solidFill>
                  <a:srgbClr val="17202A"/>
                </a:solidFill>
                <a:latin typeface="Segoe UI"/>
              </a:rPr>
              <a:t>você</a:t>
            </a:r>
            <a:r>
              <a:rPr lang="pt-BR" sz="3200" b="0" i="0" dirty="0">
                <a:solidFill>
                  <a:srgbClr val="17202A"/>
                </a:solidFill>
                <a:latin typeface="Segoe UI"/>
              </a:rPr>
              <a:t>s</a:t>
            </a:r>
            <a:r>
              <a:rPr sz="32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3200" b="0" i="0" dirty="0" err="1">
                <a:solidFill>
                  <a:srgbClr val="17202A"/>
                </a:solidFill>
                <a:latin typeface="Segoe UI"/>
              </a:rPr>
              <a:t>já</a:t>
            </a:r>
            <a:r>
              <a:rPr sz="32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lang="pt-BR" sz="3200" b="0" i="0" dirty="0">
                <a:solidFill>
                  <a:srgbClr val="17202A"/>
                </a:solidFill>
                <a:latin typeface="Segoe UI"/>
              </a:rPr>
              <a:t>viram</a:t>
            </a:r>
            <a:r>
              <a:rPr sz="3200" b="0" i="0" dirty="0">
                <a:solidFill>
                  <a:srgbClr val="17202A"/>
                </a:solidFill>
                <a:latin typeface="Segoe UI"/>
              </a:rPr>
              <a:t>.</a:t>
            </a:r>
            <a:r>
              <a:rPr lang="pt-BR" sz="32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3200" b="0" i="0" dirty="0">
                <a:solidFill>
                  <a:srgbClr val="17202A"/>
                </a:solidFill>
                <a:latin typeface="Segoe UI"/>
              </a:rPr>
              <a:t>Agora</a:t>
            </a:r>
            <a:r>
              <a:rPr lang="pt-BR" sz="3200" b="0" i="0" dirty="0">
                <a:solidFill>
                  <a:srgbClr val="17202A"/>
                </a:solidFill>
                <a:latin typeface="Segoe UI"/>
              </a:rPr>
              <a:t>, veremos</a:t>
            </a:r>
            <a:r>
              <a:rPr sz="3200" b="0" i="0" dirty="0">
                <a:solidFill>
                  <a:srgbClr val="17202A"/>
                </a:solidFill>
                <a:latin typeface="Segoe UI"/>
              </a:rPr>
              <a:t> as </a:t>
            </a:r>
            <a:r>
              <a:rPr sz="3200" b="0" i="0" dirty="0" err="1">
                <a:solidFill>
                  <a:srgbClr val="17202A"/>
                </a:solidFill>
                <a:latin typeface="Segoe UI"/>
              </a:rPr>
              <a:t>variações</a:t>
            </a:r>
            <a:r>
              <a:rPr sz="3200" b="0" i="0" dirty="0">
                <a:solidFill>
                  <a:srgbClr val="17202A"/>
                </a:solidFill>
                <a:latin typeface="Segoe UI"/>
              </a:rPr>
              <a:t>: </a:t>
            </a:r>
            <a:r>
              <a:rPr sz="3200" b="1" i="1" dirty="0">
                <a:solidFill>
                  <a:srgbClr val="17202A"/>
                </a:solidFill>
                <a:latin typeface="Segoe UI"/>
              </a:rPr>
              <a:t>for-in</a:t>
            </a:r>
            <a:r>
              <a:rPr sz="3200" dirty="0">
                <a:solidFill>
                  <a:srgbClr val="17202A"/>
                </a:solidFill>
                <a:latin typeface="Segoe UI"/>
              </a:rPr>
              <a:t>,</a:t>
            </a:r>
            <a:r>
              <a:rPr sz="3200" b="1" i="1" dirty="0">
                <a:solidFill>
                  <a:srgbClr val="17202A"/>
                </a:solidFill>
                <a:latin typeface="Segoe UI"/>
              </a:rPr>
              <a:t> for-of</a:t>
            </a:r>
            <a:r>
              <a:rPr sz="3200" dirty="0">
                <a:solidFill>
                  <a:srgbClr val="17202A"/>
                </a:solidFill>
                <a:latin typeface="Segoe UI"/>
              </a:rPr>
              <a:t>,</a:t>
            </a:r>
            <a:r>
              <a:rPr sz="3200" b="1" i="1" dirty="0">
                <a:solidFill>
                  <a:srgbClr val="17202A"/>
                </a:solidFill>
                <a:latin typeface="Segoe UI"/>
              </a:rPr>
              <a:t> while </a:t>
            </a:r>
            <a:r>
              <a:rPr sz="3200" dirty="0">
                <a:solidFill>
                  <a:srgbClr val="17202A"/>
                </a:solidFill>
                <a:latin typeface="Segoe UI"/>
              </a:rPr>
              <a:t>e</a:t>
            </a:r>
            <a:r>
              <a:rPr sz="3200" b="1" i="1" dirty="0">
                <a:solidFill>
                  <a:srgbClr val="17202A"/>
                </a:solidFill>
                <a:latin typeface="Segoe UI"/>
              </a:rPr>
              <a:t> do-while</a:t>
            </a:r>
            <a:r>
              <a:rPr sz="3200" i="1" dirty="0">
                <a:solidFill>
                  <a:srgbClr val="17202A"/>
                </a:solidFill>
                <a:latin typeface="Segoe UI"/>
              </a:rPr>
              <a:t>.</a:t>
            </a:r>
            <a:endParaRPr lang="en-US" sz="32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for-in: retorna a chave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Em um array, o for-in entrega os índices. Em um objeto, entrega as chaves.</a:t>
            </a:r>
            <a:endParaRPr lang="en-US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for-in em um array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A variável do laço recebe o índice, não o valor.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frutas = ["maçã", "uva", "pera"];</a:t>
            </a:r>
            <a:endParaRPr lang="en-US" sz="2000"/>
          </a:p>
          <a:p>
            <a:endParaRPr lang="en-US" sz="2000"/>
          </a:p>
          <a:p>
            <a:r>
              <a:rPr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indice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in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frutas) {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(indice);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sz="1700" b="0" i="0">
              <a:solidFill>
                <a:srgbClr val="17202A"/>
              </a:solidFill>
              <a:latin typeface="Consolas"/>
            </a:endParaRP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0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1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2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O laço percorre as posições do array, uma por vez.</a:t>
            </a:r>
            <a:endParaRPr 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Atenção: o índice é string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O for-in devolve a chave como texto, mesmo em arrays.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frutas = ["maçã", "uva", "pera"];</a:t>
            </a:r>
            <a:endParaRPr lang="en-US" sz="2000"/>
          </a:p>
          <a:p>
            <a:endParaRPr lang="en-US" sz="2000"/>
          </a:p>
          <a:p>
            <a:r>
              <a:rPr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indice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in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frutas) {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typeof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indice);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sz="1700" b="0" i="0">
              <a:solidFill>
                <a:srgbClr val="17202A"/>
              </a:solidFill>
              <a:latin typeface="Consolas"/>
            </a:endParaRP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"string"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"string"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"string"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Comparar com === 0 falha: o valor é "0", e não 0.</a:t>
            </a:r>
            <a:endParaRPr lang="en-US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Usando o índice para pegar o valor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Com o índice em mãos, acessamos frutas[indice].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frutas = ["maçã", "uva", "pera"];</a:t>
            </a:r>
            <a:endParaRPr lang="en-US" sz="2000"/>
          </a:p>
          <a:p>
            <a:endParaRPr lang="en-US" sz="2000"/>
          </a:p>
          <a:p>
            <a:r>
              <a:rPr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indice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in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frutas) {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(frutas[indice]);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sz="1700" b="0" i="0">
              <a:solidFill>
                <a:srgbClr val="17202A"/>
              </a:solidFill>
              <a:latin typeface="Consolas"/>
            </a:endParaRP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"maçã"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"uva"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"pera"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O for-in dá a posição; o valor você busca no array.</a:t>
            </a:r>
            <a:endParaRPr lang="en-US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for-in em um objeto: as chaves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Aqui o for-in mostra sua função principal.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pessoa = { nome: "Ana", idade: 30 };</a:t>
            </a:r>
            <a:endParaRPr lang="en-US" sz="2000"/>
          </a:p>
          <a:p>
            <a:endParaRPr lang="en-US" sz="2000"/>
          </a:p>
          <a:p>
            <a:r>
              <a:rPr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chave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in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pessoa) {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(chave);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sz="1700" b="0" i="0">
              <a:solidFill>
                <a:srgbClr val="17202A"/>
              </a:solidFill>
              <a:latin typeface="Consolas"/>
            </a:endParaRP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"nome"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"idade"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As chaves saem na ordem em que foram declaradas.</a:t>
            </a:r>
            <a:endParaRPr lang="en-US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for-in em um objeto: os valores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 dirty="0">
                <a:solidFill>
                  <a:srgbClr val="17202A"/>
                </a:solidFill>
                <a:latin typeface="Segoe UI"/>
              </a:rPr>
              <a:t>Use </a:t>
            </a:r>
            <a:r>
              <a:rPr sz="2400" b="0" i="0" dirty="0" err="1">
                <a:solidFill>
                  <a:srgbClr val="17202A"/>
                </a:solidFill>
                <a:latin typeface="Segoe UI"/>
              </a:rPr>
              <a:t>objeto</a:t>
            </a:r>
            <a:r>
              <a:rPr sz="2400" b="0" i="0" dirty="0">
                <a:solidFill>
                  <a:srgbClr val="17202A"/>
                </a:solidFill>
                <a:latin typeface="Segoe UI"/>
              </a:rPr>
              <a:t>[</a:t>
            </a:r>
            <a:r>
              <a:rPr sz="2400" b="0" i="0" dirty="0" err="1">
                <a:solidFill>
                  <a:srgbClr val="17202A"/>
                </a:solidFill>
                <a:latin typeface="Segoe UI"/>
              </a:rPr>
              <a:t>chave</a:t>
            </a:r>
            <a:r>
              <a:rPr sz="2400" b="0" i="0" dirty="0">
                <a:solidFill>
                  <a:srgbClr val="17202A"/>
                </a:solidFill>
                <a:latin typeface="Segoe UI"/>
              </a:rPr>
              <a:t>] para </a:t>
            </a:r>
            <a:r>
              <a:rPr sz="2400" b="0" i="0" dirty="0" err="1">
                <a:solidFill>
                  <a:srgbClr val="17202A"/>
                </a:solidFill>
                <a:latin typeface="Segoe UI"/>
              </a:rPr>
              <a:t>chegar</a:t>
            </a:r>
            <a:r>
              <a:rPr sz="24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i="0" dirty="0" err="1">
                <a:solidFill>
                  <a:srgbClr val="17202A"/>
                </a:solidFill>
                <a:latin typeface="Segoe UI"/>
              </a:rPr>
              <a:t>ao</a:t>
            </a:r>
            <a:r>
              <a:rPr sz="2400" b="0" i="0" dirty="0">
                <a:solidFill>
                  <a:srgbClr val="17202A"/>
                </a:solidFill>
                <a:latin typeface="Segoe UI"/>
              </a:rPr>
              <a:t> valor.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pessoa = { nome: "Ana", idade: 30 };</a:t>
            </a:r>
            <a:endParaRPr lang="en-US" sz="2000"/>
          </a:p>
          <a:p>
            <a:endParaRPr lang="en-US" sz="2000"/>
          </a:p>
          <a:p>
            <a:r>
              <a:rPr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chave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in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pessoa) {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(pessoa[chave]);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sz="1700" b="0" i="0">
              <a:solidFill>
                <a:srgbClr val="17202A"/>
              </a:solidFill>
              <a:latin typeface="Consolas"/>
            </a:endParaRP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"Ana"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30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A notação com colchetes aceita uma chave guardada em variável.</a:t>
            </a:r>
            <a:endParaRPr lang="en-US"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for-in: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C2410C"/>
                </a:solidFill>
                <a:latin typeface="Segoe UI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5A6472"/>
                </a:solidFill>
                <a:latin typeface="Segoe UI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precos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= { arroz: 5,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feijao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: 9 };</a:t>
            </a:r>
            <a:endParaRPr lang="en-US" sz="1800" dirty="0"/>
          </a:p>
          <a:p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produto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in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precos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) {</a:t>
            </a:r>
          </a:p>
          <a:p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produto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lang="en-US" sz="1500" b="0" i="0" dirty="0">
                <a:solidFill>
                  <a:schemeClr val="bg1">
                    <a:lumMod val="65000"/>
                  </a:schemeClr>
                </a:solidFill>
                <a:latin typeface="Consolas"/>
              </a:rPr>
              <a:t>// "arroz"  // "</a:t>
            </a:r>
            <a:r>
              <a:rPr lang="en-US" sz="1500" b="0" i="0" dirty="0" err="1">
                <a:solidFill>
                  <a:schemeClr val="bg1">
                    <a:lumMod val="65000"/>
                  </a:schemeClr>
                </a:solidFill>
                <a:latin typeface="Consolas"/>
              </a:rPr>
              <a:t>feijao</a:t>
            </a:r>
            <a:r>
              <a:rPr lang="en-US" sz="1500" b="0" i="0" dirty="0">
                <a:solidFill>
                  <a:schemeClr val="bg1">
                    <a:lumMod val="65000"/>
                  </a:schemeClr>
                </a:solidFill>
                <a:latin typeface="Consolas"/>
              </a:rPr>
              <a:t>"</a:t>
            </a:r>
          </a:p>
          <a:p>
            <a:endParaRPr lang="en-US" sz="15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temperaturas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= [10, 20];</a:t>
            </a:r>
          </a:p>
          <a:p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posicao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in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temperaturas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) {</a:t>
            </a:r>
          </a:p>
          <a:p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posicao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lang="en-US" sz="1500" b="0" i="0" dirty="0">
                <a:solidFill>
                  <a:schemeClr val="bg1">
                    <a:lumMod val="65000"/>
                  </a:schemeClr>
                </a:solidFill>
                <a:latin typeface="Consolas"/>
              </a:rPr>
              <a:t>// "0"  // "1"</a:t>
            </a:r>
            <a:endParaRPr sz="1500" b="0" i="0" dirty="0">
              <a:solidFill>
                <a:schemeClr val="bg1">
                  <a:lumMod val="65000"/>
                </a:schemeClr>
              </a:solidFill>
              <a:latin typeface="Consolas"/>
            </a:endParaRP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precos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= { "arroz": 5, "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feijao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": 9 }</a:t>
            </a:r>
            <a:endParaRPr lang="en-US" sz="1800" dirty="0"/>
          </a:p>
          <a:p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produto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in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precos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:</a:t>
            </a:r>
          </a:p>
          <a:p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print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produto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)</a:t>
            </a:r>
          </a:p>
          <a:p>
            <a:endParaRPr lang="en-US" sz="15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500" b="0" i="0" dirty="0">
                <a:solidFill>
                  <a:schemeClr val="bg1">
                    <a:lumMod val="65000"/>
                  </a:schemeClr>
                </a:solidFill>
                <a:latin typeface="Consolas"/>
              </a:rPr>
              <a:t># arroz  # </a:t>
            </a:r>
            <a:r>
              <a:rPr lang="en-US" sz="1500" b="0" i="0" dirty="0" err="1">
                <a:solidFill>
                  <a:schemeClr val="bg1">
                    <a:lumMod val="65000"/>
                  </a:schemeClr>
                </a:solidFill>
                <a:latin typeface="Consolas"/>
              </a:rPr>
              <a:t>feijao</a:t>
            </a:r>
            <a:endParaRPr lang="en-US" sz="1500" b="0" i="0" dirty="0">
              <a:solidFill>
                <a:schemeClr val="bg1">
                  <a:lumMod val="65000"/>
                </a:schemeClr>
              </a:solidFill>
              <a:latin typeface="Consolas"/>
            </a:endParaRPr>
          </a:p>
          <a:p>
            <a:endParaRPr lang="en-US" sz="15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temperaturas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= [10, 20]</a:t>
            </a:r>
          </a:p>
          <a:p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posicao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in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range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len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temperaturas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)):</a:t>
            </a:r>
          </a:p>
          <a:p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print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posicao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)</a:t>
            </a:r>
          </a:p>
          <a:p>
            <a:endParaRPr lang="en-US" sz="15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500" b="0" i="0" dirty="0">
                <a:solidFill>
                  <a:schemeClr val="bg1">
                    <a:lumMod val="65000"/>
                  </a:schemeClr>
                </a:solidFill>
                <a:latin typeface="Consolas"/>
              </a:rPr>
              <a:t># 0  # 1</a:t>
            </a:r>
            <a:endParaRPr sz="1500" b="0" i="0" dirty="0">
              <a:solidFill>
                <a:schemeClr val="bg1">
                  <a:lumMod val="65000"/>
                </a:schemeClr>
              </a:solidFill>
              <a:latin typeface="Consola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Em dicionários o comportamento é o mesmo; em listas, Python usa range(len()).</a:t>
            </a:r>
            <a:endParaRPr lang="en-US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for-of: retorna o valor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O for-of entrega diretamente o conteúdo de cada posição, sem passar pelo índice.</a:t>
            </a:r>
            <a:endParaRPr lang="en-US"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O mesmo array, agora com for-of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Compare com o for-in do slide anterior.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nomes = ["Ana", "Bruno", "Caio"];</a:t>
            </a:r>
            <a:endParaRPr lang="en-US" sz="2000"/>
          </a:p>
          <a:p>
            <a:endParaRPr lang="en-US" sz="2000"/>
          </a:p>
          <a:p>
            <a:r>
              <a:rPr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valor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of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nomes) {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(valor);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sz="1700" b="0" i="0">
              <a:solidFill>
                <a:srgbClr val="17202A"/>
              </a:solidFill>
              <a:latin typeface="Consolas"/>
            </a:endParaRP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"Ana"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"Bruno"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"Caio"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Sem colchetes, sem índice: o valor já vem pronto.</a:t>
            </a:r>
            <a:endParaRPr lang="en-US"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in x of, lado a lado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Mesma lista, duas saídas bem diferentes.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700" b="0" i="0" dirty="0" err="1">
                <a:solidFill>
                  <a:srgbClr val="17202A"/>
                </a:solidFill>
                <a:latin typeface="Consolas"/>
              </a:rPr>
              <a:t>nomes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= ["Ana", "Bruno"];</a:t>
            </a:r>
            <a:endParaRPr lang="en-US" sz="2000" dirty="0"/>
          </a:p>
          <a:p>
            <a:endParaRPr lang="en-US" sz="2000" dirty="0"/>
          </a:p>
          <a:p>
            <a:r>
              <a:rPr sz="17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pt-BR" sz="1700" dirty="0">
                <a:solidFill>
                  <a:srgbClr val="17202A"/>
                </a:solidFill>
                <a:latin typeface="Consolas"/>
              </a:rPr>
              <a:t>ndices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in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700" b="0" i="0" dirty="0" err="1">
                <a:solidFill>
                  <a:srgbClr val="17202A"/>
                </a:solidFill>
                <a:latin typeface="Consolas"/>
              </a:rPr>
              <a:t>nomes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) 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pt-BR" sz="1700" b="0" i="0" dirty="0">
                <a:solidFill>
                  <a:srgbClr val="17202A"/>
                </a:solidFill>
                <a:latin typeface="Consolas"/>
              </a:rPr>
              <a:t>ndices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sz="1700" b="0" i="1" dirty="0">
                <a:solidFill>
                  <a:srgbClr val="5A6472"/>
                </a:solidFill>
                <a:latin typeface="Consolas"/>
              </a:rPr>
              <a:t>// 0</a:t>
            </a:r>
          </a:p>
          <a:p>
            <a:r>
              <a:rPr sz="1700" b="0" i="1" dirty="0">
                <a:solidFill>
                  <a:srgbClr val="5A6472"/>
                </a:solidFill>
                <a:latin typeface="Consolas"/>
              </a:rPr>
              <a:t>// 1</a:t>
            </a:r>
          </a:p>
          <a:p>
            <a:endParaRPr sz="1700" b="0" i="1" dirty="0">
              <a:solidFill>
                <a:srgbClr val="5A6472"/>
              </a:solidFill>
              <a:latin typeface="Consolas"/>
            </a:endParaRPr>
          </a:p>
          <a:p>
            <a:r>
              <a:rPr sz="17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v</a:t>
            </a:r>
            <a:r>
              <a:rPr lang="pt-BR" sz="1700" b="0" i="0" dirty="0">
                <a:solidFill>
                  <a:srgbClr val="17202A"/>
                </a:solidFill>
                <a:latin typeface="Consolas"/>
              </a:rPr>
              <a:t>alores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of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700" b="0" i="0" dirty="0" err="1">
                <a:solidFill>
                  <a:srgbClr val="17202A"/>
                </a:solidFill>
                <a:latin typeface="Consolas"/>
              </a:rPr>
              <a:t>nomes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) 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(v</a:t>
            </a:r>
            <a:r>
              <a:rPr lang="pt-BR" sz="1700" b="0" i="0" dirty="0">
                <a:solidFill>
                  <a:srgbClr val="17202A"/>
                </a:solidFill>
                <a:latin typeface="Consolas"/>
              </a:rPr>
              <a:t>alores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sz="1700" b="0" i="1" dirty="0">
                <a:solidFill>
                  <a:srgbClr val="5A6472"/>
                </a:solidFill>
                <a:latin typeface="Consolas"/>
              </a:rPr>
              <a:t>// "Ana"</a:t>
            </a:r>
          </a:p>
          <a:p>
            <a:r>
              <a:rPr sz="1700" b="0" i="1" dirty="0">
                <a:solidFill>
                  <a:srgbClr val="5A6472"/>
                </a:solidFill>
                <a:latin typeface="Consolas"/>
              </a:rPr>
              <a:t>// "Bruno"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in devolve a posição; of devolve o conteúdo.</a:t>
            </a:r>
            <a:endParaRPr lang="en-US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for-of: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C2410C"/>
                </a:solidFill>
                <a:latin typeface="Segoe UI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5A6472"/>
                </a:solidFill>
                <a:latin typeface="Segoe UI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alunos = ["Ana", "Bruno"];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aluno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of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alunos) {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(aluno);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800" b="0" i="0">
              <a:solidFill>
                <a:srgbClr val="17202A"/>
              </a:solidFill>
              <a:latin typeface="Consolas"/>
            </a:endParaRP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// "Ana"</a:t>
            </a: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// "Bruno"</a:t>
            </a:r>
            <a:endParaRPr sz="1800" b="0" i="0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0" i="0">
                <a:solidFill>
                  <a:srgbClr val="17202A"/>
                </a:solidFill>
                <a:latin typeface="Consolas"/>
              </a:rPr>
              <a:t>alunos = ["Ana", "Bruno"]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aluno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in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alunos: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print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(aluno)</a:t>
            </a:r>
          </a:p>
          <a:p>
            <a:endParaRPr lang="en-US" sz="1800" b="0" i="0">
              <a:solidFill>
                <a:srgbClr val="17202A"/>
              </a:solidFill>
              <a:latin typeface="Consolas"/>
            </a:endParaRP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# Ana</a:t>
            </a: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# Bruno</a:t>
            </a:r>
            <a:endParaRPr sz="1800" b="0" i="0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Python não separa in de of: o for tradicional de Python é o for-of do JS.</a:t>
            </a:r>
            <a:endParaRPr lang="en-US"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while: a condição vem antes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O while testa a condição antes de cada volta. Se ela já começar falsa, o bloco nunca executa.</a:t>
            </a:r>
            <a:endParaRPr lang="en-US"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while: contando até 3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Você mesmo cria e atualiza a variável de controle.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1;</a:t>
            </a:r>
            <a:endParaRPr lang="en-US" sz="2000" dirty="0"/>
          </a:p>
          <a:p>
            <a:endParaRPr lang="en-US" sz="2000" dirty="0"/>
          </a:p>
          <a:p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&lt;= 3) {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++;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7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700" b="0" i="1" dirty="0">
                <a:solidFill>
                  <a:srgbClr val="5A6472"/>
                </a:solidFill>
                <a:latin typeface="Consolas"/>
              </a:rPr>
              <a:t>// 1</a:t>
            </a:r>
          </a:p>
          <a:p>
            <a:r>
              <a:rPr lang="en-US" sz="1700" b="0" i="1" dirty="0">
                <a:solidFill>
                  <a:srgbClr val="5A6472"/>
                </a:solidFill>
                <a:latin typeface="Consolas"/>
              </a:rPr>
              <a:t>// 2</a:t>
            </a:r>
          </a:p>
          <a:p>
            <a:r>
              <a:rPr lang="en-US" sz="1700" b="0" i="1" dirty="0">
                <a:solidFill>
                  <a:srgbClr val="5A6472"/>
                </a:solidFill>
                <a:latin typeface="Consolas"/>
              </a:rPr>
              <a:t>// 3</a:t>
            </a:r>
            <a:endParaRPr sz="1700" b="0" i="1" dirty="0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Início, condição e passo ficam em três lugares diferentes.</a:t>
            </a:r>
            <a:endParaRPr lang="en-US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while: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C2410C"/>
                </a:solidFill>
                <a:latin typeface="Segoe UI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5A6472"/>
                </a:solidFill>
                <a:latin typeface="Segoe UI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800" b="0" i="0" dirty="0" err="1">
                <a:solidFill>
                  <a:srgbClr val="17202A"/>
                </a:solidFill>
                <a:latin typeface="Consolas"/>
              </a:rPr>
              <a:t>contador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 = 1;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i="0" dirty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800" b="0" i="0" dirty="0" err="1">
                <a:solidFill>
                  <a:srgbClr val="17202A"/>
                </a:solidFill>
                <a:latin typeface="Consolas"/>
              </a:rPr>
              <a:t>contador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 &lt;= 3) {</a:t>
            </a:r>
          </a:p>
          <a:p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8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800" b="0" i="0" dirty="0" err="1">
                <a:solidFill>
                  <a:srgbClr val="17202A"/>
                </a:solidFill>
                <a:latin typeface="Consolas"/>
              </a:rPr>
              <a:t>contador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0" i="0" dirty="0" err="1">
                <a:solidFill>
                  <a:srgbClr val="17202A"/>
                </a:solidFill>
                <a:latin typeface="Consolas"/>
              </a:rPr>
              <a:t>contador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++;</a:t>
            </a:r>
          </a:p>
          <a:p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8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800" b="0" i="1" dirty="0">
                <a:solidFill>
                  <a:srgbClr val="5A6472"/>
                </a:solidFill>
                <a:latin typeface="Consolas"/>
              </a:rPr>
              <a:t>// 1  // 2  // 3</a:t>
            </a:r>
            <a:endParaRPr sz="1800" b="0" i="0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0" i="0">
                <a:solidFill>
                  <a:srgbClr val="17202A"/>
                </a:solidFill>
                <a:latin typeface="Consolas"/>
              </a:rPr>
              <a:t>contador = 1</a:t>
            </a:r>
            <a:endParaRPr lang="en-US" sz="1800"/>
          </a:p>
          <a:p>
            <a:endParaRPr lang="en-US" sz="180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contador &lt;= 3: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print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(contador)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contador += 1</a:t>
            </a:r>
          </a:p>
          <a:p>
            <a:endParaRPr lang="en-US" sz="1800" b="0" i="0">
              <a:solidFill>
                <a:srgbClr val="17202A"/>
              </a:solidFill>
              <a:latin typeface="Consolas"/>
            </a:endParaRP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# 1  # 2  # 3</a:t>
            </a:r>
            <a:endParaRPr sz="1800" b="0" i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Praticamente a mesma sintaxe: trocam-se as chaves pela indentação.</a:t>
            </a:r>
            <a:endParaRPr lang="en-US"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Para discutir em aula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O que acontece se o incremento for esquecido dentro do while?</a:t>
            </a:r>
            <a:endParaRPr lang="en-US"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15EF-1733-958D-AAFE-DF8668F41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73B670-9ACE-0A42-F9D4-7706E34E5DF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while: contando até 3</a:t>
            </a:r>
            <a:endParaRPr lang="en-US" sz="340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1459F31F-2992-C90A-E27D-6B5CCE21E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A79BCC-3CB4-921F-A1D1-371E405A0B84}"/>
              </a:ext>
            </a:extLst>
          </p:cNvPr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0" i="0" dirty="0">
                <a:solidFill>
                  <a:srgbClr val="17202A"/>
                </a:solidFill>
                <a:latin typeface="Segoe UI"/>
              </a:rPr>
              <a:t>O que acontecerá?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FF2B5EF4-FFF2-40B4-BE49-F238E27FC236}">
                <a16:creationId xmlns:a16="http://schemas.microsoft.com/office/drawing/2014/main" id="{16735CFF-CFC3-1BF8-C063-13A902FA8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511DC5-95DA-0AEC-3627-F7678D94625B}"/>
              </a:ext>
            </a:extLst>
          </p:cNvPr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1;</a:t>
            </a:r>
            <a:endParaRPr lang="en-US" sz="2000" dirty="0"/>
          </a:p>
          <a:p>
            <a:endParaRPr lang="en-US" sz="2000" dirty="0"/>
          </a:p>
          <a:p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&lt;= 3) {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700" b="0" i="0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CCC7294-606B-5004-8B95-DD0DD907CE0A}"/>
              </a:ext>
            </a:extLst>
          </p:cNvPr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900" b="0" i="1" dirty="0">
                <a:solidFill>
                  <a:srgbClr val="5A6472"/>
                </a:solidFill>
                <a:latin typeface="Segoe UI"/>
              </a:rPr>
              <a:t>Quando o laço será encerrado?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644684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do-while executa pelo menos uma vez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No do-while a condição só é testada depois que o bloco já rodou uma vez.</a:t>
            </a:r>
            <a:endParaRPr lang="en-US" sz="3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do-while: sintaxe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Repare no ponto e vírgula no final da linha do while.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contador = 1;</a:t>
            </a:r>
            <a:endParaRPr lang="en-US" sz="2000"/>
          </a:p>
          <a:p>
            <a:endParaRPr lang="en-US" sz="2000"/>
          </a:p>
          <a:p>
            <a:r>
              <a:rPr lang="en-US" sz="1700" b="1" i="0">
                <a:solidFill>
                  <a:srgbClr val="C2410C"/>
                </a:solidFill>
                <a:latin typeface="Consolas"/>
              </a:rPr>
              <a:t>do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(contador);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  contador++;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}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(contador &lt;= 3);</a:t>
            </a:r>
          </a:p>
          <a:p>
            <a:endParaRPr lang="en-US" sz="1700" b="0" i="0">
              <a:solidFill>
                <a:srgbClr val="17202A"/>
              </a:solidFill>
              <a:latin typeface="Consolas"/>
            </a:endParaRPr>
          </a:p>
          <a:p>
            <a:r>
              <a:rPr lang="en-US" sz="1700" b="0" i="1">
                <a:solidFill>
                  <a:srgbClr val="5A6472"/>
                </a:solidFill>
                <a:latin typeface="Consolas"/>
              </a:rPr>
              <a:t>// 1</a:t>
            </a:r>
          </a:p>
          <a:p>
            <a:r>
              <a:rPr lang="en-US" sz="1700" b="0" i="1">
                <a:solidFill>
                  <a:srgbClr val="5A6472"/>
                </a:solidFill>
                <a:latin typeface="Consolas"/>
              </a:rPr>
              <a:t>// 2</a:t>
            </a:r>
          </a:p>
          <a:p>
            <a:r>
              <a:rPr lang="en-US" sz="1700" b="0" i="1">
                <a:solidFill>
                  <a:srgbClr val="5A6472"/>
                </a:solidFill>
                <a:latin typeface="Consolas"/>
              </a:rPr>
              <a:t>// 3</a:t>
            </a:r>
            <a:endParaRPr sz="1700" b="0" i="1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Com essa condição o resultado é igual ao do while comum.</a:t>
            </a:r>
            <a:endParaRPr lang="en-US" sz="1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Quando a condição já começa falsa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C2410C"/>
                </a:solidFill>
                <a:latin typeface="Segoe UI"/>
              </a:rPr>
              <a:t>while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5A6472"/>
                </a:solidFill>
                <a:latin typeface="Segoe UI"/>
              </a:rPr>
              <a:t>do-while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contador = 5;</a:t>
            </a:r>
            <a:endParaRPr lang="en-US" sz="1800"/>
          </a:p>
          <a:p>
            <a:endParaRPr lang="en-US" sz="180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(contador &lt; 5) {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(contador);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contador++;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800" b="0" i="0">
              <a:solidFill>
                <a:srgbClr val="17202A"/>
              </a:solidFill>
              <a:latin typeface="Consolas"/>
            </a:endParaRP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// (nada)</a:t>
            </a:r>
            <a:endParaRPr sz="1800" b="0" i="1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contador = 5;</a:t>
            </a:r>
            <a:endParaRPr lang="en-US" sz="1800"/>
          </a:p>
          <a:p>
            <a:endParaRPr lang="en-US" sz="180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do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(contador);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contador++;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(contador &lt; 5);</a:t>
            </a:r>
          </a:p>
          <a:p>
            <a:endParaRPr lang="en-US" sz="1800" b="0" i="0">
              <a:solidFill>
                <a:srgbClr val="17202A"/>
              </a:solidFill>
              <a:latin typeface="Consolas"/>
            </a:endParaRP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// 5</a:t>
            </a:r>
            <a:endParaRPr sz="1800" b="0" i="1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Mesma variável, mesma condição: o while não roda; o do-while roda uma vez.</a:t>
            </a:r>
            <a:endParaRPr lang="en-US" sz="1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do-while: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C2410C"/>
                </a:solidFill>
                <a:latin typeface="Segoe UI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5A6472"/>
                </a:solidFill>
                <a:latin typeface="Segoe UI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contador = 5;</a:t>
            </a:r>
            <a:endParaRPr lang="en-US" sz="1800"/>
          </a:p>
          <a:p>
            <a:endParaRPr lang="en-US" sz="180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do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(contador);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contador++;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(contador &lt; 5);</a:t>
            </a:r>
          </a:p>
          <a:p>
            <a:endParaRPr lang="en-US" sz="1800" b="0" i="0">
              <a:solidFill>
                <a:srgbClr val="17202A"/>
              </a:solidFill>
              <a:latin typeface="Consolas"/>
            </a:endParaRP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// 5</a:t>
            </a:r>
            <a:endParaRPr sz="1800" b="0" i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0" i="0">
                <a:solidFill>
                  <a:srgbClr val="17202A"/>
                </a:solidFill>
                <a:latin typeface="Consolas"/>
              </a:rPr>
              <a:t>contador = 5</a:t>
            </a:r>
            <a:endParaRPr lang="en-US" sz="1800"/>
          </a:p>
          <a:p>
            <a:endParaRPr lang="en-US" sz="180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True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: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print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(contador)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contador += 1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contador &gt;= 5: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break</a:t>
            </a:r>
          </a:p>
          <a:p>
            <a:endParaRPr lang="en-US" sz="1800" b="1" i="0">
              <a:solidFill>
                <a:srgbClr val="C2410C"/>
              </a:solidFill>
              <a:latin typeface="Consolas"/>
            </a:endParaRP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# 5</a:t>
            </a:r>
            <a:endParaRPr sz="1800" b="1" i="0">
              <a:solidFill>
                <a:srgbClr val="C2410C"/>
              </a:solidFill>
              <a:latin typeface="Consola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Python não tem do-while: simula-se com while True e um break no final.</a:t>
            </a:r>
            <a:endParaRPr lang="en-US" sz="1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break e continue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continue pula para a próxima volta; break encerra o laço inteiro.</a:t>
            </a:r>
            <a:endParaRPr lang="en-US" sz="3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continue: pulando um valor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O restante do bloco não roda naquela volta.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numeros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[1, 2, 3, 4, 5];</a:t>
            </a:r>
            <a:endParaRPr lang="en-US" sz="2000" dirty="0"/>
          </a:p>
          <a:p>
            <a:endParaRPr lang="en-US" sz="2000" dirty="0"/>
          </a:p>
          <a:p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of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numeros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 {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=== 3)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continue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7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700" b="0" i="1" dirty="0">
                <a:solidFill>
                  <a:srgbClr val="5A6472"/>
                </a:solidFill>
                <a:latin typeface="Consolas"/>
              </a:rPr>
              <a:t>// 1  // 2  // 4  // 5</a:t>
            </a:r>
            <a:endParaRPr sz="1700" b="0" i="1" dirty="0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O 3 é ignorado, mas o laço continua normalmente.</a:t>
            </a:r>
            <a:endParaRPr lang="en-US" sz="1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break: encerrando o laço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Ao encontrar o valor, o laço para de vez.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numeros = [1, 2, 3, 4, 5];</a:t>
            </a:r>
            <a:endParaRPr lang="en-US" sz="2000"/>
          </a:p>
          <a:p>
            <a:endParaRPr lang="en-US" sz="2000"/>
          </a:p>
          <a:p>
            <a:r>
              <a:rPr lang="en-US"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numero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of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numeros) {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(numero === 4)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(numero);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700" b="0" i="0">
              <a:solidFill>
                <a:srgbClr val="17202A"/>
              </a:solidFill>
              <a:latin typeface="Consolas"/>
            </a:endParaRPr>
          </a:p>
          <a:p>
            <a:r>
              <a:rPr lang="en-US" sz="1700" b="0" i="1">
                <a:solidFill>
                  <a:srgbClr val="5A6472"/>
                </a:solidFill>
                <a:latin typeface="Consolas"/>
              </a:rPr>
              <a:t>// 1  // 2  // 3</a:t>
            </a:r>
            <a:endParaRPr sz="1700" b="0" i="1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O 4 e o 5 nunca chegam a ser impressos.</a:t>
            </a:r>
            <a:endParaRPr lang="en-US" sz="1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Os dois no mesmo laço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Pula o 3 e para no 5.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numeros = [1, 2, 3, 4, 5];</a:t>
            </a:r>
            <a:endParaRPr lang="en-US" sz="2000"/>
          </a:p>
          <a:p>
            <a:endParaRPr lang="en-US" sz="2000"/>
          </a:p>
          <a:p>
            <a:r>
              <a:rPr lang="en-US"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numero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of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numeros) {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(numero === 3)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continue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(numero === 5)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(numero);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700" b="0" i="0">
              <a:solidFill>
                <a:srgbClr val="17202A"/>
              </a:solidFill>
              <a:latin typeface="Consolas"/>
            </a:endParaRPr>
          </a:p>
          <a:p>
            <a:r>
              <a:rPr lang="en-US" sz="1700" b="0" i="1">
                <a:solidFill>
                  <a:srgbClr val="5A6472"/>
                </a:solidFill>
                <a:latin typeface="Consolas"/>
              </a:rPr>
              <a:t>// 1  // 2  // 4</a:t>
            </a:r>
            <a:endParaRPr sz="1700" b="0" i="1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continue salta uma volta; break sai do laço.</a:t>
            </a:r>
            <a:endParaRPr lang="en-US" sz="1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break e continue: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C2410C"/>
                </a:solidFill>
                <a:latin typeface="Segoe UI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5A6472"/>
                </a:solidFill>
                <a:latin typeface="Segoe UI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numeros = [1, 2, 3, 4, 5];</a:t>
            </a:r>
            <a:endParaRPr lang="en-US" sz="180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numero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of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numeros) {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(numero === 3)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continue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(numero === 5)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(numero);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// 1  // 2  // 4</a:t>
            </a:r>
            <a:endParaRPr sz="1800" b="0" i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0" i="0">
                <a:solidFill>
                  <a:srgbClr val="17202A"/>
                </a:solidFill>
                <a:latin typeface="Consolas"/>
              </a:rPr>
              <a:t>numeros = [1, 2, 3, 4, 5]</a:t>
            </a:r>
            <a:endParaRPr lang="en-US" sz="180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numero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in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numeros: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numero == 3: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continue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numero == 5: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break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print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(numero)</a:t>
            </a: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# 1  # 2  # 4</a:t>
            </a:r>
            <a:endParaRPr sz="1800" b="0" i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Mesmo nome e mesmo comportamento: um dos raros pontos idênticos entre as duas linguagens.</a:t>
            </a:r>
            <a:endParaRPr lang="en-US" sz="1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O mesmo exemplo com while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Agora o índice é controlado à mão.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numeros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[1, 2, 3, 4, 5];</a:t>
            </a:r>
            <a:endParaRPr lang="en-US" sz="2000" dirty="0"/>
          </a:p>
          <a:p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0;</a:t>
            </a:r>
          </a:p>
          <a:p>
            <a:endParaRPr lang="en-US" sz="17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&lt;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numeros.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length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 {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numeros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[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];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++;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=== 3)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continue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=== 5)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break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7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700" b="0" i="1" dirty="0">
                <a:solidFill>
                  <a:srgbClr val="5A6472"/>
                </a:solidFill>
                <a:latin typeface="Consolas"/>
              </a:rPr>
              <a:t>// 1  // 2  // 4</a:t>
            </a:r>
            <a:endParaRPr sz="1700" b="0" i="1" dirty="0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O incremento aparece antes dos testes, e não no final do bloco.</a:t>
            </a:r>
            <a:endParaRPr lang="en-US" sz="1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Ponto de atenção no while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Com continue dentro de um while, incremente a variável de controle ANTES do continue — senão o laço nunca avança e trava.</a:t>
            </a:r>
            <a:endParaRPr lang="en-US" sz="3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D8BAD-F562-04CB-8AA3-BDF2865F8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111499DC-290B-B874-BC6A-8CB22932F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76BE4AF-14FF-7187-74C6-8794CBC42D11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 err="1"/>
              <a:t>Introdução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DOM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1F3986-56FD-DB25-62AB-FAEF0DC0AD06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146522-3313-468D-DA5A-D3E1CA43172D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6 – Modelo de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</a:t>
            </a: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021853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 dirty="0">
                <a:solidFill>
                  <a:srgbClr val="17202A"/>
                </a:solidFill>
                <a:latin typeface="Segoe UI"/>
              </a:rPr>
              <a:t>DOM: Document Object Model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É a representação da página HTML como estrutura de dados, que o JavaScript pode ler e modificar em tempo real.</a:t>
            </a:r>
            <a:endParaRPr lang="en-US" sz="3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Por que manipular o DOM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A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página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reage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ao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usuário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sem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precisar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recarregar</a:t>
            </a:r>
            <a:endParaRPr sz="2600" b="0" i="0" dirty="0">
              <a:solidFill>
                <a:srgbClr val="17202A"/>
              </a:solidFill>
              <a:latin typeface="Segoe UI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O JS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lê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,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cria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, altera e remove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elementos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ao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vivo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É um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recurso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do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navegador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,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sem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equivalente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em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Python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Você já usava DOM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O exemplo das aulas anteriores, agora com nome.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 dirty="0" err="1">
                <a:solidFill>
                  <a:srgbClr val="C2410C"/>
                </a:solidFill>
                <a:latin typeface="Consolas"/>
              </a:rPr>
              <a:t>document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.body.innerHTML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= "&lt;h1&gt;Olá&lt;/h1&gt;";</a:t>
            </a:r>
            <a:endParaRPr lang="en-US" sz="2000" dirty="0"/>
          </a:p>
          <a:p>
            <a:endParaRPr lang="en-US" sz="2000" dirty="0"/>
          </a:p>
          <a:p>
            <a:r>
              <a:rPr sz="2000" b="0" i="1" dirty="0">
                <a:solidFill>
                  <a:srgbClr val="5A6472"/>
                </a:solidFill>
                <a:latin typeface="Consolas"/>
              </a:rPr>
              <a:t>// o </a:t>
            </a:r>
            <a:r>
              <a:rPr sz="2000" b="0" i="1" dirty="0" err="1">
                <a:solidFill>
                  <a:srgbClr val="5A6472"/>
                </a:solidFill>
                <a:latin typeface="Consolas"/>
              </a:rPr>
              <a:t>texto</a:t>
            </a:r>
            <a:r>
              <a:rPr sz="2000" b="0" i="1" dirty="0">
                <a:solidFill>
                  <a:srgbClr val="5A6472"/>
                </a:solidFill>
                <a:latin typeface="Consolas"/>
              </a:rPr>
              <a:t> da </a:t>
            </a:r>
            <a:r>
              <a:rPr sz="2000" b="0" i="1" dirty="0" err="1">
                <a:solidFill>
                  <a:srgbClr val="5A6472"/>
                </a:solidFill>
                <a:latin typeface="Consolas"/>
              </a:rPr>
              <a:t>página</a:t>
            </a:r>
            <a:r>
              <a:rPr sz="2000" b="0" i="1" dirty="0">
                <a:solidFill>
                  <a:srgbClr val="5A6472"/>
                </a:solidFill>
                <a:latin typeface="Consolas"/>
              </a:rPr>
              <a:t> </a:t>
            </a:r>
            <a:r>
              <a:rPr sz="2000" b="0" i="1" dirty="0" err="1">
                <a:solidFill>
                  <a:srgbClr val="5A6472"/>
                </a:solidFill>
                <a:latin typeface="Consolas"/>
              </a:rPr>
              <a:t>muda</a:t>
            </a:r>
            <a:r>
              <a:rPr sz="2000" b="0" i="1" dirty="0">
                <a:solidFill>
                  <a:srgbClr val="5A6472"/>
                </a:solidFill>
                <a:latin typeface="Consolas"/>
              </a:rPr>
              <a:t> </a:t>
            </a:r>
            <a:r>
              <a:rPr sz="2000" b="0" i="1" dirty="0" err="1">
                <a:solidFill>
                  <a:srgbClr val="5A6472"/>
                </a:solidFill>
                <a:latin typeface="Consolas"/>
              </a:rPr>
              <a:t>na</a:t>
            </a:r>
            <a:r>
              <a:rPr sz="2000" b="0" i="1" dirty="0">
                <a:solidFill>
                  <a:srgbClr val="5A6472"/>
                </a:solidFill>
                <a:latin typeface="Consolas"/>
              </a:rPr>
              <a:t> hora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innerHTML troca o conteúdo inteiro do elemento.</a:t>
            </a:r>
            <a:endParaRPr lang="en-US" sz="19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Selecionando com querySelector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Aceita a mesma sintaxe de seletor do CSS.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0" i="1" dirty="0">
                <a:solidFill>
                  <a:srgbClr val="5A6472"/>
                </a:solidFill>
                <a:latin typeface="Consolas"/>
              </a:rPr>
              <a:t>// &lt;section class="container"&gt;&lt;/section&gt;</a:t>
            </a:r>
            <a:endParaRPr lang="en-US" sz="2000" dirty="0"/>
          </a:p>
          <a:p>
            <a:endParaRPr lang="en-US" sz="2000" dirty="0"/>
          </a:p>
          <a:p>
            <a:r>
              <a:rPr sz="20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pt-BR" sz="2000" b="0" i="0" dirty="0">
                <a:solidFill>
                  <a:srgbClr val="17202A"/>
                </a:solidFill>
                <a:latin typeface="Consolas"/>
              </a:rPr>
              <a:t>container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=</a:t>
            </a:r>
          </a:p>
          <a:p>
            <a:r>
              <a:rPr sz="20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 dirty="0" err="1">
                <a:solidFill>
                  <a:srgbClr val="C2410C"/>
                </a:solidFill>
                <a:latin typeface="Consolas"/>
              </a:rPr>
              <a:t>document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 dirty="0" err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(".container");</a:t>
            </a:r>
          </a:p>
          <a:p>
            <a:endParaRPr sz="2000" b="0" i="0" dirty="0">
              <a:solidFill>
                <a:srgbClr val="17202A"/>
              </a:solidFill>
              <a:latin typeface="Consolas"/>
            </a:endParaRPr>
          </a:p>
          <a:p>
            <a:r>
              <a:rPr sz="20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pt-BR" sz="2000" b="0" i="0" dirty="0">
                <a:solidFill>
                  <a:srgbClr val="17202A"/>
                </a:solidFill>
                <a:latin typeface="Consolas"/>
              </a:rPr>
              <a:t>container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); </a:t>
            </a:r>
            <a:r>
              <a:rPr sz="2000" b="0" i="1" dirty="0">
                <a:solidFill>
                  <a:srgbClr val="5A6472"/>
                </a:solidFill>
                <a:latin typeface="Consolas"/>
              </a:rPr>
              <a:t>// &lt;section class="container"&gt;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Ponto para classe, # para id: igual ao CSS.</a:t>
            </a:r>
            <a:endParaRPr lang="en-US" sz="1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Criando um elemento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Três passos: criar, criar o texto e inserir.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titulo =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document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createElement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("h1");</a:t>
            </a:r>
            <a:endParaRPr lang="en-US" sz="2000"/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texto =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document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createTextNode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("Olá!");</a:t>
            </a:r>
          </a:p>
          <a:p>
            <a:endParaRPr sz="2000" b="0" i="0">
              <a:solidFill>
                <a:srgbClr val="17202A"/>
              </a:solidFill>
              <a:latin typeface="Consolas"/>
            </a:endParaRP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titulo.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appendChild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(texto);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container.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appendChild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(titulo);</a:t>
            </a:r>
          </a:p>
          <a:p>
            <a:endParaRPr sz="2000" b="0" i="0">
              <a:solidFill>
                <a:srgbClr val="17202A"/>
              </a:solidFill>
              <a:latin typeface="Consolas"/>
            </a:endParaRPr>
          </a:p>
          <a:p>
            <a:r>
              <a:rPr sz="2000" b="0" i="1">
                <a:solidFill>
                  <a:srgbClr val="5A6472"/>
                </a:solidFill>
                <a:latin typeface="Consolas"/>
              </a:rPr>
              <a:t>// &lt;h1&gt;Olá!&lt;/h1&gt; aparece dentro da section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Sem o appendChild, o elemento existe mas não está na página.</a:t>
            </a:r>
            <a:endParaRPr lang="en-US" sz="19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Exemplo integrador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Array de objetos + for clássico + as três funções de DOM.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itens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[</a:t>
            </a:r>
            <a:endParaRPr lang="en-US" sz="2000" dirty="0"/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{ tag: "h1",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texto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: "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Título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" },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{ tag: "p",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texto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: "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Parágrafo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" }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];</a:t>
            </a:r>
          </a:p>
          <a:p>
            <a:endParaRPr lang="en-US" sz="17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0;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&lt;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itens.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length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;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++) {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{ tag,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texto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} =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itens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[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];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elemento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document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createElement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(tag);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elemento.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appendChild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document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createTextNode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texto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));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container.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appendChild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elemento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}</a:t>
            </a:r>
            <a:endParaRPr sz="1700" b="0" i="0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Desestruturação dentro do laço: cada objeto vira um elemento na página.</a:t>
            </a:r>
            <a:endParaRPr lang="en-US" sz="19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Para levar da aula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for-in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dá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chaves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/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índices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(string); for-of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dá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valores</a:t>
            </a:r>
            <a:endParaRPr sz="2600" b="0" i="0" dirty="0">
              <a:solidFill>
                <a:srgbClr val="17202A"/>
              </a:solidFill>
              <a:latin typeface="Segoe UI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while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testa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antes; do-while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executa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pelo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menos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uma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vez</a:t>
            </a:r>
            <a:endParaRPr sz="2600" b="0" i="0" dirty="0">
              <a:solidFill>
                <a:srgbClr val="17202A"/>
              </a:solidFill>
              <a:latin typeface="Segoe UI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No while,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incremente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antes do continue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DOM: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querySelector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,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createElement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,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appendChild</a:t>
            </a:r>
            <a:endParaRPr sz="2600" b="0" i="0" dirty="0">
              <a:solidFill>
                <a:srgbClr val="17202A"/>
              </a:solidFill>
              <a:latin typeface="Segoe UI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A tag &lt;script&gt;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vai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no final do &lt;body&gt;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AF940A41E02B42AE989720C36A0380" ma:contentTypeVersion="3" ma:contentTypeDescription="Crie um novo documento." ma:contentTypeScope="" ma:versionID="58a81bc2cede1cefcdcd416810de458e">
  <xsd:schema xmlns:xsd="http://www.w3.org/2001/XMLSchema" xmlns:xs="http://www.w3.org/2001/XMLSchema" xmlns:p="http://schemas.microsoft.com/office/2006/metadata/properties" xmlns:ns2="dd5b9d87-8382-4c7f-9963-6784ff2ca28b" targetNamespace="http://schemas.microsoft.com/office/2006/metadata/properties" ma:root="true" ma:fieldsID="3acdcd2488b6d76b9fdefbf59e09d87a" ns2:_="">
    <xsd:import namespace="dd5b9d87-8382-4c7f-9963-6784ff2ca2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9d87-8382-4c7f-9963-6784ff2ca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34C714A-C0B7-496A-A59B-A90274E13A65}"/>
</file>

<file path=customXml/itemProps2.xml><?xml version="1.0" encoding="utf-8"?>
<ds:datastoreItem xmlns:ds="http://schemas.openxmlformats.org/officeDocument/2006/customXml" ds:itemID="{DAACD494-8CB9-4F1E-BBC0-BBDED95C1965}"/>
</file>

<file path=customXml/itemProps3.xml><?xml version="1.0" encoding="utf-8"?>
<ds:datastoreItem xmlns:ds="http://schemas.openxmlformats.org/officeDocument/2006/customXml" ds:itemID="{D124A0E1-CDBF-4DAC-9E3C-0F897A0313D0}"/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2142</Words>
  <Application>Microsoft Office PowerPoint</Application>
  <PresentationFormat>Widescreen</PresentationFormat>
  <Paragraphs>367</Paragraphs>
  <Slides>37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Consolas</vt:lpstr>
      <vt:lpstr>Segoe UI</vt:lpstr>
      <vt:lpstr>Office Theme</vt:lpstr>
      <vt:lpstr>JavaScript: outros for, laços while</vt:lpstr>
      <vt:lpstr>Além do for clássico</vt:lpstr>
      <vt:lpstr>for-in: retorna a chave</vt:lpstr>
      <vt:lpstr>for-in em um array</vt:lpstr>
      <vt:lpstr>Atenção: o índice é string</vt:lpstr>
      <vt:lpstr>Usando o índice para pegar o valor</vt:lpstr>
      <vt:lpstr>for-in em um objeto: as chaves</vt:lpstr>
      <vt:lpstr>for-in em um objeto: os valores</vt:lpstr>
      <vt:lpstr>for-in: JS x Python</vt:lpstr>
      <vt:lpstr>for-of: retorna o valor</vt:lpstr>
      <vt:lpstr>O mesmo array, agora com for-of</vt:lpstr>
      <vt:lpstr>in x of, lado a lado</vt:lpstr>
      <vt:lpstr>for-of: JS x Python</vt:lpstr>
      <vt:lpstr>while: a condição vem antes</vt:lpstr>
      <vt:lpstr>while: contando até 3</vt:lpstr>
      <vt:lpstr>while: JS x Python</vt:lpstr>
      <vt:lpstr>Para discutir em aula</vt:lpstr>
      <vt:lpstr>while: contando até 3</vt:lpstr>
      <vt:lpstr>do-while executa pelo menos uma vez</vt:lpstr>
      <vt:lpstr>do-while: sintaxe</vt:lpstr>
      <vt:lpstr>Quando a condição já começa falsa</vt:lpstr>
      <vt:lpstr>do-while: JS x Python</vt:lpstr>
      <vt:lpstr>break e continue</vt:lpstr>
      <vt:lpstr>continue: pulando um valor</vt:lpstr>
      <vt:lpstr>break: encerrando o laço</vt:lpstr>
      <vt:lpstr>Os dois no mesmo laço</vt:lpstr>
      <vt:lpstr>break e continue: JS x Python</vt:lpstr>
      <vt:lpstr>O mesmo exemplo com while</vt:lpstr>
      <vt:lpstr>Ponto de atenção no while</vt:lpstr>
      <vt:lpstr>Introdução ao DOM</vt:lpstr>
      <vt:lpstr>DOM: Document Object Model</vt:lpstr>
      <vt:lpstr>Por que manipular o DOM</vt:lpstr>
      <vt:lpstr>Você já usava DOM</vt:lpstr>
      <vt:lpstr>Selecionando com querySelector</vt:lpstr>
      <vt:lpstr>Criando um elemento</vt:lpstr>
      <vt:lpstr>Exemplo integrador</vt:lpstr>
      <vt:lpstr>Para levar da aula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Flávio Waltz</dc:creator>
  <cp:lastModifiedBy>Flávio Waltz</cp:lastModifiedBy>
  <cp:revision>23</cp:revision>
  <dcterms:created xsi:type="dcterms:W3CDTF">2026-08-06T13:47:07Z</dcterms:created>
  <dcterms:modified xsi:type="dcterms:W3CDTF">2026-09-02T15:21:42Z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0x01010067AF940A41E02B42AE989720C36A0380</vt:lpwstr>
  </property>
</Properties>
</file>