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7"/>
  </p:notesMasterIdLst>
  <p:sldIdLst>
    <p:sldId id="289" r:id="rId5"/>
    <p:sldId id="285" r:id="rId6"/>
    <p:sldId id="286" r:id="rId7"/>
    <p:sldId id="287" r:id="rId8"/>
    <p:sldId id="288" r:id="rId9"/>
    <p:sldId id="284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F574C-23B5-4E3D-8553-85DE2C441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0F92BA-E2D6-CFFA-D297-CA741A16EF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5A9995-77CF-D49E-1590-E5EB446FB3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DA8C1-ACE3-6906-C6CF-C88D27C8B0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508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D789D-0CCD-1075-EA4F-217CBDE58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A7DD3E-3937-61FA-4D16-D87376BCBB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E3C8B6-5B10-AD13-EAF6-6132AAC26B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170FA-8C7D-1881-609C-67E162BA1A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9295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85DB4-892C-739E-80E2-601602051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F4A3C6-C9ED-66DE-421B-A78F88E172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218525-30B2-5749-C828-E470C55CF8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B54175-893D-8DA0-18C3-F1865AB4A0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9381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AA945-0E4A-CBCE-70BF-F9821F231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192DE8-401D-8A89-BDB6-741AE29E20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0DA23A-79C2-C635-1D79-DD177F9F94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09A26A-1343-5CEC-F80C-6ABD4D77CE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113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BDE12-A2A8-54E8-1AFA-08C6B58DA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3E2584-5992-F431-EB89-CD7C6FA3C9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5AB07A-6197-A8EB-6357-5A63861A3B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D376F-17A1-EFDF-D90E-9ADEEF3BB7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5426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09EC7-262A-8577-F604-64D3B1F60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4972FA-096B-229B-E834-62AB210893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12C7A3-B127-EA11-9D03-5FF4482240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030B6B-19AC-620B-E486-A2130692D7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9232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103120"/>
            <a:ext cx="1051560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6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buNone/>
            </a:pPr>
            <a:endParaRPr lang="en-US" sz="46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buNone/>
            </a:pPr>
            <a:endParaRPr lang="en-US" sz="34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7776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76AF1-ED21-E450-EEE8-4FE1FF2D9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ha de acento">
            <a:extLst>
              <a:ext uri="{FF2B5EF4-FFF2-40B4-BE49-F238E27FC236}">
                <a16:creationId xmlns:a16="http://schemas.microsoft.com/office/drawing/2014/main" id="{F84A13F1-C2F4-395B-E4CA-D5F703CB2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1737360"/>
            <a:ext cx="2011680" cy="9144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B5F85E41-B02A-DDAB-D2B3-130B9461B277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822960" y="210312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plano para </a:t>
            </a:r>
            <a:r>
              <a:rPr lang="en-US" sz="4600" b="1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este</a:t>
            </a:r>
            <a:r>
              <a:rPr lang="en-US" sz="46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4600" b="1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semestre</a:t>
            </a:r>
            <a:endParaRPr lang="en-US" sz="4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AFB1454-EF1C-430C-2FDB-30B94C47379C}"/>
              </a:ext>
            </a:extLst>
          </p:cNvPr>
          <p:cNvSpPr/>
          <p:nvPr/>
        </p:nvSpPr>
        <p:spPr>
          <a:xfrm>
            <a:off x="822960" y="3749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Desenvolvimento Web/Mobile • Análise e Desenvolvimento de Sistemas</a:t>
            </a:r>
            <a:endParaRPr lang="en-US" sz="2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11CA7D3-3F3E-1C6E-23F0-ED03E8E79A8A}"/>
              </a:ext>
            </a:extLst>
          </p:cNvPr>
          <p:cNvSpPr/>
          <p:nvPr/>
        </p:nvSpPr>
        <p:spPr>
          <a:xfrm>
            <a:off x="822960" y="4343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/>
              <a:t>Prof. Flávio Waltz</a:t>
            </a:r>
          </a:p>
        </p:txBody>
      </p:sp>
    </p:spTree>
    <p:extLst>
      <p:ext uri="{BB962C8B-B14F-4D97-AF65-F5344CB8AC3E}">
        <p14:creationId xmlns:p14="http://schemas.microsoft.com/office/powerpoint/2010/main" val="2867467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1B1DB-800F-2B0E-4335-080140CA0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03A67EE-1752-F9D3-A9C9-9853012AB895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plano</a:t>
            </a:r>
            <a:endParaRPr lang="en-US" sz="3400"/>
          </a:p>
        </p:txBody>
      </p:sp>
      <p:sp>
        <p:nvSpPr>
          <p:cNvPr id="3" name="Linha de acento">
            <a:extLst>
              <a:ext uri="{FF2B5EF4-FFF2-40B4-BE49-F238E27FC236}">
                <a16:creationId xmlns:a16="http://schemas.microsoft.com/office/drawing/2014/main" id="{A47E9A13-299D-D324-D0B3-66D404C62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271E1E-E388-DB39-2E84-A783AA6AA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831" y="409553"/>
            <a:ext cx="9329858" cy="603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306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358D0-2B2B-8F00-03FD-E11EA6255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522575D-19BF-1FDE-EC72-A2B8F641A8CB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plano</a:t>
            </a:r>
            <a:endParaRPr lang="en-US" sz="3400"/>
          </a:p>
        </p:txBody>
      </p:sp>
      <p:sp>
        <p:nvSpPr>
          <p:cNvPr id="3" name="Linha de acento">
            <a:extLst>
              <a:ext uri="{FF2B5EF4-FFF2-40B4-BE49-F238E27FC236}">
                <a16:creationId xmlns:a16="http://schemas.microsoft.com/office/drawing/2014/main" id="{E00ED1A4-3B6C-5741-6F4F-8344728A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3957E08-7E97-6609-D87B-354E28A625E6}"/>
              </a:ext>
            </a:extLst>
          </p:cNvPr>
          <p:cNvSpPr/>
          <p:nvPr/>
        </p:nvSpPr>
        <p:spPr>
          <a:xfrm>
            <a:off x="777240" y="178308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514350" indent="-514350">
              <a:spcAft>
                <a:spcPts val="1400"/>
              </a:spcAft>
              <a:buSzPct val="100000"/>
              <a:buFont typeface="+mj-lt"/>
              <a:buAutoNum type="arabicPeriod"/>
            </a:pPr>
            <a:r>
              <a:rPr lang="en-US" sz="26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JavaScript:</a:t>
            </a: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60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linguagem</a:t>
            </a: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60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interpretada</a:t>
            </a: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 </a:t>
            </a:r>
            <a:r>
              <a:rPr lang="en-US" sz="260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dinamicamente</a:t>
            </a: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60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tipada</a:t>
            </a: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</a:t>
            </a:r>
          </a:p>
          <a:p>
            <a:pPr marL="514350" indent="-514350">
              <a:spcAft>
                <a:spcPts val="1400"/>
              </a:spcAft>
              <a:buSzPct val="100000"/>
              <a:buFont typeface="+mj-lt"/>
              <a:buAutoNum type="arabicPeriod"/>
            </a:pPr>
            <a:r>
              <a:rPr lang="en-US" sz="26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+ Express: </a:t>
            </a: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 é o runtime </a:t>
            </a:r>
            <a:r>
              <a:rPr lang="en-US" sz="260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</a:t>
            </a: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60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permite</a:t>
            </a: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JavaScript </a:t>
            </a:r>
            <a:r>
              <a:rPr lang="en-US" sz="260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rodar</a:t>
            </a: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for a do </a:t>
            </a:r>
            <a:r>
              <a:rPr lang="en-US" sz="260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navegador</a:t>
            </a: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Express é o framework </a:t>
            </a:r>
            <a:r>
              <a:rPr lang="en-US" sz="260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</a:t>
            </a: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60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simplifica</a:t>
            </a: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</a:t>
            </a:r>
            <a:r>
              <a:rPr lang="en-US" sz="260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criação</a:t>
            </a: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</a:t>
            </a:r>
            <a:r>
              <a:rPr lang="en-US" sz="260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aplicações</a:t>
            </a: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web e APIs (</a:t>
            </a:r>
            <a:r>
              <a:rPr lang="en-US" sz="260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gerenciar</a:t>
            </a: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60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rotas</a:t>
            </a: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URL, </a:t>
            </a:r>
            <a:r>
              <a:rPr lang="en-US" sz="260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requisições</a:t>
            </a: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HTTP etc.);</a:t>
            </a:r>
          </a:p>
          <a:p>
            <a:pPr marL="514350" indent="-514350">
              <a:spcAft>
                <a:spcPts val="1400"/>
              </a:spcAft>
              <a:buSzPct val="100000"/>
              <a:buFont typeface="+mj-lt"/>
              <a:buAutoNum type="arabicPeriod"/>
            </a:pPr>
            <a:r>
              <a:rPr lang="en-US" sz="26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JSON: </a:t>
            </a:r>
            <a:r>
              <a:rPr lang="en-US" sz="260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formato</a:t>
            </a: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</a:t>
            </a:r>
            <a:r>
              <a:rPr lang="en-US" sz="260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texto</a:t>
            </a: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para </a:t>
            </a:r>
            <a:r>
              <a:rPr lang="en-US" sz="260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representar</a:t>
            </a: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dados </a:t>
            </a:r>
            <a:r>
              <a:rPr lang="en-US" sz="260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estruturados</a:t>
            </a: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260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derivado</a:t>
            </a: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60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diretamente</a:t>
            </a: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</a:t>
            </a:r>
            <a:r>
              <a:rPr lang="en-US" sz="260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sintaxe</a:t>
            </a: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</a:t>
            </a:r>
            <a:r>
              <a:rPr lang="en-US" sz="260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objetos</a:t>
            </a: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 </a:t>
            </a:r>
            <a:r>
              <a:rPr lang="en-US" sz="260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próprio</a:t>
            </a: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JavaScript (API Rest);</a:t>
            </a:r>
            <a:endParaRPr lang="en-US" sz="2600" b="1">
              <a:solidFill>
                <a:srgbClr val="17202A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514350" indent="-514350">
              <a:spcAft>
                <a:spcPts val="1400"/>
              </a:spcAft>
              <a:buSzPct val="100000"/>
              <a:buFont typeface="+mj-lt"/>
              <a:buAutoNum type="arabicPeriod"/>
            </a:pPr>
            <a:endParaRPr lang="en-US" sz="2600" b="1"/>
          </a:p>
        </p:txBody>
      </p:sp>
    </p:spTree>
    <p:extLst>
      <p:ext uri="{BB962C8B-B14F-4D97-AF65-F5344CB8AC3E}">
        <p14:creationId xmlns:p14="http://schemas.microsoft.com/office/powerpoint/2010/main" val="4055335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D1CD4-52C3-27C5-F588-E200E0722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2D602D8-976D-70F9-D9A0-04B7CB7BDA9C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plano</a:t>
            </a:r>
            <a:endParaRPr lang="en-US" sz="3400"/>
          </a:p>
        </p:txBody>
      </p:sp>
      <p:sp>
        <p:nvSpPr>
          <p:cNvPr id="3" name="Linha de acento">
            <a:extLst>
              <a:ext uri="{FF2B5EF4-FFF2-40B4-BE49-F238E27FC236}">
                <a16:creationId xmlns:a16="http://schemas.microsoft.com/office/drawing/2014/main" id="{B3F06D93-F590-9D67-D262-2488592DB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32F5FA6-2641-0525-7A71-279EFB814A70}"/>
              </a:ext>
            </a:extLst>
          </p:cNvPr>
          <p:cNvSpPr/>
          <p:nvPr/>
        </p:nvSpPr>
        <p:spPr>
          <a:xfrm>
            <a:off x="777240" y="178308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514350" indent="-514350">
              <a:spcAft>
                <a:spcPts val="1400"/>
              </a:spcAft>
              <a:buSzPct val="100000"/>
              <a:buFont typeface="+mj-lt"/>
              <a:buAutoNum type="arabicPeriod" startAt="4"/>
            </a:pPr>
            <a:r>
              <a:rPr lang="en-US" sz="26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+ CSS:</a:t>
            </a: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60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Definição</a:t>
            </a: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</a:t>
            </a:r>
            <a:r>
              <a:rPr lang="en-US" sz="260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estrutura</a:t>
            </a: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</a:t>
            </a:r>
            <a:r>
              <a:rPr lang="en-US" sz="260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página</a:t>
            </a: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 da </a:t>
            </a:r>
            <a:r>
              <a:rPr lang="en-US" sz="260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aparência</a:t>
            </a: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</a:t>
            </a:r>
            <a:r>
              <a:rPr lang="en-US" sz="260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página</a:t>
            </a: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</a:t>
            </a:r>
          </a:p>
          <a:p>
            <a:pPr marL="514350" indent="-514350">
              <a:spcAft>
                <a:spcPts val="1400"/>
              </a:spcAft>
              <a:buSzPct val="100000"/>
              <a:buFont typeface="+mj-lt"/>
              <a:buAutoNum type="arabicPeriod" startAt="4"/>
            </a:pPr>
            <a:r>
              <a:rPr lang="en-US" sz="26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React: </a:t>
            </a: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 o </a:t>
            </a:r>
            <a:r>
              <a:rPr lang="en-US" sz="260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</a:t>
            </a: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60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dará</a:t>
            </a: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“</a:t>
            </a:r>
            <a:r>
              <a:rPr lang="en-US" sz="260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vida</a:t>
            </a: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” à interface web, </a:t>
            </a:r>
            <a:r>
              <a:rPr lang="en-US" sz="260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consumindo</a:t>
            </a: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 backend. É </a:t>
            </a:r>
            <a:r>
              <a:rPr lang="en-US" sz="260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uma</a:t>
            </a: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60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biblioteca</a:t>
            </a: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60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</a:t>
            </a: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60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constrói</a:t>
            </a: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interfaces </a:t>
            </a:r>
            <a:r>
              <a:rPr lang="en-US" sz="260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através</a:t>
            </a: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components;</a:t>
            </a:r>
          </a:p>
          <a:p>
            <a:pPr marL="514350" indent="-514350">
              <a:spcAft>
                <a:spcPts val="1400"/>
              </a:spcAft>
              <a:buSzPct val="100000"/>
              <a:buFont typeface="+mj-lt"/>
              <a:buAutoNum type="arabicPeriod" startAt="4"/>
            </a:pPr>
            <a:r>
              <a:rPr lang="en-US" sz="26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Native:</a:t>
            </a: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</a:t>
            </a:r>
            <a:r>
              <a:rPr lang="en-US" sz="260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mesma</a:t>
            </a: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60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lógica</a:t>
            </a: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components, agora </a:t>
            </a:r>
            <a:r>
              <a:rPr lang="en-US" sz="260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gerando</a:t>
            </a: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app </a:t>
            </a:r>
            <a:r>
              <a:rPr lang="en-US" sz="260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nativo</a:t>
            </a: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Usa o </a:t>
            </a:r>
            <a:r>
              <a:rPr lang="en-US" sz="260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mesmo</a:t>
            </a: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60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modelo</a:t>
            </a: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 React, mas </a:t>
            </a:r>
            <a:r>
              <a:rPr lang="en-US" sz="260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</a:t>
            </a: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60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vez</a:t>
            </a: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</a:t>
            </a:r>
            <a:r>
              <a:rPr lang="en-US" sz="260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gerar</a:t>
            </a: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HTML, </a:t>
            </a:r>
            <a:r>
              <a:rPr lang="en-US" sz="260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gera</a:t>
            </a: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interface </a:t>
            </a:r>
            <a:r>
              <a:rPr lang="en-US" sz="260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nativa</a:t>
            </a: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real de Android/iOS.</a:t>
            </a:r>
            <a:endParaRPr lang="en-US" sz="2600" b="1">
              <a:solidFill>
                <a:srgbClr val="17202A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514350" indent="-514350">
              <a:spcAft>
                <a:spcPts val="1400"/>
              </a:spcAft>
              <a:buSzPct val="100000"/>
              <a:buFont typeface="+mj-lt"/>
              <a:buAutoNum type="arabicPeriod" startAt="4"/>
            </a:pPr>
            <a:endParaRPr lang="en-US" sz="2600" b="1"/>
          </a:p>
        </p:txBody>
      </p:sp>
    </p:spTree>
    <p:extLst>
      <p:ext uri="{BB962C8B-B14F-4D97-AF65-F5344CB8AC3E}">
        <p14:creationId xmlns:p14="http://schemas.microsoft.com/office/powerpoint/2010/main" val="993546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47B77-D9A8-1A87-5935-5293A64B5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ha de acento">
            <a:extLst>
              <a:ext uri="{FF2B5EF4-FFF2-40B4-BE49-F238E27FC236}">
                <a16:creationId xmlns:a16="http://schemas.microsoft.com/office/drawing/2014/main" id="{D6461012-14F3-13EE-FC1E-9979B3ABB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1737360"/>
            <a:ext cx="2011680" cy="9144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DAAEBE85-3D6B-972D-8888-9F669643E1AC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822960" y="210312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Introdução ao JavaScript básico</a:t>
            </a:r>
            <a:endParaRPr lang="en-US" sz="4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04BA0C6-5F65-13F9-2711-7DA0052A91BE}"/>
              </a:ext>
            </a:extLst>
          </p:cNvPr>
          <p:cNvSpPr/>
          <p:nvPr/>
        </p:nvSpPr>
        <p:spPr>
          <a:xfrm>
            <a:off x="822960" y="3749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Desenvolvimento Web/Mobile • Análise e Desenvolvimento de Sistemas</a:t>
            </a:r>
            <a:endParaRPr lang="en-US" sz="2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8747A8A-F3AB-CB20-F87E-F58E0A8F41BF}"/>
              </a:ext>
            </a:extLst>
          </p:cNvPr>
          <p:cNvSpPr/>
          <p:nvPr/>
        </p:nvSpPr>
        <p:spPr>
          <a:xfrm>
            <a:off x="822960" y="4343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quem já programa em Python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878917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EBC5F-F7F9-A97C-2B10-B605F057C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B962396-E0F9-22FB-3384-00EEE6F5DF20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Roteiro da aula</a:t>
            </a:r>
            <a:endParaRPr lang="en-US" sz="3400"/>
          </a:p>
        </p:txBody>
      </p:sp>
      <p:sp>
        <p:nvSpPr>
          <p:cNvPr id="3" name="Linha de acento">
            <a:extLst>
              <a:ext uri="{FF2B5EF4-FFF2-40B4-BE49-F238E27FC236}">
                <a16:creationId xmlns:a16="http://schemas.microsoft.com/office/drawing/2014/main" id="{E7EDC6A9-EAEE-F337-8B96-8959860C6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673F957-5AA7-A86B-CE5F-76E08470E382}"/>
              </a:ext>
            </a:extLst>
          </p:cNvPr>
          <p:cNvSpPr/>
          <p:nvPr/>
        </p:nvSpPr>
        <p:spPr>
          <a:xfrm>
            <a:off x="777240" y="178308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é JavaScript e onde ele roda</a:t>
            </a:r>
            <a:endParaRPr lang="en-US" sz="260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Sintaxe básica: chaves, ponto e vírgula e comentários</a:t>
            </a:r>
            <a:endParaRPr lang="en-US" sz="260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Variáveis: let, const e var</a:t>
            </a:r>
            <a:endParaRPr lang="en-US" sz="260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Declarar x inicializar e o valor undefined</a:t>
            </a:r>
            <a:endParaRPr lang="en-US" sz="260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Tipos primitivos, arrays e objetos</a:t>
            </a:r>
            <a:endParaRPr lang="en-US" sz="260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typeof, template literals e console.log</a:t>
            </a:r>
            <a:endParaRPr lang="en-US" sz="2600"/>
          </a:p>
        </p:txBody>
      </p:sp>
    </p:spTree>
    <p:extLst>
      <p:ext uri="{BB962C8B-B14F-4D97-AF65-F5344CB8AC3E}">
        <p14:creationId xmlns:p14="http://schemas.microsoft.com/office/powerpoint/2010/main" val="2420232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é JavaScript?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 é uma linguagem interpretada, dinâmica e de tipagem fraca, criada para dar comportamento às páginas web — e hoje usada também fora do navegador.</a:t>
            </a:r>
            <a:endParaRPr lang="en-US" sz="3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Onde o JavaScript roda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navegador: Chrome, Firefox, Safari executam JS direto na página</a:t>
            </a:r>
            <a:endParaRPr lang="en-US" sz="260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servidor: Node.js roda JS fora do navegador, como o interpretador do Python</a:t>
            </a:r>
            <a:endParaRPr lang="en-US" sz="260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apps móveis e desktop: React Native, Electron</a:t>
            </a:r>
            <a:endParaRPr lang="en-US" sz="2600"/>
          </a:p>
        </p:txBody>
      </p:sp>
      <p:sp>
        <p:nvSpPr>
          <p:cNvPr id="5" name="Text 3"/>
          <p:cNvSpPr/>
          <p:nvPr/>
        </p:nvSpPr>
        <p:spPr>
          <a:xfrm>
            <a:off x="777240" y="580644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Mesma linguagem, ambientes diferentes — o que muda são as bibliotecas disponíveis.</a:t>
            </a:r>
            <a:endParaRPr lang="en-US"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executamos o código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arquivo: script.js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("Olá, turma!");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 terminal: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node script.js</a:t>
            </a:r>
            <a:endParaRPr lang="en-US" sz="1800"/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arquivo: script.py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("Olá, turma!")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 terminal: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python script.py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fluxo é o mesmo que vocês já conhecem: escrever o arquivo e mandar o interpretador executar.</a:t>
            </a:r>
            <a:endParaRPr lang="en-US" sz="1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Estrutura de um programa em JS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Blocos são delimitados por chaves { }, não por indentação</a:t>
            </a:r>
            <a:endParaRPr lang="en-US" sz="260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Instruções terminam com ponto e vírgula ; (opcional, mas recomendado)</a:t>
            </a:r>
            <a:endParaRPr lang="en-US" sz="260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indentação existe só para leitura humana — não muda o significado</a:t>
            </a:r>
            <a:endParaRPr lang="en-US" sz="2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Blocos: chaves x indentação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(idade &gt;= 18) {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("Maior de idade");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("Pode entrar");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/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idade &gt;= 18: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("Maior de idade")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("Pode entrar")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JS, quem define o bloco são as chaves. Em Python, é a indentação.</a:t>
            </a:r>
            <a:endParaRPr lang="en-US" sz="1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Comentários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comentário de uma linha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comentário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de várias linhas */</a:t>
            </a:r>
            <a:endParaRPr lang="en-US" sz="1800"/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comentário de uma linha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"""comentário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de várias linhas"""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comentário de uma linha é a diferença mais visível: // no JS, # no Python.</a:t>
            </a:r>
            <a:endParaRPr lang="en-US" sz="1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Variáveis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Uma variável é um nome que aponta para um valor guardado na memória. Em JavaScript, esse nome precisa ser declarado com uma palavra-chave: let, const ou var.</a:t>
            </a:r>
            <a:endParaRPr lang="en-US" sz="3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let: valor que pode mudar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let quando o valor for ser reatribuído.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93192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contador = 0;</a:t>
            </a: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contador = contador + 1;</a:t>
            </a: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nome = "Ana";</a:t>
            </a: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 = "Bruno";</a:t>
            </a:r>
            <a:endParaRPr lang="en-US" sz="2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const: valor que não muda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const quando a variável não for receber outro valor.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PI = 3.14159;</a:t>
            </a: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curso = "ADS";</a:t>
            </a: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 = 3; // TypeError: Assignment to constant variable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Regra prática: comece sempre com const e só troque para let quando precisar reatribuir.</a:t>
            </a:r>
            <a:endParaRPr lang="en-US" sz="1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Declaração de variáveis: JS x Python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idade = 20;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nome = "Ana";</a:t>
            </a:r>
            <a:endParaRPr lang="en-US" sz="1800"/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idade = 20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 = "Ana"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não exige palavra-chave; JS exige. E o const do JS é uma garantia real, não apenas uma convenção de nome.</a:t>
            </a:r>
            <a:endParaRPr lang="en-US" sz="1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var: o jeito antigo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 existe desde as primeiras versões da linguagem</a:t>
            </a:r>
            <a:endParaRPr lang="en-US" sz="260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 escopo de função, não de bloco</a:t>
            </a:r>
            <a:endParaRPr lang="en-US" sz="260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Permite redeclarar a mesma variável sem erro</a:t>
            </a:r>
            <a:endParaRPr lang="en-US" sz="2600"/>
          </a:p>
        </p:txBody>
      </p:sp>
      <p:sp>
        <p:nvSpPr>
          <p:cNvPr id="5" name="Text 3"/>
          <p:cNvSpPr/>
          <p:nvPr/>
        </p:nvSpPr>
        <p:spPr>
          <a:xfrm>
            <a:off x="777240" y="580644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código novo, evite var. Use let e const.</a:t>
            </a:r>
            <a:endParaRPr lang="en-US"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Escopo: let x var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escopo define onde a variável é visível.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= 1;   // escopo de FUNÇÃO: vaza do bloco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 = 2;   // escopo de BLOCO: só vive aqui dentro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(a); // 1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0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0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(b); // ReferenceError: b is not defined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 respeita as chaves. var ignora o bloco e sobe até a função que o contém.</a:t>
            </a:r>
            <a:endParaRPr lang="en-US" sz="1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que preferir const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Deixa explícito que aquele valor não deve mudar</a:t>
            </a:r>
            <a:endParaRPr lang="en-US" sz="260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erro aparece já na escrita do código, não em produção</a:t>
            </a:r>
            <a:endParaRPr lang="en-US" sz="260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Facilita a leitura: quem lê sabe que o valor é estável</a:t>
            </a:r>
            <a:endParaRPr lang="en-US" sz="260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Evita reatribuições acidentais em funções longas</a:t>
            </a:r>
            <a:endParaRPr lang="en-US" sz="2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Declarar não é inicializar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Declarar é criar o nome na memória. Inicializar é colocar um valor nesse espaço. Em JavaScript, essas duas coisas podem acontecer em momentos diferentes.</a:t>
            </a:r>
            <a:endParaRPr lang="en-US" sz="32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Declarar sem inicializar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1691640"/>
            <a:ext cx="10607040" cy="41148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78408" y="1837944"/>
            <a:ext cx="10204704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resultado;            // declarada, sem valor</a:t>
            </a: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(resultado);   // 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undefined</a:t>
            </a: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 = 42;           // agora inicializada</a:t>
            </a:r>
            <a:endParaRPr lang="en-US" sz="22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22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22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(resultado);   // 42</a:t>
            </a:r>
            <a:endParaRPr lang="en-US" sz="2200"/>
          </a:p>
        </p:txBody>
      </p:sp>
      <p:sp>
        <p:nvSpPr>
          <p:cNvPr id="6" name="Text 4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espaço na memória já existe; ele guarda o valor especial undefined até receber outra coisa.</a:t>
            </a:r>
            <a:endParaRPr lang="en-US" sz="19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Declarar x inicializar: JS x Python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resultado;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(resultado);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undefined</a:t>
            </a:r>
            <a:endParaRPr lang="en-US" sz="1800"/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(resultado)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NameError: name 'resultado'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is not defined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Python a variável só passa a existir quando recebe um valor. Em JS ela pode existir vazia, valendo undefined.</a:t>
            </a:r>
            <a:endParaRPr lang="en-US" sz="19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Tipos primitivos em JavaScript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 — texto: "Ana", 'ADS', `olá`</a:t>
            </a:r>
            <a:endParaRPr lang="en-US" sz="260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number — inteiros e decimais no mesmo tipo: 10, 3.14</a:t>
            </a:r>
            <a:endParaRPr lang="en-US" sz="260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boolean — true ou false</a:t>
            </a:r>
            <a:endParaRPr lang="en-US" sz="260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null — ausência intencional de valor</a:t>
            </a:r>
            <a:endParaRPr lang="en-US" sz="260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undefined — valor ainda não atribuído</a:t>
            </a:r>
            <a:endParaRPr lang="en-US" sz="26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Tipos primitivos: JS x Python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nome = "Ana";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idade = 20;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nota = 8.5;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ativo = 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vazio = 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/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 = "Ana"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idade = 20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 = 8.5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ativo = 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vazio = 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Atenção: em JS, true e false são minúsculos, e não existem int e float separados — tudo é number.</a:t>
            </a:r>
            <a:endParaRPr lang="en-US" sz="19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null e undefined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undefined: a variável existe, mas nunca recebeu valor — é o padrão da linguagem</a:t>
            </a:r>
            <a:endParaRPr lang="en-US" sz="260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null: você atribuiu deliberadamente um valor vazio</a:t>
            </a:r>
            <a:endParaRPr lang="en-US" sz="260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tem apenas None, que corresponde mais ao null</a:t>
            </a:r>
            <a:endParaRPr lang="en-US" sz="2600"/>
          </a:p>
        </p:txBody>
      </p:sp>
      <p:sp>
        <p:nvSpPr>
          <p:cNvPr id="5" name="Text 3"/>
          <p:cNvSpPr/>
          <p:nvPr/>
        </p:nvSpPr>
        <p:spPr>
          <a:xfrm>
            <a:off x="777240" y="580644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undefined é um tipo próprio do JavaScript, sem equivalente direto em Python.</a:t>
            </a:r>
            <a:endParaRPr lang="en-US" sz="2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Arrays x listas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notas = [8, 7.5, 10];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(notas[0]);   // 8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(notas.length); // 3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notas.push(9);</a:t>
            </a:r>
            <a:endParaRPr lang="en-US" sz="1800"/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 = [8, 7.5, 10]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(notas[0])   # 8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(notas)) # 3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notas.append(9)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Mesma ideia de coleção ordenada e indexada a partir do zero; mudam os nomes dos métodos.</a:t>
            </a:r>
            <a:endParaRPr lang="en-US" sz="19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Objetos x dicionários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aluno = {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nome: "Ana",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idade: 20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(aluno.nome);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(aluno["idade"]);</a:t>
            </a:r>
            <a:endParaRPr lang="en-US" sz="1800"/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aluno = {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"nome": "Ana",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"idade": 20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(aluno["nome"])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(aluno["idade"])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objeto do JS as chaves são escritas sem aspas e podem ser acessadas com ponto.</a:t>
            </a:r>
            <a:endParaRPr lang="en-US" sz="19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typeof x type()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devolve o tipo como texto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"Ana";  // "string"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20;     // "number"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// "boolean"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x;      // "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undefined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800"/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devolve um objeto de classe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("Ana")  # 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(20)     # 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# 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# NoneType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typeof devolve o nome do tipo como texto e é útil para depurar valores inesperados.</a:t>
            </a:r>
            <a:endParaRPr lang="en-US" sz="19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Template literals x f-strings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nome = "Ana";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nota = 8.5;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(`${nome} tirou ${nota}`);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Ana tirou 8.5</a:t>
            </a:r>
            <a:endParaRPr lang="en-US" sz="1800"/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 = "Ana"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 = 8.5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(f"{nome} tirou {nota}")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i="1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Ana tirou 8.5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JS, o texto vai entre crases e a expressão dentro de ${ }.</a:t>
            </a:r>
            <a:endParaRPr lang="en-US" sz="19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console.log x print()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("Olá");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(nome, idade);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nota);</a:t>
            </a:r>
            <a:endParaRPr lang="en-US" sz="1800"/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("Olá")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(nome, idade)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b="1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r>
              <a:rPr lang="en-US" sz="180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(nota))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console.log é a ferramenta mais direta de depuração: mostre o valor antes de supor o que ele contém.</a:t>
            </a:r>
            <a:endParaRPr lang="en-US" sz="19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levar da aula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Blocos com chaves; ponto e vírgula ao fim das instruções</a:t>
            </a:r>
            <a:endParaRPr lang="en-US" sz="260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 por padrão, let quando precisar reatribuir, var nunca</a:t>
            </a:r>
            <a:endParaRPr lang="en-US" sz="260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Declarar sem inicializar resulta em undefined</a:t>
            </a:r>
            <a:endParaRPr lang="en-US" sz="260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Arrays e objetos correspondem a listas e dicionários</a:t>
            </a:r>
            <a:endParaRPr lang="en-US" sz="260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typeof, template literals e console.log no dia a dia</a:t>
            </a:r>
            <a:endParaRPr lang="en-US" sz="26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Próximos passos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011680"/>
            <a:ext cx="10607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800"/>
              </a:spcAft>
              <a:buNone/>
            </a:pPr>
            <a:r>
              <a:rPr lang="en-US" sz="28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Pratique no console do navegador (F12) ou com o Node.js.</a:t>
            </a:r>
            <a:endParaRPr lang="en-US" sz="2800"/>
          </a:p>
          <a:p>
            <a:pPr marL="0" indent="0">
              <a:spcAft>
                <a:spcPts val="1800"/>
              </a:spcAft>
              <a:buNone/>
            </a:pPr>
            <a:r>
              <a:rPr lang="en-US" sz="28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Reescreva em JavaScript três exercícios que você já fez em Python.</a:t>
            </a:r>
            <a:endParaRPr lang="en-US" sz="2800"/>
          </a:p>
          <a:p>
            <a:pPr marL="0" indent="0">
              <a:buNone/>
            </a:pPr>
            <a:r>
              <a:rPr lang="en-US" sz="3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Dúvidas?</a:t>
            </a:r>
            <a:endParaRPr lang="en-US" sz="2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AF940A41E02B42AE989720C36A0380" ma:contentTypeVersion="3" ma:contentTypeDescription="Create a new document." ma:contentTypeScope="" ma:versionID="84c8fa9b024ab4442b32982a9ff156a6">
  <xsd:schema xmlns:xsd="http://www.w3.org/2001/XMLSchema" xmlns:xs="http://www.w3.org/2001/XMLSchema" xmlns:p="http://schemas.microsoft.com/office/2006/metadata/properties" xmlns:ns2="dd5b9d87-8382-4c7f-9963-6784ff2ca28b" targetNamespace="http://schemas.microsoft.com/office/2006/metadata/properties" ma:root="true" ma:fieldsID="a399dde5afd487ee214c0235c88ee8a7" ns2:_="">
    <xsd:import namespace="dd5b9d87-8382-4c7f-9963-6784ff2ca2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b9d87-8382-4c7f-9963-6784ff2ca2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A0C2C37-5EEF-4E91-B134-72CDA5C478B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C379282-9888-47C9-A84C-145D715DA634}"/>
</file>

<file path=customXml/itemProps3.xml><?xml version="1.0" encoding="utf-8"?>
<ds:datastoreItem xmlns:ds="http://schemas.openxmlformats.org/officeDocument/2006/customXml" ds:itemID="{A3FEB676-DA8C-47FB-8784-B696C07DDF8B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32</Slides>
  <Notes>32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O plano para este semestre</vt:lpstr>
      <vt:lpstr>O plano</vt:lpstr>
      <vt:lpstr>O plano</vt:lpstr>
      <vt:lpstr>O plano</vt:lpstr>
      <vt:lpstr>Introdução ao JavaScript básico</vt:lpstr>
      <vt:lpstr>Roteiro da aula</vt:lpstr>
      <vt:lpstr>O que é JavaScript?</vt:lpstr>
      <vt:lpstr>Onde o JavaScript roda</vt:lpstr>
      <vt:lpstr>Como executamos o código</vt:lpstr>
      <vt:lpstr>Estrutura de um programa em JS</vt:lpstr>
      <vt:lpstr>Blocos: chaves x indentação</vt:lpstr>
      <vt:lpstr>Comentários</vt:lpstr>
      <vt:lpstr>Variáveis</vt:lpstr>
      <vt:lpstr>let: valor que pode mudar</vt:lpstr>
      <vt:lpstr>const: valor que não muda</vt:lpstr>
      <vt:lpstr>Declaração de variáveis: JS x Python</vt:lpstr>
      <vt:lpstr>var: o jeito antigo</vt:lpstr>
      <vt:lpstr>Escopo: let x var</vt:lpstr>
      <vt:lpstr>Por que preferir const</vt:lpstr>
      <vt:lpstr>Declarar não é inicializar</vt:lpstr>
      <vt:lpstr>Declarar sem inicializar</vt:lpstr>
      <vt:lpstr>Declarar x inicializar: JS x Python</vt:lpstr>
      <vt:lpstr>Tipos primitivos em JavaScript</vt:lpstr>
      <vt:lpstr>Tipos primitivos: JS x Python</vt:lpstr>
      <vt:lpstr>null e undefined</vt:lpstr>
      <vt:lpstr>Arrays x listas</vt:lpstr>
      <vt:lpstr>Objetos x dicionários</vt:lpstr>
      <vt:lpstr>typeof x type()</vt:lpstr>
      <vt:lpstr>Template literals x f-strings</vt:lpstr>
      <vt:lpstr>console.log x print()</vt:lpstr>
      <vt:lpstr>Para levar da aula</vt:lpstr>
      <vt:lpstr>Próximos passos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Flávio Waltz</dc:creator>
  <cp:revision>1</cp:revision>
  <dcterms:created xsi:type="dcterms:W3CDTF">2026-08-06T13:47:07Z</dcterms:created>
  <dcterms:modified xsi:type="dcterms:W3CDTF">2026-09-13T18:50:26Z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0x01010067AF940A41E02B42AE989720C36A0380</vt:lpwstr>
  </property>
</Properties>
</file>