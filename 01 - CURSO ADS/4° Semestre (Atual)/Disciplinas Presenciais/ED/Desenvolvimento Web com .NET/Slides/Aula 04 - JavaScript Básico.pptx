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</a:t>
            </a:r>
            <a:r>
              <a:rPr lang="en-US" dirty="0" err="1"/>
              <a:t>condicionais</a:t>
            </a:r>
            <a:r>
              <a:rPr lang="en-US" dirty="0"/>
              <a:t>, switch/case, </a:t>
            </a:r>
            <a:r>
              <a:rPr lang="en-US" dirty="0" err="1"/>
              <a:t>operador</a:t>
            </a:r>
            <a:r>
              <a:rPr lang="en-US" dirty="0"/>
              <a:t> </a:t>
            </a:r>
            <a:r>
              <a:rPr lang="en-US" dirty="0" err="1"/>
              <a:t>ternário</a:t>
            </a:r>
            <a:r>
              <a:rPr lang="en-US" dirty="0"/>
              <a:t> e </a:t>
            </a:r>
            <a:r>
              <a:rPr lang="en-US" dirty="0" err="1"/>
              <a:t>objeto</a:t>
            </a:r>
            <a:r>
              <a:rPr lang="en-US" dirty="0"/>
              <a:t> Date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4—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Estruturas condicionais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Condicionais fazem o programa escolher um caminho. A condição vai entre parênteses e o bloco entre chaves.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if: a forma mais simples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if pode ser usado sozinho — else não é obrigatório.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idade = 20;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(idade &gt;= 18)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("Maior de idade");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"Maior de idade"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 condição for falsa, o bloco simplesmente não executa.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e else if não vivem sozinhos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Eles só existem ligados a um if anterior.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  <a:endParaRPr lang="en-US" sz="2000"/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("Aprovado");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5)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("Recuperação");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("Reprovado");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else ou else if sem um if antes é erro de sintaxe.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saudação pela hora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Faixas definidas com o operador lógico &amp;&amp; já visto.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hora = 15;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0 &amp;&amp; hora &lt; 12)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("Bom dia");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12 &amp;&amp; hora &lt; 18)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tarde");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"Boa tarde"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18 &amp;&amp; hora &lt;= 23)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noite");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("Hora inválida");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ordem importa: o primeiro bloco verdadeiro é o único que executa.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Testando outras horas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código com valores diferentes de hora.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0" i="1">
                <a:solidFill>
                  <a:srgbClr val="5A6472"/>
                </a:solidFill>
                <a:latin typeface="Consolas"/>
              </a:rPr>
              <a:t>// hora = 8   -&gt; "Bom dia"</a:t>
            </a:r>
            <a:endParaRPr lang="en-US" sz="2000"/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15  -&gt; "Boa tarde"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21  -&gt; "Boa noite"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30  -&gt; "Hora inválida"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Qualquer valor fora de 0–23 cai no else final.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Condicionais: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&lt; 12) {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("Bom dia");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&lt; 18)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tarde");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noite");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if hora &lt; 12: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print("Bom dia")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elif hora &lt; 18: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print("Boa tarde")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else: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print("Boa noite")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lógica: chaves viram dois-pontos + indentação, e else if vira elif.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Ponto de atenção: vários if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cadeia de else if executa no máximo um bloco. Vários if separados podem executar mais de um.</a:t>
            </a:r>
            <a:endParaRPr 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Cadeia de else if: só um executa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opções são excludentes — escolha única.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nota = 9;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9)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("Excelente");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"Excelente"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("Bom");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9 &gt;= 9 é verdadeiro, o segundo teste nem chega a ser avaliado.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separados: vários podem executar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if é testado de forma independente.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nota = 9;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9)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("Excelente");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"Excelente"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("Bom");   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"Bom"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 as duas mensagens aparecem: as condições não são excludentes.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 usar em cada caso?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if: quando só uma opção pode valer (faixas, categorias, menus)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separados: quando as verificações são independentes entre si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usuário e senha com mensagens distintas pede if separados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Classificar uma nota em um único conceito pede else 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/ case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comparamos uma mesma variável com vários valores fixos, o switch deixa o código mais legível.</a:t>
            </a:r>
            <a:endParaRPr 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 do switch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switch, case, break e default.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(valor) {</a:t>
            </a:r>
            <a:endParaRPr lang="en-US" sz="20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1: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("um");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2: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("dois");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("outro");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case é comparado com === ao valor do switch.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dia da semana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getDay() devolve 0 (domingo) até 6 (sábado).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dia =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getDay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(); </a:t>
            </a:r>
            <a:r>
              <a:rPr sz="1600" b="0" i="1">
                <a:solidFill>
                  <a:srgbClr val="5A6472"/>
                </a:solidFill>
                <a:latin typeface="Consolas"/>
              </a:rPr>
              <a:t>// ex.: 3</a:t>
            </a:r>
            <a:endParaRPr lang="en-US" sz="2000"/>
          </a:p>
          <a:p>
            <a:r>
              <a:rPr sz="16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(dia) {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0: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("Domingo");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1: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("Segunda");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2: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("Terça");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3: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("Quarta");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 </a:t>
            </a:r>
            <a:r>
              <a:rPr sz="1600" b="0" i="1">
                <a:solidFill>
                  <a:srgbClr val="5A6472"/>
                </a:solidFill>
                <a:latin typeface="Consolas"/>
              </a:rPr>
              <a:t>// executa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4: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("Quinta");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5: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("Sexta");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6: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("Sábado");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("Dia inválido");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default protege contra qualquer valor fora do esperado.</a:t>
            </a:r>
            <a:endParaRPr lang="en-US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Esquecer o break: fall-through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break, a execução continua nos cases seguintes.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dia = 1;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(dia)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1: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("Segunda");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"Segunda"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2: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("Terça");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"Terça"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("Fim");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"Fim"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break é o que encerra o switch — sem ele, tudo abaixo executa.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(dia) {</a:t>
            </a:r>
            <a:endParaRPr lang="en-US" sz="18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0: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("Domingo");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("Outro");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0" i="0">
                <a:solidFill>
                  <a:srgbClr val="17202A"/>
                </a:solidFill>
                <a:latin typeface="Consolas"/>
              </a:rPr>
              <a:t># forma clássica</a:t>
            </a:r>
            <a:endParaRPr lang="en-US" sz="18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if dia == 0: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print("Domingo")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else: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print("Outro")</a:t>
            </a:r>
          </a:p>
          <a:p>
            <a:endParaRPr sz="1600" b="0" i="0">
              <a:solidFill>
                <a:srgbClr val="17202A"/>
              </a:solidFill>
              <a:latin typeface="Consolas"/>
            </a:endParaRP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# Python 3.10+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match dia: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case 0: print("Domingo")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case _: print("Outro")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usou if/elif por muito tempo; o match/case chegou só no 3.10.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 ternário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if/else que cabe em uma linha e devolve um valor: condição ? valorSeVerdadeiro : valorSeFalso.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 com if/else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Classificando um usuário pela pontuação.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pontos = 120;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tipo;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(pontos &gt;= 100)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tipo = "VIP";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tipo = "comum";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(tipo);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 linhas apenas para escolher entre dois valores.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com ternário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Exatamente a mesma lógica, em uma linha.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pontos = 120;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tipo = pontos &gt;= 100 ? "VIP" : "comum";</a:t>
            </a:r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(tipo);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ternário é uma expressão: devolve um valor que pode ser atribuído.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Ternário: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tipo =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pontos &gt;= 100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? "VIP"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: "comum";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(tipo);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tipo = ("VIP"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    if pontos &gt;= 100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    else "comum")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print(tipo)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"VIP"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ideia, ordem invertida: em Python o valor verdadeiro vem primeiro.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|| como valor padrão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|| devolve o primeiro valor truthy. Isso serve para definir um padrão quando a variável é falsy.</a:t>
            </a:r>
            <a:endParaRPr lang="en-US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cor padrão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vazia, undefined, null, 0 e NaN são falsy.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corEscolhida = "";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 = corEscolhida || "azul";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(cor);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"azul"</a:t>
            </a:r>
          </a:p>
          <a:p>
            <a:endParaRPr sz="1800" b="0" i="1">
              <a:solidFill>
                <a:srgbClr val="5A6472"/>
              </a:solidFill>
              <a:latin typeface="Consolas"/>
            </a:endParaRP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corEscolhida = "verde";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(corEscolhida || "azul");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"verde"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 usuário escolheu algo, o valor dele vence; senão, entra o padrão.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padrão: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 = "";</a:t>
            </a:r>
            <a:endParaRPr lang="en-US" sz="18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escolhida = cor || "azul";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(escolhida);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"azul"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cor = ""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escolhida = cor or "azul"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print(escolhida)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"azul"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or do Python funciona igual: as duas linguagens têm truthy e falsy.</a:t>
            </a:r>
            <a:endParaRPr lang="en-US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Date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representa um instante no tempo — data e hora juntas — criado com a palavra-chave new.</a:t>
            </a:r>
            <a:endParaRPr lang="en-US"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Date() sem argumentos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argumentos, ele guarda o momento atual.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agora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(agora);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data e hora deste exato momento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forma usada para saber que dia ou que horas são agora.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Date() com argumentos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Ano, mês, dia, hora e minuto — nessa ordem.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festa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(2026, 7, 23, 20, 30);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(festa);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23 de agosto de 2026, 20:30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mês 7 aqui é agosto — veja o próximo slide.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o mês começa em 0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Janeiro é 0, fevereiro é 1... dezembro é 11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Date(2026, 7, 23) é 23 de agosto, não de julho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uma das pegadinhas mais comuns da linguagem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 exibir para o usuário, some +1 em getMonth()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Lendo partes da 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get devolve um número.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23, 20, 30);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23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7  (agosto!)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getFullYear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2026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getHours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20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getDay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0  (domingo)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getMonth() devolve o índice; getDay() devolve o dia da semana.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23);</a:t>
            </a:r>
            <a:endParaRPr lang="en-US" sz="18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7 -&gt; índice, começa em 0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 + 1);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8 -&gt; agosto legível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from datetime import datetime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d = datetime(2026, 8, 23)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print(d.month)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8 -&gt; já começa em 1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print(d.day)   # 23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os meses são indexados a partir de 1 — por isso o +1 no JS.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Formatando uma 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que recebe um Date e devolve uma string legível no formato dia/mês/ano.</a:t>
            </a:r>
            <a:endParaRPr lang="en-US" sz="3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função formataData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com return + template literal.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function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formataData(data) {</a:t>
            </a:r>
            <a:endParaRPr lang="en-US" sz="20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dia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mes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 + 1;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ano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getFullYear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`${dia}/${mes}/${ano}`;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(formataData(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23)));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"23/8/2026"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+1 no mês é obrigatório para a data sair legível.</a:t>
            </a:r>
            <a:endParaRPr lang="en-US" sz="1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conceitos que se juntam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com return: encapsula a regra e devolve um valor reutilizável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literal: monta a string com ${} sem concatenar com +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 de indexação: getMonth() + 1 para o mês humano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partir de agora, basta chamar formataData(data)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simples com saudação: o primeiro programa que resolve um problema real usando tudo o que já vimos.</a:t>
            </a:r>
            <a:endParaRPr lang="en-US" sz="3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1: capturando os dados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lê o que o usuário digita.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usuario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prompt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("Usuário:");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senha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prompt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("Senha:");</a:t>
            </a:r>
          </a:p>
          <a:p>
            <a:endParaRPr sz="1800" b="0" i="0">
              <a:solidFill>
                <a:srgbClr val="17202A"/>
              </a:solidFill>
              <a:latin typeface="Consolas"/>
            </a:endParaRP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ok = usuario === "flavio" &amp;&amp; senha === "123456";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(ok);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true se os dois baterem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 estrita (===) e o operador &amp;&amp; já vistos na aula anterior.</a:t>
            </a:r>
            <a:endParaRPr lang="en-US"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2: saudação pela hora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else if usando getHours().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 dirty="0">
                <a:solidFill>
                  <a:srgbClr val="C2410C"/>
                </a:solidFill>
                <a:latin typeface="Consolas"/>
              </a:rPr>
              <a:t>function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saudacao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 {</a:t>
            </a:r>
            <a:endParaRPr lang="en-US" sz="2000" dirty="0"/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().</a:t>
            </a:r>
            <a:r>
              <a:rPr sz="1800" b="1" i="0" dirty="0" err="1">
                <a:solidFill>
                  <a:srgbClr val="C2410C"/>
                </a:solidFill>
                <a:latin typeface="Consolas"/>
              </a:rPr>
              <a:t>getHours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(h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&lt; 12)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"Bom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dia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(h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&lt; 18)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"Boa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tarde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"Boa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noite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saudacao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()); 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// "Boa </a:t>
            </a:r>
            <a:r>
              <a:rPr sz="1800" b="0" i="1" dirty="0" err="1">
                <a:solidFill>
                  <a:srgbClr val="5A6472"/>
                </a:solidFill>
                <a:latin typeface="Consolas"/>
              </a:rPr>
              <a:t>noite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" </a:t>
            </a:r>
            <a:r>
              <a:rPr sz="1800" b="0" i="1" dirty="0" err="1">
                <a:solidFill>
                  <a:srgbClr val="5A6472"/>
                </a:solidFill>
                <a:latin typeface="Consolas"/>
              </a:rPr>
              <a:t>às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 20h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return encerra a função assim que a faixa correta é encontrada.</a:t>
            </a:r>
            <a:endParaRPr lang="en-US"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3: juntando tudo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Login, saudação e data formatada do acesso.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(ok) {</a:t>
            </a:r>
            <a:endParaRPr lang="en-US" sz="20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hoje = formataData(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(`${saudacao()}, ${usuario}!`);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(`Acesso em ${hoje}`);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("Usuário ou senha inválidos");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600" b="0" i="1">
                <a:solidFill>
                  <a:srgbClr val="5A6472"/>
                </a:solidFill>
                <a:latin typeface="Consolas"/>
              </a:rPr>
              <a:t>// "Boa noite, flavio!"</a:t>
            </a:r>
          </a:p>
          <a:p>
            <a:r>
              <a:rPr sz="1600" b="0" i="1">
                <a:solidFill>
                  <a:srgbClr val="5A6472"/>
                </a:solidFill>
                <a:latin typeface="Consolas"/>
              </a:rPr>
              <a:t>// "Acesso em 23/8/2026"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Variáveis, funções, condicionais, template literals e Date no mesmo programa.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pode existir sozinho; else e else if dependem de um if anterior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Cadeia de else if executa um bloco; ifs separados podem executar vários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switch, o break evita o fall-through; default cobre o inesperado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Ternário e || são atalhos que devolvem valores, não blocos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Date o mês começa em 0 — some +1 para exibir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AF940A41E02B42AE989720C36A0380" ma:contentTypeVersion="3" ma:contentTypeDescription="Create a new document." ma:contentTypeScope="" ma:versionID="84c8fa9b024ab4442b32982a9ff156a6">
  <xsd:schema xmlns:xsd="http://www.w3.org/2001/XMLSchema" xmlns:xs="http://www.w3.org/2001/XMLSchema" xmlns:p="http://schemas.microsoft.com/office/2006/metadata/properties" xmlns:ns2="dd5b9d87-8382-4c7f-9963-6784ff2ca28b" targetNamespace="http://schemas.microsoft.com/office/2006/metadata/properties" ma:root="true" ma:fieldsID="a399dde5afd487ee214c0235c88ee8a7" ns2:_="">
    <xsd:import namespace="dd5b9d87-8382-4c7f-9963-6784ff2ca2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9d87-8382-4c7f-9963-6784ff2ca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14B0DA-CD81-4413-9E66-6B577A9210F8}"/>
</file>

<file path=customXml/itemProps2.xml><?xml version="1.0" encoding="utf-8"?>
<ds:datastoreItem xmlns:ds="http://schemas.openxmlformats.org/officeDocument/2006/customXml" ds:itemID="{CBFD5E27-3E7E-48C0-8C49-F9B1E4C6FD65}"/>
</file>

<file path=customXml/itemProps3.xml><?xml version="1.0" encoding="utf-8"?>
<ds:datastoreItem xmlns:ds="http://schemas.openxmlformats.org/officeDocument/2006/customXml" ds:itemID="{ED262A2A-176F-4F7D-9F0F-31F4246A9337}"/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2324</Words>
  <Application>Microsoft Office PowerPoint</Application>
  <PresentationFormat>Widescreen</PresentationFormat>
  <Paragraphs>300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Segoe UI</vt:lpstr>
      <vt:lpstr>Office Theme</vt:lpstr>
      <vt:lpstr>JavaScript: condicionais, switch/case, operador ternário e objeto Date</vt:lpstr>
      <vt:lpstr>Estruturas condicionais</vt:lpstr>
      <vt:lpstr>if: a forma mais simples</vt:lpstr>
      <vt:lpstr>else e else if não vivem sozinhos</vt:lpstr>
      <vt:lpstr>Exemplo: saudação pela hora</vt:lpstr>
      <vt:lpstr>Testando outras horas</vt:lpstr>
      <vt:lpstr>Condicionais: JS x Python</vt:lpstr>
      <vt:lpstr>Ponto de atenção: vários if</vt:lpstr>
      <vt:lpstr>Cadeia de else if: só um executa</vt:lpstr>
      <vt:lpstr>if separados: vários podem executar</vt:lpstr>
      <vt:lpstr>Qual usar em cada caso?</vt:lpstr>
      <vt:lpstr>switch / case</vt:lpstr>
      <vt:lpstr>Sintaxe do switch</vt:lpstr>
      <vt:lpstr>Exemplo: dia da semana</vt:lpstr>
      <vt:lpstr>Esquecer o break: fall-through</vt:lpstr>
      <vt:lpstr>switch: JS x Python</vt:lpstr>
      <vt:lpstr>Operador ternário</vt:lpstr>
      <vt:lpstr>Primeiro com if/else</vt:lpstr>
      <vt:lpstr>Agora com ternário</vt:lpstr>
      <vt:lpstr>Ternário: JS x Python</vt:lpstr>
      <vt:lpstr>|| como valor padrão</vt:lpstr>
      <vt:lpstr>Exemplo: cor padrão</vt:lpstr>
      <vt:lpstr>Valor padrão: JS x Python</vt:lpstr>
      <vt:lpstr>O objeto Date</vt:lpstr>
      <vt:lpstr>new Date() sem argumentos</vt:lpstr>
      <vt:lpstr>new Date() com argumentos</vt:lpstr>
      <vt:lpstr>Atenção: o mês começa em 0</vt:lpstr>
      <vt:lpstr>Lendo partes da data</vt:lpstr>
      <vt:lpstr>Datas: JS x Python</vt:lpstr>
      <vt:lpstr>Formatando uma data</vt:lpstr>
      <vt:lpstr>A função formataData</vt:lpstr>
      <vt:lpstr>Dois conceitos que se juntam</vt:lpstr>
      <vt:lpstr>Exemplo de Programa</vt:lpstr>
      <vt:lpstr>Parte 1: capturando os dados</vt:lpstr>
      <vt:lpstr>Parte 2: saudação pela hora</vt:lpstr>
      <vt:lpstr>Parte 3: juntando tudo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12</cp:revision>
  <dcterms:created xsi:type="dcterms:W3CDTF">2026-08-06T13:47:07Z</dcterms:created>
  <dcterms:modified xsi:type="dcterms:W3CDTF">2026-08-24T00:59:58Z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0x01010067AF940A41E02B42AE989720C36A0380</vt:lpwstr>
  </property>
</Properties>
</file>