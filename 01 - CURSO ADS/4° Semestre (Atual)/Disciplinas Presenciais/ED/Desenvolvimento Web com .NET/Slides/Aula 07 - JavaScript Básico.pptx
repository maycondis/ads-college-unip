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431" r:id="rId2"/>
    <p:sldId id="432" r:id="rId3"/>
    <p:sldId id="433" r:id="rId4"/>
    <p:sldId id="434" r:id="rId5"/>
    <p:sldId id="435" r:id="rId6"/>
    <p:sldId id="436" r:id="rId7"/>
    <p:sldId id="437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45" r:id="rId16"/>
    <p:sldId id="446" r:id="rId17"/>
    <p:sldId id="447" r:id="rId18"/>
    <p:sldId id="448" r:id="rId19"/>
    <p:sldId id="449" r:id="rId20"/>
    <p:sldId id="450" r:id="rId21"/>
    <p:sldId id="451" r:id="rId22"/>
    <p:sldId id="452" r:id="rId23"/>
    <p:sldId id="453" r:id="rId24"/>
    <p:sldId id="454" r:id="rId25"/>
    <p:sldId id="455" r:id="rId26"/>
    <p:sldId id="456" r:id="rId27"/>
    <p:sldId id="457" r:id="rId28"/>
    <p:sldId id="458" r:id="rId29"/>
    <p:sldId id="459" r:id="rId30"/>
    <p:sldId id="460" r:id="rId31"/>
    <p:sldId id="461" r:id="rId32"/>
    <p:sldId id="462" r:id="rId33"/>
    <p:sldId id="463" r:id="rId34"/>
    <p:sldId id="464" r:id="rId35"/>
    <p:sldId id="465" r:id="rId36"/>
    <p:sldId id="466" r:id="rId37"/>
    <p:sldId id="467" r:id="rId38"/>
    <p:sldId id="468" r:id="rId39"/>
    <p:sldId id="469" r:id="rId40"/>
    <p:sldId id="470" r:id="rId41"/>
    <p:sldId id="471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899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8C06D-0BF8-5B68-99A0-181226A2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07A7C-6CA6-C456-F9A9-5EE188D9D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AAE69-B6B0-08B3-590A-F4B34D8D7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12F5D-1998-4B20-1434-3860FB96A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6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8BAD-F562-04CB-8AA3-BDF2865F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111499DC-290B-B874-BC6A-8CB22932F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76BE4AF-14FF-7187-74C6-8794CBC42D1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 err="1"/>
              <a:t>Introdução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DOM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1F3986-56FD-DB25-62AB-FAEF0DC0AD06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146522-3313-468D-DA5A-D3E1CA43172D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6 – Modelo de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2185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 dirty="0">
                <a:solidFill>
                  <a:srgbClr val="17202A"/>
                </a:solidFill>
                <a:latin typeface="Segoe UI"/>
              </a:rPr>
              <a:t>DOM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17202A"/>
                </a:solidFill>
                <a:latin typeface="Segoe UI"/>
              </a:rPr>
              <a:t>Document Object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0607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rgbClr val="C2410C"/>
                </a:solidFill>
                <a:latin typeface="Segoe UI"/>
              </a:rPr>
              <a:t>Modelo de </a:t>
            </a:r>
            <a:r>
              <a:rPr sz="2400" b="1" i="0" dirty="0" err="1">
                <a:solidFill>
                  <a:srgbClr val="C2410C"/>
                </a:solidFill>
                <a:latin typeface="Segoe UI"/>
              </a:rPr>
              <a:t>Objetos</a:t>
            </a:r>
            <a:r>
              <a:rPr sz="2400" b="1" i="0" dirty="0">
                <a:solidFill>
                  <a:srgbClr val="C2410C"/>
                </a:solidFill>
                <a:latin typeface="Segoe UI"/>
              </a:rPr>
              <a:t> do </a:t>
            </a:r>
            <a:r>
              <a:rPr sz="2400" b="1" i="0" dirty="0" err="1">
                <a:solidFill>
                  <a:srgbClr val="C2410C"/>
                </a:solidFill>
                <a:latin typeface="Segoe UI"/>
              </a:rPr>
              <a:t>Documento</a:t>
            </a:r>
            <a:endParaRPr sz="2400" b="1" i="0" dirty="0">
              <a:solidFill>
                <a:srgbClr val="C2410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3804488"/>
            <a:ext cx="8321040" cy="7483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dirty="0">
                <a:solidFill>
                  <a:srgbClr val="17202A"/>
                </a:solidFill>
                <a:latin typeface="Segoe UI"/>
              </a:rPr>
              <a:t>Uma </a:t>
            </a:r>
            <a:r>
              <a:rPr sz="2400" b="1" dirty="0" err="1">
                <a:solidFill>
                  <a:srgbClr val="17202A"/>
                </a:solidFill>
                <a:latin typeface="Segoe UI"/>
              </a:rPr>
              <a:t>representação</a:t>
            </a:r>
            <a:r>
              <a:rPr sz="2400" b="1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1" dirty="0" err="1">
                <a:solidFill>
                  <a:srgbClr val="17202A"/>
                </a:solidFill>
                <a:latin typeface="Segoe UI"/>
              </a:rPr>
              <a:t>estruturada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,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criada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pelo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navegador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em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memória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,</a:t>
            </a:r>
            <a:r>
              <a:rPr lang="pt-BR"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que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programas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podem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1" dirty="0" err="1">
                <a:solidFill>
                  <a:srgbClr val="17202A"/>
                </a:solidFill>
                <a:latin typeface="Segoe UI"/>
              </a:rPr>
              <a:t>acessar</a:t>
            </a:r>
            <a:r>
              <a:rPr sz="2400" b="1" dirty="0">
                <a:solidFill>
                  <a:srgbClr val="17202A"/>
                </a:solidFill>
                <a:latin typeface="Segoe UI"/>
              </a:rPr>
              <a:t> e </a:t>
            </a:r>
            <a:r>
              <a:rPr sz="2400" b="1" dirty="0" err="1">
                <a:solidFill>
                  <a:srgbClr val="17202A"/>
                </a:solidFill>
                <a:latin typeface="Segoe UI"/>
              </a:rPr>
              <a:t>modificar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01B3D60-AFDD-4E93-F751-A6A849108394}"/>
              </a:ext>
            </a:extLst>
          </p:cNvPr>
          <p:cNvSpPr/>
          <p:nvPr/>
        </p:nvSpPr>
        <p:spPr>
          <a:xfrm>
            <a:off x="694944" y="2066544"/>
            <a:ext cx="4892040" cy="3154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26ED62-6A6E-C209-EFF5-E90FE7B5094F}"/>
              </a:ext>
            </a:extLst>
          </p:cNvPr>
          <p:cNvSpPr/>
          <p:nvPr/>
        </p:nvSpPr>
        <p:spPr>
          <a:xfrm>
            <a:off x="6355080" y="2075688"/>
            <a:ext cx="4892040" cy="3154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HTML é o documento; DOM é o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48006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0" dirty="0">
                <a:solidFill>
                  <a:srgbClr val="17202A"/>
                </a:solidFill>
                <a:latin typeface="Segoe UI"/>
              </a:rPr>
              <a:t>Código </a:t>
            </a:r>
            <a:r>
              <a:rPr sz="2600" b="0" dirty="0" err="1">
                <a:solidFill>
                  <a:srgbClr val="17202A"/>
                </a:solidFill>
                <a:latin typeface="Segoe UI"/>
              </a:rPr>
              <a:t>escrito</a:t>
            </a:r>
            <a:r>
              <a:rPr sz="2600" b="0" dirty="0">
                <a:solidFill>
                  <a:srgbClr val="17202A"/>
                </a:solidFill>
                <a:latin typeface="Segoe UI"/>
              </a:rPr>
              <a:t> no </a:t>
            </a:r>
            <a:r>
              <a:rPr sz="2600" b="0" dirty="0" err="1">
                <a:solidFill>
                  <a:srgbClr val="17202A"/>
                </a:solidFill>
                <a:latin typeface="Segoe UI"/>
              </a:rPr>
              <a:t>arquivo</a:t>
            </a:r>
            <a:r>
              <a:rPr sz="2600" b="0" dirty="0">
                <a:solidFill>
                  <a:srgbClr val="17202A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0" dirty="0">
                <a:solidFill>
                  <a:srgbClr val="17202A"/>
                </a:solidFill>
                <a:latin typeface="Segoe UI"/>
              </a:rPr>
              <a:t>Define o </a:t>
            </a:r>
            <a:r>
              <a:rPr sz="2600" b="0" dirty="0" err="1">
                <a:solidFill>
                  <a:srgbClr val="17202A"/>
                </a:solidFill>
                <a:latin typeface="Segoe UI"/>
              </a:rPr>
              <a:t>conteúdo</a:t>
            </a:r>
            <a:r>
              <a:rPr sz="26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dirty="0" err="1">
                <a:solidFill>
                  <a:srgbClr val="17202A"/>
                </a:solidFill>
                <a:latin typeface="Segoe UI"/>
              </a:rPr>
              <a:t>inicial</a:t>
            </a:r>
            <a:r>
              <a:rPr sz="2600" b="0" dirty="0">
                <a:solidFill>
                  <a:srgbClr val="17202A"/>
                </a:solidFill>
                <a:latin typeface="Segoe U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9904" y="1783080"/>
            <a:ext cx="18288" cy="347472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8006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0">
                <a:solidFill>
                  <a:srgbClr val="17202A"/>
                </a:solidFill>
                <a:latin typeface="Segoe UI"/>
              </a:rPr>
              <a:t>Representação criada em memória.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0">
                <a:solidFill>
                  <a:srgbClr val="17202A"/>
                </a:solidFill>
                <a:latin typeface="Segoe UI"/>
              </a:rPr>
              <a:t>Pode mudar enquanto o programa roda.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Relacionados, mas não idênticos.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navegador transforma HTML em uma árvore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6420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HTML ESCRITO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57400"/>
            <a:ext cx="4800600" cy="3154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203704"/>
            <a:ext cx="4398264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&lt;body&gt;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  &lt;h1&gt;Olá&lt;/h1&gt;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  &lt;p&gt;Texto&lt;/p&gt;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&lt;/body&gt;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0992" y="3182112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6420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ESTRUTURA DOM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57400"/>
            <a:ext cx="4892040" cy="3154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6832" y="2240280"/>
            <a:ext cx="4379975" cy="278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body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├── h1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│   └── "Olá"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└── p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"Texto"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navegador interpreta o HTML e constrói o DOM.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02A"/>
                </a:solidFill>
                <a:latin typeface="Segoe UI"/>
              </a:rPr>
              <a:t>O DOM nasce quando o navegador interpreta o HTML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texto do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2984" y="2404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0184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0184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interpreta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5928" y="2404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3128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3128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estrutura em memória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JavaScript trabalha com essa </a:t>
            </a:r>
            <a:r>
              <a:rPr sz="2400" b="1">
                <a:solidFill>
                  <a:srgbClr val="17202A"/>
                </a:solidFill>
                <a:latin typeface="Segoe UI"/>
              </a:rPr>
              <a:t>estrutura</a:t>
            </a:r>
            <a:r>
              <a:rPr sz="2400" b="0">
                <a:solidFill>
                  <a:srgbClr val="17202A"/>
                </a:solidFill>
                <a:latin typeface="Segoe UI"/>
              </a:rPr>
              <a:t>, não com o arquivo como texto.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Uma árvore organiza elementos por hierarquia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1783080"/>
            <a:ext cx="8549640" cy="4251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84832" y="1965960"/>
            <a:ext cx="8037575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0">
                <a:solidFill>
                  <a:srgbClr val="17202A"/>
                </a:solidFill>
                <a:latin typeface="Consolas"/>
              </a:rPr>
              <a:t>body</a:t>
            </a:r>
          </a:p>
          <a:p>
            <a:pPr>
              <a:spcAft>
                <a:spcPts val="200"/>
              </a:spcAft>
            </a:pPr>
            <a:r>
              <a:rPr sz="2800" b="1">
                <a:solidFill>
                  <a:srgbClr val="C2410C"/>
                </a:solidFill>
                <a:latin typeface="Consolas"/>
              </a:rPr>
              <a:t>└── section</a:t>
            </a:r>
          </a:p>
          <a:p>
            <a:pPr>
              <a:spcAft>
                <a:spcPts val="200"/>
              </a:spcAft>
            </a:pPr>
            <a:r>
              <a:rPr sz="2800" b="0">
                <a:solidFill>
                  <a:srgbClr val="17202A"/>
                </a:solidFill>
                <a:latin typeface="Consolas"/>
              </a:rPr>
              <a:t>    ├── h1</a:t>
            </a:r>
          </a:p>
          <a:p>
            <a:pPr>
              <a:spcAft>
                <a:spcPts val="200"/>
              </a:spcAft>
            </a:pPr>
            <a:r>
              <a:rPr sz="2800" b="0">
                <a:solidFill>
                  <a:srgbClr val="17202A"/>
                </a:solidFill>
                <a:latin typeface="Consolas"/>
              </a:rPr>
              <a:t>    ├── p</a:t>
            </a:r>
          </a:p>
          <a:p>
            <a:pPr>
              <a:spcAft>
                <a:spcPts val="200"/>
              </a:spcAft>
            </a:pPr>
            <a:r>
              <a:rPr sz="2800" b="0">
                <a:solidFill>
                  <a:srgbClr val="17202A"/>
                </a:solidFill>
                <a:latin typeface="Consolas"/>
              </a:rPr>
              <a:t>    └── div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A posição na árvore revela como os elementos se relacionam.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Pai contém filhos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5715000" cy="4160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965960"/>
            <a:ext cx="5202936" cy="3794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body</a:t>
            </a:r>
          </a:p>
          <a:p>
            <a:pPr>
              <a:spcAft>
                <a:spcPts val="200"/>
              </a:spcAft>
            </a:pPr>
            <a:r>
              <a:rPr sz="2300" b="1">
                <a:solidFill>
                  <a:srgbClr val="C2410C"/>
                </a:solidFill>
                <a:latin typeface="Consolas"/>
              </a:rPr>
              <a:t>└── section  ← pai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    ├── h1   ← filho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    ├── p    ← filho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    └── div  ← filho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2148840"/>
            <a:ext cx="42519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700" b="1">
                <a:solidFill>
                  <a:srgbClr val="17202A"/>
                </a:solidFill>
                <a:latin typeface="Segoe UI"/>
              </a:rPr>
              <a:t>section</a:t>
            </a:r>
            <a:r>
              <a:rPr sz="2700" b="0">
                <a:solidFill>
                  <a:srgbClr val="17202A"/>
                </a:solidFill>
                <a:latin typeface="Segoe UI"/>
              </a:rPr>
              <a:t> é pai de: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700" b="0">
                <a:solidFill>
                  <a:srgbClr val="17202A"/>
                </a:solidFill>
                <a:latin typeface="Segoe UI"/>
              </a:rPr>
              <a:t>h1, p e div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A relação descreve a estrutura — não o tamanho ou a aparência.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Irmãos compartilham o mesmo pai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5715000" cy="4160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965960"/>
            <a:ext cx="5202936" cy="3794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body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└── section  ← ancestral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Consolas"/>
              </a:rPr>
              <a:t>    ├── h1   ← irmão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Consolas"/>
              </a:rPr>
              <a:t>    ├── p    ← irmão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div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    └── span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920240"/>
            <a:ext cx="4297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Irmãos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h1 e p têm o mesmo pai.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Ancestral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section está acima de span na árvore.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 árvore do DOM é formada por nós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874519"/>
            <a:ext cx="4709160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2020824"/>
            <a:ext cx="430682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17202A"/>
                </a:solidFill>
                <a:latin typeface="Consolas"/>
              </a:rPr>
              <a:t>&lt;p&gt;Olá, mundo!&lt;/p&gt;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3317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874519"/>
            <a:ext cx="4937760" cy="2560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2057400"/>
            <a:ext cx="4425696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elemento &lt;p&gt;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└── texto "Olá, mundo!"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Há outros tipos de nós; por enquanto, foque em elemento e texto.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document é o ponto de entrada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25880" y="1920240"/>
            <a:ext cx="955548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7048" y="2066544"/>
            <a:ext cx="915314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C2410C"/>
                </a:solidFill>
                <a:latin typeface="Consolas"/>
              </a:rPr>
              <a:t>document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400">
                <a:solidFill>
                  <a:srgbClr val="17202A"/>
                </a:solidFill>
                <a:latin typeface="Consolas"/>
              </a:rPr>
              <a:t>.</a:t>
            </a:r>
            <a:r>
              <a:rPr sz="24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2400">
                <a:solidFill>
                  <a:srgbClr val="17202A"/>
                </a:solidFill>
                <a:latin typeface="Consolas"/>
              </a:rPr>
              <a:t>(...)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51960"/>
            <a:ext cx="94640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O objeto global </a:t>
            </a:r>
            <a:r>
              <a:rPr sz="2400" b="1">
                <a:solidFill>
                  <a:srgbClr val="17202A"/>
                </a:solidFill>
                <a:latin typeface="Segoe UI"/>
              </a:rPr>
              <a:t>document</a:t>
            </a:r>
            <a:r>
              <a:rPr sz="2400" b="0">
                <a:solidFill>
                  <a:srgbClr val="17202A"/>
                </a:solidFill>
                <a:latin typeface="Segoe UI"/>
              </a:rPr>
              <a:t> representa o documento carregado no navegador.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Partimos de document para encontrar elementos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5029200" cy="4069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965960"/>
            <a:ext cx="4517136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Consolas"/>
              </a:rPr>
              <a:t>document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└── html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body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    └── section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        └── 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057400"/>
            <a:ext cx="4709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700" b="1">
                <a:solidFill>
                  <a:srgbClr val="17202A"/>
                </a:solidFill>
                <a:latin typeface="Segoe UI"/>
              </a:rPr>
              <a:t>document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700" b="0">
                <a:solidFill>
                  <a:srgbClr val="17202A"/>
                </a:solidFill>
                <a:latin typeface="Segoe UI"/>
              </a:rPr>
              <a:t>↓ procura na árvore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700" b="1">
                <a:solidFill>
                  <a:srgbClr val="17202A"/>
                </a:solidFill>
                <a:latin typeface="Segoe UI"/>
              </a:rPr>
              <a:t>elemento encontrado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 dirty="0">
                <a:solidFill>
                  <a:srgbClr val="5A6472"/>
                </a:solidFill>
                <a:latin typeface="Segoe UI"/>
              </a:rPr>
              <a:t>A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busca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começa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no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documento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e segue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os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seletores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que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já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usamos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no CSS.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querySelector encontra pela classe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10607040" cy="3611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10204704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5A6472"/>
                </a:solidFill>
                <a:latin typeface="Consolas"/>
              </a:rPr>
              <a:t>// HTML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&lt;section class="container"&gt;...&lt;/section&gt;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9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5A6472"/>
                </a:solidFill>
                <a:latin typeface="Consolas"/>
              </a:rPr>
              <a:t>// JavaScript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container = </a:t>
            </a:r>
            <a:r>
              <a:rPr sz="19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900">
                <a:solidFill>
                  <a:srgbClr val="17202A"/>
                </a:solidFill>
                <a:latin typeface="Consolas"/>
              </a:rPr>
              <a:t>.</a:t>
            </a:r>
            <a:r>
              <a:rPr sz="19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900">
                <a:solidFill>
                  <a:srgbClr val="17202A"/>
                </a:solidFill>
                <a:latin typeface="Consolas"/>
              </a:rPr>
              <a:t>(".container");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5321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17202A"/>
                </a:solidFill>
                <a:latin typeface="Segoe UI"/>
              </a:rPr>
              <a:t>O ponto em </a:t>
            </a:r>
            <a:r>
              <a:rPr sz="2000" b="1">
                <a:solidFill>
                  <a:srgbClr val="17202A"/>
                </a:solidFill>
                <a:latin typeface="Segoe UI"/>
              </a:rPr>
              <a:t>.container</a:t>
            </a:r>
            <a:r>
              <a:rPr sz="2000" b="0">
                <a:solidFill>
                  <a:srgbClr val="17202A"/>
                </a:solidFill>
                <a:latin typeface="Segoe UI"/>
              </a:rPr>
              <a:t> indica uma classe CSS.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querySelector também encontra pelo id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10607040" cy="3611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10204704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5A6472"/>
                </a:solidFill>
                <a:latin typeface="Consolas"/>
              </a:rPr>
              <a:t>// HTML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&lt;h1 id="titulo"&gt;Olá&lt;/h1&gt;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9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5A6472"/>
                </a:solidFill>
                <a:latin typeface="Consolas"/>
              </a:rPr>
              <a:t>// JavaScript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titulo = </a:t>
            </a:r>
            <a:r>
              <a:rPr sz="19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900">
                <a:solidFill>
                  <a:srgbClr val="17202A"/>
                </a:solidFill>
                <a:latin typeface="Consolas"/>
              </a:rPr>
              <a:t>.</a:t>
            </a:r>
            <a:r>
              <a:rPr sz="19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900">
                <a:solidFill>
                  <a:srgbClr val="17202A"/>
                </a:solidFill>
                <a:latin typeface="Consolas"/>
              </a:rPr>
              <a:t>("#titulo");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5321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17202A"/>
                </a:solidFill>
                <a:latin typeface="Segoe UI"/>
              </a:rPr>
              <a:t>O símbolo </a:t>
            </a:r>
            <a:r>
              <a:rPr sz="2000" b="1">
                <a:solidFill>
                  <a:srgbClr val="17202A"/>
                </a:solidFill>
                <a:latin typeface="Segoe UI"/>
              </a:rPr>
              <a:t>#titulo</a:t>
            </a:r>
            <a:r>
              <a:rPr sz="2000" b="0">
                <a:solidFill>
                  <a:srgbClr val="17202A"/>
                </a:solidFill>
                <a:latin typeface="Segoe UI"/>
              </a:rPr>
              <a:t> indica um id CSS.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createElement cria um novo elemento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" y="1920240"/>
            <a:ext cx="1024128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066544"/>
            <a:ext cx="983894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300">
                <a:solidFill>
                  <a:srgbClr val="17202A"/>
                </a:solidFill>
                <a:latin typeface="Consolas"/>
              </a:rPr>
              <a:t> p = </a:t>
            </a:r>
            <a:r>
              <a:rPr sz="23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300">
                <a:solidFill>
                  <a:srgbClr val="17202A"/>
                </a:solidFill>
                <a:latin typeface="Consolas"/>
              </a:rPr>
              <a:t>.</a:t>
            </a:r>
            <a:r>
              <a:rPr sz="23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300">
                <a:solidFill>
                  <a:srgbClr val="17202A"/>
                </a:solidFill>
                <a:latin typeface="Consolas"/>
              </a:rPr>
              <a:t>("p");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49926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JavaScript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27448"/>
            <a:ext cx="499262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executa createElement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4416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655" y="4160520"/>
            <a:ext cx="49926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novo &lt;p&gt;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5" y="4727448"/>
            <a:ext cx="499262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existe em memória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Criado não significa inserido na página.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novo elemento ainda está fora da árvore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594360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965960"/>
            <a:ext cx="543153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DOM atual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└── body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    └── div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224028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2410C"/>
                </a:solidFill>
                <a:latin typeface="Segoe UI"/>
              </a:rPr>
              <a:t>novo &lt;p&gt;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06324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A6472"/>
                </a:solidFill>
                <a:latin typeface="Segoe UI"/>
              </a:rPr>
              <a:t>criado, mas ainda
sem pai no 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próximo passo é conectar esse nó à árvore.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appendChild estabelece pai → filho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25880" y="1828800"/>
            <a:ext cx="9555480" cy="1508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7048" y="1975104"/>
            <a:ext cx="9153144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400">
                <a:solidFill>
                  <a:srgbClr val="17202A"/>
                </a:solidFill>
                <a:latin typeface="Consolas"/>
              </a:rPr>
              <a:t>pai.</a:t>
            </a:r>
            <a:r>
              <a:rPr sz="2400" b="1">
                <a:solidFill>
                  <a:srgbClr val="C2410C"/>
                </a:solidFill>
                <a:latin typeface="Consolas"/>
              </a:rPr>
              <a:t>appendChild</a:t>
            </a:r>
            <a:r>
              <a:rPr sz="2400">
                <a:solidFill>
                  <a:srgbClr val="17202A"/>
                </a:solidFill>
                <a:latin typeface="Consolas"/>
              </a:rPr>
              <a:t>(filho);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94760"/>
            <a:ext cx="99669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700" b="0">
                <a:solidFill>
                  <a:srgbClr val="17202A"/>
                </a:solidFill>
                <a:latin typeface="Segoe UI"/>
              </a:rPr>
              <a:t>“Adicione este elemento como </a:t>
            </a:r>
            <a:r>
              <a:rPr sz="2700" b="1">
                <a:solidFill>
                  <a:srgbClr val="17202A"/>
                </a:solidFill>
                <a:latin typeface="Segoe UI"/>
              </a:rPr>
              <a:t>filho</a:t>
            </a:r>
            <a:r>
              <a:rPr sz="2700" b="0">
                <a:solidFill>
                  <a:srgbClr val="17202A"/>
                </a:solidFill>
                <a:latin typeface="Segoe UI"/>
              </a:rPr>
              <a:t> deste outro elemento.”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appendChild insere o nó na árvore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57400"/>
            <a:ext cx="4480560" cy="3337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2240280"/>
            <a:ext cx="3968496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17202A"/>
                </a:solidFill>
                <a:latin typeface="Consolas"/>
              </a:rPr>
              <a:t>div</a:t>
            </a:r>
          </a:p>
          <a:p>
            <a:pPr>
              <a:spcAft>
                <a:spcPts val="200"/>
              </a:spcAft>
            </a:pPr>
            <a:endParaRPr sz="2400" b="0">
              <a:solidFill>
                <a:srgbClr val="17202A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17202A"/>
                </a:solidFill>
                <a:latin typeface="Consolas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DEPOIS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2057400"/>
            <a:ext cx="4709160" cy="3337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2240280"/>
            <a:ext cx="4197096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17202A"/>
                </a:solidFill>
                <a:latin typeface="Consolas"/>
              </a:rPr>
              <a:t>div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C2410C"/>
                </a:solidFill>
                <a:latin typeface="Consolas"/>
              </a:rPr>
              <a:t>└──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p passa a ser filho do div.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appendChild adiciona ao final dos filhos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57400"/>
            <a:ext cx="4709160" cy="3200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2240280"/>
            <a:ext cx="4197096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ul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├── li "A"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└── li "B"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31546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DEPOIS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057400"/>
            <a:ext cx="4846320" cy="3200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2552" y="2240280"/>
            <a:ext cx="4334256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ul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├── li "A"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├── li "B"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C2410C"/>
                </a:solidFill>
                <a:latin typeface="Consolas"/>
              </a:rPr>
              <a:t>└── li "C"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novo filho entra depois dos filhos que já existiam.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Montando o DOM: criar → configurar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10607040" cy="3566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1020470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000">
                <a:solidFill>
                  <a:srgbClr val="17202A"/>
                </a:solidFill>
                <a:latin typeface="Consolas"/>
              </a:rPr>
              <a:t> div = </a:t>
            </a:r>
            <a:r>
              <a:rPr sz="20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000">
                <a:solidFill>
                  <a:srgbClr val="17202A"/>
                </a:solidFill>
                <a:latin typeface="Consolas"/>
              </a:rPr>
              <a:t>("div");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000">
                <a:solidFill>
                  <a:srgbClr val="17202A"/>
                </a:solidFill>
                <a:latin typeface="Consolas"/>
              </a:rPr>
              <a:t> p = </a:t>
            </a:r>
            <a:r>
              <a:rPr sz="20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000">
                <a:solidFill>
                  <a:srgbClr val="17202A"/>
                </a:solidFill>
                <a:latin typeface="Consolas"/>
              </a:rPr>
              <a:t>("p");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20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p.</a:t>
            </a:r>
            <a:r>
              <a:rPr sz="20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2000">
                <a:solidFill>
                  <a:srgbClr val="17202A"/>
                </a:solidFill>
                <a:latin typeface="Consolas"/>
              </a:rPr>
              <a:t> = "Olá!";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div.</a:t>
            </a:r>
            <a:r>
              <a:rPr sz="2000" b="1">
                <a:solidFill>
                  <a:srgbClr val="C2410C"/>
                </a:solidFill>
                <a:latin typeface="Consolas"/>
              </a:rPr>
              <a:t>appendChild</a:t>
            </a:r>
            <a:r>
              <a:rPr sz="2000">
                <a:solidFill>
                  <a:srgbClr val="17202A"/>
                </a:solidFill>
                <a:latin typeface="Consolas"/>
              </a:rPr>
              <a:t>(p);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3212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1. criar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9904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div e 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2984" y="5788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0184" y="553212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2. configurar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0184" y="609904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texto do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5928" y="5788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3128" y="553212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3. relacionar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3128" y="609904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p dentro de div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Montando o DOM: inserir na árvore existente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5074920" cy="2011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467258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17202A"/>
                </a:solidFill>
                <a:latin typeface="Consolas"/>
              </a:rPr>
              <a:t>container.</a:t>
            </a:r>
            <a:r>
              <a:rPr sz="2200" b="1">
                <a:solidFill>
                  <a:srgbClr val="C2410C"/>
                </a:solidFill>
                <a:latin typeface="Consolas"/>
              </a:rPr>
              <a:t>appendChild</a:t>
            </a:r>
            <a:r>
              <a:rPr sz="2200">
                <a:solidFill>
                  <a:srgbClr val="17202A"/>
                </a:solidFill>
                <a:latin typeface="Consolas"/>
              </a:rPr>
              <a:t>(div);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24231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737360"/>
            <a:ext cx="4754880" cy="34747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93992" y="1920240"/>
            <a:ext cx="4242816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section.container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Consolas"/>
              </a:rPr>
              <a:t>└── div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p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    └── "Olá!"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Sequência completa: criar → configurar → inserir.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DOM pode mudar enquanto o programa roda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HTML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&lt;div id="app"&gt;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cria elementos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455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DOM alterado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novos nós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atualizada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A estrutura final pode ser </a:t>
            </a:r>
            <a:r>
              <a:rPr sz="2400" b="1">
                <a:solidFill>
                  <a:srgbClr val="17202A"/>
                </a:solidFill>
                <a:latin typeface="Segoe UI"/>
              </a:rPr>
              <a:t>diferente</a:t>
            </a:r>
            <a:r>
              <a:rPr sz="2400" b="0">
                <a:solidFill>
                  <a:srgbClr val="17202A"/>
                </a:solidFill>
                <a:latin typeface="Segoe UI"/>
              </a:rPr>
              <a:t> do HTML inicialmente escrito.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JavaScript gera conteúdo quando os dados mudam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HTML ESTÁTICO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48006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500" b="0">
                <a:solidFill>
                  <a:srgbClr val="17202A"/>
                </a:solidFill>
                <a:latin typeface="Segoe UI"/>
              </a:rPr>
              <a:t>3 produtos conhecidos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500" b="0">
                <a:solidFill>
                  <a:srgbClr val="17202A"/>
                </a:solidFill>
                <a:latin typeface="Segoe UI"/>
              </a:rPr>
              <a:t>→ escrever 3 itens pode bastar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783080"/>
            <a:ext cx="18288" cy="338328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8006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500" b="0">
                <a:solidFill>
                  <a:srgbClr val="17202A"/>
                </a:solidFill>
                <a:latin typeface="Segoe UI"/>
              </a:rPr>
              <a:t>100 produtos vindos de dados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500" b="0">
                <a:solidFill>
                  <a:srgbClr val="17202A"/>
                </a:solidFill>
                <a:latin typeface="Segoe UI"/>
              </a:rPr>
              <a:t>→ repetir a criação faz sentido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princípio é simples: dados diferentes podem produzir elementos diferentes.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textContent altera o texto de um elemento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310896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157984"/>
            <a:ext cx="270662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&lt;h1 id="titulo"&gt;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  Olá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&lt;/h1&gt;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4688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2011680"/>
            <a:ext cx="3749039" cy="1874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01768" y="2157984"/>
            <a:ext cx="3346703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600">
                <a:solidFill>
                  <a:srgbClr val="17202A"/>
                </a:solidFill>
                <a:latin typeface="Consolas"/>
              </a:rPr>
              <a:t> titulo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600">
                <a:solidFill>
                  <a:srgbClr val="17202A"/>
                </a:solidFill>
                <a:latin typeface="Consolas"/>
              </a:rPr>
              <a:t>.</a:t>
            </a:r>
            <a:r>
              <a:rPr sz="16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600">
                <a:solidFill>
                  <a:srgbClr val="17202A"/>
                </a:solidFill>
                <a:latin typeface="Consolas"/>
              </a:rPr>
              <a:t>("#titulo");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6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titulo.</a:t>
            </a:r>
            <a:r>
              <a:rPr sz="16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1600">
                <a:solidFill>
                  <a:srgbClr val="17202A"/>
                </a:solidFill>
                <a:latin typeface="Consolas"/>
              </a:rPr>
              <a:t> = "Novo título";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4688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691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DEPOIS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331720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202A"/>
                </a:solidFill>
                <a:latin typeface="Segoe UI"/>
              </a:rPr>
              <a:t>Novo título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resultado observável é a mudança do texto exibido.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02A"/>
                </a:solidFill>
                <a:latin typeface="Segoe UI"/>
              </a:rPr>
              <a:t>textContent insere texto; innerHTML interpreta HTML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textContent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4754880" cy="1554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295144"/>
            <a:ext cx="435254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elemento.</a:t>
            </a:r>
            <a:r>
              <a:rPr sz="16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1600">
                <a:solidFill>
                  <a:srgbClr val="17202A"/>
                </a:solidFill>
                <a:latin typeface="Consolas"/>
              </a:rPr>
              <a:t> = "&lt;b&gt;Olá&lt;/b&gt;";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5A6472"/>
                </a:solidFill>
                <a:latin typeface="Segoe UI"/>
              </a:rPr>
              <a:t>mostra: &lt;b&gt;Olá&lt;/b&gt;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783080"/>
            <a:ext cx="18288" cy="338328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innerHTML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148840"/>
            <a:ext cx="4846320" cy="1554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2295144"/>
            <a:ext cx="4443983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elemento.innerHTML = "&lt;b&gt;Olá&lt;/b&gt;";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977639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5A6472"/>
                </a:solidFill>
                <a:latin typeface="Segoe UI"/>
              </a:rPr>
              <a:t>mostra: Olá em negrito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Para inserir apenas texto, prefira textContent.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Atributos também podem mudar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306324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157984"/>
            <a:ext cx="2660904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17202A"/>
                </a:solidFill>
                <a:latin typeface="Consolas"/>
              </a:rPr>
              <a:t>&lt;img src="imagem1.jpg"&gt;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26771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2011680"/>
            <a:ext cx="3657600" cy="1645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8888" y="2157984"/>
            <a:ext cx="325526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imagem.</a:t>
            </a:r>
            <a:r>
              <a:rPr sz="1600" b="1">
                <a:solidFill>
                  <a:srgbClr val="C2410C"/>
                </a:solidFill>
                <a:latin typeface="Consolas"/>
              </a:rPr>
              <a:t>setAttribute</a:t>
            </a:r>
            <a:r>
              <a:rPr sz="1600">
                <a:solidFill>
                  <a:srgbClr val="17202A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  "src", "imagem2.jpg"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26771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916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DEPOIS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2011680"/>
            <a:ext cx="228600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08008" y="2157984"/>
            <a:ext cx="1883664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7202A"/>
                </a:solidFill>
                <a:latin typeface="Consolas"/>
              </a:rPr>
              <a:t>src="imagem2.jpg"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Forma direta equivalente: </a:t>
            </a:r>
            <a:r>
              <a:rPr sz="2200" b="1">
                <a:solidFill>
                  <a:srgbClr val="17202A"/>
                </a:solidFill>
                <a:latin typeface="Segoe UI"/>
              </a:rPr>
              <a:t>imagem.src = "imagem2.jpg"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Classes conectam JavaScript e CSS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6400800" cy="3291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5998464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elemento.</a:t>
            </a:r>
            <a:r>
              <a:rPr sz="2000" b="1">
                <a:solidFill>
                  <a:srgbClr val="C2410C"/>
                </a:solidFill>
                <a:latin typeface="Consolas"/>
              </a:rPr>
              <a:t>classList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add</a:t>
            </a:r>
            <a:r>
              <a:rPr sz="2000">
                <a:solidFill>
                  <a:srgbClr val="17202A"/>
                </a:solidFill>
                <a:latin typeface="Consolas"/>
              </a:rPr>
              <a:t>("ativo");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elemento.</a:t>
            </a:r>
            <a:r>
              <a:rPr sz="2000" b="1">
                <a:solidFill>
                  <a:srgbClr val="C2410C"/>
                </a:solidFill>
                <a:latin typeface="Consolas"/>
              </a:rPr>
              <a:t>classList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remove</a:t>
            </a:r>
            <a:r>
              <a:rPr sz="2000">
                <a:solidFill>
                  <a:srgbClr val="17202A"/>
                </a:solidFill>
                <a:latin typeface="Consolas"/>
              </a:rPr>
              <a:t>("ativo");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elemento.</a:t>
            </a:r>
            <a:r>
              <a:rPr sz="2000" b="1">
                <a:solidFill>
                  <a:srgbClr val="C2410C"/>
                </a:solidFill>
                <a:latin typeface="Consolas"/>
              </a:rPr>
              <a:t>classList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toggle</a:t>
            </a:r>
            <a:r>
              <a:rPr sz="2000">
                <a:solidFill>
                  <a:srgbClr val="17202A"/>
                </a:solidFill>
                <a:latin typeface="Consolas"/>
              </a:rPr>
              <a:t>("ativo");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74519"/>
            <a:ext cx="36576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JavaScript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altera a classe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↓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CSS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define a aparência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A mudança visual vem das regras CSS associadas à classe.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Evento é algo que o navegador detecta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clica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2984" y="2404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0184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evento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0184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5928" y="2404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3128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3128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executa função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4340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Um evento conecta uma </a:t>
            </a:r>
            <a:r>
              <a:rPr sz="2400" b="1">
                <a:solidFill>
                  <a:srgbClr val="17202A"/>
                </a:solidFill>
                <a:latin typeface="Segoe UI"/>
              </a:rPr>
              <a:t>ocorrência</a:t>
            </a:r>
            <a:r>
              <a:rPr sz="2400" b="0">
                <a:solidFill>
                  <a:srgbClr val="17202A"/>
                </a:solidFill>
                <a:latin typeface="Segoe UI"/>
              </a:rPr>
              <a:t> a uma </a:t>
            </a:r>
            <a:r>
              <a:rPr sz="2400" b="1">
                <a:solidFill>
                  <a:srgbClr val="17202A"/>
                </a:solidFill>
                <a:latin typeface="Segoe UI"/>
              </a:rPr>
              <a:t>resposta do programa</a:t>
            </a:r>
            <a:r>
              <a:rPr sz="2400" b="0">
                <a:solidFill>
                  <a:srgbClr val="17202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addEventListener associa evento e função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10607040" cy="4069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37944"/>
            <a:ext cx="10204704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botao = </a:t>
            </a:r>
            <a:r>
              <a:rPr sz="19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900">
                <a:solidFill>
                  <a:srgbClr val="17202A"/>
                </a:solidFill>
                <a:latin typeface="Consolas"/>
              </a:rPr>
              <a:t>.</a:t>
            </a:r>
            <a:r>
              <a:rPr sz="19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900">
                <a:solidFill>
                  <a:srgbClr val="17202A"/>
                </a:solidFill>
                <a:latin typeface="Consolas"/>
              </a:rPr>
              <a:t>("#botao");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9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botao.</a:t>
            </a:r>
            <a:r>
              <a:rPr sz="1900" b="1">
                <a:solidFill>
                  <a:srgbClr val="C2410C"/>
                </a:solidFill>
                <a:latin typeface="Consolas"/>
              </a:rPr>
              <a:t>addEventListener</a:t>
            </a:r>
            <a:r>
              <a:rPr sz="1900">
                <a:solidFill>
                  <a:srgbClr val="17202A"/>
                </a:solidFill>
                <a:latin typeface="Consolas"/>
              </a:rPr>
              <a:t>("click", </a:t>
            </a:r>
            <a:r>
              <a:rPr sz="1900" b="1">
                <a:solidFill>
                  <a:srgbClr val="C2410C"/>
                </a:solidFill>
                <a:latin typeface="Consolas"/>
              </a:rPr>
              <a:t>function</a:t>
            </a:r>
            <a:r>
              <a:rPr sz="1900">
                <a:solidFill>
                  <a:srgbClr val="17202A"/>
                </a:solidFill>
                <a:latin typeface="Consolas"/>
              </a:rPr>
              <a:t> 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</a:t>
            </a:r>
            <a:r>
              <a:rPr sz="1900" b="1">
                <a:solidFill>
                  <a:srgbClr val="C2410C"/>
                </a:solidFill>
                <a:latin typeface="Consolas"/>
              </a:rPr>
              <a:t>console</a:t>
            </a:r>
            <a:r>
              <a:rPr sz="1900">
                <a:solidFill>
                  <a:srgbClr val="17202A"/>
                </a:solidFill>
                <a:latin typeface="Consolas"/>
              </a:rPr>
              <a:t>.</a:t>
            </a:r>
            <a:r>
              <a:rPr sz="1900" b="1">
                <a:solidFill>
                  <a:srgbClr val="C2410C"/>
                </a:solidFill>
                <a:latin typeface="Consolas"/>
              </a:rPr>
              <a:t>log</a:t>
            </a:r>
            <a:r>
              <a:rPr sz="1900">
                <a:solidFill>
                  <a:srgbClr val="17202A"/>
                </a:solidFill>
                <a:latin typeface="Consolas"/>
              </a:rPr>
              <a:t>("Botão clicado!");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Resultado no console após o clique: Botão clicado!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Um clique também pode alterar a página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6812280" cy="397763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37944"/>
            <a:ext cx="6409944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700">
                <a:solidFill>
                  <a:srgbClr val="17202A"/>
                </a:solidFill>
                <a:latin typeface="Consolas"/>
              </a:rPr>
              <a:t> botao = </a:t>
            </a:r>
            <a:r>
              <a:rPr sz="17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700">
                <a:solidFill>
                  <a:srgbClr val="17202A"/>
                </a:solidFill>
                <a:latin typeface="Consolas"/>
              </a:rPr>
              <a:t>.</a:t>
            </a:r>
            <a:r>
              <a:rPr sz="17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700">
                <a:solidFill>
                  <a:srgbClr val="17202A"/>
                </a:solidFill>
                <a:latin typeface="Consolas"/>
              </a:rPr>
              <a:t>("#botao");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700">
                <a:solidFill>
                  <a:srgbClr val="17202A"/>
                </a:solidFill>
                <a:latin typeface="Consolas"/>
              </a:rPr>
              <a:t> titulo = </a:t>
            </a:r>
            <a:r>
              <a:rPr sz="17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700">
                <a:solidFill>
                  <a:srgbClr val="17202A"/>
                </a:solidFill>
                <a:latin typeface="Consolas"/>
              </a:rPr>
              <a:t>.</a:t>
            </a:r>
            <a:r>
              <a:rPr sz="17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700">
                <a:solidFill>
                  <a:srgbClr val="17202A"/>
                </a:solidFill>
                <a:latin typeface="Consolas"/>
              </a:rPr>
              <a:t>("#titulo");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7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botao.</a:t>
            </a:r>
            <a:r>
              <a:rPr sz="1700" b="1">
                <a:solidFill>
                  <a:srgbClr val="C2410C"/>
                </a:solidFill>
                <a:latin typeface="Consolas"/>
              </a:rPr>
              <a:t>addEventListener</a:t>
            </a:r>
            <a:r>
              <a:rPr sz="1700">
                <a:solidFill>
                  <a:srgbClr val="17202A"/>
                </a:solidFill>
                <a:latin typeface="Consolas"/>
              </a:rPr>
              <a:t>("click", </a:t>
            </a:r>
            <a:r>
              <a:rPr sz="1700" b="1">
                <a:solidFill>
                  <a:srgbClr val="C2410C"/>
                </a:solidFill>
                <a:latin typeface="Consolas"/>
              </a:rPr>
              <a:t>function</a:t>
            </a:r>
            <a:r>
              <a:rPr sz="1700">
                <a:solidFill>
                  <a:srgbClr val="17202A"/>
                </a:solidFill>
                <a:latin typeface="Consolas"/>
              </a:rPr>
              <a:t> 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  titulo.</a:t>
            </a:r>
            <a:r>
              <a:rPr sz="17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1700">
                <a:solidFill>
                  <a:srgbClr val="17202A"/>
                </a:solidFill>
                <a:latin typeface="Consolas"/>
              </a:rPr>
              <a:t> = "Você clicou!";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18288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42316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2A"/>
                </a:solidFill>
                <a:latin typeface="Segoe UI"/>
              </a:rPr>
              <a:t>Você clicou!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24612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A6472"/>
                </a:solidFill>
                <a:latin typeface="Segoe UI"/>
              </a:rPr>
              <a:t>o texto muda
sem recarregar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DOM não é a tela — nem os pixels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DOM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estrutura + estilo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455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renderização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tela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pixels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10287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300" b="0">
                <a:solidFill>
                  <a:srgbClr val="17202A"/>
                </a:solidFill>
                <a:latin typeface="Segoe UI"/>
              </a:rPr>
              <a:t>O DOM descreve a </a:t>
            </a:r>
            <a:r>
              <a:rPr sz="2300" b="1">
                <a:solidFill>
                  <a:srgbClr val="17202A"/>
                </a:solidFill>
                <a:latin typeface="Segoe UI"/>
              </a:rPr>
              <a:t>estrutura</a:t>
            </a:r>
            <a:r>
              <a:rPr sz="2300" b="0">
                <a:solidFill>
                  <a:srgbClr val="17202A"/>
                </a:solidFill>
                <a:latin typeface="Segoe UI"/>
              </a:rPr>
              <a:t>. A imagem final resulta da </a:t>
            </a:r>
            <a:r>
              <a:rPr sz="2300" b="1">
                <a:solidFill>
                  <a:srgbClr val="17202A"/>
                </a:solidFill>
                <a:latin typeface="Segoe UI"/>
              </a:rPr>
              <a:t>renderização</a:t>
            </a:r>
            <a:r>
              <a:rPr sz="2300" b="0">
                <a:solidFill>
                  <a:srgbClr val="17202A"/>
                </a:solidFill>
                <a:latin typeface="Segoe UI"/>
              </a:rPr>
              <a:t> do navegador.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DOM é uma API fornecida pelo navegador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6080760" cy="3840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5678424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2000">
                <a:solidFill>
                  <a:srgbClr val="17202A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000">
                <a:solidFill>
                  <a:srgbClr val="17202A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element.</a:t>
            </a:r>
            <a:r>
              <a:rPr sz="2000" b="1">
                <a:solidFill>
                  <a:srgbClr val="C2410C"/>
                </a:solidFill>
                <a:latin typeface="Consolas"/>
              </a:rPr>
              <a:t>appendChild</a:t>
            </a:r>
            <a:r>
              <a:rPr sz="2000">
                <a:solidFill>
                  <a:srgbClr val="17202A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element.</a:t>
            </a:r>
            <a:r>
              <a:rPr sz="2000" b="1">
                <a:solidFill>
                  <a:srgbClr val="C2410C"/>
                </a:solidFill>
                <a:latin typeface="Consolas"/>
              </a:rPr>
              <a:t>addEventListener</a:t>
            </a:r>
            <a:r>
              <a:rPr sz="2000">
                <a:solidFill>
                  <a:srgbClr val="17202A"/>
                </a:solidFill>
                <a:latin typeface="Consolas"/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92024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JavaScript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é a linguagem.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DOM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é o modelo/API para interagir com o documento.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Analogia: camadas e grupos em um software gráfico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SOFTWARE GRÁFICO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03120"/>
            <a:ext cx="4800600" cy="3108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2286000"/>
            <a:ext cx="4288536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grupo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├── objeto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└── subgrupo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objeto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18288" cy="347472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103120"/>
            <a:ext cx="4846320" cy="3108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2552" y="2286000"/>
            <a:ext cx="4334256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document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└── elemento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elemento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    └── nó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É uma analogia de hierarquia — não uma equivalência técnica.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 HTML à interface: o fluxo completo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62397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41448"/>
            <a:ext cx="162397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5806" y="2130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3006" y="1874519"/>
            <a:ext cx="162397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3006" y="2441448"/>
            <a:ext cx="162397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interpreta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1572" y="2130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68772" y="1874519"/>
            <a:ext cx="162397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8772" y="2441448"/>
            <a:ext cx="162397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estrutura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7339" y="2130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4539" y="1874519"/>
            <a:ext cx="162397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4539" y="2441448"/>
            <a:ext cx="162397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acessa e muda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3105" y="2130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0305" y="1874519"/>
            <a:ext cx="162397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0305" y="2441448"/>
            <a:ext cx="162397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atualiza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105613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localizar · criar · modificar · inserir · responder a eventos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Exercício: os dados descrevem os elementos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10607040" cy="4251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37944"/>
            <a:ext cx="10204704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elementos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{ tag: "p", texto: "Qualquer texto"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{ tag: "div", texto: "Frase 2"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{ tag: "section", texto: "Frase 3"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{ tag: "footer", texto: "Frase 4"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Cada objeto informa qual tag criar e qual texto inserir.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Exercício: primeiro, localize o destino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" y="1828800"/>
            <a:ext cx="10058400" cy="1874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2728" y="1975104"/>
            <a:ext cx="9656064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200">
                <a:solidFill>
                  <a:srgbClr val="17202A"/>
                </a:solidFill>
                <a:latin typeface="Consolas"/>
              </a:rPr>
              <a:t> container = </a:t>
            </a:r>
            <a:r>
              <a:rPr sz="22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200">
                <a:solidFill>
                  <a:srgbClr val="17202A"/>
                </a:solidFill>
                <a:latin typeface="Consolas"/>
              </a:rPr>
              <a:t>.</a:t>
            </a:r>
            <a:r>
              <a:rPr sz="22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2200">
                <a:solidFill>
                  <a:srgbClr val="17202A"/>
                </a:solidFill>
                <a:latin typeface="Consolas"/>
              </a:rPr>
              <a:t>(".container");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4023360"/>
            <a:ext cx="5989320" cy="1508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64991" y="4206240"/>
            <a:ext cx="547725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Consolas"/>
              </a:rPr>
              <a:t>section.container  ←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Todos os novos elementos serão inseridos dentro dessa section.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Exercício: para cada dado, crie e configure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10607040" cy="4069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37944"/>
            <a:ext cx="10204704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for</a:t>
            </a:r>
            <a:r>
              <a:rPr sz="200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000">
                <a:solidFill>
                  <a:srgbClr val="17202A"/>
                </a:solidFill>
                <a:latin typeface="Consolas"/>
              </a:rPr>
              <a:t> item of elementos)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000">
                <a:solidFill>
                  <a:srgbClr val="17202A"/>
                </a:solidFill>
                <a:latin typeface="Consolas"/>
              </a:rPr>
              <a:t> elemento = </a:t>
            </a:r>
            <a:r>
              <a:rPr sz="20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000">
                <a:solidFill>
                  <a:srgbClr val="17202A"/>
                </a:solidFill>
                <a:latin typeface="Consolas"/>
              </a:rPr>
              <a:t>(item.tag);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  elemento.</a:t>
            </a:r>
            <a:r>
              <a:rPr sz="20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2000">
                <a:solidFill>
                  <a:srgbClr val="17202A"/>
                </a:solidFill>
                <a:latin typeface="Consolas"/>
              </a:rPr>
              <a:t> = item.texto;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item.tag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733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define a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2984" y="60624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0184" y="58064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createElement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0184" y="63733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cria o nó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5928" y="60624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3128" y="58064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textContent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3128" y="63733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define o texto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Exercício: insira cada elemento no container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10607040" cy="3886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37944"/>
            <a:ext cx="1020470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onsolas"/>
              </a:rPr>
              <a:t>for</a:t>
            </a:r>
            <a:r>
              <a:rPr sz="1900">
                <a:solidFill>
                  <a:srgbClr val="17202A"/>
                </a:solidFill>
                <a:latin typeface="Consolas"/>
              </a:rPr>
              <a:t> (</a:t>
            </a: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item of elementos)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</a:t>
            </a: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elemento = </a:t>
            </a:r>
            <a:r>
              <a:rPr sz="19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900">
                <a:solidFill>
                  <a:srgbClr val="17202A"/>
                </a:solidFill>
                <a:latin typeface="Consolas"/>
              </a:rPr>
              <a:t>.</a:t>
            </a:r>
            <a:r>
              <a:rPr sz="19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1900">
                <a:solidFill>
                  <a:srgbClr val="17202A"/>
                </a:solidFill>
                <a:latin typeface="Consolas"/>
              </a:rPr>
              <a:t>(item.tag);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elemento.</a:t>
            </a:r>
            <a:r>
              <a:rPr sz="19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1900">
                <a:solidFill>
                  <a:srgbClr val="17202A"/>
                </a:solidFill>
                <a:latin typeface="Consolas"/>
              </a:rPr>
              <a:t> = item.texto;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container.</a:t>
            </a:r>
            <a:r>
              <a:rPr sz="1900" b="1">
                <a:solidFill>
                  <a:srgbClr val="C2410C"/>
                </a:solidFill>
                <a:latin typeface="Consolas"/>
              </a:rPr>
              <a:t>appendChild</a:t>
            </a:r>
            <a:r>
              <a:rPr sz="1900">
                <a:solidFill>
                  <a:srgbClr val="17202A"/>
                </a:solidFill>
                <a:latin typeface="Consolas"/>
              </a:rPr>
              <a:t>(elemento);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appendChild conecta o novo nó à árvore, ao final dos filhos do container.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Exercício: esta é a árvore resultante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1737360"/>
            <a:ext cx="9144000" cy="4434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64792" y="1920240"/>
            <a:ext cx="8631936" cy="4069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C2410C"/>
                </a:solidFill>
                <a:latin typeface="Consolas"/>
              </a:rPr>
              <a:t>section.container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├── p       "Qualquer texto"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├── div     "Frase 2"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├── section "Frase 3"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└── footer  "Frase 4"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Os dados do array viraram uma estrutura real no DOM.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exercício escala quando dados ou ações mudam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EXERCÍCIO DIDÁTICO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48006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Poucos objetos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Estrutura previsível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Foco no processo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783080"/>
            <a:ext cx="18288" cy="347472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USO PRÁTICO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8006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Dados variáveis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Ações do usuário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Interface construída em execução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A técnica é a mesma; o que muda é a origem dos dados e das ações.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Ao terminar, explique o modelo 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378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1. O que é o </a:t>
            </a:r>
            <a:r>
              <a:rPr sz="2400" b="1">
                <a:solidFill>
                  <a:srgbClr val="17202A"/>
                </a:solidFill>
                <a:latin typeface="Segoe UI"/>
              </a:rPr>
              <a:t>DOM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2. Por que ele é uma </a:t>
            </a:r>
            <a:r>
              <a:rPr sz="2400" b="1">
                <a:solidFill>
                  <a:srgbClr val="17202A"/>
                </a:solidFill>
                <a:latin typeface="Segoe UI"/>
              </a:rPr>
              <a:t>árvore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3. O que são </a:t>
            </a:r>
            <a:r>
              <a:rPr sz="2400" b="1">
                <a:solidFill>
                  <a:srgbClr val="17202A"/>
                </a:solidFill>
                <a:latin typeface="Segoe UI"/>
              </a:rPr>
              <a:t>nós, pais e filhos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4. Qual é o papel de </a:t>
            </a:r>
            <a:r>
              <a:rPr sz="2400" b="1">
                <a:solidFill>
                  <a:srgbClr val="17202A"/>
                </a:solidFill>
                <a:latin typeface="Segoe UI"/>
              </a:rPr>
              <a:t>document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5. Para que serve </a:t>
            </a:r>
            <a:r>
              <a:rPr sz="2400" b="1">
                <a:solidFill>
                  <a:srgbClr val="17202A"/>
                </a:solidFill>
                <a:latin typeface="Segoe UI"/>
              </a:rPr>
              <a:t>querySelector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Ao terminar, use o DOM para interagir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378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6. Para que serve </a:t>
            </a:r>
            <a:r>
              <a:rPr sz="2400" b="1">
                <a:solidFill>
                  <a:srgbClr val="17202A"/>
                </a:solidFill>
                <a:latin typeface="Segoe UI"/>
              </a:rPr>
              <a:t>createElement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7. Para que serve </a:t>
            </a:r>
            <a:r>
              <a:rPr sz="2400" b="1">
                <a:solidFill>
                  <a:srgbClr val="17202A"/>
                </a:solidFill>
                <a:latin typeface="Segoe UI"/>
              </a:rPr>
              <a:t>appendChild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8. Como JavaScript muda </a:t>
            </a:r>
            <a:r>
              <a:rPr sz="2400" b="1">
                <a:solidFill>
                  <a:srgbClr val="17202A"/>
                </a:solidFill>
                <a:latin typeface="Segoe UI"/>
              </a:rPr>
              <a:t>conteúdo e estrutura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9. Como eventos conectam </a:t>
            </a:r>
            <a:r>
              <a:rPr sz="2400" b="1">
                <a:solidFill>
                  <a:srgbClr val="17202A"/>
                </a:solidFill>
                <a:latin typeface="Segoe UI"/>
              </a:rPr>
              <a:t>usuário e JavaScript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10. Por que DOM não é a </a:t>
            </a:r>
            <a:r>
              <a:rPr sz="2400" b="1">
                <a:solidFill>
                  <a:srgbClr val="17202A"/>
                </a:solidFill>
                <a:latin typeface="Segoe UI"/>
              </a:rPr>
              <a:t>imagem renderizada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AF940A41E02B42AE989720C36A0380" ma:contentTypeVersion="3" ma:contentTypeDescription="Crie um novo documento." ma:contentTypeScope="" ma:versionID="58a81bc2cede1cefcdcd416810de458e">
  <xsd:schema xmlns:xsd="http://www.w3.org/2001/XMLSchema" xmlns:xs="http://www.w3.org/2001/XMLSchema" xmlns:p="http://schemas.microsoft.com/office/2006/metadata/properties" xmlns:ns2="dd5b9d87-8382-4c7f-9963-6784ff2ca28b" targetNamespace="http://schemas.microsoft.com/office/2006/metadata/properties" ma:root="true" ma:fieldsID="3acdcd2488b6d76b9fdefbf59e09d87a" ns2:_="">
    <xsd:import namespace="dd5b9d87-8382-4c7f-9963-6784ff2c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9d87-8382-4c7f-9963-6784ff2c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60E947-4F4A-443F-8D92-2BB4BF259F73}"/>
</file>

<file path=customXml/itemProps2.xml><?xml version="1.0" encoding="utf-8"?>
<ds:datastoreItem xmlns:ds="http://schemas.openxmlformats.org/officeDocument/2006/customXml" ds:itemID="{9EFE8BA3-7B5D-4007-95BE-47E8C877A43B}"/>
</file>

<file path=customXml/itemProps3.xml><?xml version="1.0" encoding="utf-8"?>
<ds:datastoreItem xmlns:ds="http://schemas.openxmlformats.org/officeDocument/2006/customXml" ds:itemID="{4AC8B085-4292-449A-B437-7101B6E23E93}"/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1702</Words>
  <Application>Microsoft Office PowerPoint</Application>
  <PresentationFormat>Widescreen</PresentationFormat>
  <Paragraphs>365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Consolas</vt:lpstr>
      <vt:lpstr>Segoe UI</vt:lpstr>
      <vt:lpstr>Office Theme</vt:lpstr>
      <vt:lpstr>Introdução ao DOM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25</cp:revision>
  <dcterms:created xsi:type="dcterms:W3CDTF">2026-08-06T13:47:07Z</dcterms:created>
  <dcterms:modified xsi:type="dcterms:W3CDTF">2026-09-03T18:23:20Z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0x01010067AF940A41E02B42AE989720C36A0380</vt:lpwstr>
  </property>
</Properties>
</file>