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324" r:id="rId2"/>
    <p:sldId id="361" r:id="rId3"/>
    <p:sldId id="362" r:id="rId4"/>
    <p:sldId id="363" r:id="rId5"/>
    <p:sldId id="364" r:id="rId6"/>
    <p:sldId id="365" r:id="rId7"/>
    <p:sldId id="366" r:id="rId8"/>
    <p:sldId id="367" r:id="rId9"/>
    <p:sldId id="368" r:id="rId10"/>
    <p:sldId id="369" r:id="rId11"/>
    <p:sldId id="391" r:id="rId12"/>
    <p:sldId id="370" r:id="rId13"/>
    <p:sldId id="371" r:id="rId14"/>
    <p:sldId id="372" r:id="rId15"/>
    <p:sldId id="373" r:id="rId16"/>
    <p:sldId id="374" r:id="rId17"/>
    <p:sldId id="375" r:id="rId18"/>
    <p:sldId id="376" r:id="rId19"/>
    <p:sldId id="377" r:id="rId20"/>
    <p:sldId id="378" r:id="rId21"/>
    <p:sldId id="379" r:id="rId22"/>
    <p:sldId id="380" r:id="rId23"/>
    <p:sldId id="381" r:id="rId24"/>
    <p:sldId id="382" r:id="rId25"/>
    <p:sldId id="383" r:id="rId26"/>
    <p:sldId id="384" r:id="rId27"/>
    <p:sldId id="385" r:id="rId28"/>
    <p:sldId id="386" r:id="rId29"/>
    <p:sldId id="387" r:id="rId30"/>
    <p:sldId id="388" r:id="rId31"/>
    <p:sldId id="389" r:id="rId32"/>
    <p:sldId id="390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2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BDE12-A2A8-54E8-1AFA-08C6B58DA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3E2584-5992-F431-EB89-CD7C6FA3C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5AB07A-6197-A8EB-6357-5A63861A3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D376F-17A1-EFDF-D90E-9ADEEF3BB7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542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776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47B77-D9A8-1A87-5935-5293A64B5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ha de acento">
            <a:extLst>
              <a:ext uri="{FF2B5EF4-FFF2-40B4-BE49-F238E27FC236}">
                <a16:creationId xmlns:a16="http://schemas.microsoft.com/office/drawing/2014/main" id="{D6461012-14F3-13EE-FC1E-9979B3ABB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737360"/>
            <a:ext cx="2011680" cy="914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AAEBE85-3D6B-972D-8888-9F669643E1AC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JavaScript: let e </a:t>
            </a:r>
            <a:r>
              <a:rPr lang="en-US" dirty="0" err="1"/>
              <a:t>escopo</a:t>
            </a:r>
            <a:r>
              <a:rPr lang="en-US" dirty="0"/>
              <a:t> de </a:t>
            </a:r>
            <a:r>
              <a:rPr lang="en-US" dirty="0" err="1"/>
              <a:t>bloco</a:t>
            </a:r>
            <a:r>
              <a:rPr lang="en-US" dirty="0"/>
              <a:t>, </a:t>
            </a:r>
            <a:r>
              <a:rPr lang="en-US" dirty="0" err="1"/>
              <a:t>desestruturação</a:t>
            </a:r>
            <a:r>
              <a:rPr lang="en-US" dirty="0"/>
              <a:t>, </a:t>
            </a:r>
            <a:r>
              <a:rPr lang="en-US" dirty="0" err="1"/>
              <a:t>laço</a:t>
            </a:r>
            <a:r>
              <a:rPr lang="en-US" dirty="0"/>
              <a:t> for </a:t>
            </a:r>
            <a:r>
              <a:rPr lang="en-US" dirty="0" err="1"/>
              <a:t>clássico</a:t>
            </a:r>
            <a:endParaRPr lang="en-US" sz="4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4BA0C6-5F65-13F9-2711-7DA0052A91BE}"/>
              </a:ext>
            </a:extLst>
          </p:cNvPr>
          <p:cNvSpPr/>
          <p:nvPr/>
        </p:nvSpPr>
        <p:spPr>
          <a:xfrm>
            <a:off x="822960" y="3749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Desenvolvimento Web/Mobile • Análise e Desenvolvimento de Sistemas</a:t>
            </a:r>
            <a:endParaRPr lang="en-US" sz="2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8747A8A-F3AB-CB20-F87E-F58E0A8F41BF}"/>
              </a:ext>
            </a:extLst>
          </p:cNvPr>
          <p:cNvSpPr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Aula 4— </a:t>
            </a:r>
            <a:r>
              <a:rPr lang="en-US" sz="2400" b="1" dirty="0" err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continuando</a:t>
            </a:r>
            <a:r>
              <a:rPr lang="en-US" sz="24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</a:t>
            </a:r>
            <a:r>
              <a:rPr lang="en-US" sz="2400" b="1" dirty="0" err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comparação</a:t>
            </a:r>
            <a:r>
              <a:rPr lang="en-US" sz="24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 Python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56909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Escopo de bloco com let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 aula 1 vimos let vs var. Agora vamos ver o que acontece quando blocos if ficam aninhados.</a:t>
            </a:r>
            <a:endParaRPr lang="en-US"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Reatribuir dentro de um if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let na frente, não é uma nova declaração: é reatribuição.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mensagem = "fora";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true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) {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0" i="0">
                <a:solidFill>
                  <a:srgbClr val="17202A"/>
                </a:solidFill>
                <a:latin typeface="Consolas"/>
              </a:rPr>
              <a:t>  mensagem = "dentro do if";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(mensagem);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"dentro do if"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0" i="0">
                <a:solidFill>
                  <a:srgbClr val="17202A"/>
                </a:solidFill>
                <a:latin typeface="Consolas"/>
              </a:rPr>
              <a:t>}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(mensagem);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"dentro do if"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mesma variável muda de valor, e esse valor continua valendo fora do bloco.</a:t>
            </a:r>
            <a:endParaRPr lang="en-US"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Agora com um if aninhado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nível reatribui a mesma variável.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7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nivel = "raiz";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17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true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) {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1700" b="0" i="0">
                <a:solidFill>
                  <a:srgbClr val="17202A"/>
                </a:solidFill>
                <a:latin typeface="Consolas"/>
              </a:rPr>
              <a:t>  nivel = "primeiro if";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17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true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) {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1700" b="0" i="0">
                <a:solidFill>
                  <a:srgbClr val="17202A"/>
                </a:solidFill>
                <a:latin typeface="Consolas"/>
              </a:rPr>
              <a:t>    nivel = "if interno";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1700" b="0" i="0">
                <a:solidFill>
                  <a:srgbClr val="17202A"/>
                </a:solidFill>
                <a:latin typeface="Consolas"/>
              </a:rPr>
              <a:t>    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(nivel); </a:t>
            </a:r>
            <a:r>
              <a:rPr sz="1700" b="0" i="1">
                <a:solidFill>
                  <a:srgbClr val="5A6472"/>
                </a:solidFill>
                <a:latin typeface="Consolas"/>
              </a:rPr>
              <a:t>// "if interno"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1700" b="0" i="0">
                <a:solidFill>
                  <a:srgbClr val="17202A"/>
                </a:solidFill>
                <a:latin typeface="Consolas"/>
              </a:rPr>
              <a:t>  }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17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(nivel); </a:t>
            </a:r>
            <a:r>
              <a:rPr sz="1700" b="0" i="1">
                <a:solidFill>
                  <a:srgbClr val="5A6472"/>
                </a:solidFill>
                <a:latin typeface="Consolas"/>
              </a:rPr>
              <a:t>// "if interno"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1700" b="0" i="0">
                <a:solidFill>
                  <a:srgbClr val="17202A"/>
                </a:solidFill>
                <a:latin typeface="Consolas"/>
              </a:rPr>
              <a:t>}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17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(nivel); </a:t>
            </a:r>
            <a:r>
              <a:rPr sz="1700" b="0" i="1">
                <a:solidFill>
                  <a:srgbClr val="5A6472"/>
                </a:solidFill>
                <a:latin typeface="Consolas"/>
              </a:rPr>
              <a:t>// "if interno"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não há um novo let, o último valor atribuído vale em todos os níveis.</a:t>
            </a:r>
            <a:endParaRPr lang="en-US"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Reatribuir não é declarar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 cria a variável uma vez; sem let, você apenas troca o valor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novo let dentro do bloco criaria outra variável, visível só ali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isso o valor definido no if interno continua valendo lá fora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JS, cada par de chaves { } delimita o escopo de um let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Escopo de bloco: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true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) {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interna = 10;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}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(interna);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// ReferenceError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if True: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    interna = 10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print(interna)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# 10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Python só funções criam escopo novo; em JS, cada bloco { } cria escopo para let.</a:t>
            </a:r>
            <a:endParaRPr lang="en-US"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Desestruturação de arrays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Extrair vários valores de um array de uma vez, em uma única linha.</a:t>
            </a:r>
            <a:endParaRPr lang="en-US" sz="3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Sintaxe: const [a, b, c]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ordem das variáveis segue a ordem dos índices.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numeros = [10, 20, 30];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[a, b, c] = numeros;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(a);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10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(b);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20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(c);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30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variável recebe o elemento da posição correspondente.</a:t>
            </a:r>
            <a:endParaRPr lang="en-US"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Desestruturando uma matriz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array de arrays: cada subarray vira uma variável.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matriz = [[1, 2], [3, 4], [5, 6]];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[linha1, linha2, linha3] = matriz;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(linha1);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[1, 2]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(linha3);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[5, 6]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Aqui cada variável guarda um array inteiro, não um número.</a:t>
            </a:r>
            <a:endParaRPr lang="en-US"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Desestruturação: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[a, b, c] = [1, 2, 3];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(b); // 2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a, b, c = [1, 2, 3]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print(b)  # 2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chama isso de tuple unpacking: mesmo conceito, sem os colchetes.</a:t>
            </a:r>
            <a:endParaRPr lang="en-US" sz="1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4BE8D-5A31-9AA1-FC4D-2E515F403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8FBD9FC-FD7F-E393-C637-2AC007D16E18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Acesso por índice duplo</a:t>
            </a:r>
            <a:endParaRPr lang="en-US" sz="3400"/>
          </a:p>
        </p:txBody>
      </p:sp>
      <p:sp>
        <p:nvSpPr>
          <p:cNvPr id="3" name="Linha de acento">
            <a:extLst>
              <a:ext uri="{FF2B5EF4-FFF2-40B4-BE49-F238E27FC236}">
                <a16:creationId xmlns:a16="http://schemas.microsoft.com/office/drawing/2014/main" id="{08AABAE8-D8EA-7F6B-FDAF-786106D41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34D84E9-2F66-1EB4-7E62-ECC4D0C0426D}"/>
              </a:ext>
            </a:extLst>
          </p:cNvPr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matriz[i][j]: primeiro a linha, depois o elemento.</a:t>
            </a:r>
            <a:endParaRPr lang="en-US" sz="2400"/>
          </a:p>
        </p:txBody>
      </p:sp>
      <p:sp>
        <p:nvSpPr>
          <p:cNvPr id="5" name="Fundo do bloco de código">
            <a:extLst>
              <a:ext uri="{FF2B5EF4-FFF2-40B4-BE49-F238E27FC236}">
                <a16:creationId xmlns:a16="http://schemas.microsoft.com/office/drawing/2014/main" id="{8D7AE863-7CEA-45B1-8D1C-C1415E9A1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6A6AD9A-1F12-9983-39E1-AF9DE401DBEF}"/>
              </a:ext>
            </a:extLst>
          </p:cNvPr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 dirty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sz="2000" b="0" i="0" dirty="0" err="1">
                <a:solidFill>
                  <a:srgbClr val="17202A"/>
                </a:solidFill>
                <a:latin typeface="Consolas"/>
              </a:rPr>
              <a:t>matriz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 = [[1, 2], [3, 4], [5, 6]];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 dirty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 dirty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sz="2000" b="0" i="0" dirty="0" err="1">
                <a:solidFill>
                  <a:srgbClr val="17202A"/>
                </a:solidFill>
                <a:latin typeface="Consolas"/>
              </a:rPr>
              <a:t>matriz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[1]); </a:t>
            </a:r>
            <a:r>
              <a:rPr lang="pt-BR" sz="2000" b="0" i="0" dirty="0">
                <a:solidFill>
                  <a:srgbClr val="17202A"/>
                </a:solidFill>
                <a:latin typeface="Consolas"/>
              </a:rPr>
              <a:t>   </a:t>
            </a:r>
            <a:endParaRPr lang="pt-BR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pt-BR" sz="2000" b="1" i="0" dirty="0">
                <a:solidFill>
                  <a:srgbClr val="C2410C"/>
                </a:solidFill>
                <a:latin typeface="Consolas"/>
              </a:rPr>
              <a:t>console</a:t>
            </a:r>
            <a:r>
              <a:rPr lang="pt-BR" sz="2000" b="0" i="0" dirty="0">
                <a:solidFill>
                  <a:srgbClr val="17202A"/>
                </a:solidFill>
                <a:latin typeface="Consolas"/>
              </a:rPr>
              <a:t>.</a:t>
            </a:r>
            <a:r>
              <a:rPr lang="pt-BR" sz="2000" b="1" i="0" dirty="0">
                <a:solidFill>
                  <a:srgbClr val="C2410C"/>
                </a:solidFill>
                <a:latin typeface="Consolas"/>
              </a:rPr>
              <a:t>log</a:t>
            </a:r>
            <a:r>
              <a:rPr lang="pt-BR" sz="2000" b="0" i="0" dirty="0">
                <a:solidFill>
                  <a:srgbClr val="17202A"/>
                </a:solidFill>
                <a:latin typeface="Consolas"/>
              </a:rPr>
              <a:t>(matriz[1][0]); </a:t>
            </a:r>
            <a:endParaRPr lang="pt-BR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 dirty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 dirty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sz="2000" b="0" i="0" dirty="0" err="1">
                <a:solidFill>
                  <a:srgbClr val="17202A"/>
                </a:solidFill>
                <a:latin typeface="Consolas"/>
              </a:rPr>
              <a:t>matriz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[2][1]); 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09C766E-D6B1-A155-C085-6FA67472D07B}"/>
              </a:ext>
            </a:extLst>
          </p:cNvPr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Isto não é desestruturação: é acesso direto, sem criar variáveis novas.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903281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Acesso por índice duplo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matriz[i][j]: primeiro a linha, depois o elemento.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matriz = [[1, 2], [3, 4], [5, 6]];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(matriz[1]);   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[3, 4]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(matriz[1][0]);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3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(matriz[2][1]);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6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Isto não é desestruturação: é acesso direto, sem criar variáveis novas.</a:t>
            </a:r>
            <a:endParaRPr lang="en-US" sz="1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Desestruturar x acessar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Desestruturação cria variáveis novas a partir das posições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array[i][j] apenas lê um valor, na hora em que você precisa dele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desestruturação quando o valor for reutilizado várias vezes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o índice quando for um acesso pontual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Desestruturação de objetos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objetos a extração é pelo nome da propriedade, não pela posição.</a:t>
            </a:r>
            <a:endParaRPr lang="en-US" sz="3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Sintaxe: const { propriedade }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Escolha apenas as propriedades que você precisa.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user = { nome: "Ana", idade: 30, cidade: "Recife" };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{ nome, idade } = user;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(nome); 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"Ana"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(idade);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30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demais propriedades continuam no objeto original, intactas.</a:t>
            </a:r>
            <a:endParaRPr lang="en-US" sz="1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nome precisa bater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variável criada tem exatamente o mesmo nome da propriedade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 { nomes } = user daria undefined: a chave é nome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objetos a ordem não importa; o nome, sim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Esse padrão será muito usado no React, ao receber props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Objetos: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{ nome, idade } = user;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(nome);  // "Ana"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(idade); // 30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nome = d["nome"]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idade = d["idade"]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print(nome)  # "Ana"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não tem desestruturação de dicionário por chave: acessa-se cada chave manualmente.</a:t>
            </a:r>
            <a:endParaRPr lang="en-US" sz="1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Alias: renomeando a variável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propriedadeOriginal: novoNome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user = { nome: "Ana", idade: 30 };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{ nome: primeiroNome } = user;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(primeiroNome);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"Ana"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(nome);        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ReferenceError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variável passa a se chamar primeiroNome; nome não chega a existir.</a:t>
            </a:r>
            <a:endParaRPr lang="en-US" sz="1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Rest: capturando o resto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...resto junta todas as propriedades não extraídas.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user = { nome: "Ana", idade: 30, cidade: "Recife" };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{ nome, ...resto } = user;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(nome); 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"Ana"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(resto);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{ idade: 30, cidade: "Recife" }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resto é um objeto novo, formado pelo que sobrou.</a:t>
            </a:r>
            <a:endParaRPr lang="en-US" sz="1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Atenção: rest e referência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endereco dentro de resto aponta para o mesmo objeto.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user = { nome: "Ana", endereco: { cidade: "Recife" } };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{ nome, ...resto } = user;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0" i="0">
                <a:solidFill>
                  <a:srgbClr val="17202A"/>
                </a:solidFill>
                <a:latin typeface="Consolas"/>
              </a:rPr>
              <a:t>resto.endereco.cidade = "Olinda";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(user.endereco.cidade);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"Olinda"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Objetos aninhados seguem a cópia por referência já vista em aula.</a:t>
            </a:r>
            <a:endParaRPr lang="en-US" sz="1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Cópia rasa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objeto resto é novo, mas os objetos dentro dele não são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Alterar uma propriedade aninhada afeta também o objeto original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 o mesmo conceito de cópia por referência já visto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Valores simples como string e number são copiados de verdade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laço for clássico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Repetir um bloco um número conhecido de vezes, controlando o contador.</a:t>
            </a:r>
            <a:endParaRPr lang="en-US" sz="3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três partes do for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Variável inicial: let i = 0 — onde a contagem começa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Condição de parada: i &lt;= 5 — enquanto for verdadeira, repete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Incremento: i++ — o que muda a cada volta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três ficam na mesma linha, separadas por ponto e vírgula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Contando de 0 até 5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Seis voltas: a condição usa &lt;=.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for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i = 0; i &lt;= 5; i++) {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(i);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0, 1, 2, 3, 4, 5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0" i="0">
                <a:solidFill>
                  <a:srgbClr val="17202A"/>
                </a:solidFill>
                <a:latin typeface="Consolas"/>
              </a:rPr>
              <a:t>}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Quando i vira 6, a condição fica falsa e o laço termina.</a:t>
            </a:r>
            <a:endParaRPr lang="en-US" sz="1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for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i = 0; i &lt;= 5; i++) {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(i);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}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for i in range(0, 6):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    print(i)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JS as três partes são explícitas; em Python ficam escondidas dentro do range().</a:t>
            </a:r>
            <a:endParaRPr lang="en-US" sz="19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com ternário: par ou ímpar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operador % devolve o resto da divisão.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 dirty="0">
                <a:solidFill>
                  <a:srgbClr val="C2410C"/>
                </a:solidFill>
                <a:latin typeface="Consolas"/>
              </a:rPr>
              <a:t>for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 (</a:t>
            </a:r>
            <a:r>
              <a:rPr sz="2000" b="1" i="0" dirty="0">
                <a:solidFill>
                  <a:srgbClr val="C2410C"/>
                </a:solidFill>
                <a:latin typeface="Consolas"/>
              </a:rPr>
              <a:t>let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sz="20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 = 1; </a:t>
            </a:r>
            <a:r>
              <a:rPr sz="20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 &lt;= 10; </a:t>
            </a:r>
            <a:r>
              <a:rPr sz="20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++) {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sz="20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 i="0" dirty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sz="2000" b="0" i="0" dirty="0" err="1">
                <a:solidFill>
                  <a:srgbClr val="17202A"/>
                </a:solidFill>
                <a:latin typeface="Consolas"/>
              </a:rPr>
              <a:t>tipo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 = </a:t>
            </a:r>
            <a:r>
              <a:rPr sz="20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 % 2 === 0 ? "par" : "</a:t>
            </a:r>
            <a:r>
              <a:rPr sz="2000" b="0" i="0" dirty="0" err="1">
                <a:solidFill>
                  <a:srgbClr val="17202A"/>
                </a:solidFill>
                <a:latin typeface="Consolas"/>
              </a:rPr>
              <a:t>ímpar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";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sz="20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 i="0" dirty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 dirty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sz="20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 + " é " + </a:t>
            </a:r>
            <a:r>
              <a:rPr sz="2000" b="0" i="0" dirty="0" err="1">
                <a:solidFill>
                  <a:srgbClr val="17202A"/>
                </a:solidFill>
                <a:latin typeface="Consolas"/>
              </a:rPr>
              <a:t>tipo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); </a:t>
            </a:r>
            <a:r>
              <a:rPr sz="2000" b="0" i="1" dirty="0">
                <a:solidFill>
                  <a:srgbClr val="5A6472"/>
                </a:solidFill>
                <a:latin typeface="Consolas"/>
              </a:rPr>
              <a:t>// 1 é </a:t>
            </a:r>
            <a:r>
              <a:rPr sz="2000" b="0" i="1" dirty="0" err="1">
                <a:solidFill>
                  <a:srgbClr val="5A6472"/>
                </a:solidFill>
                <a:latin typeface="Consolas"/>
              </a:rPr>
              <a:t>ímpar</a:t>
            </a:r>
            <a:r>
              <a:rPr sz="2000" b="0" i="1" dirty="0">
                <a:solidFill>
                  <a:srgbClr val="5A6472"/>
                </a:solidFill>
                <a:latin typeface="Consolas"/>
              </a:rPr>
              <a:t>, 2 é par...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sz="2000" b="0" i="0" dirty="0">
                <a:solidFill>
                  <a:srgbClr val="17202A"/>
                </a:solidFill>
                <a:latin typeface="Consolas"/>
              </a:rPr>
              <a:t>}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Resto 0 significa número par; o ternário escolhe o texto.</a:t>
            </a:r>
            <a:endParaRPr lang="en-US" sz="1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Pulando de 10 em 10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+= 10 substitui o i++.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for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i = 0; i &lt;= 100; i += 10) {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(i);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0, 10, 20 ... 100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0" i="0">
                <a:solidFill>
                  <a:srgbClr val="17202A"/>
                </a:solidFill>
                <a:latin typeface="Consolas"/>
              </a:rPr>
              <a:t>}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incremento não precisa ser de 1.</a:t>
            </a:r>
            <a:endParaRPr lang="en-US" sz="19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Contando de trás para frente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Começa alto, decrementa e para em 0.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for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i = 100; i &gt;= 0; i -= 10) {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(i);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100, 90, 80 ... 0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0" i="0">
                <a:solidFill>
                  <a:srgbClr val="17202A"/>
                </a:solidFill>
                <a:latin typeface="Consolas"/>
              </a:rPr>
              <a:t>}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condição vira &gt;= porque a contagem é decrescente.</a:t>
            </a:r>
            <a:endParaRPr lang="en-US" sz="19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Passo diferente: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for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i = 0; i &lt;= 100; i += 10) {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(i);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}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for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i = 100; i &gt;= 0; i -= 10) {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(i);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}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for i in range(0, 101, 10):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    print(i)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for i in range(100, -1, -10):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    print(i)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Python o terceiro argumento de range() define o passo.</a:t>
            </a:r>
            <a:endParaRPr lang="en-US" sz="19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Percorrendo um array por índice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frutas.length é a condição de parada.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frutas = ["uva", "maçã", "pera"];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for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i = 0; i &lt; frutas.length; i++) {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(frutas[i]);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"uva", "maçã", "pera"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0" i="0">
                <a:solidFill>
                  <a:srgbClr val="17202A"/>
                </a:solidFill>
                <a:latin typeface="Consolas"/>
              </a:rPr>
              <a:t>}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&lt; length: o último índice válido é length - 1.</a:t>
            </a:r>
            <a:endParaRPr lang="en-US" sz="19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Percorrer array: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for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i = 0; i &lt; frutas.length; i++) {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(frutas[i]);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}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for fruta in frutas: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    print(fruta)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Python percorre-se o próprio array; no for clássico do JS, o índice.</a:t>
            </a:r>
            <a:endParaRPr lang="en-US" sz="19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levar da aula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 respeita o bloco; reatribuir não é declarar de novo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 [a, b] extrai por posição; const { a } extrai por nome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array[i][j] é acesso direto, não desestruturação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...resto, objetos aninhados continuam por referência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for tem três partes explícitas: início, condição e passo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7AF940A41E02B42AE989720C36A0380" ma:contentTypeVersion="3" ma:contentTypeDescription="Crie um novo documento." ma:contentTypeScope="" ma:versionID="58a81bc2cede1cefcdcd416810de458e">
  <xsd:schema xmlns:xsd="http://www.w3.org/2001/XMLSchema" xmlns:xs="http://www.w3.org/2001/XMLSchema" xmlns:p="http://schemas.microsoft.com/office/2006/metadata/properties" xmlns:ns2="dd5b9d87-8382-4c7f-9963-6784ff2ca28b" targetNamespace="http://schemas.microsoft.com/office/2006/metadata/properties" ma:root="true" ma:fieldsID="3acdcd2488b6d76b9fdefbf59e09d87a" ns2:_="">
    <xsd:import namespace="dd5b9d87-8382-4c7f-9963-6784ff2ca2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b9d87-8382-4c7f-9963-6784ff2ca2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06A901B-641D-4548-A9A8-C5A5DB1995B3}"/>
</file>

<file path=customXml/itemProps2.xml><?xml version="1.0" encoding="utf-8"?>
<ds:datastoreItem xmlns:ds="http://schemas.openxmlformats.org/officeDocument/2006/customXml" ds:itemID="{C631B233-54DE-4021-83E1-79ADDAEE6202}"/>
</file>

<file path=customXml/itemProps3.xml><?xml version="1.0" encoding="utf-8"?>
<ds:datastoreItem xmlns:ds="http://schemas.openxmlformats.org/officeDocument/2006/customXml" ds:itemID="{558B1B4E-9728-4ACF-A477-D991C48F5F2A}"/>
</file>

<file path=docProps/app.xml><?xml version="1.0" encoding="utf-8"?>
<Properties xmlns="http://schemas.openxmlformats.org/officeDocument/2006/extended-properties" xmlns:vt="http://schemas.openxmlformats.org/officeDocument/2006/docPropsVTypes">
  <TotalTime>655</TotalTime>
  <Words>1955</Words>
  <Application>Microsoft Office PowerPoint</Application>
  <PresentationFormat>Widescreen</PresentationFormat>
  <Paragraphs>220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Consolas</vt:lpstr>
      <vt:lpstr>Segoe UI</vt:lpstr>
      <vt:lpstr>Office Theme</vt:lpstr>
      <vt:lpstr>JavaScript: let e escopo de bloco, desestruturação, laço for clássico</vt:lpstr>
      <vt:lpstr>Escopo de bloco com let</vt:lpstr>
      <vt:lpstr>Reatribuir dentro de um if</vt:lpstr>
      <vt:lpstr>Agora com um if aninhado</vt:lpstr>
      <vt:lpstr>Reatribuir não é declarar</vt:lpstr>
      <vt:lpstr>Escopo de bloco: JS x Python</vt:lpstr>
      <vt:lpstr>Desestruturação de arrays</vt:lpstr>
      <vt:lpstr>Sintaxe: const [a, b, c]</vt:lpstr>
      <vt:lpstr>Desestruturando uma matriz</vt:lpstr>
      <vt:lpstr>Desestruturação: JS x Python</vt:lpstr>
      <vt:lpstr>Acesso por índice duplo</vt:lpstr>
      <vt:lpstr>Acesso por índice duplo</vt:lpstr>
      <vt:lpstr>Desestruturar x acessar</vt:lpstr>
      <vt:lpstr>Desestruturação de objetos</vt:lpstr>
      <vt:lpstr>Sintaxe: const { propriedade }</vt:lpstr>
      <vt:lpstr>O nome precisa bater</vt:lpstr>
      <vt:lpstr>Objetos: JS x Python</vt:lpstr>
      <vt:lpstr>Alias: renomeando a variável</vt:lpstr>
      <vt:lpstr>Rest: capturando o resto</vt:lpstr>
      <vt:lpstr>Atenção: rest e referência</vt:lpstr>
      <vt:lpstr>Cópia rasa</vt:lpstr>
      <vt:lpstr>O laço for clássico</vt:lpstr>
      <vt:lpstr>As três partes do for</vt:lpstr>
      <vt:lpstr>Contando de 0 até 5</vt:lpstr>
      <vt:lpstr>for: JS x Python</vt:lpstr>
      <vt:lpstr>for com ternário: par ou ímpar</vt:lpstr>
      <vt:lpstr>Pulando de 10 em 10</vt:lpstr>
      <vt:lpstr>Contando de trás para frente</vt:lpstr>
      <vt:lpstr>Passo diferente: JS x Python</vt:lpstr>
      <vt:lpstr>Percorrendo um array por índice</vt:lpstr>
      <vt:lpstr>Percorrer array: JS x Python</vt:lpstr>
      <vt:lpstr>Para levar da aula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Flávio Waltz</dc:creator>
  <cp:lastModifiedBy>Flávio Waltz</cp:lastModifiedBy>
  <cp:revision>15</cp:revision>
  <dcterms:created xsi:type="dcterms:W3CDTF">2026-08-06T13:47:07Z</dcterms:created>
  <dcterms:modified xsi:type="dcterms:W3CDTF">2026-08-24T20:59:19Z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0x01010067AF940A41E02B42AE989720C36A0380</vt:lpwstr>
  </property>
</Properties>
</file>